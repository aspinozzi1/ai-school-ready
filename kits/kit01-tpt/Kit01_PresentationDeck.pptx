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Stuck pairs → option A, it works for every role.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of these is a real reply Ms. Rivera types into the chat after the first draft comes back; short and blunt is fine, the tool has no feelings. Push back at least twice on your own draft, the same way. 45-minute version: skip this task,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saw an AI mistake, spotlight it warmly; it’s the best possible outcome of the lab.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Progress tracking and the certificate run through an AI-Ready School membership (ai-readyschool.com).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640080" y="1828800"/>
            <a:ext cx="3520440" cy="137160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25%</a:t>
            </a:r>
            <a:pPr algn="ctr" indent="0" marL="0">
              <a:buNone/>
            </a:pPr>
            <a:r>
              <a:rPr lang="en-US" sz="4400" b="1" dirty="0">
                <a:solidFill>
                  <a:srgbClr val="2A9D8F"/>
                </a:solidFill>
                <a:latin typeface="Inter" pitchFamily="34" charset="0"/>
                <a:ea typeface="Inter" pitchFamily="34" charset="-122"/>
                <a:cs typeface="Inter" pitchFamily="34" charset="-120"/>
              </a:rPr>
              <a:t> → </a:t>
            </a:r>
            <a:pPr algn="ctr" indent="0" marL="0">
              <a:buNone/>
            </a:pPr>
            <a:r>
              <a:rPr lang="en-US" sz="4400" b="1" dirty="0">
                <a:solidFill>
                  <a:srgbClr val="13293D"/>
                </a:solidFill>
                <a:latin typeface="Inter" pitchFamily="34" charset="0"/>
                <a:ea typeface="Inter" pitchFamily="34" charset="-122"/>
                <a:cs typeface="Inter" pitchFamily="34" charset="-120"/>
              </a:rPr>
              <a:t>53%</a:t>
            </a:r>
            <a:endParaRPr lang="en-US" sz="4400" dirty="0"/>
          </a:p>
        </p:txBody>
      </p:sp>
      <p:sp>
        <p:nvSpPr>
          <p:cNvPr id="16" name="Text 13"/>
          <p:cNvSpPr/>
          <p:nvPr/>
        </p:nvSpPr>
        <p:spPr>
          <a:xfrm>
            <a:off x="64008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 (RAND)</a:t>
            </a:r>
            <a:endParaRPr lang="en-US" sz="1600" dirty="0"/>
          </a:p>
        </p:txBody>
      </p:sp>
      <p:sp>
        <p:nvSpPr>
          <p:cNvPr id="17" name="Shape 14"/>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343400" y="1828800"/>
            <a:ext cx="3520440" cy="137160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434340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0" name="Shape 17"/>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046720" y="1828800"/>
            <a:ext cx="3520440" cy="137160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2" name="Text 19"/>
          <p:cNvSpPr/>
          <p:nvPr/>
        </p:nvSpPr>
        <p:spPr>
          <a:xfrm>
            <a:off x="8046720" y="3246120"/>
            <a:ext cx="3520440" cy="155448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 can’t do, at any price</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“Public tool” vs. district-approved tool</a:t>
            </a:r>
            <a:endParaRPr lang="en-US" sz="32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rule barely costs you anything</a:t>
            </a:r>
            <a:endParaRPr lang="en-US" sz="32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De-identify like a pro: the 3 moves</a:t>
            </a:r>
            <a:endParaRPr lang="en-US" sz="32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plan: one real task, zero student info, nothing has to be good.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option A, the family newsletter blurb, typed and running.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useful prompt: pick one</a:t>
            </a:r>
            <a:endParaRPr lang="en-US" sz="3200" dirty="0"/>
          </a:p>
        </p:txBody>
      </p:sp>
      <p:sp>
        <p:nvSpPr>
          <p:cNvPr id="14" name="Shape 11"/>
          <p:cNvSpPr/>
          <p:nvPr/>
        </p:nvSpPr>
        <p:spPr>
          <a:xfrm>
            <a:off x="640080" y="1298448"/>
            <a:ext cx="10972800" cy="987552"/>
          </a:xfrm>
          <a:prstGeom prst="roundRect">
            <a:avLst>
              <a:gd name="adj" fmla="val 8333"/>
            </a:avLst>
          </a:prstGeom>
          <a:solidFill>
            <a:srgbClr val="F7F5F0"/>
          </a:solidFill>
          <a:ln w="12700">
            <a:solidFill>
              <a:srgbClr val="F7F5F0"/>
            </a:solidFill>
            <a:prstDash val="solid"/>
          </a:ln>
        </p:spPr>
      </p:sp>
      <p:sp>
        <p:nvSpPr>
          <p:cNvPr id="15" name="Shape 12"/>
          <p:cNvSpPr/>
          <p:nvPr/>
        </p:nvSpPr>
        <p:spPr>
          <a:xfrm>
            <a:off x="914400" y="1490472"/>
            <a:ext cx="603504" cy="603504"/>
          </a:xfrm>
          <a:prstGeom prst="ellipse">
            <a:avLst/>
          </a:prstGeom>
          <a:solidFill>
            <a:srgbClr val="2A9D8F"/>
          </a:solidFill>
          <a:ln w="12700">
            <a:solidFill>
              <a:srgbClr val="2A9D8F"/>
            </a:solidFill>
            <a:prstDash val="solid"/>
          </a:ln>
        </p:spPr>
      </p:sp>
      <p:sp>
        <p:nvSpPr>
          <p:cNvPr id="16" name="Text 13"/>
          <p:cNvSpPr/>
          <p:nvPr/>
        </p:nvSpPr>
        <p:spPr>
          <a:xfrm>
            <a:off x="914400" y="1490472"/>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A</a:t>
            </a:r>
            <a:endParaRPr lang="en-US" sz="2100" dirty="0"/>
          </a:p>
        </p:txBody>
      </p:sp>
      <p:sp>
        <p:nvSpPr>
          <p:cNvPr id="17" name="Text 14"/>
          <p:cNvSpPr/>
          <p:nvPr/>
        </p:nvSpPr>
        <p:spPr>
          <a:xfrm>
            <a:off x="1783080" y="1389888"/>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FAMILIES</a:t>
            </a:r>
            <a:endParaRPr lang="en-US" sz="1100" dirty="0"/>
          </a:p>
        </p:txBody>
      </p:sp>
      <p:sp>
        <p:nvSpPr>
          <p:cNvPr id="18" name="Text 15"/>
          <p:cNvSpPr/>
          <p:nvPr/>
        </p:nvSpPr>
        <p:spPr>
          <a:xfrm>
            <a:off x="1783080" y="1645920"/>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450" dirty="0"/>
          </a:p>
        </p:txBody>
      </p:sp>
      <p:sp>
        <p:nvSpPr>
          <p:cNvPr id="19" name="Shape 16"/>
          <p:cNvSpPr/>
          <p:nvPr/>
        </p:nvSpPr>
        <p:spPr>
          <a:xfrm>
            <a:off x="640080" y="2414016"/>
            <a:ext cx="10972800" cy="987552"/>
          </a:xfrm>
          <a:prstGeom prst="roundRect">
            <a:avLst>
              <a:gd name="adj" fmla="val 8333"/>
            </a:avLst>
          </a:prstGeom>
          <a:solidFill>
            <a:srgbClr val="F7F5F0"/>
          </a:solidFill>
          <a:ln w="12700">
            <a:solidFill>
              <a:srgbClr val="F7F5F0"/>
            </a:solidFill>
            <a:prstDash val="solid"/>
          </a:ln>
        </p:spPr>
      </p:sp>
      <p:sp>
        <p:nvSpPr>
          <p:cNvPr id="20" name="Shape 17"/>
          <p:cNvSpPr/>
          <p:nvPr/>
        </p:nvSpPr>
        <p:spPr>
          <a:xfrm>
            <a:off x="914400" y="2606040"/>
            <a:ext cx="603504" cy="603504"/>
          </a:xfrm>
          <a:prstGeom prst="ellipse">
            <a:avLst/>
          </a:prstGeom>
          <a:solidFill>
            <a:srgbClr val="2A9D8F"/>
          </a:solidFill>
          <a:ln w="12700">
            <a:solidFill>
              <a:srgbClr val="2A9D8F"/>
            </a:solidFill>
            <a:prstDash val="solid"/>
          </a:ln>
        </p:spPr>
      </p:sp>
      <p:sp>
        <p:nvSpPr>
          <p:cNvPr id="21" name="Text 18"/>
          <p:cNvSpPr/>
          <p:nvPr/>
        </p:nvSpPr>
        <p:spPr>
          <a:xfrm>
            <a:off x="914400" y="260604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B</a:t>
            </a:r>
            <a:endParaRPr lang="en-US" sz="2100" dirty="0"/>
          </a:p>
        </p:txBody>
      </p:sp>
      <p:sp>
        <p:nvSpPr>
          <p:cNvPr id="22" name="Text 19"/>
          <p:cNvSpPr/>
          <p:nvPr/>
        </p:nvSpPr>
        <p:spPr>
          <a:xfrm>
            <a:off x="1783080" y="2505456"/>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ASSESSMENT</a:t>
            </a:r>
            <a:endParaRPr lang="en-US" sz="1100" dirty="0"/>
          </a:p>
        </p:txBody>
      </p:sp>
      <p:sp>
        <p:nvSpPr>
          <p:cNvPr id="23" name="Text 20"/>
          <p:cNvSpPr/>
          <p:nvPr/>
        </p:nvSpPr>
        <p:spPr>
          <a:xfrm>
            <a:off x="1783080" y="2761488"/>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450" dirty="0"/>
          </a:p>
        </p:txBody>
      </p:sp>
      <p:sp>
        <p:nvSpPr>
          <p:cNvPr id="24" name="Shape 21"/>
          <p:cNvSpPr/>
          <p:nvPr/>
        </p:nvSpPr>
        <p:spPr>
          <a:xfrm>
            <a:off x="640080" y="3529584"/>
            <a:ext cx="10972800" cy="987552"/>
          </a:xfrm>
          <a:prstGeom prst="roundRect">
            <a:avLst>
              <a:gd name="adj" fmla="val 8333"/>
            </a:avLst>
          </a:prstGeom>
          <a:solidFill>
            <a:srgbClr val="F7F5F0"/>
          </a:solidFill>
          <a:ln w="12700">
            <a:solidFill>
              <a:srgbClr val="F7F5F0"/>
            </a:solidFill>
            <a:prstDash val="solid"/>
          </a:ln>
        </p:spPr>
      </p:sp>
      <p:sp>
        <p:nvSpPr>
          <p:cNvPr id="25" name="Shape 22"/>
          <p:cNvSpPr/>
          <p:nvPr/>
        </p:nvSpPr>
        <p:spPr>
          <a:xfrm>
            <a:off x="914400" y="3721608"/>
            <a:ext cx="603504" cy="603504"/>
          </a:xfrm>
          <a:prstGeom prst="ellipse">
            <a:avLst/>
          </a:prstGeom>
          <a:solidFill>
            <a:srgbClr val="2A9D8F"/>
          </a:solidFill>
          <a:ln w="12700">
            <a:solidFill>
              <a:srgbClr val="2A9D8F"/>
            </a:solidFill>
            <a:prstDash val="solid"/>
          </a:ln>
        </p:spPr>
      </p:sp>
      <p:sp>
        <p:nvSpPr>
          <p:cNvPr id="26" name="Text 23"/>
          <p:cNvSpPr/>
          <p:nvPr/>
        </p:nvSpPr>
        <p:spPr>
          <a:xfrm>
            <a:off x="914400" y="3721608"/>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C</a:t>
            </a:r>
            <a:endParaRPr lang="en-US" sz="2100" dirty="0"/>
          </a:p>
        </p:txBody>
      </p:sp>
      <p:sp>
        <p:nvSpPr>
          <p:cNvPr id="27" name="Text 24"/>
          <p:cNvSpPr/>
          <p:nvPr/>
        </p:nvSpPr>
        <p:spPr>
          <a:xfrm>
            <a:off x="1783080" y="3621024"/>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DIFFERENTIATION</a:t>
            </a:r>
            <a:endParaRPr lang="en-US" sz="1100" dirty="0"/>
          </a:p>
        </p:txBody>
      </p:sp>
      <p:sp>
        <p:nvSpPr>
          <p:cNvPr id="28" name="Text 25"/>
          <p:cNvSpPr/>
          <p:nvPr/>
        </p:nvSpPr>
        <p:spPr>
          <a:xfrm>
            <a:off x="1783080" y="3877056"/>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450" dirty="0"/>
          </a:p>
        </p:txBody>
      </p:sp>
      <p:sp>
        <p:nvSpPr>
          <p:cNvPr id="29" name="Shape 26"/>
          <p:cNvSpPr/>
          <p:nvPr/>
        </p:nvSpPr>
        <p:spPr>
          <a:xfrm>
            <a:off x="640080" y="4645152"/>
            <a:ext cx="10972800" cy="987552"/>
          </a:xfrm>
          <a:prstGeom prst="roundRect">
            <a:avLst>
              <a:gd name="adj" fmla="val 8333"/>
            </a:avLst>
          </a:prstGeom>
          <a:solidFill>
            <a:srgbClr val="F7F5F0"/>
          </a:solidFill>
          <a:ln w="12700">
            <a:solidFill>
              <a:srgbClr val="F7F5F0"/>
            </a:solidFill>
            <a:prstDash val="solid"/>
          </a:ln>
        </p:spPr>
      </p:sp>
      <p:sp>
        <p:nvSpPr>
          <p:cNvPr id="30" name="Shape 27"/>
          <p:cNvSpPr/>
          <p:nvPr/>
        </p:nvSpPr>
        <p:spPr>
          <a:xfrm>
            <a:off x="914400" y="4837176"/>
            <a:ext cx="603504" cy="603504"/>
          </a:xfrm>
          <a:prstGeom prst="ellipse">
            <a:avLst/>
          </a:prstGeom>
          <a:solidFill>
            <a:srgbClr val="2A9D8F"/>
          </a:solidFill>
          <a:ln w="12700">
            <a:solidFill>
              <a:srgbClr val="2A9D8F"/>
            </a:solidFill>
            <a:prstDash val="solid"/>
          </a:ln>
        </p:spPr>
      </p:sp>
      <p:sp>
        <p:nvSpPr>
          <p:cNvPr id="31" name="Text 28"/>
          <p:cNvSpPr/>
          <p:nvPr/>
        </p:nvSpPr>
        <p:spPr>
          <a:xfrm>
            <a:off x="914400" y="4837176"/>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Inter" pitchFamily="34" charset="0"/>
                <a:ea typeface="Inter" pitchFamily="34" charset="-122"/>
                <a:cs typeface="Inter" pitchFamily="34" charset="-120"/>
              </a:rPr>
              <a:t>D</a:t>
            </a:r>
            <a:endParaRPr lang="en-US" sz="2100" dirty="0"/>
          </a:p>
        </p:txBody>
      </p:sp>
      <p:sp>
        <p:nvSpPr>
          <p:cNvPr id="32" name="Text 29"/>
          <p:cNvSpPr/>
          <p:nvPr/>
        </p:nvSpPr>
        <p:spPr>
          <a:xfrm>
            <a:off x="1783080" y="4736592"/>
            <a:ext cx="3657600" cy="274320"/>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CTE &amp; ELECTIVES</a:t>
            </a:r>
            <a:endParaRPr lang="en-US" sz="1100" dirty="0"/>
          </a:p>
        </p:txBody>
      </p:sp>
      <p:sp>
        <p:nvSpPr>
          <p:cNvPr id="33" name="Text 30"/>
          <p:cNvSpPr/>
          <p:nvPr/>
        </p:nvSpPr>
        <p:spPr>
          <a:xfrm>
            <a:off x="1783080" y="4992624"/>
            <a:ext cx="9509760" cy="603504"/>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450" dirty="0"/>
          </a:p>
        </p:txBody>
      </p:sp>
      <p:sp>
        <p:nvSpPr>
          <p:cNvPr id="34" name="Text 31"/>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 · HOW MS. RIVERA DOES IT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7" name="Text 4"/>
          <p:cNvSpPr/>
          <p:nvPr/>
        </p:nvSpPr>
        <p:spPr>
          <a:xfrm>
            <a:off x="640080" y="1371600"/>
            <a:ext cx="1097280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Don’t accept the first draft. Tell it what’s wrong, like you would an intern. Ms. Rivera’s replies, one at a time:</a:t>
            </a:r>
            <a:endParaRPr lang="en-US" sz="2000" dirty="0"/>
          </a:p>
        </p:txBody>
      </p:sp>
      <p:sp>
        <p:nvSpPr>
          <p:cNvPr id="8" name="Shape 5"/>
          <p:cNvSpPr/>
          <p:nvPr/>
        </p:nvSpPr>
        <p:spPr>
          <a:xfrm>
            <a:off x="3291840" y="2103120"/>
            <a:ext cx="7863840" cy="713232"/>
          </a:xfrm>
          <a:prstGeom prst="roundRect">
            <a:avLst>
              <a:gd name="adj" fmla="val 15385"/>
            </a:avLst>
          </a:prstGeom>
          <a:solidFill>
            <a:srgbClr val="EAF5F3"/>
          </a:solidFill>
          <a:ln w="12700">
            <a:solidFill>
              <a:srgbClr val="EAF5F3"/>
            </a:solidFill>
            <a:prstDash val="solid"/>
          </a:ln>
        </p:spPr>
      </p:sp>
      <p:sp>
        <p:nvSpPr>
          <p:cNvPr id="9" name="Text 6"/>
          <p:cNvSpPr/>
          <p:nvPr/>
        </p:nvSpPr>
        <p:spPr>
          <a:xfrm>
            <a:off x="3611880" y="214884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“Warmer.”</a:t>
            </a:r>
            <a:endParaRPr lang="en-US" sz="1900" dirty="0"/>
          </a:p>
        </p:txBody>
      </p:sp>
      <p:sp>
        <p:nvSpPr>
          <p:cNvPr id="10" name="Text 7"/>
          <p:cNvSpPr/>
          <p:nvPr/>
        </p:nvSpPr>
        <p:spPr>
          <a:xfrm>
            <a:off x="1965960" y="214884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1" name="Shape 8"/>
          <p:cNvSpPr/>
          <p:nvPr/>
        </p:nvSpPr>
        <p:spPr>
          <a:xfrm>
            <a:off x="3291840" y="2971800"/>
            <a:ext cx="7863840" cy="713232"/>
          </a:xfrm>
          <a:prstGeom prst="roundRect">
            <a:avLst>
              <a:gd name="adj" fmla="val 15385"/>
            </a:avLst>
          </a:prstGeom>
          <a:solidFill>
            <a:srgbClr val="EAF5F3"/>
          </a:solidFill>
          <a:ln w="12700">
            <a:solidFill>
              <a:srgbClr val="EAF5F3"/>
            </a:solidFill>
            <a:prstDash val="solid"/>
          </a:ln>
        </p:spPr>
      </p:sp>
      <p:sp>
        <p:nvSpPr>
          <p:cNvPr id="12" name="Text 9"/>
          <p:cNvSpPr/>
          <p:nvPr/>
        </p:nvSpPr>
        <p:spPr>
          <a:xfrm>
            <a:off x="3611880" y="301752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“Shorter.”</a:t>
            </a:r>
            <a:endParaRPr lang="en-US" sz="1900" dirty="0"/>
          </a:p>
        </p:txBody>
      </p:sp>
      <p:sp>
        <p:nvSpPr>
          <p:cNvPr id="13" name="Text 10"/>
          <p:cNvSpPr/>
          <p:nvPr/>
        </p:nvSpPr>
        <p:spPr>
          <a:xfrm>
            <a:off x="1965960" y="301752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4" name="Shape 11"/>
          <p:cNvSpPr/>
          <p:nvPr/>
        </p:nvSpPr>
        <p:spPr>
          <a:xfrm>
            <a:off x="3291840" y="3840480"/>
            <a:ext cx="7863840" cy="713232"/>
          </a:xfrm>
          <a:prstGeom prst="roundRect">
            <a:avLst>
              <a:gd name="adj" fmla="val 15385"/>
            </a:avLst>
          </a:prstGeom>
          <a:solidFill>
            <a:srgbClr val="EAF5F3"/>
          </a:solidFill>
          <a:ln w="12700">
            <a:solidFill>
              <a:srgbClr val="EAF5F3"/>
            </a:solidFill>
            <a:prstDash val="solid"/>
          </a:ln>
        </p:spPr>
      </p:sp>
      <p:sp>
        <p:nvSpPr>
          <p:cNvPr id="15" name="Text 12"/>
          <p:cNvSpPr/>
          <p:nvPr/>
        </p:nvSpPr>
        <p:spPr>
          <a:xfrm>
            <a:off x="3611880" y="388620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“A 5th grader wouldn’t know three of these words. Fix that.”</a:t>
            </a:r>
            <a:endParaRPr lang="en-US" sz="1900" dirty="0"/>
          </a:p>
        </p:txBody>
      </p:sp>
      <p:sp>
        <p:nvSpPr>
          <p:cNvPr id="16" name="Text 13"/>
          <p:cNvSpPr/>
          <p:nvPr/>
        </p:nvSpPr>
        <p:spPr>
          <a:xfrm>
            <a:off x="1965960" y="388620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17" name="Shape 14"/>
          <p:cNvSpPr/>
          <p:nvPr/>
        </p:nvSpPr>
        <p:spPr>
          <a:xfrm>
            <a:off x="3291840" y="4709160"/>
            <a:ext cx="7863840" cy="713232"/>
          </a:xfrm>
          <a:prstGeom prst="roundRect">
            <a:avLst>
              <a:gd name="adj" fmla="val 15385"/>
            </a:avLst>
          </a:prstGeom>
          <a:solidFill>
            <a:srgbClr val="EAF5F3"/>
          </a:solidFill>
          <a:ln w="12700">
            <a:solidFill>
              <a:srgbClr val="EAF5F3"/>
            </a:solidFill>
            <a:prstDash val="solid"/>
          </a:ln>
        </p:spPr>
      </p:sp>
      <p:sp>
        <p:nvSpPr>
          <p:cNvPr id="18" name="Text 15"/>
          <p:cNvSpPr/>
          <p:nvPr/>
        </p:nvSpPr>
        <p:spPr>
          <a:xfrm>
            <a:off x="3611880" y="4754880"/>
            <a:ext cx="7315200" cy="621792"/>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“Make question four harder and add a diagram question.”</a:t>
            </a:r>
            <a:endParaRPr lang="en-US" sz="1900" dirty="0"/>
          </a:p>
        </p:txBody>
      </p:sp>
      <p:sp>
        <p:nvSpPr>
          <p:cNvPr id="19" name="Text 16"/>
          <p:cNvSpPr/>
          <p:nvPr/>
        </p:nvSpPr>
        <p:spPr>
          <a:xfrm>
            <a:off x="1965960" y="4754880"/>
            <a:ext cx="1234440" cy="621792"/>
          </a:xfrm>
          <a:prstGeom prst="rect">
            <a:avLst/>
          </a:prstGeom>
          <a:noFill/>
          <a:ln/>
        </p:spPr>
        <p:txBody>
          <a:bodyPr wrap="square" lIns="0" tIns="0" rIns="0" bIns="0" rtlCol="0" anchor="ctr"/>
          <a:lstStyle/>
          <a:p>
            <a:pPr algn="r" indent="0" marL="0">
              <a:buNone/>
            </a:pPr>
            <a:r>
              <a:rPr lang="en-US" sz="1200" i="1" dirty="0">
                <a:solidFill>
                  <a:srgbClr val="5B6B7A"/>
                </a:solidFill>
                <a:latin typeface="Inter" pitchFamily="34" charset="0"/>
                <a:ea typeface="Inter" pitchFamily="34" charset="-122"/>
                <a:cs typeface="Inter" pitchFamily="34" charset="-120"/>
              </a:rPr>
              <a:t>she types →</a:t>
            </a:r>
            <a:endParaRPr lang="en-US" sz="1200" dirty="0"/>
          </a:p>
        </p:txBody>
      </p:sp>
      <p:sp>
        <p:nvSpPr>
          <p:cNvPr id="20" name="Text 17"/>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lab notes: draft one beige; two pushbacks later, usable. One error caught.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 the risks are real</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 (school membership).</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30</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2026-08-12T10:30:36Z</dcterms:created>
  <dcterms:modified xsi:type="dcterms:W3CDTF">2026-08-12T10:30:36Z</dcterms:modified>
</cp:coreProperties>
</file>