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The next six slides are her whole arc, in order: the prompt she types, the draft that comes back, the pushbacks, the invented detail she catches, and the version she actually sends.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three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our running composite example,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Read the last line of the slide out loud and stop there; do not point at the invented hours yet, because catching it is the payoff on slide 26. Everyone should have their own draft 1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one instruction at a time, because the tool has no feelings and vague feedback gets a vague draft. Two rounds minimum on your own draft 1, right now. Ms. Rivera types the first two on this slide; her screen is next.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She checked the real flyer, fixed the hours to Tuesday and Thursday, 3:00 to 6:30, and sent it. This is slide 6 happening in a real classroom task: the tool predicts likely words, so it fills a gap with something plausible, and two rounds of pushback will not catch that for you.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surprised you, what was better than you expected, what was worse, and did anyone catch it being wrong? If the room saw an AI mistake, spotlight it warmly; it’s the best possible outcome of the lab. If nobody caught one, point back at Ms. Rivera’s invented book-fair hours on slide 26;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The rest of the series is in our TpT store whenever this staff is ready. The exit ticket doubles as documentation of this hour;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 can’t do, at any price</a:t>
            </a:r>
            <a:endParaRPr lang="en-US" sz="28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rule barely costs you anything</a:t>
            </a:r>
            <a:endParaRPr lang="en-US" sz="28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filled in with her fall book fair. Her screen is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useful prompt: pick one</a:t>
            </a:r>
            <a:endParaRPr lang="en-US" sz="2800" dirty="0"/>
          </a:p>
        </p:txBody>
      </p:sp>
      <p:sp>
        <p:nvSpPr>
          <p:cNvPr id="14" name="Shape 11"/>
          <p:cNvSpPr/>
          <p:nvPr/>
        </p:nvSpPr>
        <p:spPr>
          <a:xfrm>
            <a:off x="640080" y="1371600"/>
            <a:ext cx="10972800" cy="960120"/>
          </a:xfrm>
          <a:prstGeom prst="roundRect">
            <a:avLst>
              <a:gd name="adj" fmla="val 8571"/>
            </a:avLst>
          </a:prstGeom>
          <a:solidFill>
            <a:srgbClr val="F7F5F0"/>
          </a:solidFill>
          <a:ln w="12700">
            <a:solidFill>
              <a:srgbClr val="F7F5F0"/>
            </a:solidFill>
            <a:prstDash val="solid"/>
          </a:ln>
        </p:spPr>
      </p:sp>
      <p:sp>
        <p:nvSpPr>
          <p:cNvPr id="15" name="Shape 12"/>
          <p:cNvSpPr/>
          <p:nvPr/>
        </p:nvSpPr>
        <p:spPr>
          <a:xfrm>
            <a:off x="868680" y="1645920"/>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459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463040"/>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18" name="Text 15"/>
          <p:cNvSpPr/>
          <p:nvPr/>
        </p:nvSpPr>
        <p:spPr>
          <a:xfrm>
            <a:off x="1463040" y="1719072"/>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19" name="Shape 16"/>
          <p:cNvSpPr/>
          <p:nvPr/>
        </p:nvSpPr>
        <p:spPr>
          <a:xfrm>
            <a:off x="640080" y="2441448"/>
            <a:ext cx="10972800" cy="960120"/>
          </a:xfrm>
          <a:prstGeom prst="roundRect">
            <a:avLst>
              <a:gd name="adj" fmla="val 8571"/>
            </a:avLst>
          </a:prstGeom>
          <a:solidFill>
            <a:srgbClr val="F7F5F0"/>
          </a:solidFill>
          <a:ln w="12700">
            <a:solidFill>
              <a:srgbClr val="F7F5F0"/>
            </a:solidFill>
            <a:prstDash val="solid"/>
          </a:ln>
        </p:spPr>
      </p:sp>
      <p:sp>
        <p:nvSpPr>
          <p:cNvPr id="20" name="Shape 17"/>
          <p:cNvSpPr/>
          <p:nvPr/>
        </p:nvSpPr>
        <p:spPr>
          <a:xfrm>
            <a:off x="868680" y="2715768"/>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15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32888"/>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23" name="Text 20"/>
          <p:cNvSpPr/>
          <p:nvPr/>
        </p:nvSpPr>
        <p:spPr>
          <a:xfrm>
            <a:off x="1463040" y="2788920"/>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24" name="Shape 21"/>
          <p:cNvSpPr/>
          <p:nvPr/>
        </p:nvSpPr>
        <p:spPr>
          <a:xfrm>
            <a:off x="640080" y="3511296"/>
            <a:ext cx="10972800" cy="960120"/>
          </a:xfrm>
          <a:prstGeom prst="roundRect">
            <a:avLst>
              <a:gd name="adj" fmla="val 8571"/>
            </a:avLst>
          </a:prstGeom>
          <a:solidFill>
            <a:srgbClr val="F7F5F0"/>
          </a:solidFill>
          <a:ln w="12700">
            <a:solidFill>
              <a:srgbClr val="F7F5F0"/>
            </a:solidFill>
            <a:prstDash val="solid"/>
          </a:ln>
        </p:spPr>
      </p:sp>
      <p:sp>
        <p:nvSpPr>
          <p:cNvPr id="25" name="Shape 22"/>
          <p:cNvSpPr/>
          <p:nvPr/>
        </p:nvSpPr>
        <p:spPr>
          <a:xfrm>
            <a:off x="868680" y="3785616"/>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78561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02736"/>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28" name="Text 25"/>
          <p:cNvSpPr/>
          <p:nvPr/>
        </p:nvSpPr>
        <p:spPr>
          <a:xfrm>
            <a:off x="1463040" y="3858768"/>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29" name="Shape 26"/>
          <p:cNvSpPr/>
          <p:nvPr/>
        </p:nvSpPr>
        <p:spPr>
          <a:xfrm>
            <a:off x="640080" y="4581144"/>
            <a:ext cx="10972800" cy="960120"/>
          </a:xfrm>
          <a:prstGeom prst="roundRect">
            <a:avLst>
              <a:gd name="adj" fmla="val 8571"/>
            </a:avLst>
          </a:prstGeom>
          <a:solidFill>
            <a:srgbClr val="F7F5F0"/>
          </a:solidFill>
          <a:ln w="12700">
            <a:solidFill>
              <a:srgbClr val="F7F5F0"/>
            </a:solidFill>
            <a:prstDash val="solid"/>
          </a:ln>
        </p:spPr>
      </p:sp>
      <p:sp>
        <p:nvSpPr>
          <p:cNvPr id="30" name="Shape 27"/>
          <p:cNvSpPr/>
          <p:nvPr/>
        </p:nvSpPr>
        <p:spPr>
          <a:xfrm>
            <a:off x="868680" y="4855464"/>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8554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672584"/>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33" name="Text 30"/>
          <p:cNvSpPr/>
          <p:nvPr/>
        </p:nvSpPr>
        <p:spPr>
          <a:xfrm>
            <a:off x="1463040" y="4928616"/>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600" dirty="0"/>
          </a:p>
        </p:txBody>
      </p:sp>
      <p:sp>
        <p:nvSpPr>
          <p:cNvPr id="34" name="Text 31"/>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prompt she actually types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8" name="Shape 5"/>
          <p:cNvSpPr/>
          <p:nvPr/>
        </p:nvSpPr>
        <p:spPr>
          <a:xfrm>
            <a:off x="640080" y="1783080"/>
            <a:ext cx="10972800" cy="3108960"/>
          </a:xfrm>
          <a:prstGeom prst="roundRect">
            <a:avLst>
              <a:gd name="adj" fmla="val 2941"/>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31720"/>
            <a:ext cx="9646920" cy="2423160"/>
          </a:xfrm>
          <a:prstGeom prst="roundRect">
            <a:avLst>
              <a:gd name="adj" fmla="val 4528"/>
            </a:avLst>
          </a:prstGeom>
          <a:solidFill>
            <a:srgbClr val="F7F5F0"/>
          </a:solidFill>
          <a:ln w="12700">
            <a:solidFill>
              <a:srgbClr val="F7F5F0"/>
            </a:solidFill>
            <a:prstDash val="solid"/>
          </a:ln>
        </p:spPr>
      </p:sp>
      <p:sp>
        <p:nvSpPr>
          <p:cNvPr id="15" name="Text 12"/>
          <p:cNvSpPr/>
          <p:nvPr/>
        </p:nvSpPr>
        <p:spPr>
          <a:xfrm>
            <a:off x="1783080" y="2395728"/>
            <a:ext cx="9189720" cy="2286000"/>
          </a:xfrm>
          <a:prstGeom prst="rect">
            <a:avLst/>
          </a:prstGeom>
          <a:noFill/>
          <a:ln/>
        </p:spPr>
        <p:txBody>
          <a:bodyPr wrap="square" lIns="0" tIns="0" rIns="0" bIns="0" rtlCol="0" anchor="ctr"/>
          <a:lstStyle/>
          <a:p>
            <a:pPr indent="0" marL="0">
              <a:lnSpc>
                <a:spcPct val="110000"/>
              </a:lnSpc>
              <a:buNone/>
            </a:pPr>
            <a:r>
              <a:rPr lang="en-US" sz="170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70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70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70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700" dirty="0"/>
          </a:p>
        </p:txBody>
      </p:sp>
      <p:sp>
        <p:nvSpPr>
          <p:cNvPr id="16" name="Text 13"/>
          <p:cNvSpPr/>
          <p:nvPr/>
        </p:nvSpPr>
        <p:spPr>
          <a:xfrm>
            <a:off x="640080" y="50292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Four parts, and the middle two are the ones only you can supply.</a:t>
            </a:r>
            <a:endParaRPr lang="en-US" sz="18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20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Beige, and it sounds like nobody. Keep your own draft 1 on screen: task 2 works on this exact text.</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blurb, draft 1: beige. She pushes back twice, one word at a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Don’t accept the first draft. Tell it what’s wrong, the way you would tell an intern:</a:t>
            </a:r>
            <a:endParaRPr lang="en-US" sz="1900" dirty="0"/>
          </a:p>
        </p:txBody>
      </p:sp>
      <p:sp>
        <p:nvSpPr>
          <p:cNvPr id="15" name="Shape 12"/>
          <p:cNvSpPr/>
          <p:nvPr/>
        </p:nvSpPr>
        <p:spPr>
          <a:xfrm>
            <a:off x="640080" y="1874520"/>
            <a:ext cx="5349240" cy="914400"/>
          </a:xfrm>
          <a:prstGeom prst="roundRect">
            <a:avLst>
              <a:gd name="adj" fmla="val 12000"/>
            </a:avLst>
          </a:prstGeom>
          <a:solidFill>
            <a:srgbClr val="EAF5F3"/>
          </a:solidFill>
          <a:ln w="12700">
            <a:solidFill>
              <a:srgbClr val="EAF5F3"/>
            </a:solidFill>
            <a:prstDash val="solid"/>
          </a:ln>
        </p:spPr>
      </p:sp>
      <p:sp>
        <p:nvSpPr>
          <p:cNvPr id="16" name="Text 13"/>
          <p:cNvSpPr/>
          <p:nvPr/>
        </p:nvSpPr>
        <p:spPr>
          <a:xfrm>
            <a:off x="91440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7" name="Shape 14"/>
          <p:cNvSpPr/>
          <p:nvPr/>
        </p:nvSpPr>
        <p:spPr>
          <a:xfrm>
            <a:off x="6263640" y="1874520"/>
            <a:ext cx="5349240" cy="914400"/>
          </a:xfrm>
          <a:prstGeom prst="roundRect">
            <a:avLst>
              <a:gd name="adj" fmla="val 12000"/>
            </a:avLst>
          </a:prstGeom>
          <a:solidFill>
            <a:srgbClr val="EAF5F3"/>
          </a:solidFill>
          <a:ln w="12700">
            <a:solidFill>
              <a:srgbClr val="EAF5F3"/>
            </a:solidFill>
            <a:prstDash val="solid"/>
          </a:ln>
        </p:spPr>
      </p:sp>
      <p:sp>
        <p:nvSpPr>
          <p:cNvPr id="18" name="Text 15"/>
          <p:cNvSpPr/>
          <p:nvPr/>
        </p:nvSpPr>
        <p:spPr>
          <a:xfrm>
            <a:off x="653796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9" name="Shape 16"/>
          <p:cNvSpPr/>
          <p:nvPr/>
        </p:nvSpPr>
        <p:spPr>
          <a:xfrm>
            <a:off x="640080" y="2971800"/>
            <a:ext cx="5349240" cy="914400"/>
          </a:xfrm>
          <a:prstGeom prst="roundRect">
            <a:avLst>
              <a:gd name="adj" fmla="val 12000"/>
            </a:avLst>
          </a:prstGeom>
          <a:solidFill>
            <a:srgbClr val="EAF5F3"/>
          </a:solidFill>
          <a:ln w="12700">
            <a:solidFill>
              <a:srgbClr val="EAF5F3"/>
            </a:solidFill>
            <a:prstDash val="solid"/>
          </a:ln>
        </p:spPr>
      </p:sp>
      <p:sp>
        <p:nvSpPr>
          <p:cNvPr id="20" name="Text 17"/>
          <p:cNvSpPr/>
          <p:nvPr/>
        </p:nvSpPr>
        <p:spPr>
          <a:xfrm>
            <a:off x="91440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21" name="Shape 18"/>
          <p:cNvSpPr/>
          <p:nvPr/>
        </p:nvSpPr>
        <p:spPr>
          <a:xfrm>
            <a:off x="6263640" y="2971800"/>
            <a:ext cx="5349240" cy="914400"/>
          </a:xfrm>
          <a:prstGeom prst="roundRect">
            <a:avLst>
              <a:gd name="adj" fmla="val 12000"/>
            </a:avLst>
          </a:prstGeom>
          <a:solidFill>
            <a:srgbClr val="EAF5F3"/>
          </a:solidFill>
          <a:ln w="12700">
            <a:solidFill>
              <a:srgbClr val="EAF5F3"/>
            </a:solidFill>
            <a:prstDash val="solid"/>
          </a:ln>
        </p:spPr>
      </p:sp>
      <p:sp>
        <p:nvSpPr>
          <p:cNvPr id="22" name="Text 19"/>
          <p:cNvSpPr/>
          <p:nvPr/>
        </p:nvSpPr>
        <p:spPr>
          <a:xfrm>
            <a:off x="653796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23" name="Shape 20"/>
          <p:cNvSpPr/>
          <p:nvPr/>
        </p:nvSpPr>
        <p:spPr>
          <a:xfrm>
            <a:off x="640080" y="4251960"/>
            <a:ext cx="10972800" cy="1234440"/>
          </a:xfrm>
          <a:prstGeom prst="roundRect">
            <a:avLst>
              <a:gd name="adj" fmla="val 6667"/>
            </a:avLst>
          </a:prstGeom>
          <a:solidFill>
            <a:srgbClr val="F7F5F0"/>
          </a:solidFill>
          <a:ln w="12700">
            <a:solidFill>
              <a:srgbClr val="F7F5F0"/>
            </a:solidFill>
            <a:prstDash val="solid"/>
          </a:ln>
        </p:spPr>
      </p:sp>
      <p:sp>
        <p:nvSpPr>
          <p:cNvPr id="24" name="Text 21"/>
          <p:cNvSpPr/>
          <p:nvPr/>
        </p:nvSpPr>
        <p:spPr>
          <a:xfrm>
            <a:off x="960120" y="4251960"/>
            <a:ext cx="10332720" cy="123444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Short and blunt is fine: the tool has no feelings, and vague feedback gets you a vague draft. Two rounds minimum, one instruction at a time.</a:t>
            </a:r>
            <a:endParaRPr lang="en-US" sz="1800" dirty="0"/>
          </a:p>
        </p:txBody>
      </p:sp>
      <p:sp>
        <p:nvSpPr>
          <p:cNvPr id="25" name="Text 22"/>
          <p:cNvSpPr/>
          <p:nvPr/>
        </p:nvSpPr>
        <p:spPr>
          <a:xfrm>
            <a:off x="640080" y="566928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Two pushbacks later</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2880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14" name="Shape 11"/>
          <p:cNvSpPr/>
          <p:nvPr/>
        </p:nvSpPr>
        <p:spPr>
          <a:xfrm>
            <a:off x="1554480" y="2139696"/>
            <a:ext cx="2468880" cy="548640"/>
          </a:xfrm>
          <a:prstGeom prst="roundRect">
            <a:avLst>
              <a:gd name="adj" fmla="val 23333"/>
            </a:avLst>
          </a:prstGeom>
          <a:solidFill>
            <a:srgbClr val="EAF5F3"/>
          </a:solidFill>
          <a:ln w="12700">
            <a:solidFill>
              <a:srgbClr val="EAF5F3"/>
            </a:solidFill>
            <a:prstDash val="solid"/>
          </a:ln>
        </p:spPr>
      </p:sp>
      <p:sp>
        <p:nvSpPr>
          <p:cNvPr id="15" name="Text 12"/>
          <p:cNvSpPr/>
          <p:nvPr/>
        </p:nvSpPr>
        <p:spPr>
          <a:xfrm>
            <a:off x="155448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6" name="Shape 13"/>
          <p:cNvSpPr/>
          <p:nvPr/>
        </p:nvSpPr>
        <p:spPr>
          <a:xfrm>
            <a:off x="4206240" y="2139696"/>
            <a:ext cx="2468880" cy="548640"/>
          </a:xfrm>
          <a:prstGeom prst="roundRect">
            <a:avLst>
              <a:gd name="adj" fmla="val 23333"/>
            </a:avLst>
          </a:prstGeom>
          <a:solidFill>
            <a:srgbClr val="EAF5F3"/>
          </a:solidFill>
          <a:ln w="12700">
            <a:solidFill>
              <a:srgbClr val="EAF5F3"/>
            </a:solidFill>
            <a:prstDash val="solid"/>
          </a:ln>
        </p:spPr>
      </p:sp>
      <p:sp>
        <p:nvSpPr>
          <p:cNvPr id="17" name="Text 14"/>
          <p:cNvSpPr/>
          <p:nvPr/>
        </p:nvSpPr>
        <p:spPr>
          <a:xfrm>
            <a:off x="420624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8" name="Text 15"/>
          <p:cNvSpPr/>
          <p:nvPr/>
        </p:nvSpPr>
        <p:spPr>
          <a:xfrm>
            <a:off x="1554480" y="2816352"/>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19" name="Shape 16"/>
          <p:cNvSpPr/>
          <p:nvPr/>
        </p:nvSpPr>
        <p:spPr>
          <a:xfrm>
            <a:off x="1554480" y="3108960"/>
            <a:ext cx="9646920" cy="1874520"/>
          </a:xfrm>
          <a:prstGeom prst="roundRect">
            <a:avLst>
              <a:gd name="adj" fmla="val 5854"/>
            </a:avLst>
          </a:prstGeom>
          <a:solidFill>
            <a:srgbClr val="F7F5F0"/>
          </a:solidFill>
          <a:ln w="12700">
            <a:solidFill>
              <a:srgbClr val="F7F5F0"/>
            </a:solidFill>
            <a:prstDash val="solid"/>
          </a:ln>
        </p:spPr>
      </p:sp>
      <p:sp>
        <p:nvSpPr>
          <p:cNvPr id="20" name="Text 17"/>
          <p:cNvSpPr/>
          <p:nvPr/>
        </p:nvSpPr>
        <p:spPr>
          <a:xfrm>
            <a:off x="1783080" y="3182112"/>
            <a:ext cx="9189720" cy="1719072"/>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21" name="Text 18"/>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It finally sounds like her: two rounds of pushback, about forty seconds of typing.</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SHE NEVER TYPED A SCHEDULE</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Both drafts said the fair “runs all week, 8:00 to 3:00.” That was in neither her prompt nor the real flyer: the fair runs Tuesday and Thursday, 3:00 to 6:30, so working families can come after school. The intern filled a gap with something plausible, and it survived two rounds of pushback.</a:t>
            </a:r>
            <a:endParaRPr lang="en-US" sz="16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180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Honest limits: the risks are real</a:t>
            </a:r>
            <a:endParaRPr lang="en-US" sz="28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in the full series.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All eight sessions are available in our TpT store, individually or bundled.</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2026-08-23T14:43:29Z</dcterms:created>
  <dcterms:modified xsi:type="dcterms:W3CDTF">2026-08-23T14:43:29Z</dcterms:modified>
</cp:coreProperties>
</file>