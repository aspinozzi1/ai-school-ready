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Lst>
  <p:notesMasterIdLst>
    <p:notesMasterId r:id="rId36"/>
  </p:notesMasterIdLst>
  <p:sldSz cx="12188952" cy="6858000"/>
  <p:notesSz cx="6858000" cy="12188952"/>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notesMaster" Target="notesMasters/notesMaster1.xml"/><Relationship Id="rId37" Type="http://schemas.openxmlformats.org/officeDocument/2006/relationships/presProps" Target="presProps.xml"/><Relationship Id="rId38" Type="http://schemas.openxmlformats.org/officeDocument/2006/relationships/viewProps" Target="viewProps.xml"/><Relationship Id="rId39" Type="http://schemas.openxmlformats.org/officeDocument/2006/relationships/theme" Target="theme/theme1.xml"/><Relationship Id="rId4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Have this slide up as people arrive. Start on time. Script: "Welcome, everyone…". The full word-for-word text is in the Facilitator Script, keyed to every slide number.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promises: not a sales pitch (skeptics are important here), not a scare session. Position: AI is a tool: it can take the robotic parts of the job, never the human parts. AI drafts, the teacher decides.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Optional show of hands first: who has used ChatGPT or similar at least once? Sources: RAND RR-A134-25 (25% in 2023-24), RAND RR-A4180-1 (53% of ELA/math/science teachers in 2024-25), Gallup-Walton 2025 (60%), Pew 2026 (54% of teens). All in the References file.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Research point (Darling-Hammond et al., Learning Policy Institute 2017): PD changes practice when it includes active learning and sustained follow-up; hence the lab and the 30-day plan. "This isn’t a one-and-done."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this plain: typing into ChatGPT/Claude/Gemini/Copilot is not looking up facts. The tool predicts likely next words. That one fact explains both the brilliance and the failures.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Linardon et al., JMIR Mental Health (2025), the GPT-4o literature-review test. This is called hallucination and it is a side effect of prediction, not a bug about to be fixed. If asked "why use it at all?": most classroom uses aren’t factual lookup; they’re drafting and reformatting, where you are the fact-checker by definition.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intern only works because there is a professional in charge. That’s you. This five-word posture is the spine of the entire curriculum: AI drafts, the teacher decides.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four categories cover most of what staff will actually do this year. The time-savings stat is Gallup–Walton 2025: weekly users save about 5.9 hours/week, roughly six weeks a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nothing on this list is under threat, on purpose and forever. AI can't know your students, can't verify its own facts, and can't care. The tool buys back time FOR this list; it never takes this list away. This is the session's first explicit "human moment"; land it plainly and move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Slow down. Read the rule off the screen, then pause a full three seconds. This is the most important slide of the session.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obvious things first, then widen it: anything from a record or about a specific child stays out of the chat box.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asked "even in a private chat that I delete?": yes. Deleting your view doesn’t recall what the company received. The rule works because it has no exceptions to remember at 9pm on a Sunday.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Sources: FERPA (federal law); Future of Privacy Forum vetting guidance (2024) on open-chat-box oversharing. Keep the not-legal-advice line verbatim.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distinction keeps the rule accurate without weakening it. If your district has already approved a tool with a data agreement, name it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Transition slide; keep it quick. The de-identification skill on the next slides is what makes the rule cost nothing in practice.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this is Ms. Rivera, our running example teacher; she's a composite, and her screen shows what this looks like on your end. The unsafe version pastes a full student record (name, family, academics, behavior) into a stranger's text box. The safe version gets the same email; the AI needed the situation, never the child. She adds the name after it's back in her own email account.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Notice the safe version is also the better prompt: more specific about what you actually want. Safer and more useful is the usual trade.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They just watched all three moves in the safe swaps. Ten seconds of habit; automatic within a week.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the room call each one before you confirm with the answer line at the bottom. C is the splitter: no name, but "the student who just moved here from Ukraine" identifies a child; fix: "a student who recently arrived from another country and is learning English." Resolve debates with the slide-12 test. 3 minutes, brisk.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this is the moment the session exists for, and the lab IS the rule in practice: fifteen minutes of real tasks with zero student information, because if a prompt only works with a child's identity in it, it isn't ready. Ms. Rivera takes the parent email from slide 16, the one she almost typed the unsafe way, and runs it safely end to end on screen: the three moves, the draft that comes back, and the step where the name goes back in. Tell the room: if you ever feel lost, copy her. Announce the tool by name. Energy up; pairs formed inside two minutes.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pick the task closest to your real job. First say the prompt in your head the way you would naturally say it, with the student in it. Then strip it with the three moves from slide 18 and type only the safe version. Option A is Ms. Rivera's pick and works for every role in the building, so point stuck pairs there; her rewrite is the next slide. Option D comes from a real carpentry classroom; invite electives staff to swap in their own station or lab. Circulate. Deputize power users to float. The point pairs should feel: the safe version does the whole job.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this is Ms. Rivera's screen, and this is slide 16 happening for real. The unsafe version named Jayden, his missing assignments, and Tuesday's outburst. Watch the three moves land, and read the colors off the slide: the name becomes "a parent" and "a middle schooler" (strip identity, teal), the specifics become "several missing assignments and a recent difficult day" (generalize, amber), and the rest describes exactly what she needs back (describe the need, green). Ten seconds of editing, and nothing the email needed was lost. At worst, copy her shape and swap in your own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four seconds later, this comes back. Warm, specific, usable, and look at what is NOT in it: no name, no identity, and nothing missing. The tool needed the situation, never the child. Read the last line of the slide out loud and stop there; do not point at the invented conference yet, because catching it is the payoff on slide 26. Everyone should have their own safe draft on screen before you move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task two. Remember the sneaky ones from slide 12? Here are four fresh ones, and this time you fix them. None uses a name, and every one still identifies a child: initials plus a detail, a one-of-a-kind detail, a rare combination, a pasted document. Pick one, run the ten-second test, fix it with the three moves, and type the safe version to check the draft still does the job. The IEP recording is a trap on purpose: pasting or uploading counts as typing. 45-minute version: skip this task and go straight to the debrief. Ms. Rivera's next step, the one everyone asks about, is on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and here is the answer to the question half of you are holding: "but the email needs Jayden's name." It does. So watch where it goes in. She pastes the safe draft into her own school email, and there, and only there, she adds his name, the real assignments, and what actually happened Tuesday. Identity goes in last, in your tools, never in theirs; the AI never met Jayden. Then hold the room: one sentence in this draft is still riding along from the AI, and the next slide is where she finds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before she sent it, she read it once, slowly, and found the sentence she never typed: "as we discussed at last week's conference." There was no conference. This is slide 6 happening in a real family email: the tool predicts likely words, fills gaps with something plausible, and neither the three moves nor the personalization will catch that for you. She cut it, checked every remaining detail, and sent it. Tell the room to read their own draft the same way before the debrief, and to say "got one" out loud if they find something.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what did the safe version cost you (usually nothing), what surprised you about how little the tool needed to know, and did anyone catch a detail it invented? If the room caught one, spotlight it warmly; it's the best possible outcome of the lab. If nobody did, point back at Ms. Rivera's invented conference on slide 26; the read-through is where inventions surface. Take 3–4 voices, a minute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Rule one governed what goes INTO the tool; this governs what comes OUT. Source: U.S. Dept. of Education OET (2023), "humans in the loop."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Nobody selling AI leads with these. Naming them is what earns the room’s trust. If you chose to share the founders’ note, their view that over-reliance is the biggest risk lands well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Age facts: OpenAI terms: 13+ minimum, under-18 parental permission. Park student-cheating debates here explicitly: "That’s Kit 5; today is about our use."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all three, then ask for a visible nod or thumbs-up. It matters that this is agreed, not just heard. These commitments are the school’s interim stance until a formal policy exists (Kit 15).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Hold up the First 48 Hours sheet as you talk. Research basis for follow-through: Darling-Hammond et al. (2017): sustained duration and active use are what make PD stick.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Next up is Kit 2, Prompting Basics: consistently useful results instead of occasionally lucky ones. The rest of the series is in our TpT store whenever this staff is ready. The exit ticket doubles as documentation of this hour; check with your district whether it qualifies for local credit.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Distribute exit tickets; collect at the door; they are the school’s PD documentation. Your worries steer what we do next. Thanks, everyone.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1.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1.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1.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1.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1.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1.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1.xml"/><Relationship Id="rId3" Type="http://schemas.openxmlformats.org/officeDocument/2006/relationships/notesSlide" Target="../notesSlides/notesSlide3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3293D"/>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77240" y="731520"/>
            <a:ext cx="1051560" cy="969264"/>
          </a:xfrm>
          <a:prstGeom prst="rect">
            <a:avLst/>
          </a:prstGeom>
        </p:spPr>
      </p:pic>
      <p:sp>
        <p:nvSpPr>
          <p:cNvPr id="3" name="Text 0"/>
          <p:cNvSpPr/>
          <p:nvPr/>
        </p:nvSpPr>
        <p:spPr>
          <a:xfrm>
            <a:off x="1965960" y="960120"/>
            <a:ext cx="3657600" cy="548640"/>
          </a:xfrm>
          <a:prstGeom prst="rect">
            <a:avLst/>
          </a:prstGeom>
          <a:noFill/>
          <a:ln/>
        </p:spPr>
        <p:txBody>
          <a:bodyPr wrap="square" lIns="0" tIns="0" rIns="0" bIns="0" rtlCol="0" anchor="ctr"/>
          <a:lstStyle/>
          <a:p>
            <a:pPr indent="0" marL="0">
              <a:buNone/>
            </a:pPr>
            <a:r>
              <a:rPr lang="en-US" sz="2600" b="1" dirty="0">
                <a:solidFill>
                  <a:srgbClr val="2A9D8F"/>
                </a:solidFill>
                <a:latin typeface="Inter" pitchFamily="34" charset="0"/>
                <a:ea typeface="Inter" pitchFamily="34" charset="-122"/>
                <a:cs typeface="Inter" pitchFamily="34" charset="-120"/>
              </a:rPr>
              <a:t>AI-Ready</a:t>
            </a:r>
            <a:pPr indent="0" marL="0">
              <a:buNone/>
            </a:pPr>
            <a:r>
              <a:rPr lang="en-US" sz="2600" b="1" dirty="0">
                <a:solidFill>
                  <a:srgbClr val="FFFFFF"/>
                </a:solidFill>
                <a:latin typeface="Inter" pitchFamily="34" charset="0"/>
                <a:ea typeface="Inter" pitchFamily="34" charset="-122"/>
                <a:cs typeface="Inter" pitchFamily="34" charset="-120"/>
              </a:rPr>
              <a:t> School</a:t>
            </a:r>
            <a:endParaRPr lang="en-US" sz="2600" dirty="0"/>
          </a:p>
        </p:txBody>
      </p:sp>
      <p:sp>
        <p:nvSpPr>
          <p:cNvPr id="4" name="Text 1"/>
          <p:cNvSpPr/>
          <p:nvPr/>
        </p:nvSpPr>
        <p:spPr>
          <a:xfrm>
            <a:off x="822960" y="2743200"/>
            <a:ext cx="8229600" cy="365760"/>
          </a:xfrm>
          <a:prstGeom prst="rect">
            <a:avLst/>
          </a:prstGeom>
          <a:noFill/>
          <a:ln/>
        </p:spPr>
        <p:txBody>
          <a:bodyPr wrap="square" lIns="0" tIns="0" rIns="0" bIns="0" rtlCol="0" anchor="ctr"/>
          <a:lstStyle/>
          <a:p>
            <a:pPr indent="0" marL="0">
              <a:buNone/>
            </a:pPr>
            <a:r>
              <a:rPr lang="en-US" sz="1500" b="1" spc="300" kern="0" dirty="0">
                <a:solidFill>
                  <a:srgbClr val="F4A825"/>
                </a:solidFill>
                <a:latin typeface="Inter" pitchFamily="34" charset="0"/>
                <a:ea typeface="Inter" pitchFamily="34" charset="-122"/>
                <a:cs typeface="Inter" pitchFamily="34" charset="-120"/>
              </a:rPr>
              <a:t>TRACK A · AI FOUNDATIONS · KIT 1 OF 20</a:t>
            </a:r>
            <a:endParaRPr lang="en-US" sz="1500" dirty="0"/>
          </a:p>
        </p:txBody>
      </p:sp>
      <p:sp>
        <p:nvSpPr>
          <p:cNvPr id="5" name="Text 2"/>
          <p:cNvSpPr/>
          <p:nvPr/>
        </p:nvSpPr>
        <p:spPr>
          <a:xfrm>
            <a:off x="777240" y="3063240"/>
            <a:ext cx="10607040" cy="1828800"/>
          </a:xfrm>
          <a:prstGeom prst="rect">
            <a:avLst/>
          </a:prstGeom>
          <a:noFill/>
          <a:ln/>
        </p:spPr>
        <p:txBody>
          <a:bodyPr wrap="square" lIns="0" tIns="0" rIns="0" bIns="0" rtlCol="0" anchor="ctr"/>
          <a:lstStyle/>
          <a:p>
            <a:pPr indent="0" marL="0">
              <a:lnSpc>
                <a:spcPct val="105000"/>
              </a:lnSpc>
              <a:buNone/>
            </a:pPr>
            <a:r>
              <a:rPr lang="en-US" sz="4700" b="1" dirty="0">
                <a:solidFill>
                  <a:srgbClr val="FFFFFF"/>
                </a:solidFill>
                <a:latin typeface="Inter" pitchFamily="34" charset="0"/>
                <a:ea typeface="Inter" pitchFamily="34" charset="-122"/>
                <a:cs typeface="Inter" pitchFamily="34" charset="-120"/>
              </a:rPr>
              <a:t>AI Foundations &amp; Safety:</a:t>
            </a:r>
            <a:endParaRPr lang="en-US" sz="4700" dirty="0"/>
          </a:p>
          <a:p>
            <a:pPr indent="0" marL="0">
              <a:lnSpc>
                <a:spcPct val="105000"/>
              </a:lnSpc>
              <a:buNone/>
            </a:pPr>
            <a:r>
              <a:rPr lang="en-US" sz="4700" b="1" dirty="0">
                <a:solidFill>
                  <a:srgbClr val="FFFFFF"/>
                </a:solidFill>
                <a:latin typeface="Inter" pitchFamily="34" charset="0"/>
                <a:ea typeface="Inter" pitchFamily="34" charset="-122"/>
                <a:cs typeface="Inter" pitchFamily="34" charset="-120"/>
              </a:rPr>
              <a:t>The One Hard Rule</a:t>
            </a:r>
            <a:endParaRPr lang="en-US" sz="4700" dirty="0"/>
          </a:p>
        </p:txBody>
      </p:sp>
      <p:sp>
        <p:nvSpPr>
          <p:cNvPr id="6" name="Text 3"/>
          <p:cNvSpPr/>
          <p:nvPr/>
        </p:nvSpPr>
        <p:spPr>
          <a:xfrm>
            <a:off x="822960" y="4983480"/>
            <a:ext cx="9601200" cy="457200"/>
          </a:xfrm>
          <a:prstGeom prst="rect">
            <a:avLst/>
          </a:prstGeom>
          <a:noFill/>
          <a:ln/>
        </p:spPr>
        <p:txBody>
          <a:bodyPr wrap="square" lIns="0" tIns="0" rIns="0" bIns="0" rtlCol="0" anchor="ctr"/>
          <a:lstStyle/>
          <a:p>
            <a:pPr indent="0" marL="0">
              <a:buNone/>
            </a:pPr>
            <a:r>
              <a:rPr lang="en-US" sz="1800" dirty="0">
                <a:solidFill>
                  <a:srgbClr val="C9D4DE"/>
                </a:solidFill>
                <a:latin typeface="Inter" pitchFamily="34" charset="0"/>
                <a:ea typeface="Inter" pitchFamily="34" charset="-122"/>
                <a:cs typeface="Inter" pitchFamily="34" charset="-120"/>
              </a:rPr>
              <a:t>A 45–60 minute working session for the whole staff, with 15 minutes hands-on.</a:t>
            </a:r>
            <a:endParaRPr lang="en-US" sz="1800" dirty="0"/>
          </a:p>
        </p:txBody>
      </p:sp>
      <p:sp>
        <p:nvSpPr>
          <p:cNvPr id="7" name="Text 4"/>
          <p:cNvSpPr/>
          <p:nvPr/>
        </p:nvSpPr>
        <p:spPr>
          <a:xfrm>
            <a:off x="822960" y="6035040"/>
            <a:ext cx="10515600" cy="365760"/>
          </a:xfrm>
          <a:prstGeom prst="rect">
            <a:avLst/>
          </a:prstGeom>
          <a:noFill/>
          <a:ln/>
        </p:spPr>
        <p:txBody>
          <a:bodyPr wrap="square" lIns="0" tIns="0" rIns="0" bIns="0" rtlCol="0" anchor="ctr"/>
          <a:lstStyle/>
          <a:p>
            <a:pPr indent="0" marL="0">
              <a:buNone/>
            </a:pPr>
            <a:r>
              <a:rPr lang="en-US" sz="1200" dirty="0">
                <a:solidFill>
                  <a:srgbClr val="9FB2C2"/>
                </a:solidFill>
                <a:latin typeface="Inter" pitchFamily="34" charset="0"/>
                <a:ea typeface="Inter" pitchFamily="34" charset="-122"/>
                <a:cs typeface="Inter" pitchFamily="34" charset="-120"/>
              </a:rPr>
              <a:t>Built by Adam &amp; Katelyn Spinozzi · certified educators · 20+ combined years in the classroom</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1 · AI Foundations &amp; Safety   |   2</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Meet her: our running example teacher. Same piles on her desk as yours.</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TWO PROMISES</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What today is (and isn’t)</a:t>
            </a:r>
            <a:endParaRPr lang="en-US" sz="3200" dirty="0"/>
          </a:p>
        </p:txBody>
      </p:sp>
      <p:sp>
        <p:nvSpPr>
          <p:cNvPr id="14" name="Shape 11"/>
          <p:cNvSpPr/>
          <p:nvPr/>
        </p:nvSpPr>
        <p:spPr>
          <a:xfrm>
            <a:off x="640080" y="1508760"/>
            <a:ext cx="5394960" cy="4206240"/>
          </a:xfrm>
          <a:prstGeom prst="roundRect">
            <a:avLst>
              <a:gd name="adj" fmla="val 1957"/>
            </a:avLst>
          </a:prstGeom>
          <a:solidFill>
            <a:srgbClr val="F7F5F0"/>
          </a:solidFill>
          <a:ln w="12700">
            <a:solidFill>
              <a:srgbClr val="F7F5F0"/>
            </a:solidFill>
            <a:prstDash val="solid"/>
          </a:ln>
        </p:spPr>
      </p:sp>
      <p:sp>
        <p:nvSpPr>
          <p:cNvPr id="15" name="Text 12"/>
          <p:cNvSpPr/>
          <p:nvPr/>
        </p:nvSpPr>
        <p:spPr>
          <a:xfrm>
            <a:off x="960120" y="1783080"/>
            <a:ext cx="4754880" cy="411480"/>
          </a:xfrm>
          <a:prstGeom prst="rect">
            <a:avLst/>
          </a:prstGeom>
          <a:noFill/>
          <a:ln/>
        </p:spPr>
        <p:txBody>
          <a:bodyPr wrap="square" lIns="0" tIns="0" rIns="0" bIns="0" rtlCol="0" anchor="ctr"/>
          <a:lstStyle/>
          <a:p>
            <a:pPr indent="0" marL="0">
              <a:buNone/>
            </a:pPr>
            <a:r>
              <a:rPr lang="en-US" sz="2000" b="1" dirty="0">
                <a:solidFill>
                  <a:srgbClr val="B4453A"/>
                </a:solidFill>
                <a:latin typeface="Inter" pitchFamily="34" charset="0"/>
                <a:ea typeface="Inter" pitchFamily="34" charset="-122"/>
                <a:cs typeface="Inter" pitchFamily="34" charset="-120"/>
              </a:rPr>
              <a:t>This session is NOT</a:t>
            </a:r>
            <a:endParaRPr lang="en-US" sz="2000" dirty="0"/>
          </a:p>
        </p:txBody>
      </p:sp>
      <p:sp>
        <p:nvSpPr>
          <p:cNvPr id="16" name="Text 13"/>
          <p:cNvSpPr/>
          <p:nvPr/>
        </p:nvSpPr>
        <p:spPr>
          <a:xfrm>
            <a:off x="960120" y="2331720"/>
            <a:ext cx="4846320" cy="3108960"/>
          </a:xfrm>
          <a:prstGeom prst="rect">
            <a:avLst/>
          </a:prstGeom>
          <a:noFill/>
          <a:ln/>
        </p:spPr>
        <p:txBody>
          <a:bodyPr wrap="square" rtlCol="0" anchor="t"/>
          <a:lstStyle/>
          <a:p>
            <a:pPr marL="342900" indent="-342900">
              <a:spcAft>
                <a:spcPts val="1000"/>
              </a:spcAft>
              <a:buSzPct val="100000"/>
              <a:buChar char="•"/>
            </a:pPr>
            <a:r>
              <a:rPr lang="en-US" sz="2000" dirty="0">
                <a:solidFill>
                  <a:srgbClr val="1B1F24"/>
                </a:solidFill>
                <a:latin typeface="Inter" pitchFamily="34" charset="0"/>
                <a:ea typeface="Inter" pitchFamily="34" charset="-122"/>
                <a:cs typeface="Inter" pitchFamily="34" charset="-120"/>
              </a:rPr>
              <a:t>A sales pitch for AI</a:t>
            </a:r>
            <a:endParaRPr lang="en-US" sz="2000" dirty="0"/>
          </a:p>
          <a:p>
            <a:pPr marL="342900" indent="-342900">
              <a:spcAft>
                <a:spcPts val="1000"/>
              </a:spcAft>
              <a:buSzPct val="100000"/>
              <a:buChar char="•"/>
            </a:pPr>
            <a:r>
              <a:rPr lang="en-US" sz="2000" dirty="0">
                <a:solidFill>
                  <a:srgbClr val="1B1F24"/>
                </a:solidFill>
                <a:latin typeface="Inter" pitchFamily="34" charset="0"/>
                <a:ea typeface="Inter" pitchFamily="34" charset="-122"/>
                <a:cs typeface="Inter" pitchFamily="34" charset="-120"/>
              </a:rPr>
              <a:t>A scare session</a:t>
            </a:r>
            <a:endParaRPr lang="en-US" sz="2000" dirty="0"/>
          </a:p>
          <a:p>
            <a:pPr marL="342900" indent="-342900">
              <a:spcAft>
                <a:spcPts val="1000"/>
              </a:spcAft>
              <a:buSzPct val="100000"/>
              <a:buChar char="•"/>
            </a:pPr>
            <a:r>
              <a:rPr lang="en-US" sz="2000" dirty="0">
                <a:solidFill>
                  <a:srgbClr val="1B1F24"/>
                </a:solidFill>
                <a:latin typeface="Inter" pitchFamily="34" charset="0"/>
                <a:ea typeface="Inter" pitchFamily="34" charset="-122"/>
                <a:cs typeface="Inter" pitchFamily="34" charset="-120"/>
              </a:rPr>
              <a:t>A prediction that robots replace teachers</a:t>
            </a:r>
            <a:endParaRPr lang="en-US" sz="2000" dirty="0"/>
          </a:p>
        </p:txBody>
      </p:sp>
      <p:sp>
        <p:nvSpPr>
          <p:cNvPr id="17" name="Shape 14"/>
          <p:cNvSpPr/>
          <p:nvPr/>
        </p:nvSpPr>
        <p:spPr>
          <a:xfrm>
            <a:off x="6263640" y="1508760"/>
            <a:ext cx="5394960" cy="4206240"/>
          </a:xfrm>
          <a:prstGeom prst="roundRect">
            <a:avLst>
              <a:gd name="adj" fmla="val 1957"/>
            </a:avLst>
          </a:prstGeom>
          <a:solidFill>
            <a:srgbClr val="EAF5F3"/>
          </a:solidFill>
          <a:ln w="12700">
            <a:solidFill>
              <a:srgbClr val="EAF5F3"/>
            </a:solidFill>
            <a:prstDash val="solid"/>
          </a:ln>
        </p:spPr>
      </p:sp>
      <p:sp>
        <p:nvSpPr>
          <p:cNvPr id="18" name="Text 15"/>
          <p:cNvSpPr/>
          <p:nvPr/>
        </p:nvSpPr>
        <p:spPr>
          <a:xfrm>
            <a:off x="6583680" y="1783080"/>
            <a:ext cx="4754880" cy="411480"/>
          </a:xfrm>
          <a:prstGeom prst="rect">
            <a:avLst/>
          </a:prstGeom>
          <a:noFill/>
          <a:ln/>
        </p:spPr>
        <p:txBody>
          <a:bodyPr wrap="square" lIns="0" tIns="0" rIns="0" bIns="0" rtlCol="0" anchor="ctr"/>
          <a:lstStyle/>
          <a:p>
            <a:pPr indent="0" marL="0">
              <a:buNone/>
            </a:pPr>
            <a:r>
              <a:rPr lang="en-US" sz="2000" b="1" dirty="0">
                <a:solidFill>
                  <a:srgbClr val="2E7D5B"/>
                </a:solidFill>
                <a:latin typeface="Inter" pitchFamily="34" charset="0"/>
                <a:ea typeface="Inter" pitchFamily="34" charset="-122"/>
                <a:cs typeface="Inter" pitchFamily="34" charset="-120"/>
              </a:rPr>
              <a:t>It IS</a:t>
            </a:r>
            <a:endParaRPr lang="en-US" sz="2000" dirty="0"/>
          </a:p>
        </p:txBody>
      </p:sp>
      <p:sp>
        <p:nvSpPr>
          <p:cNvPr id="19" name="Text 16"/>
          <p:cNvSpPr/>
          <p:nvPr/>
        </p:nvSpPr>
        <p:spPr>
          <a:xfrm>
            <a:off x="6583680" y="2331720"/>
            <a:ext cx="4846320" cy="3108960"/>
          </a:xfrm>
          <a:prstGeom prst="rect">
            <a:avLst/>
          </a:prstGeom>
          <a:noFill/>
          <a:ln/>
        </p:spPr>
        <p:txBody>
          <a:bodyPr wrap="square" rtlCol="0" anchor="t"/>
          <a:lstStyle/>
          <a:p>
            <a:pPr marL="342900" indent="-342900">
              <a:spcAft>
                <a:spcPts val="1000"/>
              </a:spcAft>
              <a:buSzPct val="100000"/>
              <a:buChar char="•"/>
            </a:pPr>
            <a:r>
              <a:rPr lang="en-US" sz="2000" dirty="0">
                <a:solidFill>
                  <a:srgbClr val="1B1F24"/>
                </a:solidFill>
                <a:latin typeface="Inter" pitchFamily="34" charset="0"/>
                <a:ea typeface="Inter" pitchFamily="34" charset="-122"/>
                <a:cs typeface="Inter" pitchFamily="34" charset="-120"/>
              </a:rPr>
              <a:t>A clear picture of what these tools actually are</a:t>
            </a:r>
            <a:endParaRPr lang="en-US" sz="2000" dirty="0"/>
          </a:p>
          <a:p>
            <a:pPr marL="342900" indent="-342900">
              <a:spcAft>
                <a:spcPts val="1000"/>
              </a:spcAft>
              <a:buSzPct val="100000"/>
              <a:buChar char="•"/>
            </a:pPr>
            <a:r>
              <a:rPr lang="en-US" sz="2000" dirty="0">
                <a:solidFill>
                  <a:srgbClr val="1B1F24"/>
                </a:solidFill>
                <a:latin typeface="Inter" pitchFamily="34" charset="0"/>
                <a:ea typeface="Inter" pitchFamily="34" charset="-122"/>
                <a:cs typeface="Inter" pitchFamily="34" charset="-120"/>
              </a:rPr>
              <a:t>The one rule that keeps you and your students safe</a:t>
            </a:r>
            <a:endParaRPr lang="en-US" sz="2000" dirty="0"/>
          </a:p>
          <a:p>
            <a:pPr marL="342900" indent="-342900">
              <a:spcAft>
                <a:spcPts val="1000"/>
              </a:spcAft>
              <a:buSzPct val="100000"/>
              <a:buChar char="•"/>
            </a:pPr>
            <a:r>
              <a:rPr lang="en-US" sz="2000" dirty="0">
                <a:solidFill>
                  <a:srgbClr val="1B1F24"/>
                </a:solidFill>
                <a:latin typeface="Inter" pitchFamily="34" charset="0"/>
                <a:ea typeface="Inter" pitchFamily="34" charset="-122"/>
                <a:cs typeface="Inter" pitchFamily="34" charset="-120"/>
              </a:rPr>
              <a:t>15 minutes of actually using AI, hands-on</a:t>
            </a:r>
            <a:endParaRPr lang="en-US" sz="2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1 · AI Foundations &amp; Safety   |   3</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She noticed: her students and colleagues are already using these tools.</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WHY NOW: THREE NUMBERS</a:t>
            </a:r>
            <a:endParaRPr lang="en-US" sz="1200" dirty="0"/>
          </a:p>
        </p:txBody>
      </p:sp>
      <p:sp>
        <p:nvSpPr>
          <p:cNvPr id="13" name="Text 10"/>
          <p:cNvSpPr/>
          <p:nvPr/>
        </p:nvSpPr>
        <p:spPr>
          <a:xfrm>
            <a:off x="548640" y="457200"/>
            <a:ext cx="7955280" cy="914400"/>
          </a:xfrm>
          <a:prstGeom prst="rect">
            <a:avLst/>
          </a:prstGeom>
          <a:noFill/>
          <a:ln/>
        </p:spPr>
        <p:txBody>
          <a:bodyPr wrap="square" lIns="0" tIns="0" rIns="0" bIns="0" rtlCol="0" anchor="t"/>
          <a:lstStyle/>
          <a:p>
            <a:pPr indent="0" marL="0">
              <a:buNone/>
            </a:pPr>
            <a:r>
              <a:rPr lang="en-US" sz="2600" b="1" dirty="0">
                <a:solidFill>
                  <a:srgbClr val="13293D"/>
                </a:solidFill>
                <a:latin typeface="Inter" pitchFamily="34" charset="0"/>
                <a:ea typeface="Inter" pitchFamily="34" charset="-122"/>
                <a:cs typeface="Inter" pitchFamily="34" charset="-120"/>
              </a:rPr>
              <a:t>This moved faster than any school technology before it</a:t>
            </a:r>
            <a:endParaRPr lang="en-US" sz="2600" dirty="0"/>
          </a:p>
        </p:txBody>
      </p:sp>
      <p:sp>
        <p:nvSpPr>
          <p:cNvPr id="14" name="Shape 11"/>
          <p:cNvSpPr/>
          <p:nvPr/>
        </p:nvSpPr>
        <p:spPr>
          <a:xfrm>
            <a:off x="640080" y="1600200"/>
            <a:ext cx="3520440" cy="3291840"/>
          </a:xfrm>
          <a:prstGeom prst="roundRect">
            <a:avLst>
              <a:gd name="adj" fmla="val 2500"/>
            </a:avLst>
          </a:prstGeom>
          <a:solidFill>
            <a:srgbClr val="F7F5F0"/>
          </a:solidFill>
          <a:ln w="12700">
            <a:solidFill>
              <a:srgbClr val="F7F5F0"/>
            </a:solidFill>
            <a:prstDash val="solid"/>
          </a:ln>
        </p:spPr>
      </p:sp>
      <p:sp>
        <p:nvSpPr>
          <p:cNvPr id="15" name="Shape 12"/>
          <p:cNvSpPr/>
          <p:nvPr/>
        </p:nvSpPr>
        <p:spPr>
          <a:xfrm>
            <a:off x="4343400" y="1600200"/>
            <a:ext cx="3520440" cy="3291840"/>
          </a:xfrm>
          <a:prstGeom prst="roundRect">
            <a:avLst>
              <a:gd name="adj" fmla="val 2500"/>
            </a:avLst>
          </a:prstGeom>
          <a:solidFill>
            <a:srgbClr val="F7F5F0"/>
          </a:solidFill>
          <a:ln w="12700">
            <a:solidFill>
              <a:srgbClr val="F7F5F0"/>
            </a:solidFill>
            <a:prstDash val="solid"/>
          </a:ln>
        </p:spPr>
      </p:sp>
      <p:sp>
        <p:nvSpPr>
          <p:cNvPr id="16" name="Shape 13"/>
          <p:cNvSpPr/>
          <p:nvPr/>
        </p:nvSpPr>
        <p:spPr>
          <a:xfrm>
            <a:off x="8046720" y="1600200"/>
            <a:ext cx="3520440" cy="3291840"/>
          </a:xfrm>
          <a:prstGeom prst="roundRect">
            <a:avLst>
              <a:gd name="adj" fmla="val 2500"/>
            </a:avLst>
          </a:prstGeom>
          <a:solidFill>
            <a:srgbClr val="F7F5F0"/>
          </a:solidFill>
          <a:ln w="12700">
            <a:solidFill>
              <a:srgbClr val="F7F5F0"/>
            </a:solidFill>
            <a:prstDash val="solid"/>
          </a:ln>
        </p:spPr>
      </p:sp>
      <p:sp>
        <p:nvSpPr>
          <p:cNvPr id="17" name="Text 14"/>
          <p:cNvSpPr/>
          <p:nvPr/>
        </p:nvSpPr>
        <p:spPr>
          <a:xfrm>
            <a:off x="640080" y="1874520"/>
            <a:ext cx="3520440" cy="1097280"/>
          </a:xfrm>
          <a:prstGeom prst="rect">
            <a:avLst/>
          </a:prstGeom>
          <a:noFill/>
          <a:ln/>
        </p:spPr>
        <p:txBody>
          <a:bodyPr wrap="square" lIns="0" tIns="0" rIns="0" bIns="0" rtlCol="0" anchor="ctr"/>
          <a:lstStyle/>
          <a:p>
            <a:pPr algn="ctr" indent="0" marL="0">
              <a:buNone/>
            </a:pPr>
            <a:r>
              <a:rPr lang="en-US" sz="4000" b="1" dirty="0">
                <a:solidFill>
                  <a:srgbClr val="5B6B7A"/>
                </a:solidFill>
                <a:latin typeface="Inter" pitchFamily="34" charset="0"/>
                <a:ea typeface="Inter" pitchFamily="34" charset="-122"/>
                <a:cs typeface="Inter" pitchFamily="34" charset="-120"/>
              </a:rPr>
              <a:t>25%</a:t>
            </a:r>
            <a:pPr algn="ctr" indent="0" marL="0">
              <a:buNone/>
            </a:pPr>
            <a:r>
              <a:rPr lang="en-US" sz="4000" b="1" dirty="0">
                <a:solidFill>
                  <a:srgbClr val="2A9D8F"/>
                </a:solidFill>
                <a:latin typeface="Inter" pitchFamily="34" charset="0"/>
                <a:ea typeface="Inter" pitchFamily="34" charset="-122"/>
                <a:cs typeface="Inter" pitchFamily="34" charset="-120"/>
              </a:rPr>
              <a:t> → </a:t>
            </a:r>
            <a:pPr algn="ctr" indent="0" marL="0">
              <a:buNone/>
            </a:pPr>
            <a:r>
              <a:rPr lang="en-US" sz="4000" b="1" dirty="0">
                <a:solidFill>
                  <a:srgbClr val="13293D"/>
                </a:solidFill>
                <a:latin typeface="Inter" pitchFamily="34" charset="0"/>
                <a:ea typeface="Inter" pitchFamily="34" charset="-122"/>
                <a:cs typeface="Inter" pitchFamily="34" charset="-120"/>
              </a:rPr>
              <a:t>53%</a:t>
            </a:r>
            <a:endParaRPr lang="en-US" sz="4000" dirty="0"/>
          </a:p>
        </p:txBody>
      </p:sp>
      <p:sp>
        <p:nvSpPr>
          <p:cNvPr id="18" name="Text 15"/>
          <p:cNvSpPr/>
          <p:nvPr/>
        </p:nvSpPr>
        <p:spPr>
          <a:xfrm>
            <a:off x="4343400" y="1828800"/>
            <a:ext cx="3520440" cy="1188720"/>
          </a:xfrm>
          <a:prstGeom prst="rect">
            <a:avLst/>
          </a:prstGeom>
          <a:noFill/>
          <a:ln/>
        </p:spPr>
        <p:txBody>
          <a:bodyPr wrap="square" lIns="0" tIns="0" rIns="0" bIns="0" rtlCol="0" anchor="ctr"/>
          <a:lstStyle/>
          <a:p>
            <a:pPr algn="ctr" indent="0" marL="0">
              <a:buNone/>
            </a:pPr>
            <a:r>
              <a:rPr lang="en-US" sz="6400" b="1" dirty="0">
                <a:solidFill>
                  <a:srgbClr val="2A9D8F"/>
                </a:solidFill>
                <a:latin typeface="Inter" pitchFamily="34" charset="0"/>
                <a:ea typeface="Inter" pitchFamily="34" charset="-122"/>
                <a:cs typeface="Inter" pitchFamily="34" charset="-120"/>
              </a:rPr>
              <a:t>60%</a:t>
            </a:r>
            <a:endParaRPr lang="en-US" sz="6400" dirty="0"/>
          </a:p>
        </p:txBody>
      </p:sp>
      <p:sp>
        <p:nvSpPr>
          <p:cNvPr id="19" name="Text 16"/>
          <p:cNvSpPr/>
          <p:nvPr/>
        </p:nvSpPr>
        <p:spPr>
          <a:xfrm>
            <a:off x="8046720" y="1828800"/>
            <a:ext cx="3520440" cy="1188720"/>
          </a:xfrm>
          <a:prstGeom prst="rect">
            <a:avLst/>
          </a:prstGeom>
          <a:noFill/>
          <a:ln/>
        </p:spPr>
        <p:txBody>
          <a:bodyPr wrap="square" lIns="0" tIns="0" rIns="0" bIns="0" rtlCol="0" anchor="ctr"/>
          <a:lstStyle/>
          <a:p>
            <a:pPr algn="ctr" indent="0" marL="0">
              <a:buNone/>
            </a:pPr>
            <a:r>
              <a:rPr lang="en-US" sz="6400" b="1" dirty="0">
                <a:solidFill>
                  <a:srgbClr val="F4A825"/>
                </a:solidFill>
                <a:latin typeface="Inter" pitchFamily="34" charset="0"/>
                <a:ea typeface="Inter" pitchFamily="34" charset="-122"/>
                <a:cs typeface="Inter" pitchFamily="34" charset="-120"/>
              </a:rPr>
              <a:t>54%</a:t>
            </a:r>
            <a:endParaRPr lang="en-US" sz="6400" dirty="0"/>
          </a:p>
        </p:txBody>
      </p:sp>
      <p:sp>
        <p:nvSpPr>
          <p:cNvPr id="20" name="Text 17"/>
          <p:cNvSpPr/>
          <p:nvPr/>
        </p:nvSpPr>
        <p:spPr>
          <a:xfrm>
            <a:off x="822960" y="3520440"/>
            <a:ext cx="3154680" cy="1280160"/>
          </a:xfrm>
          <a:prstGeom prst="rect">
            <a:avLst/>
          </a:prstGeom>
          <a:noFill/>
          <a:ln/>
        </p:spPr>
        <p:txBody>
          <a:bodyPr wrap="square" lIns="0" tIns="0" rIns="0" bIns="0" rtlCol="0" anchor="t"/>
          <a:lstStyle/>
          <a:p>
            <a:pPr algn="ctr" indent="0" marL="0">
              <a:buNone/>
            </a:pPr>
            <a:r>
              <a:rPr lang="en-US" sz="1600" dirty="0">
                <a:solidFill>
                  <a:srgbClr val="1B1F24"/>
                </a:solidFill>
                <a:latin typeface="Inter" pitchFamily="34" charset="0"/>
                <a:ea typeface="Inter" pitchFamily="34" charset="-122"/>
                <a:cs typeface="Inter" pitchFamily="34" charset="-120"/>
              </a:rPr>
              <a:t>Teachers using AI for work,</a:t>
            </a:r>
            <a:endParaRPr lang="en-US" sz="1600" dirty="0"/>
          </a:p>
          <a:p>
            <a:pPr algn="ctr" indent="0" marL="0">
              <a:buNone/>
            </a:pPr>
            <a:r>
              <a:rPr lang="en-US" sz="1600" dirty="0">
                <a:solidFill>
                  <a:srgbClr val="1B1F24"/>
                </a:solidFill>
                <a:latin typeface="Inter" pitchFamily="34" charset="0"/>
                <a:ea typeface="Inter" pitchFamily="34" charset="-122"/>
                <a:cs typeface="Inter" pitchFamily="34" charset="-120"/>
              </a:rPr>
              <a:t>2023–24 vs. 2024–25</a:t>
            </a:r>
            <a:endParaRPr lang="en-US" sz="1600" dirty="0"/>
          </a:p>
          <a:p>
            <a:pPr algn="ctr" indent="0" marL="0">
              <a:buNone/>
            </a:pPr>
            <a:r>
              <a:rPr lang="en-US" sz="1600" dirty="0">
                <a:solidFill>
                  <a:srgbClr val="1B1F24"/>
                </a:solidFill>
                <a:latin typeface="Inter" pitchFamily="34" charset="0"/>
                <a:ea typeface="Inter" pitchFamily="34" charset="-122"/>
                <a:cs typeface="Inter" pitchFamily="34" charset="-120"/>
              </a:rPr>
              <a:t>(RAND)</a:t>
            </a:r>
            <a:endParaRPr lang="en-US" sz="1600" dirty="0"/>
          </a:p>
        </p:txBody>
      </p:sp>
      <p:sp>
        <p:nvSpPr>
          <p:cNvPr id="21" name="Text 18"/>
          <p:cNvSpPr/>
          <p:nvPr/>
        </p:nvSpPr>
        <p:spPr>
          <a:xfrm>
            <a:off x="4526280" y="3520440"/>
            <a:ext cx="3154680" cy="1280160"/>
          </a:xfrm>
          <a:prstGeom prst="rect">
            <a:avLst/>
          </a:prstGeom>
          <a:noFill/>
          <a:ln/>
        </p:spPr>
        <p:txBody>
          <a:bodyPr wrap="square" lIns="0" tIns="0" rIns="0" bIns="0" rtlCol="0" anchor="t"/>
          <a:lstStyle/>
          <a:p>
            <a:pPr algn="ctr" indent="0" marL="0">
              <a:buNone/>
            </a:pPr>
            <a:r>
              <a:rPr lang="en-US" sz="1600" dirty="0">
                <a:solidFill>
                  <a:srgbClr val="1B1F24"/>
                </a:solidFill>
                <a:latin typeface="Inter" pitchFamily="34" charset="0"/>
                <a:ea typeface="Inter" pitchFamily="34" charset="-122"/>
                <a:cs typeface="Inter" pitchFamily="34" charset="-120"/>
              </a:rPr>
              <a:t>of teachers used AI during</a:t>
            </a:r>
            <a:endParaRPr lang="en-US" sz="1600" dirty="0"/>
          </a:p>
          <a:p>
            <a:pPr algn="ctr" indent="0" marL="0">
              <a:buNone/>
            </a:pPr>
            <a:r>
              <a:rPr lang="en-US" sz="1600" dirty="0">
                <a:solidFill>
                  <a:srgbClr val="1B1F24"/>
                </a:solidFill>
                <a:latin typeface="Inter" pitchFamily="34" charset="0"/>
                <a:ea typeface="Inter" pitchFamily="34" charset="-122"/>
                <a:cs typeface="Inter" pitchFamily="34" charset="-120"/>
              </a:rPr>
              <a:t>the 2024–25 school year</a:t>
            </a:r>
            <a:endParaRPr lang="en-US" sz="1600" dirty="0"/>
          </a:p>
          <a:p>
            <a:pPr algn="ctr" indent="0" marL="0">
              <a:buNone/>
            </a:pPr>
            <a:r>
              <a:rPr lang="en-US" sz="1600" dirty="0">
                <a:solidFill>
                  <a:srgbClr val="1B1F24"/>
                </a:solidFill>
                <a:latin typeface="Inter" pitchFamily="34" charset="0"/>
                <a:ea typeface="Inter" pitchFamily="34" charset="-122"/>
                <a:cs typeface="Inter" pitchFamily="34" charset="-120"/>
              </a:rPr>
              <a:t>(Gallup &amp; Walton Family Fdn.)</a:t>
            </a:r>
            <a:endParaRPr lang="en-US" sz="1600" dirty="0"/>
          </a:p>
        </p:txBody>
      </p:sp>
      <p:sp>
        <p:nvSpPr>
          <p:cNvPr id="22" name="Text 19"/>
          <p:cNvSpPr/>
          <p:nvPr/>
        </p:nvSpPr>
        <p:spPr>
          <a:xfrm>
            <a:off x="8229600" y="3520440"/>
            <a:ext cx="3154680" cy="1280160"/>
          </a:xfrm>
          <a:prstGeom prst="rect">
            <a:avLst/>
          </a:prstGeom>
          <a:noFill/>
          <a:ln/>
        </p:spPr>
        <p:txBody>
          <a:bodyPr wrap="square" lIns="0" tIns="0" rIns="0" bIns="0" rtlCol="0" anchor="t"/>
          <a:lstStyle/>
          <a:p>
            <a:pPr algn="ctr" indent="0" marL="0">
              <a:buNone/>
            </a:pPr>
            <a:r>
              <a:rPr lang="en-US" sz="1600" dirty="0">
                <a:solidFill>
                  <a:srgbClr val="1B1F24"/>
                </a:solidFill>
                <a:latin typeface="Inter" pitchFamily="34" charset="0"/>
                <a:ea typeface="Inter" pitchFamily="34" charset="-122"/>
                <a:cs typeface="Inter" pitchFamily="34" charset="-120"/>
              </a:rPr>
              <a:t>of U.S. teens already use AI</a:t>
            </a:r>
            <a:endParaRPr lang="en-US" sz="1600" dirty="0"/>
          </a:p>
          <a:p>
            <a:pPr algn="ctr" indent="0" marL="0">
              <a:buNone/>
            </a:pPr>
            <a:r>
              <a:rPr lang="en-US" sz="1600" dirty="0">
                <a:solidFill>
                  <a:srgbClr val="1B1F24"/>
                </a:solidFill>
                <a:latin typeface="Inter" pitchFamily="34" charset="0"/>
                <a:ea typeface="Inter" pitchFamily="34" charset="-122"/>
                <a:cs typeface="Inter" pitchFamily="34" charset="-120"/>
              </a:rPr>
              <a:t>for schoolwork (Pew, 2026)</a:t>
            </a:r>
            <a:endParaRPr lang="en-US" sz="1600" dirty="0"/>
          </a:p>
        </p:txBody>
      </p:sp>
      <p:sp>
        <p:nvSpPr>
          <p:cNvPr id="23" name="Text 20"/>
          <p:cNvSpPr/>
          <p:nvPr/>
        </p:nvSpPr>
        <p:spPr>
          <a:xfrm>
            <a:off x="640080" y="5257800"/>
            <a:ext cx="10908792" cy="548640"/>
          </a:xfrm>
          <a:prstGeom prst="rect">
            <a:avLst/>
          </a:prstGeom>
          <a:noFill/>
          <a:ln/>
        </p:spPr>
        <p:txBody>
          <a:bodyPr wrap="square" lIns="0" tIns="0" rIns="0" bIns="0" rtlCol="0" anchor="ctr"/>
          <a:lstStyle/>
          <a:p>
            <a:pPr algn="ctr" indent="0" marL="0">
              <a:buNone/>
            </a:pPr>
            <a:r>
              <a:rPr lang="en-US" sz="2000" i="1" dirty="0">
                <a:solidFill>
                  <a:srgbClr val="5B6B7A"/>
                </a:solidFill>
                <a:latin typeface="Inter" pitchFamily="34" charset="0"/>
                <a:ea typeface="Inter" pitchFamily="34" charset="-122"/>
                <a:cs typeface="Inter" pitchFamily="34" charset="-120"/>
              </a:rPr>
              <a:t>Whatever we decide in this room, AI is already in our building.</a:t>
            </a:r>
            <a:endParaRPr lang="en-US" sz="2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1 · AI Foundations &amp; Safety   |   4</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goal this hour: leave with one real task done with AI, safely.</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THE HOUR AHEAD</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Agenda, and one promise</a:t>
            </a:r>
            <a:endParaRPr lang="en-US" sz="3200" dirty="0"/>
          </a:p>
        </p:txBody>
      </p:sp>
      <p:sp>
        <p:nvSpPr>
          <p:cNvPr id="14" name="Text 11"/>
          <p:cNvSpPr/>
          <p:nvPr/>
        </p:nvSpPr>
        <p:spPr>
          <a:xfrm>
            <a:off x="822960" y="1417320"/>
            <a:ext cx="1005840" cy="502920"/>
          </a:xfrm>
          <a:prstGeom prst="rect">
            <a:avLst/>
          </a:prstGeom>
          <a:noFill/>
          <a:ln/>
        </p:spPr>
        <p:txBody>
          <a:bodyPr wrap="square" lIns="0" tIns="0" rIns="0" bIns="0" rtlCol="0" anchor="ctr"/>
          <a:lstStyle/>
          <a:p>
            <a:pPr indent="0" marL="0">
              <a:buNone/>
            </a:pPr>
            <a:r>
              <a:rPr lang="en-US" sz="2000" b="1" dirty="0">
                <a:solidFill>
                  <a:srgbClr val="2A9D8F"/>
                </a:solidFill>
                <a:latin typeface="Inter" pitchFamily="34" charset="0"/>
                <a:ea typeface="Inter" pitchFamily="34" charset="-122"/>
                <a:cs typeface="Inter" pitchFamily="34" charset="-120"/>
              </a:rPr>
              <a:t>0:00</a:t>
            </a:r>
            <a:endParaRPr lang="en-US" sz="2000" dirty="0"/>
          </a:p>
        </p:txBody>
      </p:sp>
      <p:sp>
        <p:nvSpPr>
          <p:cNvPr id="15" name="Text 12"/>
          <p:cNvSpPr/>
          <p:nvPr/>
        </p:nvSpPr>
        <p:spPr>
          <a:xfrm>
            <a:off x="1920240" y="1417320"/>
            <a:ext cx="6949440" cy="502920"/>
          </a:xfrm>
          <a:prstGeom prst="rect">
            <a:avLst/>
          </a:prstGeom>
          <a:noFill/>
          <a:ln/>
        </p:spPr>
        <p:txBody>
          <a:bodyPr wrap="square" lIns="0" tIns="0" rIns="0" bIns="0" rtlCol="0" anchor="ctr"/>
          <a:lstStyle/>
          <a:p>
            <a:pPr indent="0" marL="0">
              <a:buNone/>
            </a:pPr>
            <a:r>
              <a:rPr lang="en-US" sz="2000" dirty="0">
                <a:solidFill>
                  <a:srgbClr val="1B1F24"/>
                </a:solidFill>
                <a:latin typeface="Inter" pitchFamily="34" charset="0"/>
                <a:ea typeface="Inter" pitchFamily="34" charset="-122"/>
                <a:cs typeface="Inter" pitchFamily="34" charset="-120"/>
              </a:rPr>
              <a:t>Welcome &amp; why now</a:t>
            </a:r>
            <a:endParaRPr lang="en-US" sz="2000" dirty="0"/>
          </a:p>
        </p:txBody>
      </p:sp>
      <p:sp>
        <p:nvSpPr>
          <p:cNvPr id="16" name="Text 13"/>
          <p:cNvSpPr/>
          <p:nvPr/>
        </p:nvSpPr>
        <p:spPr>
          <a:xfrm>
            <a:off x="822960" y="2039112"/>
            <a:ext cx="1005840" cy="502920"/>
          </a:xfrm>
          <a:prstGeom prst="rect">
            <a:avLst/>
          </a:prstGeom>
          <a:noFill/>
          <a:ln/>
        </p:spPr>
        <p:txBody>
          <a:bodyPr wrap="square" lIns="0" tIns="0" rIns="0" bIns="0" rtlCol="0" anchor="ctr"/>
          <a:lstStyle/>
          <a:p>
            <a:pPr indent="0" marL="0">
              <a:buNone/>
            </a:pPr>
            <a:r>
              <a:rPr lang="en-US" sz="2000" b="1" dirty="0">
                <a:solidFill>
                  <a:srgbClr val="2A9D8F"/>
                </a:solidFill>
                <a:latin typeface="Inter" pitchFamily="34" charset="0"/>
                <a:ea typeface="Inter" pitchFamily="34" charset="-122"/>
                <a:cs typeface="Inter" pitchFamily="34" charset="-120"/>
              </a:rPr>
              <a:t>0:04</a:t>
            </a:r>
            <a:endParaRPr lang="en-US" sz="2000" dirty="0"/>
          </a:p>
        </p:txBody>
      </p:sp>
      <p:sp>
        <p:nvSpPr>
          <p:cNvPr id="17" name="Text 14"/>
          <p:cNvSpPr/>
          <p:nvPr/>
        </p:nvSpPr>
        <p:spPr>
          <a:xfrm>
            <a:off x="1920240" y="2039112"/>
            <a:ext cx="6949440" cy="502920"/>
          </a:xfrm>
          <a:prstGeom prst="rect">
            <a:avLst/>
          </a:prstGeom>
          <a:noFill/>
          <a:ln/>
        </p:spPr>
        <p:txBody>
          <a:bodyPr wrap="square" lIns="0" tIns="0" rIns="0" bIns="0" rtlCol="0" anchor="ctr"/>
          <a:lstStyle/>
          <a:p>
            <a:pPr indent="0" marL="0">
              <a:buNone/>
            </a:pPr>
            <a:r>
              <a:rPr lang="en-US" sz="2000" dirty="0">
                <a:solidFill>
                  <a:srgbClr val="1B1F24"/>
                </a:solidFill>
                <a:latin typeface="Inter" pitchFamily="34" charset="0"/>
                <a:ea typeface="Inter" pitchFamily="34" charset="-122"/>
                <a:cs typeface="Inter" pitchFamily="34" charset="-120"/>
              </a:rPr>
              <a:t>What AI actually is (no jargon)</a:t>
            </a:r>
            <a:endParaRPr lang="en-US" sz="2000" dirty="0"/>
          </a:p>
        </p:txBody>
      </p:sp>
      <p:sp>
        <p:nvSpPr>
          <p:cNvPr id="18" name="Text 15"/>
          <p:cNvSpPr/>
          <p:nvPr/>
        </p:nvSpPr>
        <p:spPr>
          <a:xfrm>
            <a:off x="822960" y="2660904"/>
            <a:ext cx="1005840" cy="502920"/>
          </a:xfrm>
          <a:prstGeom prst="rect">
            <a:avLst/>
          </a:prstGeom>
          <a:noFill/>
          <a:ln/>
        </p:spPr>
        <p:txBody>
          <a:bodyPr wrap="square" lIns="0" tIns="0" rIns="0" bIns="0" rtlCol="0" anchor="ctr"/>
          <a:lstStyle/>
          <a:p>
            <a:pPr indent="0" marL="0">
              <a:buNone/>
            </a:pPr>
            <a:r>
              <a:rPr lang="en-US" sz="2000" b="1" dirty="0">
                <a:solidFill>
                  <a:srgbClr val="2A9D8F"/>
                </a:solidFill>
                <a:latin typeface="Inter" pitchFamily="34" charset="0"/>
                <a:ea typeface="Inter" pitchFamily="34" charset="-122"/>
                <a:cs typeface="Inter" pitchFamily="34" charset="-120"/>
              </a:rPr>
              <a:t>0:12</a:t>
            </a:r>
            <a:endParaRPr lang="en-US" sz="2000" dirty="0"/>
          </a:p>
        </p:txBody>
      </p:sp>
      <p:sp>
        <p:nvSpPr>
          <p:cNvPr id="19" name="Text 16"/>
          <p:cNvSpPr/>
          <p:nvPr/>
        </p:nvSpPr>
        <p:spPr>
          <a:xfrm>
            <a:off x="1920240" y="2660904"/>
            <a:ext cx="6949440" cy="502920"/>
          </a:xfrm>
          <a:prstGeom prst="rect">
            <a:avLst/>
          </a:prstGeom>
          <a:noFill/>
          <a:ln/>
        </p:spPr>
        <p:txBody>
          <a:bodyPr wrap="square" lIns="0" tIns="0" rIns="0" bIns="0" rtlCol="0" anchor="ctr"/>
          <a:lstStyle/>
          <a:p>
            <a:pPr indent="0" marL="0">
              <a:buNone/>
            </a:pPr>
            <a:r>
              <a:rPr lang="en-US" sz="2000" dirty="0">
                <a:solidFill>
                  <a:srgbClr val="1B1F24"/>
                </a:solidFill>
                <a:latin typeface="Inter" pitchFamily="34" charset="0"/>
                <a:ea typeface="Inter" pitchFamily="34" charset="-122"/>
                <a:cs typeface="Inter" pitchFamily="34" charset="-120"/>
              </a:rPr>
              <a:t>The One Hard Rule: student privacy</a:t>
            </a:r>
            <a:endParaRPr lang="en-US" sz="2000" dirty="0"/>
          </a:p>
        </p:txBody>
      </p:sp>
      <p:sp>
        <p:nvSpPr>
          <p:cNvPr id="20" name="Text 17"/>
          <p:cNvSpPr/>
          <p:nvPr/>
        </p:nvSpPr>
        <p:spPr>
          <a:xfrm>
            <a:off x="822960" y="3282696"/>
            <a:ext cx="1005840" cy="502920"/>
          </a:xfrm>
          <a:prstGeom prst="rect">
            <a:avLst/>
          </a:prstGeom>
          <a:noFill/>
          <a:ln/>
        </p:spPr>
        <p:txBody>
          <a:bodyPr wrap="square" lIns="0" tIns="0" rIns="0" bIns="0" rtlCol="0" anchor="ctr"/>
          <a:lstStyle/>
          <a:p>
            <a:pPr indent="0" marL="0">
              <a:buNone/>
            </a:pPr>
            <a:r>
              <a:rPr lang="en-US" sz="2000" b="1" dirty="0">
                <a:solidFill>
                  <a:srgbClr val="2A9D8F"/>
                </a:solidFill>
                <a:latin typeface="Inter" pitchFamily="34" charset="0"/>
                <a:ea typeface="Inter" pitchFamily="34" charset="-122"/>
                <a:cs typeface="Inter" pitchFamily="34" charset="-120"/>
              </a:rPr>
              <a:t>0:22</a:t>
            </a:r>
            <a:endParaRPr lang="en-US" sz="2000" dirty="0"/>
          </a:p>
        </p:txBody>
      </p:sp>
      <p:sp>
        <p:nvSpPr>
          <p:cNvPr id="21" name="Text 18"/>
          <p:cNvSpPr/>
          <p:nvPr/>
        </p:nvSpPr>
        <p:spPr>
          <a:xfrm>
            <a:off x="1920240" y="3282696"/>
            <a:ext cx="6949440" cy="502920"/>
          </a:xfrm>
          <a:prstGeom prst="rect">
            <a:avLst/>
          </a:prstGeom>
          <a:noFill/>
          <a:ln/>
        </p:spPr>
        <p:txBody>
          <a:bodyPr wrap="square" lIns="0" tIns="0" rIns="0" bIns="0" rtlCol="0" anchor="ctr"/>
          <a:lstStyle/>
          <a:p>
            <a:pPr indent="0" marL="0">
              <a:buNone/>
            </a:pPr>
            <a:r>
              <a:rPr lang="en-US" sz="2000" dirty="0">
                <a:solidFill>
                  <a:srgbClr val="1B1F24"/>
                </a:solidFill>
                <a:latin typeface="Inter" pitchFamily="34" charset="0"/>
                <a:ea typeface="Inter" pitchFamily="34" charset="-122"/>
                <a:cs typeface="Inter" pitchFamily="34" charset="-120"/>
              </a:rPr>
              <a:t>Safe practice: rewriting risky prompts</a:t>
            </a:r>
            <a:endParaRPr lang="en-US" sz="2000" dirty="0"/>
          </a:p>
        </p:txBody>
      </p:sp>
      <p:sp>
        <p:nvSpPr>
          <p:cNvPr id="22" name="Text 19"/>
          <p:cNvSpPr/>
          <p:nvPr/>
        </p:nvSpPr>
        <p:spPr>
          <a:xfrm>
            <a:off x="822960" y="3904488"/>
            <a:ext cx="1005840" cy="502920"/>
          </a:xfrm>
          <a:prstGeom prst="rect">
            <a:avLst/>
          </a:prstGeom>
          <a:noFill/>
          <a:ln/>
        </p:spPr>
        <p:txBody>
          <a:bodyPr wrap="square" lIns="0" tIns="0" rIns="0" bIns="0" rtlCol="0" anchor="ctr"/>
          <a:lstStyle/>
          <a:p>
            <a:pPr indent="0" marL="0">
              <a:buNone/>
            </a:pPr>
            <a:r>
              <a:rPr lang="en-US" sz="2000" b="1" dirty="0">
                <a:solidFill>
                  <a:srgbClr val="2A9D8F"/>
                </a:solidFill>
                <a:latin typeface="Inter" pitchFamily="34" charset="0"/>
                <a:ea typeface="Inter" pitchFamily="34" charset="-122"/>
                <a:cs typeface="Inter" pitchFamily="34" charset="-120"/>
              </a:rPr>
              <a:t>0:30</a:t>
            </a:r>
            <a:endParaRPr lang="en-US" sz="2000" dirty="0"/>
          </a:p>
        </p:txBody>
      </p:sp>
      <p:sp>
        <p:nvSpPr>
          <p:cNvPr id="23" name="Text 20"/>
          <p:cNvSpPr/>
          <p:nvPr/>
        </p:nvSpPr>
        <p:spPr>
          <a:xfrm>
            <a:off x="1920240" y="3904488"/>
            <a:ext cx="6949440" cy="502920"/>
          </a:xfrm>
          <a:prstGeom prst="rect">
            <a:avLst/>
          </a:prstGeom>
          <a:noFill/>
          <a:ln/>
        </p:spPr>
        <p:txBody>
          <a:bodyPr wrap="square" lIns="0" tIns="0" rIns="0" bIns="0" rtlCol="0" anchor="ctr"/>
          <a:lstStyle/>
          <a:p>
            <a:pPr indent="0" marL="0">
              <a:buNone/>
            </a:pPr>
            <a:r>
              <a:rPr lang="en-US" sz="2000" dirty="0">
                <a:solidFill>
                  <a:srgbClr val="1B1F24"/>
                </a:solidFill>
                <a:latin typeface="Inter" pitchFamily="34" charset="0"/>
                <a:ea typeface="Inter" pitchFamily="34" charset="-122"/>
                <a:cs typeface="Inter" pitchFamily="34" charset="-120"/>
              </a:rPr>
              <a:t>Hands-on lab: you type, in pairs</a:t>
            </a:r>
            <a:endParaRPr lang="en-US" sz="2000" dirty="0"/>
          </a:p>
        </p:txBody>
      </p:sp>
      <p:sp>
        <p:nvSpPr>
          <p:cNvPr id="24" name="Text 21"/>
          <p:cNvSpPr/>
          <p:nvPr/>
        </p:nvSpPr>
        <p:spPr>
          <a:xfrm>
            <a:off x="822960" y="4526280"/>
            <a:ext cx="1005840" cy="502920"/>
          </a:xfrm>
          <a:prstGeom prst="rect">
            <a:avLst/>
          </a:prstGeom>
          <a:noFill/>
          <a:ln/>
        </p:spPr>
        <p:txBody>
          <a:bodyPr wrap="square" lIns="0" tIns="0" rIns="0" bIns="0" rtlCol="0" anchor="ctr"/>
          <a:lstStyle/>
          <a:p>
            <a:pPr indent="0" marL="0">
              <a:buNone/>
            </a:pPr>
            <a:r>
              <a:rPr lang="en-US" sz="2000" b="1" dirty="0">
                <a:solidFill>
                  <a:srgbClr val="2A9D8F"/>
                </a:solidFill>
                <a:latin typeface="Inter" pitchFamily="34" charset="0"/>
                <a:ea typeface="Inter" pitchFamily="34" charset="-122"/>
                <a:cs typeface="Inter" pitchFamily="34" charset="-120"/>
              </a:rPr>
              <a:t>0:45</a:t>
            </a:r>
            <a:endParaRPr lang="en-US" sz="2000" dirty="0"/>
          </a:p>
        </p:txBody>
      </p:sp>
      <p:sp>
        <p:nvSpPr>
          <p:cNvPr id="25" name="Text 22"/>
          <p:cNvSpPr/>
          <p:nvPr/>
        </p:nvSpPr>
        <p:spPr>
          <a:xfrm>
            <a:off x="1920240" y="4526280"/>
            <a:ext cx="6949440" cy="502920"/>
          </a:xfrm>
          <a:prstGeom prst="rect">
            <a:avLst/>
          </a:prstGeom>
          <a:noFill/>
          <a:ln/>
        </p:spPr>
        <p:txBody>
          <a:bodyPr wrap="square" lIns="0" tIns="0" rIns="0" bIns="0" rtlCol="0" anchor="ctr"/>
          <a:lstStyle/>
          <a:p>
            <a:pPr indent="0" marL="0">
              <a:buNone/>
            </a:pPr>
            <a:r>
              <a:rPr lang="en-US" sz="2000" dirty="0">
                <a:solidFill>
                  <a:srgbClr val="1B1F24"/>
                </a:solidFill>
                <a:latin typeface="Inter" pitchFamily="34" charset="0"/>
                <a:ea typeface="Inter" pitchFamily="34" charset="-122"/>
                <a:cs typeface="Inter" pitchFamily="34" charset="-120"/>
              </a:rPr>
              <a:t>Staying human · our three commitments</a:t>
            </a:r>
            <a:endParaRPr lang="en-US" sz="2000" dirty="0"/>
          </a:p>
        </p:txBody>
      </p:sp>
      <p:sp>
        <p:nvSpPr>
          <p:cNvPr id="26" name="Text 23"/>
          <p:cNvSpPr/>
          <p:nvPr/>
        </p:nvSpPr>
        <p:spPr>
          <a:xfrm>
            <a:off x="822960" y="5148072"/>
            <a:ext cx="1005840" cy="502920"/>
          </a:xfrm>
          <a:prstGeom prst="rect">
            <a:avLst/>
          </a:prstGeom>
          <a:noFill/>
          <a:ln/>
        </p:spPr>
        <p:txBody>
          <a:bodyPr wrap="square" lIns="0" tIns="0" rIns="0" bIns="0" rtlCol="0" anchor="ctr"/>
          <a:lstStyle/>
          <a:p>
            <a:pPr indent="0" marL="0">
              <a:buNone/>
            </a:pPr>
            <a:r>
              <a:rPr lang="en-US" sz="2000" b="1" dirty="0">
                <a:solidFill>
                  <a:srgbClr val="2A9D8F"/>
                </a:solidFill>
                <a:latin typeface="Inter" pitchFamily="34" charset="0"/>
                <a:ea typeface="Inter" pitchFamily="34" charset="-122"/>
                <a:cs typeface="Inter" pitchFamily="34" charset="-120"/>
              </a:rPr>
              <a:t>0:52</a:t>
            </a:r>
            <a:endParaRPr lang="en-US" sz="2000" dirty="0"/>
          </a:p>
        </p:txBody>
      </p:sp>
      <p:sp>
        <p:nvSpPr>
          <p:cNvPr id="27" name="Text 24"/>
          <p:cNvSpPr/>
          <p:nvPr/>
        </p:nvSpPr>
        <p:spPr>
          <a:xfrm>
            <a:off x="1920240" y="5148072"/>
            <a:ext cx="6949440" cy="502920"/>
          </a:xfrm>
          <a:prstGeom prst="rect">
            <a:avLst/>
          </a:prstGeom>
          <a:noFill/>
          <a:ln/>
        </p:spPr>
        <p:txBody>
          <a:bodyPr wrap="square" lIns="0" tIns="0" rIns="0" bIns="0" rtlCol="0" anchor="ctr"/>
          <a:lstStyle/>
          <a:p>
            <a:pPr indent="0" marL="0">
              <a:buNone/>
            </a:pPr>
            <a:r>
              <a:rPr lang="en-US" sz="2000" dirty="0">
                <a:solidFill>
                  <a:srgbClr val="1B1F24"/>
                </a:solidFill>
                <a:latin typeface="Inter" pitchFamily="34" charset="0"/>
                <a:ea typeface="Inter" pitchFamily="34" charset="-122"/>
                <a:cs typeface="Inter" pitchFamily="34" charset="-120"/>
              </a:rPr>
              <a:t>First 48 hours &amp; exit ticket</a:t>
            </a:r>
            <a:endParaRPr lang="en-US" sz="2000" dirty="0"/>
          </a:p>
        </p:txBody>
      </p:sp>
      <p:sp>
        <p:nvSpPr>
          <p:cNvPr id="28" name="Shape 25"/>
          <p:cNvSpPr/>
          <p:nvPr/>
        </p:nvSpPr>
        <p:spPr>
          <a:xfrm>
            <a:off x="9144000" y="2103120"/>
            <a:ext cx="2514600" cy="2651760"/>
          </a:xfrm>
          <a:prstGeom prst="roundRect">
            <a:avLst>
              <a:gd name="adj" fmla="val 3273"/>
            </a:avLst>
          </a:prstGeom>
          <a:solidFill>
            <a:srgbClr val="13293D"/>
          </a:solidFill>
          <a:ln w="12700">
            <a:solidFill>
              <a:srgbClr val="13293D"/>
            </a:solidFill>
            <a:prstDash val="solid"/>
          </a:ln>
        </p:spPr>
      </p:sp>
      <p:sp>
        <p:nvSpPr>
          <p:cNvPr id="29" name="Text 26"/>
          <p:cNvSpPr/>
          <p:nvPr/>
        </p:nvSpPr>
        <p:spPr>
          <a:xfrm>
            <a:off x="9372600" y="2331720"/>
            <a:ext cx="2057400" cy="365760"/>
          </a:xfrm>
          <a:prstGeom prst="rect">
            <a:avLst/>
          </a:prstGeom>
          <a:noFill/>
          <a:ln/>
        </p:spPr>
        <p:txBody>
          <a:bodyPr wrap="square" lIns="0" tIns="0" rIns="0" bIns="0" rtlCol="0" anchor="ctr"/>
          <a:lstStyle/>
          <a:p>
            <a:pPr indent="0" marL="0">
              <a:buNone/>
            </a:pPr>
            <a:r>
              <a:rPr lang="en-US" sz="1600" b="1" dirty="0">
                <a:solidFill>
                  <a:srgbClr val="F4A825"/>
                </a:solidFill>
                <a:latin typeface="Inter" pitchFamily="34" charset="0"/>
                <a:ea typeface="Inter" pitchFamily="34" charset="-122"/>
                <a:cs typeface="Inter" pitchFamily="34" charset="-120"/>
              </a:rPr>
              <a:t>One promise</a:t>
            </a:r>
            <a:endParaRPr lang="en-US" sz="1600" dirty="0"/>
          </a:p>
        </p:txBody>
      </p:sp>
      <p:sp>
        <p:nvSpPr>
          <p:cNvPr id="30" name="Text 27"/>
          <p:cNvSpPr/>
          <p:nvPr/>
        </p:nvSpPr>
        <p:spPr>
          <a:xfrm>
            <a:off x="9372600" y="2743200"/>
            <a:ext cx="2057400" cy="1828800"/>
          </a:xfrm>
          <a:prstGeom prst="rect">
            <a:avLst/>
          </a:prstGeom>
          <a:noFill/>
          <a:ln/>
        </p:spPr>
        <p:txBody>
          <a:bodyPr wrap="square" lIns="0" tIns="0" rIns="0" bIns="0" rtlCol="0" anchor="t"/>
          <a:lstStyle/>
          <a:p>
            <a:pPr indent="0" marL="0">
              <a:buNone/>
            </a:pPr>
            <a:r>
              <a:rPr lang="en-US" sz="1400" dirty="0">
                <a:solidFill>
                  <a:srgbClr val="FFFFFF"/>
                </a:solidFill>
                <a:latin typeface="Inter" pitchFamily="34" charset="0"/>
                <a:ea typeface="Inter" pitchFamily="34" charset="-122"/>
                <a:cs typeface="Inter" pitchFamily="34" charset="-120"/>
              </a:rPr>
              <a:t>You will actually use an AI tool today, and leave with something for tomorrow morning.</a:t>
            </a:r>
            <a:endParaRPr lang="en-US"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1 · AI Foundations &amp; Safety   |   5</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mental note: it predicts words. It isn't looking anything up.</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DEMYSTIFYING THE THING</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What a chatbot actually does</a:t>
            </a:r>
            <a:endParaRPr lang="en-US" sz="3200" dirty="0"/>
          </a:p>
        </p:txBody>
      </p:sp>
      <p:sp>
        <p:nvSpPr>
          <p:cNvPr id="14" name="Shape 11"/>
          <p:cNvSpPr/>
          <p:nvPr/>
        </p:nvSpPr>
        <p:spPr>
          <a:xfrm>
            <a:off x="640080" y="1554480"/>
            <a:ext cx="10972800" cy="2011680"/>
          </a:xfrm>
          <a:prstGeom prst="roundRect">
            <a:avLst>
              <a:gd name="adj" fmla="val 4091"/>
            </a:avLst>
          </a:prstGeom>
          <a:solidFill>
            <a:srgbClr val="F7F5F0"/>
          </a:solidFill>
          <a:ln w="12700">
            <a:solidFill>
              <a:srgbClr val="F7F5F0"/>
            </a:solidFill>
            <a:prstDash val="solid"/>
          </a:ln>
        </p:spPr>
      </p:sp>
      <p:sp>
        <p:nvSpPr>
          <p:cNvPr id="15" name="Text 12"/>
          <p:cNvSpPr/>
          <p:nvPr/>
        </p:nvSpPr>
        <p:spPr>
          <a:xfrm>
            <a:off x="960120" y="1783080"/>
            <a:ext cx="10332720" cy="1554480"/>
          </a:xfrm>
          <a:prstGeom prst="rect">
            <a:avLst/>
          </a:prstGeom>
          <a:noFill/>
          <a:ln/>
        </p:spPr>
        <p:txBody>
          <a:bodyPr wrap="square" lIns="0" tIns="0" rIns="0" bIns="0" rtlCol="0" anchor="ctr"/>
          <a:lstStyle/>
          <a:p>
            <a:pPr indent="0" marL="0">
              <a:buNone/>
            </a:pPr>
            <a:r>
              <a:rPr lang="en-US" sz="2200" b="1" dirty="0">
                <a:solidFill>
                  <a:srgbClr val="13293D"/>
                </a:solidFill>
                <a:latin typeface="Inter" pitchFamily="34" charset="0"/>
                <a:ea typeface="Inter" pitchFamily="34" charset="-122"/>
                <a:cs typeface="Inter" pitchFamily="34" charset="-120"/>
              </a:rPr>
              <a:t>It predicts likely next words.</a:t>
            </a:r>
            <a:pPr indent="0" marL="0">
              <a:buNone/>
            </a:pPr>
            <a:r>
              <a:rPr lang="en-US" sz="2200" dirty="0">
                <a:solidFill>
                  <a:srgbClr val="1B1F24"/>
                </a:solidFill>
                <a:latin typeface="Inter" pitchFamily="34" charset="0"/>
                <a:ea typeface="Inter" pitchFamily="34" charset="-122"/>
                <a:cs typeface="Inter" pitchFamily="34" charset="-120"/>
              </a:rPr>
              <a:t>  Not a database. Not a search engine. A very sophisticated pattern-continuation machine, trained on enormous amounts of text.</a:t>
            </a:r>
            <a:endParaRPr lang="en-US" sz="2200" dirty="0"/>
          </a:p>
        </p:txBody>
      </p:sp>
      <p:sp>
        <p:nvSpPr>
          <p:cNvPr id="16" name="Text 13"/>
          <p:cNvSpPr/>
          <p:nvPr/>
        </p:nvSpPr>
        <p:spPr>
          <a:xfrm>
            <a:off x="640080" y="3886200"/>
            <a:ext cx="10908792" cy="2103120"/>
          </a:xfrm>
          <a:prstGeom prst="rect">
            <a:avLst/>
          </a:prstGeom>
          <a:noFill/>
          <a:ln/>
        </p:spPr>
        <p:txBody>
          <a:bodyPr wrap="square" rtlCol="0" anchor="t"/>
          <a:lstStyle/>
          <a:p>
            <a:pPr marL="342900" indent="-342900">
              <a:spcAft>
                <a:spcPts val="1000"/>
              </a:spcAft>
              <a:buSzPct val="100000"/>
              <a:buChar char="•"/>
            </a:pPr>
            <a:r>
              <a:rPr lang="en-US" sz="2100" dirty="0">
                <a:solidFill>
                  <a:srgbClr val="1B1F24"/>
                </a:solidFill>
                <a:latin typeface="Inter" pitchFamily="34" charset="0"/>
                <a:ea typeface="Inter" pitchFamily="34" charset="-122"/>
                <a:cs typeface="Inter" pitchFamily="34" charset="-120"/>
              </a:rPr>
              <a:t>Why the writing sounds so fluent: fluent is what it was trained to produce</a:t>
            </a:r>
            <a:endParaRPr lang="en-US" sz="2100" dirty="0"/>
          </a:p>
          <a:p>
            <a:pPr marL="342900" indent="-342900">
              <a:spcAft>
                <a:spcPts val="1000"/>
              </a:spcAft>
              <a:buSzPct val="100000"/>
              <a:buChar char="•"/>
            </a:pPr>
            <a:r>
              <a:rPr lang="en-US" sz="2100" dirty="0">
                <a:solidFill>
                  <a:srgbClr val="1B1F24"/>
                </a:solidFill>
                <a:latin typeface="Inter" pitchFamily="34" charset="0"/>
                <a:ea typeface="Inter" pitchFamily="34" charset="-122"/>
                <a:cs typeface="Inter" pitchFamily="34" charset="-120"/>
              </a:rPr>
              <a:t>Why it can be smoothly, confidently wrong: it continues patterns instead of checking facts</a:t>
            </a:r>
            <a:endParaRPr lang="en-US" sz="2100" dirty="0"/>
          </a:p>
          <a:p>
            <a:pPr marL="342900" indent="-342900">
              <a:spcAft>
                <a:spcPts val="1000"/>
              </a:spcAft>
              <a:buSzPct val="100000"/>
              <a:buChar char="•"/>
            </a:pPr>
            <a:r>
              <a:rPr lang="en-US" sz="2100" b="1" dirty="0">
                <a:solidFill>
                  <a:srgbClr val="13293D"/>
                </a:solidFill>
                <a:latin typeface="Inter" pitchFamily="34" charset="0"/>
                <a:ea typeface="Inter" pitchFamily="34" charset="-122"/>
                <a:cs typeface="Inter" pitchFamily="34" charset="-120"/>
              </a:rPr>
              <a:t>One fact that explains almost everything you’ll ever see AI do</a:t>
            </a:r>
            <a:endParaRPr lang="en-US" sz="21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1 · AI Foundations &amp; Safety   |   6</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habit forming: anything factual gets checked before she relies on it.</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PEER-REVIEWED EVIDENCE, NOT FOLKLORE</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It can be confidently wrong</a:t>
            </a:r>
            <a:endParaRPr lang="en-US" sz="3200" dirty="0"/>
          </a:p>
        </p:txBody>
      </p:sp>
      <p:sp>
        <p:nvSpPr>
          <p:cNvPr id="14" name="Shape 11"/>
          <p:cNvSpPr/>
          <p:nvPr/>
        </p:nvSpPr>
        <p:spPr>
          <a:xfrm>
            <a:off x="640080" y="1554480"/>
            <a:ext cx="5212080" cy="4114800"/>
          </a:xfrm>
          <a:prstGeom prst="roundRect">
            <a:avLst>
              <a:gd name="adj" fmla="val 2000"/>
            </a:avLst>
          </a:prstGeom>
          <a:solidFill>
            <a:srgbClr val="F7F5F0"/>
          </a:solidFill>
          <a:ln w="12700">
            <a:solidFill>
              <a:srgbClr val="F7F5F0"/>
            </a:solidFill>
            <a:prstDash val="solid"/>
          </a:ln>
        </p:spPr>
      </p:sp>
      <p:sp>
        <p:nvSpPr>
          <p:cNvPr id="15" name="Text 12"/>
          <p:cNvSpPr/>
          <p:nvPr/>
        </p:nvSpPr>
        <p:spPr>
          <a:xfrm>
            <a:off x="640080" y="1965960"/>
            <a:ext cx="5212080" cy="1188720"/>
          </a:xfrm>
          <a:prstGeom prst="rect">
            <a:avLst/>
          </a:prstGeom>
          <a:noFill/>
          <a:ln/>
        </p:spPr>
        <p:txBody>
          <a:bodyPr wrap="square" lIns="0" tIns="0" rIns="0" bIns="0" rtlCol="0" anchor="ctr"/>
          <a:lstStyle/>
          <a:p>
            <a:pPr algn="ctr" indent="0" marL="0">
              <a:buNone/>
            </a:pPr>
            <a:r>
              <a:rPr lang="en-US" sz="6600" b="1" dirty="0">
                <a:solidFill>
                  <a:srgbClr val="B4453A"/>
                </a:solidFill>
                <a:latin typeface="Inter" pitchFamily="34" charset="0"/>
                <a:ea typeface="Inter" pitchFamily="34" charset="-122"/>
                <a:cs typeface="Inter" pitchFamily="34" charset="-120"/>
              </a:rPr>
              <a:t>19.9%</a:t>
            </a:r>
            <a:endParaRPr lang="en-US" sz="6600" dirty="0"/>
          </a:p>
        </p:txBody>
      </p:sp>
      <p:sp>
        <p:nvSpPr>
          <p:cNvPr id="16" name="Text 13"/>
          <p:cNvSpPr/>
          <p:nvPr/>
        </p:nvSpPr>
        <p:spPr>
          <a:xfrm>
            <a:off x="1005840" y="3246120"/>
            <a:ext cx="4480560" cy="2103120"/>
          </a:xfrm>
          <a:prstGeom prst="rect">
            <a:avLst/>
          </a:prstGeom>
          <a:noFill/>
          <a:ln/>
        </p:spPr>
        <p:txBody>
          <a:bodyPr wrap="square" lIns="0" tIns="0" rIns="0" bIns="0" rtlCol="0" anchor="ctr"/>
          <a:lstStyle/>
          <a:p>
            <a:pPr algn="ctr" indent="0" marL="0">
              <a:buNone/>
            </a:pPr>
            <a:r>
              <a:rPr lang="en-US" sz="1700" dirty="0">
                <a:solidFill>
                  <a:srgbClr val="1B1F24"/>
                </a:solidFill>
                <a:latin typeface="Inter" pitchFamily="34" charset="0"/>
                <a:ea typeface="Inter" pitchFamily="34" charset="-122"/>
                <a:cs typeface="Inter" pitchFamily="34" charset="-120"/>
              </a:rPr>
              <a:t>of citations produced by a leading AI model in a 2025 test were entirely fabricated. The papers did not exist</a:t>
            </a:r>
            <a:endParaRPr lang="en-US" sz="1700" dirty="0"/>
          </a:p>
        </p:txBody>
      </p:sp>
      <p:sp>
        <p:nvSpPr>
          <p:cNvPr id="17" name="Shape 14"/>
          <p:cNvSpPr/>
          <p:nvPr/>
        </p:nvSpPr>
        <p:spPr>
          <a:xfrm>
            <a:off x="6080760" y="1554480"/>
            <a:ext cx="5212080" cy="4114800"/>
          </a:xfrm>
          <a:prstGeom prst="roundRect">
            <a:avLst>
              <a:gd name="adj" fmla="val 2000"/>
            </a:avLst>
          </a:prstGeom>
          <a:solidFill>
            <a:srgbClr val="F7F5F0"/>
          </a:solidFill>
          <a:ln w="12700">
            <a:solidFill>
              <a:srgbClr val="F7F5F0"/>
            </a:solidFill>
            <a:prstDash val="solid"/>
          </a:ln>
        </p:spPr>
      </p:sp>
      <p:sp>
        <p:nvSpPr>
          <p:cNvPr id="18" name="Text 15"/>
          <p:cNvSpPr/>
          <p:nvPr/>
        </p:nvSpPr>
        <p:spPr>
          <a:xfrm>
            <a:off x="6080760" y="1965960"/>
            <a:ext cx="5212080" cy="1188720"/>
          </a:xfrm>
          <a:prstGeom prst="rect">
            <a:avLst/>
          </a:prstGeom>
          <a:noFill/>
          <a:ln/>
        </p:spPr>
        <p:txBody>
          <a:bodyPr wrap="square" lIns="0" tIns="0" rIns="0" bIns="0" rtlCol="0" anchor="ctr"/>
          <a:lstStyle/>
          <a:p>
            <a:pPr algn="ctr" indent="0" marL="0">
              <a:buNone/>
            </a:pPr>
            <a:r>
              <a:rPr lang="en-US" sz="6600" b="1" dirty="0">
                <a:solidFill>
                  <a:srgbClr val="F4A825"/>
                </a:solidFill>
                <a:latin typeface="Inter" pitchFamily="34" charset="0"/>
                <a:ea typeface="Inter" pitchFamily="34" charset="-122"/>
                <a:cs typeface="Inter" pitchFamily="34" charset="-120"/>
              </a:rPr>
              <a:t>45.4%</a:t>
            </a:r>
            <a:endParaRPr lang="en-US" sz="6600" dirty="0"/>
          </a:p>
        </p:txBody>
      </p:sp>
      <p:sp>
        <p:nvSpPr>
          <p:cNvPr id="19" name="Text 16"/>
          <p:cNvSpPr/>
          <p:nvPr/>
        </p:nvSpPr>
        <p:spPr>
          <a:xfrm>
            <a:off x="6446520" y="3246120"/>
            <a:ext cx="4480560" cy="2103120"/>
          </a:xfrm>
          <a:prstGeom prst="rect">
            <a:avLst/>
          </a:prstGeom>
          <a:noFill/>
          <a:ln/>
        </p:spPr>
        <p:txBody>
          <a:bodyPr wrap="square" lIns="0" tIns="0" rIns="0" bIns="0" rtlCol="0" anchor="ctr"/>
          <a:lstStyle/>
          <a:p>
            <a:pPr algn="ctr" indent="0" marL="0">
              <a:buNone/>
            </a:pPr>
            <a:r>
              <a:rPr lang="en-US" sz="1700" dirty="0">
                <a:solidFill>
                  <a:srgbClr val="1B1F24"/>
                </a:solidFill>
                <a:latin typeface="Inter" pitchFamily="34" charset="0"/>
                <a:ea typeface="Inter" pitchFamily="34" charset="-122"/>
                <a:cs typeface="Inter" pitchFamily="34" charset="-120"/>
              </a:rPr>
              <a:t>of the real citations still contained errors, and every one of them looked perfect on the page</a:t>
            </a:r>
            <a:endParaRPr lang="en-US" sz="1700" dirty="0"/>
          </a:p>
        </p:txBody>
      </p:sp>
      <p:sp>
        <p:nvSpPr>
          <p:cNvPr id="20" name="Text 17"/>
          <p:cNvSpPr/>
          <p:nvPr/>
        </p:nvSpPr>
        <p:spPr>
          <a:xfrm>
            <a:off x="640080" y="5806440"/>
            <a:ext cx="10972800" cy="457200"/>
          </a:xfrm>
          <a:prstGeom prst="rect">
            <a:avLst/>
          </a:prstGeom>
          <a:noFill/>
          <a:ln/>
        </p:spPr>
        <p:txBody>
          <a:bodyPr wrap="square" lIns="0" tIns="0" rIns="0" bIns="0" rtlCol="0" anchor="ctr"/>
          <a:lstStyle/>
          <a:p>
            <a:pPr algn="ctr" indent="0" marL="0">
              <a:buNone/>
            </a:pPr>
            <a:r>
              <a:rPr lang="en-US" sz="1900" b="1" dirty="0">
                <a:solidFill>
                  <a:srgbClr val="13293D"/>
                </a:solidFill>
                <a:latin typeface="Inter" pitchFamily="34" charset="0"/>
                <a:ea typeface="Inter" pitchFamily="34" charset="-122"/>
                <a:cs typeface="Inter" pitchFamily="34" charset="-120"/>
              </a:rPr>
              <a:t>The habit that follows: verify anything factual before you rely on it.</a:t>
            </a:r>
            <a:endParaRPr lang="en-US" sz="1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3293D"/>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FFFFFF"/>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9FB2C2"/>
                </a:solidFill>
                <a:latin typeface="Inter" pitchFamily="34" charset="0"/>
                <a:ea typeface="Inter" pitchFamily="34" charset="-122"/>
                <a:cs typeface="Inter" pitchFamily="34" charset="-120"/>
              </a:rPr>
              <a:t>Kit 1 · AI Foundations &amp; Safety   |   7</a:t>
            </a:r>
            <a:endParaRPr lang="en-US" sz="900" dirty="0"/>
          </a:p>
        </p:txBody>
      </p:sp>
      <p:sp>
        <p:nvSpPr>
          <p:cNvPr id="5" name="Shape 2"/>
          <p:cNvSpPr/>
          <p:nvPr/>
        </p:nvSpPr>
        <p:spPr>
          <a:xfrm>
            <a:off x="8732520" y="109728"/>
            <a:ext cx="2926080" cy="896112"/>
          </a:xfrm>
          <a:prstGeom prst="roundRect">
            <a:avLst>
              <a:gd name="adj" fmla="val 7143"/>
            </a:avLst>
          </a:prstGeom>
          <a:solidFill>
            <a:srgbClr val="1E3A50"/>
          </a:solidFill>
          <a:ln w="12700">
            <a:solidFill>
              <a:srgbClr val="2A4A63"/>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C9D4DE"/>
                </a:solidFill>
                <a:latin typeface="Inter" pitchFamily="34" charset="0"/>
                <a:ea typeface="Inter" pitchFamily="34" charset="-122"/>
                <a:cs typeface="Inter" pitchFamily="34" charset="-120"/>
              </a:rPr>
              <a:t>Her new frame: a fast, eager intern. She stays the professional in charge.</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THE MENTAL MODEL FOR THE WHOLE SERIES</a:t>
            </a:r>
            <a:endParaRPr lang="en-US" sz="1200" dirty="0"/>
          </a:p>
        </p:txBody>
      </p:sp>
      <p:sp>
        <p:nvSpPr>
          <p:cNvPr id="13" name="Text 10"/>
          <p:cNvSpPr/>
          <p:nvPr/>
        </p:nvSpPr>
        <p:spPr>
          <a:xfrm>
            <a:off x="640080" y="1554480"/>
            <a:ext cx="10972800" cy="1005840"/>
          </a:xfrm>
          <a:prstGeom prst="rect">
            <a:avLst/>
          </a:prstGeom>
          <a:noFill/>
          <a:ln/>
        </p:spPr>
        <p:txBody>
          <a:bodyPr wrap="square" lIns="0" tIns="0" rIns="0" bIns="0" rtlCol="0" anchor="ctr"/>
          <a:lstStyle/>
          <a:p>
            <a:pPr indent="0" marL="0">
              <a:buNone/>
            </a:pPr>
            <a:r>
              <a:rPr lang="en-US" sz="4500" b="1" dirty="0">
                <a:solidFill>
                  <a:srgbClr val="FFFFFF"/>
                </a:solidFill>
                <a:latin typeface="Inter" pitchFamily="34" charset="0"/>
                <a:ea typeface="Inter" pitchFamily="34" charset="-122"/>
                <a:cs typeface="Inter" pitchFamily="34" charset="-120"/>
              </a:rPr>
              <a:t>AI is an eager intern.</a:t>
            </a:r>
            <a:endParaRPr lang="en-US" sz="4500" dirty="0"/>
          </a:p>
        </p:txBody>
      </p:sp>
      <p:sp>
        <p:nvSpPr>
          <p:cNvPr id="14" name="Text 11"/>
          <p:cNvSpPr/>
          <p:nvPr/>
        </p:nvSpPr>
        <p:spPr>
          <a:xfrm>
            <a:off x="640080" y="2743200"/>
            <a:ext cx="10908792" cy="2011680"/>
          </a:xfrm>
          <a:prstGeom prst="rect">
            <a:avLst/>
          </a:prstGeom>
          <a:noFill/>
          <a:ln/>
        </p:spPr>
        <p:txBody>
          <a:bodyPr wrap="square" rtlCol="0" anchor="t"/>
          <a:lstStyle/>
          <a:p>
            <a:pPr marL="342900" indent="-342900">
              <a:spcAft>
                <a:spcPts val="1000"/>
              </a:spcAft>
              <a:buSzPct val="100000"/>
              <a:buChar char="•"/>
            </a:pPr>
            <a:r>
              <a:rPr lang="en-US" sz="2200" dirty="0">
                <a:solidFill>
                  <a:srgbClr val="C9D4DE"/>
                </a:solidFill>
                <a:latin typeface="Inter" pitchFamily="34" charset="0"/>
                <a:ea typeface="Inter" pitchFamily="34" charset="-122"/>
                <a:cs typeface="Inter" pitchFamily="34" charset="-120"/>
              </a:rPr>
              <a:t>Fast, tireless, surprisingly capable, desperate to please</a:t>
            </a:r>
            <a:endParaRPr lang="en-US" sz="2200" dirty="0"/>
          </a:p>
          <a:p>
            <a:pPr marL="342900" indent="-342900">
              <a:spcAft>
                <a:spcPts val="1000"/>
              </a:spcAft>
              <a:buSzPct val="100000"/>
              <a:buChar char="•"/>
            </a:pPr>
            <a:r>
              <a:rPr lang="en-US" sz="2200" dirty="0">
                <a:solidFill>
                  <a:srgbClr val="C9D4DE"/>
                </a:solidFill>
                <a:latin typeface="Inter" pitchFamily="34" charset="0"/>
                <a:ea typeface="Inter" pitchFamily="34" charset="-122"/>
                <a:cs typeface="Inter" pitchFamily="34" charset="-120"/>
              </a:rPr>
              <a:t>Will make things up rather than admit it doesn’t know</a:t>
            </a:r>
            <a:endParaRPr lang="en-US" sz="2200" dirty="0"/>
          </a:p>
          <a:p>
            <a:pPr marL="342900" indent="-342900">
              <a:spcAft>
                <a:spcPts val="1000"/>
              </a:spcAft>
              <a:buSzPct val="100000"/>
              <a:buChar char="•"/>
            </a:pPr>
            <a:r>
              <a:rPr lang="en-US" sz="2200" dirty="0">
                <a:solidFill>
                  <a:srgbClr val="C9D4DE"/>
                </a:solidFill>
                <a:latin typeface="Inter" pitchFamily="34" charset="0"/>
                <a:ea typeface="Inter" pitchFamily="34" charset="-122"/>
                <a:cs typeface="Inter" pitchFamily="34" charset="-120"/>
              </a:rPr>
              <a:t>Never meets your students unsupervised, never sends unread work home</a:t>
            </a:r>
            <a:endParaRPr lang="en-US" sz="2200" dirty="0"/>
          </a:p>
        </p:txBody>
      </p:sp>
      <p:sp>
        <p:nvSpPr>
          <p:cNvPr id="15" name="Text 12"/>
          <p:cNvSpPr/>
          <p:nvPr/>
        </p:nvSpPr>
        <p:spPr>
          <a:xfrm>
            <a:off x="640080" y="5029200"/>
            <a:ext cx="10972800" cy="822960"/>
          </a:xfrm>
          <a:prstGeom prst="rect">
            <a:avLst/>
          </a:prstGeom>
          <a:noFill/>
          <a:ln/>
        </p:spPr>
        <p:txBody>
          <a:bodyPr wrap="square" lIns="0" tIns="0" rIns="0" bIns="0" rtlCol="0" anchor="ctr"/>
          <a:lstStyle/>
          <a:p>
            <a:pPr algn="ctr" indent="0" marL="0">
              <a:buNone/>
            </a:pPr>
            <a:r>
              <a:rPr lang="en-US" sz="3000" b="1" dirty="0">
                <a:solidFill>
                  <a:srgbClr val="2A9D8F"/>
                </a:solidFill>
                <a:latin typeface="Inter" pitchFamily="34" charset="0"/>
                <a:ea typeface="Inter" pitchFamily="34" charset="-122"/>
                <a:cs typeface="Inter" pitchFamily="34" charset="-120"/>
              </a:rPr>
              <a:t>AI drafts. The teacher decides.</a:t>
            </a:r>
            <a:endParaRPr lang="en-US" sz="3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1 · AI Foundations &amp; Safety   |   8</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shortlist: newsletter drafts, leveled passages, rubrics, reformatting.</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WHERE THE INTERN EARNS ITS KEEP</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What it’s genuinely good at</a:t>
            </a:r>
            <a:endParaRPr lang="en-US" sz="3200" dirty="0"/>
          </a:p>
        </p:txBody>
      </p:sp>
      <p:sp>
        <p:nvSpPr>
          <p:cNvPr id="14" name="Shape 11"/>
          <p:cNvSpPr/>
          <p:nvPr/>
        </p:nvSpPr>
        <p:spPr>
          <a:xfrm>
            <a:off x="640080" y="1463040"/>
            <a:ext cx="5349240" cy="1600200"/>
          </a:xfrm>
          <a:prstGeom prst="roundRect">
            <a:avLst>
              <a:gd name="adj" fmla="val 5143"/>
            </a:avLst>
          </a:prstGeom>
          <a:solidFill>
            <a:srgbClr val="F7F5F0"/>
          </a:solidFill>
          <a:ln w="12700">
            <a:solidFill>
              <a:srgbClr val="F7F5F0"/>
            </a:solidFill>
            <a:prstDash val="solid"/>
          </a:ln>
        </p:spPr>
      </p:sp>
      <p:sp>
        <p:nvSpPr>
          <p:cNvPr id="15" name="Text 12"/>
          <p:cNvSpPr/>
          <p:nvPr/>
        </p:nvSpPr>
        <p:spPr>
          <a:xfrm>
            <a:off x="914400" y="1627632"/>
            <a:ext cx="4800600" cy="411480"/>
          </a:xfrm>
          <a:prstGeom prst="rect">
            <a:avLst/>
          </a:prstGeom>
          <a:noFill/>
          <a:ln/>
        </p:spPr>
        <p:txBody>
          <a:bodyPr wrap="square" lIns="0" tIns="0" rIns="0" bIns="0" rtlCol="0" anchor="ctr"/>
          <a:lstStyle/>
          <a:p>
            <a:pPr indent="0" marL="0">
              <a:buNone/>
            </a:pPr>
            <a:r>
              <a:rPr lang="en-US" sz="2000" b="1" dirty="0">
                <a:solidFill>
                  <a:srgbClr val="13293D"/>
                </a:solidFill>
                <a:latin typeface="Inter" pitchFamily="34" charset="0"/>
                <a:ea typeface="Inter" pitchFamily="34" charset="-122"/>
                <a:cs typeface="Inter" pitchFamily="34" charset="-120"/>
              </a:rPr>
              <a:t>First drafts</a:t>
            </a:r>
            <a:endParaRPr lang="en-US" sz="2000" dirty="0"/>
          </a:p>
        </p:txBody>
      </p:sp>
      <p:sp>
        <p:nvSpPr>
          <p:cNvPr id="16" name="Text 13"/>
          <p:cNvSpPr/>
          <p:nvPr/>
        </p:nvSpPr>
        <p:spPr>
          <a:xfrm>
            <a:off x="914400" y="2084832"/>
            <a:ext cx="4800600" cy="822960"/>
          </a:xfrm>
          <a:prstGeom prst="rect">
            <a:avLst/>
          </a:prstGeom>
          <a:noFill/>
          <a:ln/>
        </p:spPr>
        <p:txBody>
          <a:bodyPr wrap="square" lIns="0" tIns="0" rIns="0" bIns="0" rtlCol="0" anchor="ctr"/>
          <a:lstStyle/>
          <a:p>
            <a:pPr indent="0" marL="0">
              <a:buNone/>
            </a:pPr>
            <a:r>
              <a:rPr lang="en-US" sz="1600" dirty="0">
                <a:solidFill>
                  <a:srgbClr val="1B1F24"/>
                </a:solidFill>
                <a:latin typeface="Inter" pitchFamily="34" charset="0"/>
                <a:ea typeface="Inter" pitchFamily="34" charset="-122"/>
                <a:cs typeface="Inter" pitchFamily="34" charset="-120"/>
              </a:rPr>
              <a:t>Parent newsletters, routine emails, letters home</a:t>
            </a:r>
            <a:endParaRPr lang="en-US" sz="1600" dirty="0"/>
          </a:p>
        </p:txBody>
      </p:sp>
      <p:sp>
        <p:nvSpPr>
          <p:cNvPr id="17" name="Shape 14"/>
          <p:cNvSpPr/>
          <p:nvPr/>
        </p:nvSpPr>
        <p:spPr>
          <a:xfrm>
            <a:off x="6263640" y="1463040"/>
            <a:ext cx="5349240" cy="1600200"/>
          </a:xfrm>
          <a:prstGeom prst="roundRect">
            <a:avLst>
              <a:gd name="adj" fmla="val 5143"/>
            </a:avLst>
          </a:prstGeom>
          <a:solidFill>
            <a:srgbClr val="F7F5F0"/>
          </a:solidFill>
          <a:ln w="12700">
            <a:solidFill>
              <a:srgbClr val="F7F5F0"/>
            </a:solidFill>
            <a:prstDash val="solid"/>
          </a:ln>
        </p:spPr>
      </p:sp>
      <p:sp>
        <p:nvSpPr>
          <p:cNvPr id="18" name="Text 15"/>
          <p:cNvSpPr/>
          <p:nvPr/>
        </p:nvSpPr>
        <p:spPr>
          <a:xfrm>
            <a:off x="6537960" y="1627632"/>
            <a:ext cx="4800600" cy="411480"/>
          </a:xfrm>
          <a:prstGeom prst="rect">
            <a:avLst/>
          </a:prstGeom>
          <a:noFill/>
          <a:ln/>
        </p:spPr>
        <p:txBody>
          <a:bodyPr wrap="square" lIns="0" tIns="0" rIns="0" bIns="0" rtlCol="0" anchor="ctr"/>
          <a:lstStyle/>
          <a:p>
            <a:pPr indent="0" marL="0">
              <a:buNone/>
            </a:pPr>
            <a:r>
              <a:rPr lang="en-US" sz="2000" b="1" dirty="0">
                <a:solidFill>
                  <a:srgbClr val="13293D"/>
                </a:solidFill>
                <a:latin typeface="Inter" pitchFamily="34" charset="0"/>
                <a:ea typeface="Inter" pitchFamily="34" charset="-122"/>
                <a:cs typeface="Inter" pitchFamily="34" charset="-120"/>
              </a:rPr>
              <a:t>Differentiation</a:t>
            </a:r>
            <a:endParaRPr lang="en-US" sz="2000" dirty="0"/>
          </a:p>
        </p:txBody>
      </p:sp>
      <p:sp>
        <p:nvSpPr>
          <p:cNvPr id="19" name="Text 16"/>
          <p:cNvSpPr/>
          <p:nvPr/>
        </p:nvSpPr>
        <p:spPr>
          <a:xfrm>
            <a:off x="6537960" y="2084832"/>
            <a:ext cx="4800600" cy="822960"/>
          </a:xfrm>
          <a:prstGeom prst="rect">
            <a:avLst/>
          </a:prstGeom>
          <a:noFill/>
          <a:ln/>
        </p:spPr>
        <p:txBody>
          <a:bodyPr wrap="square" lIns="0" tIns="0" rIns="0" bIns="0" rtlCol="0" anchor="ctr"/>
          <a:lstStyle/>
          <a:p>
            <a:pPr indent="0" marL="0">
              <a:buNone/>
            </a:pPr>
            <a:r>
              <a:rPr lang="en-US" sz="1600" dirty="0">
                <a:solidFill>
                  <a:srgbClr val="1B1F24"/>
                </a:solidFill>
                <a:latin typeface="Inter" pitchFamily="34" charset="0"/>
                <a:ea typeface="Inter" pitchFamily="34" charset="-122"/>
                <a:cs typeface="Inter" pitchFamily="34" charset="-120"/>
              </a:rPr>
              <a:t>One passage → three reading levels in a minute</a:t>
            </a:r>
            <a:endParaRPr lang="en-US" sz="1600" dirty="0"/>
          </a:p>
        </p:txBody>
      </p:sp>
      <p:sp>
        <p:nvSpPr>
          <p:cNvPr id="20" name="Shape 17"/>
          <p:cNvSpPr/>
          <p:nvPr/>
        </p:nvSpPr>
        <p:spPr>
          <a:xfrm>
            <a:off x="640080" y="3246120"/>
            <a:ext cx="5349240" cy="1600200"/>
          </a:xfrm>
          <a:prstGeom prst="roundRect">
            <a:avLst>
              <a:gd name="adj" fmla="val 5143"/>
            </a:avLst>
          </a:prstGeom>
          <a:solidFill>
            <a:srgbClr val="F7F5F0"/>
          </a:solidFill>
          <a:ln w="12700">
            <a:solidFill>
              <a:srgbClr val="F7F5F0"/>
            </a:solidFill>
            <a:prstDash val="solid"/>
          </a:ln>
        </p:spPr>
      </p:sp>
      <p:sp>
        <p:nvSpPr>
          <p:cNvPr id="21" name="Text 18"/>
          <p:cNvSpPr/>
          <p:nvPr/>
        </p:nvSpPr>
        <p:spPr>
          <a:xfrm>
            <a:off x="914400" y="3410712"/>
            <a:ext cx="4800600" cy="411480"/>
          </a:xfrm>
          <a:prstGeom prst="rect">
            <a:avLst/>
          </a:prstGeom>
          <a:noFill/>
          <a:ln/>
        </p:spPr>
        <p:txBody>
          <a:bodyPr wrap="square" lIns="0" tIns="0" rIns="0" bIns="0" rtlCol="0" anchor="ctr"/>
          <a:lstStyle/>
          <a:p>
            <a:pPr indent="0" marL="0">
              <a:buNone/>
            </a:pPr>
            <a:r>
              <a:rPr lang="en-US" sz="2000" b="1" dirty="0">
                <a:solidFill>
                  <a:srgbClr val="13293D"/>
                </a:solidFill>
                <a:latin typeface="Inter" pitchFamily="34" charset="0"/>
                <a:ea typeface="Inter" pitchFamily="34" charset="-122"/>
                <a:cs typeface="Inter" pitchFamily="34" charset="-120"/>
              </a:rPr>
              <a:t>Assessment scaffolds</a:t>
            </a:r>
            <a:endParaRPr lang="en-US" sz="2000" dirty="0"/>
          </a:p>
        </p:txBody>
      </p:sp>
      <p:sp>
        <p:nvSpPr>
          <p:cNvPr id="22" name="Text 19"/>
          <p:cNvSpPr/>
          <p:nvPr/>
        </p:nvSpPr>
        <p:spPr>
          <a:xfrm>
            <a:off x="914400" y="3867912"/>
            <a:ext cx="4800600" cy="822960"/>
          </a:xfrm>
          <a:prstGeom prst="rect">
            <a:avLst/>
          </a:prstGeom>
          <a:noFill/>
          <a:ln/>
        </p:spPr>
        <p:txBody>
          <a:bodyPr wrap="square" lIns="0" tIns="0" rIns="0" bIns="0" rtlCol="0" anchor="ctr"/>
          <a:lstStyle/>
          <a:p>
            <a:pPr indent="0" marL="0">
              <a:buNone/>
            </a:pPr>
            <a:r>
              <a:rPr lang="en-US" sz="1600" dirty="0">
                <a:solidFill>
                  <a:srgbClr val="1B1F24"/>
                </a:solidFill>
                <a:latin typeface="Inter" pitchFamily="34" charset="0"/>
                <a:ea typeface="Inter" pitchFamily="34" charset="-122"/>
                <a:cs typeface="Inter" pitchFamily="34" charset="-120"/>
              </a:rPr>
              <a:t>Your notes → rubrics, word banks, question sets</a:t>
            </a:r>
            <a:endParaRPr lang="en-US" sz="1600" dirty="0"/>
          </a:p>
        </p:txBody>
      </p:sp>
      <p:sp>
        <p:nvSpPr>
          <p:cNvPr id="23" name="Shape 20"/>
          <p:cNvSpPr/>
          <p:nvPr/>
        </p:nvSpPr>
        <p:spPr>
          <a:xfrm>
            <a:off x="6263640" y="3246120"/>
            <a:ext cx="5349240" cy="1600200"/>
          </a:xfrm>
          <a:prstGeom prst="roundRect">
            <a:avLst>
              <a:gd name="adj" fmla="val 5143"/>
            </a:avLst>
          </a:prstGeom>
          <a:solidFill>
            <a:srgbClr val="F7F5F0"/>
          </a:solidFill>
          <a:ln w="12700">
            <a:solidFill>
              <a:srgbClr val="F7F5F0"/>
            </a:solidFill>
            <a:prstDash val="solid"/>
          </a:ln>
        </p:spPr>
      </p:sp>
      <p:sp>
        <p:nvSpPr>
          <p:cNvPr id="24" name="Text 21"/>
          <p:cNvSpPr/>
          <p:nvPr/>
        </p:nvSpPr>
        <p:spPr>
          <a:xfrm>
            <a:off x="6537960" y="3410712"/>
            <a:ext cx="4800600" cy="411480"/>
          </a:xfrm>
          <a:prstGeom prst="rect">
            <a:avLst/>
          </a:prstGeom>
          <a:noFill/>
          <a:ln/>
        </p:spPr>
        <p:txBody>
          <a:bodyPr wrap="square" lIns="0" tIns="0" rIns="0" bIns="0" rtlCol="0" anchor="ctr"/>
          <a:lstStyle/>
          <a:p>
            <a:pPr indent="0" marL="0">
              <a:buNone/>
            </a:pPr>
            <a:r>
              <a:rPr lang="en-US" sz="2000" b="1" dirty="0">
                <a:solidFill>
                  <a:srgbClr val="13293D"/>
                </a:solidFill>
                <a:latin typeface="Inter" pitchFamily="34" charset="0"/>
                <a:ea typeface="Inter" pitchFamily="34" charset="-122"/>
                <a:cs typeface="Inter" pitchFamily="34" charset="-120"/>
              </a:rPr>
              <a:t>Reformatting</a:t>
            </a:r>
            <a:endParaRPr lang="en-US" sz="2000" dirty="0"/>
          </a:p>
        </p:txBody>
      </p:sp>
      <p:sp>
        <p:nvSpPr>
          <p:cNvPr id="25" name="Text 22"/>
          <p:cNvSpPr/>
          <p:nvPr/>
        </p:nvSpPr>
        <p:spPr>
          <a:xfrm>
            <a:off x="6537960" y="3867912"/>
            <a:ext cx="4800600" cy="822960"/>
          </a:xfrm>
          <a:prstGeom prst="rect">
            <a:avLst/>
          </a:prstGeom>
          <a:noFill/>
          <a:ln/>
        </p:spPr>
        <p:txBody>
          <a:bodyPr wrap="square" lIns="0" tIns="0" rIns="0" bIns="0" rtlCol="0" anchor="ctr"/>
          <a:lstStyle/>
          <a:p>
            <a:pPr indent="0" marL="0">
              <a:buNone/>
            </a:pPr>
            <a:r>
              <a:rPr lang="en-US" sz="1600" dirty="0">
                <a:solidFill>
                  <a:srgbClr val="1B1F24"/>
                </a:solidFill>
                <a:latin typeface="Inter" pitchFamily="34" charset="0"/>
                <a:ea typeface="Inter" pitchFamily="34" charset="-122"/>
                <a:cs typeface="Inter" pitchFamily="34" charset="-120"/>
              </a:rPr>
              <a:t>Same content as a quiz, a table, station cards</a:t>
            </a:r>
            <a:endParaRPr lang="en-US" sz="1600" dirty="0"/>
          </a:p>
        </p:txBody>
      </p:sp>
      <p:sp>
        <p:nvSpPr>
          <p:cNvPr id="26" name="Text 23"/>
          <p:cNvSpPr/>
          <p:nvPr/>
        </p:nvSpPr>
        <p:spPr>
          <a:xfrm>
            <a:off x="640080" y="5166360"/>
            <a:ext cx="10972800" cy="731520"/>
          </a:xfrm>
          <a:prstGeom prst="rect">
            <a:avLst/>
          </a:prstGeom>
          <a:noFill/>
          <a:ln/>
        </p:spPr>
        <p:txBody>
          <a:bodyPr wrap="square" lIns="0" tIns="0" rIns="0" bIns="0" rtlCol="0" anchor="ctr"/>
          <a:lstStyle/>
          <a:p>
            <a:pPr algn="ctr" indent="0" marL="0">
              <a:buNone/>
            </a:pPr>
            <a:r>
              <a:rPr lang="en-US" sz="1600" i="1" dirty="0">
                <a:solidFill>
                  <a:srgbClr val="5B6B7A"/>
                </a:solidFill>
                <a:latin typeface="Inter" pitchFamily="34" charset="0"/>
                <a:ea typeface="Inter" pitchFamily="34" charset="-122"/>
                <a:cs typeface="Inter" pitchFamily="34" charset="-120"/>
              </a:rPr>
              <a:t>Teachers who use AI weekly report saving ~5.9 hours a week: the paperwork part of the job, not the teaching part. (Gallup &amp; Walton Family Foundation, 2025)</a:t>
            </a:r>
            <a:endParaRPr lang="en-US" sz="16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1 · AI Foundations &amp; Safety   |   9</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Hers alone: knowing her kids, checking facts, caring.</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ON PURPOSE, FOREVER</a:t>
            </a:r>
            <a:endParaRPr lang="en-US" sz="1200" dirty="0"/>
          </a:p>
        </p:txBody>
      </p:sp>
      <p:sp>
        <p:nvSpPr>
          <p:cNvPr id="13" name="Text 10"/>
          <p:cNvSpPr/>
          <p:nvPr/>
        </p:nvSpPr>
        <p:spPr>
          <a:xfrm>
            <a:off x="548640" y="457200"/>
            <a:ext cx="7955280" cy="914400"/>
          </a:xfrm>
          <a:prstGeom prst="rect">
            <a:avLst/>
          </a:prstGeom>
          <a:noFill/>
          <a:ln/>
        </p:spPr>
        <p:txBody>
          <a:bodyPr wrap="square" lIns="0" tIns="0" rIns="0" bIns="0" rtlCol="0" anchor="t"/>
          <a:lstStyle/>
          <a:p>
            <a:pPr indent="0" marL="0">
              <a:buNone/>
            </a:pPr>
            <a:r>
              <a:rPr lang="en-US" sz="2800" b="1" dirty="0">
                <a:solidFill>
                  <a:srgbClr val="13293D"/>
                </a:solidFill>
                <a:latin typeface="Inter" pitchFamily="34" charset="0"/>
                <a:ea typeface="Inter" pitchFamily="34" charset="-122"/>
                <a:cs typeface="Inter" pitchFamily="34" charset="-120"/>
              </a:rPr>
              <a:t>What it can’t do, at any price</a:t>
            </a:r>
            <a:endParaRPr lang="en-US" sz="2800" dirty="0"/>
          </a:p>
        </p:txBody>
      </p:sp>
      <p:sp>
        <p:nvSpPr>
          <p:cNvPr id="14" name="Text 11"/>
          <p:cNvSpPr/>
          <p:nvPr/>
        </p:nvSpPr>
        <p:spPr>
          <a:xfrm>
            <a:off x="640080" y="1463040"/>
            <a:ext cx="10908792" cy="2651760"/>
          </a:xfrm>
          <a:prstGeom prst="rect">
            <a:avLst/>
          </a:prstGeom>
          <a:noFill/>
          <a:ln/>
        </p:spPr>
        <p:txBody>
          <a:bodyPr wrap="square" rtlCol="0" anchor="t"/>
          <a:lstStyle/>
          <a:p>
            <a:pPr marL="342900" indent="-342900">
              <a:spcAft>
                <a:spcPts val="1000"/>
              </a:spcAft>
              <a:buSzPct val="100000"/>
              <a:buChar char="•"/>
            </a:pPr>
            <a:r>
              <a:rPr lang="en-US" sz="2100" dirty="0">
                <a:solidFill>
                  <a:srgbClr val="1B1F24"/>
                </a:solidFill>
                <a:latin typeface="Inter" pitchFamily="34" charset="0"/>
                <a:ea typeface="Inter" pitchFamily="34" charset="-122"/>
                <a:cs typeface="Inter" pitchFamily="34" charset="-120"/>
              </a:rPr>
              <a:t>Know your students: that this class shuts down after lunch, that this kid needs a win today</a:t>
            </a:r>
            <a:endParaRPr lang="en-US" sz="2100" dirty="0"/>
          </a:p>
          <a:p>
            <a:pPr marL="342900" indent="-342900">
              <a:spcAft>
                <a:spcPts val="1000"/>
              </a:spcAft>
              <a:buSzPct val="100000"/>
              <a:buChar char="•"/>
            </a:pPr>
            <a:r>
              <a:rPr lang="en-US" sz="2100" dirty="0">
                <a:solidFill>
                  <a:srgbClr val="1B1F24"/>
                </a:solidFill>
                <a:latin typeface="Inter" pitchFamily="34" charset="0"/>
                <a:ea typeface="Inter" pitchFamily="34" charset="-122"/>
                <a:cs typeface="Inter" pitchFamily="34" charset="-120"/>
              </a:rPr>
              <a:t>Verify its own facts (that’s you)</a:t>
            </a:r>
            <a:endParaRPr lang="en-US" sz="2100" dirty="0"/>
          </a:p>
          <a:p>
            <a:pPr marL="342900" indent="-342900">
              <a:spcAft>
                <a:spcPts val="1000"/>
              </a:spcAft>
              <a:buSzPct val="100000"/>
              <a:buChar char="•"/>
            </a:pPr>
            <a:r>
              <a:rPr lang="en-US" sz="2100" dirty="0">
                <a:solidFill>
                  <a:srgbClr val="1B1F24"/>
                </a:solidFill>
                <a:latin typeface="Inter" pitchFamily="34" charset="0"/>
                <a:ea typeface="Inter" pitchFamily="34" charset="-122"/>
                <a:cs typeface="Inter" pitchFamily="34" charset="-120"/>
              </a:rPr>
              <a:t>Care: it produces text, not judgment, and not relationships</a:t>
            </a:r>
            <a:endParaRPr lang="en-US" sz="2100" dirty="0"/>
          </a:p>
        </p:txBody>
      </p:sp>
      <p:sp>
        <p:nvSpPr>
          <p:cNvPr id="15" name="Shape 12"/>
          <p:cNvSpPr/>
          <p:nvPr/>
        </p:nvSpPr>
        <p:spPr>
          <a:xfrm>
            <a:off x="640080" y="4206240"/>
            <a:ext cx="10972800" cy="1554480"/>
          </a:xfrm>
          <a:prstGeom prst="roundRect">
            <a:avLst>
              <a:gd name="adj" fmla="val 5294"/>
            </a:avLst>
          </a:prstGeom>
          <a:solidFill>
            <a:srgbClr val="EAF5F3"/>
          </a:solidFill>
          <a:ln w="12700">
            <a:solidFill>
              <a:srgbClr val="EAF5F3"/>
            </a:solidFill>
            <a:prstDash val="solid"/>
          </a:ln>
        </p:spPr>
      </p:sp>
      <p:sp>
        <p:nvSpPr>
          <p:cNvPr id="16" name="Text 13"/>
          <p:cNvSpPr/>
          <p:nvPr/>
        </p:nvSpPr>
        <p:spPr>
          <a:xfrm>
            <a:off x="960120" y="4389120"/>
            <a:ext cx="10332720" cy="1188720"/>
          </a:xfrm>
          <a:prstGeom prst="rect">
            <a:avLst/>
          </a:prstGeom>
          <a:noFill/>
          <a:ln/>
        </p:spPr>
        <p:txBody>
          <a:bodyPr wrap="square" lIns="0" tIns="0" rIns="0" bIns="0" rtlCol="0" anchor="ctr"/>
          <a:lstStyle/>
          <a:p>
            <a:pPr indent="0" marL="0">
              <a:buNone/>
            </a:pPr>
            <a:r>
              <a:rPr lang="en-US" sz="2100" b="1" dirty="0">
                <a:solidFill>
                  <a:srgbClr val="13293D"/>
                </a:solidFill>
                <a:latin typeface="Inter" pitchFamily="34" charset="0"/>
                <a:ea typeface="Inter" pitchFamily="34" charset="-122"/>
                <a:cs typeface="Inter" pitchFamily="34" charset="-120"/>
              </a:rPr>
              <a:t>Everything on this slide is your job on purpose. The tool buys back time FOR this list; it never takes this list away.</a:t>
            </a:r>
            <a:endParaRPr lang="en-US" sz="21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3293D"/>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FFFFFF"/>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9FB2C2"/>
                </a:solidFill>
                <a:latin typeface="Inter" pitchFamily="34" charset="0"/>
                <a:ea typeface="Inter" pitchFamily="34" charset="-122"/>
                <a:cs typeface="Inter" pitchFamily="34" charset="-120"/>
              </a:rPr>
              <a:t>Kit 1 · AI Foundations &amp; Safety   |   10</a:t>
            </a:r>
            <a:endParaRPr lang="en-US" sz="900" dirty="0"/>
          </a:p>
        </p:txBody>
      </p:sp>
      <p:sp>
        <p:nvSpPr>
          <p:cNvPr id="5" name="Shape 2"/>
          <p:cNvSpPr/>
          <p:nvPr/>
        </p:nvSpPr>
        <p:spPr>
          <a:xfrm>
            <a:off x="8732520" y="109728"/>
            <a:ext cx="2926080" cy="896112"/>
          </a:xfrm>
          <a:prstGeom prst="roundRect">
            <a:avLst>
              <a:gd name="adj" fmla="val 7143"/>
            </a:avLst>
          </a:prstGeom>
          <a:solidFill>
            <a:srgbClr val="1E3A50"/>
          </a:solidFill>
          <a:ln w="12700">
            <a:solidFill>
              <a:srgbClr val="2A4A63"/>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C9D4DE"/>
                </a:solidFill>
                <a:latin typeface="Inter" pitchFamily="34" charset="0"/>
                <a:ea typeface="Inter" pitchFamily="34" charset="-122"/>
                <a:cs typeface="Inter" pitchFamily="34" charset="-120"/>
              </a:rPr>
              <a:t>Her line, memorized: no student PII in a public AI tool. Ever.</a:t>
            </a:r>
            <a:endParaRPr lang="en-US" sz="1000" dirty="0"/>
          </a:p>
        </p:txBody>
      </p:sp>
      <p:sp>
        <p:nvSpPr>
          <p:cNvPr id="12" name="Text 9"/>
          <p:cNvSpPr/>
          <p:nvPr/>
        </p:nvSpPr>
        <p:spPr>
          <a:xfrm>
            <a:off x="640080" y="1234440"/>
            <a:ext cx="10972800" cy="457200"/>
          </a:xfrm>
          <a:prstGeom prst="rect">
            <a:avLst/>
          </a:prstGeom>
          <a:noFill/>
          <a:ln/>
        </p:spPr>
        <p:txBody>
          <a:bodyPr wrap="square" lIns="0" tIns="0" rIns="0" bIns="0" rtlCol="0" anchor="ctr"/>
          <a:lstStyle/>
          <a:p>
            <a:pPr algn="ctr" indent="0" marL="0">
              <a:buNone/>
            </a:pPr>
            <a:r>
              <a:rPr lang="en-US" sz="1800" b="1" spc="400" kern="0" dirty="0">
                <a:solidFill>
                  <a:srgbClr val="F4A825"/>
                </a:solidFill>
                <a:latin typeface="Inter" pitchFamily="34" charset="0"/>
                <a:ea typeface="Inter" pitchFamily="34" charset="-122"/>
                <a:cs typeface="Inter" pitchFamily="34" charset="-120"/>
              </a:rPr>
              <a:t>THE ONE HARD RULE</a:t>
            </a:r>
            <a:endParaRPr lang="en-US" sz="1800" dirty="0"/>
          </a:p>
        </p:txBody>
      </p:sp>
      <p:sp>
        <p:nvSpPr>
          <p:cNvPr id="13" name="Text 10"/>
          <p:cNvSpPr/>
          <p:nvPr/>
        </p:nvSpPr>
        <p:spPr>
          <a:xfrm>
            <a:off x="914400" y="1965960"/>
            <a:ext cx="10332720" cy="2103120"/>
          </a:xfrm>
          <a:prstGeom prst="rect">
            <a:avLst/>
          </a:prstGeom>
          <a:noFill/>
          <a:ln/>
        </p:spPr>
        <p:txBody>
          <a:bodyPr wrap="square" lIns="0" tIns="0" rIns="0" bIns="0" rtlCol="0" anchor="ctr"/>
          <a:lstStyle/>
          <a:p>
            <a:pPr algn="ctr" indent="0" marL="0">
              <a:lnSpc>
                <a:spcPct val="110000"/>
              </a:lnSpc>
              <a:buNone/>
            </a:pPr>
            <a:r>
              <a:rPr lang="en-US" sz="4000" b="1" dirty="0">
                <a:solidFill>
                  <a:srgbClr val="FFFFFF"/>
                </a:solidFill>
                <a:latin typeface="Inter" pitchFamily="34" charset="0"/>
                <a:ea typeface="Inter" pitchFamily="34" charset="-122"/>
                <a:cs typeface="Inter" pitchFamily="34" charset="-120"/>
              </a:rPr>
              <a:t>Never put student personally identifiable information into a public AI tool.</a:t>
            </a:r>
            <a:endParaRPr lang="en-US" sz="4000" dirty="0"/>
          </a:p>
        </p:txBody>
      </p:sp>
      <p:sp>
        <p:nvSpPr>
          <p:cNvPr id="14" name="Text 11"/>
          <p:cNvSpPr/>
          <p:nvPr/>
        </p:nvSpPr>
        <p:spPr>
          <a:xfrm>
            <a:off x="914400" y="4343400"/>
            <a:ext cx="10332720" cy="640080"/>
          </a:xfrm>
          <a:prstGeom prst="rect">
            <a:avLst/>
          </a:prstGeom>
          <a:noFill/>
          <a:ln/>
        </p:spPr>
        <p:txBody>
          <a:bodyPr wrap="square" lIns="0" tIns="0" rIns="0" bIns="0" rtlCol="0" anchor="ctr"/>
          <a:lstStyle/>
          <a:p>
            <a:pPr algn="ctr" indent="0" marL="0">
              <a:buNone/>
            </a:pPr>
            <a:r>
              <a:rPr lang="en-US" sz="2400" b="1" dirty="0">
                <a:solidFill>
                  <a:srgbClr val="2A9D8F"/>
                </a:solidFill>
                <a:latin typeface="Inter" pitchFamily="34" charset="0"/>
                <a:ea typeface="Inter" pitchFamily="34" charset="-122"/>
                <a:cs typeface="Inter" pitchFamily="34" charset="-120"/>
              </a:rPr>
              <a:t>Not a name. Not a detail that could identify a child. Ever.</a:t>
            </a:r>
            <a:endParaRPr lang="en-US" sz="2400" dirty="0"/>
          </a:p>
        </p:txBody>
      </p:sp>
      <p:sp>
        <p:nvSpPr>
          <p:cNvPr id="15" name="Text 12"/>
          <p:cNvSpPr/>
          <p:nvPr/>
        </p:nvSpPr>
        <p:spPr>
          <a:xfrm>
            <a:off x="1463040" y="5257800"/>
            <a:ext cx="9235440" cy="731520"/>
          </a:xfrm>
          <a:prstGeom prst="rect">
            <a:avLst/>
          </a:prstGeom>
          <a:noFill/>
          <a:ln/>
        </p:spPr>
        <p:txBody>
          <a:bodyPr wrap="square" lIns="0" tIns="0" rIns="0" bIns="0" rtlCol="0" anchor="ctr"/>
          <a:lstStyle/>
          <a:p>
            <a:pPr algn="ctr" indent="0" marL="0">
              <a:buNone/>
            </a:pPr>
            <a:r>
              <a:rPr lang="en-US" sz="1600" dirty="0">
                <a:solidFill>
                  <a:srgbClr val="C9D4DE"/>
                </a:solidFill>
                <a:latin typeface="Inter" pitchFamily="34" charset="0"/>
                <a:ea typeface="Inter" pitchFamily="34" charset="-122"/>
                <a:cs typeface="Inter" pitchFamily="34" charset="-120"/>
              </a:rPr>
              <a:t>Every other AI choice is a judgment call you’re qualified to make. This one isn’t a judgment call. It’s the line.</a:t>
            </a:r>
            <a:endParaRPr lang="en-US" sz="16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1 · AI Foundations &amp; Safety   |   11</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checklist: names, IDs, grades, IEPs, health, family details. All out.</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THE RULE, MADE CONCRETE</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What counts as student PII</a:t>
            </a:r>
            <a:endParaRPr lang="en-US" sz="3200" dirty="0"/>
          </a:p>
        </p:txBody>
      </p:sp>
      <p:sp>
        <p:nvSpPr>
          <p:cNvPr id="14" name="Shape 11"/>
          <p:cNvSpPr/>
          <p:nvPr/>
        </p:nvSpPr>
        <p:spPr>
          <a:xfrm>
            <a:off x="640080" y="1463040"/>
            <a:ext cx="5394960" cy="4206240"/>
          </a:xfrm>
          <a:prstGeom prst="roundRect">
            <a:avLst>
              <a:gd name="adj" fmla="val 1957"/>
            </a:avLst>
          </a:prstGeom>
          <a:solidFill>
            <a:srgbClr val="F7F5F0"/>
          </a:solidFill>
          <a:ln w="12700">
            <a:solidFill>
              <a:srgbClr val="F7F5F0"/>
            </a:solidFill>
            <a:prstDash val="solid"/>
          </a:ln>
        </p:spPr>
      </p:sp>
      <p:sp>
        <p:nvSpPr>
          <p:cNvPr id="15" name="Text 12"/>
          <p:cNvSpPr/>
          <p:nvPr/>
        </p:nvSpPr>
        <p:spPr>
          <a:xfrm>
            <a:off x="960120" y="1691640"/>
            <a:ext cx="4754880" cy="411480"/>
          </a:xfrm>
          <a:prstGeom prst="rect">
            <a:avLst/>
          </a:prstGeom>
          <a:noFill/>
          <a:ln/>
        </p:spPr>
        <p:txBody>
          <a:bodyPr wrap="square" lIns="0" tIns="0" rIns="0" bIns="0" rtlCol="0" anchor="ctr"/>
          <a:lstStyle/>
          <a:p>
            <a:pPr indent="0" marL="0">
              <a:buNone/>
            </a:pPr>
            <a:r>
              <a:rPr lang="en-US" sz="2000" b="1" dirty="0">
                <a:solidFill>
                  <a:srgbClr val="13293D"/>
                </a:solidFill>
                <a:latin typeface="Inter" pitchFamily="34" charset="0"/>
                <a:ea typeface="Inter" pitchFamily="34" charset="-122"/>
                <a:cs typeface="Inter" pitchFamily="34" charset="-120"/>
              </a:rPr>
              <a:t>From records</a:t>
            </a:r>
            <a:endParaRPr lang="en-US" sz="2000" dirty="0"/>
          </a:p>
        </p:txBody>
      </p:sp>
      <p:sp>
        <p:nvSpPr>
          <p:cNvPr id="16" name="Text 13"/>
          <p:cNvSpPr/>
          <p:nvPr/>
        </p:nvSpPr>
        <p:spPr>
          <a:xfrm>
            <a:off x="960120" y="2240280"/>
            <a:ext cx="4846320" cy="3200400"/>
          </a:xfrm>
          <a:prstGeom prst="rect">
            <a:avLst/>
          </a:prstGeom>
          <a:noFill/>
          <a:ln/>
        </p:spPr>
        <p:txBody>
          <a:bodyPr wrap="square" rtlCol="0" anchor="t"/>
          <a:lstStyle/>
          <a:p>
            <a:pPr marL="342900" indent="-342900">
              <a:spcAft>
                <a:spcPts val="1000"/>
              </a:spcAft>
              <a:buSzPct val="100000"/>
              <a:buChar char="•"/>
            </a:pPr>
            <a:r>
              <a:rPr lang="en-US" sz="1900" dirty="0">
                <a:solidFill>
                  <a:srgbClr val="1B1F24"/>
                </a:solidFill>
                <a:latin typeface="Inter" pitchFamily="34" charset="0"/>
                <a:ea typeface="Inter" pitchFamily="34" charset="-122"/>
                <a:cs typeface="Inter" pitchFamily="34" charset="-120"/>
              </a:rPr>
              <a:t>Names, initials, photos</a:t>
            </a:r>
            <a:endParaRPr lang="en-US" sz="1900" dirty="0"/>
          </a:p>
          <a:p>
            <a:pPr marL="342900" indent="-342900">
              <a:spcAft>
                <a:spcPts val="1000"/>
              </a:spcAft>
              <a:buSzPct val="100000"/>
              <a:buChar char="•"/>
            </a:pPr>
            <a:r>
              <a:rPr lang="en-US" sz="1900" dirty="0">
                <a:solidFill>
                  <a:srgbClr val="1B1F24"/>
                </a:solidFill>
                <a:latin typeface="Inter" pitchFamily="34" charset="0"/>
                <a:ea typeface="Inter" pitchFamily="34" charset="-122"/>
                <a:cs typeface="Inter" pitchFamily="34" charset="-120"/>
              </a:rPr>
              <a:t>Student ID numbers</a:t>
            </a:r>
            <a:endParaRPr lang="en-US" sz="1900" dirty="0"/>
          </a:p>
          <a:p>
            <a:pPr marL="342900" indent="-342900">
              <a:spcAft>
                <a:spcPts val="1000"/>
              </a:spcAft>
              <a:buSzPct val="100000"/>
              <a:buChar char="•"/>
            </a:pPr>
            <a:r>
              <a:rPr lang="en-US" sz="1900" dirty="0">
                <a:solidFill>
                  <a:srgbClr val="1B1F24"/>
                </a:solidFill>
                <a:latin typeface="Inter" pitchFamily="34" charset="0"/>
                <a:ea typeface="Inter" pitchFamily="34" charset="-122"/>
                <a:cs typeface="Inter" pitchFamily="34" charset="-120"/>
              </a:rPr>
              <a:t>Grades &amp; test scores tied to a student</a:t>
            </a:r>
            <a:endParaRPr lang="en-US" sz="1900" dirty="0"/>
          </a:p>
          <a:p>
            <a:pPr marL="342900" indent="-342900">
              <a:spcAft>
                <a:spcPts val="1000"/>
              </a:spcAft>
              <a:buSzPct val="100000"/>
              <a:buChar char="•"/>
            </a:pPr>
            <a:r>
              <a:rPr lang="en-US" sz="1900" dirty="0">
                <a:solidFill>
                  <a:srgbClr val="1B1F24"/>
                </a:solidFill>
                <a:latin typeface="Inter" pitchFamily="34" charset="0"/>
                <a:ea typeface="Inter" pitchFamily="34" charset="-122"/>
                <a:cs typeface="Inter" pitchFamily="34" charset="-120"/>
              </a:rPr>
              <a:t>IEP / 504 contents &amp; accommodations</a:t>
            </a:r>
            <a:endParaRPr lang="en-US" sz="1900" dirty="0"/>
          </a:p>
        </p:txBody>
      </p:sp>
      <p:sp>
        <p:nvSpPr>
          <p:cNvPr id="17" name="Shape 14"/>
          <p:cNvSpPr/>
          <p:nvPr/>
        </p:nvSpPr>
        <p:spPr>
          <a:xfrm>
            <a:off x="6263640" y="1463040"/>
            <a:ext cx="5394960" cy="4206240"/>
          </a:xfrm>
          <a:prstGeom prst="roundRect">
            <a:avLst>
              <a:gd name="adj" fmla="val 1957"/>
            </a:avLst>
          </a:prstGeom>
          <a:solidFill>
            <a:srgbClr val="F7F5F0"/>
          </a:solidFill>
          <a:ln w="12700">
            <a:solidFill>
              <a:srgbClr val="F7F5F0"/>
            </a:solidFill>
            <a:prstDash val="solid"/>
          </a:ln>
        </p:spPr>
      </p:sp>
      <p:sp>
        <p:nvSpPr>
          <p:cNvPr id="18" name="Text 15"/>
          <p:cNvSpPr/>
          <p:nvPr/>
        </p:nvSpPr>
        <p:spPr>
          <a:xfrm>
            <a:off x="6583680" y="1691640"/>
            <a:ext cx="4754880" cy="411480"/>
          </a:xfrm>
          <a:prstGeom prst="rect">
            <a:avLst/>
          </a:prstGeom>
          <a:noFill/>
          <a:ln/>
        </p:spPr>
        <p:txBody>
          <a:bodyPr wrap="square" lIns="0" tIns="0" rIns="0" bIns="0" rtlCol="0" anchor="ctr"/>
          <a:lstStyle/>
          <a:p>
            <a:pPr indent="0" marL="0">
              <a:buNone/>
            </a:pPr>
            <a:r>
              <a:rPr lang="en-US" sz="2000" b="1" dirty="0">
                <a:solidFill>
                  <a:srgbClr val="13293D"/>
                </a:solidFill>
                <a:latin typeface="Inter" pitchFamily="34" charset="0"/>
                <a:ea typeface="Inter" pitchFamily="34" charset="-122"/>
                <a:cs typeface="Inter" pitchFamily="34" charset="-120"/>
              </a:rPr>
              <a:t>About a child</a:t>
            </a:r>
            <a:endParaRPr lang="en-US" sz="2000" dirty="0"/>
          </a:p>
        </p:txBody>
      </p:sp>
      <p:sp>
        <p:nvSpPr>
          <p:cNvPr id="19" name="Text 16"/>
          <p:cNvSpPr/>
          <p:nvPr/>
        </p:nvSpPr>
        <p:spPr>
          <a:xfrm>
            <a:off x="6583680" y="2240280"/>
            <a:ext cx="4846320" cy="3200400"/>
          </a:xfrm>
          <a:prstGeom prst="rect">
            <a:avLst/>
          </a:prstGeom>
          <a:noFill/>
          <a:ln/>
        </p:spPr>
        <p:txBody>
          <a:bodyPr wrap="square" rtlCol="0" anchor="t"/>
          <a:lstStyle/>
          <a:p>
            <a:pPr marL="342900" indent="-342900">
              <a:spcAft>
                <a:spcPts val="1000"/>
              </a:spcAft>
              <a:buSzPct val="100000"/>
              <a:buChar char="•"/>
            </a:pPr>
            <a:r>
              <a:rPr lang="en-US" sz="1900" dirty="0">
                <a:solidFill>
                  <a:srgbClr val="1B1F24"/>
                </a:solidFill>
                <a:latin typeface="Inter" pitchFamily="34" charset="0"/>
                <a:ea typeface="Inter" pitchFamily="34" charset="-122"/>
                <a:cs typeface="Inter" pitchFamily="34" charset="-120"/>
              </a:rPr>
              <a:t>Discipline history</a:t>
            </a:r>
            <a:endParaRPr lang="en-US" sz="1900" dirty="0"/>
          </a:p>
          <a:p>
            <a:pPr marL="342900" indent="-342900">
              <a:spcAft>
                <a:spcPts val="1000"/>
              </a:spcAft>
              <a:buSzPct val="100000"/>
              <a:buChar char="•"/>
            </a:pPr>
            <a:r>
              <a:rPr lang="en-US" sz="1900" dirty="0">
                <a:solidFill>
                  <a:srgbClr val="1B1F24"/>
                </a:solidFill>
                <a:latin typeface="Inter" pitchFamily="34" charset="0"/>
                <a:ea typeface="Inter" pitchFamily="34" charset="-122"/>
                <a:cs typeface="Inter" pitchFamily="34" charset="-120"/>
              </a:rPr>
              <a:t>Health or diagnosis information</a:t>
            </a:r>
            <a:endParaRPr lang="en-US" sz="1900" dirty="0"/>
          </a:p>
          <a:p>
            <a:pPr marL="342900" indent="-342900">
              <a:spcAft>
                <a:spcPts val="1000"/>
              </a:spcAft>
              <a:buSzPct val="100000"/>
              <a:buChar char="•"/>
            </a:pPr>
            <a:r>
              <a:rPr lang="en-US" sz="1900" dirty="0">
                <a:solidFill>
                  <a:srgbClr val="1B1F24"/>
                </a:solidFill>
                <a:latin typeface="Inter" pitchFamily="34" charset="0"/>
                <a:ea typeface="Inter" pitchFamily="34" charset="-122"/>
                <a:cs typeface="Inter" pitchFamily="34" charset="-120"/>
              </a:rPr>
              <a:t>Family details, addresses</a:t>
            </a:r>
            <a:endParaRPr lang="en-US" sz="1900" dirty="0"/>
          </a:p>
          <a:p>
            <a:pPr marL="342900" indent="-342900">
              <a:spcAft>
                <a:spcPts val="1000"/>
              </a:spcAft>
              <a:buSzPct val="100000"/>
              <a:buChar char="•"/>
            </a:pPr>
            <a:r>
              <a:rPr lang="en-US" sz="1900" dirty="0">
                <a:solidFill>
                  <a:srgbClr val="1B1F24"/>
                </a:solidFill>
                <a:latin typeface="Inter" pitchFamily="34" charset="0"/>
                <a:ea typeface="Inter" pitchFamily="34" charset="-122"/>
                <a:cs typeface="Inter" pitchFamily="34" charset="-120"/>
              </a:rPr>
              <a:t>Anything about an identifiable student</a:t>
            </a:r>
            <a:endParaRPr lang="en-US" sz="1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1 · AI Foundations &amp; Safety   |   12</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test before typing: could anyone who knows our school tell who this is?</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WHERE WELL-MEANING PEOPLE SLIP</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The sneaky ones</a:t>
            </a:r>
            <a:endParaRPr lang="en-US" sz="3200" dirty="0"/>
          </a:p>
        </p:txBody>
      </p:sp>
      <p:sp>
        <p:nvSpPr>
          <p:cNvPr id="14" name="Shape 11"/>
          <p:cNvSpPr/>
          <p:nvPr/>
        </p:nvSpPr>
        <p:spPr>
          <a:xfrm>
            <a:off x="640080" y="1417320"/>
            <a:ext cx="6766560" cy="1051560"/>
          </a:xfrm>
          <a:prstGeom prst="roundRect">
            <a:avLst>
              <a:gd name="adj" fmla="val 7826"/>
            </a:avLst>
          </a:prstGeom>
          <a:solidFill>
            <a:srgbClr val="F7F5F0"/>
          </a:solidFill>
          <a:ln w="12700">
            <a:solidFill>
              <a:srgbClr val="F7F5F0"/>
            </a:solidFill>
            <a:prstDash val="solid"/>
          </a:ln>
        </p:spPr>
      </p:sp>
      <p:sp>
        <p:nvSpPr>
          <p:cNvPr id="15" name="Text 12"/>
          <p:cNvSpPr/>
          <p:nvPr/>
        </p:nvSpPr>
        <p:spPr>
          <a:xfrm>
            <a:off x="914400" y="1527048"/>
            <a:ext cx="6309360" cy="822960"/>
          </a:xfrm>
          <a:prstGeom prst="rect">
            <a:avLst/>
          </a:prstGeom>
          <a:noFill/>
          <a:ln/>
        </p:spPr>
        <p:txBody>
          <a:bodyPr wrap="square" lIns="0" tIns="0" rIns="0" bIns="0" rtlCol="0" anchor="ctr"/>
          <a:lstStyle/>
          <a:p>
            <a:pPr indent="0" marL="0">
              <a:buNone/>
            </a:pPr>
            <a:r>
              <a:rPr lang="en-US" sz="1700" i="1" dirty="0">
                <a:solidFill>
                  <a:srgbClr val="1B1F24"/>
                </a:solidFill>
                <a:latin typeface="Inter" pitchFamily="34" charset="0"/>
                <a:ea typeface="Inter" pitchFamily="34" charset="-122"/>
                <a:cs typeface="Inter" pitchFamily="34" charset="-120"/>
              </a:rPr>
              <a:t>"J.M. in my 3rd period with the anxiety diagnosis"</a:t>
            </a:r>
            <a:endParaRPr lang="en-US" sz="1700" dirty="0"/>
          </a:p>
        </p:txBody>
      </p:sp>
      <p:sp>
        <p:nvSpPr>
          <p:cNvPr id="16" name="Text 13"/>
          <p:cNvSpPr/>
          <p:nvPr/>
        </p:nvSpPr>
        <p:spPr>
          <a:xfrm>
            <a:off x="7635240" y="1527048"/>
            <a:ext cx="3931920" cy="822960"/>
          </a:xfrm>
          <a:prstGeom prst="rect">
            <a:avLst/>
          </a:prstGeom>
          <a:noFill/>
          <a:ln/>
        </p:spPr>
        <p:txBody>
          <a:bodyPr wrap="square" lIns="0" tIns="0" rIns="0" bIns="0" rtlCol="0" anchor="ctr"/>
          <a:lstStyle/>
          <a:p>
            <a:pPr indent="0" marL="0">
              <a:buNone/>
            </a:pPr>
            <a:r>
              <a:rPr lang="en-US" sz="1500" dirty="0">
                <a:solidFill>
                  <a:srgbClr val="B4453A"/>
                </a:solidFill>
                <a:latin typeface="Inter" pitchFamily="34" charset="0"/>
                <a:ea typeface="Inter" pitchFamily="34" charset="-122"/>
                <a:cs typeface="Inter" pitchFamily="34" charset="-120"/>
              </a:rPr>
              <a:t>Initials + context = identifiable</a:t>
            </a:r>
            <a:endParaRPr lang="en-US" sz="1500" dirty="0"/>
          </a:p>
        </p:txBody>
      </p:sp>
      <p:sp>
        <p:nvSpPr>
          <p:cNvPr id="17" name="Shape 14"/>
          <p:cNvSpPr/>
          <p:nvPr/>
        </p:nvSpPr>
        <p:spPr>
          <a:xfrm>
            <a:off x="640080" y="2651760"/>
            <a:ext cx="6766560" cy="1051560"/>
          </a:xfrm>
          <a:prstGeom prst="roundRect">
            <a:avLst>
              <a:gd name="adj" fmla="val 7826"/>
            </a:avLst>
          </a:prstGeom>
          <a:solidFill>
            <a:srgbClr val="F7F5F0"/>
          </a:solidFill>
          <a:ln w="12700">
            <a:solidFill>
              <a:srgbClr val="F7F5F0"/>
            </a:solidFill>
            <a:prstDash val="solid"/>
          </a:ln>
        </p:spPr>
      </p:sp>
      <p:sp>
        <p:nvSpPr>
          <p:cNvPr id="18" name="Text 15"/>
          <p:cNvSpPr/>
          <p:nvPr/>
        </p:nvSpPr>
        <p:spPr>
          <a:xfrm>
            <a:off x="914400" y="2761488"/>
            <a:ext cx="6309360" cy="822960"/>
          </a:xfrm>
          <a:prstGeom prst="rect">
            <a:avLst/>
          </a:prstGeom>
          <a:noFill/>
          <a:ln/>
        </p:spPr>
        <p:txBody>
          <a:bodyPr wrap="square" lIns="0" tIns="0" rIns="0" bIns="0" rtlCol="0" anchor="ctr"/>
          <a:lstStyle/>
          <a:p>
            <a:pPr indent="0" marL="0">
              <a:buNone/>
            </a:pPr>
            <a:r>
              <a:rPr lang="en-US" sz="1700" i="1" dirty="0">
                <a:solidFill>
                  <a:srgbClr val="1B1F24"/>
                </a:solidFill>
                <a:latin typeface="Inter" pitchFamily="34" charset="0"/>
                <a:ea typeface="Inter" pitchFamily="34" charset="-122"/>
                <a:cs typeface="Inter" pitchFamily="34" charset="-120"/>
              </a:rPr>
              <a:t>"The only 7th grader who uses a wheelchair"</a:t>
            </a:r>
            <a:endParaRPr lang="en-US" sz="1700" dirty="0"/>
          </a:p>
        </p:txBody>
      </p:sp>
      <p:sp>
        <p:nvSpPr>
          <p:cNvPr id="19" name="Text 16"/>
          <p:cNvSpPr/>
          <p:nvPr/>
        </p:nvSpPr>
        <p:spPr>
          <a:xfrm>
            <a:off x="7635240" y="2761488"/>
            <a:ext cx="3931920" cy="822960"/>
          </a:xfrm>
          <a:prstGeom prst="rect">
            <a:avLst/>
          </a:prstGeom>
          <a:noFill/>
          <a:ln/>
        </p:spPr>
        <p:txBody>
          <a:bodyPr wrap="square" lIns="0" tIns="0" rIns="0" bIns="0" rtlCol="0" anchor="ctr"/>
          <a:lstStyle/>
          <a:p>
            <a:pPr indent="0" marL="0">
              <a:buNone/>
            </a:pPr>
            <a:r>
              <a:rPr lang="en-US" sz="1500" dirty="0">
                <a:solidFill>
                  <a:srgbClr val="B4453A"/>
                </a:solidFill>
                <a:latin typeface="Inter" pitchFamily="34" charset="0"/>
                <a:ea typeface="Inter" pitchFamily="34" charset="-122"/>
                <a:cs typeface="Inter" pitchFamily="34" charset="-120"/>
              </a:rPr>
              <a:t>One-of-a-kind details identify without a name</a:t>
            </a:r>
            <a:endParaRPr lang="en-US" sz="1500" dirty="0"/>
          </a:p>
        </p:txBody>
      </p:sp>
      <p:sp>
        <p:nvSpPr>
          <p:cNvPr id="20" name="Shape 17"/>
          <p:cNvSpPr/>
          <p:nvPr/>
        </p:nvSpPr>
        <p:spPr>
          <a:xfrm>
            <a:off x="640080" y="3886200"/>
            <a:ext cx="6766560" cy="1051560"/>
          </a:xfrm>
          <a:prstGeom prst="roundRect">
            <a:avLst>
              <a:gd name="adj" fmla="val 7826"/>
            </a:avLst>
          </a:prstGeom>
          <a:solidFill>
            <a:srgbClr val="F7F5F0"/>
          </a:solidFill>
          <a:ln w="12700">
            <a:solidFill>
              <a:srgbClr val="F7F5F0"/>
            </a:solidFill>
            <a:prstDash val="solid"/>
          </a:ln>
        </p:spPr>
      </p:sp>
      <p:sp>
        <p:nvSpPr>
          <p:cNvPr id="21" name="Text 18"/>
          <p:cNvSpPr/>
          <p:nvPr/>
        </p:nvSpPr>
        <p:spPr>
          <a:xfrm>
            <a:off x="914400" y="3995928"/>
            <a:ext cx="6309360" cy="822960"/>
          </a:xfrm>
          <a:prstGeom prst="rect">
            <a:avLst/>
          </a:prstGeom>
          <a:noFill/>
          <a:ln/>
        </p:spPr>
        <p:txBody>
          <a:bodyPr wrap="square" lIns="0" tIns="0" rIns="0" bIns="0" rtlCol="0" anchor="ctr"/>
          <a:lstStyle/>
          <a:p>
            <a:pPr indent="0" marL="0">
              <a:buNone/>
            </a:pPr>
            <a:r>
              <a:rPr lang="en-US" sz="1700" i="1" dirty="0">
                <a:solidFill>
                  <a:srgbClr val="1B1F24"/>
                </a:solidFill>
                <a:latin typeface="Inter" pitchFamily="34" charset="0"/>
                <a:ea typeface="Inter" pitchFamily="34" charset="-122"/>
                <a:cs typeface="Inter" pitchFamily="34" charset="-120"/>
              </a:rPr>
              <a:t>"The new student who just arrived from Ukraine"</a:t>
            </a:r>
            <a:endParaRPr lang="en-US" sz="1700" dirty="0"/>
          </a:p>
        </p:txBody>
      </p:sp>
      <p:sp>
        <p:nvSpPr>
          <p:cNvPr id="22" name="Text 19"/>
          <p:cNvSpPr/>
          <p:nvPr/>
        </p:nvSpPr>
        <p:spPr>
          <a:xfrm>
            <a:off x="7635240" y="3995928"/>
            <a:ext cx="3931920" cy="822960"/>
          </a:xfrm>
          <a:prstGeom prst="rect">
            <a:avLst/>
          </a:prstGeom>
          <a:noFill/>
          <a:ln/>
        </p:spPr>
        <p:txBody>
          <a:bodyPr wrap="square" lIns="0" tIns="0" rIns="0" bIns="0" rtlCol="0" anchor="ctr"/>
          <a:lstStyle/>
          <a:p>
            <a:pPr indent="0" marL="0">
              <a:buNone/>
            </a:pPr>
            <a:r>
              <a:rPr lang="en-US" sz="1500" dirty="0">
                <a:solidFill>
                  <a:srgbClr val="B4453A"/>
                </a:solidFill>
                <a:latin typeface="Inter" pitchFamily="34" charset="0"/>
                <a:ea typeface="Inter" pitchFamily="34" charset="-122"/>
                <a:cs typeface="Inter" pitchFamily="34" charset="-120"/>
              </a:rPr>
              <a:t>Rare circumstance = identifiable in your school</a:t>
            </a:r>
            <a:endParaRPr lang="en-US" sz="1500" dirty="0"/>
          </a:p>
        </p:txBody>
      </p:sp>
      <p:sp>
        <p:nvSpPr>
          <p:cNvPr id="23" name="Shape 20"/>
          <p:cNvSpPr/>
          <p:nvPr/>
        </p:nvSpPr>
        <p:spPr>
          <a:xfrm>
            <a:off x="640080" y="5257800"/>
            <a:ext cx="10972800" cy="914400"/>
          </a:xfrm>
          <a:prstGeom prst="roundRect">
            <a:avLst>
              <a:gd name="adj" fmla="val 9000"/>
            </a:avLst>
          </a:prstGeom>
          <a:solidFill>
            <a:srgbClr val="13293D"/>
          </a:solidFill>
          <a:ln w="12700">
            <a:solidFill>
              <a:srgbClr val="13293D"/>
            </a:solidFill>
            <a:prstDash val="solid"/>
          </a:ln>
        </p:spPr>
      </p:sp>
      <p:sp>
        <p:nvSpPr>
          <p:cNvPr id="24" name="Text 21"/>
          <p:cNvSpPr/>
          <p:nvPr/>
        </p:nvSpPr>
        <p:spPr>
          <a:xfrm>
            <a:off x="960120" y="5349240"/>
            <a:ext cx="10332720" cy="731520"/>
          </a:xfrm>
          <a:prstGeom prst="rect">
            <a:avLst/>
          </a:prstGeom>
          <a:noFill/>
          <a:ln/>
        </p:spPr>
        <p:txBody>
          <a:bodyPr wrap="square" lIns="0" tIns="0" rIns="0" bIns="0" rtlCol="0" anchor="ctr"/>
          <a:lstStyle/>
          <a:p>
            <a:pPr indent="0" marL="0">
              <a:buNone/>
            </a:pPr>
            <a:r>
              <a:rPr lang="en-US" sz="1900" b="1" dirty="0">
                <a:solidFill>
                  <a:srgbClr val="FFFFFF"/>
                </a:solidFill>
                <a:latin typeface="Inter" pitchFamily="34" charset="0"/>
                <a:ea typeface="Inter" pitchFamily="34" charset="-122"/>
                <a:cs typeface="Inter" pitchFamily="34" charset="-120"/>
              </a:rPr>
              <a:t>The test: could anyone who knows our school figure out who this is?  If yes, it doesn’t go in.</a:t>
            </a:r>
            <a:endParaRPr lang="en-US" sz="1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1 · AI Foundations &amp; Safety   |   13</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why: FERPA, plus a text box that makes oversharing effortless.</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ONE LEGAL REASON, ONE PRACTICAL REASON</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Why the rule exists</a:t>
            </a:r>
            <a:endParaRPr lang="en-US" sz="3200" dirty="0"/>
          </a:p>
        </p:txBody>
      </p:sp>
      <p:sp>
        <p:nvSpPr>
          <p:cNvPr id="14" name="Shape 11"/>
          <p:cNvSpPr/>
          <p:nvPr/>
        </p:nvSpPr>
        <p:spPr>
          <a:xfrm>
            <a:off x="640080" y="1463040"/>
            <a:ext cx="5394960" cy="4114800"/>
          </a:xfrm>
          <a:prstGeom prst="roundRect">
            <a:avLst>
              <a:gd name="adj" fmla="val 2000"/>
            </a:avLst>
          </a:prstGeom>
          <a:solidFill>
            <a:srgbClr val="F7F5F0"/>
          </a:solidFill>
          <a:ln w="12700">
            <a:solidFill>
              <a:srgbClr val="F7F5F0"/>
            </a:solidFill>
            <a:prstDash val="solid"/>
          </a:ln>
        </p:spPr>
      </p:sp>
      <p:sp>
        <p:nvSpPr>
          <p:cNvPr id="15" name="Text 12"/>
          <p:cNvSpPr/>
          <p:nvPr/>
        </p:nvSpPr>
        <p:spPr>
          <a:xfrm>
            <a:off x="960120" y="1691640"/>
            <a:ext cx="4754880" cy="411480"/>
          </a:xfrm>
          <a:prstGeom prst="rect">
            <a:avLst/>
          </a:prstGeom>
          <a:noFill/>
          <a:ln/>
        </p:spPr>
        <p:txBody>
          <a:bodyPr wrap="square" lIns="0" tIns="0" rIns="0" bIns="0" rtlCol="0" anchor="ctr"/>
          <a:lstStyle/>
          <a:p>
            <a:pPr indent="0" marL="0">
              <a:buNone/>
            </a:pPr>
            <a:r>
              <a:rPr lang="en-US" sz="2000" b="1" dirty="0">
                <a:solidFill>
                  <a:srgbClr val="13293D"/>
                </a:solidFill>
                <a:latin typeface="Inter" pitchFamily="34" charset="0"/>
                <a:ea typeface="Inter" pitchFamily="34" charset="-122"/>
                <a:cs typeface="Inter" pitchFamily="34" charset="-120"/>
              </a:rPr>
              <a:t>Legal</a:t>
            </a:r>
            <a:endParaRPr lang="en-US" sz="2000" dirty="0"/>
          </a:p>
        </p:txBody>
      </p:sp>
      <p:sp>
        <p:nvSpPr>
          <p:cNvPr id="16" name="Text 13"/>
          <p:cNvSpPr/>
          <p:nvPr/>
        </p:nvSpPr>
        <p:spPr>
          <a:xfrm>
            <a:off x="960120" y="2194560"/>
            <a:ext cx="4846320" cy="3108960"/>
          </a:xfrm>
          <a:prstGeom prst="rect">
            <a:avLst/>
          </a:prstGeom>
          <a:noFill/>
          <a:ln/>
        </p:spPr>
        <p:txBody>
          <a:bodyPr wrap="square" lIns="0" tIns="0" rIns="0" bIns="0" rtlCol="0" anchor="t"/>
          <a:lstStyle/>
          <a:p>
            <a:pPr indent="0" marL="0">
              <a:buNone/>
            </a:pPr>
            <a:r>
              <a:rPr lang="en-US" sz="1700" dirty="0">
                <a:solidFill>
                  <a:srgbClr val="1B1F24"/>
                </a:solidFill>
                <a:latin typeface="Inter" pitchFamily="34" charset="0"/>
                <a:ea typeface="Inter" pitchFamily="34" charset="-122"/>
                <a:cs typeface="Inter" pitchFamily="34" charset="-120"/>
              </a:rPr>
              <a:t>FERPA protects student education records, and schools answer for how record information is shared. A public AI tool is a third party with no agreement with our district. Where typed data goes depends on terms of service that change without asking us.</a:t>
            </a:r>
            <a:endParaRPr lang="en-US" sz="1700" dirty="0"/>
          </a:p>
        </p:txBody>
      </p:sp>
      <p:sp>
        <p:nvSpPr>
          <p:cNvPr id="17" name="Shape 14"/>
          <p:cNvSpPr/>
          <p:nvPr/>
        </p:nvSpPr>
        <p:spPr>
          <a:xfrm>
            <a:off x="6263640" y="1463040"/>
            <a:ext cx="5394960" cy="4114800"/>
          </a:xfrm>
          <a:prstGeom prst="roundRect">
            <a:avLst>
              <a:gd name="adj" fmla="val 2000"/>
            </a:avLst>
          </a:prstGeom>
          <a:solidFill>
            <a:srgbClr val="F7F5F0"/>
          </a:solidFill>
          <a:ln w="12700">
            <a:solidFill>
              <a:srgbClr val="F7F5F0"/>
            </a:solidFill>
            <a:prstDash val="solid"/>
          </a:ln>
        </p:spPr>
      </p:sp>
      <p:sp>
        <p:nvSpPr>
          <p:cNvPr id="18" name="Text 15"/>
          <p:cNvSpPr/>
          <p:nvPr/>
        </p:nvSpPr>
        <p:spPr>
          <a:xfrm>
            <a:off x="6583680" y="1691640"/>
            <a:ext cx="4754880" cy="411480"/>
          </a:xfrm>
          <a:prstGeom prst="rect">
            <a:avLst/>
          </a:prstGeom>
          <a:noFill/>
          <a:ln/>
        </p:spPr>
        <p:txBody>
          <a:bodyPr wrap="square" lIns="0" tIns="0" rIns="0" bIns="0" rtlCol="0" anchor="ctr"/>
          <a:lstStyle/>
          <a:p>
            <a:pPr indent="0" marL="0">
              <a:buNone/>
            </a:pPr>
            <a:r>
              <a:rPr lang="en-US" sz="2000" b="1" dirty="0">
                <a:solidFill>
                  <a:srgbClr val="13293D"/>
                </a:solidFill>
                <a:latin typeface="Inter" pitchFamily="34" charset="0"/>
                <a:ea typeface="Inter" pitchFamily="34" charset="-122"/>
                <a:cs typeface="Inter" pitchFamily="34" charset="-120"/>
              </a:rPr>
              <a:t>Practical</a:t>
            </a:r>
            <a:endParaRPr lang="en-US" sz="2000" dirty="0"/>
          </a:p>
        </p:txBody>
      </p:sp>
      <p:sp>
        <p:nvSpPr>
          <p:cNvPr id="19" name="Text 16"/>
          <p:cNvSpPr/>
          <p:nvPr/>
        </p:nvSpPr>
        <p:spPr>
          <a:xfrm>
            <a:off x="6583680" y="2194560"/>
            <a:ext cx="4846320" cy="3108960"/>
          </a:xfrm>
          <a:prstGeom prst="rect">
            <a:avLst/>
          </a:prstGeom>
          <a:noFill/>
          <a:ln/>
        </p:spPr>
        <p:txBody>
          <a:bodyPr wrap="square" lIns="0" tIns="0" rIns="0" bIns="0" rtlCol="0" anchor="t"/>
          <a:lstStyle/>
          <a:p>
            <a:pPr indent="0" marL="0">
              <a:buNone/>
            </a:pPr>
            <a:r>
              <a:rPr lang="en-US" sz="1700" dirty="0">
                <a:solidFill>
                  <a:srgbClr val="1B1F24"/>
                </a:solidFill>
                <a:latin typeface="Inter" pitchFamily="34" charset="0"/>
                <a:ea typeface="Inter" pitchFamily="34" charset="-122"/>
                <a:cs typeface="Inter" pitchFamily="34" charset="-120"/>
              </a:rPr>
              <a:t>An open chat box makes oversharing effortless; privacy researchers flag exactly this. And nobody in this room wants to be the example in the district’s cautionary email. One rule, followed always, means that’s never you.</a:t>
            </a:r>
            <a:endParaRPr lang="en-US" sz="1700" dirty="0"/>
          </a:p>
        </p:txBody>
      </p:sp>
      <p:sp>
        <p:nvSpPr>
          <p:cNvPr id="20" name="Text 17"/>
          <p:cNvSpPr/>
          <p:nvPr/>
        </p:nvSpPr>
        <p:spPr>
          <a:xfrm>
            <a:off x="640080" y="5715000"/>
            <a:ext cx="10972800" cy="365760"/>
          </a:xfrm>
          <a:prstGeom prst="rect">
            <a:avLst/>
          </a:prstGeom>
          <a:noFill/>
          <a:ln/>
        </p:spPr>
        <p:txBody>
          <a:bodyPr wrap="square" lIns="0" tIns="0" rIns="0" bIns="0" rtlCol="0" anchor="ctr"/>
          <a:lstStyle/>
          <a:p>
            <a:pPr algn="ctr" indent="0" marL="0">
              <a:buNone/>
            </a:pPr>
            <a:r>
              <a:rPr lang="en-US" sz="1300" i="1" dirty="0">
                <a:solidFill>
                  <a:srgbClr val="5B6B7A"/>
                </a:solidFill>
                <a:latin typeface="Inter" pitchFamily="34" charset="0"/>
                <a:ea typeface="Inter" pitchFamily="34" charset="-122"/>
                <a:cs typeface="Inter" pitchFamily="34" charset="-120"/>
              </a:rPr>
              <a:t>Educators sharing safe practice, not legal advice. District-specific questions go to the district office.</a:t>
            </a:r>
            <a:endParaRPr lang="en-US" sz="13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1 · AI Foundations &amp; Safety   |   14</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rule of thumb: every tool is public until the district says otherwise.</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SO THE RULE DOESN’T OVERREACH</a:t>
            </a:r>
            <a:endParaRPr lang="en-US" sz="1200" dirty="0"/>
          </a:p>
        </p:txBody>
      </p:sp>
      <p:sp>
        <p:nvSpPr>
          <p:cNvPr id="13" name="Text 10"/>
          <p:cNvSpPr/>
          <p:nvPr/>
        </p:nvSpPr>
        <p:spPr>
          <a:xfrm>
            <a:off x="548640" y="457200"/>
            <a:ext cx="7955280" cy="914400"/>
          </a:xfrm>
          <a:prstGeom prst="rect">
            <a:avLst/>
          </a:prstGeom>
          <a:noFill/>
          <a:ln/>
        </p:spPr>
        <p:txBody>
          <a:bodyPr wrap="square" lIns="0" tIns="0" rIns="0" bIns="0" rtlCol="0" anchor="t"/>
          <a:lstStyle/>
          <a:p>
            <a:pPr indent="0" marL="0">
              <a:buNone/>
            </a:pPr>
            <a:r>
              <a:rPr lang="en-US" sz="2800" b="1" dirty="0">
                <a:solidFill>
                  <a:srgbClr val="13293D"/>
                </a:solidFill>
                <a:latin typeface="Inter" pitchFamily="34" charset="0"/>
                <a:ea typeface="Inter" pitchFamily="34" charset="-122"/>
                <a:cs typeface="Inter" pitchFamily="34" charset="-120"/>
              </a:rPr>
              <a:t>“Public tool” vs. district-approved tool</a:t>
            </a:r>
            <a:endParaRPr lang="en-US" sz="2800" dirty="0"/>
          </a:p>
        </p:txBody>
      </p:sp>
      <p:sp>
        <p:nvSpPr>
          <p:cNvPr id="14" name="Shape 11"/>
          <p:cNvSpPr/>
          <p:nvPr/>
        </p:nvSpPr>
        <p:spPr>
          <a:xfrm>
            <a:off x="640080" y="1463040"/>
            <a:ext cx="5394960" cy="3931920"/>
          </a:xfrm>
          <a:prstGeom prst="roundRect">
            <a:avLst>
              <a:gd name="adj" fmla="val 2093"/>
            </a:avLst>
          </a:prstGeom>
          <a:solidFill>
            <a:srgbClr val="F7F5F0"/>
          </a:solidFill>
          <a:ln w="12700">
            <a:solidFill>
              <a:srgbClr val="F7F5F0"/>
            </a:solidFill>
            <a:prstDash val="solid"/>
          </a:ln>
        </p:spPr>
      </p:sp>
      <p:sp>
        <p:nvSpPr>
          <p:cNvPr id="15" name="Text 12"/>
          <p:cNvSpPr/>
          <p:nvPr/>
        </p:nvSpPr>
        <p:spPr>
          <a:xfrm>
            <a:off x="960120" y="1691640"/>
            <a:ext cx="4754880" cy="411480"/>
          </a:xfrm>
          <a:prstGeom prst="rect">
            <a:avLst/>
          </a:prstGeom>
          <a:noFill/>
          <a:ln/>
        </p:spPr>
        <p:txBody>
          <a:bodyPr wrap="square" lIns="0" tIns="0" rIns="0" bIns="0" rtlCol="0" anchor="ctr"/>
          <a:lstStyle/>
          <a:p>
            <a:pPr indent="0" marL="0">
              <a:buNone/>
            </a:pPr>
            <a:r>
              <a:rPr lang="en-US" sz="2000" b="1" dirty="0">
                <a:solidFill>
                  <a:srgbClr val="B4453A"/>
                </a:solidFill>
                <a:latin typeface="Inter" pitchFamily="34" charset="0"/>
                <a:ea typeface="Inter" pitchFamily="34" charset="-122"/>
                <a:cs typeface="Inter" pitchFamily="34" charset="-120"/>
              </a:rPr>
              <a:t>Public tool</a:t>
            </a:r>
            <a:endParaRPr lang="en-US" sz="2000" dirty="0"/>
          </a:p>
        </p:txBody>
      </p:sp>
      <p:sp>
        <p:nvSpPr>
          <p:cNvPr id="16" name="Text 13"/>
          <p:cNvSpPr/>
          <p:nvPr/>
        </p:nvSpPr>
        <p:spPr>
          <a:xfrm>
            <a:off x="960120" y="2194560"/>
            <a:ext cx="4846320" cy="2926080"/>
          </a:xfrm>
          <a:prstGeom prst="rect">
            <a:avLst/>
          </a:prstGeom>
          <a:noFill/>
          <a:ln/>
        </p:spPr>
        <p:txBody>
          <a:bodyPr wrap="square" lIns="0" tIns="0" rIns="0" bIns="0" rtlCol="0" anchor="t"/>
          <a:lstStyle/>
          <a:p>
            <a:pPr indent="0" marL="0">
              <a:buNone/>
            </a:pPr>
            <a:r>
              <a:rPr lang="en-US" sz="1800" dirty="0">
                <a:solidFill>
                  <a:srgbClr val="1B1F24"/>
                </a:solidFill>
                <a:latin typeface="Inter" pitchFamily="34" charset="0"/>
                <a:ea typeface="Inter" pitchFamily="34" charset="-122"/>
                <a:cs typeface="Inter" pitchFamily="34" charset="-120"/>
              </a:rPr>
              <a:t>Anything you signed up for yourself: free ChatGPT, Claude, Gemini, personal accounts.</a:t>
            </a:r>
            <a:endParaRPr lang="en-US" sz="1800" dirty="0"/>
          </a:p>
          <a:p>
            <a:pPr indent="0" marL="0">
              <a:buNone/>
            </a:pPr>
            <a:endParaRPr lang="en-US" sz="1800" dirty="0"/>
          </a:p>
          <a:p>
            <a:pPr indent="0" marL="0">
              <a:buNone/>
            </a:pPr>
            <a:r>
              <a:rPr lang="en-US" sz="1800" dirty="0">
                <a:solidFill>
                  <a:srgbClr val="1B1F24"/>
                </a:solidFill>
                <a:latin typeface="Inter" pitchFamily="34" charset="0"/>
                <a:ea typeface="Inter" pitchFamily="34" charset="-122"/>
                <a:cs typeface="Inter" pitchFamily="34" charset="-120"/>
              </a:rPr>
              <a:t>The One Hard Rule applies. Always.</a:t>
            </a:r>
            <a:endParaRPr lang="en-US" sz="1800" dirty="0"/>
          </a:p>
        </p:txBody>
      </p:sp>
      <p:sp>
        <p:nvSpPr>
          <p:cNvPr id="17" name="Shape 14"/>
          <p:cNvSpPr/>
          <p:nvPr/>
        </p:nvSpPr>
        <p:spPr>
          <a:xfrm>
            <a:off x="6263640" y="1463040"/>
            <a:ext cx="5394960" cy="3931920"/>
          </a:xfrm>
          <a:prstGeom prst="roundRect">
            <a:avLst>
              <a:gd name="adj" fmla="val 2093"/>
            </a:avLst>
          </a:prstGeom>
          <a:solidFill>
            <a:srgbClr val="F7F5F0"/>
          </a:solidFill>
          <a:ln w="12700">
            <a:solidFill>
              <a:srgbClr val="F7F5F0"/>
            </a:solidFill>
            <a:prstDash val="solid"/>
          </a:ln>
        </p:spPr>
      </p:sp>
      <p:sp>
        <p:nvSpPr>
          <p:cNvPr id="18" name="Text 15"/>
          <p:cNvSpPr/>
          <p:nvPr/>
        </p:nvSpPr>
        <p:spPr>
          <a:xfrm>
            <a:off x="6583680" y="1691640"/>
            <a:ext cx="4754880" cy="411480"/>
          </a:xfrm>
          <a:prstGeom prst="rect">
            <a:avLst/>
          </a:prstGeom>
          <a:noFill/>
          <a:ln/>
        </p:spPr>
        <p:txBody>
          <a:bodyPr wrap="square" lIns="0" tIns="0" rIns="0" bIns="0" rtlCol="0" anchor="ctr"/>
          <a:lstStyle/>
          <a:p>
            <a:pPr indent="0" marL="0">
              <a:buNone/>
            </a:pPr>
            <a:r>
              <a:rPr lang="en-US" sz="2000" b="1" dirty="0">
                <a:solidFill>
                  <a:srgbClr val="2E7D5B"/>
                </a:solidFill>
                <a:latin typeface="Inter" pitchFamily="34" charset="0"/>
                <a:ea typeface="Inter" pitchFamily="34" charset="-122"/>
                <a:cs typeface="Inter" pitchFamily="34" charset="-120"/>
              </a:rPr>
              <a:t>District-approved tool</a:t>
            </a:r>
            <a:endParaRPr lang="en-US" sz="2000" dirty="0"/>
          </a:p>
        </p:txBody>
      </p:sp>
      <p:sp>
        <p:nvSpPr>
          <p:cNvPr id="19" name="Text 16"/>
          <p:cNvSpPr/>
          <p:nvPr/>
        </p:nvSpPr>
        <p:spPr>
          <a:xfrm>
            <a:off x="6583680" y="2194560"/>
            <a:ext cx="4846320" cy="2926080"/>
          </a:xfrm>
          <a:prstGeom prst="rect">
            <a:avLst/>
          </a:prstGeom>
          <a:noFill/>
          <a:ln/>
        </p:spPr>
        <p:txBody>
          <a:bodyPr wrap="square" lIns="0" tIns="0" rIns="0" bIns="0" rtlCol="0" anchor="t"/>
          <a:lstStyle/>
          <a:p>
            <a:pPr indent="0" marL="0">
              <a:buNone/>
            </a:pPr>
            <a:r>
              <a:rPr lang="en-US" sz="1800" dirty="0">
                <a:solidFill>
                  <a:srgbClr val="1B1F24"/>
                </a:solidFill>
                <a:latin typeface="Inter" pitchFamily="34" charset="0"/>
                <a:ea typeface="Inter" pitchFamily="34" charset="-122"/>
                <a:cs typeface="Inter" pitchFamily="34" charset="-120"/>
              </a:rPr>
              <a:t>Vetted by the district, with a signed student-data agreement.</a:t>
            </a:r>
            <a:endParaRPr lang="en-US" sz="1800" dirty="0"/>
          </a:p>
          <a:p>
            <a:pPr indent="0" marL="0">
              <a:buNone/>
            </a:pPr>
            <a:endParaRPr lang="en-US" sz="1800" dirty="0"/>
          </a:p>
          <a:p>
            <a:pPr indent="0" marL="0">
              <a:buNone/>
            </a:pPr>
            <a:r>
              <a:rPr lang="en-US" sz="1800" dirty="0">
                <a:solidFill>
                  <a:srgbClr val="1B1F24"/>
                </a:solidFill>
                <a:latin typeface="Inter" pitchFamily="34" charset="0"/>
                <a:ea typeface="Inter" pitchFamily="34" charset="-122"/>
                <a:cs typeface="Inter" pitchFamily="34" charset="-120"/>
              </a:rPr>
              <a:t>If we adopt one, you’ll be told explicitly what changes. Until you’re told: every tool is a public tool.</a:t>
            </a:r>
            <a:endParaRPr lang="en-US" sz="18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1 · AI Foundations &amp; Safety   |   15</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relief: the work she wants help with never needed identities anyway.</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AND NOW THE GOOD NEWS</a:t>
            </a:r>
            <a:endParaRPr lang="en-US" sz="1200" dirty="0"/>
          </a:p>
        </p:txBody>
      </p:sp>
      <p:sp>
        <p:nvSpPr>
          <p:cNvPr id="13" name="Text 10"/>
          <p:cNvSpPr/>
          <p:nvPr/>
        </p:nvSpPr>
        <p:spPr>
          <a:xfrm>
            <a:off x="548640" y="457200"/>
            <a:ext cx="7955280" cy="914400"/>
          </a:xfrm>
          <a:prstGeom prst="rect">
            <a:avLst/>
          </a:prstGeom>
          <a:noFill/>
          <a:ln/>
        </p:spPr>
        <p:txBody>
          <a:bodyPr wrap="square" lIns="0" tIns="0" rIns="0" bIns="0" rtlCol="0" anchor="t"/>
          <a:lstStyle/>
          <a:p>
            <a:pPr indent="0" marL="0">
              <a:buNone/>
            </a:pPr>
            <a:r>
              <a:rPr lang="en-US" sz="2800" b="1" dirty="0">
                <a:solidFill>
                  <a:srgbClr val="13293D"/>
                </a:solidFill>
                <a:latin typeface="Inter" pitchFamily="34" charset="0"/>
                <a:ea typeface="Inter" pitchFamily="34" charset="-122"/>
                <a:cs typeface="Inter" pitchFamily="34" charset="-120"/>
              </a:rPr>
              <a:t>The rule barely costs you anything</a:t>
            </a:r>
            <a:endParaRPr lang="en-US" sz="2800" dirty="0"/>
          </a:p>
        </p:txBody>
      </p:sp>
      <p:sp>
        <p:nvSpPr>
          <p:cNvPr id="14" name="Text 11"/>
          <p:cNvSpPr/>
          <p:nvPr/>
        </p:nvSpPr>
        <p:spPr>
          <a:xfrm>
            <a:off x="640080" y="1645920"/>
            <a:ext cx="10972800" cy="731520"/>
          </a:xfrm>
          <a:prstGeom prst="rect">
            <a:avLst/>
          </a:prstGeom>
          <a:noFill/>
          <a:ln/>
        </p:spPr>
        <p:txBody>
          <a:bodyPr wrap="square" lIns="0" tIns="0" rIns="0" bIns="0" rtlCol="0" anchor="ctr"/>
          <a:lstStyle/>
          <a:p>
            <a:pPr indent="0" marL="0">
              <a:buNone/>
            </a:pPr>
            <a:r>
              <a:rPr lang="en-US" sz="2400" dirty="0">
                <a:solidFill>
                  <a:srgbClr val="1B1F24"/>
                </a:solidFill>
                <a:latin typeface="Inter" pitchFamily="34" charset="0"/>
                <a:ea typeface="Inter" pitchFamily="34" charset="-122"/>
                <a:cs typeface="Inter" pitchFamily="34" charset="-120"/>
              </a:rPr>
              <a:t>Almost everything AI is useful for doesn’t need student identities at all.</a:t>
            </a:r>
            <a:endParaRPr lang="en-US" sz="2400" dirty="0"/>
          </a:p>
        </p:txBody>
      </p:sp>
      <p:sp>
        <p:nvSpPr>
          <p:cNvPr id="15" name="Shape 12"/>
          <p:cNvSpPr/>
          <p:nvPr/>
        </p:nvSpPr>
        <p:spPr>
          <a:xfrm>
            <a:off x="640080" y="2651760"/>
            <a:ext cx="10972800" cy="2194560"/>
          </a:xfrm>
          <a:prstGeom prst="roundRect">
            <a:avLst>
              <a:gd name="adj" fmla="val 3750"/>
            </a:avLst>
          </a:prstGeom>
          <a:solidFill>
            <a:srgbClr val="EAF5F3"/>
          </a:solidFill>
          <a:ln w="12700">
            <a:solidFill>
              <a:srgbClr val="EAF5F3"/>
            </a:solidFill>
            <a:prstDash val="solid"/>
          </a:ln>
        </p:spPr>
      </p:sp>
      <p:sp>
        <p:nvSpPr>
          <p:cNvPr id="16" name="Text 13"/>
          <p:cNvSpPr/>
          <p:nvPr/>
        </p:nvSpPr>
        <p:spPr>
          <a:xfrm>
            <a:off x="1005840" y="2926080"/>
            <a:ext cx="10241280" cy="1645920"/>
          </a:xfrm>
          <a:prstGeom prst="rect">
            <a:avLst/>
          </a:prstGeom>
          <a:noFill/>
          <a:ln/>
        </p:spPr>
        <p:txBody>
          <a:bodyPr wrap="square" lIns="0" tIns="0" rIns="0" bIns="0" rtlCol="0" anchor="ctr"/>
          <a:lstStyle/>
          <a:p>
            <a:pPr indent="0" marL="0">
              <a:lnSpc>
                <a:spcPct val="140000"/>
              </a:lnSpc>
              <a:buNone/>
            </a:pPr>
            <a:r>
              <a:rPr lang="en-US" sz="2600" b="1" dirty="0">
                <a:solidFill>
                  <a:srgbClr val="2E7D5B"/>
                </a:solidFill>
                <a:latin typeface="Inter" pitchFamily="34" charset="0"/>
                <a:ea typeface="Inter" pitchFamily="34" charset="-122"/>
                <a:cs typeface="Inter" pitchFamily="34" charset="-120"/>
              </a:rPr>
              <a:t>You need:  </a:t>
            </a:r>
            <a:pPr indent="0" marL="0">
              <a:lnSpc>
                <a:spcPct val="140000"/>
              </a:lnSpc>
              <a:buNone/>
            </a:pPr>
            <a:r>
              <a:rPr lang="en-US" sz="2600" dirty="0">
                <a:solidFill>
                  <a:srgbClr val="1B1F24"/>
                </a:solidFill>
                <a:latin typeface="Inter" pitchFamily="34" charset="0"/>
                <a:ea typeface="Inter" pitchFamily="34" charset="-122"/>
                <a:cs typeface="Inter" pitchFamily="34" charset="-120"/>
              </a:rPr>
              <a:t>“a 4th grader reading below grade level”
</a:t>
            </a:r>
            <a:pPr indent="0" marL="0">
              <a:lnSpc>
                <a:spcPct val="140000"/>
              </a:lnSpc>
              <a:buNone/>
            </a:pPr>
            <a:r>
              <a:rPr lang="en-US" sz="2600" b="1" dirty="0">
                <a:solidFill>
                  <a:srgbClr val="B4453A"/>
                </a:solidFill>
                <a:latin typeface="Inter" pitchFamily="34" charset="0"/>
                <a:ea typeface="Inter" pitchFamily="34" charset="-122"/>
                <a:cs typeface="Inter" pitchFamily="34" charset="-120"/>
              </a:rPr>
              <a:t>You never need:  </a:t>
            </a:r>
            <a:pPr indent="0" marL="0">
              <a:lnSpc>
                <a:spcPct val="140000"/>
              </a:lnSpc>
              <a:buNone/>
            </a:pPr>
            <a:r>
              <a:rPr lang="en-US" sz="2600" dirty="0">
                <a:solidFill>
                  <a:srgbClr val="1B1F24"/>
                </a:solidFill>
                <a:latin typeface="Inter" pitchFamily="34" charset="0"/>
                <a:ea typeface="Inter" pitchFamily="34" charset="-122"/>
                <a:cs typeface="Inter" pitchFamily="34" charset="-120"/>
              </a:rPr>
              <a:t>“Marcus Chen”</a:t>
            </a:r>
            <a:endParaRPr lang="en-US" sz="2600" dirty="0"/>
          </a:p>
        </p:txBody>
      </p:sp>
      <p:sp>
        <p:nvSpPr>
          <p:cNvPr id="17" name="Text 14"/>
          <p:cNvSpPr/>
          <p:nvPr/>
        </p:nvSpPr>
        <p:spPr>
          <a:xfrm>
            <a:off x="640080" y="5212080"/>
            <a:ext cx="10972800" cy="457200"/>
          </a:xfrm>
          <a:prstGeom prst="rect">
            <a:avLst/>
          </a:prstGeom>
          <a:noFill/>
          <a:ln/>
        </p:spPr>
        <p:txBody>
          <a:bodyPr wrap="square" lIns="0" tIns="0" rIns="0" bIns="0" rtlCol="0" anchor="ctr"/>
          <a:lstStyle/>
          <a:p>
            <a:pPr indent="0" marL="0">
              <a:buNone/>
            </a:pPr>
            <a:r>
              <a:rPr lang="en-US" sz="1900" i="1" dirty="0">
                <a:solidFill>
                  <a:srgbClr val="5B6B7A"/>
                </a:solidFill>
                <a:latin typeface="Inter" pitchFamily="34" charset="0"/>
                <a:ea typeface="Inter" pitchFamily="34" charset="-122"/>
                <a:cs typeface="Inter" pitchFamily="34" charset="-120"/>
              </a:rPr>
              <a:t>Which brings us to the ten-second skill that makes this automatic →</a:t>
            </a:r>
            <a:endParaRPr lang="en-US" sz="1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1 · AI Foundations &amp; Safety   |   16</a:t>
            </a:r>
            <a:endParaRPr lang="en-US" sz="900" dirty="0"/>
          </a:p>
        </p:txBody>
      </p:sp>
      <p:sp>
        <p:nvSpPr>
          <p:cNvPr id="5" name="Text 2"/>
          <p:cNvSpPr/>
          <p:nvPr/>
        </p:nvSpPr>
        <p:spPr>
          <a:xfrm>
            <a:off x="566928" y="128016"/>
            <a:ext cx="11055096"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SAME EMAIL, ZERO RISK · ON MS. RIVERA'S SCREEN</a:t>
            </a:r>
            <a:endParaRPr lang="en-US" sz="1200" dirty="0"/>
          </a:p>
        </p:txBody>
      </p:sp>
      <p:sp>
        <p:nvSpPr>
          <p:cNvPr id="6" name="Text 3"/>
          <p:cNvSpPr/>
          <p:nvPr/>
        </p:nvSpPr>
        <p:spPr>
          <a:xfrm>
            <a:off x="548640" y="384048"/>
            <a:ext cx="11091672"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Safe swap #1: the parent email</a:t>
            </a:r>
            <a:endParaRPr lang="en-US" sz="3200" dirty="0"/>
          </a:p>
        </p:txBody>
      </p:sp>
      <p:sp>
        <p:nvSpPr>
          <p:cNvPr id="7" name="Shape 4"/>
          <p:cNvSpPr/>
          <p:nvPr/>
        </p:nvSpPr>
        <p:spPr>
          <a:xfrm>
            <a:off x="640080" y="1417320"/>
            <a:ext cx="10972800" cy="4389120"/>
          </a:xfrm>
          <a:prstGeom prst="roundRect">
            <a:avLst>
              <a:gd name="adj" fmla="val 2083"/>
            </a:avLst>
          </a:prstGeom>
          <a:solidFill>
            <a:srgbClr val="FFFFFF"/>
          </a:solidFill>
          <a:ln w="19050">
            <a:solidFill>
              <a:srgbClr val="DCE3EA"/>
            </a:solidFill>
            <a:prstDash val="solid"/>
          </a:ln>
        </p:spPr>
      </p:sp>
      <p:sp>
        <p:nvSpPr>
          <p:cNvPr id="8" name="Shape 5"/>
          <p:cNvSpPr/>
          <p:nvPr/>
        </p:nvSpPr>
        <p:spPr>
          <a:xfrm>
            <a:off x="640080" y="1417320"/>
            <a:ext cx="10972800" cy="384048"/>
          </a:xfrm>
          <a:prstGeom prst="roundRect">
            <a:avLst>
              <a:gd name="adj" fmla="val 23810"/>
            </a:avLst>
          </a:prstGeom>
          <a:solidFill>
            <a:srgbClr val="13293D"/>
          </a:solidFill>
          <a:ln w="12700">
            <a:solidFill>
              <a:srgbClr val="13293D"/>
            </a:solidFill>
            <a:prstDash val="solid"/>
          </a:ln>
        </p:spPr>
      </p:sp>
      <p:sp>
        <p:nvSpPr>
          <p:cNvPr id="9" name="Shape 6"/>
          <p:cNvSpPr/>
          <p:nvPr/>
        </p:nvSpPr>
        <p:spPr>
          <a:xfrm>
            <a:off x="868680" y="1536192"/>
            <a:ext cx="146304" cy="146304"/>
          </a:xfrm>
          <a:prstGeom prst="ellipse">
            <a:avLst/>
          </a:prstGeom>
          <a:solidFill>
            <a:srgbClr val="E8837A"/>
          </a:solidFill>
          <a:ln w="12700">
            <a:solidFill>
              <a:srgbClr val="E8837A"/>
            </a:solidFill>
            <a:prstDash val="solid"/>
          </a:ln>
        </p:spPr>
      </p:sp>
      <p:sp>
        <p:nvSpPr>
          <p:cNvPr id="10" name="Shape 7"/>
          <p:cNvSpPr/>
          <p:nvPr/>
        </p:nvSpPr>
        <p:spPr>
          <a:xfrm>
            <a:off x="1115568" y="1536192"/>
            <a:ext cx="146304" cy="146304"/>
          </a:xfrm>
          <a:prstGeom prst="ellipse">
            <a:avLst/>
          </a:prstGeom>
          <a:solidFill>
            <a:srgbClr val="F4A825"/>
          </a:solidFill>
          <a:ln w="12700">
            <a:solidFill>
              <a:srgbClr val="F4A825"/>
            </a:solidFill>
            <a:prstDash val="solid"/>
          </a:ln>
        </p:spPr>
      </p:sp>
      <p:sp>
        <p:nvSpPr>
          <p:cNvPr id="11" name="Shape 8"/>
          <p:cNvSpPr/>
          <p:nvPr/>
        </p:nvSpPr>
        <p:spPr>
          <a:xfrm>
            <a:off x="1362456" y="1536192"/>
            <a:ext cx="146304" cy="146304"/>
          </a:xfrm>
          <a:prstGeom prst="ellipse">
            <a:avLst/>
          </a:prstGeom>
          <a:solidFill>
            <a:srgbClr val="2E7D5B"/>
          </a:solidFill>
          <a:ln w="12700">
            <a:solidFill>
              <a:srgbClr val="2E7D5B"/>
            </a:solidFill>
            <a:prstDash val="solid"/>
          </a:ln>
        </p:spPr>
      </p:sp>
      <p:sp>
        <p:nvSpPr>
          <p:cNvPr id="12" name="Text 9"/>
          <p:cNvSpPr/>
          <p:nvPr/>
        </p:nvSpPr>
        <p:spPr>
          <a:xfrm>
            <a:off x="1783080" y="1417320"/>
            <a:ext cx="9692640" cy="384048"/>
          </a:xfrm>
          <a:prstGeom prst="rect">
            <a:avLst/>
          </a:prstGeom>
          <a:noFill/>
          <a:ln/>
        </p:spPr>
        <p:txBody>
          <a:bodyPr wrap="square" lIns="0" tIns="0" rIns="0" bIns="0" rtlCol="0" anchor="ctr"/>
          <a:lstStyle/>
          <a:p>
            <a:pPr indent="0" marL="0">
              <a:buNone/>
            </a:pPr>
            <a:r>
              <a:rPr lang="en-US" sz="1100" dirty="0">
                <a:solidFill>
                  <a:srgbClr val="9FB2C2"/>
                </a:solidFill>
                <a:latin typeface="Inter" pitchFamily="34" charset="0"/>
                <a:ea typeface="Inter" pitchFamily="34" charset="-122"/>
                <a:cs typeface="Inter" pitchFamily="34" charset="-120"/>
              </a:rPr>
              <a:t>AI chat tool (any of them) · Ms. Rivera, our running example teacher (a composite, not a real person)</a:t>
            </a:r>
            <a:endParaRPr lang="en-US" sz="1100" dirty="0"/>
          </a:p>
        </p:txBody>
      </p:sp>
      <p:sp>
        <p:nvSpPr>
          <p:cNvPr id="13" name="Shape 10"/>
          <p:cNvSpPr/>
          <p:nvPr/>
        </p:nvSpPr>
        <p:spPr>
          <a:xfrm>
            <a:off x="1554480" y="2011680"/>
            <a:ext cx="9646920" cy="1463040"/>
          </a:xfrm>
          <a:prstGeom prst="roundRect">
            <a:avLst>
              <a:gd name="adj" fmla="val 7500"/>
            </a:avLst>
          </a:prstGeom>
          <a:solidFill>
            <a:srgbClr val="FBEFED"/>
          </a:solidFill>
          <a:ln w="12700">
            <a:solidFill>
              <a:srgbClr val="FBEFED"/>
            </a:solidFill>
            <a:prstDash val="solid"/>
          </a:ln>
        </p:spPr>
      </p:sp>
      <p:sp>
        <p:nvSpPr>
          <p:cNvPr id="14" name="Text 11"/>
          <p:cNvSpPr/>
          <p:nvPr/>
        </p:nvSpPr>
        <p:spPr>
          <a:xfrm>
            <a:off x="1783080" y="2121408"/>
            <a:ext cx="9144000" cy="274320"/>
          </a:xfrm>
          <a:prstGeom prst="rect">
            <a:avLst/>
          </a:prstGeom>
          <a:noFill/>
          <a:ln/>
        </p:spPr>
        <p:txBody>
          <a:bodyPr wrap="square" lIns="0" tIns="0" rIns="0" bIns="0" rtlCol="0" anchor="ctr"/>
          <a:lstStyle/>
          <a:p>
            <a:pPr indent="0" marL="0">
              <a:buNone/>
            </a:pPr>
            <a:r>
              <a:rPr lang="en-US" sz="1150" b="1" spc="150" kern="0" dirty="0">
                <a:solidFill>
                  <a:srgbClr val="B4453A"/>
                </a:solidFill>
                <a:latin typeface="Inter" pitchFamily="34" charset="0"/>
                <a:ea typeface="Inter" pitchFamily="34" charset="-122"/>
                <a:cs typeface="Inter" pitchFamily="34" charset="-120"/>
              </a:rPr>
              <a:t>WHAT SHE ALMOST TYPED · UNSAFE</a:t>
            </a:r>
            <a:endParaRPr lang="en-US" sz="1150" dirty="0"/>
          </a:p>
        </p:txBody>
      </p:sp>
      <p:sp>
        <p:nvSpPr>
          <p:cNvPr id="15" name="Text 12"/>
          <p:cNvSpPr/>
          <p:nvPr/>
        </p:nvSpPr>
        <p:spPr>
          <a:xfrm>
            <a:off x="1783080" y="2414016"/>
            <a:ext cx="9189720" cy="1005840"/>
          </a:xfrm>
          <a:prstGeom prst="rect">
            <a:avLst/>
          </a:prstGeom>
          <a:noFill/>
          <a:ln/>
        </p:spPr>
        <p:txBody>
          <a:bodyPr wrap="square" lIns="0" tIns="0" rIns="0" bIns="0" rtlCol="0" anchor="ctr"/>
          <a:lstStyle/>
          <a:p>
            <a:pPr indent="0" marL="0">
              <a:buNone/>
            </a:pPr>
            <a:r>
              <a:rPr lang="en-US" sz="1700" i="1" dirty="0">
                <a:solidFill>
                  <a:srgbClr val="1B1F24"/>
                </a:solidFill>
                <a:latin typeface="Inter" pitchFamily="34" charset="0"/>
                <a:ea typeface="Inter" pitchFamily="34" charset="-122"/>
                <a:cs typeface="Inter" pitchFamily="34" charset="-120"/>
              </a:rPr>
              <a:t>“Write an email to Jayden Miller’s mom about his three missing assignments and his outburst in class Tuesday.”</a:t>
            </a:r>
            <a:endParaRPr lang="en-US" sz="1700" dirty="0"/>
          </a:p>
        </p:txBody>
      </p:sp>
      <p:sp>
        <p:nvSpPr>
          <p:cNvPr id="16" name="Shape 13"/>
          <p:cNvSpPr/>
          <p:nvPr/>
        </p:nvSpPr>
        <p:spPr>
          <a:xfrm>
            <a:off x="1554480" y="3657600"/>
            <a:ext cx="9646920" cy="1920240"/>
          </a:xfrm>
          <a:prstGeom prst="roundRect">
            <a:avLst>
              <a:gd name="adj" fmla="val 5714"/>
            </a:avLst>
          </a:prstGeom>
          <a:solidFill>
            <a:srgbClr val="EAF5F3"/>
          </a:solidFill>
          <a:ln w="12700">
            <a:solidFill>
              <a:srgbClr val="EAF5F3"/>
            </a:solidFill>
            <a:prstDash val="solid"/>
          </a:ln>
        </p:spPr>
      </p:sp>
      <p:sp>
        <p:nvSpPr>
          <p:cNvPr id="17" name="Text 14"/>
          <p:cNvSpPr/>
          <p:nvPr/>
        </p:nvSpPr>
        <p:spPr>
          <a:xfrm>
            <a:off x="1783080" y="3767328"/>
            <a:ext cx="9144000" cy="274320"/>
          </a:xfrm>
          <a:prstGeom prst="rect">
            <a:avLst/>
          </a:prstGeom>
          <a:noFill/>
          <a:ln/>
        </p:spPr>
        <p:txBody>
          <a:bodyPr wrap="square" lIns="0" tIns="0" rIns="0" bIns="0" rtlCol="0" anchor="ctr"/>
          <a:lstStyle/>
          <a:p>
            <a:pPr indent="0" marL="0">
              <a:buNone/>
            </a:pPr>
            <a:r>
              <a:rPr lang="en-US" sz="1150" b="1" spc="150" kern="0" dirty="0">
                <a:solidFill>
                  <a:srgbClr val="2E7D5B"/>
                </a:solidFill>
                <a:latin typeface="Inter" pitchFamily="34" charset="0"/>
                <a:ea typeface="Inter" pitchFamily="34" charset="-122"/>
                <a:cs typeface="Inter" pitchFamily="34" charset="-120"/>
              </a:rPr>
              <a:t>WHAT SHE SENT · SAFE</a:t>
            </a:r>
            <a:endParaRPr lang="en-US" sz="1150" dirty="0"/>
          </a:p>
        </p:txBody>
      </p:sp>
      <p:sp>
        <p:nvSpPr>
          <p:cNvPr id="18" name="Text 15"/>
          <p:cNvSpPr/>
          <p:nvPr/>
        </p:nvSpPr>
        <p:spPr>
          <a:xfrm>
            <a:off x="1783080" y="4059936"/>
            <a:ext cx="9189720" cy="1417320"/>
          </a:xfrm>
          <a:prstGeom prst="rect">
            <a:avLst/>
          </a:prstGeom>
          <a:noFill/>
          <a:ln/>
        </p:spPr>
        <p:txBody>
          <a:bodyPr wrap="square" lIns="0" tIns="0" rIns="0" bIns="0" rtlCol="0" anchor="ctr"/>
          <a:lstStyle/>
          <a:p>
            <a:pPr indent="0" marL="0">
              <a:buNone/>
            </a:pPr>
            <a:r>
              <a:rPr lang="en-US" sz="1700" i="1" dirty="0">
                <a:solidFill>
                  <a:srgbClr val="1B1F24"/>
                </a:solidFill>
                <a:latin typeface="Inter" pitchFamily="34" charset="0"/>
                <a:ea typeface="Inter" pitchFamily="34" charset="-122"/>
                <a:cs typeface="Inter" pitchFamily="34" charset="-120"/>
              </a:rPr>
              <a:t>“Write a warm, professional email to a parent about a middle schooler with several missing assignments and a recent difficult day in class. Firm but supportive; end by inviting a conversation.”</a:t>
            </a:r>
            <a:endParaRPr lang="en-US" sz="1700" dirty="0"/>
          </a:p>
        </p:txBody>
      </p:sp>
      <p:sp>
        <p:nvSpPr>
          <p:cNvPr id="19" name="Text 16"/>
          <p:cNvSpPr/>
          <p:nvPr/>
        </p:nvSpPr>
        <p:spPr>
          <a:xfrm>
            <a:off x="640080" y="5897880"/>
            <a:ext cx="10972800" cy="365760"/>
          </a:xfrm>
          <a:prstGeom prst="rect">
            <a:avLst/>
          </a:prstGeom>
          <a:noFill/>
          <a:ln/>
        </p:spPr>
        <p:txBody>
          <a:bodyPr wrap="square" lIns="0" tIns="0" rIns="0" bIns="0" rtlCol="0" anchor="ctr"/>
          <a:lstStyle/>
          <a:p>
            <a:pPr algn="ctr" indent="0" marL="0">
              <a:buNone/>
            </a:pPr>
            <a:r>
              <a:rPr lang="en-US" sz="1600" b="1" dirty="0">
                <a:solidFill>
                  <a:srgbClr val="13293D"/>
                </a:solidFill>
                <a:latin typeface="Inter" pitchFamily="34" charset="0"/>
                <a:ea typeface="Inter" pitchFamily="34" charset="-122"/>
                <a:cs typeface="Inter" pitchFamily="34" charset="-120"/>
              </a:rPr>
              <a:t>Same email out the other end. The AI needed the situation, never the child.</a:t>
            </a:r>
            <a:endParaRPr lang="en-US" sz="16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1 · AI Foundations &amp; Safety   |   17</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swap: the reading level and format, never the diagnosis.</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SAFER IS ALSO JUST A BETTER PROMPT</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Safe swap #2: differentiation</a:t>
            </a:r>
            <a:endParaRPr lang="en-US" sz="3200" dirty="0"/>
          </a:p>
        </p:txBody>
      </p:sp>
      <p:sp>
        <p:nvSpPr>
          <p:cNvPr id="14" name="Shape 11"/>
          <p:cNvSpPr/>
          <p:nvPr/>
        </p:nvSpPr>
        <p:spPr>
          <a:xfrm>
            <a:off x="640080" y="1463040"/>
            <a:ext cx="10972800" cy="1828800"/>
          </a:xfrm>
          <a:prstGeom prst="roundRect">
            <a:avLst>
              <a:gd name="adj" fmla="val 4500"/>
            </a:avLst>
          </a:prstGeom>
          <a:solidFill>
            <a:srgbClr val="FBEFED"/>
          </a:solidFill>
          <a:ln w="12700">
            <a:solidFill>
              <a:srgbClr val="FBEFED"/>
            </a:solidFill>
            <a:prstDash val="solid"/>
          </a:ln>
        </p:spPr>
      </p:sp>
      <p:sp>
        <p:nvSpPr>
          <p:cNvPr id="15" name="Text 12"/>
          <p:cNvSpPr/>
          <p:nvPr/>
        </p:nvSpPr>
        <p:spPr>
          <a:xfrm>
            <a:off x="914400" y="1627632"/>
            <a:ext cx="1828800" cy="320040"/>
          </a:xfrm>
          <a:prstGeom prst="rect">
            <a:avLst/>
          </a:prstGeom>
          <a:noFill/>
          <a:ln/>
        </p:spPr>
        <p:txBody>
          <a:bodyPr wrap="square" lIns="0" tIns="0" rIns="0" bIns="0" rtlCol="0" anchor="ctr"/>
          <a:lstStyle/>
          <a:p>
            <a:pPr indent="0" marL="0">
              <a:buNone/>
            </a:pPr>
            <a:r>
              <a:rPr lang="en-US" sz="1400" b="1" dirty="0">
                <a:solidFill>
                  <a:srgbClr val="B4453A"/>
                </a:solidFill>
                <a:latin typeface="Inter" pitchFamily="34" charset="0"/>
                <a:ea typeface="Inter" pitchFamily="34" charset="-122"/>
                <a:cs typeface="Inter" pitchFamily="34" charset="-120"/>
              </a:rPr>
              <a:t>UNSAFE</a:t>
            </a:r>
            <a:endParaRPr lang="en-US" sz="1400" dirty="0"/>
          </a:p>
        </p:txBody>
      </p:sp>
      <p:sp>
        <p:nvSpPr>
          <p:cNvPr id="16" name="Text 13"/>
          <p:cNvSpPr/>
          <p:nvPr/>
        </p:nvSpPr>
        <p:spPr>
          <a:xfrm>
            <a:off x="914400" y="1965960"/>
            <a:ext cx="10424160" cy="1097280"/>
          </a:xfrm>
          <a:prstGeom prst="rect">
            <a:avLst/>
          </a:prstGeom>
          <a:noFill/>
          <a:ln/>
        </p:spPr>
        <p:txBody>
          <a:bodyPr wrap="square" lIns="0" tIns="0" rIns="0" bIns="0" rtlCol="0" anchor="ctr"/>
          <a:lstStyle/>
          <a:p>
            <a:pPr indent="0" marL="0">
              <a:buNone/>
            </a:pPr>
            <a:r>
              <a:rPr lang="en-US" sz="1900" i="1" dirty="0">
                <a:solidFill>
                  <a:srgbClr val="1B1F24"/>
                </a:solidFill>
                <a:latin typeface="Inter" pitchFamily="34" charset="0"/>
                <a:ea typeface="Inter" pitchFamily="34" charset="-122"/>
                <a:cs typeface="Inter" pitchFamily="34" charset="-120"/>
              </a:rPr>
              <a:t>“Rewrite this passage for Sofia R., who has a reading IEP with a 2nd-grade fluency goal.”</a:t>
            </a:r>
            <a:endParaRPr lang="en-US" sz="1900" dirty="0"/>
          </a:p>
        </p:txBody>
      </p:sp>
      <p:sp>
        <p:nvSpPr>
          <p:cNvPr id="17" name="Shape 14"/>
          <p:cNvSpPr/>
          <p:nvPr/>
        </p:nvSpPr>
        <p:spPr>
          <a:xfrm>
            <a:off x="640080" y="3520440"/>
            <a:ext cx="10972800" cy="1965960"/>
          </a:xfrm>
          <a:prstGeom prst="roundRect">
            <a:avLst>
              <a:gd name="adj" fmla="val 4186"/>
            </a:avLst>
          </a:prstGeom>
          <a:solidFill>
            <a:srgbClr val="EAF5F3"/>
          </a:solidFill>
          <a:ln w="12700">
            <a:solidFill>
              <a:srgbClr val="EAF5F3"/>
            </a:solidFill>
            <a:prstDash val="solid"/>
          </a:ln>
        </p:spPr>
      </p:sp>
      <p:sp>
        <p:nvSpPr>
          <p:cNvPr id="18" name="Text 15"/>
          <p:cNvSpPr/>
          <p:nvPr/>
        </p:nvSpPr>
        <p:spPr>
          <a:xfrm>
            <a:off x="914400" y="3685032"/>
            <a:ext cx="1828800" cy="320040"/>
          </a:xfrm>
          <a:prstGeom prst="rect">
            <a:avLst/>
          </a:prstGeom>
          <a:noFill/>
          <a:ln/>
        </p:spPr>
        <p:txBody>
          <a:bodyPr wrap="square" lIns="0" tIns="0" rIns="0" bIns="0" rtlCol="0" anchor="ctr"/>
          <a:lstStyle/>
          <a:p>
            <a:pPr indent="0" marL="0">
              <a:buNone/>
            </a:pPr>
            <a:r>
              <a:rPr lang="en-US" sz="1400" b="1" dirty="0">
                <a:solidFill>
                  <a:srgbClr val="2E7D5B"/>
                </a:solidFill>
                <a:latin typeface="Inter" pitchFamily="34" charset="0"/>
                <a:ea typeface="Inter" pitchFamily="34" charset="-122"/>
                <a:cs typeface="Inter" pitchFamily="34" charset="-120"/>
              </a:rPr>
              <a:t>SAFE</a:t>
            </a:r>
            <a:endParaRPr lang="en-US" sz="1400" dirty="0"/>
          </a:p>
        </p:txBody>
      </p:sp>
      <p:sp>
        <p:nvSpPr>
          <p:cNvPr id="19" name="Text 16"/>
          <p:cNvSpPr/>
          <p:nvPr/>
        </p:nvSpPr>
        <p:spPr>
          <a:xfrm>
            <a:off x="914400" y="4023360"/>
            <a:ext cx="10424160" cy="1371600"/>
          </a:xfrm>
          <a:prstGeom prst="rect">
            <a:avLst/>
          </a:prstGeom>
          <a:noFill/>
          <a:ln/>
        </p:spPr>
        <p:txBody>
          <a:bodyPr wrap="square" lIns="0" tIns="0" rIns="0" bIns="0" rtlCol="0" anchor="ctr"/>
          <a:lstStyle/>
          <a:p>
            <a:pPr indent="0" marL="0">
              <a:buNone/>
            </a:pPr>
            <a:r>
              <a:rPr lang="en-US" sz="1900" i="1" dirty="0">
                <a:solidFill>
                  <a:srgbClr val="1B1F24"/>
                </a:solidFill>
                <a:latin typeface="Inter" pitchFamily="34" charset="0"/>
                <a:ea typeface="Inter" pitchFamily="34" charset="-122"/>
                <a:cs typeface="Inter" pitchFamily="34" charset="-120"/>
              </a:rPr>
              <a:t>“Rewrite this passage at a 2nd-grade reading level, same key ideas, shorter sentences, and add a five-word picture-supported vocabulary list.”</a:t>
            </a:r>
            <a:endParaRPr lang="en-US" sz="1900" dirty="0"/>
          </a:p>
        </p:txBody>
      </p:sp>
      <p:sp>
        <p:nvSpPr>
          <p:cNvPr id="20" name="Text 17"/>
          <p:cNvSpPr/>
          <p:nvPr/>
        </p:nvSpPr>
        <p:spPr>
          <a:xfrm>
            <a:off x="640080" y="5715000"/>
            <a:ext cx="10972800" cy="411480"/>
          </a:xfrm>
          <a:prstGeom prst="rect">
            <a:avLst/>
          </a:prstGeom>
          <a:noFill/>
          <a:ln/>
        </p:spPr>
        <p:txBody>
          <a:bodyPr wrap="square" lIns="0" tIns="0" rIns="0" bIns="0" rtlCol="0" anchor="ctr"/>
          <a:lstStyle/>
          <a:p>
            <a:pPr algn="ctr" indent="0" marL="0">
              <a:buNone/>
            </a:pPr>
            <a:r>
              <a:rPr lang="en-US" sz="1800" b="1" dirty="0">
                <a:solidFill>
                  <a:srgbClr val="13293D"/>
                </a:solidFill>
                <a:latin typeface="Inter" pitchFamily="34" charset="0"/>
                <a:ea typeface="Inter" pitchFamily="34" charset="-122"/>
                <a:cs typeface="Inter" pitchFamily="34" charset="-120"/>
              </a:rPr>
              <a:t>The AI never needed the diagnosis; it needed the reading level and the format.</a:t>
            </a:r>
            <a:endParaRPr lang="en-US" sz="18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1 · AI Foundations &amp; Safety   |   18</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3 moves, automatic: strip identity, generalize, describe the need.</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TEN SECONDS, THEN IT’S AUTOMATIC</a:t>
            </a:r>
            <a:endParaRPr lang="en-US" sz="1200" dirty="0"/>
          </a:p>
        </p:txBody>
      </p:sp>
      <p:sp>
        <p:nvSpPr>
          <p:cNvPr id="13" name="Text 10"/>
          <p:cNvSpPr/>
          <p:nvPr/>
        </p:nvSpPr>
        <p:spPr>
          <a:xfrm>
            <a:off x="548640" y="457200"/>
            <a:ext cx="7955280" cy="914400"/>
          </a:xfrm>
          <a:prstGeom prst="rect">
            <a:avLst/>
          </a:prstGeom>
          <a:noFill/>
          <a:ln/>
        </p:spPr>
        <p:txBody>
          <a:bodyPr wrap="square" lIns="0" tIns="0" rIns="0" bIns="0" rtlCol="0" anchor="t"/>
          <a:lstStyle/>
          <a:p>
            <a:pPr indent="0" marL="0">
              <a:buNone/>
            </a:pPr>
            <a:r>
              <a:rPr lang="en-US" sz="2800" b="1" dirty="0">
                <a:solidFill>
                  <a:srgbClr val="13293D"/>
                </a:solidFill>
                <a:latin typeface="Inter" pitchFamily="34" charset="0"/>
                <a:ea typeface="Inter" pitchFamily="34" charset="-122"/>
                <a:cs typeface="Inter" pitchFamily="34" charset="-120"/>
              </a:rPr>
              <a:t>De-identify like a pro: the 3 moves</a:t>
            </a:r>
            <a:endParaRPr lang="en-US" sz="2800" dirty="0"/>
          </a:p>
        </p:txBody>
      </p:sp>
      <p:sp>
        <p:nvSpPr>
          <p:cNvPr id="14" name="Shape 11"/>
          <p:cNvSpPr/>
          <p:nvPr/>
        </p:nvSpPr>
        <p:spPr>
          <a:xfrm>
            <a:off x="640080" y="1554480"/>
            <a:ext cx="3520440" cy="3566160"/>
          </a:xfrm>
          <a:prstGeom prst="roundRect">
            <a:avLst>
              <a:gd name="adj" fmla="val 2338"/>
            </a:avLst>
          </a:prstGeom>
          <a:solidFill>
            <a:srgbClr val="F7F5F0"/>
          </a:solidFill>
          <a:ln w="12700">
            <a:solidFill>
              <a:srgbClr val="F7F5F0"/>
            </a:solidFill>
            <a:prstDash val="solid"/>
          </a:ln>
        </p:spPr>
      </p:sp>
      <p:sp>
        <p:nvSpPr>
          <p:cNvPr id="15" name="Shape 12"/>
          <p:cNvSpPr/>
          <p:nvPr/>
        </p:nvSpPr>
        <p:spPr>
          <a:xfrm>
            <a:off x="1938528" y="1828800"/>
            <a:ext cx="914400" cy="914400"/>
          </a:xfrm>
          <a:prstGeom prst="ellipse">
            <a:avLst/>
          </a:prstGeom>
          <a:solidFill>
            <a:srgbClr val="2A9D8F"/>
          </a:solidFill>
          <a:ln w="12700">
            <a:solidFill>
              <a:srgbClr val="2A9D8F"/>
            </a:solidFill>
            <a:prstDash val="solid"/>
          </a:ln>
        </p:spPr>
      </p:sp>
      <p:sp>
        <p:nvSpPr>
          <p:cNvPr id="16" name="Text 13"/>
          <p:cNvSpPr/>
          <p:nvPr/>
        </p:nvSpPr>
        <p:spPr>
          <a:xfrm>
            <a:off x="1938528" y="1828800"/>
            <a:ext cx="914400" cy="914400"/>
          </a:xfrm>
          <a:prstGeom prst="rect">
            <a:avLst/>
          </a:prstGeom>
          <a:noFill/>
          <a:ln/>
        </p:spPr>
        <p:txBody>
          <a:bodyPr wrap="square" lIns="0" tIns="0" rIns="0" bIns="0" rtlCol="0" anchor="ctr"/>
          <a:lstStyle/>
          <a:p>
            <a:pPr algn="ctr" indent="0" marL="0">
              <a:buNone/>
            </a:pPr>
            <a:r>
              <a:rPr lang="en-US" sz="3000" b="1" dirty="0">
                <a:solidFill>
                  <a:srgbClr val="FFFFFF"/>
                </a:solidFill>
                <a:latin typeface="Inter" pitchFamily="34" charset="0"/>
                <a:ea typeface="Inter" pitchFamily="34" charset="-122"/>
                <a:cs typeface="Inter" pitchFamily="34" charset="-120"/>
              </a:rPr>
              <a:t>1</a:t>
            </a:r>
            <a:endParaRPr lang="en-US" sz="3000" dirty="0"/>
          </a:p>
        </p:txBody>
      </p:sp>
      <p:sp>
        <p:nvSpPr>
          <p:cNvPr id="17" name="Text 14"/>
          <p:cNvSpPr/>
          <p:nvPr/>
        </p:nvSpPr>
        <p:spPr>
          <a:xfrm>
            <a:off x="868680" y="2971800"/>
            <a:ext cx="3063240" cy="868680"/>
          </a:xfrm>
          <a:prstGeom prst="rect">
            <a:avLst/>
          </a:prstGeom>
          <a:noFill/>
          <a:ln/>
        </p:spPr>
        <p:txBody>
          <a:bodyPr wrap="square" lIns="0" tIns="0" rIns="0" bIns="0" rtlCol="0" anchor="t"/>
          <a:lstStyle/>
          <a:p>
            <a:pPr algn="ctr" indent="0" marL="0">
              <a:buNone/>
            </a:pPr>
            <a:r>
              <a:rPr lang="en-US" sz="1900" b="1" dirty="0">
                <a:solidFill>
                  <a:srgbClr val="13293D"/>
                </a:solidFill>
                <a:latin typeface="Inter" pitchFamily="34" charset="0"/>
                <a:ea typeface="Inter" pitchFamily="34" charset="-122"/>
                <a:cs typeface="Inter" pitchFamily="34" charset="-120"/>
              </a:rPr>
              <a:t>Strip identity</a:t>
            </a:r>
            <a:endParaRPr lang="en-US" sz="1900" dirty="0"/>
          </a:p>
        </p:txBody>
      </p:sp>
      <p:sp>
        <p:nvSpPr>
          <p:cNvPr id="18" name="Text 15"/>
          <p:cNvSpPr/>
          <p:nvPr/>
        </p:nvSpPr>
        <p:spPr>
          <a:xfrm>
            <a:off x="868680" y="3840480"/>
            <a:ext cx="3063240" cy="1188720"/>
          </a:xfrm>
          <a:prstGeom prst="rect">
            <a:avLst/>
          </a:prstGeom>
          <a:noFill/>
          <a:ln/>
        </p:spPr>
        <p:txBody>
          <a:bodyPr wrap="square" lIns="0" tIns="0" rIns="0" bIns="0" rtlCol="0" anchor="t"/>
          <a:lstStyle/>
          <a:p>
            <a:pPr algn="ctr" indent="0" marL="0">
              <a:buNone/>
            </a:pPr>
            <a:r>
              <a:rPr lang="en-US" sz="1500" dirty="0">
                <a:solidFill>
                  <a:srgbClr val="1B1F24"/>
                </a:solidFill>
                <a:latin typeface="Inter" pitchFamily="34" charset="0"/>
                <a:ea typeface="Inter" pitchFamily="34" charset="-122"/>
                <a:cs typeface="Inter" pitchFamily="34" charset="-120"/>
              </a:rPr>
              <a:t>No names, no initials, no one-of-a-kind details</a:t>
            </a:r>
            <a:endParaRPr lang="en-US" sz="1500" dirty="0"/>
          </a:p>
        </p:txBody>
      </p:sp>
      <p:sp>
        <p:nvSpPr>
          <p:cNvPr id="19" name="Shape 16"/>
          <p:cNvSpPr/>
          <p:nvPr/>
        </p:nvSpPr>
        <p:spPr>
          <a:xfrm>
            <a:off x="4407408" y="1554480"/>
            <a:ext cx="3520440" cy="3566160"/>
          </a:xfrm>
          <a:prstGeom prst="roundRect">
            <a:avLst>
              <a:gd name="adj" fmla="val 2338"/>
            </a:avLst>
          </a:prstGeom>
          <a:solidFill>
            <a:srgbClr val="F7F5F0"/>
          </a:solidFill>
          <a:ln w="12700">
            <a:solidFill>
              <a:srgbClr val="F7F5F0"/>
            </a:solidFill>
            <a:prstDash val="solid"/>
          </a:ln>
        </p:spPr>
      </p:sp>
      <p:sp>
        <p:nvSpPr>
          <p:cNvPr id="20" name="Shape 17"/>
          <p:cNvSpPr/>
          <p:nvPr/>
        </p:nvSpPr>
        <p:spPr>
          <a:xfrm>
            <a:off x="5705856" y="1828800"/>
            <a:ext cx="914400" cy="914400"/>
          </a:xfrm>
          <a:prstGeom prst="ellipse">
            <a:avLst/>
          </a:prstGeom>
          <a:solidFill>
            <a:srgbClr val="2A9D8F"/>
          </a:solidFill>
          <a:ln w="12700">
            <a:solidFill>
              <a:srgbClr val="2A9D8F"/>
            </a:solidFill>
            <a:prstDash val="solid"/>
          </a:ln>
        </p:spPr>
      </p:sp>
      <p:sp>
        <p:nvSpPr>
          <p:cNvPr id="21" name="Text 18"/>
          <p:cNvSpPr/>
          <p:nvPr/>
        </p:nvSpPr>
        <p:spPr>
          <a:xfrm>
            <a:off x="5705856" y="1828800"/>
            <a:ext cx="914400" cy="914400"/>
          </a:xfrm>
          <a:prstGeom prst="rect">
            <a:avLst/>
          </a:prstGeom>
          <a:noFill/>
          <a:ln/>
        </p:spPr>
        <p:txBody>
          <a:bodyPr wrap="square" lIns="0" tIns="0" rIns="0" bIns="0" rtlCol="0" anchor="ctr"/>
          <a:lstStyle/>
          <a:p>
            <a:pPr algn="ctr" indent="0" marL="0">
              <a:buNone/>
            </a:pPr>
            <a:r>
              <a:rPr lang="en-US" sz="3000" b="1" dirty="0">
                <a:solidFill>
                  <a:srgbClr val="FFFFFF"/>
                </a:solidFill>
                <a:latin typeface="Inter" pitchFamily="34" charset="0"/>
                <a:ea typeface="Inter" pitchFamily="34" charset="-122"/>
                <a:cs typeface="Inter" pitchFamily="34" charset="-120"/>
              </a:rPr>
              <a:t>2</a:t>
            </a:r>
            <a:endParaRPr lang="en-US" sz="3000" dirty="0"/>
          </a:p>
        </p:txBody>
      </p:sp>
      <p:sp>
        <p:nvSpPr>
          <p:cNvPr id="22" name="Text 19"/>
          <p:cNvSpPr/>
          <p:nvPr/>
        </p:nvSpPr>
        <p:spPr>
          <a:xfrm>
            <a:off x="4636008" y="2971800"/>
            <a:ext cx="3063240" cy="868680"/>
          </a:xfrm>
          <a:prstGeom prst="rect">
            <a:avLst/>
          </a:prstGeom>
          <a:noFill/>
          <a:ln/>
        </p:spPr>
        <p:txBody>
          <a:bodyPr wrap="square" lIns="0" tIns="0" rIns="0" bIns="0" rtlCol="0" anchor="t"/>
          <a:lstStyle/>
          <a:p>
            <a:pPr algn="ctr" indent="0" marL="0">
              <a:buNone/>
            </a:pPr>
            <a:r>
              <a:rPr lang="en-US" sz="1900" b="1" dirty="0">
                <a:solidFill>
                  <a:srgbClr val="13293D"/>
                </a:solidFill>
                <a:latin typeface="Inter" pitchFamily="34" charset="0"/>
                <a:ea typeface="Inter" pitchFamily="34" charset="-122"/>
                <a:cs typeface="Inter" pitchFamily="34" charset="-120"/>
              </a:rPr>
              <a:t>Generalize</a:t>
            </a:r>
            <a:endParaRPr lang="en-US" sz="1900" dirty="0"/>
          </a:p>
        </p:txBody>
      </p:sp>
      <p:sp>
        <p:nvSpPr>
          <p:cNvPr id="23" name="Text 20"/>
          <p:cNvSpPr/>
          <p:nvPr/>
        </p:nvSpPr>
        <p:spPr>
          <a:xfrm>
            <a:off x="4636008" y="3840480"/>
            <a:ext cx="3063240" cy="1188720"/>
          </a:xfrm>
          <a:prstGeom prst="rect">
            <a:avLst/>
          </a:prstGeom>
          <a:noFill/>
          <a:ln/>
        </p:spPr>
        <p:txBody>
          <a:bodyPr wrap="square" lIns="0" tIns="0" rIns="0" bIns="0" rtlCol="0" anchor="t"/>
          <a:lstStyle/>
          <a:p>
            <a:pPr algn="ctr" indent="0" marL="0">
              <a:buNone/>
            </a:pPr>
            <a:r>
              <a:rPr lang="en-US" sz="1500" dirty="0">
                <a:solidFill>
                  <a:srgbClr val="1B1F24"/>
                </a:solidFill>
                <a:latin typeface="Inter" pitchFamily="34" charset="0"/>
                <a:ea typeface="Inter" pitchFamily="34" charset="-122"/>
                <a:cs typeface="Inter" pitchFamily="34" charset="-120"/>
              </a:rPr>
              <a:t>“A 7th grader” · “several students” · “a parent”</a:t>
            </a:r>
            <a:endParaRPr lang="en-US" sz="1500" dirty="0"/>
          </a:p>
        </p:txBody>
      </p:sp>
      <p:sp>
        <p:nvSpPr>
          <p:cNvPr id="24" name="Shape 21"/>
          <p:cNvSpPr/>
          <p:nvPr/>
        </p:nvSpPr>
        <p:spPr>
          <a:xfrm>
            <a:off x="8174736" y="1554480"/>
            <a:ext cx="3520440" cy="3566160"/>
          </a:xfrm>
          <a:prstGeom prst="roundRect">
            <a:avLst>
              <a:gd name="adj" fmla="val 2338"/>
            </a:avLst>
          </a:prstGeom>
          <a:solidFill>
            <a:srgbClr val="F7F5F0"/>
          </a:solidFill>
          <a:ln w="12700">
            <a:solidFill>
              <a:srgbClr val="F7F5F0"/>
            </a:solidFill>
            <a:prstDash val="solid"/>
          </a:ln>
        </p:spPr>
      </p:sp>
      <p:sp>
        <p:nvSpPr>
          <p:cNvPr id="25" name="Shape 22"/>
          <p:cNvSpPr/>
          <p:nvPr/>
        </p:nvSpPr>
        <p:spPr>
          <a:xfrm>
            <a:off x="9473184" y="1828800"/>
            <a:ext cx="914400" cy="914400"/>
          </a:xfrm>
          <a:prstGeom prst="ellipse">
            <a:avLst/>
          </a:prstGeom>
          <a:solidFill>
            <a:srgbClr val="2A9D8F"/>
          </a:solidFill>
          <a:ln w="12700">
            <a:solidFill>
              <a:srgbClr val="2A9D8F"/>
            </a:solidFill>
            <a:prstDash val="solid"/>
          </a:ln>
        </p:spPr>
      </p:sp>
      <p:sp>
        <p:nvSpPr>
          <p:cNvPr id="26" name="Text 23"/>
          <p:cNvSpPr/>
          <p:nvPr/>
        </p:nvSpPr>
        <p:spPr>
          <a:xfrm>
            <a:off x="9473184" y="1828800"/>
            <a:ext cx="914400" cy="914400"/>
          </a:xfrm>
          <a:prstGeom prst="rect">
            <a:avLst/>
          </a:prstGeom>
          <a:noFill/>
          <a:ln/>
        </p:spPr>
        <p:txBody>
          <a:bodyPr wrap="square" lIns="0" tIns="0" rIns="0" bIns="0" rtlCol="0" anchor="ctr"/>
          <a:lstStyle/>
          <a:p>
            <a:pPr algn="ctr" indent="0" marL="0">
              <a:buNone/>
            </a:pPr>
            <a:r>
              <a:rPr lang="en-US" sz="3000" b="1" dirty="0">
                <a:solidFill>
                  <a:srgbClr val="FFFFFF"/>
                </a:solidFill>
                <a:latin typeface="Inter" pitchFamily="34" charset="0"/>
                <a:ea typeface="Inter" pitchFamily="34" charset="-122"/>
                <a:cs typeface="Inter" pitchFamily="34" charset="-120"/>
              </a:rPr>
              <a:t>3</a:t>
            </a:r>
            <a:endParaRPr lang="en-US" sz="3000" dirty="0"/>
          </a:p>
        </p:txBody>
      </p:sp>
      <p:sp>
        <p:nvSpPr>
          <p:cNvPr id="27" name="Text 24"/>
          <p:cNvSpPr/>
          <p:nvPr/>
        </p:nvSpPr>
        <p:spPr>
          <a:xfrm>
            <a:off x="8403336" y="2971800"/>
            <a:ext cx="3063240" cy="868680"/>
          </a:xfrm>
          <a:prstGeom prst="rect">
            <a:avLst/>
          </a:prstGeom>
          <a:noFill/>
          <a:ln/>
        </p:spPr>
        <p:txBody>
          <a:bodyPr wrap="square" lIns="0" tIns="0" rIns="0" bIns="0" rtlCol="0" anchor="t"/>
          <a:lstStyle/>
          <a:p>
            <a:pPr algn="ctr" indent="0" marL="0">
              <a:buNone/>
            </a:pPr>
            <a:r>
              <a:rPr lang="en-US" sz="1900" b="1" dirty="0">
                <a:solidFill>
                  <a:srgbClr val="13293D"/>
                </a:solidFill>
                <a:latin typeface="Inter" pitchFamily="34" charset="0"/>
                <a:ea typeface="Inter" pitchFamily="34" charset="-122"/>
                <a:cs typeface="Inter" pitchFamily="34" charset="-120"/>
              </a:rPr>
              <a:t>Describe the need, not the child</a:t>
            </a:r>
            <a:endParaRPr lang="en-US" sz="1900" dirty="0"/>
          </a:p>
        </p:txBody>
      </p:sp>
      <p:sp>
        <p:nvSpPr>
          <p:cNvPr id="28" name="Text 25"/>
          <p:cNvSpPr/>
          <p:nvPr/>
        </p:nvSpPr>
        <p:spPr>
          <a:xfrm>
            <a:off x="8403336" y="3840480"/>
            <a:ext cx="3063240" cy="1188720"/>
          </a:xfrm>
          <a:prstGeom prst="rect">
            <a:avLst/>
          </a:prstGeom>
          <a:noFill/>
          <a:ln/>
        </p:spPr>
        <p:txBody>
          <a:bodyPr wrap="square" lIns="0" tIns="0" rIns="0" bIns="0" rtlCol="0" anchor="t"/>
          <a:lstStyle/>
          <a:p>
            <a:pPr algn="ctr" indent="0" marL="0">
              <a:buNone/>
            </a:pPr>
            <a:r>
              <a:rPr lang="en-US" sz="1500" dirty="0">
                <a:solidFill>
                  <a:srgbClr val="1B1F24"/>
                </a:solidFill>
                <a:latin typeface="Inter" pitchFamily="34" charset="0"/>
                <a:ea typeface="Inter" pitchFamily="34" charset="-122"/>
                <a:cs typeface="Inter" pitchFamily="34" charset="-120"/>
              </a:rPr>
              <a:t>Reading level, behavior pattern, scaffold you want</a:t>
            </a:r>
            <a:endParaRPr lang="en-US" sz="1500" dirty="0"/>
          </a:p>
        </p:txBody>
      </p:sp>
      <p:sp>
        <p:nvSpPr>
          <p:cNvPr id="29" name="Text 26"/>
          <p:cNvSpPr/>
          <p:nvPr/>
        </p:nvSpPr>
        <p:spPr>
          <a:xfrm>
            <a:off x="640080" y="5486400"/>
            <a:ext cx="10972800" cy="457200"/>
          </a:xfrm>
          <a:prstGeom prst="rect">
            <a:avLst/>
          </a:prstGeom>
          <a:noFill/>
          <a:ln/>
        </p:spPr>
        <p:txBody>
          <a:bodyPr wrap="square" lIns="0" tIns="0" rIns="0" bIns="0" rtlCol="0" anchor="ctr"/>
          <a:lstStyle/>
          <a:p>
            <a:pPr algn="ctr" indent="0" marL="0">
              <a:buNone/>
            </a:pPr>
            <a:r>
              <a:rPr lang="en-US" sz="1900" i="1" dirty="0">
                <a:solidFill>
                  <a:srgbClr val="5B6B7A"/>
                </a:solidFill>
                <a:latin typeface="Inter" pitchFamily="34" charset="0"/>
                <a:ea typeface="Inter" pitchFamily="34" charset="-122"/>
                <a:cs typeface="Inter" pitchFamily="34" charset="-120"/>
              </a:rPr>
              <a:t>Every school prompt you ever write passes through these three moves.</a:t>
            </a:r>
            <a:endParaRPr lang="en-US" sz="1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1 · AI Foundations &amp; Safety   |   19</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eye: initials + context still identify. Rare details identify too.</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CALL IT OUT: SAFE OR UNSAFE?</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You try: spot the problem</a:t>
            </a:r>
            <a:endParaRPr lang="en-US" sz="3200" dirty="0"/>
          </a:p>
        </p:txBody>
      </p:sp>
      <p:sp>
        <p:nvSpPr>
          <p:cNvPr id="14" name="Shape 11"/>
          <p:cNvSpPr/>
          <p:nvPr/>
        </p:nvSpPr>
        <p:spPr>
          <a:xfrm>
            <a:off x="640080" y="1417320"/>
            <a:ext cx="685800" cy="868680"/>
          </a:xfrm>
          <a:prstGeom prst="roundRect">
            <a:avLst>
              <a:gd name="adj" fmla="val 10667"/>
            </a:avLst>
          </a:prstGeom>
          <a:solidFill>
            <a:srgbClr val="13293D"/>
          </a:solidFill>
          <a:ln w="12700">
            <a:solidFill>
              <a:srgbClr val="13293D"/>
            </a:solidFill>
            <a:prstDash val="solid"/>
          </a:ln>
        </p:spPr>
      </p:sp>
      <p:sp>
        <p:nvSpPr>
          <p:cNvPr id="15" name="Text 12"/>
          <p:cNvSpPr/>
          <p:nvPr/>
        </p:nvSpPr>
        <p:spPr>
          <a:xfrm>
            <a:off x="640080" y="1417320"/>
            <a:ext cx="685800" cy="868680"/>
          </a:xfrm>
          <a:prstGeom prst="rect">
            <a:avLst/>
          </a:prstGeom>
          <a:noFill/>
          <a:ln/>
        </p:spPr>
        <p:txBody>
          <a:bodyPr wrap="square" lIns="0" tIns="0" rIns="0" bIns="0" rtlCol="0" anchor="ctr"/>
          <a:lstStyle/>
          <a:p>
            <a:pPr algn="ctr" indent="0" marL="0">
              <a:buNone/>
            </a:pPr>
            <a:r>
              <a:rPr lang="en-US" sz="2600" b="1" dirty="0">
                <a:solidFill>
                  <a:srgbClr val="FFFFFF"/>
                </a:solidFill>
                <a:latin typeface="Inter" pitchFamily="34" charset="0"/>
                <a:ea typeface="Inter" pitchFamily="34" charset="-122"/>
                <a:cs typeface="Inter" pitchFamily="34" charset="-120"/>
              </a:rPr>
              <a:t>A</a:t>
            </a:r>
            <a:endParaRPr lang="en-US" sz="2600" dirty="0"/>
          </a:p>
        </p:txBody>
      </p:sp>
      <p:sp>
        <p:nvSpPr>
          <p:cNvPr id="16" name="Shape 13"/>
          <p:cNvSpPr/>
          <p:nvPr/>
        </p:nvSpPr>
        <p:spPr>
          <a:xfrm>
            <a:off x="1463040" y="1417320"/>
            <a:ext cx="10149840" cy="868680"/>
          </a:xfrm>
          <a:prstGeom prst="roundRect">
            <a:avLst>
              <a:gd name="adj" fmla="val 9474"/>
            </a:avLst>
          </a:prstGeom>
          <a:solidFill>
            <a:srgbClr val="F7F5F0"/>
          </a:solidFill>
          <a:ln w="12700">
            <a:solidFill>
              <a:srgbClr val="F7F5F0"/>
            </a:solidFill>
            <a:prstDash val="solid"/>
          </a:ln>
        </p:spPr>
      </p:sp>
      <p:sp>
        <p:nvSpPr>
          <p:cNvPr id="17" name="Text 14"/>
          <p:cNvSpPr/>
          <p:nvPr/>
        </p:nvSpPr>
        <p:spPr>
          <a:xfrm>
            <a:off x="1737360" y="1472184"/>
            <a:ext cx="9601200" cy="777240"/>
          </a:xfrm>
          <a:prstGeom prst="rect">
            <a:avLst/>
          </a:prstGeom>
          <a:noFill/>
          <a:ln/>
        </p:spPr>
        <p:txBody>
          <a:bodyPr wrap="square" lIns="0" tIns="0" rIns="0" bIns="0" rtlCol="0" anchor="ctr"/>
          <a:lstStyle/>
          <a:p>
            <a:pPr indent="0" marL="0">
              <a:buNone/>
            </a:pPr>
            <a:r>
              <a:rPr lang="en-US" sz="1800" i="1" dirty="0">
                <a:solidFill>
                  <a:srgbClr val="1B1F24"/>
                </a:solidFill>
                <a:latin typeface="Inter" pitchFamily="34" charset="0"/>
                <a:ea typeface="Inter" pitchFamily="34" charset="-122"/>
                <a:cs typeface="Inter" pitchFamily="34" charset="-120"/>
              </a:rPr>
              <a:t>“Write a note home about D.T.’s IEP accommodations for the field trip.”</a:t>
            </a:r>
            <a:endParaRPr lang="en-US" sz="1800" dirty="0"/>
          </a:p>
        </p:txBody>
      </p:sp>
      <p:sp>
        <p:nvSpPr>
          <p:cNvPr id="18" name="Shape 15"/>
          <p:cNvSpPr/>
          <p:nvPr/>
        </p:nvSpPr>
        <p:spPr>
          <a:xfrm>
            <a:off x="640080" y="2496312"/>
            <a:ext cx="685800" cy="868680"/>
          </a:xfrm>
          <a:prstGeom prst="roundRect">
            <a:avLst>
              <a:gd name="adj" fmla="val 10667"/>
            </a:avLst>
          </a:prstGeom>
          <a:solidFill>
            <a:srgbClr val="13293D"/>
          </a:solidFill>
          <a:ln w="12700">
            <a:solidFill>
              <a:srgbClr val="13293D"/>
            </a:solidFill>
            <a:prstDash val="solid"/>
          </a:ln>
        </p:spPr>
      </p:sp>
      <p:sp>
        <p:nvSpPr>
          <p:cNvPr id="19" name="Text 16"/>
          <p:cNvSpPr/>
          <p:nvPr/>
        </p:nvSpPr>
        <p:spPr>
          <a:xfrm>
            <a:off x="640080" y="2496312"/>
            <a:ext cx="685800" cy="868680"/>
          </a:xfrm>
          <a:prstGeom prst="rect">
            <a:avLst/>
          </a:prstGeom>
          <a:noFill/>
          <a:ln/>
        </p:spPr>
        <p:txBody>
          <a:bodyPr wrap="square" lIns="0" tIns="0" rIns="0" bIns="0" rtlCol="0" anchor="ctr"/>
          <a:lstStyle/>
          <a:p>
            <a:pPr algn="ctr" indent="0" marL="0">
              <a:buNone/>
            </a:pPr>
            <a:r>
              <a:rPr lang="en-US" sz="2600" b="1" dirty="0">
                <a:solidFill>
                  <a:srgbClr val="FFFFFF"/>
                </a:solidFill>
                <a:latin typeface="Inter" pitchFamily="34" charset="0"/>
                <a:ea typeface="Inter" pitchFamily="34" charset="-122"/>
                <a:cs typeface="Inter" pitchFamily="34" charset="-120"/>
              </a:rPr>
              <a:t>B</a:t>
            </a:r>
            <a:endParaRPr lang="en-US" sz="2600" dirty="0"/>
          </a:p>
        </p:txBody>
      </p:sp>
      <p:sp>
        <p:nvSpPr>
          <p:cNvPr id="20" name="Shape 17"/>
          <p:cNvSpPr/>
          <p:nvPr/>
        </p:nvSpPr>
        <p:spPr>
          <a:xfrm>
            <a:off x="1463040" y="2496312"/>
            <a:ext cx="10149840" cy="868680"/>
          </a:xfrm>
          <a:prstGeom prst="roundRect">
            <a:avLst>
              <a:gd name="adj" fmla="val 9474"/>
            </a:avLst>
          </a:prstGeom>
          <a:solidFill>
            <a:srgbClr val="F7F5F0"/>
          </a:solidFill>
          <a:ln w="12700">
            <a:solidFill>
              <a:srgbClr val="F7F5F0"/>
            </a:solidFill>
            <a:prstDash val="solid"/>
          </a:ln>
        </p:spPr>
      </p:sp>
      <p:sp>
        <p:nvSpPr>
          <p:cNvPr id="21" name="Text 18"/>
          <p:cNvSpPr/>
          <p:nvPr/>
        </p:nvSpPr>
        <p:spPr>
          <a:xfrm>
            <a:off x="1737360" y="2551176"/>
            <a:ext cx="9601200" cy="777240"/>
          </a:xfrm>
          <a:prstGeom prst="rect">
            <a:avLst/>
          </a:prstGeom>
          <a:noFill/>
          <a:ln/>
        </p:spPr>
        <p:txBody>
          <a:bodyPr wrap="square" lIns="0" tIns="0" rIns="0" bIns="0" rtlCol="0" anchor="ctr"/>
          <a:lstStyle/>
          <a:p>
            <a:pPr indent="0" marL="0">
              <a:buNone/>
            </a:pPr>
            <a:r>
              <a:rPr lang="en-US" sz="1800" i="1" dirty="0">
                <a:solidFill>
                  <a:srgbClr val="1B1F24"/>
                </a:solidFill>
                <a:latin typeface="Inter" pitchFamily="34" charset="0"/>
                <a:ea typeface="Inter" pitchFamily="34" charset="-122"/>
                <a:cs typeface="Inter" pitchFamily="34" charset="-120"/>
              </a:rPr>
              <a:t>“Create a behavior-reflection sheet for elementary students, friendly tone.”</a:t>
            </a:r>
            <a:endParaRPr lang="en-US" sz="1800" dirty="0"/>
          </a:p>
        </p:txBody>
      </p:sp>
      <p:sp>
        <p:nvSpPr>
          <p:cNvPr id="22" name="Shape 19"/>
          <p:cNvSpPr/>
          <p:nvPr/>
        </p:nvSpPr>
        <p:spPr>
          <a:xfrm>
            <a:off x="640080" y="3575304"/>
            <a:ext cx="685800" cy="868680"/>
          </a:xfrm>
          <a:prstGeom prst="roundRect">
            <a:avLst>
              <a:gd name="adj" fmla="val 10667"/>
            </a:avLst>
          </a:prstGeom>
          <a:solidFill>
            <a:srgbClr val="13293D"/>
          </a:solidFill>
          <a:ln w="12700">
            <a:solidFill>
              <a:srgbClr val="13293D"/>
            </a:solidFill>
            <a:prstDash val="solid"/>
          </a:ln>
        </p:spPr>
      </p:sp>
      <p:sp>
        <p:nvSpPr>
          <p:cNvPr id="23" name="Text 20"/>
          <p:cNvSpPr/>
          <p:nvPr/>
        </p:nvSpPr>
        <p:spPr>
          <a:xfrm>
            <a:off x="640080" y="3575304"/>
            <a:ext cx="685800" cy="868680"/>
          </a:xfrm>
          <a:prstGeom prst="rect">
            <a:avLst/>
          </a:prstGeom>
          <a:noFill/>
          <a:ln/>
        </p:spPr>
        <p:txBody>
          <a:bodyPr wrap="square" lIns="0" tIns="0" rIns="0" bIns="0" rtlCol="0" anchor="ctr"/>
          <a:lstStyle/>
          <a:p>
            <a:pPr algn="ctr" indent="0" marL="0">
              <a:buNone/>
            </a:pPr>
            <a:r>
              <a:rPr lang="en-US" sz="2600" b="1" dirty="0">
                <a:solidFill>
                  <a:srgbClr val="FFFFFF"/>
                </a:solidFill>
                <a:latin typeface="Inter" pitchFamily="34" charset="0"/>
                <a:ea typeface="Inter" pitchFamily="34" charset="-122"/>
                <a:cs typeface="Inter" pitchFamily="34" charset="-120"/>
              </a:rPr>
              <a:t>C</a:t>
            </a:r>
            <a:endParaRPr lang="en-US" sz="2600" dirty="0"/>
          </a:p>
        </p:txBody>
      </p:sp>
      <p:sp>
        <p:nvSpPr>
          <p:cNvPr id="24" name="Shape 21"/>
          <p:cNvSpPr/>
          <p:nvPr/>
        </p:nvSpPr>
        <p:spPr>
          <a:xfrm>
            <a:off x="1463040" y="3575304"/>
            <a:ext cx="10149840" cy="868680"/>
          </a:xfrm>
          <a:prstGeom prst="roundRect">
            <a:avLst>
              <a:gd name="adj" fmla="val 9474"/>
            </a:avLst>
          </a:prstGeom>
          <a:solidFill>
            <a:srgbClr val="F7F5F0"/>
          </a:solidFill>
          <a:ln w="12700">
            <a:solidFill>
              <a:srgbClr val="F7F5F0"/>
            </a:solidFill>
            <a:prstDash val="solid"/>
          </a:ln>
        </p:spPr>
      </p:sp>
      <p:sp>
        <p:nvSpPr>
          <p:cNvPr id="25" name="Text 22"/>
          <p:cNvSpPr/>
          <p:nvPr/>
        </p:nvSpPr>
        <p:spPr>
          <a:xfrm>
            <a:off x="1737360" y="3630168"/>
            <a:ext cx="9601200" cy="777240"/>
          </a:xfrm>
          <a:prstGeom prst="rect">
            <a:avLst/>
          </a:prstGeom>
          <a:noFill/>
          <a:ln/>
        </p:spPr>
        <p:txBody>
          <a:bodyPr wrap="square" lIns="0" tIns="0" rIns="0" bIns="0" rtlCol="0" anchor="ctr"/>
          <a:lstStyle/>
          <a:p>
            <a:pPr indent="0" marL="0">
              <a:buNone/>
            </a:pPr>
            <a:r>
              <a:rPr lang="en-US" sz="1800" i="1" dirty="0">
                <a:solidFill>
                  <a:srgbClr val="1B1F24"/>
                </a:solidFill>
                <a:latin typeface="Inter" pitchFamily="34" charset="0"/>
                <a:ea typeface="Inter" pitchFamily="34" charset="-122"/>
                <a:cs typeface="Inter" pitchFamily="34" charset="-120"/>
              </a:rPr>
              <a:t>“Help me write a welcome plan for the student who just moved here from Ukraine.”</a:t>
            </a:r>
            <a:endParaRPr lang="en-US" sz="1800" dirty="0"/>
          </a:p>
        </p:txBody>
      </p:sp>
      <p:sp>
        <p:nvSpPr>
          <p:cNvPr id="26" name="Shape 23"/>
          <p:cNvSpPr/>
          <p:nvPr/>
        </p:nvSpPr>
        <p:spPr>
          <a:xfrm>
            <a:off x="640080" y="4654296"/>
            <a:ext cx="685800" cy="868680"/>
          </a:xfrm>
          <a:prstGeom prst="roundRect">
            <a:avLst>
              <a:gd name="adj" fmla="val 10667"/>
            </a:avLst>
          </a:prstGeom>
          <a:solidFill>
            <a:srgbClr val="13293D"/>
          </a:solidFill>
          <a:ln w="12700">
            <a:solidFill>
              <a:srgbClr val="13293D"/>
            </a:solidFill>
            <a:prstDash val="solid"/>
          </a:ln>
        </p:spPr>
      </p:sp>
      <p:sp>
        <p:nvSpPr>
          <p:cNvPr id="27" name="Text 24"/>
          <p:cNvSpPr/>
          <p:nvPr/>
        </p:nvSpPr>
        <p:spPr>
          <a:xfrm>
            <a:off x="640080" y="4654296"/>
            <a:ext cx="685800" cy="868680"/>
          </a:xfrm>
          <a:prstGeom prst="rect">
            <a:avLst/>
          </a:prstGeom>
          <a:noFill/>
          <a:ln/>
        </p:spPr>
        <p:txBody>
          <a:bodyPr wrap="square" lIns="0" tIns="0" rIns="0" bIns="0" rtlCol="0" anchor="ctr"/>
          <a:lstStyle/>
          <a:p>
            <a:pPr algn="ctr" indent="0" marL="0">
              <a:buNone/>
            </a:pPr>
            <a:r>
              <a:rPr lang="en-US" sz="2600" b="1" dirty="0">
                <a:solidFill>
                  <a:srgbClr val="FFFFFF"/>
                </a:solidFill>
                <a:latin typeface="Inter" pitchFamily="34" charset="0"/>
                <a:ea typeface="Inter" pitchFamily="34" charset="-122"/>
                <a:cs typeface="Inter" pitchFamily="34" charset="-120"/>
              </a:rPr>
              <a:t>D</a:t>
            </a:r>
            <a:endParaRPr lang="en-US" sz="2600" dirty="0"/>
          </a:p>
        </p:txBody>
      </p:sp>
      <p:sp>
        <p:nvSpPr>
          <p:cNvPr id="28" name="Shape 25"/>
          <p:cNvSpPr/>
          <p:nvPr/>
        </p:nvSpPr>
        <p:spPr>
          <a:xfrm>
            <a:off x="1463040" y="4654296"/>
            <a:ext cx="10149840" cy="868680"/>
          </a:xfrm>
          <a:prstGeom prst="roundRect">
            <a:avLst>
              <a:gd name="adj" fmla="val 9474"/>
            </a:avLst>
          </a:prstGeom>
          <a:solidFill>
            <a:srgbClr val="F7F5F0"/>
          </a:solidFill>
          <a:ln w="12700">
            <a:solidFill>
              <a:srgbClr val="F7F5F0"/>
            </a:solidFill>
            <a:prstDash val="solid"/>
          </a:ln>
        </p:spPr>
      </p:sp>
      <p:sp>
        <p:nvSpPr>
          <p:cNvPr id="29" name="Text 26"/>
          <p:cNvSpPr/>
          <p:nvPr/>
        </p:nvSpPr>
        <p:spPr>
          <a:xfrm>
            <a:off x="1737360" y="4709160"/>
            <a:ext cx="9601200" cy="777240"/>
          </a:xfrm>
          <a:prstGeom prst="rect">
            <a:avLst/>
          </a:prstGeom>
          <a:noFill/>
          <a:ln/>
        </p:spPr>
        <p:txBody>
          <a:bodyPr wrap="square" lIns="0" tIns="0" rIns="0" bIns="0" rtlCol="0" anchor="ctr"/>
          <a:lstStyle/>
          <a:p>
            <a:pPr indent="0" marL="0">
              <a:buNone/>
            </a:pPr>
            <a:r>
              <a:rPr lang="en-US" sz="1800" i="1" dirty="0">
                <a:solidFill>
                  <a:srgbClr val="1B1F24"/>
                </a:solidFill>
                <a:latin typeface="Inter" pitchFamily="34" charset="0"/>
                <a:ea typeface="Inter" pitchFamily="34" charset="-122"/>
                <a:cs typeface="Inter" pitchFamily="34" charset="-120"/>
              </a:rPr>
              <a:t>“Summarize strategies for a class where a third of students read below grade level.”</a:t>
            </a:r>
            <a:endParaRPr lang="en-US" sz="1800" dirty="0"/>
          </a:p>
        </p:txBody>
      </p:sp>
      <p:sp>
        <p:nvSpPr>
          <p:cNvPr id="30" name="Text 27"/>
          <p:cNvSpPr/>
          <p:nvPr/>
        </p:nvSpPr>
        <p:spPr>
          <a:xfrm>
            <a:off x="640080" y="5806440"/>
            <a:ext cx="10972800" cy="365760"/>
          </a:xfrm>
          <a:prstGeom prst="rect">
            <a:avLst/>
          </a:prstGeom>
          <a:noFill/>
          <a:ln/>
        </p:spPr>
        <p:txBody>
          <a:bodyPr wrap="square" lIns="0" tIns="0" rIns="0" bIns="0" rtlCol="0" anchor="ctr"/>
          <a:lstStyle/>
          <a:p>
            <a:pPr algn="ctr" indent="0" marL="0">
              <a:buNone/>
            </a:pPr>
            <a:r>
              <a:rPr lang="en-US" sz="1350" i="1" dirty="0">
                <a:solidFill>
                  <a:srgbClr val="5B6B7A"/>
                </a:solidFill>
                <a:latin typeface="Inter" pitchFamily="34" charset="0"/>
                <a:ea typeface="Inter" pitchFamily="34" charset="-122"/>
                <a:cs typeface="Inter" pitchFamily="34" charset="-120"/>
              </a:rPr>
              <a:t>Answers: A unsafe (initials + IEP details) · B safe · C unsafe (identifiable without a name) · D safe (aggregate, no identities)</a:t>
            </a:r>
            <a:endParaRPr lang="en-US" sz="13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13293D"/>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FFFFFF"/>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9FB2C2"/>
                </a:solidFill>
                <a:latin typeface="Inter" pitchFamily="34" charset="0"/>
                <a:ea typeface="Inter" pitchFamily="34" charset="-122"/>
                <a:cs typeface="Inter" pitchFamily="34" charset="-120"/>
              </a:rPr>
              <a:t>Kit 1 · AI Foundations &amp; Safety   |   20</a:t>
            </a:r>
            <a:endParaRPr lang="en-US" sz="900" dirty="0"/>
          </a:p>
        </p:txBody>
      </p:sp>
      <p:sp>
        <p:nvSpPr>
          <p:cNvPr id="5" name="Shape 2"/>
          <p:cNvSpPr/>
          <p:nvPr/>
        </p:nvSpPr>
        <p:spPr>
          <a:xfrm>
            <a:off x="8732520" y="109728"/>
            <a:ext cx="2926080" cy="896112"/>
          </a:xfrm>
          <a:prstGeom prst="roundRect">
            <a:avLst>
              <a:gd name="adj" fmla="val 7143"/>
            </a:avLst>
          </a:prstGeom>
          <a:solidFill>
            <a:srgbClr val="1E3A50"/>
          </a:solidFill>
          <a:ln w="12700">
            <a:solidFill>
              <a:srgbClr val="2A4A63"/>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C9D4DE"/>
                </a:solidFill>
                <a:latin typeface="Inter" pitchFamily="34" charset="0"/>
                <a:ea typeface="Inter" pitchFamily="34" charset="-122"/>
                <a:cs typeface="Inter" pitchFamily="34" charset="-120"/>
              </a:rPr>
              <a:t>Her lab artifact: the slide-16 parent email, run safely end to end.</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F4A825"/>
                </a:solidFill>
                <a:latin typeface="Inter" pitchFamily="34" charset="0"/>
                <a:ea typeface="Inter" pitchFamily="34" charset="-122"/>
                <a:cs typeface="Inter" pitchFamily="34" charset="-120"/>
              </a:rPr>
              <a:t>HANDS-ON · 15 MINUTES</a:t>
            </a:r>
            <a:endParaRPr lang="en-US" sz="1200" dirty="0"/>
          </a:p>
        </p:txBody>
      </p:sp>
      <p:sp>
        <p:nvSpPr>
          <p:cNvPr id="13" name="Text 10"/>
          <p:cNvSpPr/>
          <p:nvPr/>
        </p:nvSpPr>
        <p:spPr>
          <a:xfrm>
            <a:off x="640080" y="1371600"/>
            <a:ext cx="10972800" cy="914400"/>
          </a:xfrm>
          <a:prstGeom prst="rect">
            <a:avLst/>
          </a:prstGeom>
          <a:noFill/>
          <a:ln/>
        </p:spPr>
        <p:txBody>
          <a:bodyPr wrap="square" lIns="0" tIns="0" rIns="0" bIns="0" rtlCol="0" anchor="ctr"/>
          <a:lstStyle/>
          <a:p>
            <a:pPr indent="0" marL="0">
              <a:buNone/>
            </a:pPr>
            <a:r>
              <a:rPr lang="en-US" sz="4400" b="1" dirty="0">
                <a:solidFill>
                  <a:srgbClr val="FFFFFF"/>
                </a:solidFill>
                <a:latin typeface="Inter" pitchFamily="34" charset="0"/>
                <a:ea typeface="Inter" pitchFamily="34" charset="-122"/>
                <a:cs typeface="Inter" pitchFamily="34" charset="-120"/>
              </a:rPr>
              <a:t>Lab time. Devices out.</a:t>
            </a:r>
            <a:endParaRPr lang="en-US" sz="4400" dirty="0"/>
          </a:p>
        </p:txBody>
      </p:sp>
      <p:sp>
        <p:nvSpPr>
          <p:cNvPr id="14" name="Text 11"/>
          <p:cNvSpPr/>
          <p:nvPr/>
        </p:nvSpPr>
        <p:spPr>
          <a:xfrm>
            <a:off x="640080" y="2331720"/>
            <a:ext cx="10972800" cy="457200"/>
          </a:xfrm>
          <a:prstGeom prst="rect">
            <a:avLst/>
          </a:prstGeom>
          <a:noFill/>
          <a:ln/>
        </p:spPr>
        <p:txBody>
          <a:bodyPr wrap="square" lIns="0" tIns="0" rIns="0" bIns="0" rtlCol="0" anchor="ctr"/>
          <a:lstStyle/>
          <a:p>
            <a:pPr indent="0" marL="0">
              <a:buNone/>
            </a:pPr>
            <a:r>
              <a:rPr lang="en-US" sz="2000" dirty="0">
                <a:solidFill>
                  <a:srgbClr val="C9D4DE"/>
                </a:solidFill>
                <a:latin typeface="Inter" pitchFamily="34" charset="0"/>
                <a:ea typeface="Inter" pitchFamily="34" charset="-122"/>
                <a:cs typeface="Inter" pitchFamily="34" charset="-120"/>
              </a:rPr>
              <a:t>Pair up · one screen per pair · open the tool we’re using today</a:t>
            </a:r>
            <a:endParaRPr lang="en-US" sz="2000" dirty="0"/>
          </a:p>
        </p:txBody>
      </p:sp>
      <p:sp>
        <p:nvSpPr>
          <p:cNvPr id="15" name="Shape 12"/>
          <p:cNvSpPr/>
          <p:nvPr/>
        </p:nvSpPr>
        <p:spPr>
          <a:xfrm>
            <a:off x="822960" y="3108960"/>
            <a:ext cx="566928" cy="566928"/>
          </a:xfrm>
          <a:prstGeom prst="ellipse">
            <a:avLst/>
          </a:prstGeom>
          <a:solidFill>
            <a:srgbClr val="2A9D8F"/>
          </a:solidFill>
          <a:ln w="12700">
            <a:solidFill>
              <a:srgbClr val="2A9D8F"/>
            </a:solidFill>
            <a:prstDash val="solid"/>
          </a:ln>
        </p:spPr>
      </p:sp>
      <p:sp>
        <p:nvSpPr>
          <p:cNvPr id="16" name="Text 13"/>
          <p:cNvSpPr/>
          <p:nvPr/>
        </p:nvSpPr>
        <p:spPr>
          <a:xfrm>
            <a:off x="822960" y="3108960"/>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nter" pitchFamily="34" charset="0"/>
                <a:ea typeface="Inter" pitchFamily="34" charset="-122"/>
                <a:cs typeface="Inter" pitchFamily="34" charset="-120"/>
              </a:rPr>
              <a:t>1</a:t>
            </a:r>
            <a:endParaRPr lang="en-US" sz="2000" dirty="0"/>
          </a:p>
        </p:txBody>
      </p:sp>
      <p:sp>
        <p:nvSpPr>
          <p:cNvPr id="17" name="Text 14"/>
          <p:cNvSpPr/>
          <p:nvPr/>
        </p:nvSpPr>
        <p:spPr>
          <a:xfrm>
            <a:off x="1600200" y="3063240"/>
            <a:ext cx="9875520" cy="658368"/>
          </a:xfrm>
          <a:prstGeom prst="rect">
            <a:avLst/>
          </a:prstGeom>
          <a:noFill/>
          <a:ln/>
        </p:spPr>
        <p:txBody>
          <a:bodyPr wrap="square" lIns="0" tIns="0" rIns="0" bIns="0" rtlCol="0" anchor="ctr"/>
          <a:lstStyle/>
          <a:p>
            <a:pPr indent="0" marL="0">
              <a:buNone/>
            </a:pPr>
            <a:r>
              <a:rPr lang="en-US" sz="2100" dirty="0">
                <a:solidFill>
                  <a:srgbClr val="FFFFFF"/>
                </a:solidFill>
                <a:latin typeface="Inter" pitchFamily="34" charset="0"/>
                <a:ea typeface="Inter" pitchFamily="34" charset="-122"/>
                <a:cs typeface="Inter" pitchFamily="34" charset="-120"/>
              </a:rPr>
              <a:t>The rule is live: zero student information, real tasks anyway</a:t>
            </a:r>
            <a:endParaRPr lang="en-US" sz="2100" dirty="0"/>
          </a:p>
        </p:txBody>
      </p:sp>
      <p:sp>
        <p:nvSpPr>
          <p:cNvPr id="18" name="Shape 15"/>
          <p:cNvSpPr/>
          <p:nvPr/>
        </p:nvSpPr>
        <p:spPr>
          <a:xfrm>
            <a:off x="822960" y="3977640"/>
            <a:ext cx="566928" cy="566928"/>
          </a:xfrm>
          <a:prstGeom prst="ellipse">
            <a:avLst/>
          </a:prstGeom>
          <a:solidFill>
            <a:srgbClr val="2A9D8F"/>
          </a:solidFill>
          <a:ln w="12700">
            <a:solidFill>
              <a:srgbClr val="2A9D8F"/>
            </a:solidFill>
            <a:prstDash val="solid"/>
          </a:ln>
        </p:spPr>
      </p:sp>
      <p:sp>
        <p:nvSpPr>
          <p:cNvPr id="19" name="Text 16"/>
          <p:cNvSpPr/>
          <p:nvPr/>
        </p:nvSpPr>
        <p:spPr>
          <a:xfrm>
            <a:off x="822960" y="3977640"/>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nter" pitchFamily="34" charset="0"/>
                <a:ea typeface="Inter" pitchFamily="34" charset="-122"/>
                <a:cs typeface="Inter" pitchFamily="34" charset="-120"/>
              </a:rPr>
              <a:t>2</a:t>
            </a:r>
            <a:endParaRPr lang="en-US" sz="2000" dirty="0"/>
          </a:p>
        </p:txBody>
      </p:sp>
      <p:sp>
        <p:nvSpPr>
          <p:cNvPr id="20" name="Text 17"/>
          <p:cNvSpPr/>
          <p:nvPr/>
        </p:nvSpPr>
        <p:spPr>
          <a:xfrm>
            <a:off x="1600200" y="3931920"/>
            <a:ext cx="9875520" cy="658368"/>
          </a:xfrm>
          <a:prstGeom prst="rect">
            <a:avLst/>
          </a:prstGeom>
          <a:noFill/>
          <a:ln/>
        </p:spPr>
        <p:txBody>
          <a:bodyPr wrap="square" lIns="0" tIns="0" rIns="0" bIns="0" rtlCol="0" anchor="ctr"/>
          <a:lstStyle/>
          <a:p>
            <a:pPr indent="0" marL="0">
              <a:buNone/>
            </a:pPr>
            <a:r>
              <a:rPr lang="en-US" sz="2100" dirty="0">
                <a:solidFill>
                  <a:srgbClr val="FFFFFF"/>
                </a:solidFill>
                <a:latin typeface="Inter" pitchFamily="34" charset="0"/>
                <a:ea typeface="Inter" pitchFamily="34" charset="-122"/>
                <a:cs typeface="Inter" pitchFamily="34" charset="-120"/>
              </a:rPr>
              <a:t>Nothing has to be good; this is a sandbox</a:t>
            </a:r>
            <a:endParaRPr lang="en-US" sz="2100" dirty="0"/>
          </a:p>
        </p:txBody>
      </p:sp>
      <p:sp>
        <p:nvSpPr>
          <p:cNvPr id="21" name="Shape 18"/>
          <p:cNvSpPr/>
          <p:nvPr/>
        </p:nvSpPr>
        <p:spPr>
          <a:xfrm>
            <a:off x="822960" y="4846320"/>
            <a:ext cx="566928" cy="566928"/>
          </a:xfrm>
          <a:prstGeom prst="ellipse">
            <a:avLst/>
          </a:prstGeom>
          <a:solidFill>
            <a:srgbClr val="2A9D8F"/>
          </a:solidFill>
          <a:ln w="12700">
            <a:solidFill>
              <a:srgbClr val="2A9D8F"/>
            </a:solidFill>
            <a:prstDash val="solid"/>
          </a:ln>
        </p:spPr>
      </p:sp>
      <p:sp>
        <p:nvSpPr>
          <p:cNvPr id="22" name="Text 19"/>
          <p:cNvSpPr/>
          <p:nvPr/>
        </p:nvSpPr>
        <p:spPr>
          <a:xfrm>
            <a:off x="822960" y="4846320"/>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nter" pitchFamily="34" charset="0"/>
                <a:ea typeface="Inter" pitchFamily="34" charset="-122"/>
                <a:cs typeface="Inter" pitchFamily="34" charset="-120"/>
              </a:rPr>
              <a:t>3</a:t>
            </a:r>
            <a:endParaRPr lang="en-US" sz="2000" dirty="0"/>
          </a:p>
        </p:txBody>
      </p:sp>
      <p:sp>
        <p:nvSpPr>
          <p:cNvPr id="23" name="Text 20"/>
          <p:cNvSpPr/>
          <p:nvPr/>
        </p:nvSpPr>
        <p:spPr>
          <a:xfrm>
            <a:off x="1600200" y="4800600"/>
            <a:ext cx="9875520" cy="658368"/>
          </a:xfrm>
          <a:prstGeom prst="rect">
            <a:avLst/>
          </a:prstGeom>
          <a:noFill/>
          <a:ln/>
        </p:spPr>
        <p:txBody>
          <a:bodyPr wrap="square" lIns="0" tIns="0" rIns="0" bIns="0" rtlCol="0" anchor="ctr"/>
          <a:lstStyle/>
          <a:p>
            <a:pPr indent="0" marL="0">
              <a:buNone/>
            </a:pPr>
            <a:r>
              <a:rPr lang="en-US" sz="2100" dirty="0">
                <a:solidFill>
                  <a:srgbClr val="FFFFFF"/>
                </a:solidFill>
                <a:latin typeface="Inter" pitchFamily="34" charset="0"/>
                <a:ea typeface="Inter" pitchFamily="34" charset="-122"/>
                <a:cs typeface="Inter" pitchFamily="34" charset="-120"/>
              </a:rPr>
              <a:t>If a prompt only works with a child’s identity in it, it isn’t ready</a:t>
            </a:r>
            <a:endParaRPr lang="en-US" sz="21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1 · AI Foundations &amp; Safety   |   21</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pick: option A, the parent email. Her three moves are next.</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LAB · TASK 1 OF 2 · 6 MINUTES</a:t>
            </a:r>
            <a:endParaRPr lang="en-US" sz="1200" dirty="0"/>
          </a:p>
        </p:txBody>
      </p:sp>
      <p:sp>
        <p:nvSpPr>
          <p:cNvPr id="13" name="Text 10"/>
          <p:cNvSpPr/>
          <p:nvPr/>
        </p:nvSpPr>
        <p:spPr>
          <a:xfrm>
            <a:off x="548640" y="457200"/>
            <a:ext cx="7955280" cy="914400"/>
          </a:xfrm>
          <a:prstGeom prst="rect">
            <a:avLst/>
          </a:prstGeom>
          <a:noFill/>
          <a:ln/>
        </p:spPr>
        <p:txBody>
          <a:bodyPr wrap="square" lIns="0" tIns="0" rIns="0" bIns="0" rtlCol="0" anchor="t"/>
          <a:lstStyle/>
          <a:p>
            <a:pPr indent="0" marL="0">
              <a:buNone/>
            </a:pPr>
            <a:r>
              <a:rPr lang="en-US" sz="2800" b="1" dirty="0">
                <a:solidFill>
                  <a:srgbClr val="13293D"/>
                </a:solidFill>
                <a:latin typeface="Inter" pitchFamily="34" charset="0"/>
                <a:ea typeface="Inter" pitchFamily="34" charset="-122"/>
                <a:cs typeface="Inter" pitchFamily="34" charset="-120"/>
              </a:rPr>
              <a:t>Make it safe, then make it work</a:t>
            </a:r>
            <a:endParaRPr lang="en-US" sz="2800" dirty="0"/>
          </a:p>
        </p:txBody>
      </p:sp>
      <p:sp>
        <p:nvSpPr>
          <p:cNvPr id="14" name="Shape 11"/>
          <p:cNvSpPr/>
          <p:nvPr/>
        </p:nvSpPr>
        <p:spPr>
          <a:xfrm>
            <a:off x="640080" y="1325880"/>
            <a:ext cx="10972800" cy="1024128"/>
          </a:xfrm>
          <a:prstGeom prst="roundRect">
            <a:avLst>
              <a:gd name="adj" fmla="val 8036"/>
            </a:avLst>
          </a:prstGeom>
          <a:solidFill>
            <a:srgbClr val="F7F5F0"/>
          </a:solidFill>
          <a:ln w="12700">
            <a:solidFill>
              <a:srgbClr val="F7F5F0"/>
            </a:solidFill>
            <a:prstDash val="solid"/>
          </a:ln>
        </p:spPr>
      </p:sp>
      <p:sp>
        <p:nvSpPr>
          <p:cNvPr id="15" name="Shape 12"/>
          <p:cNvSpPr/>
          <p:nvPr/>
        </p:nvSpPr>
        <p:spPr>
          <a:xfrm>
            <a:off x="868680" y="1627632"/>
            <a:ext cx="411480" cy="411480"/>
          </a:xfrm>
          <a:prstGeom prst="ellipse">
            <a:avLst/>
          </a:prstGeom>
          <a:solidFill>
            <a:srgbClr val="2A9D8F"/>
          </a:solidFill>
          <a:ln w="12700">
            <a:solidFill>
              <a:srgbClr val="2A9D8F"/>
            </a:solidFill>
            <a:prstDash val="solid"/>
          </a:ln>
        </p:spPr>
      </p:sp>
      <p:sp>
        <p:nvSpPr>
          <p:cNvPr id="16" name="Text 13"/>
          <p:cNvSpPr/>
          <p:nvPr/>
        </p:nvSpPr>
        <p:spPr>
          <a:xfrm>
            <a:off x="868680" y="1627632"/>
            <a:ext cx="411480" cy="411480"/>
          </a:xfrm>
          <a:prstGeom prst="rect">
            <a:avLst/>
          </a:prstGeom>
          <a:noFill/>
          <a:ln/>
        </p:spPr>
        <p:txBody>
          <a:bodyPr wrap="square" lIns="0" tIns="0" rIns="0" bIns="0" rtlCol="0" anchor="ctr"/>
          <a:lstStyle/>
          <a:p>
            <a:pPr algn="ctr" indent="0" marL="0">
              <a:buNone/>
            </a:pPr>
            <a:r>
              <a:rPr lang="en-US" sz="1700" b="1" dirty="0">
                <a:solidFill>
                  <a:srgbClr val="FFFFFF"/>
                </a:solidFill>
                <a:latin typeface="Inter" pitchFamily="34" charset="0"/>
                <a:ea typeface="Inter" pitchFamily="34" charset="-122"/>
                <a:cs typeface="Inter" pitchFamily="34" charset="-120"/>
              </a:rPr>
              <a:t>A</a:t>
            </a:r>
            <a:endParaRPr lang="en-US" sz="1700" dirty="0"/>
          </a:p>
        </p:txBody>
      </p:sp>
      <p:sp>
        <p:nvSpPr>
          <p:cNvPr id="17" name="Text 14"/>
          <p:cNvSpPr/>
          <p:nvPr/>
        </p:nvSpPr>
        <p:spPr>
          <a:xfrm>
            <a:off x="1463040" y="1399032"/>
            <a:ext cx="9966960" cy="237744"/>
          </a:xfrm>
          <a:prstGeom prst="rect">
            <a:avLst/>
          </a:prstGeom>
          <a:noFill/>
          <a:ln/>
        </p:spPr>
        <p:txBody>
          <a:bodyPr wrap="square" lIns="0" tIns="0" rIns="0" bIns="0" rtlCol="0" anchor="ctr"/>
          <a:lstStyle/>
          <a:p>
            <a:pPr indent="0" marL="0">
              <a:buNone/>
            </a:pPr>
            <a:r>
              <a:rPr lang="en-US" sz="1000" b="1" spc="150" kern="0" dirty="0">
                <a:solidFill>
                  <a:srgbClr val="2A9D8F"/>
                </a:solidFill>
                <a:latin typeface="Inter" pitchFamily="34" charset="0"/>
                <a:ea typeface="Inter" pitchFamily="34" charset="-122"/>
                <a:cs typeface="Inter" pitchFamily="34" charset="-120"/>
              </a:rPr>
              <a:t>FAMILIES   </a:t>
            </a:r>
            <a:pPr indent="0" marL="0">
              <a:buNone/>
            </a:pPr>
            <a:r>
              <a:rPr lang="en-US" sz="1050" i="1" dirty="0">
                <a:solidFill>
                  <a:srgbClr val="B4453A"/>
                </a:solidFill>
                <a:latin typeface="Inter" pitchFamily="34" charset="0"/>
                <a:ea typeface="Inter" pitchFamily="34" charset="-122"/>
                <a:cs typeface="Inter" pitchFamily="34" charset="-120"/>
              </a:rPr>
              <a:t>instead of: an email about [name]’s missing work and rough day</a:t>
            </a:r>
            <a:endParaRPr lang="en-US" sz="1000" dirty="0"/>
          </a:p>
        </p:txBody>
      </p:sp>
      <p:sp>
        <p:nvSpPr>
          <p:cNvPr id="18" name="Text 15"/>
          <p:cNvSpPr/>
          <p:nvPr/>
        </p:nvSpPr>
        <p:spPr>
          <a:xfrm>
            <a:off x="1463040" y="1655064"/>
            <a:ext cx="9966960" cy="658368"/>
          </a:xfrm>
          <a:prstGeom prst="rect">
            <a:avLst/>
          </a:prstGeom>
          <a:noFill/>
          <a:ln/>
        </p:spPr>
        <p:txBody>
          <a:bodyPr wrap="square" lIns="0" tIns="0" rIns="0" bIns="0" rtlCol="0" anchor="t"/>
          <a:lstStyle/>
          <a:p>
            <a:pPr indent="0" marL="0">
              <a:buNone/>
            </a:pPr>
            <a:r>
              <a:rPr lang="en-US" sz="1350" dirty="0">
                <a:solidFill>
                  <a:srgbClr val="1B1F24"/>
                </a:solidFill>
                <a:latin typeface="Inter" pitchFamily="34" charset="0"/>
                <a:ea typeface="Inter" pitchFamily="34" charset="-122"/>
                <a:cs typeface="Inter" pitchFamily="34" charset="-120"/>
              </a:rPr>
              <a:t>“Write a warm, professional email to a parent about a middle schooler with several missing assignments and a recent difficult day. Firm but supportive; end by inviting a conversation.”</a:t>
            </a:r>
            <a:endParaRPr lang="en-US" sz="1350" dirty="0"/>
          </a:p>
        </p:txBody>
      </p:sp>
      <p:sp>
        <p:nvSpPr>
          <p:cNvPr id="19" name="Shape 16"/>
          <p:cNvSpPr/>
          <p:nvPr/>
        </p:nvSpPr>
        <p:spPr>
          <a:xfrm>
            <a:off x="640080" y="2441448"/>
            <a:ext cx="10972800" cy="1024128"/>
          </a:xfrm>
          <a:prstGeom prst="roundRect">
            <a:avLst>
              <a:gd name="adj" fmla="val 8036"/>
            </a:avLst>
          </a:prstGeom>
          <a:solidFill>
            <a:srgbClr val="F7F5F0"/>
          </a:solidFill>
          <a:ln w="12700">
            <a:solidFill>
              <a:srgbClr val="F7F5F0"/>
            </a:solidFill>
            <a:prstDash val="solid"/>
          </a:ln>
        </p:spPr>
      </p:sp>
      <p:sp>
        <p:nvSpPr>
          <p:cNvPr id="20" name="Shape 17"/>
          <p:cNvSpPr/>
          <p:nvPr/>
        </p:nvSpPr>
        <p:spPr>
          <a:xfrm>
            <a:off x="868680" y="2743200"/>
            <a:ext cx="411480" cy="411480"/>
          </a:xfrm>
          <a:prstGeom prst="ellipse">
            <a:avLst/>
          </a:prstGeom>
          <a:solidFill>
            <a:srgbClr val="2A9D8F"/>
          </a:solidFill>
          <a:ln w="12700">
            <a:solidFill>
              <a:srgbClr val="2A9D8F"/>
            </a:solidFill>
            <a:prstDash val="solid"/>
          </a:ln>
        </p:spPr>
      </p:sp>
      <p:sp>
        <p:nvSpPr>
          <p:cNvPr id="21" name="Text 18"/>
          <p:cNvSpPr/>
          <p:nvPr/>
        </p:nvSpPr>
        <p:spPr>
          <a:xfrm>
            <a:off x="868680" y="2743200"/>
            <a:ext cx="411480" cy="411480"/>
          </a:xfrm>
          <a:prstGeom prst="rect">
            <a:avLst/>
          </a:prstGeom>
          <a:noFill/>
          <a:ln/>
        </p:spPr>
        <p:txBody>
          <a:bodyPr wrap="square" lIns="0" tIns="0" rIns="0" bIns="0" rtlCol="0" anchor="ctr"/>
          <a:lstStyle/>
          <a:p>
            <a:pPr algn="ctr" indent="0" marL="0">
              <a:buNone/>
            </a:pPr>
            <a:r>
              <a:rPr lang="en-US" sz="1700" b="1" dirty="0">
                <a:solidFill>
                  <a:srgbClr val="FFFFFF"/>
                </a:solidFill>
                <a:latin typeface="Inter" pitchFamily="34" charset="0"/>
                <a:ea typeface="Inter" pitchFamily="34" charset="-122"/>
                <a:cs typeface="Inter" pitchFamily="34" charset="-120"/>
              </a:rPr>
              <a:t>B</a:t>
            </a:r>
            <a:endParaRPr lang="en-US" sz="1700" dirty="0"/>
          </a:p>
        </p:txBody>
      </p:sp>
      <p:sp>
        <p:nvSpPr>
          <p:cNvPr id="22" name="Text 19"/>
          <p:cNvSpPr/>
          <p:nvPr/>
        </p:nvSpPr>
        <p:spPr>
          <a:xfrm>
            <a:off x="1463040" y="2514600"/>
            <a:ext cx="9966960" cy="237744"/>
          </a:xfrm>
          <a:prstGeom prst="rect">
            <a:avLst/>
          </a:prstGeom>
          <a:noFill/>
          <a:ln/>
        </p:spPr>
        <p:txBody>
          <a:bodyPr wrap="square" lIns="0" tIns="0" rIns="0" bIns="0" rtlCol="0" anchor="ctr"/>
          <a:lstStyle/>
          <a:p>
            <a:pPr indent="0" marL="0">
              <a:buNone/>
            </a:pPr>
            <a:r>
              <a:rPr lang="en-US" sz="1000" b="1" spc="150" kern="0" dirty="0">
                <a:solidFill>
                  <a:srgbClr val="2A9D8F"/>
                </a:solidFill>
                <a:latin typeface="Inter" pitchFamily="34" charset="0"/>
                <a:ea typeface="Inter" pitchFamily="34" charset="-122"/>
                <a:cs typeface="Inter" pitchFamily="34" charset="-120"/>
              </a:rPr>
              <a:t>SUPPORT   </a:t>
            </a:r>
            <a:pPr indent="0" marL="0">
              <a:buNone/>
            </a:pPr>
            <a:r>
              <a:rPr lang="en-US" sz="1050" i="1" dirty="0">
                <a:solidFill>
                  <a:srgbClr val="B4453A"/>
                </a:solidFill>
                <a:latin typeface="Inter" pitchFamily="34" charset="0"/>
                <a:ea typeface="Inter" pitchFamily="34" charset="-122"/>
                <a:cs typeface="Inter" pitchFamily="34" charset="-120"/>
              </a:rPr>
              <a:t>instead of: what to do about [name], who has shut down in class</a:t>
            </a:r>
            <a:endParaRPr lang="en-US" sz="1000" dirty="0"/>
          </a:p>
        </p:txBody>
      </p:sp>
      <p:sp>
        <p:nvSpPr>
          <p:cNvPr id="23" name="Text 20"/>
          <p:cNvSpPr/>
          <p:nvPr/>
        </p:nvSpPr>
        <p:spPr>
          <a:xfrm>
            <a:off x="1463040" y="2770632"/>
            <a:ext cx="9966960" cy="658368"/>
          </a:xfrm>
          <a:prstGeom prst="rect">
            <a:avLst/>
          </a:prstGeom>
          <a:noFill/>
          <a:ln/>
        </p:spPr>
        <p:txBody>
          <a:bodyPr wrap="square" lIns="0" tIns="0" rIns="0" bIns="0" rtlCol="0" anchor="t"/>
          <a:lstStyle/>
          <a:p>
            <a:pPr indent="0" marL="0">
              <a:buNone/>
            </a:pPr>
            <a:r>
              <a:rPr lang="en-US" sz="1350" dirty="0">
                <a:solidFill>
                  <a:srgbClr val="1B1F24"/>
                </a:solidFill>
                <a:latin typeface="Inter" pitchFamily="34" charset="0"/>
                <a:ea typeface="Inter" pitchFamily="34" charset="-122"/>
                <a:cs typeface="Inter" pitchFamily="34" charset="-120"/>
              </a:rPr>
              <a:t>“Give me five re-engagement strategies for a student who has stopped participating in class, each under two sentences, usable this week.”</a:t>
            </a:r>
            <a:endParaRPr lang="en-US" sz="1350" dirty="0"/>
          </a:p>
        </p:txBody>
      </p:sp>
      <p:sp>
        <p:nvSpPr>
          <p:cNvPr id="24" name="Shape 21"/>
          <p:cNvSpPr/>
          <p:nvPr/>
        </p:nvSpPr>
        <p:spPr>
          <a:xfrm>
            <a:off x="640080" y="3557016"/>
            <a:ext cx="10972800" cy="1024128"/>
          </a:xfrm>
          <a:prstGeom prst="roundRect">
            <a:avLst>
              <a:gd name="adj" fmla="val 8036"/>
            </a:avLst>
          </a:prstGeom>
          <a:solidFill>
            <a:srgbClr val="F7F5F0"/>
          </a:solidFill>
          <a:ln w="12700">
            <a:solidFill>
              <a:srgbClr val="F7F5F0"/>
            </a:solidFill>
            <a:prstDash val="solid"/>
          </a:ln>
        </p:spPr>
      </p:sp>
      <p:sp>
        <p:nvSpPr>
          <p:cNvPr id="25" name="Shape 22"/>
          <p:cNvSpPr/>
          <p:nvPr/>
        </p:nvSpPr>
        <p:spPr>
          <a:xfrm>
            <a:off x="868680" y="3858768"/>
            <a:ext cx="411480" cy="411480"/>
          </a:xfrm>
          <a:prstGeom prst="ellipse">
            <a:avLst/>
          </a:prstGeom>
          <a:solidFill>
            <a:srgbClr val="2A9D8F"/>
          </a:solidFill>
          <a:ln w="12700">
            <a:solidFill>
              <a:srgbClr val="2A9D8F"/>
            </a:solidFill>
            <a:prstDash val="solid"/>
          </a:ln>
        </p:spPr>
      </p:sp>
      <p:sp>
        <p:nvSpPr>
          <p:cNvPr id="26" name="Text 23"/>
          <p:cNvSpPr/>
          <p:nvPr/>
        </p:nvSpPr>
        <p:spPr>
          <a:xfrm>
            <a:off x="868680" y="3858768"/>
            <a:ext cx="411480" cy="411480"/>
          </a:xfrm>
          <a:prstGeom prst="rect">
            <a:avLst/>
          </a:prstGeom>
          <a:noFill/>
          <a:ln/>
        </p:spPr>
        <p:txBody>
          <a:bodyPr wrap="square" lIns="0" tIns="0" rIns="0" bIns="0" rtlCol="0" anchor="ctr"/>
          <a:lstStyle/>
          <a:p>
            <a:pPr algn="ctr" indent="0" marL="0">
              <a:buNone/>
            </a:pPr>
            <a:r>
              <a:rPr lang="en-US" sz="1700" b="1" dirty="0">
                <a:solidFill>
                  <a:srgbClr val="FFFFFF"/>
                </a:solidFill>
                <a:latin typeface="Inter" pitchFamily="34" charset="0"/>
                <a:ea typeface="Inter" pitchFamily="34" charset="-122"/>
                <a:cs typeface="Inter" pitchFamily="34" charset="-120"/>
              </a:rPr>
              <a:t>C</a:t>
            </a:r>
            <a:endParaRPr lang="en-US" sz="1700" dirty="0"/>
          </a:p>
        </p:txBody>
      </p:sp>
      <p:sp>
        <p:nvSpPr>
          <p:cNvPr id="27" name="Text 24"/>
          <p:cNvSpPr/>
          <p:nvPr/>
        </p:nvSpPr>
        <p:spPr>
          <a:xfrm>
            <a:off x="1463040" y="3630168"/>
            <a:ext cx="9966960" cy="237744"/>
          </a:xfrm>
          <a:prstGeom prst="rect">
            <a:avLst/>
          </a:prstGeom>
          <a:noFill/>
          <a:ln/>
        </p:spPr>
        <p:txBody>
          <a:bodyPr wrap="square" lIns="0" tIns="0" rIns="0" bIns="0" rtlCol="0" anchor="ctr"/>
          <a:lstStyle/>
          <a:p>
            <a:pPr indent="0" marL="0">
              <a:buNone/>
            </a:pPr>
            <a:r>
              <a:rPr lang="en-US" sz="1000" b="1" spc="150" kern="0" dirty="0">
                <a:solidFill>
                  <a:srgbClr val="2A9D8F"/>
                </a:solidFill>
                <a:latin typeface="Inter" pitchFamily="34" charset="0"/>
                <a:ea typeface="Inter" pitchFamily="34" charset="-122"/>
                <a:cs typeface="Inter" pitchFamily="34" charset="-120"/>
              </a:rPr>
              <a:t>DIFFERENTIATION   </a:t>
            </a:r>
            <a:pPr indent="0" marL="0">
              <a:buNone/>
            </a:pPr>
            <a:r>
              <a:rPr lang="en-US" sz="1050" i="1" dirty="0">
                <a:solidFill>
                  <a:srgbClr val="B4453A"/>
                </a:solidFill>
                <a:latin typeface="Inter" pitchFamily="34" charset="0"/>
                <a:ea typeface="Inter" pitchFamily="34" charset="-122"/>
                <a:cs typeface="Inter" pitchFamily="34" charset="-120"/>
              </a:rPr>
              <a:t>instead of: rewrite this for [name]’s IEP</a:t>
            </a:r>
            <a:endParaRPr lang="en-US" sz="1000" dirty="0"/>
          </a:p>
        </p:txBody>
      </p:sp>
      <p:sp>
        <p:nvSpPr>
          <p:cNvPr id="28" name="Text 25"/>
          <p:cNvSpPr/>
          <p:nvPr/>
        </p:nvSpPr>
        <p:spPr>
          <a:xfrm>
            <a:off x="1463040" y="3886200"/>
            <a:ext cx="9966960" cy="658368"/>
          </a:xfrm>
          <a:prstGeom prst="rect">
            <a:avLst/>
          </a:prstGeom>
          <a:noFill/>
          <a:ln/>
        </p:spPr>
        <p:txBody>
          <a:bodyPr wrap="square" lIns="0" tIns="0" rIns="0" bIns="0" rtlCol="0" anchor="t"/>
          <a:lstStyle/>
          <a:p>
            <a:pPr indent="0" marL="0">
              <a:buNone/>
            </a:pPr>
            <a:r>
              <a:rPr lang="en-US" sz="1350" dirty="0">
                <a:solidFill>
                  <a:srgbClr val="1B1F24"/>
                </a:solidFill>
                <a:latin typeface="Inter" pitchFamily="34" charset="0"/>
                <a:ea typeface="Inter" pitchFamily="34" charset="-122"/>
                <a:cs typeface="Inter" pitchFamily="34" charset="-120"/>
              </a:rPr>
              <a:t>“Rewrite this passage at a 2nd-grade reading level, same key ideas, and add a five-word picture-supported vocabulary list: [paste].”</a:t>
            </a:r>
            <a:endParaRPr lang="en-US" sz="1350" dirty="0"/>
          </a:p>
        </p:txBody>
      </p:sp>
      <p:sp>
        <p:nvSpPr>
          <p:cNvPr id="29" name="Shape 26"/>
          <p:cNvSpPr/>
          <p:nvPr/>
        </p:nvSpPr>
        <p:spPr>
          <a:xfrm>
            <a:off x="640080" y="4672584"/>
            <a:ext cx="10972800" cy="1024128"/>
          </a:xfrm>
          <a:prstGeom prst="roundRect">
            <a:avLst>
              <a:gd name="adj" fmla="val 8036"/>
            </a:avLst>
          </a:prstGeom>
          <a:solidFill>
            <a:srgbClr val="F7F5F0"/>
          </a:solidFill>
          <a:ln w="12700">
            <a:solidFill>
              <a:srgbClr val="F7F5F0"/>
            </a:solidFill>
            <a:prstDash val="solid"/>
          </a:ln>
        </p:spPr>
      </p:sp>
      <p:sp>
        <p:nvSpPr>
          <p:cNvPr id="30" name="Shape 27"/>
          <p:cNvSpPr/>
          <p:nvPr/>
        </p:nvSpPr>
        <p:spPr>
          <a:xfrm>
            <a:off x="868680" y="4974336"/>
            <a:ext cx="411480" cy="411480"/>
          </a:xfrm>
          <a:prstGeom prst="ellipse">
            <a:avLst/>
          </a:prstGeom>
          <a:solidFill>
            <a:srgbClr val="2A9D8F"/>
          </a:solidFill>
          <a:ln w="12700">
            <a:solidFill>
              <a:srgbClr val="2A9D8F"/>
            </a:solidFill>
            <a:prstDash val="solid"/>
          </a:ln>
        </p:spPr>
      </p:sp>
      <p:sp>
        <p:nvSpPr>
          <p:cNvPr id="31" name="Text 28"/>
          <p:cNvSpPr/>
          <p:nvPr/>
        </p:nvSpPr>
        <p:spPr>
          <a:xfrm>
            <a:off x="868680" y="4974336"/>
            <a:ext cx="411480" cy="411480"/>
          </a:xfrm>
          <a:prstGeom prst="rect">
            <a:avLst/>
          </a:prstGeom>
          <a:noFill/>
          <a:ln/>
        </p:spPr>
        <p:txBody>
          <a:bodyPr wrap="square" lIns="0" tIns="0" rIns="0" bIns="0" rtlCol="0" anchor="ctr"/>
          <a:lstStyle/>
          <a:p>
            <a:pPr algn="ctr" indent="0" marL="0">
              <a:buNone/>
            </a:pPr>
            <a:r>
              <a:rPr lang="en-US" sz="1700" b="1" dirty="0">
                <a:solidFill>
                  <a:srgbClr val="FFFFFF"/>
                </a:solidFill>
                <a:latin typeface="Inter" pitchFamily="34" charset="0"/>
                <a:ea typeface="Inter" pitchFamily="34" charset="-122"/>
                <a:cs typeface="Inter" pitchFamily="34" charset="-120"/>
              </a:rPr>
              <a:t>D</a:t>
            </a:r>
            <a:endParaRPr lang="en-US" sz="1700" dirty="0"/>
          </a:p>
        </p:txBody>
      </p:sp>
      <p:sp>
        <p:nvSpPr>
          <p:cNvPr id="32" name="Text 29"/>
          <p:cNvSpPr/>
          <p:nvPr/>
        </p:nvSpPr>
        <p:spPr>
          <a:xfrm>
            <a:off x="1463040" y="4745736"/>
            <a:ext cx="9966960" cy="237744"/>
          </a:xfrm>
          <a:prstGeom prst="rect">
            <a:avLst/>
          </a:prstGeom>
          <a:noFill/>
          <a:ln/>
        </p:spPr>
        <p:txBody>
          <a:bodyPr wrap="square" lIns="0" tIns="0" rIns="0" bIns="0" rtlCol="0" anchor="ctr"/>
          <a:lstStyle/>
          <a:p>
            <a:pPr indent="0" marL="0">
              <a:buNone/>
            </a:pPr>
            <a:r>
              <a:rPr lang="en-US" sz="1000" b="1" spc="150" kern="0" dirty="0">
                <a:solidFill>
                  <a:srgbClr val="2A9D8F"/>
                </a:solidFill>
                <a:latin typeface="Inter" pitchFamily="34" charset="0"/>
                <a:ea typeface="Inter" pitchFamily="34" charset="-122"/>
                <a:cs typeface="Inter" pitchFamily="34" charset="-120"/>
              </a:rPr>
              <a:t>CTE &amp; ELECTIVES   </a:t>
            </a:r>
            <a:pPr indent="0" marL="0">
              <a:buNone/>
            </a:pPr>
            <a:r>
              <a:rPr lang="en-US" sz="1050" i="1" dirty="0">
                <a:solidFill>
                  <a:srgbClr val="B4453A"/>
                </a:solidFill>
                <a:latin typeface="Inter" pitchFamily="34" charset="0"/>
                <a:ea typeface="Inter" pitchFamily="34" charset="-122"/>
                <a:cs typeface="Inter" pitchFamily="34" charset="-120"/>
              </a:rPr>
              <a:t>instead of: a write-up about [name]’s close call at the saw</a:t>
            </a:r>
            <a:endParaRPr lang="en-US" sz="1000" dirty="0"/>
          </a:p>
        </p:txBody>
      </p:sp>
      <p:sp>
        <p:nvSpPr>
          <p:cNvPr id="33" name="Text 30"/>
          <p:cNvSpPr/>
          <p:nvPr/>
        </p:nvSpPr>
        <p:spPr>
          <a:xfrm>
            <a:off x="1463040" y="5001768"/>
            <a:ext cx="9966960" cy="658368"/>
          </a:xfrm>
          <a:prstGeom prst="rect">
            <a:avLst/>
          </a:prstGeom>
          <a:noFill/>
          <a:ln/>
        </p:spPr>
        <p:txBody>
          <a:bodyPr wrap="square" lIns="0" tIns="0" rIns="0" bIns="0" rtlCol="0" anchor="t"/>
          <a:lstStyle/>
          <a:p>
            <a:pPr indent="0" marL="0">
              <a:buNone/>
            </a:pPr>
            <a:r>
              <a:rPr lang="en-US" sz="1350" dirty="0">
                <a:solidFill>
                  <a:srgbClr val="1B1F24"/>
                </a:solidFill>
                <a:latin typeface="Inter" pitchFamily="34" charset="0"/>
                <a:ea typeface="Inter" pitchFamily="34" charset="-122"/>
                <a:cs typeface="Inter" pitchFamily="34" charset="-120"/>
              </a:rPr>
              <a:t>“Draft a two-minute safety refresher for the miter saw station after a close call. No blame; three checks students repeat back. Swap in any station or lab.”</a:t>
            </a:r>
            <a:endParaRPr lang="en-US" sz="1350" dirty="0"/>
          </a:p>
        </p:txBody>
      </p:sp>
      <p:sp>
        <p:nvSpPr>
          <p:cNvPr id="34" name="Text 31"/>
          <p:cNvSpPr/>
          <p:nvPr/>
        </p:nvSpPr>
        <p:spPr>
          <a:xfrm>
            <a:off x="640080" y="5806440"/>
            <a:ext cx="10972800" cy="365760"/>
          </a:xfrm>
          <a:prstGeom prst="rect">
            <a:avLst/>
          </a:prstGeom>
          <a:noFill/>
          <a:ln/>
        </p:spPr>
        <p:txBody>
          <a:bodyPr wrap="square" lIns="0" tIns="0" rIns="0" bIns="0" rtlCol="0" anchor="ctr"/>
          <a:lstStyle/>
          <a:p>
            <a:pPr algn="ctr" indent="0" marL="0">
              <a:buNone/>
            </a:pPr>
            <a:r>
              <a:rPr lang="en-US" sz="1500" i="1" dirty="0">
                <a:solidFill>
                  <a:srgbClr val="5B6B7A"/>
                </a:solidFill>
                <a:latin typeface="Inter" pitchFamily="34" charset="0"/>
                <a:ea typeface="Inter" pitchFamily="34" charset="-122"/>
                <a:cs typeface="Inter" pitchFamily="34" charset="-120"/>
              </a:rPr>
              <a:t>Say the unsafe version in your head. Strip it with the 3 moves. Type only the safe version.</a:t>
            </a:r>
            <a:endParaRPr lang="en-US" sz="15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1 · AI Foundations &amp; Safety   |   22</a:t>
            </a:r>
            <a:endParaRPr lang="en-US" sz="900" dirty="0"/>
          </a:p>
        </p:txBody>
      </p:sp>
      <p:sp>
        <p:nvSpPr>
          <p:cNvPr id="5" name="Text 2"/>
          <p:cNvSpPr/>
          <p:nvPr/>
        </p:nvSpPr>
        <p:spPr>
          <a:xfrm>
            <a:off x="566928" y="128016"/>
            <a:ext cx="11055096"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LAB · TASK 1 · ON MS. RIVERA’S SCREEN</a:t>
            </a:r>
            <a:endParaRPr lang="en-US" sz="1200" dirty="0"/>
          </a:p>
        </p:txBody>
      </p:sp>
      <p:sp>
        <p:nvSpPr>
          <p:cNvPr id="6" name="Text 3"/>
          <p:cNvSpPr/>
          <p:nvPr/>
        </p:nvSpPr>
        <p:spPr>
          <a:xfrm>
            <a:off x="548640" y="384048"/>
            <a:ext cx="11091672"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The rewrite she does in ten seconds</a:t>
            </a:r>
            <a:endParaRPr lang="en-US" sz="3200" dirty="0"/>
          </a:p>
        </p:txBody>
      </p:sp>
      <p:sp>
        <p:nvSpPr>
          <p:cNvPr id="7" name="Text 4"/>
          <p:cNvSpPr/>
          <p:nvPr/>
        </p:nvSpPr>
        <p:spPr>
          <a:xfrm>
            <a:off x="640080" y="1298448"/>
            <a:ext cx="10972800" cy="566928"/>
          </a:xfrm>
          <a:prstGeom prst="rect">
            <a:avLst/>
          </a:prstGeom>
          <a:noFill/>
          <a:ln/>
        </p:spPr>
        <p:txBody>
          <a:bodyPr wrap="square" lIns="0" tIns="0" rIns="0" bIns="0" rtlCol="0" anchor="t"/>
          <a:lstStyle/>
          <a:p>
            <a:pPr indent="0" marL="0">
              <a:buNone/>
            </a:pPr>
            <a:r>
              <a:rPr lang="en-US" sz="1100" b="1" spc="150" kern="0" dirty="0">
                <a:solidFill>
                  <a:srgbClr val="B4453A"/>
                </a:solidFill>
                <a:latin typeface="Inter" pitchFamily="34" charset="0"/>
                <a:ea typeface="Inter" pitchFamily="34" charset="-122"/>
                <a:cs typeface="Inter" pitchFamily="34" charset="-120"/>
              </a:rPr>
              <a:t>WHAT SHE ALMOST TYPED   </a:t>
            </a:r>
            <a:pPr indent="0" marL="0">
              <a:buNone/>
            </a:pPr>
            <a:r>
              <a:rPr lang="en-US" sz="1500" i="1" dirty="0">
                <a:solidFill>
                  <a:srgbClr val="5B6B7A"/>
                </a:solidFill>
                <a:latin typeface="Inter" pitchFamily="34" charset="0"/>
                <a:ea typeface="Inter" pitchFamily="34" charset="-122"/>
                <a:cs typeface="Inter" pitchFamily="34" charset="-120"/>
              </a:rPr>
              <a:t>“Write an email to Jayden Miller’s mom about his three missing assignments and his outburst in class Tuesday.”</a:t>
            </a:r>
            <a:endParaRPr lang="en-US" sz="1100" dirty="0"/>
          </a:p>
        </p:txBody>
      </p:sp>
      <p:sp>
        <p:nvSpPr>
          <p:cNvPr id="8" name="Shape 5"/>
          <p:cNvSpPr/>
          <p:nvPr/>
        </p:nvSpPr>
        <p:spPr>
          <a:xfrm>
            <a:off x="640080" y="1965960"/>
            <a:ext cx="10972800" cy="2880360"/>
          </a:xfrm>
          <a:prstGeom prst="roundRect">
            <a:avLst>
              <a:gd name="adj" fmla="val 3175"/>
            </a:avLst>
          </a:prstGeom>
          <a:solidFill>
            <a:srgbClr val="FFFFFF"/>
          </a:solidFill>
          <a:ln w="19050">
            <a:solidFill>
              <a:srgbClr val="DCE3EA"/>
            </a:solidFill>
            <a:prstDash val="solid"/>
          </a:ln>
        </p:spPr>
      </p:sp>
      <p:sp>
        <p:nvSpPr>
          <p:cNvPr id="9" name="Shape 6"/>
          <p:cNvSpPr/>
          <p:nvPr/>
        </p:nvSpPr>
        <p:spPr>
          <a:xfrm>
            <a:off x="640080" y="1965960"/>
            <a:ext cx="10972800" cy="384048"/>
          </a:xfrm>
          <a:prstGeom prst="roundRect">
            <a:avLst>
              <a:gd name="adj" fmla="val 23810"/>
            </a:avLst>
          </a:prstGeom>
          <a:solidFill>
            <a:srgbClr val="13293D"/>
          </a:solidFill>
          <a:ln w="12700">
            <a:solidFill>
              <a:srgbClr val="13293D"/>
            </a:solidFill>
            <a:prstDash val="solid"/>
          </a:ln>
        </p:spPr>
      </p:sp>
      <p:sp>
        <p:nvSpPr>
          <p:cNvPr id="10" name="Shape 7"/>
          <p:cNvSpPr/>
          <p:nvPr/>
        </p:nvSpPr>
        <p:spPr>
          <a:xfrm>
            <a:off x="868680" y="2084832"/>
            <a:ext cx="146304" cy="146304"/>
          </a:xfrm>
          <a:prstGeom prst="ellipse">
            <a:avLst/>
          </a:prstGeom>
          <a:solidFill>
            <a:srgbClr val="E8837A"/>
          </a:solidFill>
          <a:ln w="12700">
            <a:solidFill>
              <a:srgbClr val="E8837A"/>
            </a:solidFill>
            <a:prstDash val="solid"/>
          </a:ln>
        </p:spPr>
      </p:sp>
      <p:sp>
        <p:nvSpPr>
          <p:cNvPr id="11" name="Shape 8"/>
          <p:cNvSpPr/>
          <p:nvPr/>
        </p:nvSpPr>
        <p:spPr>
          <a:xfrm>
            <a:off x="1115568" y="2084832"/>
            <a:ext cx="146304" cy="146304"/>
          </a:xfrm>
          <a:prstGeom prst="ellipse">
            <a:avLst/>
          </a:prstGeom>
          <a:solidFill>
            <a:srgbClr val="F4A825"/>
          </a:solidFill>
          <a:ln w="12700">
            <a:solidFill>
              <a:srgbClr val="F4A825"/>
            </a:solidFill>
            <a:prstDash val="solid"/>
          </a:ln>
        </p:spPr>
      </p:sp>
      <p:sp>
        <p:nvSpPr>
          <p:cNvPr id="12" name="Shape 9"/>
          <p:cNvSpPr/>
          <p:nvPr/>
        </p:nvSpPr>
        <p:spPr>
          <a:xfrm>
            <a:off x="1362456" y="2084832"/>
            <a:ext cx="146304" cy="146304"/>
          </a:xfrm>
          <a:prstGeom prst="ellipse">
            <a:avLst/>
          </a:prstGeom>
          <a:solidFill>
            <a:srgbClr val="2E7D5B"/>
          </a:solidFill>
          <a:ln w="12700">
            <a:solidFill>
              <a:srgbClr val="2E7D5B"/>
            </a:solidFill>
            <a:prstDash val="solid"/>
          </a:ln>
        </p:spPr>
      </p:sp>
      <p:sp>
        <p:nvSpPr>
          <p:cNvPr id="13" name="Text 10"/>
          <p:cNvSpPr/>
          <p:nvPr/>
        </p:nvSpPr>
        <p:spPr>
          <a:xfrm>
            <a:off x="1783080" y="1965960"/>
            <a:ext cx="9692640" cy="384048"/>
          </a:xfrm>
          <a:prstGeom prst="rect">
            <a:avLst/>
          </a:prstGeom>
          <a:noFill/>
          <a:ln/>
        </p:spPr>
        <p:txBody>
          <a:bodyPr wrap="square" lIns="0" tIns="0" rIns="0" bIns="0" rtlCol="0" anchor="ctr"/>
          <a:lstStyle/>
          <a:p>
            <a:pPr indent="0" marL="0">
              <a:buNone/>
            </a:pPr>
            <a:r>
              <a:rPr lang="en-US" sz="1100" dirty="0">
                <a:solidFill>
                  <a:srgbClr val="9FB2C2"/>
                </a:solidFill>
                <a:latin typeface="Inter" pitchFamily="34" charset="0"/>
                <a:ea typeface="Inter" pitchFamily="34" charset="-122"/>
                <a:cs typeface="Inter" pitchFamily="34" charset="-120"/>
              </a:rPr>
              <a:t>AI chat tool (any of them) · Ms. Rivera, our running example teacher (a composite, not a real person)</a:t>
            </a:r>
            <a:endParaRPr lang="en-US" sz="1100" dirty="0"/>
          </a:p>
        </p:txBody>
      </p:sp>
      <p:sp>
        <p:nvSpPr>
          <p:cNvPr id="14" name="Shape 11"/>
          <p:cNvSpPr/>
          <p:nvPr/>
        </p:nvSpPr>
        <p:spPr>
          <a:xfrm>
            <a:off x="1554480" y="2514600"/>
            <a:ext cx="9646920" cy="2148840"/>
          </a:xfrm>
          <a:prstGeom prst="roundRect">
            <a:avLst>
              <a:gd name="adj" fmla="val 5106"/>
            </a:avLst>
          </a:prstGeom>
          <a:solidFill>
            <a:srgbClr val="F7F5F0"/>
          </a:solidFill>
          <a:ln w="12700">
            <a:solidFill>
              <a:srgbClr val="F7F5F0"/>
            </a:solidFill>
            <a:prstDash val="solid"/>
          </a:ln>
        </p:spPr>
      </p:sp>
      <p:sp>
        <p:nvSpPr>
          <p:cNvPr id="15" name="Text 12"/>
          <p:cNvSpPr/>
          <p:nvPr/>
        </p:nvSpPr>
        <p:spPr>
          <a:xfrm>
            <a:off x="1783080" y="2578608"/>
            <a:ext cx="9189720" cy="2011680"/>
          </a:xfrm>
          <a:prstGeom prst="rect">
            <a:avLst/>
          </a:prstGeom>
          <a:noFill/>
          <a:ln/>
        </p:spPr>
        <p:txBody>
          <a:bodyPr wrap="square" lIns="0" tIns="0" rIns="0" bIns="0" rtlCol="0" anchor="ctr"/>
          <a:lstStyle/>
          <a:p>
            <a:pPr indent="0" marL="0">
              <a:lnSpc>
                <a:spcPct val="112000"/>
              </a:lnSpc>
              <a:buNone/>
            </a:pPr>
            <a:r>
              <a:rPr lang="en-US" sz="1800" b="1" dirty="0">
                <a:solidFill>
                  <a:srgbClr val="2A9D8F"/>
                </a:solidFill>
                <a:latin typeface="Inter" pitchFamily="34" charset="0"/>
                <a:ea typeface="Inter" pitchFamily="34" charset="-122"/>
                <a:cs typeface="Inter" pitchFamily="34" charset="-120"/>
              </a:rPr>
              <a:t>“Write a warm, professional email to a parent </a:t>
            </a:r>
            <a:pPr indent="0" marL="0">
              <a:lnSpc>
                <a:spcPct val="112000"/>
              </a:lnSpc>
              <a:buNone/>
            </a:pPr>
            <a:r>
              <a:rPr lang="en-US" sz="1800" b="1" dirty="0">
                <a:solidFill>
                  <a:srgbClr val="B07914"/>
                </a:solidFill>
                <a:latin typeface="Inter" pitchFamily="34" charset="0"/>
                <a:ea typeface="Inter" pitchFamily="34" charset="-122"/>
                <a:cs typeface="Inter" pitchFamily="34" charset="-120"/>
              </a:rPr>
              <a:t>about a middle schooler with several missing assignments and a recent difficult day in class. </a:t>
            </a:r>
            <a:pPr indent="0" marL="0">
              <a:lnSpc>
                <a:spcPct val="112000"/>
              </a:lnSpc>
              <a:buNone/>
            </a:pPr>
            <a:r>
              <a:rPr lang="en-US" sz="1800" b="1" dirty="0">
                <a:solidFill>
                  <a:srgbClr val="2E7D5B"/>
                </a:solidFill>
                <a:latin typeface="Inter" pitchFamily="34" charset="0"/>
                <a:ea typeface="Inter" pitchFamily="34" charset="-122"/>
                <a:cs typeface="Inter" pitchFamily="34" charset="-120"/>
              </a:rPr>
              <a:t>Firm but supportive; end by inviting a conversation.”</a:t>
            </a:r>
            <a:endParaRPr lang="en-US" sz="1800" dirty="0"/>
          </a:p>
        </p:txBody>
      </p:sp>
      <p:sp>
        <p:nvSpPr>
          <p:cNvPr id="16" name="Text 13"/>
          <p:cNvSpPr/>
          <p:nvPr/>
        </p:nvSpPr>
        <p:spPr>
          <a:xfrm>
            <a:off x="640080" y="5047488"/>
            <a:ext cx="10972800" cy="384048"/>
          </a:xfrm>
          <a:prstGeom prst="rect">
            <a:avLst/>
          </a:prstGeom>
          <a:noFill/>
          <a:ln/>
        </p:spPr>
        <p:txBody>
          <a:bodyPr wrap="square" lIns="0" tIns="0" rIns="0" bIns="0" rtlCol="0" anchor="ctr"/>
          <a:lstStyle/>
          <a:p>
            <a:pPr algn="ctr" indent="0" marL="0">
              <a:buNone/>
            </a:pPr>
            <a:r>
              <a:rPr lang="en-US" sz="1800" b="1" dirty="0">
                <a:solidFill>
                  <a:srgbClr val="13293D"/>
                </a:solidFill>
                <a:latin typeface="Inter" pitchFamily="34" charset="0"/>
                <a:ea typeface="Inter" pitchFamily="34" charset="-122"/>
                <a:cs typeface="Inter" pitchFamily="34" charset="-120"/>
              </a:rPr>
              <a:t>Three moves, ten seconds, and nothing the email needed was lost.</a:t>
            </a:r>
            <a:endParaRPr lang="en-US" sz="1800" dirty="0"/>
          </a:p>
        </p:txBody>
      </p:sp>
      <p:sp>
        <p:nvSpPr>
          <p:cNvPr id="17" name="Shape 14"/>
          <p:cNvSpPr/>
          <p:nvPr/>
        </p:nvSpPr>
        <p:spPr>
          <a:xfrm>
            <a:off x="640080" y="5559552"/>
            <a:ext cx="3520440" cy="457200"/>
          </a:xfrm>
          <a:prstGeom prst="roundRect">
            <a:avLst>
              <a:gd name="adj" fmla="val 50000"/>
            </a:avLst>
          </a:prstGeom>
          <a:solidFill>
            <a:srgbClr val="2A9D8F"/>
          </a:solidFill>
          <a:ln w="12700">
            <a:solidFill>
              <a:srgbClr val="2A9D8F"/>
            </a:solidFill>
            <a:prstDash val="solid"/>
          </a:ln>
        </p:spPr>
      </p:sp>
      <p:sp>
        <p:nvSpPr>
          <p:cNvPr id="18" name="Text 15"/>
          <p:cNvSpPr/>
          <p:nvPr/>
        </p:nvSpPr>
        <p:spPr>
          <a:xfrm>
            <a:off x="640080" y="5559552"/>
            <a:ext cx="3520440" cy="457200"/>
          </a:xfrm>
          <a:prstGeom prst="rect">
            <a:avLst/>
          </a:prstGeom>
          <a:noFill/>
          <a:ln/>
        </p:spPr>
        <p:txBody>
          <a:bodyPr wrap="square" lIns="0" tIns="0" rIns="0" bIns="0" rtlCol="0" anchor="ctr"/>
          <a:lstStyle/>
          <a:p>
            <a:pPr algn="ctr" indent="0" marL="0">
              <a:buNone/>
            </a:pPr>
            <a:r>
              <a:rPr lang="en-US" sz="1400" b="1" spc="200" kern="0" dirty="0">
                <a:solidFill>
                  <a:srgbClr val="FFFFFF"/>
                </a:solidFill>
                <a:latin typeface="Inter" pitchFamily="34" charset="0"/>
                <a:ea typeface="Inter" pitchFamily="34" charset="-122"/>
                <a:cs typeface="Inter" pitchFamily="34" charset="-120"/>
              </a:rPr>
              <a:t>STRIP IDENTITY</a:t>
            </a:r>
            <a:endParaRPr lang="en-US" sz="1400" dirty="0"/>
          </a:p>
        </p:txBody>
      </p:sp>
      <p:sp>
        <p:nvSpPr>
          <p:cNvPr id="19" name="Shape 16"/>
          <p:cNvSpPr/>
          <p:nvPr/>
        </p:nvSpPr>
        <p:spPr>
          <a:xfrm>
            <a:off x="4407408" y="5559552"/>
            <a:ext cx="3520440" cy="457200"/>
          </a:xfrm>
          <a:prstGeom prst="roundRect">
            <a:avLst>
              <a:gd name="adj" fmla="val 50000"/>
            </a:avLst>
          </a:prstGeom>
          <a:solidFill>
            <a:srgbClr val="B07914"/>
          </a:solidFill>
          <a:ln w="12700">
            <a:solidFill>
              <a:srgbClr val="B07914"/>
            </a:solidFill>
            <a:prstDash val="solid"/>
          </a:ln>
        </p:spPr>
      </p:sp>
      <p:sp>
        <p:nvSpPr>
          <p:cNvPr id="20" name="Text 17"/>
          <p:cNvSpPr/>
          <p:nvPr/>
        </p:nvSpPr>
        <p:spPr>
          <a:xfrm>
            <a:off x="4407408" y="5559552"/>
            <a:ext cx="3520440" cy="457200"/>
          </a:xfrm>
          <a:prstGeom prst="rect">
            <a:avLst/>
          </a:prstGeom>
          <a:noFill/>
          <a:ln/>
        </p:spPr>
        <p:txBody>
          <a:bodyPr wrap="square" lIns="0" tIns="0" rIns="0" bIns="0" rtlCol="0" anchor="ctr"/>
          <a:lstStyle/>
          <a:p>
            <a:pPr algn="ctr" indent="0" marL="0">
              <a:buNone/>
            </a:pPr>
            <a:r>
              <a:rPr lang="en-US" sz="1400" b="1" spc="200" kern="0" dirty="0">
                <a:solidFill>
                  <a:srgbClr val="FFFFFF"/>
                </a:solidFill>
                <a:latin typeface="Inter" pitchFamily="34" charset="0"/>
                <a:ea typeface="Inter" pitchFamily="34" charset="-122"/>
                <a:cs typeface="Inter" pitchFamily="34" charset="-120"/>
              </a:rPr>
              <a:t>GENERALIZE</a:t>
            </a:r>
            <a:endParaRPr lang="en-US" sz="1400" dirty="0"/>
          </a:p>
        </p:txBody>
      </p:sp>
      <p:sp>
        <p:nvSpPr>
          <p:cNvPr id="21" name="Shape 18"/>
          <p:cNvSpPr/>
          <p:nvPr/>
        </p:nvSpPr>
        <p:spPr>
          <a:xfrm>
            <a:off x="8174736" y="5559552"/>
            <a:ext cx="3520440" cy="457200"/>
          </a:xfrm>
          <a:prstGeom prst="roundRect">
            <a:avLst>
              <a:gd name="adj" fmla="val 50000"/>
            </a:avLst>
          </a:prstGeom>
          <a:solidFill>
            <a:srgbClr val="2E7D5B"/>
          </a:solidFill>
          <a:ln w="12700">
            <a:solidFill>
              <a:srgbClr val="2E7D5B"/>
            </a:solidFill>
            <a:prstDash val="solid"/>
          </a:ln>
        </p:spPr>
      </p:sp>
      <p:sp>
        <p:nvSpPr>
          <p:cNvPr id="22" name="Text 19"/>
          <p:cNvSpPr/>
          <p:nvPr/>
        </p:nvSpPr>
        <p:spPr>
          <a:xfrm>
            <a:off x="8174736" y="5559552"/>
            <a:ext cx="3520440" cy="457200"/>
          </a:xfrm>
          <a:prstGeom prst="rect">
            <a:avLst/>
          </a:prstGeom>
          <a:noFill/>
          <a:ln/>
        </p:spPr>
        <p:txBody>
          <a:bodyPr wrap="square" lIns="0" tIns="0" rIns="0" bIns="0" rtlCol="0" anchor="ctr"/>
          <a:lstStyle/>
          <a:p>
            <a:pPr algn="ctr" indent="0" marL="0">
              <a:buNone/>
            </a:pPr>
            <a:r>
              <a:rPr lang="en-US" sz="1400" b="1" spc="200" kern="0" dirty="0">
                <a:solidFill>
                  <a:srgbClr val="FFFFFF"/>
                </a:solidFill>
                <a:latin typeface="Inter" pitchFamily="34" charset="0"/>
                <a:ea typeface="Inter" pitchFamily="34" charset="-122"/>
                <a:cs typeface="Inter" pitchFamily="34" charset="-120"/>
              </a:rPr>
              <a:t>DESCRIBE THE NEED</a:t>
            </a:r>
            <a:endParaRPr lang="en-US" sz="14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1 · AI Foundations &amp; Safety   |   23</a:t>
            </a:r>
            <a:endParaRPr lang="en-US" sz="900" dirty="0"/>
          </a:p>
        </p:txBody>
      </p:sp>
      <p:sp>
        <p:nvSpPr>
          <p:cNvPr id="5" name="Text 2"/>
          <p:cNvSpPr/>
          <p:nvPr/>
        </p:nvSpPr>
        <p:spPr>
          <a:xfrm>
            <a:off x="566928" y="128016"/>
            <a:ext cx="11055096"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LAB · TASK 1 · WHAT COMES BACK</a:t>
            </a:r>
            <a:endParaRPr lang="en-US" sz="1200" dirty="0"/>
          </a:p>
        </p:txBody>
      </p:sp>
      <p:sp>
        <p:nvSpPr>
          <p:cNvPr id="6" name="Text 3"/>
          <p:cNvSpPr/>
          <p:nvPr/>
        </p:nvSpPr>
        <p:spPr>
          <a:xfrm>
            <a:off x="548640" y="384048"/>
            <a:ext cx="11091672"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The intern answers in four seconds</a:t>
            </a:r>
            <a:endParaRPr lang="en-US" sz="3200" dirty="0"/>
          </a:p>
        </p:txBody>
      </p:sp>
      <p:sp>
        <p:nvSpPr>
          <p:cNvPr id="7" name="Shape 4"/>
          <p:cNvSpPr/>
          <p:nvPr/>
        </p:nvSpPr>
        <p:spPr>
          <a:xfrm>
            <a:off x="640080" y="1371600"/>
            <a:ext cx="10972800" cy="3429000"/>
          </a:xfrm>
          <a:prstGeom prst="roundRect">
            <a:avLst>
              <a:gd name="adj" fmla="val 2667"/>
            </a:avLst>
          </a:prstGeom>
          <a:solidFill>
            <a:srgbClr val="FFFFFF"/>
          </a:solidFill>
          <a:ln w="19050">
            <a:solidFill>
              <a:srgbClr val="DCE3EA"/>
            </a:solidFill>
            <a:prstDash val="solid"/>
          </a:ln>
        </p:spPr>
      </p:sp>
      <p:sp>
        <p:nvSpPr>
          <p:cNvPr id="8" name="Shape 5"/>
          <p:cNvSpPr/>
          <p:nvPr/>
        </p:nvSpPr>
        <p:spPr>
          <a:xfrm>
            <a:off x="640080" y="1371600"/>
            <a:ext cx="10972800" cy="384048"/>
          </a:xfrm>
          <a:prstGeom prst="roundRect">
            <a:avLst>
              <a:gd name="adj" fmla="val 23810"/>
            </a:avLst>
          </a:prstGeom>
          <a:solidFill>
            <a:srgbClr val="13293D"/>
          </a:solidFill>
          <a:ln w="12700">
            <a:solidFill>
              <a:srgbClr val="13293D"/>
            </a:solidFill>
            <a:prstDash val="solid"/>
          </a:ln>
        </p:spPr>
      </p:sp>
      <p:sp>
        <p:nvSpPr>
          <p:cNvPr id="9" name="Shape 6"/>
          <p:cNvSpPr/>
          <p:nvPr/>
        </p:nvSpPr>
        <p:spPr>
          <a:xfrm>
            <a:off x="868680" y="1490472"/>
            <a:ext cx="146304" cy="146304"/>
          </a:xfrm>
          <a:prstGeom prst="ellipse">
            <a:avLst/>
          </a:prstGeom>
          <a:solidFill>
            <a:srgbClr val="E8837A"/>
          </a:solidFill>
          <a:ln w="12700">
            <a:solidFill>
              <a:srgbClr val="E8837A"/>
            </a:solidFill>
            <a:prstDash val="solid"/>
          </a:ln>
        </p:spPr>
      </p:sp>
      <p:sp>
        <p:nvSpPr>
          <p:cNvPr id="10" name="Shape 7"/>
          <p:cNvSpPr/>
          <p:nvPr/>
        </p:nvSpPr>
        <p:spPr>
          <a:xfrm>
            <a:off x="1115568" y="1490472"/>
            <a:ext cx="146304" cy="146304"/>
          </a:xfrm>
          <a:prstGeom prst="ellipse">
            <a:avLst/>
          </a:prstGeom>
          <a:solidFill>
            <a:srgbClr val="F4A825"/>
          </a:solidFill>
          <a:ln w="12700">
            <a:solidFill>
              <a:srgbClr val="F4A825"/>
            </a:solidFill>
            <a:prstDash val="solid"/>
          </a:ln>
        </p:spPr>
      </p:sp>
      <p:sp>
        <p:nvSpPr>
          <p:cNvPr id="11" name="Shape 8"/>
          <p:cNvSpPr/>
          <p:nvPr/>
        </p:nvSpPr>
        <p:spPr>
          <a:xfrm>
            <a:off x="1362456" y="1490472"/>
            <a:ext cx="146304" cy="146304"/>
          </a:xfrm>
          <a:prstGeom prst="ellipse">
            <a:avLst/>
          </a:prstGeom>
          <a:solidFill>
            <a:srgbClr val="2E7D5B"/>
          </a:solidFill>
          <a:ln w="12700">
            <a:solidFill>
              <a:srgbClr val="2E7D5B"/>
            </a:solidFill>
            <a:prstDash val="solid"/>
          </a:ln>
        </p:spPr>
      </p:sp>
      <p:sp>
        <p:nvSpPr>
          <p:cNvPr id="12" name="Text 9"/>
          <p:cNvSpPr/>
          <p:nvPr/>
        </p:nvSpPr>
        <p:spPr>
          <a:xfrm>
            <a:off x="1783080" y="1371600"/>
            <a:ext cx="9692640" cy="384048"/>
          </a:xfrm>
          <a:prstGeom prst="rect">
            <a:avLst/>
          </a:prstGeom>
          <a:noFill/>
          <a:ln/>
        </p:spPr>
        <p:txBody>
          <a:bodyPr wrap="square" lIns="0" tIns="0" rIns="0" bIns="0" rtlCol="0" anchor="ctr"/>
          <a:lstStyle/>
          <a:p>
            <a:pPr indent="0" marL="0">
              <a:buNone/>
            </a:pPr>
            <a:r>
              <a:rPr lang="en-US" sz="1100" dirty="0">
                <a:solidFill>
                  <a:srgbClr val="9FB2C2"/>
                </a:solidFill>
                <a:latin typeface="Inter" pitchFamily="34" charset="0"/>
                <a:ea typeface="Inter" pitchFamily="34" charset="-122"/>
                <a:cs typeface="Inter" pitchFamily="34" charset="-120"/>
              </a:rPr>
              <a:t>AI chat tool (any of them) · Ms. Rivera, our running example teacher (a composite, not a real person)</a:t>
            </a:r>
            <a:endParaRPr lang="en-US" sz="1100" dirty="0"/>
          </a:p>
        </p:txBody>
      </p:sp>
      <p:sp>
        <p:nvSpPr>
          <p:cNvPr id="13" name="Text 10"/>
          <p:cNvSpPr/>
          <p:nvPr/>
        </p:nvSpPr>
        <p:spPr>
          <a:xfrm>
            <a:off x="1554480" y="1847088"/>
            <a:ext cx="9646920" cy="256032"/>
          </a:xfrm>
          <a:prstGeom prst="rect">
            <a:avLst/>
          </a:prstGeom>
          <a:noFill/>
          <a:ln/>
        </p:spPr>
        <p:txBody>
          <a:bodyPr wrap="square" lIns="0" tIns="0" rIns="0" bIns="0" rtlCol="0" anchor="ctr"/>
          <a:lstStyle/>
          <a:p>
            <a:pPr indent="0" marL="0">
              <a:buNone/>
            </a:pPr>
            <a:r>
              <a:rPr lang="en-US" sz="1100" b="1" spc="150" kern="0" dirty="0">
                <a:solidFill>
                  <a:srgbClr val="5B6B7A"/>
                </a:solidFill>
                <a:latin typeface="Inter" pitchFamily="34" charset="0"/>
                <a:ea typeface="Inter" pitchFamily="34" charset="-122"/>
                <a:cs typeface="Inter" pitchFamily="34" charset="-120"/>
              </a:rPr>
              <a:t>DRAFT 1, STRAIGHT BACK</a:t>
            </a:r>
            <a:endParaRPr lang="en-US" sz="1100" dirty="0"/>
          </a:p>
        </p:txBody>
      </p:sp>
      <p:sp>
        <p:nvSpPr>
          <p:cNvPr id="14" name="Shape 11"/>
          <p:cNvSpPr/>
          <p:nvPr/>
        </p:nvSpPr>
        <p:spPr>
          <a:xfrm>
            <a:off x="1554480" y="2148840"/>
            <a:ext cx="9646920" cy="2468880"/>
          </a:xfrm>
          <a:prstGeom prst="roundRect">
            <a:avLst>
              <a:gd name="adj" fmla="val 4444"/>
            </a:avLst>
          </a:prstGeom>
          <a:solidFill>
            <a:srgbClr val="F7F5F0"/>
          </a:solidFill>
          <a:ln w="12700">
            <a:solidFill>
              <a:srgbClr val="F7F5F0"/>
            </a:solidFill>
            <a:prstDash val="solid"/>
          </a:ln>
        </p:spPr>
      </p:sp>
      <p:sp>
        <p:nvSpPr>
          <p:cNvPr id="15" name="Text 12"/>
          <p:cNvSpPr/>
          <p:nvPr/>
        </p:nvSpPr>
        <p:spPr>
          <a:xfrm>
            <a:off x="1783080" y="2240280"/>
            <a:ext cx="9189720" cy="2286000"/>
          </a:xfrm>
          <a:prstGeom prst="rect">
            <a:avLst/>
          </a:prstGeom>
          <a:noFill/>
          <a:ln/>
        </p:spPr>
        <p:txBody>
          <a:bodyPr wrap="square" lIns="0" tIns="0" rIns="0" bIns="0" rtlCol="0" anchor="ctr"/>
          <a:lstStyle/>
          <a:p>
            <a:pPr indent="0" marL="0">
              <a:lnSpc>
                <a:spcPct val="112000"/>
              </a:lnSpc>
              <a:buNone/>
            </a:pPr>
            <a:r>
              <a:rPr lang="en-US" sz="1700" dirty="0">
                <a:solidFill>
                  <a:srgbClr val="1B1F24"/>
                </a:solidFill>
                <a:latin typeface="Inter" pitchFamily="34" charset="0"/>
                <a:ea typeface="Inter" pitchFamily="34" charset="-122"/>
                <a:cs typeface="Inter" pitchFamily="34" charset="-120"/>
              </a:rPr>
              <a:t>“Dear Parent, I wanted to reach out about your child’s missing assignments and a difficult day we had in class recently. As we discussed at last week’s conference, steady homework routines make a real difference. I know stretches like this can be hard, and I’d welcome the chance to talk about how we can support your child together. Please let me know a time that works for you.”</a:t>
            </a:r>
            <a:endParaRPr lang="en-US" sz="1700" dirty="0"/>
          </a:p>
        </p:txBody>
      </p:sp>
      <p:sp>
        <p:nvSpPr>
          <p:cNvPr id="16" name="Text 13"/>
          <p:cNvSpPr/>
          <p:nvPr/>
        </p:nvSpPr>
        <p:spPr>
          <a:xfrm>
            <a:off x="640080" y="4983480"/>
            <a:ext cx="10972800" cy="411480"/>
          </a:xfrm>
          <a:prstGeom prst="rect">
            <a:avLst/>
          </a:prstGeom>
          <a:noFill/>
          <a:ln/>
        </p:spPr>
        <p:txBody>
          <a:bodyPr wrap="square" lIns="0" tIns="0" rIns="0" bIns="0" rtlCol="0" anchor="ctr"/>
          <a:lstStyle/>
          <a:p>
            <a:pPr algn="ctr" indent="0" marL="0">
              <a:buNone/>
            </a:pPr>
            <a:r>
              <a:rPr lang="en-US" sz="1600" i="1" dirty="0">
                <a:solidFill>
                  <a:srgbClr val="5B6B7A"/>
                </a:solidFill>
                <a:latin typeface="Inter" pitchFamily="34" charset="0"/>
                <a:ea typeface="Inter" pitchFamily="34" charset="-122"/>
                <a:cs typeface="Inter" pitchFamily="34" charset="-120"/>
              </a:rPr>
              <a:t>Warm, specific, usable. And notice what is NOT in it: no name, no identity, nothing missing.</a:t>
            </a:r>
            <a:endParaRPr lang="en-US" sz="1600" dirty="0"/>
          </a:p>
        </p:txBody>
      </p:sp>
      <p:sp>
        <p:nvSpPr>
          <p:cNvPr id="17" name="Text 14"/>
          <p:cNvSpPr/>
          <p:nvPr/>
        </p:nvSpPr>
        <p:spPr>
          <a:xfrm>
            <a:off x="640080" y="5532120"/>
            <a:ext cx="10972800" cy="457200"/>
          </a:xfrm>
          <a:prstGeom prst="rect">
            <a:avLst/>
          </a:prstGeom>
          <a:noFill/>
          <a:ln/>
        </p:spPr>
        <p:txBody>
          <a:bodyPr wrap="square" lIns="0" tIns="0" rIns="0" bIns="0" rtlCol="0" anchor="ctr"/>
          <a:lstStyle/>
          <a:p>
            <a:pPr algn="ctr" indent="0" marL="0">
              <a:buNone/>
            </a:pPr>
            <a:r>
              <a:rPr lang="en-US" sz="1800" b="1" dirty="0">
                <a:solidFill>
                  <a:srgbClr val="13293D"/>
                </a:solidFill>
                <a:latin typeface="Inter" pitchFamily="34" charset="0"/>
                <a:ea typeface="Inter" pitchFamily="34" charset="-122"/>
                <a:cs typeface="Inter" pitchFamily="34" charset="-120"/>
              </a:rPr>
              <a:t>One sentence in this draft came from nowhere. Nobody has spotted it yet.</a:t>
            </a:r>
            <a:endParaRPr lang="en-US" sz="18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1 · AI Foundations &amp; Safety   |   24</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safe draft is back, no name in sight. Now the sneaky ones.</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LAB · TASK 2 OF 2 · 6 MINUTES</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The sneaky ones, live</a:t>
            </a:r>
            <a:endParaRPr lang="en-US" sz="3200" dirty="0"/>
          </a:p>
        </p:txBody>
      </p:sp>
      <p:sp>
        <p:nvSpPr>
          <p:cNvPr id="14" name="Text 11"/>
          <p:cNvSpPr/>
          <p:nvPr/>
        </p:nvSpPr>
        <p:spPr>
          <a:xfrm>
            <a:off x="640080" y="1280160"/>
            <a:ext cx="10972800" cy="411480"/>
          </a:xfrm>
          <a:prstGeom prst="rect">
            <a:avLst/>
          </a:prstGeom>
          <a:noFill/>
          <a:ln/>
        </p:spPr>
        <p:txBody>
          <a:bodyPr wrap="square" lIns="0" tIns="0" rIns="0" bIns="0" rtlCol="0" anchor="ctr"/>
          <a:lstStyle/>
          <a:p>
            <a:pPr indent="0" marL="0">
              <a:buNone/>
            </a:pPr>
            <a:r>
              <a:rPr lang="en-US" sz="1600" dirty="0">
                <a:solidFill>
                  <a:srgbClr val="1B1F24"/>
                </a:solidFill>
                <a:latin typeface="Inter" pitchFamily="34" charset="0"/>
                <a:ea typeface="Inter" pitchFamily="34" charset="-122"/>
                <a:cs typeface="Inter" pitchFamily="34" charset="-120"/>
              </a:rPr>
              <a:t>Each one identifies a child without a name. Pick one, fix it with the 3 moves, type the safe version:</a:t>
            </a:r>
            <a:endParaRPr lang="en-US" sz="1600" dirty="0"/>
          </a:p>
        </p:txBody>
      </p:sp>
      <p:sp>
        <p:nvSpPr>
          <p:cNvPr id="15" name="Shape 12"/>
          <p:cNvSpPr/>
          <p:nvPr/>
        </p:nvSpPr>
        <p:spPr>
          <a:xfrm>
            <a:off x="640080" y="1810512"/>
            <a:ext cx="685800" cy="749808"/>
          </a:xfrm>
          <a:prstGeom prst="roundRect">
            <a:avLst>
              <a:gd name="adj" fmla="val 10667"/>
            </a:avLst>
          </a:prstGeom>
          <a:solidFill>
            <a:srgbClr val="13293D"/>
          </a:solidFill>
          <a:ln w="12700">
            <a:solidFill>
              <a:srgbClr val="13293D"/>
            </a:solidFill>
            <a:prstDash val="solid"/>
          </a:ln>
        </p:spPr>
      </p:sp>
      <p:sp>
        <p:nvSpPr>
          <p:cNvPr id="16" name="Text 13"/>
          <p:cNvSpPr/>
          <p:nvPr/>
        </p:nvSpPr>
        <p:spPr>
          <a:xfrm>
            <a:off x="640080" y="1810512"/>
            <a:ext cx="685800" cy="749808"/>
          </a:xfrm>
          <a:prstGeom prst="rect">
            <a:avLst/>
          </a:prstGeom>
          <a:noFill/>
          <a:ln/>
        </p:spPr>
        <p:txBody>
          <a:bodyPr wrap="square" lIns="0" tIns="0" rIns="0" bIns="0" rtlCol="0" anchor="ctr"/>
          <a:lstStyle/>
          <a:p>
            <a:pPr algn="ctr" indent="0" marL="0">
              <a:buNone/>
            </a:pPr>
            <a:r>
              <a:rPr lang="en-US" sz="2400" b="1" dirty="0">
                <a:solidFill>
                  <a:srgbClr val="FFFFFF"/>
                </a:solidFill>
                <a:latin typeface="Inter" pitchFamily="34" charset="0"/>
                <a:ea typeface="Inter" pitchFamily="34" charset="-122"/>
                <a:cs typeface="Inter" pitchFamily="34" charset="-120"/>
              </a:rPr>
              <a:t>A</a:t>
            </a:r>
            <a:endParaRPr lang="en-US" sz="2400" dirty="0"/>
          </a:p>
        </p:txBody>
      </p:sp>
      <p:sp>
        <p:nvSpPr>
          <p:cNvPr id="17" name="Shape 14"/>
          <p:cNvSpPr/>
          <p:nvPr/>
        </p:nvSpPr>
        <p:spPr>
          <a:xfrm>
            <a:off x="1463040" y="1810512"/>
            <a:ext cx="10149840" cy="749808"/>
          </a:xfrm>
          <a:prstGeom prst="roundRect">
            <a:avLst>
              <a:gd name="adj" fmla="val 10976"/>
            </a:avLst>
          </a:prstGeom>
          <a:solidFill>
            <a:srgbClr val="F7F5F0"/>
          </a:solidFill>
          <a:ln w="12700">
            <a:solidFill>
              <a:srgbClr val="F7F5F0"/>
            </a:solidFill>
            <a:prstDash val="solid"/>
          </a:ln>
        </p:spPr>
      </p:sp>
      <p:sp>
        <p:nvSpPr>
          <p:cNvPr id="18" name="Text 15"/>
          <p:cNvSpPr/>
          <p:nvPr/>
        </p:nvSpPr>
        <p:spPr>
          <a:xfrm>
            <a:off x="1737360" y="1847088"/>
            <a:ext cx="9601200" cy="676656"/>
          </a:xfrm>
          <a:prstGeom prst="rect">
            <a:avLst/>
          </a:prstGeom>
          <a:noFill/>
          <a:ln/>
        </p:spPr>
        <p:txBody>
          <a:bodyPr wrap="square" lIns="0" tIns="0" rIns="0" bIns="0" rtlCol="0" anchor="ctr"/>
          <a:lstStyle/>
          <a:p>
            <a:pPr indent="0" marL="0">
              <a:buNone/>
            </a:pPr>
            <a:r>
              <a:rPr lang="en-US" sz="1650" i="1" dirty="0">
                <a:solidFill>
                  <a:srgbClr val="1B1F24"/>
                </a:solidFill>
                <a:latin typeface="Inter" pitchFamily="34" charset="0"/>
                <a:ea typeface="Inter" pitchFamily="34" charset="-122"/>
                <a:cs typeface="Inter" pitchFamily="34" charset="-120"/>
              </a:rPr>
              <a:t>“Draft an apology note to K.R.’s dad about the mix-up with her medication schedule.”</a:t>
            </a:r>
            <a:endParaRPr lang="en-US" sz="1650" dirty="0"/>
          </a:p>
        </p:txBody>
      </p:sp>
      <p:sp>
        <p:nvSpPr>
          <p:cNvPr id="19" name="Shape 16"/>
          <p:cNvSpPr/>
          <p:nvPr/>
        </p:nvSpPr>
        <p:spPr>
          <a:xfrm>
            <a:off x="640080" y="2697480"/>
            <a:ext cx="685800" cy="749808"/>
          </a:xfrm>
          <a:prstGeom prst="roundRect">
            <a:avLst>
              <a:gd name="adj" fmla="val 10667"/>
            </a:avLst>
          </a:prstGeom>
          <a:solidFill>
            <a:srgbClr val="13293D"/>
          </a:solidFill>
          <a:ln w="12700">
            <a:solidFill>
              <a:srgbClr val="13293D"/>
            </a:solidFill>
            <a:prstDash val="solid"/>
          </a:ln>
        </p:spPr>
      </p:sp>
      <p:sp>
        <p:nvSpPr>
          <p:cNvPr id="20" name="Text 17"/>
          <p:cNvSpPr/>
          <p:nvPr/>
        </p:nvSpPr>
        <p:spPr>
          <a:xfrm>
            <a:off x="640080" y="2697480"/>
            <a:ext cx="685800" cy="749808"/>
          </a:xfrm>
          <a:prstGeom prst="rect">
            <a:avLst/>
          </a:prstGeom>
          <a:noFill/>
          <a:ln/>
        </p:spPr>
        <p:txBody>
          <a:bodyPr wrap="square" lIns="0" tIns="0" rIns="0" bIns="0" rtlCol="0" anchor="ctr"/>
          <a:lstStyle/>
          <a:p>
            <a:pPr algn="ctr" indent="0" marL="0">
              <a:buNone/>
            </a:pPr>
            <a:r>
              <a:rPr lang="en-US" sz="2400" b="1" dirty="0">
                <a:solidFill>
                  <a:srgbClr val="FFFFFF"/>
                </a:solidFill>
                <a:latin typeface="Inter" pitchFamily="34" charset="0"/>
                <a:ea typeface="Inter" pitchFamily="34" charset="-122"/>
                <a:cs typeface="Inter" pitchFamily="34" charset="-120"/>
              </a:rPr>
              <a:t>B</a:t>
            </a:r>
            <a:endParaRPr lang="en-US" sz="2400" dirty="0"/>
          </a:p>
        </p:txBody>
      </p:sp>
      <p:sp>
        <p:nvSpPr>
          <p:cNvPr id="21" name="Shape 18"/>
          <p:cNvSpPr/>
          <p:nvPr/>
        </p:nvSpPr>
        <p:spPr>
          <a:xfrm>
            <a:off x="1463040" y="2697480"/>
            <a:ext cx="10149840" cy="749808"/>
          </a:xfrm>
          <a:prstGeom prst="roundRect">
            <a:avLst>
              <a:gd name="adj" fmla="val 10976"/>
            </a:avLst>
          </a:prstGeom>
          <a:solidFill>
            <a:srgbClr val="F7F5F0"/>
          </a:solidFill>
          <a:ln w="12700">
            <a:solidFill>
              <a:srgbClr val="F7F5F0"/>
            </a:solidFill>
            <a:prstDash val="solid"/>
          </a:ln>
        </p:spPr>
      </p:sp>
      <p:sp>
        <p:nvSpPr>
          <p:cNvPr id="22" name="Text 19"/>
          <p:cNvSpPr/>
          <p:nvPr/>
        </p:nvSpPr>
        <p:spPr>
          <a:xfrm>
            <a:off x="1737360" y="2734056"/>
            <a:ext cx="9601200" cy="676656"/>
          </a:xfrm>
          <a:prstGeom prst="rect">
            <a:avLst/>
          </a:prstGeom>
          <a:noFill/>
          <a:ln/>
        </p:spPr>
        <p:txBody>
          <a:bodyPr wrap="square" lIns="0" tIns="0" rIns="0" bIns="0" rtlCol="0" anchor="ctr"/>
          <a:lstStyle/>
          <a:p>
            <a:pPr indent="0" marL="0">
              <a:buNone/>
            </a:pPr>
            <a:r>
              <a:rPr lang="en-US" sz="1650" i="1" dirty="0">
                <a:solidFill>
                  <a:srgbClr val="1B1F24"/>
                </a:solidFill>
                <a:latin typeface="Inter" pitchFamily="34" charset="0"/>
                <a:ea typeface="Inter" pitchFamily="34" charset="-122"/>
                <a:cs typeface="Inter" pitchFamily="34" charset="-120"/>
              </a:rPr>
              <a:t>“Write a welcome-back note for the family of the student returning from a six-week hospital stay.”</a:t>
            </a:r>
            <a:endParaRPr lang="en-US" sz="1650" dirty="0"/>
          </a:p>
        </p:txBody>
      </p:sp>
      <p:sp>
        <p:nvSpPr>
          <p:cNvPr id="23" name="Shape 20"/>
          <p:cNvSpPr/>
          <p:nvPr/>
        </p:nvSpPr>
        <p:spPr>
          <a:xfrm>
            <a:off x="640080" y="3584448"/>
            <a:ext cx="685800" cy="749808"/>
          </a:xfrm>
          <a:prstGeom prst="roundRect">
            <a:avLst>
              <a:gd name="adj" fmla="val 10667"/>
            </a:avLst>
          </a:prstGeom>
          <a:solidFill>
            <a:srgbClr val="13293D"/>
          </a:solidFill>
          <a:ln w="12700">
            <a:solidFill>
              <a:srgbClr val="13293D"/>
            </a:solidFill>
            <a:prstDash val="solid"/>
          </a:ln>
        </p:spPr>
      </p:sp>
      <p:sp>
        <p:nvSpPr>
          <p:cNvPr id="24" name="Text 21"/>
          <p:cNvSpPr/>
          <p:nvPr/>
        </p:nvSpPr>
        <p:spPr>
          <a:xfrm>
            <a:off x="640080" y="3584448"/>
            <a:ext cx="685800" cy="749808"/>
          </a:xfrm>
          <a:prstGeom prst="rect">
            <a:avLst/>
          </a:prstGeom>
          <a:noFill/>
          <a:ln/>
        </p:spPr>
        <p:txBody>
          <a:bodyPr wrap="square" lIns="0" tIns="0" rIns="0" bIns="0" rtlCol="0" anchor="ctr"/>
          <a:lstStyle/>
          <a:p>
            <a:pPr algn="ctr" indent="0" marL="0">
              <a:buNone/>
            </a:pPr>
            <a:r>
              <a:rPr lang="en-US" sz="2400" b="1" dirty="0">
                <a:solidFill>
                  <a:srgbClr val="FFFFFF"/>
                </a:solidFill>
                <a:latin typeface="Inter" pitchFamily="34" charset="0"/>
                <a:ea typeface="Inter" pitchFamily="34" charset="-122"/>
                <a:cs typeface="Inter" pitchFamily="34" charset="-120"/>
              </a:rPr>
              <a:t>C</a:t>
            </a:r>
            <a:endParaRPr lang="en-US" sz="2400" dirty="0"/>
          </a:p>
        </p:txBody>
      </p:sp>
      <p:sp>
        <p:nvSpPr>
          <p:cNvPr id="25" name="Shape 22"/>
          <p:cNvSpPr/>
          <p:nvPr/>
        </p:nvSpPr>
        <p:spPr>
          <a:xfrm>
            <a:off x="1463040" y="3584448"/>
            <a:ext cx="10149840" cy="749808"/>
          </a:xfrm>
          <a:prstGeom prst="roundRect">
            <a:avLst>
              <a:gd name="adj" fmla="val 10976"/>
            </a:avLst>
          </a:prstGeom>
          <a:solidFill>
            <a:srgbClr val="F7F5F0"/>
          </a:solidFill>
          <a:ln w="12700">
            <a:solidFill>
              <a:srgbClr val="F7F5F0"/>
            </a:solidFill>
            <a:prstDash val="solid"/>
          </a:ln>
        </p:spPr>
      </p:sp>
      <p:sp>
        <p:nvSpPr>
          <p:cNvPr id="26" name="Text 23"/>
          <p:cNvSpPr/>
          <p:nvPr/>
        </p:nvSpPr>
        <p:spPr>
          <a:xfrm>
            <a:off x="1737360" y="3621024"/>
            <a:ext cx="9601200" cy="676656"/>
          </a:xfrm>
          <a:prstGeom prst="rect">
            <a:avLst/>
          </a:prstGeom>
          <a:noFill/>
          <a:ln/>
        </p:spPr>
        <p:txBody>
          <a:bodyPr wrap="square" lIns="0" tIns="0" rIns="0" bIns="0" rtlCol="0" anchor="ctr"/>
          <a:lstStyle/>
          <a:p>
            <a:pPr indent="0" marL="0">
              <a:buNone/>
            </a:pPr>
            <a:r>
              <a:rPr lang="en-US" sz="1650" i="1" dirty="0">
                <a:solidFill>
                  <a:srgbClr val="1B1F24"/>
                </a:solidFill>
                <a:latin typeface="Inter" pitchFamily="34" charset="0"/>
                <a:ea typeface="Inter" pitchFamily="34" charset="-122"/>
                <a:cs typeface="Inter" pitchFamily="34" charset="-120"/>
              </a:rPr>
              <a:t>“Draft a behavior plan for the twins in 3rd period whose parents are separating.”</a:t>
            </a:r>
            <a:endParaRPr lang="en-US" sz="1650" dirty="0"/>
          </a:p>
        </p:txBody>
      </p:sp>
      <p:sp>
        <p:nvSpPr>
          <p:cNvPr id="27" name="Shape 24"/>
          <p:cNvSpPr/>
          <p:nvPr/>
        </p:nvSpPr>
        <p:spPr>
          <a:xfrm>
            <a:off x="640080" y="4471416"/>
            <a:ext cx="685800" cy="749808"/>
          </a:xfrm>
          <a:prstGeom prst="roundRect">
            <a:avLst>
              <a:gd name="adj" fmla="val 10667"/>
            </a:avLst>
          </a:prstGeom>
          <a:solidFill>
            <a:srgbClr val="13293D"/>
          </a:solidFill>
          <a:ln w="12700">
            <a:solidFill>
              <a:srgbClr val="13293D"/>
            </a:solidFill>
            <a:prstDash val="solid"/>
          </a:ln>
        </p:spPr>
      </p:sp>
      <p:sp>
        <p:nvSpPr>
          <p:cNvPr id="28" name="Text 25"/>
          <p:cNvSpPr/>
          <p:nvPr/>
        </p:nvSpPr>
        <p:spPr>
          <a:xfrm>
            <a:off x="640080" y="4471416"/>
            <a:ext cx="685800" cy="749808"/>
          </a:xfrm>
          <a:prstGeom prst="rect">
            <a:avLst/>
          </a:prstGeom>
          <a:noFill/>
          <a:ln/>
        </p:spPr>
        <p:txBody>
          <a:bodyPr wrap="square" lIns="0" tIns="0" rIns="0" bIns="0" rtlCol="0" anchor="ctr"/>
          <a:lstStyle/>
          <a:p>
            <a:pPr algn="ctr" indent="0" marL="0">
              <a:buNone/>
            </a:pPr>
            <a:r>
              <a:rPr lang="en-US" sz="2400" b="1" dirty="0">
                <a:solidFill>
                  <a:srgbClr val="FFFFFF"/>
                </a:solidFill>
                <a:latin typeface="Inter" pitchFamily="34" charset="0"/>
                <a:ea typeface="Inter" pitchFamily="34" charset="-122"/>
                <a:cs typeface="Inter" pitchFamily="34" charset="-120"/>
              </a:rPr>
              <a:t>D</a:t>
            </a:r>
            <a:endParaRPr lang="en-US" sz="2400" dirty="0"/>
          </a:p>
        </p:txBody>
      </p:sp>
      <p:sp>
        <p:nvSpPr>
          <p:cNvPr id="29" name="Shape 26"/>
          <p:cNvSpPr/>
          <p:nvPr/>
        </p:nvSpPr>
        <p:spPr>
          <a:xfrm>
            <a:off x="1463040" y="4471416"/>
            <a:ext cx="10149840" cy="749808"/>
          </a:xfrm>
          <a:prstGeom prst="roundRect">
            <a:avLst>
              <a:gd name="adj" fmla="val 10976"/>
            </a:avLst>
          </a:prstGeom>
          <a:solidFill>
            <a:srgbClr val="F7F5F0"/>
          </a:solidFill>
          <a:ln w="12700">
            <a:solidFill>
              <a:srgbClr val="F7F5F0"/>
            </a:solidFill>
            <a:prstDash val="solid"/>
          </a:ln>
        </p:spPr>
      </p:sp>
      <p:sp>
        <p:nvSpPr>
          <p:cNvPr id="30" name="Text 27"/>
          <p:cNvSpPr/>
          <p:nvPr/>
        </p:nvSpPr>
        <p:spPr>
          <a:xfrm>
            <a:off x="1737360" y="4507992"/>
            <a:ext cx="9601200" cy="676656"/>
          </a:xfrm>
          <a:prstGeom prst="rect">
            <a:avLst/>
          </a:prstGeom>
          <a:noFill/>
          <a:ln/>
        </p:spPr>
        <p:txBody>
          <a:bodyPr wrap="square" lIns="0" tIns="0" rIns="0" bIns="0" rtlCol="0" anchor="ctr"/>
          <a:lstStyle/>
          <a:p>
            <a:pPr indent="0" marL="0">
              <a:buNone/>
            </a:pPr>
            <a:r>
              <a:rPr lang="en-US" sz="1650" i="1" dirty="0">
                <a:solidFill>
                  <a:srgbClr val="1B1F24"/>
                </a:solidFill>
                <a:latin typeface="Inter" pitchFamily="34" charset="0"/>
                <a:ea typeface="Inter" pitchFamily="34" charset="-122"/>
                <a:cs typeface="Inter" pitchFamily="34" charset="-120"/>
              </a:rPr>
              <a:t>“Summarize this IEP meeting recording for my files.”  — pasting a document counts as typing it</a:t>
            </a:r>
            <a:endParaRPr lang="en-US" sz="1650" dirty="0"/>
          </a:p>
        </p:txBody>
      </p:sp>
      <p:sp>
        <p:nvSpPr>
          <p:cNvPr id="31" name="Shape 28"/>
          <p:cNvSpPr/>
          <p:nvPr/>
        </p:nvSpPr>
        <p:spPr>
          <a:xfrm>
            <a:off x="640080" y="5440680"/>
            <a:ext cx="10972800" cy="777240"/>
          </a:xfrm>
          <a:prstGeom prst="roundRect">
            <a:avLst>
              <a:gd name="adj" fmla="val 10588"/>
            </a:avLst>
          </a:prstGeom>
          <a:solidFill>
            <a:srgbClr val="EAF5F3"/>
          </a:solidFill>
          <a:ln w="12700">
            <a:solidFill>
              <a:srgbClr val="EAF5F3"/>
            </a:solidFill>
            <a:prstDash val="solid"/>
          </a:ln>
        </p:spPr>
      </p:sp>
      <p:sp>
        <p:nvSpPr>
          <p:cNvPr id="32" name="Text 29"/>
          <p:cNvSpPr/>
          <p:nvPr/>
        </p:nvSpPr>
        <p:spPr>
          <a:xfrm>
            <a:off x="960120" y="5440680"/>
            <a:ext cx="10332720" cy="777240"/>
          </a:xfrm>
          <a:prstGeom prst="rect">
            <a:avLst/>
          </a:prstGeom>
          <a:noFill/>
          <a:ln/>
        </p:spPr>
        <p:txBody>
          <a:bodyPr wrap="square" lIns="0" tIns="0" rIns="0" bIns="0" rtlCol="0" anchor="ctr"/>
          <a:lstStyle/>
          <a:p>
            <a:pPr indent="0" marL="0">
              <a:buNone/>
            </a:pPr>
            <a:r>
              <a:rPr lang="en-US" sz="1550" b="1" dirty="0">
                <a:solidFill>
                  <a:srgbClr val="13293D"/>
                </a:solidFill>
                <a:latin typeface="Inter" pitchFamily="34" charset="0"/>
                <a:ea typeface="Inter" pitchFamily="34" charset="-122"/>
                <a:cs typeface="Inter" pitchFamily="34" charset="-120"/>
              </a:rPr>
              <a:t>The ten-second test:  </a:t>
            </a:r>
            <a:pPr indent="0" marL="0">
              <a:buNone/>
            </a:pPr>
            <a:r>
              <a:rPr lang="en-US" sz="1550" dirty="0">
                <a:solidFill>
                  <a:srgbClr val="1B1F24"/>
                </a:solidFill>
                <a:latin typeface="Inter" pitchFamily="34" charset="0"/>
                <a:ea typeface="Inter" pitchFamily="34" charset="-122"/>
                <a:cs typeface="Inter" pitchFamily="34" charset="-120"/>
              </a:rPr>
              <a:t>could anyone who knows our school tell who this is? Initials, one-of-a-kind details, rare combinations, and pasted documents all fail it.</a:t>
            </a:r>
            <a:endParaRPr lang="en-US" sz="15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1 · AI Foundations &amp; Safety   |   25</a:t>
            </a:r>
            <a:endParaRPr lang="en-US" sz="900" dirty="0"/>
          </a:p>
        </p:txBody>
      </p:sp>
      <p:sp>
        <p:nvSpPr>
          <p:cNvPr id="5" name="Text 2"/>
          <p:cNvSpPr/>
          <p:nvPr/>
        </p:nvSpPr>
        <p:spPr>
          <a:xfrm>
            <a:off x="566928" y="128016"/>
            <a:ext cx="11055096"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LAB · TASK 2 · ON MS. RIVERA’S SCREEN</a:t>
            </a:r>
            <a:endParaRPr lang="en-US" sz="1200" dirty="0"/>
          </a:p>
        </p:txBody>
      </p:sp>
      <p:sp>
        <p:nvSpPr>
          <p:cNvPr id="6" name="Text 3"/>
          <p:cNvSpPr/>
          <p:nvPr/>
        </p:nvSpPr>
        <p:spPr>
          <a:xfrm>
            <a:off x="548640" y="384048"/>
            <a:ext cx="11091672"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Where the name goes back in</a:t>
            </a:r>
            <a:endParaRPr lang="en-US" sz="3200" dirty="0"/>
          </a:p>
        </p:txBody>
      </p:sp>
      <p:sp>
        <p:nvSpPr>
          <p:cNvPr id="7" name="Shape 4"/>
          <p:cNvSpPr/>
          <p:nvPr/>
        </p:nvSpPr>
        <p:spPr>
          <a:xfrm>
            <a:off x="640080" y="1371600"/>
            <a:ext cx="10972800" cy="3840480"/>
          </a:xfrm>
          <a:prstGeom prst="roundRect">
            <a:avLst>
              <a:gd name="adj" fmla="val 2381"/>
            </a:avLst>
          </a:prstGeom>
          <a:solidFill>
            <a:srgbClr val="FFFFFF"/>
          </a:solidFill>
          <a:ln w="19050">
            <a:solidFill>
              <a:srgbClr val="DCE3EA"/>
            </a:solidFill>
            <a:prstDash val="solid"/>
          </a:ln>
        </p:spPr>
      </p:sp>
      <p:sp>
        <p:nvSpPr>
          <p:cNvPr id="8" name="Shape 5"/>
          <p:cNvSpPr/>
          <p:nvPr/>
        </p:nvSpPr>
        <p:spPr>
          <a:xfrm>
            <a:off x="640080" y="1371600"/>
            <a:ext cx="10972800" cy="384048"/>
          </a:xfrm>
          <a:prstGeom prst="roundRect">
            <a:avLst>
              <a:gd name="adj" fmla="val 23810"/>
            </a:avLst>
          </a:prstGeom>
          <a:solidFill>
            <a:srgbClr val="13293D"/>
          </a:solidFill>
          <a:ln w="12700">
            <a:solidFill>
              <a:srgbClr val="13293D"/>
            </a:solidFill>
            <a:prstDash val="solid"/>
          </a:ln>
        </p:spPr>
      </p:sp>
      <p:sp>
        <p:nvSpPr>
          <p:cNvPr id="9" name="Shape 6"/>
          <p:cNvSpPr/>
          <p:nvPr/>
        </p:nvSpPr>
        <p:spPr>
          <a:xfrm>
            <a:off x="868680" y="1490472"/>
            <a:ext cx="146304" cy="146304"/>
          </a:xfrm>
          <a:prstGeom prst="ellipse">
            <a:avLst/>
          </a:prstGeom>
          <a:solidFill>
            <a:srgbClr val="E8837A"/>
          </a:solidFill>
          <a:ln w="12700">
            <a:solidFill>
              <a:srgbClr val="E8837A"/>
            </a:solidFill>
            <a:prstDash val="solid"/>
          </a:ln>
        </p:spPr>
      </p:sp>
      <p:sp>
        <p:nvSpPr>
          <p:cNvPr id="10" name="Shape 7"/>
          <p:cNvSpPr/>
          <p:nvPr/>
        </p:nvSpPr>
        <p:spPr>
          <a:xfrm>
            <a:off x="1115568" y="1490472"/>
            <a:ext cx="146304" cy="146304"/>
          </a:xfrm>
          <a:prstGeom prst="ellipse">
            <a:avLst/>
          </a:prstGeom>
          <a:solidFill>
            <a:srgbClr val="F4A825"/>
          </a:solidFill>
          <a:ln w="12700">
            <a:solidFill>
              <a:srgbClr val="F4A825"/>
            </a:solidFill>
            <a:prstDash val="solid"/>
          </a:ln>
        </p:spPr>
      </p:sp>
      <p:sp>
        <p:nvSpPr>
          <p:cNvPr id="11" name="Shape 8"/>
          <p:cNvSpPr/>
          <p:nvPr/>
        </p:nvSpPr>
        <p:spPr>
          <a:xfrm>
            <a:off x="1362456" y="1490472"/>
            <a:ext cx="146304" cy="146304"/>
          </a:xfrm>
          <a:prstGeom prst="ellipse">
            <a:avLst/>
          </a:prstGeom>
          <a:solidFill>
            <a:srgbClr val="2E7D5B"/>
          </a:solidFill>
          <a:ln w="12700">
            <a:solidFill>
              <a:srgbClr val="2E7D5B"/>
            </a:solidFill>
            <a:prstDash val="solid"/>
          </a:ln>
        </p:spPr>
      </p:sp>
      <p:sp>
        <p:nvSpPr>
          <p:cNvPr id="12" name="Text 9"/>
          <p:cNvSpPr/>
          <p:nvPr/>
        </p:nvSpPr>
        <p:spPr>
          <a:xfrm>
            <a:off x="1783080" y="1371600"/>
            <a:ext cx="9692640" cy="384048"/>
          </a:xfrm>
          <a:prstGeom prst="rect">
            <a:avLst/>
          </a:prstGeom>
          <a:noFill/>
          <a:ln/>
        </p:spPr>
        <p:txBody>
          <a:bodyPr wrap="square" lIns="0" tIns="0" rIns="0" bIns="0" rtlCol="0" anchor="ctr"/>
          <a:lstStyle/>
          <a:p>
            <a:pPr indent="0" marL="0">
              <a:buNone/>
            </a:pPr>
            <a:r>
              <a:rPr lang="en-US" sz="1100" dirty="0">
                <a:solidFill>
                  <a:srgbClr val="9FB2C2"/>
                </a:solidFill>
                <a:latin typeface="Inter" pitchFamily="34" charset="0"/>
                <a:ea typeface="Inter" pitchFamily="34" charset="-122"/>
                <a:cs typeface="Inter" pitchFamily="34" charset="-120"/>
              </a:rPr>
              <a:t>Her school email account · drafts folder · not the AI tool</a:t>
            </a:r>
            <a:endParaRPr lang="en-US" sz="1100" dirty="0"/>
          </a:p>
        </p:txBody>
      </p:sp>
      <p:sp>
        <p:nvSpPr>
          <p:cNvPr id="13" name="Text 10"/>
          <p:cNvSpPr/>
          <p:nvPr/>
        </p:nvSpPr>
        <p:spPr>
          <a:xfrm>
            <a:off x="1554480" y="1847088"/>
            <a:ext cx="9646920" cy="256032"/>
          </a:xfrm>
          <a:prstGeom prst="rect">
            <a:avLst/>
          </a:prstGeom>
          <a:noFill/>
          <a:ln/>
        </p:spPr>
        <p:txBody>
          <a:bodyPr wrap="square" lIns="0" tIns="0" rIns="0" bIns="0" rtlCol="0" anchor="ctr"/>
          <a:lstStyle/>
          <a:p>
            <a:pPr indent="0" marL="0">
              <a:buNone/>
            </a:pPr>
            <a:r>
              <a:rPr lang="en-US" sz="1100" b="1" spc="150" kern="0" dirty="0">
                <a:solidFill>
                  <a:srgbClr val="2A9D8F"/>
                </a:solidFill>
                <a:latin typeface="Inter" pitchFamily="34" charset="0"/>
                <a:ea typeface="Inter" pitchFamily="34" charset="-122"/>
                <a:cs typeface="Inter" pitchFamily="34" charset="-120"/>
              </a:rPr>
              <a:t>PASTED FROM THE AI TOOL, THEN EDITED IN HER OWN INBOX</a:t>
            </a:r>
            <a:endParaRPr lang="en-US" sz="1100" dirty="0"/>
          </a:p>
        </p:txBody>
      </p:sp>
      <p:sp>
        <p:nvSpPr>
          <p:cNvPr id="14" name="Shape 11"/>
          <p:cNvSpPr/>
          <p:nvPr/>
        </p:nvSpPr>
        <p:spPr>
          <a:xfrm>
            <a:off x="1554480" y="2148840"/>
            <a:ext cx="9646920" cy="2834640"/>
          </a:xfrm>
          <a:prstGeom prst="roundRect">
            <a:avLst>
              <a:gd name="adj" fmla="val 3871"/>
            </a:avLst>
          </a:prstGeom>
          <a:solidFill>
            <a:srgbClr val="F7F5F0"/>
          </a:solidFill>
          <a:ln w="12700">
            <a:solidFill>
              <a:srgbClr val="F7F5F0"/>
            </a:solidFill>
            <a:prstDash val="solid"/>
          </a:ln>
        </p:spPr>
      </p:sp>
      <p:sp>
        <p:nvSpPr>
          <p:cNvPr id="15" name="Text 12"/>
          <p:cNvSpPr/>
          <p:nvPr/>
        </p:nvSpPr>
        <p:spPr>
          <a:xfrm>
            <a:off x="1783080" y="2240280"/>
            <a:ext cx="9189720" cy="2651760"/>
          </a:xfrm>
          <a:prstGeom prst="rect">
            <a:avLst/>
          </a:prstGeom>
          <a:noFill/>
          <a:ln/>
        </p:spPr>
        <p:txBody>
          <a:bodyPr wrap="square" lIns="0" tIns="0" rIns="0" bIns="0" rtlCol="0" anchor="ctr"/>
          <a:lstStyle/>
          <a:p>
            <a:pPr indent="0" marL="0">
              <a:lnSpc>
                <a:spcPct val="112000"/>
              </a:lnSpc>
              <a:buNone/>
            </a:pPr>
            <a:r>
              <a:rPr lang="en-US" sz="1650" dirty="0">
                <a:solidFill>
                  <a:srgbClr val="1B1F24"/>
                </a:solidFill>
                <a:latin typeface="Inter" pitchFamily="34" charset="0"/>
                <a:ea typeface="Inter" pitchFamily="34" charset="-122"/>
                <a:cs typeface="Inter" pitchFamily="34" charset="-120"/>
              </a:rPr>
              <a:t>“Hi Ms. Miller, I wanted to reach out about Jayden’s three missing assignments and the difficult moment he had in class on Tuesday. As we discussed at last week’s conference, steady routines make a real difference. I know stretches like this can be hard, and I’d welcome the chance to talk about how we can support Jayden together. Please let me know a time that works for you.”</a:t>
            </a:r>
            <a:endParaRPr lang="en-US" sz="1650" dirty="0"/>
          </a:p>
        </p:txBody>
      </p:sp>
      <p:sp>
        <p:nvSpPr>
          <p:cNvPr id="16" name="Text 13"/>
          <p:cNvSpPr/>
          <p:nvPr/>
        </p:nvSpPr>
        <p:spPr>
          <a:xfrm>
            <a:off x="640080" y="5440680"/>
            <a:ext cx="10972800" cy="457200"/>
          </a:xfrm>
          <a:prstGeom prst="rect">
            <a:avLst/>
          </a:prstGeom>
          <a:noFill/>
          <a:ln/>
        </p:spPr>
        <p:txBody>
          <a:bodyPr wrap="square" lIns="0" tIns="0" rIns="0" bIns="0" rtlCol="0" anchor="ctr"/>
          <a:lstStyle/>
          <a:p>
            <a:pPr algn="ctr" indent="0" marL="0">
              <a:buNone/>
            </a:pPr>
            <a:r>
              <a:rPr lang="en-US" sz="1800" b="1" dirty="0">
                <a:solidFill>
                  <a:srgbClr val="13293D"/>
                </a:solidFill>
                <a:latin typeface="Inter" pitchFamily="34" charset="0"/>
                <a:ea typeface="Inter" pitchFamily="34" charset="-122"/>
                <a:cs typeface="Inter" pitchFamily="34" charset="-120"/>
              </a:rPr>
              <a:t>Identity goes in last, in her own tools, never in theirs. The AI never met Jayden.</a:t>
            </a:r>
            <a:endParaRPr lang="en-US" sz="18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1 · AI Foundations &amp; Safety   |   26</a:t>
            </a:r>
            <a:endParaRPr lang="en-US" sz="900" dirty="0"/>
          </a:p>
        </p:txBody>
      </p:sp>
      <p:sp>
        <p:nvSpPr>
          <p:cNvPr id="5" name="Text 2"/>
          <p:cNvSpPr/>
          <p:nvPr/>
        </p:nvSpPr>
        <p:spPr>
          <a:xfrm>
            <a:off x="566928" y="128016"/>
            <a:ext cx="11055096"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LAB · TASK 2 · THE READ-THROUGH</a:t>
            </a:r>
            <a:endParaRPr lang="en-US" sz="1200" dirty="0"/>
          </a:p>
        </p:txBody>
      </p:sp>
      <p:sp>
        <p:nvSpPr>
          <p:cNvPr id="6" name="Text 3"/>
          <p:cNvSpPr/>
          <p:nvPr/>
        </p:nvSpPr>
        <p:spPr>
          <a:xfrm>
            <a:off x="548640" y="384048"/>
            <a:ext cx="11091672"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The one thing she caught</a:t>
            </a:r>
            <a:endParaRPr lang="en-US" sz="3200" dirty="0"/>
          </a:p>
        </p:txBody>
      </p:sp>
      <p:sp>
        <p:nvSpPr>
          <p:cNvPr id="7" name="Shape 4"/>
          <p:cNvSpPr/>
          <p:nvPr/>
        </p:nvSpPr>
        <p:spPr>
          <a:xfrm>
            <a:off x="640080" y="1298448"/>
            <a:ext cx="10972800" cy="1481328"/>
          </a:xfrm>
          <a:prstGeom prst="roundRect">
            <a:avLst>
              <a:gd name="adj" fmla="val 5556"/>
            </a:avLst>
          </a:prstGeom>
          <a:solidFill>
            <a:srgbClr val="FBEFED"/>
          </a:solidFill>
          <a:ln w="12700">
            <a:solidFill>
              <a:srgbClr val="FBEFED"/>
            </a:solidFill>
            <a:prstDash val="solid"/>
          </a:ln>
        </p:spPr>
      </p:sp>
      <p:sp>
        <p:nvSpPr>
          <p:cNvPr id="8" name="Text 5"/>
          <p:cNvSpPr/>
          <p:nvPr/>
        </p:nvSpPr>
        <p:spPr>
          <a:xfrm>
            <a:off x="960120" y="1389888"/>
            <a:ext cx="10332720" cy="274320"/>
          </a:xfrm>
          <a:prstGeom prst="rect">
            <a:avLst/>
          </a:prstGeom>
          <a:noFill/>
          <a:ln/>
        </p:spPr>
        <p:txBody>
          <a:bodyPr wrap="square" lIns="0" tIns="0" rIns="0" bIns="0" rtlCol="0" anchor="ctr"/>
          <a:lstStyle/>
          <a:p>
            <a:pPr indent="0" marL="0">
              <a:buNone/>
            </a:pPr>
            <a:r>
              <a:rPr lang="en-US" sz="1150" b="1" spc="150" kern="0" dirty="0">
                <a:solidFill>
                  <a:srgbClr val="B4453A"/>
                </a:solidFill>
                <a:latin typeface="Inter" pitchFamily="34" charset="0"/>
                <a:ea typeface="Inter" pitchFamily="34" charset="-122"/>
                <a:cs typeface="Inter" pitchFamily="34" charset="-120"/>
              </a:rPr>
              <a:t>CAUGHT ON THE READ-THROUGH · A CONFERENCE THAT NEVER HAPPENED</a:t>
            </a:r>
            <a:endParaRPr lang="en-US" sz="1150" dirty="0"/>
          </a:p>
        </p:txBody>
      </p:sp>
      <p:sp>
        <p:nvSpPr>
          <p:cNvPr id="9" name="Text 6"/>
          <p:cNvSpPr/>
          <p:nvPr/>
        </p:nvSpPr>
        <p:spPr>
          <a:xfrm>
            <a:off x="960120" y="1691640"/>
            <a:ext cx="10332720" cy="1005840"/>
          </a:xfrm>
          <a:prstGeom prst="rect">
            <a:avLst/>
          </a:prstGeom>
          <a:noFill/>
          <a:ln/>
        </p:spPr>
        <p:txBody>
          <a:bodyPr wrap="square" lIns="0" tIns="0" rIns="0" bIns="0" rtlCol="0" anchor="t"/>
          <a:lstStyle/>
          <a:p>
            <a:pPr indent="0" marL="0">
              <a:buNone/>
            </a:pPr>
            <a:r>
              <a:rPr lang="en-US" sz="1550" dirty="0">
                <a:solidFill>
                  <a:srgbClr val="1B1F24"/>
                </a:solidFill>
                <a:latin typeface="Inter" pitchFamily="34" charset="0"/>
                <a:ea typeface="Inter" pitchFamily="34" charset="-122"/>
                <a:cs typeface="Inter" pitchFamily="34" charset="-120"/>
              </a:rPr>
              <a:t>Both drafts said “as we discussed at last week’s conference.” She never typed that, and there was no conference. The intern predicted likely words and filled the gap, and the invented sentence survived the three moves, the personalization, and two readings. In an email to a family, an invented shared memory costs the exact trust the email exists to build.</a:t>
            </a:r>
            <a:endParaRPr lang="en-US" sz="1550" dirty="0"/>
          </a:p>
        </p:txBody>
      </p:sp>
      <p:sp>
        <p:nvSpPr>
          <p:cNvPr id="10" name="Shape 7"/>
          <p:cNvSpPr/>
          <p:nvPr/>
        </p:nvSpPr>
        <p:spPr>
          <a:xfrm>
            <a:off x="640080" y="2971800"/>
            <a:ext cx="10972800" cy="2514600"/>
          </a:xfrm>
          <a:prstGeom prst="roundRect">
            <a:avLst>
              <a:gd name="adj" fmla="val 3636"/>
            </a:avLst>
          </a:prstGeom>
          <a:solidFill>
            <a:srgbClr val="FFFFFF"/>
          </a:solidFill>
          <a:ln w="19050">
            <a:solidFill>
              <a:srgbClr val="DCE3EA"/>
            </a:solidFill>
            <a:prstDash val="solid"/>
          </a:ln>
        </p:spPr>
      </p:sp>
      <p:sp>
        <p:nvSpPr>
          <p:cNvPr id="11" name="Shape 8"/>
          <p:cNvSpPr/>
          <p:nvPr/>
        </p:nvSpPr>
        <p:spPr>
          <a:xfrm>
            <a:off x="640080" y="2971800"/>
            <a:ext cx="10972800" cy="384048"/>
          </a:xfrm>
          <a:prstGeom prst="roundRect">
            <a:avLst>
              <a:gd name="adj" fmla="val 23810"/>
            </a:avLst>
          </a:prstGeom>
          <a:solidFill>
            <a:srgbClr val="13293D"/>
          </a:solidFill>
          <a:ln w="12700">
            <a:solidFill>
              <a:srgbClr val="13293D"/>
            </a:solidFill>
            <a:prstDash val="solid"/>
          </a:ln>
        </p:spPr>
      </p:sp>
      <p:sp>
        <p:nvSpPr>
          <p:cNvPr id="12" name="Shape 9"/>
          <p:cNvSpPr/>
          <p:nvPr/>
        </p:nvSpPr>
        <p:spPr>
          <a:xfrm>
            <a:off x="868680" y="3090672"/>
            <a:ext cx="146304" cy="146304"/>
          </a:xfrm>
          <a:prstGeom prst="ellipse">
            <a:avLst/>
          </a:prstGeom>
          <a:solidFill>
            <a:srgbClr val="E8837A"/>
          </a:solidFill>
          <a:ln w="12700">
            <a:solidFill>
              <a:srgbClr val="E8837A"/>
            </a:solidFill>
            <a:prstDash val="solid"/>
          </a:ln>
        </p:spPr>
      </p:sp>
      <p:sp>
        <p:nvSpPr>
          <p:cNvPr id="13" name="Shape 10"/>
          <p:cNvSpPr/>
          <p:nvPr/>
        </p:nvSpPr>
        <p:spPr>
          <a:xfrm>
            <a:off x="1115568" y="3090672"/>
            <a:ext cx="146304" cy="146304"/>
          </a:xfrm>
          <a:prstGeom prst="ellipse">
            <a:avLst/>
          </a:prstGeom>
          <a:solidFill>
            <a:srgbClr val="F4A825"/>
          </a:solidFill>
          <a:ln w="12700">
            <a:solidFill>
              <a:srgbClr val="F4A825"/>
            </a:solidFill>
            <a:prstDash val="solid"/>
          </a:ln>
        </p:spPr>
      </p:sp>
      <p:sp>
        <p:nvSpPr>
          <p:cNvPr id="14" name="Shape 11"/>
          <p:cNvSpPr/>
          <p:nvPr/>
        </p:nvSpPr>
        <p:spPr>
          <a:xfrm>
            <a:off x="1362456" y="3090672"/>
            <a:ext cx="146304" cy="146304"/>
          </a:xfrm>
          <a:prstGeom prst="ellipse">
            <a:avLst/>
          </a:prstGeom>
          <a:solidFill>
            <a:srgbClr val="2E7D5B"/>
          </a:solidFill>
          <a:ln w="12700">
            <a:solidFill>
              <a:srgbClr val="2E7D5B"/>
            </a:solidFill>
            <a:prstDash val="solid"/>
          </a:ln>
        </p:spPr>
      </p:sp>
      <p:sp>
        <p:nvSpPr>
          <p:cNvPr id="15" name="Text 12"/>
          <p:cNvSpPr/>
          <p:nvPr/>
        </p:nvSpPr>
        <p:spPr>
          <a:xfrm>
            <a:off x="1783080" y="2971800"/>
            <a:ext cx="9692640" cy="384048"/>
          </a:xfrm>
          <a:prstGeom prst="rect">
            <a:avLst/>
          </a:prstGeom>
          <a:noFill/>
          <a:ln/>
        </p:spPr>
        <p:txBody>
          <a:bodyPr wrap="square" lIns="0" tIns="0" rIns="0" bIns="0" rtlCol="0" anchor="ctr"/>
          <a:lstStyle/>
          <a:p>
            <a:pPr indent="0" marL="0">
              <a:buNone/>
            </a:pPr>
            <a:r>
              <a:rPr lang="en-US" sz="1100" dirty="0">
                <a:solidFill>
                  <a:srgbClr val="9FB2C2"/>
                </a:solidFill>
                <a:latin typeface="Inter" pitchFamily="34" charset="0"/>
                <a:ea typeface="Inter" pitchFamily="34" charset="-122"/>
                <a:cs typeface="Inter" pitchFamily="34" charset="-120"/>
              </a:rPr>
              <a:t>Her school email account · sent</a:t>
            </a:r>
            <a:endParaRPr lang="en-US" sz="1100" dirty="0"/>
          </a:p>
        </p:txBody>
      </p:sp>
      <p:sp>
        <p:nvSpPr>
          <p:cNvPr id="16" name="Text 13"/>
          <p:cNvSpPr/>
          <p:nvPr/>
        </p:nvSpPr>
        <p:spPr>
          <a:xfrm>
            <a:off x="1554480" y="3429000"/>
            <a:ext cx="9646920" cy="256032"/>
          </a:xfrm>
          <a:prstGeom prst="rect">
            <a:avLst/>
          </a:prstGeom>
          <a:noFill/>
          <a:ln/>
        </p:spPr>
        <p:txBody>
          <a:bodyPr wrap="square" lIns="0" tIns="0" rIns="0" bIns="0" rtlCol="0" anchor="ctr"/>
          <a:lstStyle/>
          <a:p>
            <a:pPr indent="0" marL="0">
              <a:buNone/>
            </a:pPr>
            <a:r>
              <a:rPr lang="en-US" sz="1100" b="1" spc="150" kern="0" dirty="0">
                <a:solidFill>
                  <a:srgbClr val="2E7D5B"/>
                </a:solidFill>
                <a:latin typeface="Inter" pitchFamily="34" charset="0"/>
                <a:ea typeface="Inter" pitchFamily="34" charset="-122"/>
                <a:cs typeface="Inter" pitchFamily="34" charset="-120"/>
              </a:rPr>
              <a:t>WHAT SHE SENT · EVERY DETAIL CHECKED FIRST</a:t>
            </a:r>
            <a:endParaRPr lang="en-US" sz="1100" dirty="0"/>
          </a:p>
        </p:txBody>
      </p:sp>
      <p:sp>
        <p:nvSpPr>
          <p:cNvPr id="17" name="Shape 14"/>
          <p:cNvSpPr/>
          <p:nvPr/>
        </p:nvSpPr>
        <p:spPr>
          <a:xfrm>
            <a:off x="1554480" y="3730752"/>
            <a:ext cx="9646920" cy="1572768"/>
          </a:xfrm>
          <a:prstGeom prst="roundRect">
            <a:avLst>
              <a:gd name="adj" fmla="val 6977"/>
            </a:avLst>
          </a:prstGeom>
          <a:solidFill>
            <a:srgbClr val="F7F5F0"/>
          </a:solidFill>
          <a:ln w="12700">
            <a:solidFill>
              <a:srgbClr val="F7F5F0"/>
            </a:solidFill>
            <a:prstDash val="solid"/>
          </a:ln>
        </p:spPr>
      </p:sp>
      <p:sp>
        <p:nvSpPr>
          <p:cNvPr id="18" name="Text 15"/>
          <p:cNvSpPr/>
          <p:nvPr/>
        </p:nvSpPr>
        <p:spPr>
          <a:xfrm>
            <a:off x="1783080" y="3794760"/>
            <a:ext cx="9189720" cy="1426464"/>
          </a:xfrm>
          <a:prstGeom prst="rect">
            <a:avLst/>
          </a:prstGeom>
          <a:noFill/>
          <a:ln/>
        </p:spPr>
        <p:txBody>
          <a:bodyPr wrap="square" lIns="0" tIns="0" rIns="0" bIns="0" rtlCol="0" anchor="ctr"/>
          <a:lstStyle/>
          <a:p>
            <a:pPr indent="0" marL="0">
              <a:lnSpc>
                <a:spcPct val="112000"/>
              </a:lnSpc>
              <a:buNone/>
            </a:pPr>
            <a:r>
              <a:rPr lang="en-US" sz="1550" dirty="0">
                <a:solidFill>
                  <a:srgbClr val="1B1F24"/>
                </a:solidFill>
                <a:latin typeface="Inter" pitchFamily="34" charset="0"/>
                <a:ea typeface="Inter" pitchFamily="34" charset="-122"/>
                <a:cs typeface="Inter" pitchFamily="34" charset="-120"/>
              </a:rPr>
              <a:t>“Hi Ms. Miller, I wanted to reach out about Jayden’s three missing assignments and the difficult moment he had in class on Tuesday. I know stretches like this can be hard, and I’d welcome the chance to talk about how we can support Jayden together. Please let me know a time that works for you.”</a:t>
            </a:r>
            <a:endParaRPr lang="en-US" sz="1550" dirty="0"/>
          </a:p>
        </p:txBody>
      </p:sp>
      <p:sp>
        <p:nvSpPr>
          <p:cNvPr id="19" name="Text 16"/>
          <p:cNvSpPr/>
          <p:nvPr/>
        </p:nvSpPr>
        <p:spPr>
          <a:xfrm>
            <a:off x="640080" y="5650992"/>
            <a:ext cx="10972800" cy="411480"/>
          </a:xfrm>
          <a:prstGeom prst="rect">
            <a:avLst/>
          </a:prstGeom>
          <a:noFill/>
          <a:ln/>
        </p:spPr>
        <p:txBody>
          <a:bodyPr wrap="square" lIns="0" tIns="0" rIns="0" bIns="0" rtlCol="0" anchor="ctr"/>
          <a:lstStyle/>
          <a:p>
            <a:pPr algn="ctr" indent="0" marL="0">
              <a:buNone/>
            </a:pPr>
            <a:r>
              <a:rPr lang="en-US" sz="1800" b="1" dirty="0">
                <a:solidFill>
                  <a:srgbClr val="13293D"/>
                </a:solidFill>
                <a:latin typeface="Inter" pitchFamily="34" charset="0"/>
                <a:ea typeface="Inter" pitchFamily="34" charset="-122"/>
                <a:cs typeface="Inter" pitchFamily="34" charset="-120"/>
              </a:rPr>
              <a:t>Nothing left in it she didn’t verify. That read-through has your name on it.</a:t>
            </a:r>
            <a:endParaRPr lang="en-US" sz="18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1 · AI Foundations &amp; Safety   |   27</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email's arc: 3 moves, safe draft, name added back in her inbox. One invented detail caught.</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DEBRIEF · 3–4 VOICES</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What did you notice?</a:t>
            </a:r>
            <a:endParaRPr lang="en-US" sz="3200" dirty="0"/>
          </a:p>
        </p:txBody>
      </p:sp>
      <p:sp>
        <p:nvSpPr>
          <p:cNvPr id="14" name="Text 11"/>
          <p:cNvSpPr/>
          <p:nvPr/>
        </p:nvSpPr>
        <p:spPr>
          <a:xfrm>
            <a:off x="640080" y="1463040"/>
            <a:ext cx="10908792" cy="2194560"/>
          </a:xfrm>
          <a:prstGeom prst="rect">
            <a:avLst/>
          </a:prstGeom>
          <a:noFill/>
          <a:ln/>
        </p:spPr>
        <p:txBody>
          <a:bodyPr wrap="square" rtlCol="0" anchor="t"/>
          <a:lstStyle/>
          <a:p>
            <a:pPr marL="342900" indent="-342900">
              <a:spcAft>
                <a:spcPts val="1000"/>
              </a:spcAft>
              <a:buSzPct val="100000"/>
              <a:buChar char="•"/>
            </a:pPr>
            <a:r>
              <a:rPr lang="en-US" sz="2300" dirty="0">
                <a:solidFill>
                  <a:srgbClr val="1B1F24"/>
                </a:solidFill>
                <a:latin typeface="Inter" pitchFamily="34" charset="0"/>
                <a:ea typeface="Inter" pitchFamily="34" charset="-122"/>
                <a:cs typeface="Inter" pitchFamily="34" charset="-120"/>
              </a:rPr>
              <a:t>What did the safe version cost you? (Usually: nothing.)</a:t>
            </a:r>
            <a:endParaRPr lang="en-US" sz="2300" dirty="0"/>
          </a:p>
          <a:p>
            <a:pPr marL="342900" indent="-342900">
              <a:spcAft>
                <a:spcPts val="1000"/>
              </a:spcAft>
              <a:buSzPct val="100000"/>
              <a:buChar char="•"/>
            </a:pPr>
            <a:r>
              <a:rPr lang="en-US" sz="2300" dirty="0">
                <a:solidFill>
                  <a:srgbClr val="1B1F24"/>
                </a:solidFill>
                <a:latin typeface="Inter" pitchFamily="34" charset="0"/>
                <a:ea typeface="Inter" pitchFamily="34" charset="-122"/>
                <a:cs typeface="Inter" pitchFamily="34" charset="-120"/>
              </a:rPr>
              <a:t>What surprised you about how little the tool needed to know?</a:t>
            </a:r>
            <a:endParaRPr lang="en-US" sz="2300" dirty="0"/>
          </a:p>
          <a:p>
            <a:pPr marL="342900" indent="-342900">
              <a:spcAft>
                <a:spcPts val="1000"/>
              </a:spcAft>
              <a:buSzPct val="100000"/>
              <a:buChar char="•"/>
            </a:pPr>
            <a:r>
              <a:rPr lang="en-US" sz="2300" b="1" dirty="0">
                <a:solidFill>
                  <a:srgbClr val="13293D"/>
                </a:solidFill>
                <a:latin typeface="Inter" pitchFamily="34" charset="0"/>
                <a:ea typeface="Inter" pitchFamily="34" charset="-122"/>
                <a:cs typeface="Inter" pitchFamily="34" charset="-120"/>
              </a:rPr>
              <a:t>Did anyone catch a detail it invented?</a:t>
            </a:r>
            <a:endParaRPr lang="en-US" sz="2300" dirty="0"/>
          </a:p>
        </p:txBody>
      </p:sp>
      <p:sp>
        <p:nvSpPr>
          <p:cNvPr id="15" name="Shape 12"/>
          <p:cNvSpPr/>
          <p:nvPr/>
        </p:nvSpPr>
        <p:spPr>
          <a:xfrm>
            <a:off x="640080" y="3931920"/>
            <a:ext cx="10972800" cy="1828800"/>
          </a:xfrm>
          <a:prstGeom prst="roundRect">
            <a:avLst>
              <a:gd name="adj" fmla="val 4500"/>
            </a:avLst>
          </a:prstGeom>
          <a:solidFill>
            <a:srgbClr val="F7F5F0"/>
          </a:solidFill>
          <a:ln w="12700">
            <a:solidFill>
              <a:srgbClr val="F7F5F0"/>
            </a:solidFill>
            <a:prstDash val="solid"/>
          </a:ln>
        </p:spPr>
      </p:sp>
      <p:sp>
        <p:nvSpPr>
          <p:cNvPr id="16" name="Text 13"/>
          <p:cNvSpPr/>
          <p:nvPr/>
        </p:nvSpPr>
        <p:spPr>
          <a:xfrm>
            <a:off x="960120" y="4160520"/>
            <a:ext cx="10332720" cy="1463040"/>
          </a:xfrm>
          <a:prstGeom prst="rect">
            <a:avLst/>
          </a:prstGeom>
          <a:noFill/>
          <a:ln/>
        </p:spPr>
        <p:txBody>
          <a:bodyPr wrap="square" lIns="0" tIns="0" rIns="0" bIns="0" rtlCol="0" anchor="ctr"/>
          <a:lstStyle/>
          <a:p>
            <a:pPr indent="0" marL="0">
              <a:buNone/>
            </a:pPr>
            <a:r>
              <a:rPr lang="en-US" sz="1900" b="1" dirty="0">
                <a:solidFill>
                  <a:srgbClr val="13293D"/>
                </a:solidFill>
                <a:latin typeface="Inter" pitchFamily="34" charset="0"/>
                <a:ea typeface="Inter" pitchFamily="34" charset="-122"/>
                <a:cs typeface="Inter" pitchFamily="34" charset="-120"/>
              </a:rPr>
              <a:t>Two patterns worth naming:  </a:t>
            </a:r>
            <a:pPr indent="0" marL="0">
              <a:buNone/>
            </a:pPr>
            <a:r>
              <a:rPr lang="en-US" sz="1900" dirty="0">
                <a:solidFill>
                  <a:srgbClr val="1B1F24"/>
                </a:solidFill>
                <a:latin typeface="Inter" pitchFamily="34" charset="0"/>
                <a:ea typeface="Inter" pitchFamily="34" charset="-122"/>
                <a:cs typeface="Inter" pitchFamily="34" charset="-120"/>
              </a:rPr>
              <a:t>the work never needed the child — describe the need and the draft gets better, not worse, which is why the rule costs nothing in practice. And everything you just made still needs your eyes: it’s fast, it’s fluent, and it’s unsigned until a professional signs it.</a:t>
            </a:r>
            <a:endParaRPr lang="en-US" sz="19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1 · AI Foundations &amp; Safety   |   28</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rule for what leaves her desk: nothing AI-drafted goes out unread.</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THE COMPANION HABIT</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The human stays in charge</a:t>
            </a:r>
            <a:endParaRPr lang="en-US" sz="3200" dirty="0"/>
          </a:p>
        </p:txBody>
      </p:sp>
      <p:sp>
        <p:nvSpPr>
          <p:cNvPr id="14" name="Shape 11"/>
          <p:cNvSpPr/>
          <p:nvPr/>
        </p:nvSpPr>
        <p:spPr>
          <a:xfrm>
            <a:off x="640080" y="1554480"/>
            <a:ext cx="10972800" cy="1737360"/>
          </a:xfrm>
          <a:prstGeom prst="roundRect">
            <a:avLst>
              <a:gd name="adj" fmla="val 4737"/>
            </a:avLst>
          </a:prstGeom>
          <a:solidFill>
            <a:srgbClr val="13293D"/>
          </a:solidFill>
          <a:ln w="12700">
            <a:solidFill>
              <a:srgbClr val="13293D"/>
            </a:solidFill>
            <a:prstDash val="solid"/>
          </a:ln>
        </p:spPr>
      </p:sp>
      <p:sp>
        <p:nvSpPr>
          <p:cNvPr id="15" name="Text 12"/>
          <p:cNvSpPr/>
          <p:nvPr/>
        </p:nvSpPr>
        <p:spPr>
          <a:xfrm>
            <a:off x="1005840" y="1783080"/>
            <a:ext cx="10241280" cy="1280160"/>
          </a:xfrm>
          <a:prstGeom prst="rect">
            <a:avLst/>
          </a:prstGeom>
          <a:noFill/>
          <a:ln/>
        </p:spPr>
        <p:txBody>
          <a:bodyPr wrap="square" lIns="0" tIns="0" rIns="0" bIns="0" rtlCol="0" anchor="ctr"/>
          <a:lstStyle/>
          <a:p>
            <a:pPr indent="0" marL="0">
              <a:buNone/>
            </a:pPr>
            <a:r>
              <a:rPr lang="en-US" sz="2500" b="1" dirty="0">
                <a:solidFill>
                  <a:srgbClr val="FFFFFF"/>
                </a:solidFill>
                <a:latin typeface="Inter" pitchFamily="34" charset="0"/>
                <a:ea typeface="Inter" pitchFamily="34" charset="-122"/>
                <a:cs typeface="Inter" pitchFamily="34" charset="-120"/>
              </a:rPr>
              <a:t>Nothing AI-drafted reaches a student or a parent without a human reading it first.</a:t>
            </a:r>
            <a:endParaRPr lang="en-US" sz="2500" dirty="0"/>
          </a:p>
        </p:txBody>
      </p:sp>
      <p:sp>
        <p:nvSpPr>
          <p:cNvPr id="16" name="Text 13"/>
          <p:cNvSpPr/>
          <p:nvPr/>
        </p:nvSpPr>
        <p:spPr>
          <a:xfrm>
            <a:off x="640080" y="3611880"/>
            <a:ext cx="10908792" cy="2194560"/>
          </a:xfrm>
          <a:prstGeom prst="rect">
            <a:avLst/>
          </a:prstGeom>
          <a:noFill/>
          <a:ln/>
        </p:spPr>
        <p:txBody>
          <a:bodyPr wrap="square" rtlCol="0" anchor="t"/>
          <a:lstStyle/>
          <a:p>
            <a:pPr marL="342900" indent="-342900">
              <a:spcAft>
                <a:spcPts val="1000"/>
              </a:spcAft>
              <a:buSzPct val="100000"/>
              <a:buChar char="•"/>
            </a:pPr>
            <a:r>
              <a:rPr lang="en-US" sz="2000" dirty="0">
                <a:solidFill>
                  <a:srgbClr val="1B1F24"/>
                </a:solidFill>
                <a:latin typeface="Inter" pitchFamily="34" charset="0"/>
                <a:ea typeface="Inter" pitchFamily="34" charset="-122"/>
                <a:cs typeface="Inter" pitchFamily="34" charset="-120"/>
              </a:rPr>
              <a:t>Not because it’s usually wrong, but because sometimes it is, and your name is on it</a:t>
            </a:r>
            <a:endParaRPr lang="en-US" sz="2000" dirty="0"/>
          </a:p>
          <a:p>
            <a:pPr marL="342900" indent="-342900">
              <a:spcAft>
                <a:spcPts val="1000"/>
              </a:spcAft>
              <a:buSzPct val="100000"/>
              <a:buChar char="•"/>
            </a:pPr>
            <a:r>
              <a:rPr lang="en-US" sz="2000" dirty="0">
                <a:solidFill>
                  <a:srgbClr val="1B1F24"/>
                </a:solidFill>
                <a:latin typeface="Inter" pitchFamily="34" charset="0"/>
                <a:ea typeface="Inter" pitchFamily="34" charset="-122"/>
                <a:cs typeface="Inter" pitchFamily="34" charset="-120"/>
              </a:rPr>
              <a:t>Federal guidance says it in three words: keep humans in the loop (U.S. Dept. of Education, 2023)</a:t>
            </a:r>
            <a:endParaRPr lang="en-US" sz="2000" dirty="0"/>
          </a:p>
          <a:p>
            <a:pPr marL="342900" indent="-342900">
              <a:spcAft>
                <a:spcPts val="1000"/>
              </a:spcAft>
              <a:buSzPct val="100000"/>
              <a:buChar char="•"/>
            </a:pPr>
            <a:r>
              <a:rPr lang="en-US" sz="2000" b="1" dirty="0">
                <a:solidFill>
                  <a:srgbClr val="13293D"/>
                </a:solidFill>
                <a:latin typeface="Inter" pitchFamily="34" charset="0"/>
                <a:ea typeface="Inter" pitchFamily="34" charset="-122"/>
                <a:cs typeface="Inter" pitchFamily="34" charset="-120"/>
              </a:rPr>
              <a:t>In this building: AI drafts, the teacher decides. Always.</a:t>
            </a:r>
            <a:endParaRPr lang="en-US" sz="20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1 · AI Foundations &amp; Safety   |   29</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guardrails: keep her own voice; drafts never become decisions.</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TRUST REQUIRES HONESTY</a:t>
            </a:r>
            <a:endParaRPr lang="en-US" sz="1200" dirty="0"/>
          </a:p>
        </p:txBody>
      </p:sp>
      <p:sp>
        <p:nvSpPr>
          <p:cNvPr id="13" name="Text 10"/>
          <p:cNvSpPr/>
          <p:nvPr/>
        </p:nvSpPr>
        <p:spPr>
          <a:xfrm>
            <a:off x="548640" y="457200"/>
            <a:ext cx="7955280" cy="914400"/>
          </a:xfrm>
          <a:prstGeom prst="rect">
            <a:avLst/>
          </a:prstGeom>
          <a:noFill/>
          <a:ln/>
        </p:spPr>
        <p:txBody>
          <a:bodyPr wrap="square" lIns="0" tIns="0" rIns="0" bIns="0" rtlCol="0" anchor="t"/>
          <a:lstStyle/>
          <a:p>
            <a:pPr indent="0" marL="0">
              <a:buNone/>
            </a:pPr>
            <a:r>
              <a:rPr lang="en-US" sz="2800" b="1" dirty="0">
                <a:solidFill>
                  <a:srgbClr val="13293D"/>
                </a:solidFill>
                <a:latin typeface="Inter" pitchFamily="34" charset="0"/>
                <a:ea typeface="Inter" pitchFamily="34" charset="-122"/>
                <a:cs typeface="Inter" pitchFamily="34" charset="-120"/>
              </a:rPr>
              <a:t>Honest limits: the risks are real</a:t>
            </a:r>
            <a:endParaRPr lang="en-US" sz="2800" dirty="0"/>
          </a:p>
        </p:txBody>
      </p:sp>
      <p:sp>
        <p:nvSpPr>
          <p:cNvPr id="14" name="Shape 11"/>
          <p:cNvSpPr/>
          <p:nvPr/>
        </p:nvSpPr>
        <p:spPr>
          <a:xfrm>
            <a:off x="640080" y="1554480"/>
            <a:ext cx="3520440" cy="3108960"/>
          </a:xfrm>
          <a:prstGeom prst="roundRect">
            <a:avLst>
              <a:gd name="adj" fmla="val 2647"/>
            </a:avLst>
          </a:prstGeom>
          <a:solidFill>
            <a:srgbClr val="F7F5F0"/>
          </a:solidFill>
          <a:ln w="12700">
            <a:solidFill>
              <a:srgbClr val="F7F5F0"/>
            </a:solidFill>
            <a:prstDash val="solid"/>
          </a:ln>
        </p:spPr>
      </p:sp>
      <p:sp>
        <p:nvSpPr>
          <p:cNvPr id="15" name="Text 12"/>
          <p:cNvSpPr/>
          <p:nvPr/>
        </p:nvSpPr>
        <p:spPr>
          <a:xfrm>
            <a:off x="896112" y="1828800"/>
            <a:ext cx="3017520" cy="457200"/>
          </a:xfrm>
          <a:prstGeom prst="rect">
            <a:avLst/>
          </a:prstGeom>
          <a:noFill/>
          <a:ln/>
        </p:spPr>
        <p:txBody>
          <a:bodyPr wrap="square" lIns="0" tIns="0" rIns="0" bIns="0" rtlCol="0" anchor="ctr"/>
          <a:lstStyle/>
          <a:p>
            <a:pPr indent="0" marL="0">
              <a:buNone/>
            </a:pPr>
            <a:r>
              <a:rPr lang="en-US" sz="2100" b="1" dirty="0">
                <a:solidFill>
                  <a:srgbClr val="B4453A"/>
                </a:solidFill>
                <a:latin typeface="Inter" pitchFamily="34" charset="0"/>
                <a:ea typeface="Inter" pitchFamily="34" charset="-122"/>
                <a:cs typeface="Inter" pitchFamily="34" charset="-120"/>
              </a:rPr>
              <a:t>Over-reliance</a:t>
            </a:r>
            <a:endParaRPr lang="en-US" sz="2100" dirty="0"/>
          </a:p>
        </p:txBody>
      </p:sp>
      <p:sp>
        <p:nvSpPr>
          <p:cNvPr id="16" name="Text 13"/>
          <p:cNvSpPr/>
          <p:nvPr/>
        </p:nvSpPr>
        <p:spPr>
          <a:xfrm>
            <a:off x="896112" y="2377440"/>
            <a:ext cx="3017520" cy="2103120"/>
          </a:xfrm>
          <a:prstGeom prst="rect">
            <a:avLst/>
          </a:prstGeom>
          <a:noFill/>
          <a:ln/>
        </p:spPr>
        <p:txBody>
          <a:bodyPr wrap="square" lIns="0" tIns="0" rIns="0" bIns="0" rtlCol="0" anchor="t"/>
          <a:lstStyle/>
          <a:p>
            <a:pPr indent="0" marL="0">
              <a:buNone/>
            </a:pPr>
            <a:r>
              <a:rPr lang="en-US" sz="1600" dirty="0">
                <a:solidFill>
                  <a:srgbClr val="1B1F24"/>
                </a:solidFill>
                <a:latin typeface="Inter" pitchFamily="34" charset="0"/>
                <a:ea typeface="Inter" pitchFamily="34" charset="-122"/>
                <a:cs typeface="Inter" pitchFamily="34" charset="-120"/>
              </a:rPr>
              <a:t>If the tool writes everything, your writing muscle atrophies; students’ too</a:t>
            </a:r>
            <a:endParaRPr lang="en-US" sz="1600" dirty="0"/>
          </a:p>
        </p:txBody>
      </p:sp>
      <p:sp>
        <p:nvSpPr>
          <p:cNvPr id="17" name="Shape 14"/>
          <p:cNvSpPr/>
          <p:nvPr/>
        </p:nvSpPr>
        <p:spPr>
          <a:xfrm>
            <a:off x="4407408" y="1554480"/>
            <a:ext cx="3520440" cy="3108960"/>
          </a:xfrm>
          <a:prstGeom prst="roundRect">
            <a:avLst>
              <a:gd name="adj" fmla="val 2647"/>
            </a:avLst>
          </a:prstGeom>
          <a:solidFill>
            <a:srgbClr val="F7F5F0"/>
          </a:solidFill>
          <a:ln w="12700">
            <a:solidFill>
              <a:srgbClr val="F7F5F0"/>
            </a:solidFill>
            <a:prstDash val="solid"/>
          </a:ln>
        </p:spPr>
      </p:sp>
      <p:sp>
        <p:nvSpPr>
          <p:cNvPr id="18" name="Text 15"/>
          <p:cNvSpPr/>
          <p:nvPr/>
        </p:nvSpPr>
        <p:spPr>
          <a:xfrm>
            <a:off x="4663440" y="1828800"/>
            <a:ext cx="3017520" cy="457200"/>
          </a:xfrm>
          <a:prstGeom prst="rect">
            <a:avLst/>
          </a:prstGeom>
          <a:noFill/>
          <a:ln/>
        </p:spPr>
        <p:txBody>
          <a:bodyPr wrap="square" lIns="0" tIns="0" rIns="0" bIns="0" rtlCol="0" anchor="ctr"/>
          <a:lstStyle/>
          <a:p>
            <a:pPr indent="0" marL="0">
              <a:buNone/>
            </a:pPr>
            <a:r>
              <a:rPr lang="en-US" sz="2100" b="1" dirty="0">
                <a:solidFill>
                  <a:srgbClr val="B4453A"/>
                </a:solidFill>
                <a:latin typeface="Inter" pitchFamily="34" charset="0"/>
                <a:ea typeface="Inter" pitchFamily="34" charset="-122"/>
                <a:cs typeface="Inter" pitchFamily="34" charset="-120"/>
              </a:rPr>
              <a:t>Sameness</a:t>
            </a:r>
            <a:endParaRPr lang="en-US" sz="2100" dirty="0"/>
          </a:p>
        </p:txBody>
      </p:sp>
      <p:sp>
        <p:nvSpPr>
          <p:cNvPr id="19" name="Text 16"/>
          <p:cNvSpPr/>
          <p:nvPr/>
        </p:nvSpPr>
        <p:spPr>
          <a:xfrm>
            <a:off x="4663440" y="2377440"/>
            <a:ext cx="3017520" cy="2103120"/>
          </a:xfrm>
          <a:prstGeom prst="rect">
            <a:avLst/>
          </a:prstGeom>
          <a:noFill/>
          <a:ln/>
        </p:spPr>
        <p:txBody>
          <a:bodyPr wrap="square" lIns="0" tIns="0" rIns="0" bIns="0" rtlCol="0" anchor="t"/>
          <a:lstStyle/>
          <a:p>
            <a:pPr indent="0" marL="0">
              <a:buNone/>
            </a:pPr>
            <a:r>
              <a:rPr lang="en-US" sz="1600" dirty="0">
                <a:solidFill>
                  <a:srgbClr val="1B1F24"/>
                </a:solidFill>
                <a:latin typeface="Inter" pitchFamily="34" charset="0"/>
                <a:ea typeface="Inter" pitchFamily="34" charset="-122"/>
                <a:cs typeface="Inter" pitchFamily="34" charset="-120"/>
              </a:rPr>
              <a:t>AI output has a beige, everyone-sounds-alike quality; your voice is worth protecting</a:t>
            </a:r>
            <a:endParaRPr lang="en-US" sz="1600" dirty="0"/>
          </a:p>
        </p:txBody>
      </p:sp>
      <p:sp>
        <p:nvSpPr>
          <p:cNvPr id="20" name="Shape 17"/>
          <p:cNvSpPr/>
          <p:nvPr/>
        </p:nvSpPr>
        <p:spPr>
          <a:xfrm>
            <a:off x="8174736" y="1554480"/>
            <a:ext cx="3520440" cy="3108960"/>
          </a:xfrm>
          <a:prstGeom prst="roundRect">
            <a:avLst>
              <a:gd name="adj" fmla="val 2647"/>
            </a:avLst>
          </a:prstGeom>
          <a:solidFill>
            <a:srgbClr val="F7F5F0"/>
          </a:solidFill>
          <a:ln w="12700">
            <a:solidFill>
              <a:srgbClr val="F7F5F0"/>
            </a:solidFill>
            <a:prstDash val="solid"/>
          </a:ln>
        </p:spPr>
      </p:sp>
      <p:sp>
        <p:nvSpPr>
          <p:cNvPr id="21" name="Text 18"/>
          <p:cNvSpPr/>
          <p:nvPr/>
        </p:nvSpPr>
        <p:spPr>
          <a:xfrm>
            <a:off x="8430768" y="1828800"/>
            <a:ext cx="3017520" cy="457200"/>
          </a:xfrm>
          <a:prstGeom prst="rect">
            <a:avLst/>
          </a:prstGeom>
          <a:noFill/>
          <a:ln/>
        </p:spPr>
        <p:txBody>
          <a:bodyPr wrap="square" lIns="0" tIns="0" rIns="0" bIns="0" rtlCol="0" anchor="ctr"/>
          <a:lstStyle/>
          <a:p>
            <a:pPr indent="0" marL="0">
              <a:buNone/>
            </a:pPr>
            <a:r>
              <a:rPr lang="en-US" sz="2100" b="1" dirty="0">
                <a:solidFill>
                  <a:srgbClr val="B4453A"/>
                </a:solidFill>
                <a:latin typeface="Inter" pitchFamily="34" charset="0"/>
                <a:ea typeface="Inter" pitchFamily="34" charset="-122"/>
                <a:cs typeface="Inter" pitchFamily="34" charset="-120"/>
              </a:rPr>
              <a:t>Drift</a:t>
            </a:r>
            <a:endParaRPr lang="en-US" sz="2100" dirty="0"/>
          </a:p>
        </p:txBody>
      </p:sp>
      <p:sp>
        <p:nvSpPr>
          <p:cNvPr id="22" name="Text 19"/>
          <p:cNvSpPr/>
          <p:nvPr/>
        </p:nvSpPr>
        <p:spPr>
          <a:xfrm>
            <a:off x="8430768" y="2377440"/>
            <a:ext cx="3017520" cy="2103120"/>
          </a:xfrm>
          <a:prstGeom prst="rect">
            <a:avLst/>
          </a:prstGeom>
          <a:noFill/>
          <a:ln/>
        </p:spPr>
        <p:txBody>
          <a:bodyPr wrap="square" lIns="0" tIns="0" rIns="0" bIns="0" rtlCol="0" anchor="t"/>
          <a:lstStyle/>
          <a:p>
            <a:pPr indent="0" marL="0">
              <a:buNone/>
            </a:pPr>
            <a:r>
              <a:rPr lang="en-US" sz="1600" dirty="0">
                <a:solidFill>
                  <a:srgbClr val="1B1F24"/>
                </a:solidFill>
                <a:latin typeface="Inter" pitchFamily="34" charset="0"/>
                <a:ea typeface="Inter" pitchFamily="34" charset="-122"/>
                <a:cs typeface="Inter" pitchFamily="34" charset="-120"/>
              </a:rPr>
              <a:t>It’s easy to slide from “AI drafts it” to “AI decides it” without noticing</a:t>
            </a:r>
            <a:endParaRPr lang="en-US" sz="1600" dirty="0"/>
          </a:p>
        </p:txBody>
      </p:sp>
      <p:sp>
        <p:nvSpPr>
          <p:cNvPr id="23" name="Text 20"/>
          <p:cNvSpPr/>
          <p:nvPr/>
        </p:nvSpPr>
        <p:spPr>
          <a:xfrm>
            <a:off x="640080" y="5029200"/>
            <a:ext cx="10972800" cy="457200"/>
          </a:xfrm>
          <a:prstGeom prst="rect">
            <a:avLst/>
          </a:prstGeom>
          <a:noFill/>
          <a:ln/>
        </p:spPr>
        <p:txBody>
          <a:bodyPr wrap="square" lIns="0" tIns="0" rIns="0" bIns="0" rtlCol="0" anchor="ctr"/>
          <a:lstStyle/>
          <a:p>
            <a:pPr algn="ctr" indent="0" marL="0">
              <a:buNone/>
            </a:pPr>
            <a:r>
              <a:rPr lang="en-US" sz="1900" b="1" dirty="0">
                <a:solidFill>
                  <a:srgbClr val="13293D"/>
                </a:solidFill>
                <a:latin typeface="Inter" pitchFamily="34" charset="0"/>
                <a:ea typeface="Inter" pitchFamily="34" charset="-122"/>
                <a:cs typeface="Inter" pitchFamily="34" charset="-120"/>
              </a:rPr>
              <a:t>The guardrails you learned today exist because these are genuine, not theoretical.</a:t>
            </a:r>
            <a:endParaRPr lang="en-US" sz="19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1 · AI Foundations &amp; Safety   |   30</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scope today: adult use only. Student use is Kit 5's hour.</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THE QUESTION EVERY FACULTY ASKS</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What about students using it?</a:t>
            </a:r>
            <a:endParaRPr lang="en-US" sz="3200" dirty="0"/>
          </a:p>
        </p:txBody>
      </p:sp>
      <p:sp>
        <p:nvSpPr>
          <p:cNvPr id="14" name="Text 11"/>
          <p:cNvSpPr/>
          <p:nvPr/>
        </p:nvSpPr>
        <p:spPr>
          <a:xfrm>
            <a:off x="640080" y="1463040"/>
            <a:ext cx="10908792" cy="2651760"/>
          </a:xfrm>
          <a:prstGeom prst="rect">
            <a:avLst/>
          </a:prstGeom>
          <a:noFill/>
          <a:ln/>
        </p:spPr>
        <p:txBody>
          <a:bodyPr wrap="square" rtlCol="0" anchor="t"/>
          <a:lstStyle/>
          <a:p>
            <a:pPr marL="342900" indent="-342900">
              <a:spcAft>
                <a:spcPts val="1000"/>
              </a:spcAft>
              <a:buSzPct val="100000"/>
              <a:buChar char="•"/>
            </a:pPr>
            <a:r>
              <a:rPr lang="en-US" sz="2100" dirty="0">
                <a:solidFill>
                  <a:srgbClr val="1B1F24"/>
                </a:solidFill>
                <a:latin typeface="Inter" pitchFamily="34" charset="0"/>
                <a:ea typeface="Inter" pitchFamily="34" charset="-122"/>
                <a:cs typeface="Inter" pitchFamily="34" charset="-120"/>
              </a:rPr>
              <a:t>Major public chatbots require users to be 13+, and minors need parent/guardian permission under the terms of service</a:t>
            </a:r>
            <a:endParaRPr lang="en-US" sz="2100" dirty="0"/>
          </a:p>
          <a:p>
            <a:pPr marL="342900" indent="-342900">
              <a:spcAft>
                <a:spcPts val="1000"/>
              </a:spcAft>
              <a:buSzPct val="100000"/>
              <a:buChar char="•"/>
            </a:pPr>
            <a:r>
              <a:rPr lang="en-US" sz="2100" dirty="0">
                <a:solidFill>
                  <a:srgbClr val="1B1F24"/>
                </a:solidFill>
                <a:latin typeface="Inter" pitchFamily="34" charset="0"/>
                <a:ea typeface="Inter" pitchFamily="34" charset="-122"/>
                <a:cs typeface="Inter" pitchFamily="34" charset="-120"/>
              </a:rPr>
              <a:t>So student use is a real policy question, not a free-for-all, and not banned by default</a:t>
            </a:r>
            <a:endParaRPr lang="en-US" sz="2100" dirty="0"/>
          </a:p>
          <a:p>
            <a:pPr marL="342900" indent="-342900">
              <a:spcAft>
                <a:spcPts val="1000"/>
              </a:spcAft>
              <a:buSzPct val="100000"/>
              <a:buChar char="•"/>
            </a:pPr>
            <a:r>
              <a:rPr lang="en-US" sz="2100" b="1" dirty="0">
                <a:solidFill>
                  <a:srgbClr val="13293D"/>
                </a:solidFill>
                <a:latin typeface="Inter" pitchFamily="34" charset="0"/>
                <a:ea typeface="Inter" pitchFamily="34" charset="-122"/>
                <a:cs typeface="Inter" pitchFamily="34" charset="-120"/>
              </a:rPr>
              <a:t>It deserves its own session: that’s Kit 5, AI &amp; Academic Integrity</a:t>
            </a:r>
            <a:endParaRPr lang="en-US" sz="2100" dirty="0"/>
          </a:p>
        </p:txBody>
      </p:sp>
      <p:sp>
        <p:nvSpPr>
          <p:cNvPr id="15" name="Shape 12"/>
          <p:cNvSpPr/>
          <p:nvPr/>
        </p:nvSpPr>
        <p:spPr>
          <a:xfrm>
            <a:off x="640080" y="4297680"/>
            <a:ext cx="10972800" cy="1371600"/>
          </a:xfrm>
          <a:prstGeom prst="roundRect">
            <a:avLst>
              <a:gd name="adj" fmla="val 6000"/>
            </a:avLst>
          </a:prstGeom>
          <a:solidFill>
            <a:srgbClr val="EAF5F3"/>
          </a:solidFill>
          <a:ln w="12700">
            <a:solidFill>
              <a:srgbClr val="EAF5F3"/>
            </a:solidFill>
            <a:prstDash val="solid"/>
          </a:ln>
        </p:spPr>
      </p:sp>
      <p:sp>
        <p:nvSpPr>
          <p:cNvPr id="16" name="Text 13"/>
          <p:cNvSpPr/>
          <p:nvPr/>
        </p:nvSpPr>
        <p:spPr>
          <a:xfrm>
            <a:off x="960120" y="4480560"/>
            <a:ext cx="10332720" cy="1005840"/>
          </a:xfrm>
          <a:prstGeom prst="rect">
            <a:avLst/>
          </a:prstGeom>
          <a:noFill/>
          <a:ln/>
        </p:spPr>
        <p:txBody>
          <a:bodyPr wrap="square" lIns="0" tIns="0" rIns="0" bIns="0" rtlCol="0" anchor="ctr"/>
          <a:lstStyle/>
          <a:p>
            <a:pPr indent="0" marL="0">
              <a:buNone/>
            </a:pPr>
            <a:r>
              <a:rPr lang="en-US" sz="1900" b="1" dirty="0">
                <a:solidFill>
                  <a:srgbClr val="13293D"/>
                </a:solidFill>
                <a:latin typeface="Inter" pitchFamily="34" charset="0"/>
                <a:ea typeface="Inter" pitchFamily="34" charset="-122"/>
                <a:cs typeface="Inter" pitchFamily="34" charset="-120"/>
              </a:rPr>
              <a:t>Today’s scope is the adults: our use, our privacy practice, our judgment. Get that right and we’re ready to lead students well.</a:t>
            </a:r>
            <a:endParaRPr lang="en-US" sz="19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13293D"/>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FFFFFF"/>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9FB2C2"/>
                </a:solidFill>
                <a:latin typeface="Inter" pitchFamily="34" charset="0"/>
                <a:ea typeface="Inter" pitchFamily="34" charset="-122"/>
                <a:cs typeface="Inter" pitchFamily="34" charset="-120"/>
              </a:rPr>
              <a:t>Kit 1 · AI Foundations &amp; Safety   |   31</a:t>
            </a:r>
            <a:endParaRPr lang="en-US" sz="900" dirty="0"/>
          </a:p>
        </p:txBody>
      </p:sp>
      <p:sp>
        <p:nvSpPr>
          <p:cNvPr id="5" name="Shape 2"/>
          <p:cNvSpPr/>
          <p:nvPr/>
        </p:nvSpPr>
        <p:spPr>
          <a:xfrm>
            <a:off x="8732520" y="109728"/>
            <a:ext cx="2926080" cy="896112"/>
          </a:xfrm>
          <a:prstGeom prst="roundRect">
            <a:avLst>
              <a:gd name="adj" fmla="val 7143"/>
            </a:avLst>
          </a:prstGeom>
          <a:solidFill>
            <a:srgbClr val="1E3A50"/>
          </a:solidFill>
          <a:ln w="12700">
            <a:solidFill>
              <a:srgbClr val="2A4A63"/>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C9D4DE"/>
                </a:solidFill>
                <a:latin typeface="Inter" pitchFamily="34" charset="0"/>
                <a:ea typeface="Inter" pitchFamily="34" charset="-122"/>
                <a:cs typeface="Inter" pitchFamily="34" charset="-120"/>
              </a:rPr>
              <a:t>She nodded to all three. Her interim stance until policy exists.</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F4A825"/>
                </a:solidFill>
                <a:latin typeface="Inter" pitchFamily="34" charset="0"/>
                <a:ea typeface="Inter" pitchFamily="34" charset="-122"/>
                <a:cs typeface="Inter" pitchFamily="34" charset="-120"/>
              </a:rPr>
              <a:t>STARTING TODAY</a:t>
            </a:r>
            <a:endParaRPr lang="en-US" sz="1200" dirty="0"/>
          </a:p>
        </p:txBody>
      </p:sp>
      <p:sp>
        <p:nvSpPr>
          <p:cNvPr id="13" name="Text 10"/>
          <p:cNvSpPr/>
          <p:nvPr/>
        </p:nvSpPr>
        <p:spPr>
          <a:xfrm>
            <a:off x="640080" y="777240"/>
            <a:ext cx="10972800" cy="731520"/>
          </a:xfrm>
          <a:prstGeom prst="rect">
            <a:avLst/>
          </a:prstGeom>
          <a:noFill/>
          <a:ln/>
        </p:spPr>
        <p:txBody>
          <a:bodyPr wrap="square" lIns="0" tIns="0" rIns="0" bIns="0" rtlCol="0" anchor="ctr"/>
          <a:lstStyle/>
          <a:p>
            <a:pPr indent="0" marL="0">
              <a:buNone/>
            </a:pPr>
            <a:r>
              <a:rPr lang="en-US" sz="3600" b="1" dirty="0">
                <a:solidFill>
                  <a:srgbClr val="FFFFFF"/>
                </a:solidFill>
                <a:latin typeface="Inter" pitchFamily="34" charset="0"/>
                <a:ea typeface="Inter" pitchFamily="34" charset="-122"/>
                <a:cs typeface="Inter" pitchFamily="34" charset="-120"/>
              </a:rPr>
              <a:t>Our three commitments</a:t>
            </a:r>
            <a:endParaRPr lang="en-US" sz="3600" dirty="0"/>
          </a:p>
        </p:txBody>
      </p:sp>
      <p:sp>
        <p:nvSpPr>
          <p:cNvPr id="14" name="Shape 11"/>
          <p:cNvSpPr/>
          <p:nvPr/>
        </p:nvSpPr>
        <p:spPr>
          <a:xfrm>
            <a:off x="868680" y="1920240"/>
            <a:ext cx="777240" cy="777240"/>
          </a:xfrm>
          <a:prstGeom prst="ellipse">
            <a:avLst/>
          </a:prstGeom>
          <a:solidFill>
            <a:srgbClr val="2A9D8F"/>
          </a:solidFill>
          <a:ln w="12700">
            <a:solidFill>
              <a:srgbClr val="2A9D8F"/>
            </a:solidFill>
            <a:prstDash val="solid"/>
          </a:ln>
        </p:spPr>
      </p:sp>
      <p:sp>
        <p:nvSpPr>
          <p:cNvPr id="15" name="Text 12"/>
          <p:cNvSpPr/>
          <p:nvPr/>
        </p:nvSpPr>
        <p:spPr>
          <a:xfrm>
            <a:off x="868680" y="1920240"/>
            <a:ext cx="777240" cy="777240"/>
          </a:xfrm>
          <a:prstGeom prst="rect">
            <a:avLst/>
          </a:prstGeom>
          <a:noFill/>
          <a:ln/>
        </p:spPr>
        <p:txBody>
          <a:bodyPr wrap="square" lIns="0" tIns="0" rIns="0" bIns="0" rtlCol="0" anchor="ctr"/>
          <a:lstStyle/>
          <a:p>
            <a:pPr algn="ctr" indent="0" marL="0">
              <a:buNone/>
            </a:pPr>
            <a:r>
              <a:rPr lang="en-US" sz="2800" b="1" dirty="0">
                <a:solidFill>
                  <a:srgbClr val="FFFFFF"/>
                </a:solidFill>
                <a:latin typeface="Inter" pitchFamily="34" charset="0"/>
                <a:ea typeface="Inter" pitchFamily="34" charset="-122"/>
                <a:cs typeface="Inter" pitchFamily="34" charset="-120"/>
              </a:rPr>
              <a:t>1</a:t>
            </a:r>
            <a:endParaRPr lang="en-US" sz="2800" dirty="0"/>
          </a:p>
        </p:txBody>
      </p:sp>
      <p:sp>
        <p:nvSpPr>
          <p:cNvPr id="16" name="Text 13"/>
          <p:cNvSpPr/>
          <p:nvPr/>
        </p:nvSpPr>
        <p:spPr>
          <a:xfrm>
            <a:off x="1920240" y="1783080"/>
            <a:ext cx="9509760" cy="1051560"/>
          </a:xfrm>
          <a:prstGeom prst="rect">
            <a:avLst/>
          </a:prstGeom>
          <a:noFill/>
          <a:ln/>
        </p:spPr>
        <p:txBody>
          <a:bodyPr wrap="square" lIns="0" tIns="0" rIns="0" bIns="0" rtlCol="0" anchor="ctr"/>
          <a:lstStyle/>
          <a:p>
            <a:pPr indent="0" marL="0">
              <a:buNone/>
            </a:pPr>
            <a:r>
              <a:rPr lang="en-US" sz="2300" dirty="0">
                <a:solidFill>
                  <a:srgbClr val="FFFFFF"/>
                </a:solidFill>
                <a:latin typeface="Inter" pitchFamily="34" charset="0"/>
                <a:ea typeface="Inter" pitchFamily="34" charset="-122"/>
                <a:cs typeface="Inter" pitchFamily="34" charset="-120"/>
              </a:rPr>
              <a:t>No student personally identifiable information in public AI tools. Ever</a:t>
            </a:r>
            <a:endParaRPr lang="en-US" sz="2300" dirty="0"/>
          </a:p>
        </p:txBody>
      </p:sp>
      <p:sp>
        <p:nvSpPr>
          <p:cNvPr id="17" name="Shape 14"/>
          <p:cNvSpPr/>
          <p:nvPr/>
        </p:nvSpPr>
        <p:spPr>
          <a:xfrm>
            <a:off x="868680" y="3246120"/>
            <a:ext cx="777240" cy="777240"/>
          </a:xfrm>
          <a:prstGeom prst="ellipse">
            <a:avLst/>
          </a:prstGeom>
          <a:solidFill>
            <a:srgbClr val="2A9D8F"/>
          </a:solidFill>
          <a:ln w="12700">
            <a:solidFill>
              <a:srgbClr val="2A9D8F"/>
            </a:solidFill>
            <a:prstDash val="solid"/>
          </a:ln>
        </p:spPr>
      </p:sp>
      <p:sp>
        <p:nvSpPr>
          <p:cNvPr id="18" name="Text 15"/>
          <p:cNvSpPr/>
          <p:nvPr/>
        </p:nvSpPr>
        <p:spPr>
          <a:xfrm>
            <a:off x="868680" y="3246120"/>
            <a:ext cx="777240" cy="777240"/>
          </a:xfrm>
          <a:prstGeom prst="rect">
            <a:avLst/>
          </a:prstGeom>
          <a:noFill/>
          <a:ln/>
        </p:spPr>
        <p:txBody>
          <a:bodyPr wrap="square" lIns="0" tIns="0" rIns="0" bIns="0" rtlCol="0" anchor="ctr"/>
          <a:lstStyle/>
          <a:p>
            <a:pPr algn="ctr" indent="0" marL="0">
              <a:buNone/>
            </a:pPr>
            <a:r>
              <a:rPr lang="en-US" sz="2800" b="1" dirty="0">
                <a:solidFill>
                  <a:srgbClr val="FFFFFF"/>
                </a:solidFill>
                <a:latin typeface="Inter" pitchFamily="34" charset="0"/>
                <a:ea typeface="Inter" pitchFamily="34" charset="-122"/>
                <a:cs typeface="Inter" pitchFamily="34" charset="-120"/>
              </a:rPr>
              <a:t>2</a:t>
            </a:r>
            <a:endParaRPr lang="en-US" sz="2800" dirty="0"/>
          </a:p>
        </p:txBody>
      </p:sp>
      <p:sp>
        <p:nvSpPr>
          <p:cNvPr id="19" name="Text 16"/>
          <p:cNvSpPr/>
          <p:nvPr/>
        </p:nvSpPr>
        <p:spPr>
          <a:xfrm>
            <a:off x="1920240" y="3108960"/>
            <a:ext cx="9509760" cy="1051560"/>
          </a:xfrm>
          <a:prstGeom prst="rect">
            <a:avLst/>
          </a:prstGeom>
          <a:noFill/>
          <a:ln/>
        </p:spPr>
        <p:txBody>
          <a:bodyPr wrap="square" lIns="0" tIns="0" rIns="0" bIns="0" rtlCol="0" anchor="ctr"/>
          <a:lstStyle/>
          <a:p>
            <a:pPr indent="0" marL="0">
              <a:buNone/>
            </a:pPr>
            <a:r>
              <a:rPr lang="en-US" sz="2300" dirty="0">
                <a:solidFill>
                  <a:srgbClr val="FFFFFF"/>
                </a:solidFill>
                <a:latin typeface="Inter" pitchFamily="34" charset="0"/>
                <a:ea typeface="Inter" pitchFamily="34" charset="-122"/>
                <a:cs typeface="Inter" pitchFamily="34" charset="-120"/>
              </a:rPr>
              <a:t>A human reviews everything AI-drafted before it reaches a student or family</a:t>
            </a:r>
            <a:endParaRPr lang="en-US" sz="2300" dirty="0"/>
          </a:p>
        </p:txBody>
      </p:sp>
      <p:sp>
        <p:nvSpPr>
          <p:cNvPr id="20" name="Shape 17"/>
          <p:cNvSpPr/>
          <p:nvPr/>
        </p:nvSpPr>
        <p:spPr>
          <a:xfrm>
            <a:off x="868680" y="4572000"/>
            <a:ext cx="777240" cy="777240"/>
          </a:xfrm>
          <a:prstGeom prst="ellipse">
            <a:avLst/>
          </a:prstGeom>
          <a:solidFill>
            <a:srgbClr val="2A9D8F"/>
          </a:solidFill>
          <a:ln w="12700">
            <a:solidFill>
              <a:srgbClr val="2A9D8F"/>
            </a:solidFill>
            <a:prstDash val="solid"/>
          </a:ln>
        </p:spPr>
      </p:sp>
      <p:sp>
        <p:nvSpPr>
          <p:cNvPr id="21" name="Text 18"/>
          <p:cNvSpPr/>
          <p:nvPr/>
        </p:nvSpPr>
        <p:spPr>
          <a:xfrm>
            <a:off x="868680" y="4572000"/>
            <a:ext cx="777240" cy="777240"/>
          </a:xfrm>
          <a:prstGeom prst="rect">
            <a:avLst/>
          </a:prstGeom>
          <a:noFill/>
          <a:ln/>
        </p:spPr>
        <p:txBody>
          <a:bodyPr wrap="square" lIns="0" tIns="0" rIns="0" bIns="0" rtlCol="0" anchor="ctr"/>
          <a:lstStyle/>
          <a:p>
            <a:pPr algn="ctr" indent="0" marL="0">
              <a:buNone/>
            </a:pPr>
            <a:r>
              <a:rPr lang="en-US" sz="2800" b="1" dirty="0">
                <a:solidFill>
                  <a:srgbClr val="FFFFFF"/>
                </a:solidFill>
                <a:latin typeface="Inter" pitchFamily="34" charset="0"/>
                <a:ea typeface="Inter" pitchFamily="34" charset="-122"/>
                <a:cs typeface="Inter" pitchFamily="34" charset="-120"/>
              </a:rPr>
              <a:t>3</a:t>
            </a:r>
            <a:endParaRPr lang="en-US" sz="2800" dirty="0"/>
          </a:p>
        </p:txBody>
      </p:sp>
      <p:sp>
        <p:nvSpPr>
          <p:cNvPr id="22" name="Text 19"/>
          <p:cNvSpPr/>
          <p:nvPr/>
        </p:nvSpPr>
        <p:spPr>
          <a:xfrm>
            <a:off x="1920240" y="4434840"/>
            <a:ext cx="9509760" cy="1051560"/>
          </a:xfrm>
          <a:prstGeom prst="rect">
            <a:avLst/>
          </a:prstGeom>
          <a:noFill/>
          <a:ln/>
        </p:spPr>
        <p:txBody>
          <a:bodyPr wrap="square" lIns="0" tIns="0" rIns="0" bIns="0" rtlCol="0" anchor="ctr"/>
          <a:lstStyle/>
          <a:p>
            <a:pPr indent="0" marL="0">
              <a:buNone/>
            </a:pPr>
            <a:r>
              <a:rPr lang="en-US" sz="2300" dirty="0">
                <a:solidFill>
                  <a:srgbClr val="FFFFFF"/>
                </a:solidFill>
                <a:latin typeface="Inter" pitchFamily="34" charset="0"/>
                <a:ea typeface="Inter" pitchFamily="34" charset="-122"/>
                <a:cs typeface="Inter" pitchFamily="34" charset="-120"/>
              </a:rPr>
              <a:t>When we find something that works, we share it</a:t>
            </a:r>
            <a:endParaRPr lang="en-US" sz="2300" dirty="0"/>
          </a:p>
        </p:txBody>
      </p:sp>
      <p:sp>
        <p:nvSpPr>
          <p:cNvPr id="23" name="Text 20"/>
          <p:cNvSpPr/>
          <p:nvPr/>
        </p:nvSpPr>
        <p:spPr>
          <a:xfrm>
            <a:off x="640080" y="5806440"/>
            <a:ext cx="10972800" cy="457200"/>
          </a:xfrm>
          <a:prstGeom prst="rect">
            <a:avLst/>
          </a:prstGeom>
          <a:noFill/>
          <a:ln/>
        </p:spPr>
        <p:txBody>
          <a:bodyPr wrap="square" lIns="0" tIns="0" rIns="0" bIns="0" rtlCol="0" anchor="ctr"/>
          <a:lstStyle/>
          <a:p>
            <a:pPr indent="0" marL="0">
              <a:buNone/>
            </a:pPr>
            <a:r>
              <a:rPr lang="en-US" sz="2000" i="1" dirty="0">
                <a:solidFill>
                  <a:srgbClr val="2A9D8F"/>
                </a:solidFill>
                <a:latin typeface="Inter" pitchFamily="34" charset="0"/>
                <a:ea typeface="Inter" pitchFamily="34" charset="-122"/>
                <a:cs typeface="Inter" pitchFamily="34" charset="-120"/>
              </a:rPr>
              <a:t>Can I get a nod on those three?</a:t>
            </a:r>
            <a:endParaRPr lang="en-US" sz="20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1 · AI Foundations &amp; Safety   |   32</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next 48 hours: one real task, one de-ID drill, one share.</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BEFORE FRIDAY BECOMES A MEMORY</a:t>
            </a:r>
            <a:endParaRPr lang="en-US" sz="1200" dirty="0"/>
          </a:p>
        </p:txBody>
      </p:sp>
      <p:sp>
        <p:nvSpPr>
          <p:cNvPr id="13" name="Text 10"/>
          <p:cNvSpPr/>
          <p:nvPr/>
        </p:nvSpPr>
        <p:spPr>
          <a:xfrm>
            <a:off x="548640" y="457200"/>
            <a:ext cx="7955280" cy="914400"/>
          </a:xfrm>
          <a:prstGeom prst="rect">
            <a:avLst/>
          </a:prstGeom>
          <a:noFill/>
          <a:ln/>
        </p:spPr>
        <p:txBody>
          <a:bodyPr wrap="square" lIns="0" tIns="0" rIns="0" bIns="0" rtlCol="0" anchor="t"/>
          <a:lstStyle/>
          <a:p>
            <a:pPr indent="0" marL="0">
              <a:buNone/>
            </a:pPr>
            <a:r>
              <a:rPr lang="en-US" sz="2800" b="1" dirty="0">
                <a:solidFill>
                  <a:srgbClr val="13293D"/>
                </a:solidFill>
                <a:latin typeface="Inter" pitchFamily="34" charset="0"/>
                <a:ea typeface="Inter" pitchFamily="34" charset="-122"/>
                <a:cs typeface="Inter" pitchFamily="34" charset="-120"/>
              </a:rPr>
              <a:t>Your first 48 hours: three small things</a:t>
            </a:r>
            <a:endParaRPr lang="en-US" sz="2800" dirty="0"/>
          </a:p>
        </p:txBody>
      </p:sp>
      <p:sp>
        <p:nvSpPr>
          <p:cNvPr id="14" name="Shape 11"/>
          <p:cNvSpPr/>
          <p:nvPr/>
        </p:nvSpPr>
        <p:spPr>
          <a:xfrm>
            <a:off x="640080" y="1463040"/>
            <a:ext cx="10972800" cy="1234440"/>
          </a:xfrm>
          <a:prstGeom prst="roundRect">
            <a:avLst>
              <a:gd name="adj" fmla="val 6667"/>
            </a:avLst>
          </a:prstGeom>
          <a:solidFill>
            <a:srgbClr val="F7F5F0"/>
          </a:solidFill>
          <a:ln w="12700">
            <a:solidFill>
              <a:srgbClr val="F7F5F0"/>
            </a:solidFill>
            <a:prstDash val="solid"/>
          </a:ln>
        </p:spPr>
      </p:sp>
      <p:sp>
        <p:nvSpPr>
          <p:cNvPr id="15" name="Text 12"/>
          <p:cNvSpPr/>
          <p:nvPr/>
        </p:nvSpPr>
        <p:spPr>
          <a:xfrm>
            <a:off x="914400" y="1847088"/>
            <a:ext cx="1371600" cy="457200"/>
          </a:xfrm>
          <a:prstGeom prst="rect">
            <a:avLst/>
          </a:prstGeom>
          <a:noFill/>
          <a:ln/>
        </p:spPr>
        <p:txBody>
          <a:bodyPr wrap="square" lIns="0" tIns="0" rIns="0" bIns="0" rtlCol="0" anchor="ctr"/>
          <a:lstStyle/>
          <a:p>
            <a:pPr indent="0" marL="0">
              <a:buNone/>
            </a:pPr>
            <a:r>
              <a:rPr lang="en-US" sz="1700" b="1" dirty="0">
                <a:solidFill>
                  <a:srgbClr val="2A9D8F"/>
                </a:solidFill>
                <a:latin typeface="Inter" pitchFamily="34" charset="0"/>
                <a:ea typeface="Inter" pitchFamily="34" charset="-122"/>
                <a:cs typeface="Inter" pitchFamily="34" charset="-120"/>
              </a:rPr>
              <a:t>~10 min</a:t>
            </a:r>
            <a:endParaRPr lang="en-US" sz="1700" dirty="0"/>
          </a:p>
        </p:txBody>
      </p:sp>
      <p:sp>
        <p:nvSpPr>
          <p:cNvPr id="16" name="Text 13"/>
          <p:cNvSpPr/>
          <p:nvPr/>
        </p:nvSpPr>
        <p:spPr>
          <a:xfrm>
            <a:off x="2377440" y="1609344"/>
            <a:ext cx="9052560" cy="457200"/>
          </a:xfrm>
          <a:prstGeom prst="rect">
            <a:avLst/>
          </a:prstGeom>
          <a:noFill/>
          <a:ln/>
        </p:spPr>
        <p:txBody>
          <a:bodyPr wrap="square" lIns="0" tIns="0" rIns="0" bIns="0" rtlCol="0" anchor="ctr"/>
          <a:lstStyle/>
          <a:p>
            <a:pPr indent="0" marL="0">
              <a:buNone/>
            </a:pPr>
            <a:r>
              <a:rPr lang="en-US" sz="2000" b="1" dirty="0">
                <a:solidFill>
                  <a:srgbClr val="13293D"/>
                </a:solidFill>
                <a:latin typeface="Inter" pitchFamily="34" charset="0"/>
                <a:ea typeface="Inter" pitchFamily="34" charset="-122"/>
                <a:cs typeface="Inter" pitchFamily="34" charset="-120"/>
              </a:rPr>
              <a:t>Do one real task with AI</a:t>
            </a:r>
            <a:endParaRPr lang="en-US" sz="2000" dirty="0"/>
          </a:p>
        </p:txBody>
      </p:sp>
      <p:sp>
        <p:nvSpPr>
          <p:cNvPr id="17" name="Text 14"/>
          <p:cNvSpPr/>
          <p:nvPr/>
        </p:nvSpPr>
        <p:spPr>
          <a:xfrm>
            <a:off x="2377440" y="2084832"/>
            <a:ext cx="9052560" cy="548640"/>
          </a:xfrm>
          <a:prstGeom prst="rect">
            <a:avLst/>
          </a:prstGeom>
          <a:noFill/>
          <a:ln/>
        </p:spPr>
        <p:txBody>
          <a:bodyPr wrap="square" lIns="0" tIns="0" rIns="0" bIns="0" rtlCol="0" anchor="ctr"/>
          <a:lstStyle/>
          <a:p>
            <a:pPr indent="0" marL="0">
              <a:buNone/>
            </a:pPr>
            <a:r>
              <a:rPr lang="en-US" sz="1600" dirty="0">
                <a:solidFill>
                  <a:srgbClr val="1B1F24"/>
                </a:solidFill>
                <a:latin typeface="Inter" pitchFamily="34" charset="0"/>
                <a:ea typeface="Inter" pitchFamily="34" charset="-122"/>
                <a:cs typeface="Inter" pitchFamily="34" charset="-120"/>
              </a:rPr>
              <a:t>Something already on your to-do list. Push back twice, review it, use it</a:t>
            </a:r>
            <a:endParaRPr lang="en-US" sz="1600" dirty="0"/>
          </a:p>
        </p:txBody>
      </p:sp>
      <p:sp>
        <p:nvSpPr>
          <p:cNvPr id="18" name="Shape 15"/>
          <p:cNvSpPr/>
          <p:nvPr/>
        </p:nvSpPr>
        <p:spPr>
          <a:xfrm>
            <a:off x="640080" y="2880360"/>
            <a:ext cx="10972800" cy="1234440"/>
          </a:xfrm>
          <a:prstGeom prst="roundRect">
            <a:avLst>
              <a:gd name="adj" fmla="val 6667"/>
            </a:avLst>
          </a:prstGeom>
          <a:solidFill>
            <a:srgbClr val="F7F5F0"/>
          </a:solidFill>
          <a:ln w="12700">
            <a:solidFill>
              <a:srgbClr val="F7F5F0"/>
            </a:solidFill>
            <a:prstDash val="solid"/>
          </a:ln>
        </p:spPr>
      </p:sp>
      <p:sp>
        <p:nvSpPr>
          <p:cNvPr id="19" name="Text 16"/>
          <p:cNvSpPr/>
          <p:nvPr/>
        </p:nvSpPr>
        <p:spPr>
          <a:xfrm>
            <a:off x="914400" y="3264408"/>
            <a:ext cx="1371600" cy="457200"/>
          </a:xfrm>
          <a:prstGeom prst="rect">
            <a:avLst/>
          </a:prstGeom>
          <a:noFill/>
          <a:ln/>
        </p:spPr>
        <p:txBody>
          <a:bodyPr wrap="square" lIns="0" tIns="0" rIns="0" bIns="0" rtlCol="0" anchor="ctr"/>
          <a:lstStyle/>
          <a:p>
            <a:pPr indent="0" marL="0">
              <a:buNone/>
            </a:pPr>
            <a:r>
              <a:rPr lang="en-US" sz="1700" b="1" dirty="0">
                <a:solidFill>
                  <a:srgbClr val="2A9D8F"/>
                </a:solidFill>
                <a:latin typeface="Inter" pitchFamily="34" charset="0"/>
                <a:ea typeface="Inter" pitchFamily="34" charset="-122"/>
                <a:cs typeface="Inter" pitchFamily="34" charset="-120"/>
              </a:rPr>
              <a:t>~5 min</a:t>
            </a:r>
            <a:endParaRPr lang="en-US" sz="1700" dirty="0"/>
          </a:p>
        </p:txBody>
      </p:sp>
      <p:sp>
        <p:nvSpPr>
          <p:cNvPr id="20" name="Text 17"/>
          <p:cNvSpPr/>
          <p:nvPr/>
        </p:nvSpPr>
        <p:spPr>
          <a:xfrm>
            <a:off x="2377440" y="3026664"/>
            <a:ext cx="9052560" cy="457200"/>
          </a:xfrm>
          <a:prstGeom prst="rect">
            <a:avLst/>
          </a:prstGeom>
          <a:noFill/>
          <a:ln/>
        </p:spPr>
        <p:txBody>
          <a:bodyPr wrap="square" lIns="0" tIns="0" rIns="0" bIns="0" rtlCol="0" anchor="ctr"/>
          <a:lstStyle/>
          <a:p>
            <a:pPr indent="0" marL="0">
              <a:buNone/>
            </a:pPr>
            <a:r>
              <a:rPr lang="en-US" sz="2000" b="1" dirty="0">
                <a:solidFill>
                  <a:srgbClr val="13293D"/>
                </a:solidFill>
                <a:latin typeface="Inter" pitchFamily="34" charset="0"/>
                <a:ea typeface="Inter" pitchFamily="34" charset="-122"/>
                <a:cs typeface="Inter" pitchFamily="34" charset="-120"/>
              </a:rPr>
              <a:t>Run the de-identification drill</a:t>
            </a:r>
            <a:endParaRPr lang="en-US" sz="2000" dirty="0"/>
          </a:p>
        </p:txBody>
      </p:sp>
      <p:sp>
        <p:nvSpPr>
          <p:cNvPr id="21" name="Text 18"/>
          <p:cNvSpPr/>
          <p:nvPr/>
        </p:nvSpPr>
        <p:spPr>
          <a:xfrm>
            <a:off x="2377440" y="3502152"/>
            <a:ext cx="9052560" cy="548640"/>
          </a:xfrm>
          <a:prstGeom prst="rect">
            <a:avLst/>
          </a:prstGeom>
          <a:noFill/>
          <a:ln/>
        </p:spPr>
        <p:txBody>
          <a:bodyPr wrap="square" lIns="0" tIns="0" rIns="0" bIns="0" rtlCol="0" anchor="ctr"/>
          <a:lstStyle/>
          <a:p>
            <a:pPr indent="0" marL="0">
              <a:buNone/>
            </a:pPr>
            <a:r>
              <a:rPr lang="en-US" sz="1600" dirty="0">
                <a:solidFill>
                  <a:srgbClr val="1B1F24"/>
                </a:solidFill>
                <a:latin typeface="Inter" pitchFamily="34" charset="0"/>
                <a:ea typeface="Inter" pitchFamily="34" charset="-122"/>
                <a:cs typeface="Inter" pitchFamily="34" charset="-120"/>
              </a:rPr>
              <a:t>One real prompt, written unsafe then safe, on paper; the rep that builds the habit</a:t>
            </a:r>
            <a:endParaRPr lang="en-US" sz="1600" dirty="0"/>
          </a:p>
        </p:txBody>
      </p:sp>
      <p:sp>
        <p:nvSpPr>
          <p:cNvPr id="22" name="Shape 19"/>
          <p:cNvSpPr/>
          <p:nvPr/>
        </p:nvSpPr>
        <p:spPr>
          <a:xfrm>
            <a:off x="640080" y="4297680"/>
            <a:ext cx="10972800" cy="1234440"/>
          </a:xfrm>
          <a:prstGeom prst="roundRect">
            <a:avLst>
              <a:gd name="adj" fmla="val 6667"/>
            </a:avLst>
          </a:prstGeom>
          <a:solidFill>
            <a:srgbClr val="F7F5F0"/>
          </a:solidFill>
          <a:ln w="12700">
            <a:solidFill>
              <a:srgbClr val="F7F5F0"/>
            </a:solidFill>
            <a:prstDash val="solid"/>
          </a:ln>
        </p:spPr>
      </p:sp>
      <p:sp>
        <p:nvSpPr>
          <p:cNvPr id="23" name="Text 20"/>
          <p:cNvSpPr/>
          <p:nvPr/>
        </p:nvSpPr>
        <p:spPr>
          <a:xfrm>
            <a:off x="914400" y="4681728"/>
            <a:ext cx="1371600" cy="457200"/>
          </a:xfrm>
          <a:prstGeom prst="rect">
            <a:avLst/>
          </a:prstGeom>
          <a:noFill/>
          <a:ln/>
        </p:spPr>
        <p:txBody>
          <a:bodyPr wrap="square" lIns="0" tIns="0" rIns="0" bIns="0" rtlCol="0" anchor="ctr"/>
          <a:lstStyle/>
          <a:p>
            <a:pPr indent="0" marL="0">
              <a:buNone/>
            </a:pPr>
            <a:r>
              <a:rPr lang="en-US" sz="1700" b="1" dirty="0">
                <a:solidFill>
                  <a:srgbClr val="2A9D8F"/>
                </a:solidFill>
                <a:latin typeface="Inter" pitchFamily="34" charset="0"/>
                <a:ea typeface="Inter" pitchFamily="34" charset="-122"/>
                <a:cs typeface="Inter" pitchFamily="34" charset="-120"/>
              </a:rPr>
              <a:t>~2 min</a:t>
            </a:r>
            <a:endParaRPr lang="en-US" sz="1700" dirty="0"/>
          </a:p>
        </p:txBody>
      </p:sp>
      <p:sp>
        <p:nvSpPr>
          <p:cNvPr id="24" name="Text 21"/>
          <p:cNvSpPr/>
          <p:nvPr/>
        </p:nvSpPr>
        <p:spPr>
          <a:xfrm>
            <a:off x="2377440" y="4443984"/>
            <a:ext cx="9052560" cy="457200"/>
          </a:xfrm>
          <a:prstGeom prst="rect">
            <a:avLst/>
          </a:prstGeom>
          <a:noFill/>
          <a:ln/>
        </p:spPr>
        <p:txBody>
          <a:bodyPr wrap="square" lIns="0" tIns="0" rIns="0" bIns="0" rtlCol="0" anchor="ctr"/>
          <a:lstStyle/>
          <a:p>
            <a:pPr indent="0" marL="0">
              <a:buNone/>
            </a:pPr>
            <a:r>
              <a:rPr lang="en-US" sz="2000" b="1" dirty="0">
                <a:solidFill>
                  <a:srgbClr val="13293D"/>
                </a:solidFill>
                <a:latin typeface="Inter" pitchFamily="34" charset="0"/>
                <a:ea typeface="Inter" pitchFamily="34" charset="-122"/>
                <a:cs typeface="Inter" pitchFamily="34" charset="-120"/>
              </a:rPr>
              <a:t>Share one discovery</a:t>
            </a:r>
            <a:endParaRPr lang="en-US" sz="2000" dirty="0"/>
          </a:p>
        </p:txBody>
      </p:sp>
      <p:sp>
        <p:nvSpPr>
          <p:cNvPr id="25" name="Text 22"/>
          <p:cNvSpPr/>
          <p:nvPr/>
        </p:nvSpPr>
        <p:spPr>
          <a:xfrm>
            <a:off x="2377440" y="4919472"/>
            <a:ext cx="9052560" cy="548640"/>
          </a:xfrm>
          <a:prstGeom prst="rect">
            <a:avLst/>
          </a:prstGeom>
          <a:noFill/>
          <a:ln/>
        </p:spPr>
        <p:txBody>
          <a:bodyPr wrap="square" lIns="0" tIns="0" rIns="0" bIns="0" rtlCol="0" anchor="ctr"/>
          <a:lstStyle/>
          <a:p>
            <a:pPr indent="0" marL="0">
              <a:buNone/>
            </a:pPr>
            <a:r>
              <a:rPr lang="en-US" sz="1600" dirty="0">
                <a:solidFill>
                  <a:srgbClr val="1B1F24"/>
                </a:solidFill>
                <a:latin typeface="Inter" pitchFamily="34" charset="0"/>
                <a:ea typeface="Inter" pitchFamily="34" charset="-122"/>
                <a:cs typeface="Inter" pitchFamily="34" charset="-120"/>
              </a:rPr>
              <a:t>One colleague, one specific thing: a win or a useful failure</a:t>
            </a:r>
            <a:endParaRPr lang="en-US" sz="1600" dirty="0"/>
          </a:p>
        </p:txBody>
      </p:sp>
      <p:sp>
        <p:nvSpPr>
          <p:cNvPr id="26" name="Text 23"/>
          <p:cNvSpPr/>
          <p:nvPr/>
        </p:nvSpPr>
        <p:spPr>
          <a:xfrm>
            <a:off x="640080" y="5760720"/>
            <a:ext cx="10972800" cy="411480"/>
          </a:xfrm>
          <a:prstGeom prst="rect">
            <a:avLst/>
          </a:prstGeom>
          <a:noFill/>
          <a:ln/>
        </p:spPr>
        <p:txBody>
          <a:bodyPr wrap="square" lIns="0" tIns="0" rIns="0" bIns="0" rtlCol="0" anchor="ctr"/>
          <a:lstStyle/>
          <a:p>
            <a:pPr algn="ctr" indent="0" marL="0">
              <a:buNone/>
            </a:pPr>
            <a:r>
              <a:rPr lang="en-US" sz="1600" i="1" dirty="0">
                <a:solidFill>
                  <a:srgbClr val="5B6B7A"/>
                </a:solidFill>
                <a:latin typeface="Inter" pitchFamily="34" charset="0"/>
                <a:ea typeface="Inter" pitchFamily="34" charset="-122"/>
                <a:cs typeface="Inter" pitchFamily="34" charset="-120"/>
              </a:rPr>
              <a:t>PD you don’t use within two days mostly evaporates. The action sheet in your hands is the antidote.</a:t>
            </a:r>
            <a:endParaRPr lang="en-US" sz="16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1 · AI Foundations &amp; Safety   |   33</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track: Kit 1 done, seven to go in the full series.</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KIT 1 OF 8 · TRACK A</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Where this series goes</a:t>
            </a:r>
            <a:endParaRPr lang="en-US" sz="3200" dirty="0"/>
          </a:p>
        </p:txBody>
      </p:sp>
      <p:sp>
        <p:nvSpPr>
          <p:cNvPr id="14" name="Shape 11"/>
          <p:cNvSpPr/>
          <p:nvPr/>
        </p:nvSpPr>
        <p:spPr>
          <a:xfrm>
            <a:off x="640080" y="1554480"/>
            <a:ext cx="2651760" cy="1005840"/>
          </a:xfrm>
          <a:prstGeom prst="roundRect">
            <a:avLst>
              <a:gd name="adj" fmla="val 8182"/>
            </a:avLst>
          </a:prstGeom>
          <a:solidFill>
            <a:srgbClr val="EAF5F3"/>
          </a:solidFill>
          <a:ln w="12700">
            <a:solidFill>
              <a:srgbClr val="EAF5F3"/>
            </a:solidFill>
            <a:prstDash val="solid"/>
          </a:ln>
        </p:spPr>
      </p:sp>
      <p:sp>
        <p:nvSpPr>
          <p:cNvPr id="15" name="Text 12"/>
          <p:cNvSpPr/>
          <p:nvPr/>
        </p:nvSpPr>
        <p:spPr>
          <a:xfrm>
            <a:off x="822960" y="1645920"/>
            <a:ext cx="2286000" cy="822960"/>
          </a:xfrm>
          <a:prstGeom prst="rect">
            <a:avLst/>
          </a:prstGeom>
          <a:noFill/>
          <a:ln/>
        </p:spPr>
        <p:txBody>
          <a:bodyPr wrap="square" lIns="0" tIns="0" rIns="0" bIns="0" rtlCol="0" anchor="ctr"/>
          <a:lstStyle/>
          <a:p>
            <a:pPr indent="0" marL="0">
              <a:buNone/>
            </a:pPr>
            <a:r>
              <a:rPr lang="en-US" sz="1450" b="1" dirty="0">
                <a:solidFill>
                  <a:srgbClr val="13293D"/>
                </a:solidFill>
                <a:latin typeface="Inter" pitchFamily="34" charset="0"/>
                <a:ea typeface="Inter" pitchFamily="34" charset="-122"/>
                <a:cs typeface="Inter" pitchFamily="34" charset="-120"/>
              </a:rPr>
              <a:t>1 · AI Foundations &amp; Safety  ✔</a:t>
            </a:r>
            <a:endParaRPr lang="en-US" sz="1450" dirty="0"/>
          </a:p>
        </p:txBody>
      </p:sp>
      <p:sp>
        <p:nvSpPr>
          <p:cNvPr id="16" name="Shape 13"/>
          <p:cNvSpPr/>
          <p:nvPr/>
        </p:nvSpPr>
        <p:spPr>
          <a:xfrm>
            <a:off x="3474720" y="1554480"/>
            <a:ext cx="2651760" cy="1005840"/>
          </a:xfrm>
          <a:prstGeom prst="roundRect">
            <a:avLst>
              <a:gd name="adj" fmla="val 8182"/>
            </a:avLst>
          </a:prstGeom>
          <a:solidFill>
            <a:srgbClr val="F7F5F0"/>
          </a:solidFill>
          <a:ln w="12700">
            <a:solidFill>
              <a:srgbClr val="F7F5F0"/>
            </a:solidFill>
            <a:prstDash val="solid"/>
          </a:ln>
        </p:spPr>
      </p:sp>
      <p:sp>
        <p:nvSpPr>
          <p:cNvPr id="17" name="Text 14"/>
          <p:cNvSpPr/>
          <p:nvPr/>
        </p:nvSpPr>
        <p:spPr>
          <a:xfrm>
            <a:off x="3657600" y="1645920"/>
            <a:ext cx="2286000" cy="822960"/>
          </a:xfrm>
          <a:prstGeom prst="rect">
            <a:avLst/>
          </a:prstGeom>
          <a:noFill/>
          <a:ln/>
        </p:spPr>
        <p:txBody>
          <a:bodyPr wrap="square" lIns="0" tIns="0" rIns="0" bIns="0" rtlCol="0" anchor="ctr"/>
          <a:lstStyle/>
          <a:p>
            <a:pPr indent="0" marL="0">
              <a:buNone/>
            </a:pPr>
            <a:r>
              <a:rPr lang="en-US" sz="1450" dirty="0">
                <a:solidFill>
                  <a:srgbClr val="13293D"/>
                </a:solidFill>
                <a:latin typeface="Inter" pitchFamily="34" charset="0"/>
                <a:ea typeface="Inter" pitchFamily="34" charset="-122"/>
                <a:cs typeface="Inter" pitchFamily="34" charset="-120"/>
              </a:rPr>
              <a:t>2 · Prompting Basics</a:t>
            </a:r>
            <a:endParaRPr lang="en-US" sz="1450" dirty="0"/>
          </a:p>
        </p:txBody>
      </p:sp>
      <p:sp>
        <p:nvSpPr>
          <p:cNvPr id="18" name="Shape 15"/>
          <p:cNvSpPr/>
          <p:nvPr/>
        </p:nvSpPr>
        <p:spPr>
          <a:xfrm>
            <a:off x="6309360" y="1554480"/>
            <a:ext cx="2651760" cy="1005840"/>
          </a:xfrm>
          <a:prstGeom prst="roundRect">
            <a:avLst>
              <a:gd name="adj" fmla="val 8182"/>
            </a:avLst>
          </a:prstGeom>
          <a:solidFill>
            <a:srgbClr val="F7F5F0"/>
          </a:solidFill>
          <a:ln w="12700">
            <a:solidFill>
              <a:srgbClr val="F7F5F0"/>
            </a:solidFill>
            <a:prstDash val="solid"/>
          </a:ln>
        </p:spPr>
      </p:sp>
      <p:sp>
        <p:nvSpPr>
          <p:cNvPr id="19" name="Text 16"/>
          <p:cNvSpPr/>
          <p:nvPr/>
        </p:nvSpPr>
        <p:spPr>
          <a:xfrm>
            <a:off x="6492240" y="1645920"/>
            <a:ext cx="2286000" cy="822960"/>
          </a:xfrm>
          <a:prstGeom prst="rect">
            <a:avLst/>
          </a:prstGeom>
          <a:noFill/>
          <a:ln/>
        </p:spPr>
        <p:txBody>
          <a:bodyPr wrap="square" lIns="0" tIns="0" rIns="0" bIns="0" rtlCol="0" anchor="ctr"/>
          <a:lstStyle/>
          <a:p>
            <a:pPr indent="0" marL="0">
              <a:buNone/>
            </a:pPr>
            <a:r>
              <a:rPr lang="en-US" sz="1450" dirty="0">
                <a:solidFill>
                  <a:srgbClr val="13293D"/>
                </a:solidFill>
                <a:latin typeface="Inter" pitchFamily="34" charset="0"/>
                <a:ea typeface="Inter" pitchFamily="34" charset="-122"/>
                <a:cs typeface="Inter" pitchFamily="34" charset="-120"/>
              </a:rPr>
              <a:t>3 · Planning &amp; Differentiation</a:t>
            </a:r>
            <a:endParaRPr lang="en-US" sz="1450" dirty="0"/>
          </a:p>
        </p:txBody>
      </p:sp>
      <p:sp>
        <p:nvSpPr>
          <p:cNvPr id="20" name="Shape 17"/>
          <p:cNvSpPr/>
          <p:nvPr/>
        </p:nvSpPr>
        <p:spPr>
          <a:xfrm>
            <a:off x="9144000" y="1554480"/>
            <a:ext cx="2651760" cy="1005840"/>
          </a:xfrm>
          <a:prstGeom prst="roundRect">
            <a:avLst>
              <a:gd name="adj" fmla="val 8182"/>
            </a:avLst>
          </a:prstGeom>
          <a:solidFill>
            <a:srgbClr val="F7F5F0"/>
          </a:solidFill>
          <a:ln w="12700">
            <a:solidFill>
              <a:srgbClr val="F7F5F0"/>
            </a:solidFill>
            <a:prstDash val="solid"/>
          </a:ln>
        </p:spPr>
      </p:sp>
      <p:sp>
        <p:nvSpPr>
          <p:cNvPr id="21" name="Text 18"/>
          <p:cNvSpPr/>
          <p:nvPr/>
        </p:nvSpPr>
        <p:spPr>
          <a:xfrm>
            <a:off x="9326880" y="1645920"/>
            <a:ext cx="2286000" cy="822960"/>
          </a:xfrm>
          <a:prstGeom prst="rect">
            <a:avLst/>
          </a:prstGeom>
          <a:noFill/>
          <a:ln/>
        </p:spPr>
        <p:txBody>
          <a:bodyPr wrap="square" lIns="0" tIns="0" rIns="0" bIns="0" rtlCol="0" anchor="ctr"/>
          <a:lstStyle/>
          <a:p>
            <a:pPr indent="0" marL="0">
              <a:buNone/>
            </a:pPr>
            <a:r>
              <a:rPr lang="en-US" sz="1450" dirty="0">
                <a:solidFill>
                  <a:srgbClr val="13293D"/>
                </a:solidFill>
                <a:latin typeface="Inter" pitchFamily="34" charset="0"/>
                <a:ea typeface="Inter" pitchFamily="34" charset="-122"/>
                <a:cs typeface="Inter" pitchFamily="34" charset="-120"/>
              </a:rPr>
              <a:t>4 · Assessment</a:t>
            </a:r>
            <a:endParaRPr lang="en-US" sz="1450" dirty="0"/>
          </a:p>
        </p:txBody>
      </p:sp>
      <p:sp>
        <p:nvSpPr>
          <p:cNvPr id="22" name="Shape 19"/>
          <p:cNvSpPr/>
          <p:nvPr/>
        </p:nvSpPr>
        <p:spPr>
          <a:xfrm>
            <a:off x="640080" y="2743200"/>
            <a:ext cx="2651760" cy="1005840"/>
          </a:xfrm>
          <a:prstGeom prst="roundRect">
            <a:avLst>
              <a:gd name="adj" fmla="val 8182"/>
            </a:avLst>
          </a:prstGeom>
          <a:solidFill>
            <a:srgbClr val="F7F5F0"/>
          </a:solidFill>
          <a:ln w="12700">
            <a:solidFill>
              <a:srgbClr val="F7F5F0"/>
            </a:solidFill>
            <a:prstDash val="solid"/>
          </a:ln>
        </p:spPr>
      </p:sp>
      <p:sp>
        <p:nvSpPr>
          <p:cNvPr id="23" name="Text 20"/>
          <p:cNvSpPr/>
          <p:nvPr/>
        </p:nvSpPr>
        <p:spPr>
          <a:xfrm>
            <a:off x="822960" y="2834640"/>
            <a:ext cx="2286000" cy="822960"/>
          </a:xfrm>
          <a:prstGeom prst="rect">
            <a:avLst/>
          </a:prstGeom>
          <a:noFill/>
          <a:ln/>
        </p:spPr>
        <p:txBody>
          <a:bodyPr wrap="square" lIns="0" tIns="0" rIns="0" bIns="0" rtlCol="0" anchor="ctr"/>
          <a:lstStyle/>
          <a:p>
            <a:pPr indent="0" marL="0">
              <a:buNone/>
            </a:pPr>
            <a:r>
              <a:rPr lang="en-US" sz="1450" dirty="0">
                <a:solidFill>
                  <a:srgbClr val="13293D"/>
                </a:solidFill>
                <a:latin typeface="Inter" pitchFamily="34" charset="0"/>
                <a:ea typeface="Inter" pitchFamily="34" charset="-122"/>
                <a:cs typeface="Inter" pitchFamily="34" charset="-120"/>
              </a:rPr>
              <a:t>5 · Academic Integrity</a:t>
            </a:r>
            <a:endParaRPr lang="en-US" sz="1450" dirty="0"/>
          </a:p>
        </p:txBody>
      </p:sp>
      <p:sp>
        <p:nvSpPr>
          <p:cNvPr id="24" name="Shape 21"/>
          <p:cNvSpPr/>
          <p:nvPr/>
        </p:nvSpPr>
        <p:spPr>
          <a:xfrm>
            <a:off x="3474720" y="2743200"/>
            <a:ext cx="2651760" cy="1005840"/>
          </a:xfrm>
          <a:prstGeom prst="roundRect">
            <a:avLst>
              <a:gd name="adj" fmla="val 8182"/>
            </a:avLst>
          </a:prstGeom>
          <a:solidFill>
            <a:srgbClr val="F7F5F0"/>
          </a:solidFill>
          <a:ln w="12700">
            <a:solidFill>
              <a:srgbClr val="F7F5F0"/>
            </a:solidFill>
            <a:prstDash val="solid"/>
          </a:ln>
        </p:spPr>
      </p:sp>
      <p:sp>
        <p:nvSpPr>
          <p:cNvPr id="25" name="Text 22"/>
          <p:cNvSpPr/>
          <p:nvPr/>
        </p:nvSpPr>
        <p:spPr>
          <a:xfrm>
            <a:off x="3657600" y="2834640"/>
            <a:ext cx="2286000" cy="822960"/>
          </a:xfrm>
          <a:prstGeom prst="rect">
            <a:avLst/>
          </a:prstGeom>
          <a:noFill/>
          <a:ln/>
        </p:spPr>
        <p:txBody>
          <a:bodyPr wrap="square" lIns="0" tIns="0" rIns="0" bIns="0" rtlCol="0" anchor="ctr"/>
          <a:lstStyle/>
          <a:p>
            <a:pPr indent="0" marL="0">
              <a:buNone/>
            </a:pPr>
            <a:r>
              <a:rPr lang="en-US" sz="1450" dirty="0">
                <a:solidFill>
                  <a:srgbClr val="13293D"/>
                </a:solidFill>
                <a:latin typeface="Inter" pitchFamily="34" charset="0"/>
                <a:ea typeface="Inter" pitchFamily="34" charset="-122"/>
                <a:cs typeface="Inter" pitchFamily="34" charset="-120"/>
              </a:rPr>
              <a:t>6 · Communication</a:t>
            </a:r>
            <a:endParaRPr lang="en-US" sz="1450" dirty="0"/>
          </a:p>
        </p:txBody>
      </p:sp>
      <p:sp>
        <p:nvSpPr>
          <p:cNvPr id="26" name="Shape 23"/>
          <p:cNvSpPr/>
          <p:nvPr/>
        </p:nvSpPr>
        <p:spPr>
          <a:xfrm>
            <a:off x="6309360" y="2743200"/>
            <a:ext cx="2651760" cy="1005840"/>
          </a:xfrm>
          <a:prstGeom prst="roundRect">
            <a:avLst>
              <a:gd name="adj" fmla="val 8182"/>
            </a:avLst>
          </a:prstGeom>
          <a:solidFill>
            <a:srgbClr val="F7F5F0"/>
          </a:solidFill>
          <a:ln w="12700">
            <a:solidFill>
              <a:srgbClr val="F7F5F0"/>
            </a:solidFill>
            <a:prstDash val="solid"/>
          </a:ln>
        </p:spPr>
      </p:sp>
      <p:sp>
        <p:nvSpPr>
          <p:cNvPr id="27" name="Text 24"/>
          <p:cNvSpPr/>
          <p:nvPr/>
        </p:nvSpPr>
        <p:spPr>
          <a:xfrm>
            <a:off x="6492240" y="2834640"/>
            <a:ext cx="2286000" cy="822960"/>
          </a:xfrm>
          <a:prstGeom prst="rect">
            <a:avLst/>
          </a:prstGeom>
          <a:noFill/>
          <a:ln/>
        </p:spPr>
        <p:txBody>
          <a:bodyPr wrap="square" lIns="0" tIns="0" rIns="0" bIns="0" rtlCol="0" anchor="ctr"/>
          <a:lstStyle/>
          <a:p>
            <a:pPr indent="0" marL="0">
              <a:buNone/>
            </a:pPr>
            <a:r>
              <a:rPr lang="en-US" sz="1450" dirty="0">
                <a:solidFill>
                  <a:srgbClr val="13293D"/>
                </a:solidFill>
                <a:latin typeface="Inter" pitchFamily="34" charset="0"/>
                <a:ea typeface="Inter" pitchFamily="34" charset="-122"/>
                <a:cs typeface="Inter" pitchFamily="34" charset="-120"/>
              </a:rPr>
              <a:t>7 · Workload</a:t>
            </a:r>
            <a:endParaRPr lang="en-US" sz="1450" dirty="0"/>
          </a:p>
        </p:txBody>
      </p:sp>
      <p:sp>
        <p:nvSpPr>
          <p:cNvPr id="28" name="Shape 25"/>
          <p:cNvSpPr/>
          <p:nvPr/>
        </p:nvSpPr>
        <p:spPr>
          <a:xfrm>
            <a:off x="9144000" y="2743200"/>
            <a:ext cx="2651760" cy="1005840"/>
          </a:xfrm>
          <a:prstGeom prst="roundRect">
            <a:avLst>
              <a:gd name="adj" fmla="val 8182"/>
            </a:avLst>
          </a:prstGeom>
          <a:solidFill>
            <a:srgbClr val="F7F5F0"/>
          </a:solidFill>
          <a:ln w="12700">
            <a:solidFill>
              <a:srgbClr val="F7F5F0"/>
            </a:solidFill>
            <a:prstDash val="solid"/>
          </a:ln>
        </p:spPr>
      </p:sp>
      <p:sp>
        <p:nvSpPr>
          <p:cNvPr id="29" name="Text 26"/>
          <p:cNvSpPr/>
          <p:nvPr/>
        </p:nvSpPr>
        <p:spPr>
          <a:xfrm>
            <a:off x="9326880" y="2834640"/>
            <a:ext cx="2286000" cy="822960"/>
          </a:xfrm>
          <a:prstGeom prst="rect">
            <a:avLst/>
          </a:prstGeom>
          <a:noFill/>
          <a:ln/>
        </p:spPr>
        <p:txBody>
          <a:bodyPr wrap="square" lIns="0" tIns="0" rIns="0" bIns="0" rtlCol="0" anchor="ctr"/>
          <a:lstStyle/>
          <a:p>
            <a:pPr indent="0" marL="0">
              <a:buNone/>
            </a:pPr>
            <a:r>
              <a:rPr lang="en-US" sz="1450" dirty="0">
                <a:solidFill>
                  <a:srgbClr val="13293D"/>
                </a:solidFill>
                <a:latin typeface="Inter" pitchFamily="34" charset="0"/>
                <a:ea typeface="Inter" pitchFamily="34" charset="-122"/>
                <a:cs typeface="Inter" pitchFamily="34" charset="-120"/>
              </a:rPr>
              <a:t>8 · Your School’s AI Culture</a:t>
            </a:r>
            <a:endParaRPr lang="en-US" sz="1450" dirty="0"/>
          </a:p>
        </p:txBody>
      </p:sp>
      <p:sp>
        <p:nvSpPr>
          <p:cNvPr id="30" name="Shape 27"/>
          <p:cNvSpPr/>
          <p:nvPr/>
        </p:nvSpPr>
        <p:spPr>
          <a:xfrm>
            <a:off x="640080" y="4206240"/>
            <a:ext cx="10972800" cy="1463040"/>
          </a:xfrm>
          <a:prstGeom prst="roundRect">
            <a:avLst>
              <a:gd name="adj" fmla="val 5625"/>
            </a:avLst>
          </a:prstGeom>
          <a:solidFill>
            <a:srgbClr val="13293D"/>
          </a:solidFill>
          <a:ln w="12700">
            <a:solidFill>
              <a:srgbClr val="13293D"/>
            </a:solidFill>
            <a:prstDash val="solid"/>
          </a:ln>
        </p:spPr>
      </p:sp>
      <p:sp>
        <p:nvSpPr>
          <p:cNvPr id="31" name="Text 28"/>
          <p:cNvSpPr/>
          <p:nvPr/>
        </p:nvSpPr>
        <p:spPr>
          <a:xfrm>
            <a:off x="960120" y="4389120"/>
            <a:ext cx="10332720" cy="1097280"/>
          </a:xfrm>
          <a:prstGeom prst="rect">
            <a:avLst/>
          </a:prstGeom>
          <a:noFill/>
          <a:ln/>
        </p:spPr>
        <p:txBody>
          <a:bodyPr wrap="square" lIns="0" tIns="0" rIns="0" bIns="0" rtlCol="0" anchor="ctr"/>
          <a:lstStyle/>
          <a:p>
            <a:pPr indent="0" marL="0">
              <a:buNone/>
            </a:pPr>
            <a:r>
              <a:rPr lang="en-US" sz="1800" b="1" dirty="0">
                <a:solidFill>
                  <a:srgbClr val="FFFFFF"/>
                </a:solidFill>
                <a:latin typeface="Inter" pitchFamily="34" charset="0"/>
                <a:ea typeface="Inter" pitchFamily="34" charset="-122"/>
                <a:cs typeface="Inter" pitchFamily="34" charset="-120"/>
              </a:rPr>
              <a:t>All eight sessions are available in our TpT store, individually or bundled.</a:t>
            </a:r>
            <a:pPr indent="0" marL="0">
              <a:buNone/>
            </a:pPr>
            <a:r>
              <a:rPr lang="en-US" sz="1800" dirty="0">
                <a:solidFill>
                  <a:srgbClr val="C9D4DE"/>
                </a:solidFill>
                <a:latin typeface="Inter" pitchFamily="34" charset="0"/>
                <a:ea typeface="Inter" pitchFamily="34" charset="-122"/>
                <a:cs typeface="Inter" pitchFamily="34" charset="-120"/>
              </a:rPr>
              <a:t>  Real documentation of real professional learning. Follow-ups run inside existing PLC time; nothing new to schedule.</a:t>
            </a:r>
            <a:endParaRPr lang="en-US" sz="18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13293D"/>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FFFFFF"/>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9FB2C2"/>
                </a:solidFill>
                <a:latin typeface="Inter" pitchFamily="34" charset="0"/>
                <a:ea typeface="Inter" pitchFamily="34" charset="-122"/>
                <a:cs typeface="Inter" pitchFamily="34" charset="-120"/>
              </a:rPr>
              <a:t>Kit 1 · AI Foundations &amp; Safety   |   34</a:t>
            </a:r>
            <a:endParaRPr lang="en-US" sz="900" dirty="0"/>
          </a:p>
        </p:txBody>
      </p:sp>
      <p:sp>
        <p:nvSpPr>
          <p:cNvPr id="5" name="Text 2"/>
          <p:cNvSpPr/>
          <p:nvPr/>
        </p:nvSpPr>
        <p:spPr>
          <a:xfrm>
            <a:off x="640080" y="1051560"/>
            <a:ext cx="10972800" cy="640080"/>
          </a:xfrm>
          <a:prstGeom prst="rect">
            <a:avLst/>
          </a:prstGeom>
          <a:noFill/>
          <a:ln/>
        </p:spPr>
        <p:txBody>
          <a:bodyPr wrap="square" lIns="0" tIns="0" rIns="0" bIns="0" rtlCol="0" anchor="ctr"/>
          <a:lstStyle/>
          <a:p>
            <a:pPr indent="0" marL="0">
              <a:buNone/>
            </a:pPr>
            <a:r>
              <a:rPr lang="en-US" sz="3200" b="1" dirty="0">
                <a:solidFill>
                  <a:srgbClr val="FFFFFF"/>
                </a:solidFill>
                <a:latin typeface="Inter" pitchFamily="34" charset="0"/>
                <a:ea typeface="Inter" pitchFamily="34" charset="-122"/>
                <a:cs typeface="Inter" pitchFamily="34" charset="-120"/>
              </a:rPr>
              <a:t>Two minutes: the exit ticket.</a:t>
            </a:r>
            <a:endParaRPr lang="en-US" sz="3200" dirty="0"/>
          </a:p>
        </p:txBody>
      </p:sp>
      <p:sp>
        <p:nvSpPr>
          <p:cNvPr id="6" name="Text 3"/>
          <p:cNvSpPr/>
          <p:nvPr/>
        </p:nvSpPr>
        <p:spPr>
          <a:xfrm>
            <a:off x="640080" y="1783080"/>
            <a:ext cx="10972800" cy="457200"/>
          </a:xfrm>
          <a:prstGeom prst="rect">
            <a:avLst/>
          </a:prstGeom>
          <a:noFill/>
          <a:ln/>
        </p:spPr>
        <p:txBody>
          <a:bodyPr wrap="square" lIns="0" tIns="0" rIns="0" bIns="0" rtlCol="0" anchor="ctr"/>
          <a:lstStyle/>
          <a:p>
            <a:pPr indent="0" marL="0">
              <a:buNone/>
            </a:pPr>
            <a:r>
              <a:rPr lang="en-US" sz="1900" dirty="0">
                <a:solidFill>
                  <a:srgbClr val="C9D4DE"/>
                </a:solidFill>
                <a:latin typeface="Inter" pitchFamily="34" charset="0"/>
                <a:ea typeface="Inter" pitchFamily="34" charset="-122"/>
                <a:cs typeface="Inter" pitchFamily="34" charset="-120"/>
              </a:rPr>
              <a:t>One thing you’re taking · one worry you still have · one thing you’ll try</a:t>
            </a:r>
            <a:endParaRPr lang="en-US" sz="1900" dirty="0"/>
          </a:p>
        </p:txBody>
      </p:sp>
      <p:sp>
        <p:nvSpPr>
          <p:cNvPr id="7" name="Text 4"/>
          <p:cNvSpPr/>
          <p:nvPr/>
        </p:nvSpPr>
        <p:spPr>
          <a:xfrm>
            <a:off x="640080" y="2651760"/>
            <a:ext cx="10972800" cy="2377440"/>
          </a:xfrm>
          <a:prstGeom prst="rect">
            <a:avLst/>
          </a:prstGeom>
          <a:noFill/>
          <a:ln/>
        </p:spPr>
        <p:txBody>
          <a:bodyPr wrap="square" lIns="0" tIns="0" rIns="0" bIns="0" rtlCol="0" anchor="ctr"/>
          <a:lstStyle/>
          <a:p>
            <a:pPr algn="ctr" indent="0" marL="0">
              <a:lnSpc>
                <a:spcPct val="125000"/>
              </a:lnSpc>
              <a:buNone/>
            </a:pPr>
            <a:r>
              <a:rPr lang="en-US" sz="2800" b="1" dirty="0">
                <a:solidFill>
                  <a:srgbClr val="FFFFFF"/>
                </a:solidFill>
                <a:latin typeface="Inter" pitchFamily="34" charset="0"/>
                <a:ea typeface="Inter" pitchFamily="34" charset="-122"/>
                <a:cs typeface="Inter" pitchFamily="34" charset="-120"/>
              </a:rPr>
              <a:t>AI can write a draft.</a:t>
            </a:r>
            <a:endParaRPr lang="en-US" sz="2800" dirty="0"/>
          </a:p>
          <a:p>
            <a:pPr algn="ctr" indent="0" marL="0">
              <a:lnSpc>
                <a:spcPct val="125000"/>
              </a:lnSpc>
              <a:buNone/>
            </a:pPr>
            <a:r>
              <a:rPr lang="en-US" sz="2800" b="1" dirty="0">
                <a:solidFill>
                  <a:srgbClr val="FFFFFF"/>
                </a:solidFill>
                <a:latin typeface="Inter" pitchFamily="34" charset="0"/>
                <a:ea typeface="Inter" pitchFamily="34" charset="-122"/>
                <a:cs typeface="Inter" pitchFamily="34" charset="-120"/>
              </a:rPr>
              <a:t>It cannot greet a kid at the door by name,</a:t>
            </a:r>
            <a:endParaRPr lang="en-US" sz="2800" dirty="0"/>
          </a:p>
          <a:p>
            <a:pPr algn="ctr" indent="0" marL="0">
              <a:lnSpc>
                <a:spcPct val="125000"/>
              </a:lnSpc>
              <a:buNone/>
            </a:pPr>
            <a:r>
              <a:rPr lang="en-US" sz="2800" b="1" dirty="0">
                <a:solidFill>
                  <a:srgbClr val="FFFFFF"/>
                </a:solidFill>
                <a:latin typeface="Inter" pitchFamily="34" charset="0"/>
                <a:ea typeface="Inter" pitchFamily="34" charset="-122"/>
                <a:cs typeface="Inter" pitchFamily="34" charset="-120"/>
              </a:rPr>
              <a:t>notice something’s off, and change that kid’s day.</a:t>
            </a:r>
            <a:endParaRPr lang="en-US" sz="2800" dirty="0"/>
          </a:p>
          <a:p>
            <a:pPr algn="ctr" indent="0" marL="0">
              <a:lnSpc>
                <a:spcPct val="125000"/>
              </a:lnSpc>
              <a:buNone/>
            </a:pPr>
            <a:r>
              <a:rPr lang="en-US" sz="2800" b="1" dirty="0">
                <a:solidFill>
                  <a:srgbClr val="FFFFFF"/>
                </a:solidFill>
                <a:latin typeface="Inter" pitchFamily="34" charset="0"/>
                <a:ea typeface="Inter" pitchFamily="34" charset="-122"/>
                <a:cs typeface="Inter" pitchFamily="34" charset="-120"/>
              </a:rPr>
              <a:t>That’s you.</a:t>
            </a:r>
            <a:endParaRPr lang="en-US" sz="2800" dirty="0"/>
          </a:p>
        </p:txBody>
      </p:sp>
      <p:sp>
        <p:nvSpPr>
          <p:cNvPr id="8" name="Text 5"/>
          <p:cNvSpPr/>
          <p:nvPr/>
        </p:nvSpPr>
        <p:spPr>
          <a:xfrm>
            <a:off x="640080" y="5212080"/>
            <a:ext cx="10972800" cy="548640"/>
          </a:xfrm>
          <a:prstGeom prst="rect">
            <a:avLst/>
          </a:prstGeom>
          <a:noFill/>
          <a:ln/>
        </p:spPr>
        <p:txBody>
          <a:bodyPr wrap="square" lIns="0" tIns="0" rIns="0" bIns="0" rtlCol="0" anchor="ctr"/>
          <a:lstStyle/>
          <a:p>
            <a:pPr algn="ctr" indent="0" marL="0">
              <a:buNone/>
            </a:pPr>
            <a:r>
              <a:rPr lang="en-US" sz="2400" b="1" dirty="0">
                <a:solidFill>
                  <a:srgbClr val="2A9D8F"/>
                </a:solidFill>
                <a:latin typeface="Inter" pitchFamily="34" charset="0"/>
                <a:ea typeface="Inter" pitchFamily="34" charset="-122"/>
                <a:cs typeface="Inter" pitchFamily="34" charset="-120"/>
              </a:rPr>
              <a:t>Use the tool for the paperwork — keep the teaching.</a:t>
            </a:r>
            <a:endParaRPr lang="en-US" sz="2400" dirty="0"/>
          </a:p>
        </p:txBody>
      </p:sp>
      <p:sp>
        <p:nvSpPr>
          <p:cNvPr id="9" name="Text 6"/>
          <p:cNvSpPr/>
          <p:nvPr/>
        </p:nvSpPr>
        <p:spPr>
          <a:xfrm>
            <a:off x="640080" y="5943600"/>
            <a:ext cx="10972800" cy="365760"/>
          </a:xfrm>
          <a:prstGeom prst="rect">
            <a:avLst/>
          </a:prstGeom>
          <a:noFill/>
          <a:ln/>
        </p:spPr>
        <p:txBody>
          <a:bodyPr wrap="square" lIns="0" tIns="0" rIns="0" bIns="0" rtlCol="0" anchor="ctr"/>
          <a:lstStyle/>
          <a:p>
            <a:pPr algn="ctr" indent="0" marL="0">
              <a:buNone/>
            </a:pPr>
            <a:r>
              <a:rPr lang="en-US" sz="1300" spc="200" kern="0" dirty="0">
                <a:solidFill>
                  <a:srgbClr val="9FB2C2"/>
                </a:solidFill>
                <a:latin typeface="Inter" pitchFamily="34" charset="0"/>
                <a:ea typeface="Inter" pitchFamily="34" charset="-122"/>
                <a:cs typeface="Inter" pitchFamily="34" charset="-120"/>
              </a:rPr>
              <a:t>Human teaching. Life-changing tools.</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34</Slides>
  <Notes>34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34</vt:i4>
      </vt:variant>
    </vt:vector>
  </HeadingPairs>
  <TitlesOfParts>
    <vt:vector size="3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vector>
  </TitlesOfParts>
  <Company>AI-Ready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Kit 1: AI Foundations &amp; Safety: The One Hard Rule</dc:title>
  <dc:subject>PptxGenJS Presentation</dc:subject>
  <dc:creator>Adam &amp; Katelyn Spinozzi</dc:creator>
  <cp:lastModifiedBy>Adam &amp; Katelyn Spinozzi</cp:lastModifiedBy>
  <cp:revision>1</cp:revision>
  <dcterms:created xsi:type="dcterms:W3CDTF">2026-08-24T12:27:03Z</dcterms:created>
  <dcterms:modified xsi:type="dcterms:W3CDTF">2026-08-24T12:27:03Z</dcterms:modified>
</cp:coreProperties>
</file>