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slide up as people arrive. Start on time. Script: "Welcome, everyone…". The full word-for-word text is in the Facilitator Script, keyed to every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promises: not a sales pitch (skeptics are important here), not a scare session. Position: AI is a tool: it can take the robotic parts of the job, never the human parts.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show of hands first: who has used ChatGPT or similar at least once? Sources: RAND RR-A134-25 (25% in 2023-24), RAND RR-A4180-1 (53% of ELA/math/science teachers in 2024-25), Gallup-Walton 2025 (60%), Pew 2026 (54% of teens). All in the References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point (Darling-Hammond et al., Learning Policy Institute 2017): PD changes practice when it includes active learning and sustained follow-up; hence the lab and the 30-day plan. "This isn’t a one-and-done."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plain: typing into ChatGPT/Claude/Gemini/Copilot is not looking up facts. The tool predicts likely next words. That one fact explains both the brilliance and the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Linardon et al., JMIR Mental Health (2025), the GPT-4o literature-review test. This is called hallucination and it is a side effect of prediction, not a bug about to be fixed. If asked "why use it at all?": most classroom uses aren’t factual lookup; they’re drafting and reformatting, where you are the fact-checker by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 only works because there is a professional in charge. That’s you. This five-word posture is the spine of the entire curriculum: AI drafts, the teacher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categories cover most of what staff will actually do this year. The time-savings stat is Gallup–Walton 2025: weekly users save about 5.9 hours/week, roughly six weeks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nothing on this list is under threat, on purpose and forever. AI can't know your students, can't verify its own facts, and can't care. The tool buys back time FOR this list; it never takes this list away. This is the session's first explicit "human moment"; land it plainly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Read the rule off the screen, then pause a full three seconds. This is the most important slide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things first, then widen it: anything from a record or about a specific child stays out of the chat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"even in a private chat that I delete?": yes. Deleting your view doesn’t recall what the company received. The rule works because it has no exceptions to remember at 9pm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FERPA (federal law); Future of Privacy Forum vetting guidance (2024) on open-chat-box oversharing. Keep the not-legal-advice line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distinction keeps the rule accurate without weakening it. If your district has already approved a tool with a data agreement,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keep it quick. The de-identification skill on the next slides is what makes the rule cost nothing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 our running example teacher; she's a composite, and her screen shows what this looks like on your end. The unsafe version pastes a full student record (name, family, academics, behavior) into a stranger's text box. The safe version gets the same email; the AI needed the situation, never the child. She adds the name after it's back in her own email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safe version is also the better prompt: more specific about what you actually want. Safer and more useful is the usual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just watched all three moves in the safe swaps. Ten seconds of habit; automatic within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C is the splitter: no name, but "the student who just moved here from Ukraine" identifies a child; fix: "a student who recently arrived from another country and is learning English." Resolve debates with the slide-12 test. 3 minutes, brisk.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moment the session exists for; everything so far was preparation for you actually typing. Nothing has to be good, it's a sandbox, and we practice like we play: zero student information. Ms. Rivera builds ONE artifact all the way through this lab on screen: her family newsletter blurb, option A. The next six slides are her whole arc, in order: the prompt she types, the draft that comes back, the pushbacks, the invented detail she catches, and the version she actually sends. Tell the room: if you ever feel lost, copy her structure. Announce the tool by name. Energy up; pairs formed inside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pick whichever prompt is closest to your real job, type it, and read what comes back. Option A works for every role in the building, so point stuck pairs there. Ms. Rivera picks A and fills it in with her fall book fair; her screen is the next three slides, so anyone who feels lost can copy her structure exactly. Circulate. Deputize power users to float. Option D comes from a real carpentry classroom; invite electives staff to swap in their station or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Rivera's screen, our running composite example, and this is what she typed instead of "write something for the book fair." Read the colors off the slide: who the AI should be (role, teal), the job (task, navy), everything about her room and her families (context, amber), and the shape she wants back (format, green). Nobody has to memorize that today; Kit 2 turns it into a formula. Today it is just a picture: at worst, copy what is on this screen and swap in your own event, and your task 1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seconds later, this comes back. It is polished, it is grammatical, and it sounds like nobody: that beige is what a first draft always sounds like. Read the last line of the slide out loud and stop there; do not point at the invented hours yet, because catching it is the payoff on slide 26. Everyone should have their own draft 1 on screen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don't accept the first draft. Tell it what's wrong, like you would an intern: short and blunt, one instruction at a time, because the tool has no feelings and vague feedback gets a vague draft. Two rounds minimum on your own draft 1, right now. Ms. Rivera types the first two on this slide; her screen is next. 45-minute version: skip this task and go straight to the debrief. This is the move that separates people who get real value from people who quit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same blurb after two pushbacks. Warmer, then shorter, one word at a time, and it finally sounds like a person who knows these families. That took her about forty seconds. Point out that she changed nothing by hand yet; she only told it what was wrong. Then hold the room here: the sentence that matters is still hiding in this draft, and the next slide is where she finds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she sent it, she read it once, slowly, and found the sentence she never typed: the fair "runs all week, 8:00 to 3:00." She checked the real flyer, fixed the hours to Tuesday and Thursday, 3:00 to 6:30, and sent it. This is slide 6 happening in a real classroom task: the tool predicts likely words, so it fills a gap with something plausible, and two rounds of pushback will not catch that for you. Tell the room to read their own draft the same way before the debrief, and to say "got one" out loud if they find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surprised you, what was better than you expected, what was worse, and did anyone catch it being wrong? If the room saw an AI mistake, spotlight it warmly; it’s the best possible outcome of the lab. If nobody caught one, point back at Ms. Rivera’s invented book-fair hours on slide 26; the read-through is where errors surface. Take 3–4 voices, a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one governed what goes INTO the tool; this governs what comes OUT. Source: U.S. Dept. of Education OET (2023), "humans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selling AI leads with these. Naming them is what earns the room’s trust. If you chose to share the founders’ note, their view that over-reliance is the biggest risk lands well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 facts: OpenAI terms: 13+ minimum, under-18 parental permission. Park student-cheating debates here explicitly: "That’s Kit 5; today is about our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all three, then ask for a visible nod or thumbs-up. It matters that this is agreed, not just heard. These commitments are the school’s interim stance until a formal policy exists (Kit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as you talk. Research basis for follow-through: Darling-Hammond et al. (2017): sustained duration and active use are what make PD 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Kit 2, Prompting Basics: consistently useful results instead of occasionally lucky ones. Progress tracking and the certificate run through an AI-Ready School membership (ai-readyschool.com). Certificate language is exactly "Certificate of Completion"; check with your district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exit tickets; collect at the door; they are the school’s PD documentation. Your worries steer what we do next. 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1 OF 20</a:t>
            </a:r>
            <a:endParaRPr lang="en-US" sz="1500" dirty="0"/>
          </a:p>
        </p:txBody>
      </p:sp>
      <p:sp>
        <p:nvSpPr>
          <p:cNvPr id="5" name="Text 2"/>
          <p:cNvSpPr/>
          <p:nvPr/>
        </p:nvSpPr>
        <p:spPr>
          <a:xfrm>
            <a:off x="777240" y="3063240"/>
            <a:ext cx="10607040" cy="1828800"/>
          </a:xfrm>
          <a:prstGeom prst="rect">
            <a:avLst/>
          </a:prstGeom>
          <a:noFill/>
          <a:ln/>
        </p:spPr>
        <p:txBody>
          <a:bodyPr wrap="square" lIns="0" tIns="0" rIns="0" bIns="0" rtlCol="0" anchor="ctr"/>
          <a:lstStyle/>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AI Foundations &amp; Safety:</a:t>
            </a:r>
            <a:endParaRPr lang="en-US" sz="4700" dirty="0"/>
          </a:p>
          <a:p>
            <a:pPr indent="0" marL="0">
              <a:lnSpc>
                <a:spcPct val="105000"/>
              </a:lnSpc>
              <a:buNone/>
            </a:pPr>
            <a:r>
              <a:rPr lang="en-US" sz="4700" b="1" dirty="0">
                <a:solidFill>
                  <a:srgbClr val="FFFFFF"/>
                </a:solidFill>
                <a:latin typeface="Inter" pitchFamily="34" charset="0"/>
                <a:ea typeface="Inter" pitchFamily="34" charset="-122"/>
                <a:cs typeface="Inter" pitchFamily="34" charset="-120"/>
              </a:rPr>
              <a:t>The One Hard Rule</a:t>
            </a:r>
            <a:endParaRPr lang="en-US" sz="4700" dirty="0"/>
          </a:p>
        </p:txBody>
      </p:sp>
      <p:sp>
        <p:nvSpPr>
          <p:cNvPr id="6" name="Text 3"/>
          <p:cNvSpPr/>
          <p:nvPr/>
        </p:nvSpPr>
        <p:spPr>
          <a:xfrm>
            <a:off x="822960" y="4983480"/>
            <a:ext cx="960120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for the whole staff, with 15 minutes hands-on.</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Meet her: our running example teacher. Same piles on her desk as yours.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PROMISES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today is (and isn’t)</a:t>
            </a:r>
            <a:endParaRPr lang="en-US" sz="3200" dirty="0"/>
          </a:p>
        </p:txBody>
      </p:sp>
      <p:sp>
        <p:nvSpPr>
          <p:cNvPr id="14" name="Shape 11"/>
          <p:cNvSpPr/>
          <p:nvPr/>
        </p:nvSpPr>
        <p:spPr>
          <a:xfrm>
            <a:off x="640080" y="150876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78308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This session is NOT</a:t>
            </a:r>
            <a:endParaRPr lang="en-US" sz="2000" dirty="0"/>
          </a:p>
        </p:txBody>
      </p:sp>
      <p:sp>
        <p:nvSpPr>
          <p:cNvPr id="16" name="Text 13"/>
          <p:cNvSpPr/>
          <p:nvPr/>
        </p:nvSpPr>
        <p:spPr>
          <a:xfrm>
            <a:off x="96012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sales pitch for AI</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scare session</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prediction that robots replace teachers</a:t>
            </a:r>
            <a:endParaRPr lang="en-US" sz="2000" dirty="0"/>
          </a:p>
        </p:txBody>
      </p:sp>
      <p:sp>
        <p:nvSpPr>
          <p:cNvPr id="17" name="Shape 14"/>
          <p:cNvSpPr/>
          <p:nvPr/>
        </p:nvSpPr>
        <p:spPr>
          <a:xfrm>
            <a:off x="6263640" y="1508760"/>
            <a:ext cx="5394960" cy="4206240"/>
          </a:xfrm>
          <a:prstGeom prst="roundRect">
            <a:avLst>
              <a:gd name="adj" fmla="val 1957"/>
            </a:avLst>
          </a:prstGeom>
          <a:solidFill>
            <a:srgbClr val="EAF5F3"/>
          </a:solidFill>
          <a:ln w="12700">
            <a:solidFill>
              <a:srgbClr val="EAF5F3"/>
            </a:solidFill>
            <a:prstDash val="solid"/>
          </a:ln>
        </p:spPr>
      </p:sp>
      <p:sp>
        <p:nvSpPr>
          <p:cNvPr id="18" name="Text 15"/>
          <p:cNvSpPr/>
          <p:nvPr/>
        </p:nvSpPr>
        <p:spPr>
          <a:xfrm>
            <a:off x="6583680" y="178308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It IS</a:t>
            </a:r>
            <a:endParaRPr lang="en-US" sz="2000" dirty="0"/>
          </a:p>
        </p:txBody>
      </p:sp>
      <p:sp>
        <p:nvSpPr>
          <p:cNvPr id="19" name="Text 16"/>
          <p:cNvSpPr/>
          <p:nvPr/>
        </p:nvSpPr>
        <p:spPr>
          <a:xfrm>
            <a:off x="6583680" y="2331720"/>
            <a:ext cx="4846320" cy="31089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A clear picture of what these tools actually are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one rule that keeps you and your students safe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15 minutes of actually using AI, hands-on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She noticed: her students and colleagues are already using these tools.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NOW: THREE NUMBERS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600" b="1" dirty="0">
                <a:solidFill>
                  <a:srgbClr val="13293D"/>
                </a:solidFill>
                <a:latin typeface="Inter" pitchFamily="34" charset="0"/>
                <a:ea typeface="Inter" pitchFamily="34" charset="-122"/>
                <a:cs typeface="Inter" pitchFamily="34" charset="-120"/>
              </a:rPr>
              <a:t>This moved faster than any school technology before it</a:t>
            </a:r>
            <a:endParaRPr lang="en-US" sz="2600" dirty="0"/>
          </a:p>
        </p:txBody>
      </p:sp>
      <p:sp>
        <p:nvSpPr>
          <p:cNvPr id="14" name="Shape 11"/>
          <p:cNvSpPr/>
          <p:nvPr/>
        </p:nvSpPr>
        <p:spPr>
          <a:xfrm>
            <a:off x="640080" y="1600200"/>
            <a:ext cx="3520440" cy="3291840"/>
          </a:xfrm>
          <a:prstGeom prst="roundRect">
            <a:avLst>
              <a:gd name="adj" fmla="val 2500"/>
            </a:avLst>
          </a:prstGeom>
          <a:solidFill>
            <a:srgbClr val="F7F5F0"/>
          </a:solidFill>
          <a:ln w="12700">
            <a:solidFill>
              <a:srgbClr val="F7F5F0"/>
            </a:solidFill>
            <a:prstDash val="solid"/>
          </a:ln>
        </p:spPr>
      </p:sp>
      <p:sp>
        <p:nvSpPr>
          <p:cNvPr id="15" name="Shape 12"/>
          <p:cNvSpPr/>
          <p:nvPr/>
        </p:nvSpPr>
        <p:spPr>
          <a:xfrm>
            <a:off x="4343400" y="1600200"/>
            <a:ext cx="3520440" cy="3291840"/>
          </a:xfrm>
          <a:prstGeom prst="roundRect">
            <a:avLst>
              <a:gd name="adj" fmla="val 2500"/>
            </a:avLst>
          </a:prstGeom>
          <a:solidFill>
            <a:srgbClr val="F7F5F0"/>
          </a:solidFill>
          <a:ln w="12700">
            <a:solidFill>
              <a:srgbClr val="F7F5F0"/>
            </a:solidFill>
            <a:prstDash val="solid"/>
          </a:ln>
        </p:spPr>
      </p:sp>
      <p:sp>
        <p:nvSpPr>
          <p:cNvPr id="16" name="Shape 13"/>
          <p:cNvSpPr/>
          <p:nvPr/>
        </p:nvSpPr>
        <p:spPr>
          <a:xfrm>
            <a:off x="8046720" y="1600200"/>
            <a:ext cx="3520440" cy="3291840"/>
          </a:xfrm>
          <a:prstGeom prst="roundRect">
            <a:avLst>
              <a:gd name="adj" fmla="val 2500"/>
            </a:avLst>
          </a:prstGeom>
          <a:solidFill>
            <a:srgbClr val="F7F5F0"/>
          </a:solidFill>
          <a:ln w="12700">
            <a:solidFill>
              <a:srgbClr val="F7F5F0"/>
            </a:solidFill>
            <a:prstDash val="solid"/>
          </a:ln>
        </p:spPr>
      </p:sp>
      <p:sp>
        <p:nvSpPr>
          <p:cNvPr id="17" name="Text 14"/>
          <p:cNvSpPr/>
          <p:nvPr/>
        </p:nvSpPr>
        <p:spPr>
          <a:xfrm>
            <a:off x="640080" y="1874520"/>
            <a:ext cx="3520440" cy="1097280"/>
          </a:xfrm>
          <a:prstGeom prst="rect">
            <a:avLst/>
          </a:prstGeom>
          <a:noFill/>
          <a:ln/>
        </p:spPr>
        <p:txBody>
          <a:bodyPr wrap="square" lIns="0" tIns="0" rIns="0" bIns="0" rtlCol="0" anchor="ctr"/>
          <a:lstStyle/>
          <a:p>
            <a:pPr algn="ctr" indent="0" marL="0">
              <a:buNone/>
            </a:pPr>
            <a:r>
              <a:rPr lang="en-US" sz="4000" b="1" dirty="0">
                <a:solidFill>
                  <a:srgbClr val="5B6B7A"/>
                </a:solidFill>
                <a:latin typeface="Inter" pitchFamily="34" charset="0"/>
                <a:ea typeface="Inter" pitchFamily="34" charset="-122"/>
                <a:cs typeface="Inter" pitchFamily="34" charset="-120"/>
              </a:rPr>
              <a:t>25%</a:t>
            </a:r>
            <a:pPr algn="ctr" indent="0" marL="0">
              <a:buNone/>
            </a:pPr>
            <a:r>
              <a:rPr lang="en-US" sz="4000" b="1" dirty="0">
                <a:solidFill>
                  <a:srgbClr val="2A9D8F"/>
                </a:solidFill>
                <a:latin typeface="Inter" pitchFamily="34" charset="0"/>
                <a:ea typeface="Inter" pitchFamily="34" charset="-122"/>
                <a:cs typeface="Inter" pitchFamily="34" charset="-120"/>
              </a:rPr>
              <a:t> → </a:t>
            </a:r>
            <a:pPr algn="ctr" indent="0" marL="0">
              <a:buNone/>
            </a:pPr>
            <a:r>
              <a:rPr lang="en-US" sz="4000" b="1" dirty="0">
                <a:solidFill>
                  <a:srgbClr val="13293D"/>
                </a:solidFill>
                <a:latin typeface="Inter" pitchFamily="34" charset="0"/>
                <a:ea typeface="Inter" pitchFamily="34" charset="-122"/>
                <a:cs typeface="Inter" pitchFamily="34" charset="-120"/>
              </a:rPr>
              <a:t>53%</a:t>
            </a:r>
            <a:endParaRPr lang="en-US" sz="4000" dirty="0"/>
          </a:p>
        </p:txBody>
      </p:sp>
      <p:sp>
        <p:nvSpPr>
          <p:cNvPr id="18" name="Text 15"/>
          <p:cNvSpPr/>
          <p:nvPr/>
        </p:nvSpPr>
        <p:spPr>
          <a:xfrm>
            <a:off x="4343400" y="1828800"/>
            <a:ext cx="3520440" cy="1188720"/>
          </a:xfrm>
          <a:prstGeom prst="rect">
            <a:avLst/>
          </a:prstGeom>
          <a:noFill/>
          <a:ln/>
        </p:spPr>
        <p:txBody>
          <a:bodyPr wrap="square" lIns="0" tIns="0" rIns="0" bIns="0" rtlCol="0" anchor="ctr"/>
          <a:lstStyle/>
          <a:p>
            <a:pPr algn="ctr" indent="0" marL="0">
              <a:buNone/>
            </a:pPr>
            <a:r>
              <a:rPr lang="en-US" sz="6400" b="1" dirty="0">
                <a:solidFill>
                  <a:srgbClr val="2A9D8F"/>
                </a:solidFill>
                <a:latin typeface="Inter" pitchFamily="34" charset="0"/>
                <a:ea typeface="Inter" pitchFamily="34" charset="-122"/>
                <a:cs typeface="Inter" pitchFamily="34" charset="-120"/>
              </a:rPr>
              <a:t>60%</a:t>
            </a:r>
            <a:endParaRPr lang="en-US" sz="6400" dirty="0"/>
          </a:p>
        </p:txBody>
      </p:sp>
      <p:sp>
        <p:nvSpPr>
          <p:cNvPr id="19" name="Text 16"/>
          <p:cNvSpPr/>
          <p:nvPr/>
        </p:nvSpPr>
        <p:spPr>
          <a:xfrm>
            <a:off x="8046720" y="1828800"/>
            <a:ext cx="3520440" cy="1188720"/>
          </a:xfrm>
          <a:prstGeom prst="rect">
            <a:avLst/>
          </a:prstGeom>
          <a:noFill/>
          <a:ln/>
        </p:spPr>
        <p:txBody>
          <a:bodyPr wrap="square" lIns="0" tIns="0" rIns="0" bIns="0" rtlCol="0" anchor="ctr"/>
          <a:lstStyle/>
          <a:p>
            <a:pPr algn="ctr" indent="0" marL="0">
              <a:buNone/>
            </a:pPr>
            <a:r>
              <a:rPr lang="en-US" sz="6400" b="1" dirty="0">
                <a:solidFill>
                  <a:srgbClr val="F4A825"/>
                </a:solidFill>
                <a:latin typeface="Inter" pitchFamily="34" charset="0"/>
                <a:ea typeface="Inter" pitchFamily="34" charset="-122"/>
                <a:cs typeface="Inter" pitchFamily="34" charset="-120"/>
              </a:rPr>
              <a:t>54%</a:t>
            </a:r>
            <a:endParaRPr lang="en-US" sz="6400" dirty="0"/>
          </a:p>
        </p:txBody>
      </p:sp>
      <p:sp>
        <p:nvSpPr>
          <p:cNvPr id="20" name="Text 17"/>
          <p:cNvSpPr/>
          <p:nvPr/>
        </p:nvSpPr>
        <p:spPr>
          <a:xfrm>
            <a:off x="82296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Teachers using AI for work,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2023–24 vs. 2024–25</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(RAND)</a:t>
            </a:r>
            <a:endParaRPr lang="en-US" sz="1600" dirty="0"/>
          </a:p>
        </p:txBody>
      </p:sp>
      <p:sp>
        <p:nvSpPr>
          <p:cNvPr id="21" name="Text 18"/>
          <p:cNvSpPr/>
          <p:nvPr/>
        </p:nvSpPr>
        <p:spPr>
          <a:xfrm>
            <a:off x="452628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during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the 2024–25 school year</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a:t>
            </a:r>
            <a:endParaRPr lang="en-US" sz="1600" dirty="0"/>
          </a:p>
        </p:txBody>
      </p:sp>
      <p:sp>
        <p:nvSpPr>
          <p:cNvPr id="22" name="Text 19"/>
          <p:cNvSpPr/>
          <p:nvPr/>
        </p:nvSpPr>
        <p:spPr>
          <a:xfrm>
            <a:off x="8229600" y="3520440"/>
            <a:ext cx="3154680" cy="1280160"/>
          </a:xfrm>
          <a:prstGeom prst="rect">
            <a:avLst/>
          </a:prstGeom>
          <a:noFill/>
          <a:ln/>
        </p:spPr>
        <p:txBody>
          <a:bodyPr wrap="square" lIns="0" tIns="0" rIns="0" bIns="0" rtlCol="0" anchor="t"/>
          <a:lstStyle/>
          <a:p>
            <a:pPr algn="ctr" indent="0" marL="0">
              <a:buNone/>
            </a:pPr>
            <a:r>
              <a:rPr lang="en-US" sz="1600" dirty="0">
                <a:solidFill>
                  <a:srgbClr val="1B1F24"/>
                </a:solidFill>
                <a:latin typeface="Inter" pitchFamily="34" charset="0"/>
                <a:ea typeface="Inter" pitchFamily="34" charset="-122"/>
                <a:cs typeface="Inter" pitchFamily="34" charset="-120"/>
              </a:rPr>
              <a:t>of U.S. teens already use AI</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for schoolwork (Pew, 2026)</a:t>
            </a:r>
            <a:endParaRPr lang="en-US" sz="1600" dirty="0"/>
          </a:p>
        </p:txBody>
      </p:sp>
      <p:sp>
        <p:nvSpPr>
          <p:cNvPr id="23" name="Text 20"/>
          <p:cNvSpPr/>
          <p:nvPr/>
        </p:nvSpPr>
        <p:spPr>
          <a:xfrm>
            <a:off x="640080" y="5257800"/>
            <a:ext cx="10908792" cy="54864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Whatever we decide in this room, AI is already in our building.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this hour: leave with one real task done with AI, safely.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1732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0:00</a:t>
            </a:r>
            <a:endParaRPr lang="en-US" sz="2000" dirty="0"/>
          </a:p>
        </p:txBody>
      </p:sp>
      <p:sp>
        <p:nvSpPr>
          <p:cNvPr id="15" name="Text 12"/>
          <p:cNvSpPr/>
          <p:nvPr/>
        </p:nvSpPr>
        <p:spPr>
          <a:xfrm>
            <a:off x="1920240" y="141732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Welcome &amp; why now</a:t>
            </a:r>
            <a:endParaRPr lang="en-US" sz="2000" dirty="0"/>
          </a:p>
        </p:txBody>
      </p:sp>
      <p:sp>
        <p:nvSpPr>
          <p:cNvPr id="16" name="Text 13"/>
          <p:cNvSpPr/>
          <p:nvPr/>
        </p:nvSpPr>
        <p:spPr>
          <a:xfrm>
            <a:off x="822960" y="203911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0:04</a:t>
            </a:r>
            <a:endParaRPr lang="en-US" sz="2000" dirty="0"/>
          </a:p>
        </p:txBody>
      </p:sp>
      <p:sp>
        <p:nvSpPr>
          <p:cNvPr id="17" name="Text 14"/>
          <p:cNvSpPr/>
          <p:nvPr/>
        </p:nvSpPr>
        <p:spPr>
          <a:xfrm>
            <a:off x="1920240" y="203911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actually is (no jargon)</a:t>
            </a:r>
            <a:endParaRPr lang="en-US" sz="2000" dirty="0"/>
          </a:p>
        </p:txBody>
      </p:sp>
      <p:sp>
        <p:nvSpPr>
          <p:cNvPr id="18" name="Text 15"/>
          <p:cNvSpPr/>
          <p:nvPr/>
        </p:nvSpPr>
        <p:spPr>
          <a:xfrm>
            <a:off x="822960" y="2660904"/>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9" name="Text 16"/>
          <p:cNvSpPr/>
          <p:nvPr/>
        </p:nvSpPr>
        <p:spPr>
          <a:xfrm>
            <a:off x="1920240" y="2660904"/>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One Hard Rule: student privacy</a:t>
            </a:r>
            <a:endParaRPr lang="en-US" sz="2000" dirty="0"/>
          </a:p>
        </p:txBody>
      </p:sp>
      <p:sp>
        <p:nvSpPr>
          <p:cNvPr id="20" name="Text 17"/>
          <p:cNvSpPr/>
          <p:nvPr/>
        </p:nvSpPr>
        <p:spPr>
          <a:xfrm>
            <a:off x="822960" y="3282696"/>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0:22</a:t>
            </a:r>
            <a:endParaRPr lang="en-US" sz="2000" dirty="0"/>
          </a:p>
        </p:txBody>
      </p:sp>
      <p:sp>
        <p:nvSpPr>
          <p:cNvPr id="21" name="Text 18"/>
          <p:cNvSpPr/>
          <p:nvPr/>
        </p:nvSpPr>
        <p:spPr>
          <a:xfrm>
            <a:off x="1920240" y="3282696"/>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Safe practice: rewriting risky prompts</a:t>
            </a:r>
            <a:endParaRPr lang="en-US" sz="2000" dirty="0"/>
          </a:p>
        </p:txBody>
      </p:sp>
      <p:sp>
        <p:nvSpPr>
          <p:cNvPr id="22" name="Text 19"/>
          <p:cNvSpPr/>
          <p:nvPr/>
        </p:nvSpPr>
        <p:spPr>
          <a:xfrm>
            <a:off x="822960" y="3904488"/>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3" name="Text 20"/>
          <p:cNvSpPr/>
          <p:nvPr/>
        </p:nvSpPr>
        <p:spPr>
          <a:xfrm>
            <a:off x="1920240" y="3904488"/>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Hands-on lab: you type, in pairs</a:t>
            </a:r>
            <a:endParaRPr lang="en-US" sz="2000" dirty="0"/>
          </a:p>
        </p:txBody>
      </p:sp>
      <p:sp>
        <p:nvSpPr>
          <p:cNvPr id="24" name="Text 21"/>
          <p:cNvSpPr/>
          <p:nvPr/>
        </p:nvSpPr>
        <p:spPr>
          <a:xfrm>
            <a:off x="822960" y="4526280"/>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0:45</a:t>
            </a:r>
            <a:endParaRPr lang="en-US" sz="2000" dirty="0"/>
          </a:p>
        </p:txBody>
      </p:sp>
      <p:sp>
        <p:nvSpPr>
          <p:cNvPr id="25" name="Text 22"/>
          <p:cNvSpPr/>
          <p:nvPr/>
        </p:nvSpPr>
        <p:spPr>
          <a:xfrm>
            <a:off x="1920240" y="4526280"/>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Staying human · our three commitments</a:t>
            </a:r>
            <a:endParaRPr lang="en-US" sz="2000" dirty="0"/>
          </a:p>
        </p:txBody>
      </p:sp>
      <p:sp>
        <p:nvSpPr>
          <p:cNvPr id="26" name="Text 23"/>
          <p:cNvSpPr/>
          <p:nvPr/>
        </p:nvSpPr>
        <p:spPr>
          <a:xfrm>
            <a:off x="822960" y="5148072"/>
            <a:ext cx="1005840" cy="50292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0:52</a:t>
            </a:r>
            <a:endParaRPr lang="en-US" sz="2000" dirty="0"/>
          </a:p>
        </p:txBody>
      </p:sp>
      <p:sp>
        <p:nvSpPr>
          <p:cNvPr id="27" name="Text 24"/>
          <p:cNvSpPr/>
          <p:nvPr/>
        </p:nvSpPr>
        <p:spPr>
          <a:xfrm>
            <a:off x="1920240" y="5148072"/>
            <a:ext cx="6949440" cy="50292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First 48 hours &amp; exit ticket</a:t>
            </a:r>
            <a:endParaRPr lang="en-US" sz="2000" dirty="0"/>
          </a:p>
        </p:txBody>
      </p:sp>
      <p:sp>
        <p:nvSpPr>
          <p:cNvPr id="28" name="Shape 25"/>
          <p:cNvSpPr/>
          <p:nvPr/>
        </p:nvSpPr>
        <p:spPr>
          <a:xfrm>
            <a:off x="9144000" y="2103120"/>
            <a:ext cx="2514600" cy="2651760"/>
          </a:xfrm>
          <a:prstGeom prst="roundRect">
            <a:avLst>
              <a:gd name="adj" fmla="val 3273"/>
            </a:avLst>
          </a:prstGeom>
          <a:solidFill>
            <a:srgbClr val="13293D"/>
          </a:solidFill>
          <a:ln w="12700">
            <a:solidFill>
              <a:srgbClr val="13293D"/>
            </a:solidFill>
            <a:prstDash val="solid"/>
          </a:ln>
        </p:spPr>
      </p:sp>
      <p:sp>
        <p:nvSpPr>
          <p:cNvPr id="29" name="Text 26"/>
          <p:cNvSpPr/>
          <p:nvPr/>
        </p:nvSpPr>
        <p:spPr>
          <a:xfrm>
            <a:off x="9372600" y="2331720"/>
            <a:ext cx="205740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30" name="Text 27"/>
          <p:cNvSpPr/>
          <p:nvPr/>
        </p:nvSpPr>
        <p:spPr>
          <a:xfrm>
            <a:off x="9372600" y="2743200"/>
            <a:ext cx="2057400" cy="182880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will actually use an AI tool today, and leave with something for tomorrow morning.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mental note: it predicts words. It isn't looking anything up.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DEMYSTIFYING THE THING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 chatbot actually does</a:t>
            </a:r>
            <a:endParaRPr lang="en-US" sz="3200" dirty="0"/>
          </a:p>
        </p:txBody>
      </p:sp>
      <p:sp>
        <p:nvSpPr>
          <p:cNvPr id="14" name="Shape 11"/>
          <p:cNvSpPr/>
          <p:nvPr/>
        </p:nvSpPr>
        <p:spPr>
          <a:xfrm>
            <a:off x="640080" y="1554480"/>
            <a:ext cx="10972800" cy="2011680"/>
          </a:xfrm>
          <a:prstGeom prst="roundRect">
            <a:avLst>
              <a:gd name="adj" fmla="val 4091"/>
            </a:avLst>
          </a:prstGeom>
          <a:solidFill>
            <a:srgbClr val="F7F5F0"/>
          </a:solidFill>
          <a:ln w="12700">
            <a:solidFill>
              <a:srgbClr val="F7F5F0"/>
            </a:solidFill>
            <a:prstDash val="solid"/>
          </a:ln>
        </p:spPr>
      </p:sp>
      <p:sp>
        <p:nvSpPr>
          <p:cNvPr id="15" name="Text 12"/>
          <p:cNvSpPr/>
          <p:nvPr/>
        </p:nvSpPr>
        <p:spPr>
          <a:xfrm>
            <a:off x="960120" y="1783080"/>
            <a:ext cx="10332720" cy="155448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It predicts likely next words.</a:t>
            </a:r>
            <a:pPr indent="0" marL="0">
              <a:buNone/>
            </a:pPr>
            <a:r>
              <a:rPr lang="en-US" sz="2200" dirty="0">
                <a:solidFill>
                  <a:srgbClr val="1B1F24"/>
                </a:solidFill>
                <a:latin typeface="Inter" pitchFamily="34" charset="0"/>
                <a:ea typeface="Inter" pitchFamily="34" charset="-122"/>
                <a:cs typeface="Inter" pitchFamily="34" charset="-120"/>
              </a:rPr>
              <a:t>  Not a database. Not a search engine. A very sophisticated pattern-continuation machine, trained on enormous amounts of text.</a:t>
            </a:r>
            <a:endParaRPr lang="en-US" sz="2200" dirty="0"/>
          </a:p>
        </p:txBody>
      </p:sp>
      <p:sp>
        <p:nvSpPr>
          <p:cNvPr id="16" name="Text 13"/>
          <p:cNvSpPr/>
          <p:nvPr/>
        </p:nvSpPr>
        <p:spPr>
          <a:xfrm>
            <a:off x="640080" y="3886200"/>
            <a:ext cx="10908792" cy="21031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the writing sounds so fluent: fluent is what it was trained to produce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Why it can be smoothly, confidently wrong: it continues patterns instead of checking facts</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One fact that explains almost everything you’ll ever see AI do</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forming: anything factual gets checked before she relies on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PEER-REVIEWED EVIDENCE,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 can be confidently wrong</a:t>
            </a:r>
            <a:endParaRPr lang="en-US" sz="3200" dirty="0"/>
          </a:p>
        </p:txBody>
      </p:sp>
      <p:sp>
        <p:nvSpPr>
          <p:cNvPr id="14" name="Shape 11"/>
          <p:cNvSpPr/>
          <p:nvPr/>
        </p:nvSpPr>
        <p:spPr>
          <a:xfrm>
            <a:off x="640080" y="1554480"/>
            <a:ext cx="521208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640080" y="1965960"/>
            <a:ext cx="5212080" cy="1188720"/>
          </a:xfrm>
          <a:prstGeom prst="rect">
            <a:avLst/>
          </a:prstGeom>
          <a:noFill/>
          <a:ln/>
        </p:spPr>
        <p:txBody>
          <a:bodyPr wrap="square" lIns="0" tIns="0" rIns="0" bIns="0" rtlCol="0" anchor="ctr"/>
          <a:lstStyle/>
          <a:p>
            <a:pPr algn="ctr" indent="0" marL="0">
              <a:buNone/>
            </a:pPr>
            <a:r>
              <a:rPr lang="en-US" sz="6600" b="1" dirty="0">
                <a:solidFill>
                  <a:srgbClr val="B4453A"/>
                </a:solidFill>
                <a:latin typeface="Inter" pitchFamily="34" charset="0"/>
                <a:ea typeface="Inter" pitchFamily="34" charset="-122"/>
                <a:cs typeface="Inter" pitchFamily="34" charset="-120"/>
              </a:rPr>
              <a:t>19.9%</a:t>
            </a:r>
            <a:endParaRPr lang="en-US" sz="6600" dirty="0"/>
          </a:p>
        </p:txBody>
      </p:sp>
      <p:sp>
        <p:nvSpPr>
          <p:cNvPr id="16" name="Text 13"/>
          <p:cNvSpPr/>
          <p:nvPr/>
        </p:nvSpPr>
        <p:spPr>
          <a:xfrm>
            <a:off x="100584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citations produced by a leading AI model in a 2025 test were entirely fabricated. The papers did not exist</a:t>
            </a:r>
            <a:endParaRPr lang="en-US" sz="1700" dirty="0"/>
          </a:p>
        </p:txBody>
      </p:sp>
      <p:sp>
        <p:nvSpPr>
          <p:cNvPr id="17" name="Shape 14"/>
          <p:cNvSpPr/>
          <p:nvPr/>
        </p:nvSpPr>
        <p:spPr>
          <a:xfrm>
            <a:off x="6080760" y="1554480"/>
            <a:ext cx="521208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080760" y="1965960"/>
            <a:ext cx="5212080" cy="1188720"/>
          </a:xfrm>
          <a:prstGeom prst="rect">
            <a:avLst/>
          </a:prstGeom>
          <a:noFill/>
          <a:ln/>
        </p:spPr>
        <p:txBody>
          <a:bodyPr wrap="square" lIns="0" tIns="0" rIns="0" bIns="0" rtlCol="0" anchor="ctr"/>
          <a:lstStyle/>
          <a:p>
            <a:pPr algn="ctr" indent="0" marL="0">
              <a:buNone/>
            </a:pPr>
            <a:r>
              <a:rPr lang="en-US" sz="6600" b="1" dirty="0">
                <a:solidFill>
                  <a:srgbClr val="F4A825"/>
                </a:solidFill>
                <a:latin typeface="Inter" pitchFamily="34" charset="0"/>
                <a:ea typeface="Inter" pitchFamily="34" charset="-122"/>
                <a:cs typeface="Inter" pitchFamily="34" charset="-120"/>
              </a:rPr>
              <a:t>45.4%</a:t>
            </a:r>
            <a:endParaRPr lang="en-US" sz="6600" dirty="0"/>
          </a:p>
        </p:txBody>
      </p:sp>
      <p:sp>
        <p:nvSpPr>
          <p:cNvPr id="19" name="Text 16"/>
          <p:cNvSpPr/>
          <p:nvPr/>
        </p:nvSpPr>
        <p:spPr>
          <a:xfrm>
            <a:off x="6446520" y="3246120"/>
            <a:ext cx="4480560" cy="210312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of the real citations still contained errors, and every one of them looked perfect on the page</a:t>
            </a:r>
            <a:endParaRPr lang="en-US" sz="1700" dirty="0"/>
          </a:p>
        </p:txBody>
      </p:sp>
      <p:sp>
        <p:nvSpPr>
          <p:cNvPr id="20" name="Text 17"/>
          <p:cNvSpPr/>
          <p:nvPr/>
        </p:nvSpPr>
        <p:spPr>
          <a:xfrm>
            <a:off x="640080" y="58064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habit that follows: verify anything factual before you rely on it.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frame: a fast, eager intern. She stays the professional in charge.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MENTAL MODEL FOR THE WHOLE SERIES</a:t>
            </a:r>
            <a:endParaRPr lang="en-US" sz="1200" dirty="0"/>
          </a:p>
        </p:txBody>
      </p:sp>
      <p:sp>
        <p:nvSpPr>
          <p:cNvPr id="13" name="Text 10"/>
          <p:cNvSpPr/>
          <p:nvPr/>
        </p:nvSpPr>
        <p:spPr>
          <a:xfrm>
            <a:off x="640080" y="1554480"/>
            <a:ext cx="10972800" cy="1005840"/>
          </a:xfrm>
          <a:prstGeom prst="rect">
            <a:avLst/>
          </a:prstGeom>
          <a:noFill/>
          <a:ln/>
        </p:spPr>
        <p:txBody>
          <a:bodyPr wrap="square" lIns="0" tIns="0" rIns="0" bIns="0" rtlCol="0" anchor="ctr"/>
          <a:lstStyle/>
          <a:p>
            <a:pPr indent="0" marL="0">
              <a:buNone/>
            </a:pPr>
            <a:r>
              <a:rPr lang="en-US" sz="4500" b="1" dirty="0">
                <a:solidFill>
                  <a:srgbClr val="FFFFFF"/>
                </a:solidFill>
                <a:latin typeface="Inter" pitchFamily="34" charset="0"/>
                <a:ea typeface="Inter" pitchFamily="34" charset="-122"/>
                <a:cs typeface="Inter" pitchFamily="34" charset="-120"/>
              </a:rPr>
              <a:t>AI is an eager intern.</a:t>
            </a:r>
            <a:endParaRPr lang="en-US" sz="4500" dirty="0"/>
          </a:p>
        </p:txBody>
      </p:sp>
      <p:sp>
        <p:nvSpPr>
          <p:cNvPr id="14" name="Text 11"/>
          <p:cNvSpPr/>
          <p:nvPr/>
        </p:nvSpPr>
        <p:spPr>
          <a:xfrm>
            <a:off x="640080" y="2743200"/>
            <a:ext cx="10908792" cy="2011680"/>
          </a:xfrm>
          <a:prstGeom prst="rect">
            <a:avLst/>
          </a:prstGeom>
          <a:noFill/>
          <a:ln/>
        </p:spPr>
        <p:txBody>
          <a:bodyPr wrap="square" rtlCol="0" anchor="t"/>
          <a:lstStyle/>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Fast, tireless, surprisingly capable, desperate to please</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Will make things up rather than admit it doesn’t know</a:t>
            </a:r>
            <a:endParaRPr lang="en-US" sz="2200" dirty="0"/>
          </a:p>
          <a:p>
            <a:pPr marL="342900" indent="-342900">
              <a:spcAft>
                <a:spcPts val="1000"/>
              </a:spcAft>
              <a:buSzPct val="100000"/>
              <a:buChar char="•"/>
            </a:pPr>
            <a:r>
              <a:rPr lang="en-US" sz="2200" dirty="0">
                <a:solidFill>
                  <a:srgbClr val="C9D4DE"/>
                </a:solidFill>
                <a:latin typeface="Inter" pitchFamily="34" charset="0"/>
                <a:ea typeface="Inter" pitchFamily="34" charset="-122"/>
                <a:cs typeface="Inter" pitchFamily="34" charset="-120"/>
              </a:rPr>
              <a:t>Never meets your students unsupervised, never sends unread work home</a:t>
            </a:r>
            <a:endParaRPr lang="en-US" sz="2200" dirty="0"/>
          </a:p>
        </p:txBody>
      </p:sp>
      <p:sp>
        <p:nvSpPr>
          <p:cNvPr id="15" name="Text 12"/>
          <p:cNvSpPr/>
          <p:nvPr/>
        </p:nvSpPr>
        <p:spPr>
          <a:xfrm>
            <a:off x="640080" y="5029200"/>
            <a:ext cx="10972800" cy="822960"/>
          </a:xfrm>
          <a:prstGeom prst="rect">
            <a:avLst/>
          </a:prstGeom>
          <a:noFill/>
          <a:ln/>
        </p:spPr>
        <p:txBody>
          <a:bodyPr wrap="square" lIns="0" tIns="0" rIns="0" bIns="0" rtlCol="0" anchor="ctr"/>
          <a:lstStyle/>
          <a:p>
            <a:pPr algn="ctr" indent="0" marL="0">
              <a:buNone/>
            </a:pPr>
            <a:r>
              <a:rPr lang="en-US" sz="3000" b="1" dirty="0">
                <a:solidFill>
                  <a:srgbClr val="2A9D8F"/>
                </a:solidFill>
                <a:latin typeface="Inter" pitchFamily="34" charset="0"/>
                <a:ea typeface="Inter" pitchFamily="34" charset="-122"/>
                <a:cs typeface="Inter" pitchFamily="34" charset="-120"/>
              </a:rPr>
              <a:t>AI drafts. The teacher decides.</a:t>
            </a:r>
            <a:endParaRPr lang="en-US" sz="3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 drafts, leveled passages, rubrics, reformatting.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a:t>
            </a:r>
            <a:endParaRPr lang="en-US" sz="32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Parent newsletters, routine emails, letters home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Differentiation</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passage → three reading levels in a minute</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Assessment scaffolds</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notes → rubrics, word banks, question sets</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Same content as a quiz, a table, station cards</a:t>
            </a:r>
            <a:endParaRPr lang="en-US" sz="1600" dirty="0"/>
          </a:p>
        </p:txBody>
      </p:sp>
      <p:sp>
        <p:nvSpPr>
          <p:cNvPr id="26" name="Text 23"/>
          <p:cNvSpPr/>
          <p:nvPr/>
        </p:nvSpPr>
        <p:spPr>
          <a:xfrm>
            <a:off x="640080" y="5166360"/>
            <a:ext cx="10972800" cy="73152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Teachers who use AI weekly report saving ~5.9 hours a week: the paperwork part of the job, not the teaching part. (Gallup &amp; Walton Family Foundation, 2025)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Hers alone: knowing her kids, checking facts, caring.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 PURPOSE, FOREVER</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it can’t do, at any price</a:t>
            </a:r>
            <a:endParaRPr lang="en-US" sz="28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Know your students: that this class shuts down after lunch, that this kid needs a win today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Verify its own facts (that’s you)</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Care: it produces text, not judgment, and not relationships</a:t>
            </a:r>
            <a:endParaRPr lang="en-US" sz="2100" dirty="0"/>
          </a:p>
        </p:txBody>
      </p:sp>
      <p:sp>
        <p:nvSpPr>
          <p:cNvPr id="15" name="Shape 12"/>
          <p:cNvSpPr/>
          <p:nvPr/>
        </p:nvSpPr>
        <p:spPr>
          <a:xfrm>
            <a:off x="640080" y="420624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38912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Everything on this slide is your job on purpose. The tool buys back time FOR this list; it never takes this list away.</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line, memorized: no student PII in a public AI tool. Ever.</a:t>
            </a:r>
            <a:endParaRPr lang="en-US" sz="1000" dirty="0"/>
          </a:p>
        </p:txBody>
      </p:sp>
      <p:sp>
        <p:nvSpPr>
          <p:cNvPr id="12" name="Text 9"/>
          <p:cNvSpPr/>
          <p:nvPr/>
        </p:nvSpPr>
        <p:spPr>
          <a:xfrm>
            <a:off x="640080" y="1234440"/>
            <a:ext cx="10972800" cy="457200"/>
          </a:xfrm>
          <a:prstGeom prst="rect">
            <a:avLst/>
          </a:prstGeom>
          <a:noFill/>
          <a:ln/>
        </p:spPr>
        <p:txBody>
          <a:bodyPr wrap="square" lIns="0" tIns="0" rIns="0" bIns="0" rtlCol="0" anchor="ctr"/>
          <a:lstStyle/>
          <a:p>
            <a:pPr algn="ctr" indent="0" marL="0">
              <a:buNone/>
            </a:pPr>
            <a:r>
              <a:rPr lang="en-US" sz="1800" b="1" spc="400" kern="0" dirty="0">
                <a:solidFill>
                  <a:srgbClr val="F4A825"/>
                </a:solidFill>
                <a:latin typeface="Inter" pitchFamily="34" charset="0"/>
                <a:ea typeface="Inter" pitchFamily="34" charset="-122"/>
                <a:cs typeface="Inter" pitchFamily="34" charset="-120"/>
              </a:rPr>
              <a:t>THE ONE HARD RULE</a:t>
            </a:r>
            <a:endParaRPr lang="en-US" sz="1800" dirty="0"/>
          </a:p>
        </p:txBody>
      </p:sp>
      <p:sp>
        <p:nvSpPr>
          <p:cNvPr id="13" name="Text 10"/>
          <p:cNvSpPr/>
          <p:nvPr/>
        </p:nvSpPr>
        <p:spPr>
          <a:xfrm>
            <a:off x="914400" y="1965960"/>
            <a:ext cx="10332720" cy="210312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Inter" pitchFamily="34" charset="0"/>
                <a:ea typeface="Inter" pitchFamily="34" charset="-122"/>
                <a:cs typeface="Inter" pitchFamily="34" charset="-120"/>
              </a:rPr>
              <a:t>Never put student personally identifiable information into a public AI tool.</a:t>
            </a:r>
            <a:endParaRPr lang="en-US" sz="4000" dirty="0"/>
          </a:p>
        </p:txBody>
      </p:sp>
      <p:sp>
        <p:nvSpPr>
          <p:cNvPr id="14" name="Text 11"/>
          <p:cNvSpPr/>
          <p:nvPr/>
        </p:nvSpPr>
        <p:spPr>
          <a:xfrm>
            <a:off x="914400" y="4343400"/>
            <a:ext cx="10332720" cy="64008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Not a name. Not a detail that could identify a child. Ever.</a:t>
            </a:r>
            <a:endParaRPr lang="en-US" sz="2400" dirty="0"/>
          </a:p>
        </p:txBody>
      </p:sp>
      <p:sp>
        <p:nvSpPr>
          <p:cNvPr id="15" name="Text 12"/>
          <p:cNvSpPr/>
          <p:nvPr/>
        </p:nvSpPr>
        <p:spPr>
          <a:xfrm>
            <a:off x="1463040" y="5257800"/>
            <a:ext cx="9235440" cy="731520"/>
          </a:xfrm>
          <a:prstGeom prst="rect">
            <a:avLst/>
          </a:prstGeom>
          <a:noFill/>
          <a:ln/>
        </p:spPr>
        <p:txBody>
          <a:bodyPr wrap="square" lIns="0" tIns="0" rIns="0" bIns="0" rtlCol="0" anchor="ctr"/>
          <a:lstStyle/>
          <a:p>
            <a:pPr algn="ctr" indent="0" marL="0">
              <a:buNone/>
            </a:pPr>
            <a:r>
              <a:rPr lang="en-US" sz="1600" dirty="0">
                <a:solidFill>
                  <a:srgbClr val="C9D4DE"/>
                </a:solidFill>
                <a:latin typeface="Inter" pitchFamily="34" charset="0"/>
                <a:ea typeface="Inter" pitchFamily="34" charset="-122"/>
                <a:cs typeface="Inter" pitchFamily="34" charset="-120"/>
              </a:rPr>
              <a:t>Every other AI choice is a judgment call you’re qualified to make. This one isn’t a judgment call. It’s the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checklist: names, IDs, grades, IEPs, health, family details. All out.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RULE, MADE CONCRETE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counts as student PII</a:t>
            </a:r>
            <a:endParaRPr lang="en-US" sz="3200" dirty="0"/>
          </a:p>
        </p:txBody>
      </p:sp>
      <p:sp>
        <p:nvSpPr>
          <p:cNvPr id="14" name="Shape 11"/>
          <p:cNvSpPr/>
          <p:nvPr/>
        </p:nvSpPr>
        <p:spPr>
          <a:xfrm>
            <a:off x="640080" y="1463040"/>
            <a:ext cx="5394960" cy="4206240"/>
          </a:xfrm>
          <a:prstGeom prst="roundRect">
            <a:avLst>
              <a:gd name="adj" fmla="val 1957"/>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From records</a:t>
            </a:r>
            <a:endParaRPr lang="en-US" sz="2000" dirty="0"/>
          </a:p>
        </p:txBody>
      </p:sp>
      <p:sp>
        <p:nvSpPr>
          <p:cNvPr id="16" name="Text 13"/>
          <p:cNvSpPr/>
          <p:nvPr/>
        </p:nvSpPr>
        <p:spPr>
          <a:xfrm>
            <a:off x="96012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Names, initials, photos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Student ID numbers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Grades &amp; test scores tied to a student</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IEP / 504 contents &amp; accommodations</a:t>
            </a:r>
            <a:endParaRPr lang="en-US" sz="1900" dirty="0"/>
          </a:p>
        </p:txBody>
      </p:sp>
      <p:sp>
        <p:nvSpPr>
          <p:cNvPr id="17" name="Shape 14"/>
          <p:cNvSpPr/>
          <p:nvPr/>
        </p:nvSpPr>
        <p:spPr>
          <a:xfrm>
            <a:off x="6263640" y="1463040"/>
            <a:ext cx="5394960" cy="4206240"/>
          </a:xfrm>
          <a:prstGeom prst="roundRect">
            <a:avLst>
              <a:gd name="adj" fmla="val 1957"/>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About a child</a:t>
            </a:r>
            <a:endParaRPr lang="en-US" sz="2000" dirty="0"/>
          </a:p>
        </p:txBody>
      </p:sp>
      <p:sp>
        <p:nvSpPr>
          <p:cNvPr id="19" name="Text 16"/>
          <p:cNvSpPr/>
          <p:nvPr/>
        </p:nvSpPr>
        <p:spPr>
          <a:xfrm>
            <a:off x="6583680" y="2240280"/>
            <a:ext cx="4846320" cy="320040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Discipline history</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Health or diagnosis information</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Family details, addresses</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Anything about an identifiable student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test before typing: could anyone who knows our school tell who this 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WELL-MEANING PEOPLE SLIP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sneaky ones</a:t>
            </a:r>
            <a:endParaRPr lang="en-US" sz="3200" dirty="0"/>
          </a:p>
        </p:txBody>
      </p:sp>
      <p:sp>
        <p:nvSpPr>
          <p:cNvPr id="14" name="Shape 11"/>
          <p:cNvSpPr/>
          <p:nvPr/>
        </p:nvSpPr>
        <p:spPr>
          <a:xfrm>
            <a:off x="640080" y="1417320"/>
            <a:ext cx="676656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52704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"J.M. in my 3rd period with the anxiety diagnosis"</a:t>
            </a:r>
            <a:endParaRPr lang="en-US" sz="1700" dirty="0"/>
          </a:p>
        </p:txBody>
      </p:sp>
      <p:sp>
        <p:nvSpPr>
          <p:cNvPr id="16" name="Text 13"/>
          <p:cNvSpPr/>
          <p:nvPr/>
        </p:nvSpPr>
        <p:spPr>
          <a:xfrm>
            <a:off x="7635240" y="152704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Initials + context = identifiable</a:t>
            </a:r>
            <a:endParaRPr lang="en-US" sz="1500" dirty="0"/>
          </a:p>
        </p:txBody>
      </p:sp>
      <p:sp>
        <p:nvSpPr>
          <p:cNvPr id="17" name="Shape 14"/>
          <p:cNvSpPr/>
          <p:nvPr/>
        </p:nvSpPr>
        <p:spPr>
          <a:xfrm>
            <a:off x="640080" y="2651760"/>
            <a:ext cx="676656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76148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only 7th grader who uses a wheelchair"</a:t>
            </a:r>
            <a:endParaRPr lang="en-US" sz="1700" dirty="0"/>
          </a:p>
        </p:txBody>
      </p:sp>
      <p:sp>
        <p:nvSpPr>
          <p:cNvPr id="19" name="Text 16"/>
          <p:cNvSpPr/>
          <p:nvPr/>
        </p:nvSpPr>
        <p:spPr>
          <a:xfrm>
            <a:off x="7635240" y="276148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One-of-a-kind details identify without a name</a:t>
            </a:r>
            <a:endParaRPr lang="en-US" sz="1500" dirty="0"/>
          </a:p>
        </p:txBody>
      </p:sp>
      <p:sp>
        <p:nvSpPr>
          <p:cNvPr id="20" name="Shape 17"/>
          <p:cNvSpPr/>
          <p:nvPr/>
        </p:nvSpPr>
        <p:spPr>
          <a:xfrm>
            <a:off x="640080" y="3886200"/>
            <a:ext cx="676656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6309360" cy="8229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"The new student who just arrived from Ukraine"</a:t>
            </a:r>
            <a:endParaRPr lang="en-US" sz="1700" dirty="0"/>
          </a:p>
        </p:txBody>
      </p:sp>
      <p:sp>
        <p:nvSpPr>
          <p:cNvPr id="22" name="Text 19"/>
          <p:cNvSpPr/>
          <p:nvPr/>
        </p:nvSpPr>
        <p:spPr>
          <a:xfrm>
            <a:off x="7635240" y="3995928"/>
            <a:ext cx="3931920" cy="822960"/>
          </a:xfrm>
          <a:prstGeom prst="rect">
            <a:avLst/>
          </a:prstGeom>
          <a:noFill/>
          <a:ln/>
        </p:spPr>
        <p:txBody>
          <a:bodyPr wrap="square" lIns="0" tIns="0" rIns="0" bIns="0" rtlCol="0" anchor="ctr"/>
          <a:lstStyle/>
          <a:p>
            <a:pPr indent="0" marL="0">
              <a:buNone/>
            </a:pPr>
            <a:r>
              <a:rPr lang="en-US" sz="1500" dirty="0">
                <a:solidFill>
                  <a:srgbClr val="B4453A"/>
                </a:solidFill>
                <a:latin typeface="Inter" pitchFamily="34" charset="0"/>
                <a:ea typeface="Inter" pitchFamily="34" charset="-122"/>
                <a:cs typeface="Inter" pitchFamily="34" charset="-120"/>
              </a:rPr>
              <a:t>Rare circumstance = identifiable in your school</a:t>
            </a:r>
            <a:endParaRPr lang="en-US" sz="1500" dirty="0"/>
          </a:p>
        </p:txBody>
      </p:sp>
      <p:sp>
        <p:nvSpPr>
          <p:cNvPr id="23" name="Shape 20"/>
          <p:cNvSpPr/>
          <p:nvPr/>
        </p:nvSpPr>
        <p:spPr>
          <a:xfrm>
            <a:off x="640080" y="5257800"/>
            <a:ext cx="10972800" cy="914400"/>
          </a:xfrm>
          <a:prstGeom prst="roundRect">
            <a:avLst>
              <a:gd name="adj" fmla="val 9000"/>
            </a:avLst>
          </a:prstGeom>
          <a:solidFill>
            <a:srgbClr val="13293D"/>
          </a:solidFill>
          <a:ln w="12700">
            <a:solidFill>
              <a:srgbClr val="13293D"/>
            </a:solidFill>
            <a:prstDash val="solid"/>
          </a:ln>
        </p:spPr>
      </p:sp>
      <p:sp>
        <p:nvSpPr>
          <p:cNvPr id="24" name="Text 21"/>
          <p:cNvSpPr/>
          <p:nvPr/>
        </p:nvSpPr>
        <p:spPr>
          <a:xfrm>
            <a:off x="960120" y="5349240"/>
            <a:ext cx="10332720" cy="73152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The test: could anyone who knows our school figure out who this is?  If yes, it doesn’t go in.</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FERPA, plus a text box that makes oversharing effortless.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LEGAL REASON, ONE PRACTICAL REASON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the rule exists</a:t>
            </a:r>
            <a:endParaRPr lang="en-US" sz="3200" dirty="0"/>
          </a:p>
        </p:txBody>
      </p:sp>
      <p:sp>
        <p:nvSpPr>
          <p:cNvPr id="14" name="Shape 11"/>
          <p:cNvSpPr/>
          <p:nvPr/>
        </p:nvSpPr>
        <p:spPr>
          <a:xfrm>
            <a:off x="640080" y="1463040"/>
            <a:ext cx="539496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Legal</a:t>
            </a:r>
            <a:endParaRPr lang="en-US" sz="2000" dirty="0"/>
          </a:p>
        </p:txBody>
      </p:sp>
      <p:sp>
        <p:nvSpPr>
          <p:cNvPr id="16" name="Text 13"/>
          <p:cNvSpPr/>
          <p:nvPr/>
        </p:nvSpPr>
        <p:spPr>
          <a:xfrm>
            <a:off x="96012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FERPA protects student education records, and schools answer for how record information is shared. A public AI tool is a third party with no agreement with our district. Where typed data goes depends on terms of service that change without asking us.</a:t>
            </a:r>
            <a:endParaRPr lang="en-US" sz="1700" dirty="0"/>
          </a:p>
        </p:txBody>
      </p:sp>
      <p:sp>
        <p:nvSpPr>
          <p:cNvPr id="17" name="Shape 14"/>
          <p:cNvSpPr/>
          <p:nvPr/>
        </p:nvSpPr>
        <p:spPr>
          <a:xfrm>
            <a:off x="6263640" y="1463040"/>
            <a:ext cx="5394960" cy="4114800"/>
          </a:xfrm>
          <a:prstGeom prst="roundRect">
            <a:avLst>
              <a:gd name="adj" fmla="val 2000"/>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Practical</a:t>
            </a:r>
            <a:endParaRPr lang="en-US" sz="2000" dirty="0"/>
          </a:p>
        </p:txBody>
      </p:sp>
      <p:sp>
        <p:nvSpPr>
          <p:cNvPr id="19" name="Text 16"/>
          <p:cNvSpPr/>
          <p:nvPr/>
        </p:nvSpPr>
        <p:spPr>
          <a:xfrm>
            <a:off x="6583680" y="2194560"/>
            <a:ext cx="4846320" cy="310896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An open chat box makes oversharing effortless; privacy researchers flag exactly this. And nobody in this room wants to be the example in the district’s cautionary email. One rule, followed always, means that’s never you.</a:t>
            </a:r>
            <a:endParaRPr lang="en-US" sz="1700" dirty="0"/>
          </a:p>
        </p:txBody>
      </p:sp>
      <p:sp>
        <p:nvSpPr>
          <p:cNvPr id="20" name="Text 17"/>
          <p:cNvSpPr/>
          <p:nvPr/>
        </p:nvSpPr>
        <p:spPr>
          <a:xfrm>
            <a:off x="640080" y="5715000"/>
            <a:ext cx="10972800" cy="365760"/>
          </a:xfrm>
          <a:prstGeom prst="rect">
            <a:avLst/>
          </a:prstGeom>
          <a:noFill/>
          <a:ln/>
        </p:spPr>
        <p:txBody>
          <a:bodyPr wrap="square" lIns="0" tIns="0" rIns="0" bIns="0" rtlCol="0" anchor="ctr"/>
          <a:lstStyle/>
          <a:p>
            <a:pPr algn="ctr" indent="0" marL="0">
              <a:buNone/>
            </a:pPr>
            <a:r>
              <a:rPr lang="en-US" sz="1300" i="1" dirty="0">
                <a:solidFill>
                  <a:srgbClr val="5B6B7A"/>
                </a:solidFill>
                <a:latin typeface="Inter" pitchFamily="34" charset="0"/>
                <a:ea typeface="Inter" pitchFamily="34" charset="-122"/>
                <a:cs typeface="Inter" pitchFamily="34" charset="-120"/>
              </a:rPr>
              <a:t>Educators sharing safe practice, not legal advice. District-specific questions go to the district office.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of thumb: every tool is public until the district says otherwise.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THE RULE DOESN’T OVERREACH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“Public tool” vs. district-approved tool</a:t>
            </a:r>
            <a:endParaRPr lang="en-US" sz="2800" dirty="0"/>
          </a:p>
        </p:txBody>
      </p:sp>
      <p:sp>
        <p:nvSpPr>
          <p:cNvPr id="14" name="Shape 11"/>
          <p:cNvSpPr/>
          <p:nvPr/>
        </p:nvSpPr>
        <p:spPr>
          <a:xfrm>
            <a:off x="640080" y="146304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691640"/>
            <a:ext cx="4754880" cy="411480"/>
          </a:xfrm>
          <a:prstGeom prst="rect">
            <a:avLst/>
          </a:prstGeom>
          <a:noFill/>
          <a:ln/>
        </p:spPr>
        <p:txBody>
          <a:bodyPr wrap="square" lIns="0" tIns="0" rIns="0" bIns="0" rtlCol="0" anchor="ctr"/>
          <a:lstStyle/>
          <a:p>
            <a:pPr indent="0" marL="0">
              <a:buNone/>
            </a:pPr>
            <a:r>
              <a:rPr lang="en-US" sz="2000" b="1" dirty="0">
                <a:solidFill>
                  <a:srgbClr val="B4453A"/>
                </a:solidFill>
                <a:latin typeface="Inter" pitchFamily="34" charset="0"/>
                <a:ea typeface="Inter" pitchFamily="34" charset="-122"/>
                <a:cs typeface="Inter" pitchFamily="34" charset="-120"/>
              </a:rPr>
              <a:t>Public tool</a:t>
            </a:r>
            <a:endParaRPr lang="en-US" sz="2000" dirty="0"/>
          </a:p>
        </p:txBody>
      </p:sp>
      <p:sp>
        <p:nvSpPr>
          <p:cNvPr id="16" name="Text 13"/>
          <p:cNvSpPr/>
          <p:nvPr/>
        </p:nvSpPr>
        <p:spPr>
          <a:xfrm>
            <a:off x="96012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Anything you signed up for yourself: free ChatGPT, Claude, Gemini, personal accounts.</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The One Hard Rule applies. Always.</a:t>
            </a:r>
            <a:endParaRPr lang="en-US" sz="1800" dirty="0"/>
          </a:p>
        </p:txBody>
      </p:sp>
      <p:sp>
        <p:nvSpPr>
          <p:cNvPr id="17" name="Shape 14"/>
          <p:cNvSpPr/>
          <p:nvPr/>
        </p:nvSpPr>
        <p:spPr>
          <a:xfrm>
            <a:off x="6263640" y="146304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691640"/>
            <a:ext cx="4754880" cy="411480"/>
          </a:xfrm>
          <a:prstGeom prst="rect">
            <a:avLst/>
          </a:prstGeom>
          <a:noFill/>
          <a:ln/>
        </p:spPr>
        <p:txBody>
          <a:bodyPr wrap="square" lIns="0" tIns="0" rIns="0" bIns="0" rtlCol="0" anchor="ctr"/>
          <a:lstStyle/>
          <a:p>
            <a:pPr indent="0" marL="0">
              <a:buNone/>
            </a:pPr>
            <a:r>
              <a:rPr lang="en-US" sz="2000" b="1" dirty="0">
                <a:solidFill>
                  <a:srgbClr val="2E7D5B"/>
                </a:solidFill>
                <a:latin typeface="Inter" pitchFamily="34" charset="0"/>
                <a:ea typeface="Inter" pitchFamily="34" charset="-122"/>
                <a:cs typeface="Inter" pitchFamily="34" charset="-120"/>
              </a:rPr>
              <a:t>District-approved tool</a:t>
            </a:r>
            <a:endParaRPr lang="en-US" sz="2000" dirty="0"/>
          </a:p>
        </p:txBody>
      </p:sp>
      <p:sp>
        <p:nvSpPr>
          <p:cNvPr id="19" name="Text 16"/>
          <p:cNvSpPr/>
          <p:nvPr/>
        </p:nvSpPr>
        <p:spPr>
          <a:xfrm>
            <a:off x="6583680" y="2194560"/>
            <a:ext cx="4846320" cy="292608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Vetted by the district, with a signed student-data agreement.</a:t>
            </a:r>
            <a:endParaRPr lang="en-US" sz="1800" dirty="0"/>
          </a:p>
          <a:p>
            <a:pPr indent="0" marL="0">
              <a:buNone/>
            </a:pPr>
            <a:endParaRPr lang="en-US" sz="1800" dirty="0"/>
          </a:p>
          <a:p>
            <a:pPr indent="0" marL="0">
              <a:buNone/>
            </a:pPr>
            <a:r>
              <a:rPr lang="en-US" sz="1800" dirty="0">
                <a:solidFill>
                  <a:srgbClr val="1B1F24"/>
                </a:solidFill>
                <a:latin typeface="Inter" pitchFamily="34" charset="0"/>
                <a:ea typeface="Inter" pitchFamily="34" charset="-122"/>
                <a:cs typeface="Inter" pitchFamily="34" charset="-120"/>
              </a:rPr>
              <a:t>If we adopt one, you’ll be told explicitly what changes. Until you’re told: every tool is a public tool.</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relief: the work she wants help with never needed identities anyway.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AND NOW THE GOOD NEWS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rule barely costs you anything</a:t>
            </a:r>
            <a:endParaRPr lang="en-US" sz="2800" dirty="0"/>
          </a:p>
        </p:txBody>
      </p:sp>
      <p:sp>
        <p:nvSpPr>
          <p:cNvPr id="14" name="Text 11"/>
          <p:cNvSpPr/>
          <p:nvPr/>
        </p:nvSpPr>
        <p:spPr>
          <a:xfrm>
            <a:off x="640080" y="1645920"/>
            <a:ext cx="10972800" cy="731520"/>
          </a:xfrm>
          <a:prstGeom prst="rect">
            <a:avLst/>
          </a:prstGeom>
          <a:noFill/>
          <a:ln/>
        </p:spPr>
        <p:txBody>
          <a:bodyPr wrap="square" lIns="0" tIns="0" rIns="0" bIns="0" rtlCol="0" anchor="ctr"/>
          <a:lstStyle/>
          <a:p>
            <a:pPr indent="0" marL="0">
              <a:buNone/>
            </a:pPr>
            <a:r>
              <a:rPr lang="en-US" sz="2400" dirty="0">
                <a:solidFill>
                  <a:srgbClr val="1B1F24"/>
                </a:solidFill>
                <a:latin typeface="Inter" pitchFamily="34" charset="0"/>
                <a:ea typeface="Inter" pitchFamily="34" charset="-122"/>
                <a:cs typeface="Inter" pitchFamily="34" charset="-120"/>
              </a:rPr>
              <a:t>Almost everything AI is useful for doesn’t need student identities at all.</a:t>
            </a:r>
            <a:endParaRPr lang="en-US" sz="2400" dirty="0"/>
          </a:p>
        </p:txBody>
      </p:sp>
      <p:sp>
        <p:nvSpPr>
          <p:cNvPr id="15" name="Shape 12"/>
          <p:cNvSpPr/>
          <p:nvPr/>
        </p:nvSpPr>
        <p:spPr>
          <a:xfrm>
            <a:off x="640080" y="2651760"/>
            <a:ext cx="10972800" cy="2194560"/>
          </a:xfrm>
          <a:prstGeom prst="roundRect">
            <a:avLst>
              <a:gd name="adj" fmla="val 3750"/>
            </a:avLst>
          </a:prstGeom>
          <a:solidFill>
            <a:srgbClr val="EAF5F3"/>
          </a:solidFill>
          <a:ln w="12700">
            <a:solidFill>
              <a:srgbClr val="EAF5F3"/>
            </a:solidFill>
            <a:prstDash val="solid"/>
          </a:ln>
        </p:spPr>
      </p:sp>
      <p:sp>
        <p:nvSpPr>
          <p:cNvPr id="16" name="Text 13"/>
          <p:cNvSpPr/>
          <p:nvPr/>
        </p:nvSpPr>
        <p:spPr>
          <a:xfrm>
            <a:off x="1005840" y="2926080"/>
            <a:ext cx="10241280" cy="1645920"/>
          </a:xfrm>
          <a:prstGeom prst="rect">
            <a:avLst/>
          </a:prstGeom>
          <a:noFill/>
          <a:ln/>
        </p:spPr>
        <p:txBody>
          <a:bodyPr wrap="square" lIns="0" tIns="0" rIns="0" bIns="0" rtlCol="0" anchor="ctr"/>
          <a:lstStyle/>
          <a:p>
            <a:pPr indent="0" marL="0">
              <a:lnSpc>
                <a:spcPct val="140000"/>
              </a:lnSpc>
              <a:buNone/>
            </a:pPr>
            <a:r>
              <a:rPr lang="en-US" sz="2600" b="1" dirty="0">
                <a:solidFill>
                  <a:srgbClr val="2E7D5B"/>
                </a:solidFill>
                <a:latin typeface="Inter" pitchFamily="34" charset="0"/>
                <a:ea typeface="Inter" pitchFamily="34" charset="-122"/>
                <a:cs typeface="Inter" pitchFamily="34" charset="-120"/>
              </a:rPr>
              <a:t>You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“a 4th grader reading below grade level”
</a:t>
            </a:r>
            <a:pPr indent="0" marL="0">
              <a:lnSpc>
                <a:spcPct val="140000"/>
              </a:lnSpc>
              <a:buNone/>
            </a:pPr>
            <a:r>
              <a:rPr lang="en-US" sz="2600" b="1" dirty="0">
                <a:solidFill>
                  <a:srgbClr val="B4453A"/>
                </a:solidFill>
                <a:latin typeface="Inter" pitchFamily="34" charset="0"/>
                <a:ea typeface="Inter" pitchFamily="34" charset="-122"/>
                <a:cs typeface="Inter" pitchFamily="34" charset="-120"/>
              </a:rPr>
              <a:t>You never need:  </a:t>
            </a:r>
            <a:pPr indent="0" marL="0">
              <a:lnSpc>
                <a:spcPct val="140000"/>
              </a:lnSpc>
              <a:buNone/>
            </a:pPr>
            <a:r>
              <a:rPr lang="en-US" sz="2600" dirty="0">
                <a:solidFill>
                  <a:srgbClr val="1B1F24"/>
                </a:solidFill>
                <a:latin typeface="Inter" pitchFamily="34" charset="0"/>
                <a:ea typeface="Inter" pitchFamily="34" charset="-122"/>
                <a:cs typeface="Inter" pitchFamily="34" charset="-120"/>
              </a:rPr>
              <a:t>“Marcus Chen”</a:t>
            </a:r>
            <a:endParaRPr lang="en-US" sz="2600" dirty="0"/>
          </a:p>
        </p:txBody>
      </p:sp>
      <p:sp>
        <p:nvSpPr>
          <p:cNvPr id="17" name="Text 14"/>
          <p:cNvSpPr/>
          <p:nvPr/>
        </p:nvSpPr>
        <p:spPr>
          <a:xfrm>
            <a:off x="640080" y="52120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Which brings us to the ten-second skill that makes this automatic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SAME EMAIL, ZERO RISK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#1: the parent email</a:t>
            </a:r>
            <a:endParaRPr lang="en-US" sz="3200" dirty="0"/>
          </a:p>
        </p:txBody>
      </p:sp>
      <p:sp>
        <p:nvSpPr>
          <p:cNvPr id="7" name="Shape 4"/>
          <p:cNvSpPr/>
          <p:nvPr/>
        </p:nvSpPr>
        <p:spPr>
          <a:xfrm>
            <a:off x="640080" y="1417320"/>
            <a:ext cx="10972800" cy="4389120"/>
          </a:xfrm>
          <a:prstGeom prst="roundRect">
            <a:avLst>
              <a:gd name="adj" fmla="val 2083"/>
            </a:avLst>
          </a:prstGeom>
          <a:solidFill>
            <a:srgbClr val="FFFFFF"/>
          </a:solidFill>
          <a:ln w="19050">
            <a:solidFill>
              <a:srgbClr val="DCE3EA"/>
            </a:solidFill>
            <a:prstDash val="solid"/>
          </a:ln>
        </p:spPr>
      </p:sp>
      <p:sp>
        <p:nvSpPr>
          <p:cNvPr id="8" name="Shape 5"/>
          <p:cNvSpPr/>
          <p:nvPr/>
        </p:nvSpPr>
        <p:spPr>
          <a:xfrm>
            <a:off x="640080" y="141732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53619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53619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53619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41732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2011680"/>
            <a:ext cx="9646920" cy="1463040"/>
          </a:xfrm>
          <a:prstGeom prst="roundRect">
            <a:avLst>
              <a:gd name="adj" fmla="val 7500"/>
            </a:avLst>
          </a:prstGeom>
          <a:solidFill>
            <a:srgbClr val="FBEFED"/>
          </a:solidFill>
          <a:ln w="12700">
            <a:solidFill>
              <a:srgbClr val="FBEFED"/>
            </a:solidFill>
            <a:prstDash val="solid"/>
          </a:ln>
        </p:spPr>
      </p:sp>
      <p:sp>
        <p:nvSpPr>
          <p:cNvPr id="14" name="Text 11"/>
          <p:cNvSpPr/>
          <p:nvPr/>
        </p:nvSpPr>
        <p:spPr>
          <a:xfrm>
            <a:off x="1783080" y="2121408"/>
            <a:ext cx="914400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ALMOST TYPED · UNSAFE</a:t>
            </a:r>
            <a:endParaRPr lang="en-US" sz="1150" dirty="0"/>
          </a:p>
        </p:txBody>
      </p:sp>
      <p:sp>
        <p:nvSpPr>
          <p:cNvPr id="15" name="Text 12"/>
          <p:cNvSpPr/>
          <p:nvPr/>
        </p:nvSpPr>
        <p:spPr>
          <a:xfrm>
            <a:off x="1783080" y="2414016"/>
            <a:ext cx="9189720" cy="10058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an email to Jayden Miller’s mom about his three missing assignments and his outburst in class Tuesday.”</a:t>
            </a:r>
            <a:endParaRPr lang="en-US" sz="1700" dirty="0"/>
          </a:p>
        </p:txBody>
      </p:sp>
      <p:sp>
        <p:nvSpPr>
          <p:cNvPr id="16" name="Shape 13"/>
          <p:cNvSpPr/>
          <p:nvPr/>
        </p:nvSpPr>
        <p:spPr>
          <a:xfrm>
            <a:off x="1554480" y="3657600"/>
            <a:ext cx="9646920" cy="1920240"/>
          </a:xfrm>
          <a:prstGeom prst="roundRect">
            <a:avLst>
              <a:gd name="adj" fmla="val 5714"/>
            </a:avLst>
          </a:prstGeom>
          <a:solidFill>
            <a:srgbClr val="EAF5F3"/>
          </a:solidFill>
          <a:ln w="12700">
            <a:solidFill>
              <a:srgbClr val="EAF5F3"/>
            </a:solidFill>
            <a:prstDash val="solid"/>
          </a:ln>
        </p:spPr>
      </p:sp>
      <p:sp>
        <p:nvSpPr>
          <p:cNvPr id="17" name="Text 14"/>
          <p:cNvSpPr/>
          <p:nvPr/>
        </p:nvSpPr>
        <p:spPr>
          <a:xfrm>
            <a:off x="1783080" y="3767328"/>
            <a:ext cx="9144000" cy="27432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SENT · SAFE</a:t>
            </a:r>
            <a:endParaRPr lang="en-US" sz="1150" dirty="0"/>
          </a:p>
        </p:txBody>
      </p:sp>
      <p:sp>
        <p:nvSpPr>
          <p:cNvPr id="18" name="Text 15"/>
          <p:cNvSpPr/>
          <p:nvPr/>
        </p:nvSpPr>
        <p:spPr>
          <a:xfrm>
            <a:off x="1783080" y="4059936"/>
            <a:ext cx="9189720" cy="141732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“Write a warm, professional email to a parent about a middle schooler with several missing assignments and a recent difficult day in class. Firm but supportive; end by inviting a conversation.”</a:t>
            </a:r>
            <a:endParaRPr lang="en-US" sz="1700" dirty="0"/>
          </a:p>
        </p:txBody>
      </p:sp>
      <p:sp>
        <p:nvSpPr>
          <p:cNvPr id="19" name="Text 16"/>
          <p:cNvSpPr/>
          <p:nvPr/>
        </p:nvSpPr>
        <p:spPr>
          <a:xfrm>
            <a:off x="640080" y="5897880"/>
            <a:ext cx="10972800" cy="365760"/>
          </a:xfrm>
          <a:prstGeom prst="rect">
            <a:avLst/>
          </a:prstGeom>
          <a:noFill/>
          <a:ln/>
        </p:spPr>
        <p:txBody>
          <a:bodyPr wrap="square" lIns="0" tIns="0" rIns="0" bIns="0" rtlCol="0" anchor="ctr"/>
          <a:lstStyle/>
          <a:p>
            <a:pPr algn="ctr" indent="0" marL="0">
              <a:buNone/>
            </a:pPr>
            <a:r>
              <a:rPr lang="en-US" sz="1600" b="1" dirty="0">
                <a:solidFill>
                  <a:srgbClr val="13293D"/>
                </a:solidFill>
                <a:latin typeface="Inter" pitchFamily="34" charset="0"/>
                <a:ea typeface="Inter" pitchFamily="34" charset="-122"/>
                <a:cs typeface="Inter" pitchFamily="34" charset="-120"/>
              </a:rPr>
              <a:t>Same email out the other end. The AI needed the situation, never the child.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swap: the reading level and format, never the diagnosis.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SAFER IS ALSO JUST A BETTER PROMPT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Safe swap #2: differentiation</a:t>
            </a:r>
            <a:endParaRPr lang="en-US" sz="3200" dirty="0"/>
          </a:p>
        </p:txBody>
      </p:sp>
      <p:sp>
        <p:nvSpPr>
          <p:cNvPr id="14" name="Shape 11"/>
          <p:cNvSpPr/>
          <p:nvPr/>
        </p:nvSpPr>
        <p:spPr>
          <a:xfrm>
            <a:off x="640080" y="1463040"/>
            <a:ext cx="10972800" cy="1828800"/>
          </a:xfrm>
          <a:prstGeom prst="roundRect">
            <a:avLst>
              <a:gd name="adj" fmla="val 4500"/>
            </a:avLst>
          </a:prstGeom>
          <a:solidFill>
            <a:srgbClr val="FBEFED"/>
          </a:solidFill>
          <a:ln w="12700">
            <a:solidFill>
              <a:srgbClr val="FBEFED"/>
            </a:solidFill>
            <a:prstDash val="solid"/>
          </a:ln>
        </p:spPr>
      </p:sp>
      <p:sp>
        <p:nvSpPr>
          <p:cNvPr id="15" name="Text 12"/>
          <p:cNvSpPr/>
          <p:nvPr/>
        </p:nvSpPr>
        <p:spPr>
          <a:xfrm>
            <a:off x="914400" y="1627632"/>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UNSAFE</a:t>
            </a:r>
            <a:endParaRPr lang="en-US" sz="1400" dirty="0"/>
          </a:p>
        </p:txBody>
      </p:sp>
      <p:sp>
        <p:nvSpPr>
          <p:cNvPr id="16" name="Text 13"/>
          <p:cNvSpPr/>
          <p:nvPr/>
        </p:nvSpPr>
        <p:spPr>
          <a:xfrm>
            <a:off x="914400" y="1965960"/>
            <a:ext cx="10424160" cy="109728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for Sofia R., who has a reading IEP with a 2nd-grade fluency goal.”</a:t>
            </a:r>
            <a:endParaRPr lang="en-US" sz="1900" dirty="0"/>
          </a:p>
        </p:txBody>
      </p:sp>
      <p:sp>
        <p:nvSpPr>
          <p:cNvPr id="17" name="Shape 14"/>
          <p:cNvSpPr/>
          <p:nvPr/>
        </p:nvSpPr>
        <p:spPr>
          <a:xfrm>
            <a:off x="640080" y="3520440"/>
            <a:ext cx="10972800" cy="1965960"/>
          </a:xfrm>
          <a:prstGeom prst="roundRect">
            <a:avLst>
              <a:gd name="adj" fmla="val 4186"/>
            </a:avLst>
          </a:prstGeom>
          <a:solidFill>
            <a:srgbClr val="EAF5F3"/>
          </a:solidFill>
          <a:ln w="12700">
            <a:solidFill>
              <a:srgbClr val="EAF5F3"/>
            </a:solidFill>
            <a:prstDash val="solid"/>
          </a:ln>
        </p:spPr>
      </p:sp>
      <p:sp>
        <p:nvSpPr>
          <p:cNvPr id="18" name="Text 15"/>
          <p:cNvSpPr/>
          <p:nvPr/>
        </p:nvSpPr>
        <p:spPr>
          <a:xfrm>
            <a:off x="914400" y="3685032"/>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SAFE</a:t>
            </a:r>
            <a:endParaRPr lang="en-US" sz="1400" dirty="0"/>
          </a:p>
        </p:txBody>
      </p:sp>
      <p:sp>
        <p:nvSpPr>
          <p:cNvPr id="19" name="Text 16"/>
          <p:cNvSpPr/>
          <p:nvPr/>
        </p:nvSpPr>
        <p:spPr>
          <a:xfrm>
            <a:off x="914400" y="4023360"/>
            <a:ext cx="10424160" cy="1371600"/>
          </a:xfrm>
          <a:prstGeom prst="rect">
            <a:avLst/>
          </a:prstGeom>
          <a:noFill/>
          <a:ln/>
        </p:spPr>
        <p:txBody>
          <a:bodyPr wrap="square" lIns="0" tIns="0" rIns="0" bIns="0" rtlCol="0" anchor="ctr"/>
          <a:lstStyle/>
          <a:p>
            <a:pPr indent="0" marL="0">
              <a:buNone/>
            </a:pPr>
            <a:r>
              <a:rPr lang="en-US" sz="1900" i="1" dirty="0">
                <a:solidFill>
                  <a:srgbClr val="1B1F24"/>
                </a:solidFill>
                <a:latin typeface="Inter" pitchFamily="34" charset="0"/>
                <a:ea typeface="Inter" pitchFamily="34" charset="-122"/>
                <a:cs typeface="Inter" pitchFamily="34" charset="-120"/>
              </a:rPr>
              <a:t>“Rewrite this passage at a 2nd-grade reading level, same key ideas, shorter sentences, and add a five-word picture-supported vocabulary list.”</a:t>
            </a:r>
            <a:endParaRPr lang="en-US" sz="1900" dirty="0"/>
          </a:p>
        </p:txBody>
      </p:sp>
      <p:sp>
        <p:nvSpPr>
          <p:cNvPr id="20" name="Text 17"/>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AI never needed the diagnosis; it needed the reading level and the format.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3 moves, automatic: strip identity, generalize, describe the need.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TEN SECONDS, THEN IT’S AUTOMATIC</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De-identify like a pro: the 3 moves</a:t>
            </a:r>
            <a:endParaRPr lang="en-US" sz="2800" dirty="0"/>
          </a:p>
        </p:txBody>
      </p:sp>
      <p:sp>
        <p:nvSpPr>
          <p:cNvPr id="14" name="Shape 11"/>
          <p:cNvSpPr/>
          <p:nvPr/>
        </p:nvSpPr>
        <p:spPr>
          <a:xfrm>
            <a:off x="640080" y="1554480"/>
            <a:ext cx="3520440" cy="3566160"/>
          </a:xfrm>
          <a:prstGeom prst="roundRect">
            <a:avLst>
              <a:gd name="adj" fmla="val 2338"/>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Strip identity</a:t>
            </a:r>
            <a:endParaRPr lang="en-US" sz="1900" dirty="0"/>
          </a:p>
        </p:txBody>
      </p:sp>
      <p:sp>
        <p:nvSpPr>
          <p:cNvPr id="18" name="Text 15"/>
          <p:cNvSpPr/>
          <p:nvPr/>
        </p:nvSpPr>
        <p:spPr>
          <a:xfrm>
            <a:off x="868680"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No names, no initials, no one-of-a-kind details</a:t>
            </a:r>
            <a:endParaRPr lang="en-US" sz="1500" dirty="0"/>
          </a:p>
        </p:txBody>
      </p:sp>
      <p:sp>
        <p:nvSpPr>
          <p:cNvPr id="19" name="Shape 16"/>
          <p:cNvSpPr/>
          <p:nvPr/>
        </p:nvSpPr>
        <p:spPr>
          <a:xfrm>
            <a:off x="4407408" y="1554480"/>
            <a:ext cx="3520440" cy="3566160"/>
          </a:xfrm>
          <a:prstGeom prst="roundRect">
            <a:avLst>
              <a:gd name="adj" fmla="val 2338"/>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Generalize</a:t>
            </a:r>
            <a:endParaRPr lang="en-US" sz="1900" dirty="0"/>
          </a:p>
        </p:txBody>
      </p:sp>
      <p:sp>
        <p:nvSpPr>
          <p:cNvPr id="23" name="Text 20"/>
          <p:cNvSpPr/>
          <p:nvPr/>
        </p:nvSpPr>
        <p:spPr>
          <a:xfrm>
            <a:off x="4636008"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“A 7th grader” · “several students” · “a parent”</a:t>
            </a:r>
            <a:endParaRPr lang="en-US" sz="1500" dirty="0"/>
          </a:p>
        </p:txBody>
      </p:sp>
      <p:sp>
        <p:nvSpPr>
          <p:cNvPr id="24" name="Shape 21"/>
          <p:cNvSpPr/>
          <p:nvPr/>
        </p:nvSpPr>
        <p:spPr>
          <a:xfrm>
            <a:off x="8174736" y="1554480"/>
            <a:ext cx="3520440" cy="3566160"/>
          </a:xfrm>
          <a:prstGeom prst="roundRect">
            <a:avLst>
              <a:gd name="adj" fmla="val 2338"/>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71800"/>
            <a:ext cx="3063240" cy="868680"/>
          </a:xfrm>
          <a:prstGeom prst="rect">
            <a:avLst/>
          </a:prstGeom>
          <a:noFill/>
          <a:ln/>
        </p:spPr>
        <p:txBody>
          <a:bodyPr wrap="square" lIns="0" tIns="0" rIns="0" bIns="0" rtlCol="0" anchor="t"/>
          <a:lstStyle/>
          <a:p>
            <a:pPr algn="ctr" indent="0" marL="0">
              <a:buNone/>
            </a:pPr>
            <a:r>
              <a:rPr lang="en-US" sz="1900" b="1" dirty="0">
                <a:solidFill>
                  <a:srgbClr val="13293D"/>
                </a:solidFill>
                <a:latin typeface="Inter" pitchFamily="34" charset="0"/>
                <a:ea typeface="Inter" pitchFamily="34" charset="-122"/>
                <a:cs typeface="Inter" pitchFamily="34" charset="-120"/>
              </a:rPr>
              <a:t>Describe the need, not the child</a:t>
            </a:r>
            <a:endParaRPr lang="en-US" sz="1900" dirty="0"/>
          </a:p>
        </p:txBody>
      </p:sp>
      <p:sp>
        <p:nvSpPr>
          <p:cNvPr id="28" name="Text 25"/>
          <p:cNvSpPr/>
          <p:nvPr/>
        </p:nvSpPr>
        <p:spPr>
          <a:xfrm>
            <a:off x="8403336" y="3840480"/>
            <a:ext cx="3063240" cy="1188720"/>
          </a:xfrm>
          <a:prstGeom prst="rect">
            <a:avLst/>
          </a:prstGeom>
          <a:noFill/>
          <a:ln/>
        </p:spPr>
        <p:txBody>
          <a:bodyPr wrap="square" lIns="0" tIns="0" rIns="0" bIns="0" rtlCol="0" anchor="t"/>
          <a:lstStyle/>
          <a:p>
            <a:pPr algn="ctr" indent="0" marL="0">
              <a:buNone/>
            </a:pPr>
            <a:r>
              <a:rPr lang="en-US" sz="1500" dirty="0">
                <a:solidFill>
                  <a:srgbClr val="1B1F24"/>
                </a:solidFill>
                <a:latin typeface="Inter" pitchFamily="34" charset="0"/>
                <a:ea typeface="Inter" pitchFamily="34" charset="-122"/>
                <a:cs typeface="Inter" pitchFamily="34" charset="-120"/>
              </a:rPr>
              <a:t>Reading level, behavior pattern, scaffold you want</a:t>
            </a:r>
            <a:endParaRPr lang="en-US" sz="1500" dirty="0"/>
          </a:p>
        </p:txBody>
      </p:sp>
      <p:sp>
        <p:nvSpPr>
          <p:cNvPr id="29" name="Text 26"/>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Every school prompt you ever write passes through these three moves.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eye: initials + context still identify. Rare details identify too.</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SAFE OR UNSAFE?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try: spot the problem</a:t>
            </a:r>
            <a:endParaRPr lang="en-US" sz="3200" dirty="0"/>
          </a:p>
        </p:txBody>
      </p:sp>
      <p:sp>
        <p:nvSpPr>
          <p:cNvPr id="14" name="Shape 11"/>
          <p:cNvSpPr/>
          <p:nvPr/>
        </p:nvSpPr>
        <p:spPr>
          <a:xfrm>
            <a:off x="640080" y="1417320"/>
            <a:ext cx="685800" cy="86868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417320"/>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417320"/>
            <a:ext cx="1014984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1737360" y="1472184"/>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home about D.T.’s IEP accommodations for the field trip.”</a:t>
            </a:r>
            <a:endParaRPr lang="en-US" sz="1800" dirty="0"/>
          </a:p>
        </p:txBody>
      </p:sp>
      <p:sp>
        <p:nvSpPr>
          <p:cNvPr id="18" name="Shape 15"/>
          <p:cNvSpPr/>
          <p:nvPr/>
        </p:nvSpPr>
        <p:spPr>
          <a:xfrm>
            <a:off x="640080" y="2496312"/>
            <a:ext cx="685800" cy="86868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96312"/>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96312"/>
            <a:ext cx="1014984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1737360" y="2551176"/>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“Create a behavior-reflection sheet for elementary students, friendly tone.”</a:t>
            </a:r>
            <a:endParaRPr lang="en-US" sz="1800" dirty="0"/>
          </a:p>
        </p:txBody>
      </p:sp>
      <p:sp>
        <p:nvSpPr>
          <p:cNvPr id="22" name="Shape 19"/>
          <p:cNvSpPr/>
          <p:nvPr/>
        </p:nvSpPr>
        <p:spPr>
          <a:xfrm>
            <a:off x="640080" y="3575304"/>
            <a:ext cx="685800" cy="86868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575304"/>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575304"/>
            <a:ext cx="1014984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1737360" y="3630168"/>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“Help me write a welcome plan for the student who just moved here from Ukraine.”</a:t>
            </a:r>
            <a:endParaRPr lang="en-US" sz="1800" dirty="0"/>
          </a:p>
        </p:txBody>
      </p:sp>
      <p:sp>
        <p:nvSpPr>
          <p:cNvPr id="26" name="Shape 23"/>
          <p:cNvSpPr/>
          <p:nvPr/>
        </p:nvSpPr>
        <p:spPr>
          <a:xfrm>
            <a:off x="640080" y="4654296"/>
            <a:ext cx="685800" cy="86868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654296"/>
            <a:ext cx="68580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654296"/>
            <a:ext cx="1014984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1737360" y="4709160"/>
            <a:ext cx="9601200" cy="77724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“Summarize strategies for a class where a third of students read below grade level.”</a:t>
            </a:r>
            <a:endParaRPr lang="en-US" sz="1800" dirty="0"/>
          </a:p>
        </p:txBody>
      </p:sp>
      <p:sp>
        <p:nvSpPr>
          <p:cNvPr id="30" name="Text 27"/>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unsafe (initials + IEP details) · B safe · C unsafe (identifiable without a name) · D safe (aggregate, no identities)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20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the family newsletter blurb.</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15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time. Devices out.</a:t>
            </a:r>
            <a:endParaRPr lang="en-US" sz="4400" dirty="0"/>
          </a:p>
        </p:txBody>
      </p:sp>
      <p:sp>
        <p:nvSpPr>
          <p:cNvPr id="14" name="Text 11"/>
          <p:cNvSpPr/>
          <p:nvPr/>
        </p:nvSpPr>
        <p:spPr>
          <a:xfrm>
            <a:off x="640080" y="2331720"/>
            <a:ext cx="10972800" cy="4572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Pair up · one screen per pair · open the tool we’re using today</a:t>
            </a:r>
            <a:endParaRPr lang="en-US" sz="2000" dirty="0"/>
          </a:p>
        </p:txBody>
      </p:sp>
      <p:sp>
        <p:nvSpPr>
          <p:cNvPr id="15" name="Shape 12"/>
          <p:cNvSpPr/>
          <p:nvPr/>
        </p:nvSpPr>
        <p:spPr>
          <a:xfrm>
            <a:off x="822960" y="310896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108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06324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we practice like we play</a:t>
            </a:r>
            <a:endParaRPr lang="en-US" sz="2100" dirty="0"/>
          </a:p>
        </p:txBody>
      </p:sp>
      <p:sp>
        <p:nvSpPr>
          <p:cNvPr id="18" name="Shape 15"/>
          <p:cNvSpPr/>
          <p:nvPr/>
        </p:nvSpPr>
        <p:spPr>
          <a:xfrm>
            <a:off x="822960" y="397764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3977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393192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Nothing has to be good; this is a sandbox</a:t>
            </a:r>
            <a:endParaRPr lang="en-US" sz="2100" dirty="0"/>
          </a:p>
        </p:txBody>
      </p:sp>
      <p:sp>
        <p:nvSpPr>
          <p:cNvPr id="21" name="Shape 18"/>
          <p:cNvSpPr/>
          <p:nvPr/>
        </p:nvSpPr>
        <p:spPr>
          <a:xfrm>
            <a:off x="822960" y="484632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48463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4800600"/>
            <a:ext cx="9875520" cy="658368"/>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When it gives you something mediocre, don’t settle</a:t>
            </a:r>
            <a:endParaRPr lang="en-US" sz="2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pick: option A, filled in with her fall book fair. Her screen is next.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OF 2 · 6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useful prompt: pick one</a:t>
            </a:r>
            <a:endParaRPr lang="en-US" sz="2800" dirty="0"/>
          </a:p>
        </p:txBody>
      </p:sp>
      <p:sp>
        <p:nvSpPr>
          <p:cNvPr id="14" name="Shape 11"/>
          <p:cNvSpPr/>
          <p:nvPr/>
        </p:nvSpPr>
        <p:spPr>
          <a:xfrm>
            <a:off x="640080" y="1371600"/>
            <a:ext cx="10972800" cy="960120"/>
          </a:xfrm>
          <a:prstGeom prst="roundRect">
            <a:avLst>
              <a:gd name="adj" fmla="val 8571"/>
            </a:avLst>
          </a:prstGeom>
          <a:solidFill>
            <a:srgbClr val="F7F5F0"/>
          </a:solidFill>
          <a:ln w="12700">
            <a:solidFill>
              <a:srgbClr val="F7F5F0"/>
            </a:solidFill>
            <a:prstDash val="solid"/>
          </a:ln>
        </p:spPr>
      </p:sp>
      <p:sp>
        <p:nvSpPr>
          <p:cNvPr id="15" name="Shape 12"/>
          <p:cNvSpPr/>
          <p:nvPr/>
        </p:nvSpPr>
        <p:spPr>
          <a:xfrm>
            <a:off x="868680" y="1645920"/>
            <a:ext cx="411480" cy="411480"/>
          </a:xfrm>
          <a:prstGeom prst="ellipse">
            <a:avLst/>
          </a:prstGeom>
          <a:solidFill>
            <a:srgbClr val="2A9D8F"/>
          </a:solidFill>
          <a:ln w="12700">
            <a:solidFill>
              <a:srgbClr val="2A9D8F"/>
            </a:solidFill>
            <a:prstDash val="solid"/>
          </a:ln>
        </p:spPr>
      </p:sp>
      <p:sp>
        <p:nvSpPr>
          <p:cNvPr id="16" name="Text 13"/>
          <p:cNvSpPr/>
          <p:nvPr/>
        </p:nvSpPr>
        <p:spPr>
          <a:xfrm>
            <a:off x="868680" y="1645920"/>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A</a:t>
            </a:r>
            <a:endParaRPr lang="en-US" sz="1700" dirty="0"/>
          </a:p>
        </p:txBody>
      </p:sp>
      <p:sp>
        <p:nvSpPr>
          <p:cNvPr id="17" name="Text 14"/>
          <p:cNvSpPr/>
          <p:nvPr/>
        </p:nvSpPr>
        <p:spPr>
          <a:xfrm>
            <a:off x="1463040" y="1463040"/>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FAMILIES</a:t>
            </a:r>
            <a:endParaRPr lang="en-US" sz="1000" dirty="0"/>
          </a:p>
        </p:txBody>
      </p:sp>
      <p:sp>
        <p:nvSpPr>
          <p:cNvPr id="18" name="Text 15"/>
          <p:cNvSpPr/>
          <p:nvPr/>
        </p:nvSpPr>
        <p:spPr>
          <a:xfrm>
            <a:off x="1463040" y="1719072"/>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“Write a warm, professional newsletter blurb for families about [any upcoming school event], under 120 words.”</a:t>
            </a:r>
            <a:endParaRPr lang="en-US" sz="1600" dirty="0"/>
          </a:p>
        </p:txBody>
      </p:sp>
      <p:sp>
        <p:nvSpPr>
          <p:cNvPr id="19" name="Shape 16"/>
          <p:cNvSpPr/>
          <p:nvPr/>
        </p:nvSpPr>
        <p:spPr>
          <a:xfrm>
            <a:off x="640080" y="2441448"/>
            <a:ext cx="10972800" cy="960120"/>
          </a:xfrm>
          <a:prstGeom prst="roundRect">
            <a:avLst>
              <a:gd name="adj" fmla="val 8571"/>
            </a:avLst>
          </a:prstGeom>
          <a:solidFill>
            <a:srgbClr val="F7F5F0"/>
          </a:solidFill>
          <a:ln w="12700">
            <a:solidFill>
              <a:srgbClr val="F7F5F0"/>
            </a:solidFill>
            <a:prstDash val="solid"/>
          </a:ln>
        </p:spPr>
      </p:sp>
      <p:sp>
        <p:nvSpPr>
          <p:cNvPr id="20" name="Shape 17"/>
          <p:cNvSpPr/>
          <p:nvPr/>
        </p:nvSpPr>
        <p:spPr>
          <a:xfrm>
            <a:off x="868680" y="2715768"/>
            <a:ext cx="411480" cy="411480"/>
          </a:xfrm>
          <a:prstGeom prst="ellipse">
            <a:avLst/>
          </a:prstGeom>
          <a:solidFill>
            <a:srgbClr val="2A9D8F"/>
          </a:solidFill>
          <a:ln w="12700">
            <a:solidFill>
              <a:srgbClr val="2A9D8F"/>
            </a:solidFill>
            <a:prstDash val="solid"/>
          </a:ln>
        </p:spPr>
      </p:sp>
      <p:sp>
        <p:nvSpPr>
          <p:cNvPr id="21" name="Text 18"/>
          <p:cNvSpPr/>
          <p:nvPr/>
        </p:nvSpPr>
        <p:spPr>
          <a:xfrm>
            <a:off x="868680" y="2715768"/>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B</a:t>
            </a:r>
            <a:endParaRPr lang="en-US" sz="1700" dirty="0"/>
          </a:p>
        </p:txBody>
      </p:sp>
      <p:sp>
        <p:nvSpPr>
          <p:cNvPr id="22" name="Text 19"/>
          <p:cNvSpPr/>
          <p:nvPr/>
        </p:nvSpPr>
        <p:spPr>
          <a:xfrm>
            <a:off x="1463040" y="2532888"/>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ASSESSMENT</a:t>
            </a:r>
            <a:endParaRPr lang="en-US" sz="1000" dirty="0"/>
          </a:p>
        </p:txBody>
      </p:sp>
      <p:sp>
        <p:nvSpPr>
          <p:cNvPr id="23" name="Text 20"/>
          <p:cNvSpPr/>
          <p:nvPr/>
        </p:nvSpPr>
        <p:spPr>
          <a:xfrm>
            <a:off x="1463040" y="2788920"/>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review quiz on [any topic you teach], mixed difficulty, with an answer key.”</a:t>
            </a:r>
            <a:endParaRPr lang="en-US" sz="1600" dirty="0"/>
          </a:p>
        </p:txBody>
      </p:sp>
      <p:sp>
        <p:nvSpPr>
          <p:cNvPr id="24" name="Shape 21"/>
          <p:cNvSpPr/>
          <p:nvPr/>
        </p:nvSpPr>
        <p:spPr>
          <a:xfrm>
            <a:off x="640080" y="3511296"/>
            <a:ext cx="10972800" cy="960120"/>
          </a:xfrm>
          <a:prstGeom prst="roundRect">
            <a:avLst>
              <a:gd name="adj" fmla="val 8571"/>
            </a:avLst>
          </a:prstGeom>
          <a:solidFill>
            <a:srgbClr val="F7F5F0"/>
          </a:solidFill>
          <a:ln w="12700">
            <a:solidFill>
              <a:srgbClr val="F7F5F0"/>
            </a:solidFill>
            <a:prstDash val="solid"/>
          </a:ln>
        </p:spPr>
      </p:sp>
      <p:sp>
        <p:nvSpPr>
          <p:cNvPr id="25" name="Shape 22"/>
          <p:cNvSpPr/>
          <p:nvPr/>
        </p:nvSpPr>
        <p:spPr>
          <a:xfrm>
            <a:off x="868680" y="3785616"/>
            <a:ext cx="411480" cy="411480"/>
          </a:xfrm>
          <a:prstGeom prst="ellipse">
            <a:avLst/>
          </a:prstGeom>
          <a:solidFill>
            <a:srgbClr val="2A9D8F"/>
          </a:solidFill>
          <a:ln w="12700">
            <a:solidFill>
              <a:srgbClr val="2A9D8F"/>
            </a:solidFill>
            <a:prstDash val="solid"/>
          </a:ln>
        </p:spPr>
      </p:sp>
      <p:sp>
        <p:nvSpPr>
          <p:cNvPr id="26" name="Text 23"/>
          <p:cNvSpPr/>
          <p:nvPr/>
        </p:nvSpPr>
        <p:spPr>
          <a:xfrm>
            <a:off x="868680" y="3785616"/>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C</a:t>
            </a:r>
            <a:endParaRPr lang="en-US" sz="1700" dirty="0"/>
          </a:p>
        </p:txBody>
      </p:sp>
      <p:sp>
        <p:nvSpPr>
          <p:cNvPr id="27" name="Text 24"/>
          <p:cNvSpPr/>
          <p:nvPr/>
        </p:nvSpPr>
        <p:spPr>
          <a:xfrm>
            <a:off x="1463040" y="3602736"/>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DIFFERENTIATION</a:t>
            </a:r>
            <a:endParaRPr lang="en-US" sz="1000" dirty="0"/>
          </a:p>
        </p:txBody>
      </p:sp>
      <p:sp>
        <p:nvSpPr>
          <p:cNvPr id="28" name="Text 25"/>
          <p:cNvSpPr/>
          <p:nvPr/>
        </p:nvSpPr>
        <p:spPr>
          <a:xfrm>
            <a:off x="1463040" y="3858768"/>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“Rewrite this paragraph at three different reading levels.” Then paste any paragraph you already have.</a:t>
            </a:r>
            <a:endParaRPr lang="en-US" sz="1600" dirty="0"/>
          </a:p>
        </p:txBody>
      </p:sp>
      <p:sp>
        <p:nvSpPr>
          <p:cNvPr id="29" name="Shape 26"/>
          <p:cNvSpPr/>
          <p:nvPr/>
        </p:nvSpPr>
        <p:spPr>
          <a:xfrm>
            <a:off x="640080" y="4581144"/>
            <a:ext cx="10972800" cy="960120"/>
          </a:xfrm>
          <a:prstGeom prst="roundRect">
            <a:avLst>
              <a:gd name="adj" fmla="val 8571"/>
            </a:avLst>
          </a:prstGeom>
          <a:solidFill>
            <a:srgbClr val="F7F5F0"/>
          </a:solidFill>
          <a:ln w="12700">
            <a:solidFill>
              <a:srgbClr val="F7F5F0"/>
            </a:solidFill>
            <a:prstDash val="solid"/>
          </a:ln>
        </p:spPr>
      </p:sp>
      <p:sp>
        <p:nvSpPr>
          <p:cNvPr id="30" name="Shape 27"/>
          <p:cNvSpPr/>
          <p:nvPr/>
        </p:nvSpPr>
        <p:spPr>
          <a:xfrm>
            <a:off x="868680" y="4855464"/>
            <a:ext cx="411480" cy="411480"/>
          </a:xfrm>
          <a:prstGeom prst="ellipse">
            <a:avLst/>
          </a:prstGeom>
          <a:solidFill>
            <a:srgbClr val="2A9D8F"/>
          </a:solidFill>
          <a:ln w="12700">
            <a:solidFill>
              <a:srgbClr val="2A9D8F"/>
            </a:solidFill>
            <a:prstDash val="solid"/>
          </a:ln>
        </p:spPr>
      </p:sp>
      <p:sp>
        <p:nvSpPr>
          <p:cNvPr id="31" name="Text 28"/>
          <p:cNvSpPr/>
          <p:nvPr/>
        </p:nvSpPr>
        <p:spPr>
          <a:xfrm>
            <a:off x="868680" y="4855464"/>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Inter" pitchFamily="34" charset="0"/>
                <a:ea typeface="Inter" pitchFamily="34" charset="-122"/>
                <a:cs typeface="Inter" pitchFamily="34" charset="-120"/>
              </a:rPr>
              <a:t>D</a:t>
            </a:r>
            <a:endParaRPr lang="en-US" sz="1700" dirty="0"/>
          </a:p>
        </p:txBody>
      </p:sp>
      <p:sp>
        <p:nvSpPr>
          <p:cNvPr id="32" name="Text 29"/>
          <p:cNvSpPr/>
          <p:nvPr/>
        </p:nvSpPr>
        <p:spPr>
          <a:xfrm>
            <a:off x="1463040" y="4672584"/>
            <a:ext cx="3657600" cy="237744"/>
          </a:xfrm>
          <a:prstGeom prst="rect">
            <a:avLst/>
          </a:prstGeom>
          <a:noFill/>
          <a:ln/>
        </p:spPr>
        <p:txBody>
          <a:bodyPr wrap="square" lIns="0" tIns="0" rIns="0" bIns="0" rtlCol="0" anchor="ctr"/>
          <a:lstStyle/>
          <a:p>
            <a:pPr indent="0" marL="0">
              <a:buNone/>
            </a:pPr>
            <a:r>
              <a:rPr lang="en-US" sz="1000" b="1" spc="150" kern="0" dirty="0">
                <a:solidFill>
                  <a:srgbClr val="2A9D8F"/>
                </a:solidFill>
                <a:latin typeface="Inter" pitchFamily="34" charset="0"/>
                <a:ea typeface="Inter" pitchFamily="34" charset="-122"/>
                <a:cs typeface="Inter" pitchFamily="34" charset="-120"/>
              </a:rPr>
              <a:t>CTE &amp; ELECTIVES</a:t>
            </a:r>
            <a:endParaRPr lang="en-US" sz="1000" dirty="0"/>
          </a:p>
        </p:txBody>
      </p:sp>
      <p:sp>
        <p:nvSpPr>
          <p:cNvPr id="33" name="Text 30"/>
          <p:cNvSpPr/>
          <p:nvPr/>
        </p:nvSpPr>
        <p:spPr>
          <a:xfrm>
            <a:off x="1463040" y="4928616"/>
            <a:ext cx="9646920" cy="5486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“Create a five-question tool safety check for the miter saw station, mixed question formats, with an answer key.” Swap in any station, lab, kitchen, or instrument.</a:t>
            </a:r>
            <a:endParaRPr lang="en-US" sz="1600" dirty="0"/>
          </a:p>
        </p:txBody>
      </p:sp>
      <p:sp>
        <p:nvSpPr>
          <p:cNvPr id="34" name="Text 31"/>
          <p:cNvSpPr/>
          <p:nvPr/>
        </p:nvSpPr>
        <p:spPr>
          <a:xfrm>
            <a:off x="640080" y="571500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Pick whichever is closest to your real job. Type it. Read what comes back.</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prompt she actually types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something for the book fair.”</a:t>
            </a:r>
            <a:endParaRPr lang="en-US" sz="1600" dirty="0"/>
          </a:p>
        </p:txBody>
      </p:sp>
      <p:sp>
        <p:nvSpPr>
          <p:cNvPr id="8" name="Shape 5"/>
          <p:cNvSpPr/>
          <p:nvPr/>
        </p:nvSpPr>
        <p:spPr>
          <a:xfrm>
            <a:off x="640080" y="1783080"/>
            <a:ext cx="10972800" cy="3108960"/>
          </a:xfrm>
          <a:prstGeom prst="roundRect">
            <a:avLst>
              <a:gd name="adj" fmla="val 2941"/>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31720"/>
            <a:ext cx="9646920" cy="2423160"/>
          </a:xfrm>
          <a:prstGeom prst="roundRect">
            <a:avLst>
              <a:gd name="adj" fmla="val 4528"/>
            </a:avLst>
          </a:prstGeom>
          <a:solidFill>
            <a:srgbClr val="F7F5F0"/>
          </a:solidFill>
          <a:ln w="12700">
            <a:solidFill>
              <a:srgbClr val="F7F5F0"/>
            </a:solidFill>
            <a:prstDash val="solid"/>
          </a:ln>
        </p:spPr>
      </p:sp>
      <p:sp>
        <p:nvSpPr>
          <p:cNvPr id="15" name="Text 12"/>
          <p:cNvSpPr/>
          <p:nvPr/>
        </p:nvSpPr>
        <p:spPr>
          <a:xfrm>
            <a:off x="1783080" y="2395728"/>
            <a:ext cx="9189720" cy="2286000"/>
          </a:xfrm>
          <a:prstGeom prst="rect">
            <a:avLst/>
          </a:prstGeom>
          <a:noFill/>
          <a:ln/>
        </p:spPr>
        <p:txBody>
          <a:bodyPr wrap="square" lIns="0" tIns="0" rIns="0" bIns="0" rtlCol="0" anchor="ctr"/>
          <a:lstStyle/>
          <a:p>
            <a:pPr indent="0" marL="0">
              <a:lnSpc>
                <a:spcPct val="110000"/>
              </a:lnSpc>
              <a:buNone/>
            </a:pPr>
            <a:r>
              <a:rPr lang="en-US" sz="1700" b="1" dirty="0">
                <a:solidFill>
                  <a:srgbClr val="2A9D8F"/>
                </a:solidFill>
                <a:latin typeface="Inter" pitchFamily="34" charset="0"/>
                <a:ea typeface="Inter" pitchFamily="34" charset="-122"/>
                <a:cs typeface="Inter" pitchFamily="34" charset="-120"/>
              </a:rPr>
              <a:t>“You are a warm, experienced 4th grade teacher writing to families. </a:t>
            </a:r>
            <a:pPr indent="0" marL="0">
              <a:lnSpc>
                <a:spcPct val="110000"/>
              </a:lnSpc>
              <a:buNone/>
            </a:pPr>
            <a:r>
              <a:rPr lang="en-US" sz="1700" b="1" dirty="0">
                <a:solidFill>
                  <a:srgbClr val="13293D"/>
                </a:solidFill>
                <a:latin typeface="Inter" pitchFamily="34" charset="0"/>
                <a:ea typeface="Inter" pitchFamily="34" charset="-122"/>
                <a:cs typeface="Inter" pitchFamily="34" charset="-120"/>
              </a:rPr>
              <a:t>Write a newsletter blurb about our fall book fair. </a:t>
            </a:r>
            <a:pPr indent="0" marL="0">
              <a:lnSpc>
                <a:spcPct val="110000"/>
              </a:lnSpc>
              <a:buNone/>
            </a:pPr>
            <a:r>
              <a:rPr lang="en-US" sz="1700" b="1" dirty="0">
                <a:solidFill>
                  <a:srgbClr val="B07914"/>
                </a:solidFill>
                <a:latin typeface="Inter" pitchFamily="34" charset="0"/>
                <a:ea typeface="Inter" pitchFamily="34" charset="-122"/>
                <a:cs typeface="Inter" pitchFamily="34" charset="-120"/>
              </a:rPr>
              <a:t>It is in the school library, families come with their readers and pick books together, our theme is “find your next favorite,” and our families are busy, so plain and friendly beats fancy. </a:t>
            </a:r>
            <a:pPr indent="0" marL="0">
              <a:lnSpc>
                <a:spcPct val="110000"/>
              </a:lnSpc>
              <a:buNone/>
            </a:pPr>
            <a:r>
              <a:rPr lang="en-US" sz="1700" b="1" dirty="0">
                <a:solidFill>
                  <a:srgbClr val="2E7D5B"/>
                </a:solidFill>
                <a:latin typeface="Inter" pitchFamily="34" charset="0"/>
                <a:ea typeface="Inter" pitchFamily="34" charset="-122"/>
                <a:cs typeface="Inter" pitchFamily="34" charset="-120"/>
              </a:rPr>
              <a:t>Under 120 words, one paragraph, no bullet points, ending with a line that invites families to stop by.”</a:t>
            </a:r>
            <a:endParaRPr lang="en-US" sz="1700" dirty="0"/>
          </a:p>
        </p:txBody>
      </p:sp>
      <p:sp>
        <p:nvSpPr>
          <p:cNvPr id="16" name="Text 13"/>
          <p:cNvSpPr/>
          <p:nvPr/>
        </p:nvSpPr>
        <p:spPr>
          <a:xfrm>
            <a:off x="640080" y="5029200"/>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Four parts, and the middle two are the ones only you can supply.</a:t>
            </a:r>
            <a:endParaRPr lang="en-US" sz="18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1 · WHAT COMES BACK</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intern answers in four seconds</a:t>
            </a:r>
            <a:endParaRPr lang="en-US" sz="3200" dirty="0"/>
          </a:p>
        </p:txBody>
      </p:sp>
      <p:sp>
        <p:nvSpPr>
          <p:cNvPr id="7" name="Shape 4"/>
          <p:cNvSpPr/>
          <p:nvPr/>
        </p:nvSpPr>
        <p:spPr>
          <a:xfrm>
            <a:off x="640080" y="1371600"/>
            <a:ext cx="10972800" cy="3429000"/>
          </a:xfrm>
          <a:prstGeom prst="roundRect">
            <a:avLst>
              <a:gd name="adj" fmla="val 2667"/>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47088"/>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DRAFT 1, STRAIGHT BACK</a:t>
            </a:r>
            <a:endParaRPr lang="en-US" sz="1100" dirty="0"/>
          </a:p>
        </p:txBody>
      </p:sp>
      <p:sp>
        <p:nvSpPr>
          <p:cNvPr id="14" name="Shape 11"/>
          <p:cNvSpPr/>
          <p:nvPr/>
        </p:nvSpPr>
        <p:spPr>
          <a:xfrm>
            <a:off x="1554480" y="2148840"/>
            <a:ext cx="9646920" cy="2468880"/>
          </a:xfrm>
          <a:prstGeom prst="roundRect">
            <a:avLst>
              <a:gd name="adj" fmla="val 4444"/>
            </a:avLst>
          </a:prstGeom>
          <a:solidFill>
            <a:srgbClr val="F7F5F0"/>
          </a:solidFill>
          <a:ln w="12700">
            <a:solidFill>
              <a:srgbClr val="F7F5F0"/>
            </a:solidFill>
            <a:prstDash val="solid"/>
          </a:ln>
        </p:spPr>
      </p:sp>
      <p:sp>
        <p:nvSpPr>
          <p:cNvPr id="15" name="Text 12"/>
          <p:cNvSpPr/>
          <p:nvPr/>
        </p:nvSpPr>
        <p:spPr>
          <a:xfrm>
            <a:off x="1783080" y="2240280"/>
            <a:ext cx="9189720" cy="2286000"/>
          </a:xfrm>
          <a:prstGeom prst="rect">
            <a:avLst/>
          </a:prstGeom>
          <a:noFill/>
          <a:ln/>
        </p:spPr>
        <p:txBody>
          <a:bodyPr wrap="square" lIns="0" tIns="0" rIns="0" bIns="0" rtlCol="0" anchor="ctr"/>
          <a:lstStyle/>
          <a:p>
            <a:pPr indent="0" marL="0">
              <a:lnSpc>
                <a:spcPct val="115000"/>
              </a:lnSpc>
              <a:buNone/>
            </a:pPr>
            <a:r>
              <a:rPr lang="en-US" sz="2000" dirty="0">
                <a:solidFill>
                  <a:srgbClr val="1B1F24"/>
                </a:solidFill>
                <a:latin typeface="Inter" pitchFamily="34" charset="0"/>
                <a:ea typeface="Inter" pitchFamily="34" charset="-122"/>
                <a:cs typeface="Inter" pitchFamily="34" charset="-120"/>
              </a:rPr>
              <a:t>“Dear Families, we are thrilled to announce our upcoming Book Fair! This wonderful event promises something for every reader in our school community. The fair runs all week, 8:00 to 3:00, in the library. We sincerely appreciate your continued support of our reading program!”</a:t>
            </a:r>
            <a:endParaRPr lang="en-US" sz="2000" dirty="0"/>
          </a:p>
        </p:txBody>
      </p:sp>
      <p:sp>
        <p:nvSpPr>
          <p:cNvPr id="16" name="Text 13"/>
          <p:cNvSpPr/>
          <p:nvPr/>
        </p:nvSpPr>
        <p:spPr>
          <a:xfrm>
            <a:off x="640080" y="498348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Beige, and it sounds like nobody. Keep your own draft 1 on screen: task 2 works on this exact text.</a:t>
            </a:r>
            <a:endParaRPr lang="en-US" sz="1600" dirty="0"/>
          </a:p>
        </p:txBody>
      </p:sp>
      <p:sp>
        <p:nvSpPr>
          <p:cNvPr id="17" name="Text 14"/>
          <p:cNvSpPr/>
          <p:nvPr/>
        </p:nvSpPr>
        <p:spPr>
          <a:xfrm>
            <a:off x="640080" y="553212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One detail in this draft came from nowhere. Nobody has spotted it yet.</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blurb, draft 1: beige. She pushes back twice, one word at a time.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OF 2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Now push back: twice, minimum</a:t>
            </a:r>
            <a:endParaRPr lang="en-US" sz="3200" dirty="0"/>
          </a:p>
        </p:txBody>
      </p:sp>
      <p:sp>
        <p:nvSpPr>
          <p:cNvPr id="14" name="Text 11"/>
          <p:cNvSpPr/>
          <p:nvPr/>
        </p:nvSpPr>
        <p:spPr>
          <a:xfrm>
            <a:off x="640080" y="1280160"/>
            <a:ext cx="10972800" cy="41148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Don’t accept the first draft. Tell it what’s wrong, the way you would tell an intern:</a:t>
            </a:r>
            <a:endParaRPr lang="en-US" sz="1900" dirty="0"/>
          </a:p>
        </p:txBody>
      </p:sp>
      <p:sp>
        <p:nvSpPr>
          <p:cNvPr id="15" name="Shape 12"/>
          <p:cNvSpPr/>
          <p:nvPr/>
        </p:nvSpPr>
        <p:spPr>
          <a:xfrm>
            <a:off x="640080" y="1874520"/>
            <a:ext cx="5349240" cy="914400"/>
          </a:xfrm>
          <a:prstGeom prst="roundRect">
            <a:avLst>
              <a:gd name="adj" fmla="val 12000"/>
            </a:avLst>
          </a:prstGeom>
          <a:solidFill>
            <a:srgbClr val="EAF5F3"/>
          </a:solidFill>
          <a:ln w="12700">
            <a:solidFill>
              <a:srgbClr val="EAF5F3"/>
            </a:solidFill>
            <a:prstDash val="solid"/>
          </a:ln>
        </p:spPr>
      </p:sp>
      <p:sp>
        <p:nvSpPr>
          <p:cNvPr id="16" name="Text 13"/>
          <p:cNvSpPr/>
          <p:nvPr/>
        </p:nvSpPr>
        <p:spPr>
          <a:xfrm>
            <a:off x="91440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7" name="Shape 14"/>
          <p:cNvSpPr/>
          <p:nvPr/>
        </p:nvSpPr>
        <p:spPr>
          <a:xfrm>
            <a:off x="6263640" y="1874520"/>
            <a:ext cx="5349240" cy="914400"/>
          </a:xfrm>
          <a:prstGeom prst="roundRect">
            <a:avLst>
              <a:gd name="adj" fmla="val 12000"/>
            </a:avLst>
          </a:prstGeom>
          <a:solidFill>
            <a:srgbClr val="EAF5F3"/>
          </a:solidFill>
          <a:ln w="12700">
            <a:solidFill>
              <a:srgbClr val="EAF5F3"/>
            </a:solidFill>
            <a:prstDash val="solid"/>
          </a:ln>
        </p:spPr>
      </p:sp>
      <p:sp>
        <p:nvSpPr>
          <p:cNvPr id="18" name="Text 15"/>
          <p:cNvSpPr/>
          <p:nvPr/>
        </p:nvSpPr>
        <p:spPr>
          <a:xfrm>
            <a:off x="6537960" y="187452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9" name="Shape 16"/>
          <p:cNvSpPr/>
          <p:nvPr/>
        </p:nvSpPr>
        <p:spPr>
          <a:xfrm>
            <a:off x="640080" y="2971800"/>
            <a:ext cx="5349240" cy="914400"/>
          </a:xfrm>
          <a:prstGeom prst="roundRect">
            <a:avLst>
              <a:gd name="adj" fmla="val 12000"/>
            </a:avLst>
          </a:prstGeom>
          <a:solidFill>
            <a:srgbClr val="EAF5F3"/>
          </a:solidFill>
          <a:ln w="12700">
            <a:solidFill>
              <a:srgbClr val="EAF5F3"/>
            </a:solidFill>
            <a:prstDash val="solid"/>
          </a:ln>
        </p:spPr>
      </p:sp>
      <p:sp>
        <p:nvSpPr>
          <p:cNvPr id="20" name="Text 17"/>
          <p:cNvSpPr/>
          <p:nvPr/>
        </p:nvSpPr>
        <p:spPr>
          <a:xfrm>
            <a:off x="91440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“A 5th grader wouldn’t know three of these words. Fix that.”</a:t>
            </a:r>
            <a:endParaRPr lang="en-US" sz="1700" dirty="0"/>
          </a:p>
        </p:txBody>
      </p:sp>
      <p:sp>
        <p:nvSpPr>
          <p:cNvPr id="21" name="Shape 18"/>
          <p:cNvSpPr/>
          <p:nvPr/>
        </p:nvSpPr>
        <p:spPr>
          <a:xfrm>
            <a:off x="6263640" y="2971800"/>
            <a:ext cx="5349240" cy="914400"/>
          </a:xfrm>
          <a:prstGeom prst="roundRect">
            <a:avLst>
              <a:gd name="adj" fmla="val 12000"/>
            </a:avLst>
          </a:prstGeom>
          <a:solidFill>
            <a:srgbClr val="EAF5F3"/>
          </a:solidFill>
          <a:ln w="12700">
            <a:solidFill>
              <a:srgbClr val="EAF5F3"/>
            </a:solidFill>
            <a:prstDash val="solid"/>
          </a:ln>
        </p:spPr>
      </p:sp>
      <p:sp>
        <p:nvSpPr>
          <p:cNvPr id="22" name="Text 19"/>
          <p:cNvSpPr/>
          <p:nvPr/>
        </p:nvSpPr>
        <p:spPr>
          <a:xfrm>
            <a:off x="6537960" y="2971800"/>
            <a:ext cx="4800600" cy="91440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“Make question four harder and add a diagram question.”</a:t>
            </a:r>
            <a:endParaRPr lang="en-US" sz="1700" dirty="0"/>
          </a:p>
        </p:txBody>
      </p:sp>
      <p:sp>
        <p:nvSpPr>
          <p:cNvPr id="23" name="Shape 20"/>
          <p:cNvSpPr/>
          <p:nvPr/>
        </p:nvSpPr>
        <p:spPr>
          <a:xfrm>
            <a:off x="640080" y="4251960"/>
            <a:ext cx="10972800" cy="1234440"/>
          </a:xfrm>
          <a:prstGeom prst="roundRect">
            <a:avLst>
              <a:gd name="adj" fmla="val 6667"/>
            </a:avLst>
          </a:prstGeom>
          <a:solidFill>
            <a:srgbClr val="F7F5F0"/>
          </a:solidFill>
          <a:ln w="12700">
            <a:solidFill>
              <a:srgbClr val="F7F5F0"/>
            </a:solidFill>
            <a:prstDash val="solid"/>
          </a:ln>
        </p:spPr>
      </p:sp>
      <p:sp>
        <p:nvSpPr>
          <p:cNvPr id="24" name="Text 21"/>
          <p:cNvSpPr/>
          <p:nvPr/>
        </p:nvSpPr>
        <p:spPr>
          <a:xfrm>
            <a:off x="960120" y="4251960"/>
            <a:ext cx="10332720" cy="123444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Short and blunt is fine: the tool has no feelings, and vague feedback gets you a vague draft. Two rounds minimum, one instruction at a time.</a:t>
            </a:r>
            <a:endParaRPr lang="en-US" sz="1800" dirty="0"/>
          </a:p>
        </p:txBody>
      </p:sp>
      <p:sp>
        <p:nvSpPr>
          <p:cNvPr id="25" name="Text 22"/>
          <p:cNvSpPr/>
          <p:nvPr/>
        </p:nvSpPr>
        <p:spPr>
          <a:xfrm>
            <a:off x="640080" y="5669280"/>
            <a:ext cx="10972800" cy="411480"/>
          </a:xfrm>
          <a:prstGeom prst="rect">
            <a:avLst/>
          </a:prstGeom>
          <a:noFill/>
          <a:ln/>
        </p:spPr>
        <p:txBody>
          <a:bodyPr wrap="square" lIns="0" tIns="0" rIns="0" bIns="0" rtlCol="0" anchor="ctr"/>
          <a:lstStyle/>
          <a:p>
            <a:pPr algn="ctr" indent="0" marL="0">
              <a:buNone/>
            </a:pPr>
            <a:r>
              <a:rPr lang="en-US" sz="1900" i="1" dirty="0">
                <a:solidFill>
                  <a:srgbClr val="5B6B7A"/>
                </a:solidFill>
                <a:latin typeface="Inter" pitchFamily="34" charset="0"/>
                <a:ea typeface="Inter" pitchFamily="34" charset="-122"/>
                <a:cs typeface="Inter" pitchFamily="34" charset="-120"/>
              </a:rPr>
              <a:t>The first draft is the intern’s. The third one is yours.</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25</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Two pushbacks later</a:t>
            </a:r>
            <a:endParaRPr lang="en-US" sz="3200" dirty="0"/>
          </a:p>
        </p:txBody>
      </p:sp>
      <p:sp>
        <p:nvSpPr>
          <p:cNvPr id="7" name="Shape 4"/>
          <p:cNvSpPr/>
          <p:nvPr/>
        </p:nvSpPr>
        <p:spPr>
          <a:xfrm>
            <a:off x="640080" y="1371600"/>
            <a:ext cx="10972800" cy="3840480"/>
          </a:xfrm>
          <a:prstGeom prst="roundRect">
            <a:avLst>
              <a:gd name="adj" fmla="val 2381"/>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Text 10"/>
          <p:cNvSpPr/>
          <p:nvPr/>
        </p:nvSpPr>
        <p:spPr>
          <a:xfrm>
            <a:off x="1554480" y="1828800"/>
            <a:ext cx="9646920" cy="256032"/>
          </a:xfrm>
          <a:prstGeom prst="rect">
            <a:avLst/>
          </a:prstGeom>
          <a:noFill/>
          <a:ln/>
        </p:spPr>
        <p:txBody>
          <a:bodyPr wrap="square" lIns="0" tIns="0" rIns="0" bIns="0" rtlCol="0" anchor="ctr"/>
          <a:lstStyle/>
          <a:p>
            <a:pPr indent="0" marL="0">
              <a:buNone/>
            </a:pPr>
            <a:r>
              <a:rPr lang="en-US" sz="1100" b="1" spc="150" kern="0" dirty="0">
                <a:solidFill>
                  <a:srgbClr val="2A9D8F"/>
                </a:solidFill>
                <a:latin typeface="Inter" pitchFamily="34" charset="0"/>
                <a:ea typeface="Inter" pitchFamily="34" charset="-122"/>
                <a:cs typeface="Inter" pitchFamily="34" charset="-120"/>
              </a:rPr>
              <a:t>SHE TYPES, ONE AT A TIME</a:t>
            </a:r>
            <a:endParaRPr lang="en-US" sz="1100" dirty="0"/>
          </a:p>
        </p:txBody>
      </p:sp>
      <p:sp>
        <p:nvSpPr>
          <p:cNvPr id="14" name="Shape 11"/>
          <p:cNvSpPr/>
          <p:nvPr/>
        </p:nvSpPr>
        <p:spPr>
          <a:xfrm>
            <a:off x="1554480" y="2139696"/>
            <a:ext cx="2468880" cy="548640"/>
          </a:xfrm>
          <a:prstGeom prst="roundRect">
            <a:avLst>
              <a:gd name="adj" fmla="val 23333"/>
            </a:avLst>
          </a:prstGeom>
          <a:solidFill>
            <a:srgbClr val="EAF5F3"/>
          </a:solidFill>
          <a:ln w="12700">
            <a:solidFill>
              <a:srgbClr val="EAF5F3"/>
            </a:solidFill>
            <a:prstDash val="solid"/>
          </a:ln>
        </p:spPr>
      </p:sp>
      <p:sp>
        <p:nvSpPr>
          <p:cNvPr id="15" name="Text 12"/>
          <p:cNvSpPr/>
          <p:nvPr/>
        </p:nvSpPr>
        <p:spPr>
          <a:xfrm>
            <a:off x="155448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“Warmer.”</a:t>
            </a:r>
            <a:endParaRPr lang="en-US" sz="1700" dirty="0"/>
          </a:p>
        </p:txBody>
      </p:sp>
      <p:sp>
        <p:nvSpPr>
          <p:cNvPr id="16" name="Shape 13"/>
          <p:cNvSpPr/>
          <p:nvPr/>
        </p:nvSpPr>
        <p:spPr>
          <a:xfrm>
            <a:off x="4206240" y="2139696"/>
            <a:ext cx="2468880" cy="548640"/>
          </a:xfrm>
          <a:prstGeom prst="roundRect">
            <a:avLst>
              <a:gd name="adj" fmla="val 23333"/>
            </a:avLst>
          </a:prstGeom>
          <a:solidFill>
            <a:srgbClr val="EAF5F3"/>
          </a:solidFill>
          <a:ln w="12700">
            <a:solidFill>
              <a:srgbClr val="EAF5F3"/>
            </a:solidFill>
            <a:prstDash val="solid"/>
          </a:ln>
        </p:spPr>
      </p:sp>
      <p:sp>
        <p:nvSpPr>
          <p:cNvPr id="17" name="Text 14"/>
          <p:cNvSpPr/>
          <p:nvPr/>
        </p:nvSpPr>
        <p:spPr>
          <a:xfrm>
            <a:off x="4206240" y="2139696"/>
            <a:ext cx="2468880" cy="54864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“Shorter.”</a:t>
            </a:r>
            <a:endParaRPr lang="en-US" sz="1700" dirty="0"/>
          </a:p>
        </p:txBody>
      </p:sp>
      <p:sp>
        <p:nvSpPr>
          <p:cNvPr id="18" name="Text 15"/>
          <p:cNvSpPr/>
          <p:nvPr/>
        </p:nvSpPr>
        <p:spPr>
          <a:xfrm>
            <a:off x="1554480" y="2816352"/>
            <a:ext cx="9646920" cy="256032"/>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THE BLURB, TWO ROUNDS LATER</a:t>
            </a:r>
            <a:endParaRPr lang="en-US" sz="1100" dirty="0"/>
          </a:p>
        </p:txBody>
      </p:sp>
      <p:sp>
        <p:nvSpPr>
          <p:cNvPr id="19" name="Shape 16"/>
          <p:cNvSpPr/>
          <p:nvPr/>
        </p:nvSpPr>
        <p:spPr>
          <a:xfrm>
            <a:off x="1554480" y="3108960"/>
            <a:ext cx="9646920" cy="1874520"/>
          </a:xfrm>
          <a:prstGeom prst="roundRect">
            <a:avLst>
              <a:gd name="adj" fmla="val 5854"/>
            </a:avLst>
          </a:prstGeom>
          <a:solidFill>
            <a:srgbClr val="F7F5F0"/>
          </a:solidFill>
          <a:ln w="12700">
            <a:solidFill>
              <a:srgbClr val="F7F5F0"/>
            </a:solidFill>
            <a:prstDash val="solid"/>
          </a:ln>
        </p:spPr>
      </p:sp>
      <p:sp>
        <p:nvSpPr>
          <p:cNvPr id="20" name="Text 17"/>
          <p:cNvSpPr/>
          <p:nvPr/>
        </p:nvSpPr>
        <p:spPr>
          <a:xfrm>
            <a:off x="1783080" y="3182112"/>
            <a:ext cx="9189720" cy="1719072"/>
          </a:xfrm>
          <a:prstGeom prst="rect">
            <a:avLst/>
          </a:prstGeom>
          <a:noFill/>
          <a:ln/>
        </p:spPr>
        <p:txBody>
          <a:bodyPr wrap="square" lIns="0" tIns="0" rIns="0" bIns="0" rtlCol="0" anchor="ctr"/>
          <a:lstStyle/>
          <a:p>
            <a:pPr indent="0" marL="0">
              <a:lnSpc>
                <a:spcPct val="115000"/>
              </a:lnSpc>
              <a:buNone/>
            </a:pPr>
            <a:r>
              <a:rPr lang="en-US" sz="19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all week, 8:00 to 3:00. Happy reading!”</a:t>
            </a:r>
            <a:endParaRPr lang="en-US" sz="1900" dirty="0"/>
          </a:p>
        </p:txBody>
      </p:sp>
      <p:sp>
        <p:nvSpPr>
          <p:cNvPr id="21" name="Text 18"/>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It finally sounds like her: two rounds of pushback, about forty seconds of typing.</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26</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TASK 2 · THE READ-THROUGH</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 thing she caught</a:t>
            </a:r>
            <a:endParaRPr lang="en-US" sz="3200" dirty="0"/>
          </a:p>
        </p:txBody>
      </p:sp>
      <p:sp>
        <p:nvSpPr>
          <p:cNvPr id="7" name="Shape 4"/>
          <p:cNvSpPr/>
          <p:nvPr/>
        </p:nvSpPr>
        <p:spPr>
          <a:xfrm>
            <a:off x="640080" y="1298448"/>
            <a:ext cx="10972800" cy="1481328"/>
          </a:xfrm>
          <a:prstGeom prst="roundRect">
            <a:avLst>
              <a:gd name="adj" fmla="val 5556"/>
            </a:avLst>
          </a:prstGeom>
          <a:solidFill>
            <a:srgbClr val="FBEFED"/>
          </a:solidFill>
          <a:ln w="12700">
            <a:solidFill>
              <a:srgbClr val="FBEFED"/>
            </a:solidFill>
            <a:prstDash val="solid"/>
          </a:ln>
        </p:spPr>
      </p:sp>
      <p:sp>
        <p:nvSpPr>
          <p:cNvPr id="8" name="Text 5"/>
          <p:cNvSpPr/>
          <p:nvPr/>
        </p:nvSpPr>
        <p:spPr>
          <a:xfrm>
            <a:off x="960120" y="1389888"/>
            <a:ext cx="10332720" cy="27432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CAUGHT ON THE READ-THROUGH · SHE NEVER TYPED A SCHEDULE</a:t>
            </a:r>
            <a:endParaRPr lang="en-US" sz="1150" dirty="0"/>
          </a:p>
        </p:txBody>
      </p:sp>
      <p:sp>
        <p:nvSpPr>
          <p:cNvPr id="9" name="Text 6"/>
          <p:cNvSpPr/>
          <p:nvPr/>
        </p:nvSpPr>
        <p:spPr>
          <a:xfrm>
            <a:off x="960120" y="1691640"/>
            <a:ext cx="10332720" cy="100584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Both drafts said the fair “runs all week, 8:00 to 3:00.” That was in neither her prompt nor the real flyer: the fair runs Tuesday and Thursday, 3:00 to 6:30, so working families can come after school. The intern filled a gap with something plausible, and it survived two rounds of pushback.</a:t>
            </a:r>
            <a:endParaRPr lang="en-US" sz="1650" dirty="0"/>
          </a:p>
        </p:txBody>
      </p:sp>
      <p:sp>
        <p:nvSpPr>
          <p:cNvPr id="10" name="Shape 7"/>
          <p:cNvSpPr/>
          <p:nvPr/>
        </p:nvSpPr>
        <p:spPr>
          <a:xfrm>
            <a:off x="640080" y="2971800"/>
            <a:ext cx="10972800" cy="2514600"/>
          </a:xfrm>
          <a:prstGeom prst="roundRect">
            <a:avLst>
              <a:gd name="adj" fmla="val 3636"/>
            </a:avLst>
          </a:prstGeom>
          <a:solidFill>
            <a:srgbClr val="FFFFFF"/>
          </a:solidFill>
          <a:ln w="19050">
            <a:solidFill>
              <a:srgbClr val="DCE3EA"/>
            </a:solidFill>
            <a:prstDash val="solid"/>
          </a:ln>
        </p:spPr>
      </p:sp>
      <p:sp>
        <p:nvSpPr>
          <p:cNvPr id="11" name="Shape 8"/>
          <p:cNvSpPr/>
          <p:nvPr/>
        </p:nvSpPr>
        <p:spPr>
          <a:xfrm>
            <a:off x="640080" y="2971800"/>
            <a:ext cx="10972800" cy="384048"/>
          </a:xfrm>
          <a:prstGeom prst="roundRect">
            <a:avLst>
              <a:gd name="adj" fmla="val 23810"/>
            </a:avLst>
          </a:prstGeom>
          <a:solidFill>
            <a:srgbClr val="13293D"/>
          </a:solidFill>
          <a:ln w="12700">
            <a:solidFill>
              <a:srgbClr val="13293D"/>
            </a:solidFill>
            <a:prstDash val="solid"/>
          </a:ln>
        </p:spPr>
      </p:sp>
      <p:sp>
        <p:nvSpPr>
          <p:cNvPr id="12" name="Shape 9"/>
          <p:cNvSpPr/>
          <p:nvPr/>
        </p:nvSpPr>
        <p:spPr>
          <a:xfrm>
            <a:off x="868680" y="3090672"/>
            <a:ext cx="146304" cy="146304"/>
          </a:xfrm>
          <a:prstGeom prst="ellipse">
            <a:avLst/>
          </a:prstGeom>
          <a:solidFill>
            <a:srgbClr val="E8837A"/>
          </a:solidFill>
          <a:ln w="12700">
            <a:solidFill>
              <a:srgbClr val="E8837A"/>
            </a:solidFill>
            <a:prstDash val="solid"/>
          </a:ln>
        </p:spPr>
      </p:sp>
      <p:sp>
        <p:nvSpPr>
          <p:cNvPr id="13" name="Shape 10"/>
          <p:cNvSpPr/>
          <p:nvPr/>
        </p:nvSpPr>
        <p:spPr>
          <a:xfrm>
            <a:off x="1115568" y="3090672"/>
            <a:ext cx="146304" cy="146304"/>
          </a:xfrm>
          <a:prstGeom prst="ellipse">
            <a:avLst/>
          </a:prstGeom>
          <a:solidFill>
            <a:srgbClr val="F4A825"/>
          </a:solidFill>
          <a:ln w="12700">
            <a:solidFill>
              <a:srgbClr val="F4A825"/>
            </a:solidFill>
            <a:prstDash val="solid"/>
          </a:ln>
        </p:spPr>
      </p:sp>
      <p:sp>
        <p:nvSpPr>
          <p:cNvPr id="14" name="Shape 11"/>
          <p:cNvSpPr/>
          <p:nvPr/>
        </p:nvSpPr>
        <p:spPr>
          <a:xfrm>
            <a:off x="1362456" y="3090672"/>
            <a:ext cx="146304" cy="146304"/>
          </a:xfrm>
          <a:prstGeom prst="ellipse">
            <a:avLst/>
          </a:prstGeom>
          <a:solidFill>
            <a:srgbClr val="2E7D5B"/>
          </a:solidFill>
          <a:ln w="12700">
            <a:solidFill>
              <a:srgbClr val="2E7D5B"/>
            </a:solidFill>
            <a:prstDash val="solid"/>
          </a:ln>
        </p:spPr>
      </p:sp>
      <p:sp>
        <p:nvSpPr>
          <p:cNvPr id="15" name="Text 12"/>
          <p:cNvSpPr/>
          <p:nvPr/>
        </p:nvSpPr>
        <p:spPr>
          <a:xfrm>
            <a:off x="1783080" y="29718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6" name="Text 13"/>
          <p:cNvSpPr/>
          <p:nvPr/>
        </p:nvSpPr>
        <p:spPr>
          <a:xfrm>
            <a:off x="1554480" y="3429000"/>
            <a:ext cx="9646920" cy="256032"/>
          </a:xfrm>
          <a:prstGeom prst="rect">
            <a:avLst/>
          </a:prstGeom>
          <a:noFill/>
          <a:ln/>
        </p:spPr>
        <p:txBody>
          <a:bodyPr wrap="square" lIns="0" tIns="0" rIns="0" bIns="0" rtlCol="0" anchor="ctr"/>
          <a:lstStyle/>
          <a:p>
            <a:pPr indent="0" marL="0">
              <a:buNone/>
            </a:pPr>
            <a:r>
              <a:rPr lang="en-US" sz="1100" b="1" spc="150" kern="0" dirty="0">
                <a:solidFill>
                  <a:srgbClr val="2E7D5B"/>
                </a:solidFill>
                <a:latin typeface="Inter" pitchFamily="34" charset="0"/>
                <a:ea typeface="Inter" pitchFamily="34" charset="-122"/>
                <a:cs typeface="Inter" pitchFamily="34" charset="-120"/>
              </a:rPr>
              <a:t>WHAT SHE SENT · EVERY DETAIL CHECKED FIRST</a:t>
            </a:r>
            <a:endParaRPr lang="en-US" sz="1100" dirty="0"/>
          </a:p>
        </p:txBody>
      </p:sp>
      <p:sp>
        <p:nvSpPr>
          <p:cNvPr id="17" name="Shape 14"/>
          <p:cNvSpPr/>
          <p:nvPr/>
        </p:nvSpPr>
        <p:spPr>
          <a:xfrm>
            <a:off x="1554480" y="3730752"/>
            <a:ext cx="9646920" cy="1572768"/>
          </a:xfrm>
          <a:prstGeom prst="roundRect">
            <a:avLst>
              <a:gd name="adj" fmla="val 6977"/>
            </a:avLst>
          </a:prstGeom>
          <a:solidFill>
            <a:srgbClr val="F7F5F0"/>
          </a:solidFill>
          <a:ln w="12700">
            <a:solidFill>
              <a:srgbClr val="F7F5F0"/>
            </a:solidFill>
            <a:prstDash val="solid"/>
          </a:ln>
        </p:spPr>
      </p:sp>
      <p:sp>
        <p:nvSpPr>
          <p:cNvPr id="18" name="Text 15"/>
          <p:cNvSpPr/>
          <p:nvPr/>
        </p:nvSpPr>
        <p:spPr>
          <a:xfrm>
            <a:off x="1783080" y="3794760"/>
            <a:ext cx="9189720" cy="1426464"/>
          </a:xfrm>
          <a:prstGeom prst="rect">
            <a:avLst/>
          </a:prstGeom>
          <a:noFill/>
          <a:ln/>
        </p:spPr>
        <p:txBody>
          <a:bodyPr wrap="square" lIns="0" tIns="0" rIns="0" bIns="0" rtlCol="0" anchor="ctr"/>
          <a:lstStyle/>
          <a:p>
            <a:pPr indent="0" marL="0">
              <a:lnSpc>
                <a:spcPct val="115000"/>
              </a:lnSpc>
              <a:buNone/>
            </a:pPr>
            <a:r>
              <a:rPr lang="en-US" sz="1800" dirty="0">
                <a:solidFill>
                  <a:srgbClr val="1B1F24"/>
                </a:solidFill>
                <a:latin typeface="Inter" pitchFamily="34" charset="0"/>
                <a:ea typeface="Inter" pitchFamily="34" charset="-122"/>
                <a:cs typeface="Inter" pitchFamily="34" charset="-120"/>
              </a:rPr>
              <a:t>“Families, our fall book fair is almost here. Stop by the library with your reader and help them pick a book they’ll actually love. We’re open Tuesday and Thursday, 3:00 to 6:30, so you can come together after school. Happy reading!”</a:t>
            </a:r>
            <a:endParaRPr lang="en-US" sz="1800" dirty="0"/>
          </a:p>
        </p:txBody>
      </p:sp>
      <p:sp>
        <p:nvSpPr>
          <p:cNvPr id="19" name="Text 16"/>
          <p:cNvSpPr/>
          <p:nvPr/>
        </p:nvSpPr>
        <p:spPr>
          <a:xfrm>
            <a:off x="640080" y="5650992"/>
            <a:ext cx="10972800" cy="41148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Nothing left in it she didn’t verify. That read-through has your name on it.</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blurb's arc: beige v1, two pushbacks, usable. One error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DEBRIEF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notice?</a:t>
            </a:r>
            <a:endParaRPr lang="en-US" sz="3200" dirty="0"/>
          </a:p>
        </p:txBody>
      </p:sp>
      <p:sp>
        <p:nvSpPr>
          <p:cNvPr id="14" name="Text 11"/>
          <p:cNvSpPr/>
          <p:nvPr/>
        </p:nvSpPr>
        <p:spPr>
          <a:xfrm>
            <a:off x="640080" y="1463040"/>
            <a:ext cx="10908792" cy="2194560"/>
          </a:xfrm>
          <a:prstGeom prst="rect">
            <a:avLst/>
          </a:prstGeom>
          <a:noFill/>
          <a:ln/>
        </p:spPr>
        <p:txBody>
          <a:bodyPr wrap="square" rtlCol="0" anchor="t"/>
          <a:lstStyle/>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surprised you?</a:t>
            </a:r>
            <a:endParaRPr lang="en-US" sz="2300" dirty="0"/>
          </a:p>
          <a:p>
            <a:pPr marL="342900" indent="-342900">
              <a:spcAft>
                <a:spcPts val="1000"/>
              </a:spcAft>
              <a:buSzPct val="100000"/>
              <a:buChar char="•"/>
            </a:pPr>
            <a:r>
              <a:rPr lang="en-US" sz="2300" dirty="0">
                <a:solidFill>
                  <a:srgbClr val="1B1F24"/>
                </a:solidFill>
                <a:latin typeface="Inter" pitchFamily="34" charset="0"/>
                <a:ea typeface="Inter" pitchFamily="34" charset="-122"/>
                <a:cs typeface="Inter" pitchFamily="34" charset="-120"/>
              </a:rPr>
              <a:t>What was better than you expected, and what was worse?</a:t>
            </a:r>
            <a:endParaRPr lang="en-US" sz="2300" dirty="0"/>
          </a:p>
          <a:p>
            <a:pPr marL="342900" indent="-342900">
              <a:spcAft>
                <a:spcPts val="1000"/>
              </a:spcAft>
              <a:buSzPct val="100000"/>
              <a:buChar char="•"/>
            </a:pPr>
            <a:r>
              <a:rPr lang="en-US" sz="2300" b="1" dirty="0">
                <a:solidFill>
                  <a:srgbClr val="13293D"/>
                </a:solidFill>
                <a:latin typeface="Inter" pitchFamily="34" charset="0"/>
                <a:ea typeface="Inter" pitchFamily="34" charset="-122"/>
                <a:cs typeface="Inter" pitchFamily="34" charset="-120"/>
              </a:rPr>
              <a:t>Did anyone catch it being wrong?</a:t>
            </a:r>
            <a:endParaRPr lang="en-US" sz="2300" dirty="0"/>
          </a:p>
        </p:txBody>
      </p:sp>
      <p:sp>
        <p:nvSpPr>
          <p:cNvPr id="15" name="Shape 12"/>
          <p:cNvSpPr/>
          <p:nvPr/>
        </p:nvSpPr>
        <p:spPr>
          <a:xfrm>
            <a:off x="640080" y="3931920"/>
            <a:ext cx="10972800" cy="1828800"/>
          </a:xfrm>
          <a:prstGeom prst="roundRect">
            <a:avLst>
              <a:gd name="adj" fmla="val 4500"/>
            </a:avLst>
          </a:prstGeom>
          <a:solidFill>
            <a:srgbClr val="F7F5F0"/>
          </a:solidFill>
          <a:ln w="12700">
            <a:solidFill>
              <a:srgbClr val="F7F5F0"/>
            </a:solidFill>
            <a:prstDash val="solid"/>
          </a:ln>
        </p:spPr>
      </p:sp>
      <p:sp>
        <p:nvSpPr>
          <p:cNvPr id="16" name="Text 13"/>
          <p:cNvSpPr/>
          <p:nvPr/>
        </p:nvSpPr>
        <p:spPr>
          <a:xfrm>
            <a:off x="960120" y="4160520"/>
            <a:ext cx="10332720" cy="14630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Two patterns worth naming:  </a:t>
            </a:r>
            <a:pPr indent="0" marL="0">
              <a:buNone/>
            </a:pPr>
            <a:r>
              <a:rPr lang="en-US" sz="1900" dirty="0">
                <a:solidFill>
                  <a:srgbClr val="1B1F24"/>
                </a:solidFill>
                <a:latin typeface="Inter" pitchFamily="34" charset="0"/>
                <a:ea typeface="Inter" pitchFamily="34" charset="-122"/>
                <a:cs typeface="Inter" pitchFamily="34" charset="-120"/>
              </a:rPr>
              <a:t>the first draft is rarely the good draft; the value shows up when you push back. And everything you just made still needs your eyes: it’s fast, it’s fluent, and it’s unsigned until a professional signs it.</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rule for what leaves her desk: nothing AI-drafted goes out unread.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COMPANION HABIT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human stays in charge</a:t>
            </a:r>
            <a:endParaRPr lang="en-US" sz="3200" dirty="0"/>
          </a:p>
        </p:txBody>
      </p:sp>
      <p:sp>
        <p:nvSpPr>
          <p:cNvPr id="14" name="Shape 11"/>
          <p:cNvSpPr/>
          <p:nvPr/>
        </p:nvSpPr>
        <p:spPr>
          <a:xfrm>
            <a:off x="640080" y="1554480"/>
            <a:ext cx="10972800" cy="1737360"/>
          </a:xfrm>
          <a:prstGeom prst="roundRect">
            <a:avLst>
              <a:gd name="adj" fmla="val 4737"/>
            </a:avLst>
          </a:prstGeom>
          <a:solidFill>
            <a:srgbClr val="13293D"/>
          </a:solidFill>
          <a:ln w="12700">
            <a:solidFill>
              <a:srgbClr val="13293D"/>
            </a:solidFill>
            <a:prstDash val="solid"/>
          </a:ln>
        </p:spPr>
      </p:sp>
      <p:sp>
        <p:nvSpPr>
          <p:cNvPr id="15" name="Text 12"/>
          <p:cNvSpPr/>
          <p:nvPr/>
        </p:nvSpPr>
        <p:spPr>
          <a:xfrm>
            <a:off x="1005840" y="1783080"/>
            <a:ext cx="10241280" cy="1280160"/>
          </a:xfrm>
          <a:prstGeom prst="rect">
            <a:avLst/>
          </a:prstGeom>
          <a:noFill/>
          <a:ln/>
        </p:spPr>
        <p:txBody>
          <a:bodyPr wrap="square" lIns="0" tIns="0" rIns="0" bIns="0" rtlCol="0" anchor="ctr"/>
          <a:lstStyle/>
          <a:p>
            <a:pPr indent="0" marL="0">
              <a:buNone/>
            </a:pPr>
            <a:r>
              <a:rPr lang="en-US" sz="2500" b="1" dirty="0">
                <a:solidFill>
                  <a:srgbClr val="FFFFFF"/>
                </a:solidFill>
                <a:latin typeface="Inter" pitchFamily="34" charset="0"/>
                <a:ea typeface="Inter" pitchFamily="34" charset="-122"/>
                <a:cs typeface="Inter" pitchFamily="34" charset="-120"/>
              </a:rPr>
              <a:t>Nothing AI-drafted reaches a student or a parent without a human reading it first.</a:t>
            </a:r>
            <a:endParaRPr lang="en-US" sz="2500" dirty="0"/>
          </a:p>
        </p:txBody>
      </p:sp>
      <p:sp>
        <p:nvSpPr>
          <p:cNvPr id="16" name="Text 13"/>
          <p:cNvSpPr/>
          <p:nvPr/>
        </p:nvSpPr>
        <p:spPr>
          <a:xfrm>
            <a:off x="640080" y="3611880"/>
            <a:ext cx="10908792" cy="21945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Not because it’s usually wrong, but because sometimes it is, and your name is on it</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Federal guidance says it in three words: keep humans in the loop (U.S. Dept. of Education, 2023)</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In this building: AI drafts, the teacher decides. Always.</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guardrails: keep her own voice; drafts never become decisions.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TRUST REQUIRES HONESTY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Honest limits: the risks are real</a:t>
            </a:r>
            <a:endParaRPr lang="en-US" sz="28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Over-reliance</a:t>
            </a:r>
            <a:endParaRPr lang="en-US" sz="21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If the tool writes everything, your writing muscle atrophies; students’ too</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Sameness</a:t>
            </a:r>
            <a:endParaRPr lang="en-US" sz="21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AI output has a beige, everyone-sounds-alike quality; your voice is worth protecting</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Drift</a:t>
            </a:r>
            <a:endParaRPr lang="en-US" sz="21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It’s easy to slide from “AI drafts it” to “AI decides it” without noticing</a:t>
            </a:r>
            <a:endParaRPr lang="en-US" sz="1600" dirty="0"/>
          </a:p>
        </p:txBody>
      </p:sp>
      <p:sp>
        <p:nvSpPr>
          <p:cNvPr id="23" name="Text 20"/>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guardrails you learned today exist because these are genuine, not theoretical.</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scope today: adult use only. Student use is Kit 5's hour.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EVERY FACULTY ASKS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about students using it?</a:t>
            </a:r>
            <a:endParaRPr lang="en-US" sz="3200" dirty="0"/>
          </a:p>
        </p:txBody>
      </p:sp>
      <p:sp>
        <p:nvSpPr>
          <p:cNvPr id="14" name="Text 11"/>
          <p:cNvSpPr/>
          <p:nvPr/>
        </p:nvSpPr>
        <p:spPr>
          <a:xfrm>
            <a:off x="640080" y="146304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Major public chatbots require users to be 13+, and minors need parent/guardian permission under the terms of service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 student use is a real policy question, not a free-for-all, and not banned by default</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It deserves its own session: that’s Kit 5, AI &amp; Academic Integrity</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Today’s scope is the adults: our use, our privacy practice, our judgment. Get that right and we’re ready to lead students well.</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She nodded to all three. Her interim stance until policy exists.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STARTING TODAY</a:t>
            </a:r>
            <a:endParaRPr lang="en-US" sz="1200" dirty="0"/>
          </a:p>
        </p:txBody>
      </p:sp>
      <p:sp>
        <p:nvSpPr>
          <p:cNvPr id="13" name="Text 10"/>
          <p:cNvSpPr/>
          <p:nvPr/>
        </p:nvSpPr>
        <p:spPr>
          <a:xfrm>
            <a:off x="640080" y="7772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Our three commitments</a:t>
            </a:r>
            <a:endParaRPr lang="en-US" sz="3600" dirty="0"/>
          </a:p>
        </p:txBody>
      </p:sp>
      <p:sp>
        <p:nvSpPr>
          <p:cNvPr id="14" name="Shape 11"/>
          <p:cNvSpPr/>
          <p:nvPr/>
        </p:nvSpPr>
        <p:spPr>
          <a:xfrm>
            <a:off x="868680" y="1920240"/>
            <a:ext cx="777240" cy="777240"/>
          </a:xfrm>
          <a:prstGeom prst="ellipse">
            <a:avLst/>
          </a:prstGeom>
          <a:solidFill>
            <a:srgbClr val="2A9D8F"/>
          </a:solidFill>
          <a:ln w="12700">
            <a:solidFill>
              <a:srgbClr val="2A9D8F"/>
            </a:solidFill>
            <a:prstDash val="solid"/>
          </a:ln>
        </p:spPr>
      </p:sp>
      <p:sp>
        <p:nvSpPr>
          <p:cNvPr id="15" name="Text 12"/>
          <p:cNvSpPr/>
          <p:nvPr/>
        </p:nvSpPr>
        <p:spPr>
          <a:xfrm>
            <a:off x="868680" y="192024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1</a:t>
            </a:r>
            <a:endParaRPr lang="en-US" sz="2800" dirty="0"/>
          </a:p>
        </p:txBody>
      </p:sp>
      <p:sp>
        <p:nvSpPr>
          <p:cNvPr id="16" name="Text 13"/>
          <p:cNvSpPr/>
          <p:nvPr/>
        </p:nvSpPr>
        <p:spPr>
          <a:xfrm>
            <a:off x="1920240" y="178308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No student personally identifiable information in public AI tools. Ever</a:t>
            </a:r>
            <a:endParaRPr lang="en-US" sz="2300" dirty="0"/>
          </a:p>
        </p:txBody>
      </p:sp>
      <p:sp>
        <p:nvSpPr>
          <p:cNvPr id="17" name="Shape 14"/>
          <p:cNvSpPr/>
          <p:nvPr/>
        </p:nvSpPr>
        <p:spPr>
          <a:xfrm>
            <a:off x="868680" y="3246120"/>
            <a:ext cx="777240" cy="777240"/>
          </a:xfrm>
          <a:prstGeom prst="ellipse">
            <a:avLst/>
          </a:prstGeom>
          <a:solidFill>
            <a:srgbClr val="2A9D8F"/>
          </a:solidFill>
          <a:ln w="12700">
            <a:solidFill>
              <a:srgbClr val="2A9D8F"/>
            </a:solidFill>
            <a:prstDash val="solid"/>
          </a:ln>
        </p:spPr>
      </p:sp>
      <p:sp>
        <p:nvSpPr>
          <p:cNvPr id="18" name="Text 15"/>
          <p:cNvSpPr/>
          <p:nvPr/>
        </p:nvSpPr>
        <p:spPr>
          <a:xfrm>
            <a:off x="868680" y="324612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2</a:t>
            </a:r>
            <a:endParaRPr lang="en-US" sz="2800" dirty="0"/>
          </a:p>
        </p:txBody>
      </p:sp>
      <p:sp>
        <p:nvSpPr>
          <p:cNvPr id="19" name="Text 16"/>
          <p:cNvSpPr/>
          <p:nvPr/>
        </p:nvSpPr>
        <p:spPr>
          <a:xfrm>
            <a:off x="1920240" y="310896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A human reviews everything AI-drafted before it reaches a student or family</a:t>
            </a:r>
            <a:endParaRPr lang="en-US" sz="2300" dirty="0"/>
          </a:p>
        </p:txBody>
      </p:sp>
      <p:sp>
        <p:nvSpPr>
          <p:cNvPr id="20" name="Shape 17"/>
          <p:cNvSpPr/>
          <p:nvPr/>
        </p:nvSpPr>
        <p:spPr>
          <a:xfrm>
            <a:off x="868680" y="4572000"/>
            <a:ext cx="777240" cy="777240"/>
          </a:xfrm>
          <a:prstGeom prst="ellipse">
            <a:avLst/>
          </a:prstGeom>
          <a:solidFill>
            <a:srgbClr val="2A9D8F"/>
          </a:solidFill>
          <a:ln w="12700">
            <a:solidFill>
              <a:srgbClr val="2A9D8F"/>
            </a:solidFill>
            <a:prstDash val="solid"/>
          </a:ln>
        </p:spPr>
      </p:sp>
      <p:sp>
        <p:nvSpPr>
          <p:cNvPr id="21" name="Text 18"/>
          <p:cNvSpPr/>
          <p:nvPr/>
        </p:nvSpPr>
        <p:spPr>
          <a:xfrm>
            <a:off x="868680" y="457200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Inter" pitchFamily="34" charset="0"/>
                <a:ea typeface="Inter" pitchFamily="34" charset="-122"/>
                <a:cs typeface="Inter" pitchFamily="34" charset="-120"/>
              </a:rPr>
              <a:t>3</a:t>
            </a:r>
            <a:endParaRPr lang="en-US" sz="2800" dirty="0"/>
          </a:p>
        </p:txBody>
      </p:sp>
      <p:sp>
        <p:nvSpPr>
          <p:cNvPr id="22" name="Text 19"/>
          <p:cNvSpPr/>
          <p:nvPr/>
        </p:nvSpPr>
        <p:spPr>
          <a:xfrm>
            <a:off x="1920240" y="4434840"/>
            <a:ext cx="9509760" cy="1051560"/>
          </a:xfrm>
          <a:prstGeom prst="rect">
            <a:avLst/>
          </a:prstGeom>
          <a:noFill/>
          <a:ln/>
        </p:spPr>
        <p:txBody>
          <a:bodyPr wrap="square" lIns="0" tIns="0" rIns="0" bIns="0" rtlCol="0" anchor="ctr"/>
          <a:lstStyle/>
          <a:p>
            <a:pPr indent="0" marL="0">
              <a:buNone/>
            </a:pPr>
            <a:r>
              <a:rPr lang="en-US" sz="2300" dirty="0">
                <a:solidFill>
                  <a:srgbClr val="FFFFFF"/>
                </a:solidFill>
                <a:latin typeface="Inter" pitchFamily="34" charset="0"/>
                <a:ea typeface="Inter" pitchFamily="34" charset="-122"/>
                <a:cs typeface="Inter" pitchFamily="34" charset="-120"/>
              </a:rPr>
              <a:t>When we find something that works, we share it</a:t>
            </a:r>
            <a:endParaRPr lang="en-US" sz="2300" dirty="0"/>
          </a:p>
        </p:txBody>
      </p:sp>
      <p:sp>
        <p:nvSpPr>
          <p:cNvPr id="23" name="Text 20"/>
          <p:cNvSpPr/>
          <p:nvPr/>
        </p:nvSpPr>
        <p:spPr>
          <a:xfrm>
            <a:off x="640080" y="5806440"/>
            <a:ext cx="10972800" cy="457200"/>
          </a:xfrm>
          <a:prstGeom prst="rect">
            <a:avLst/>
          </a:prstGeom>
          <a:noFill/>
          <a:ln/>
        </p:spPr>
        <p:txBody>
          <a:bodyPr wrap="square" lIns="0" tIns="0" rIns="0" bIns="0" rtlCol="0" anchor="ctr"/>
          <a:lstStyle/>
          <a:p>
            <a:pPr indent="0" marL="0">
              <a:buNone/>
            </a:pPr>
            <a:r>
              <a:rPr lang="en-US" sz="2000" i="1" dirty="0">
                <a:solidFill>
                  <a:srgbClr val="2A9D8F"/>
                </a:solidFill>
                <a:latin typeface="Inter" pitchFamily="34" charset="0"/>
                <a:ea typeface="Inter" pitchFamily="34" charset="-122"/>
                <a:cs typeface="Inter" pitchFamily="34" charset="-120"/>
              </a:rPr>
              <a:t>Can I get a nod on those three?</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48 hours: one real task, one de-ID drill, one share.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Do one real task with AI</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Something already on your to-do list. Push back twice, review it, use it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~5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de-identification drill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real prompt, written unsafe then safe, on paper; the rep that builds the habit</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Share one discovery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colleague, one specific thing: a win or a useful failure</a:t>
            </a:r>
            <a:endParaRPr lang="en-US" sz="160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PD you don’t use within two days mostly evaporates. The action sheet in your hands is the antidote.</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1 · AI Foundations &amp; Safety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track: Kit 1 done, seven to go in the full series.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AI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F7F5F0"/>
          </a:solidFill>
          <a:ln w="12700">
            <a:solidFill>
              <a:srgbClr val="F7F5F0"/>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2 · Prompting Basics</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800" b="1" dirty="0">
                <a:solidFill>
                  <a:srgbClr val="FFFFFF"/>
                </a:solidFill>
                <a:latin typeface="Inter" pitchFamily="34" charset="0"/>
                <a:ea typeface="Inter" pitchFamily="34" charset="-122"/>
                <a:cs typeface="Inter" pitchFamily="34" charset="-120"/>
              </a:rPr>
              <a:t>Finish all eight → the AI-Ready Educator Certificate of Completion (school membership).</a:t>
            </a:r>
            <a:pPr indent="0" marL="0">
              <a:buNone/>
            </a:pPr>
            <a:r>
              <a:rPr lang="en-US" sz="1800" dirty="0">
                <a:solidFill>
                  <a:srgbClr val="C9D4DE"/>
                </a:solidFill>
                <a:latin typeface="Inter" pitchFamily="34" charset="0"/>
                <a:ea typeface="Inter" pitchFamily="34" charset="-122"/>
                <a:cs typeface="Inter" pitchFamily="34" charset="-120"/>
              </a:rPr>
              <a:t>  Real documentation of real professional learning. Follow-ups run inside existing PLC time; nothing new to schedule.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1 · AI Foundations &amp; Safety   |   34</a:t>
            </a:r>
            <a:endParaRPr lang="en-US" sz="900" dirty="0"/>
          </a:p>
        </p:txBody>
      </p:sp>
      <p:sp>
        <p:nvSpPr>
          <p:cNvPr id="5" name="Text 2"/>
          <p:cNvSpPr/>
          <p:nvPr/>
        </p:nvSpPr>
        <p:spPr>
          <a:xfrm>
            <a:off x="640080" y="1051560"/>
            <a:ext cx="10972800" cy="640080"/>
          </a:xfrm>
          <a:prstGeom prst="rect">
            <a:avLst/>
          </a:prstGeom>
          <a:noFill/>
          <a:ln/>
        </p:spPr>
        <p:txBody>
          <a:bodyPr wrap="square" lIns="0" tIns="0" rIns="0" bIns="0" rtlCol="0" anchor="ctr"/>
          <a:lstStyle/>
          <a:p>
            <a:pPr indent="0" marL="0">
              <a:buNone/>
            </a:pPr>
            <a:r>
              <a:rPr lang="en-US" sz="3200" b="1" dirty="0">
                <a:solidFill>
                  <a:srgbClr val="FFFFFF"/>
                </a:solidFill>
                <a:latin typeface="Inter" pitchFamily="34" charset="0"/>
                <a:ea typeface="Inter" pitchFamily="34" charset="-122"/>
                <a:cs typeface="Inter" pitchFamily="34" charset="-120"/>
              </a:rPr>
              <a:t>Two minutes: the exit ticket.</a:t>
            </a:r>
            <a:endParaRPr lang="en-US" sz="3200" dirty="0"/>
          </a:p>
        </p:txBody>
      </p:sp>
      <p:sp>
        <p:nvSpPr>
          <p:cNvPr id="6" name="Text 3"/>
          <p:cNvSpPr/>
          <p:nvPr/>
        </p:nvSpPr>
        <p:spPr>
          <a:xfrm>
            <a:off x="640080" y="1783080"/>
            <a:ext cx="10972800" cy="45720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One thing you’re taking · one worry you still have · one thing you’ll try</a:t>
            </a:r>
            <a:endParaRPr lang="en-US" sz="1900" dirty="0"/>
          </a:p>
        </p:txBody>
      </p:sp>
      <p:sp>
        <p:nvSpPr>
          <p:cNvPr id="7" name="Text 4"/>
          <p:cNvSpPr/>
          <p:nvPr/>
        </p:nvSpPr>
        <p:spPr>
          <a:xfrm>
            <a:off x="640080" y="2651760"/>
            <a:ext cx="10972800" cy="2377440"/>
          </a:xfrm>
          <a:prstGeom prst="rect">
            <a:avLst/>
          </a:prstGeom>
          <a:noFill/>
          <a:ln/>
        </p:spPr>
        <p:txBody>
          <a:bodyPr wrap="square" lIns="0" tIns="0" rIns="0" bIns="0" rtlCol="0" anchor="ctr"/>
          <a:lstStyle/>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AI can write a draft.</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It cannot greet a kid at the door by name,</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notice something’s off, and change that kid’s day.</a:t>
            </a:r>
            <a:endParaRPr lang="en-US" sz="2800" dirty="0"/>
          </a:p>
          <a:p>
            <a:pPr algn="ctr" indent="0" marL="0">
              <a:lnSpc>
                <a:spcPct val="125000"/>
              </a:lnSpc>
              <a:buNone/>
            </a:pPr>
            <a:r>
              <a:rPr lang="en-US" sz="2800" b="1" dirty="0">
                <a:solidFill>
                  <a:srgbClr val="FFFFFF"/>
                </a:solidFill>
                <a:latin typeface="Inter" pitchFamily="34" charset="0"/>
                <a:ea typeface="Inter" pitchFamily="34" charset="-122"/>
                <a:cs typeface="Inter" pitchFamily="34" charset="-120"/>
              </a:rPr>
              <a:t>That’s you.</a:t>
            </a:r>
            <a:endParaRPr lang="en-US" sz="2800" dirty="0"/>
          </a:p>
        </p:txBody>
      </p:sp>
      <p:sp>
        <p:nvSpPr>
          <p:cNvPr id="8" name="Text 5"/>
          <p:cNvSpPr/>
          <p:nvPr/>
        </p:nvSpPr>
        <p:spPr>
          <a:xfrm>
            <a:off x="640080" y="5212080"/>
            <a:ext cx="10972800" cy="548640"/>
          </a:xfrm>
          <a:prstGeom prst="rect">
            <a:avLst/>
          </a:prstGeom>
          <a:noFill/>
          <a:ln/>
        </p:spPr>
        <p:txBody>
          <a:bodyPr wrap="square" lIns="0" tIns="0" rIns="0" bIns="0" rtlCol="0" anchor="ctr"/>
          <a:lstStyle/>
          <a:p>
            <a:pPr algn="ctr" indent="0" marL="0">
              <a:buNone/>
            </a:pPr>
            <a:r>
              <a:rPr lang="en-US" sz="2400" b="1" dirty="0">
                <a:solidFill>
                  <a:srgbClr val="2A9D8F"/>
                </a:solidFill>
                <a:latin typeface="Inter" pitchFamily="34" charset="0"/>
                <a:ea typeface="Inter" pitchFamily="34" charset="-122"/>
                <a:cs typeface="Inter" pitchFamily="34" charset="-120"/>
              </a:rPr>
              <a:t>Use the tool for the paperwork — keep the teaching.</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1: AI Foundations &amp; Safety: The One Hard Rule</dc:title>
  <dc:subject>PptxGenJS Presentation</dc:subject>
  <dc:creator>Adam &amp; Katelyn Spinozzi</dc:creator>
  <cp:lastModifiedBy>Adam &amp; Katelyn Spinozzi</cp:lastModifiedBy>
  <cp:revision>1</cp:revision>
  <dcterms:created xsi:type="dcterms:W3CDTF">2026-08-15T13:39:33Z</dcterms:created>
  <dcterms:modified xsi:type="dcterms:W3CDTF">2026-08-15T13:39:33Z</dcterms:modified>
</cp:coreProperties>
</file>