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slide up as people arrive. Start on time. Script: "Welcome, everyone…". The full word-for-word text is in the Facilitator Script, keyed to every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promises: not a sales pitch (skeptics are important here), not a scare session. Position: AI is a tool: it can take the robotic parts of the job, never the human parts. AI drafts, the teacher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show of hands first: who has used ChatGPT or similar at least once? Sources: RAND RR-A134-25 (25% in 2023-24), RAND RR-A4180-1 (53% of ELA/math/science teachers in 2024-25), Gallup-Walton 2025 (60%), Pew 2026 (54% of teens). All in the References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point (Darling-Hammond et al., Learning Policy Institute 2017): PD changes practice when it includes active learning and sustained follow-up; hence the lab and the 30-day plan. "This isn’t a one-and-done."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plain: typing into ChatGPT/Claude/Gemini/Copilot is not looking up facts. The tool predicts likely next words. That one fact explains both the brilliance and the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Linardon et al., JMIR Mental Health (2025), the GPT-4o literature-review test. This is called hallucination and it is a side effect of prediction, not a bug about to be fixed. If asked "why use it at all?": most classroom uses aren’t factual lookup; they’re drafting and reformatting, where you are the fact-checker by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 only works because there is a professional in charge. That’s you. This five-word posture is the spine of the entire curriculum: AI drafts, the teacher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categories cover most of what staff will actually do this year. The time-savings stat is Gallup–Walton 2025: weekly users save about 5.9 hours/week, roughly six weeks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on this list is under threat, on purpose and forever. AI can't know your students, can't verify its own facts, and can't care. The tool buys back time FOR this list; it never takes this list away. This is the session's first explicit "human moment"; land it plainly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Read the rule off the screen, then pause a full three seconds. This is the most important slide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things first, then widen it: anything from a record or about a specific child stays out of the chat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"even in a private chat that I delete?": yes. Deleting your view doesn’t recall what the company received. The rule works because it has no exceptions to remember at 9pm on a Sunday.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FERPA (federal law); Future of Privacy Forum vetting guidance (2024) on open-chat-box oversharing. Keep the not-legal-advice line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keeps the rule accurate without weakening it. If your district has already approved a tool with a data agreement, name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keep it quick. The de-identification skill on the next slides is what makes the rule cost nothing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Ms. Rivera, our running example teacher; she's a composite, and her screen shows what this looks like on your end. The unsafe version pastes a full student record (name, family, academics, behavior) into a stranger's text box. The safe version gets the same email; the AI needed the situation, never the child. She adds the name after it's back in her own email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safe version is also the better prompt: more specific about what you actually want. Safer and more useful is the usual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just watched all three moves in the safe swaps. Ten seconds of habit; automatic within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call each one before you confirm with the answer line at the bottom. C is the splitter: no name, but "the student who just moved here from Ukraine" identifies a child; fix: "a student who recently arrived from another country and is learning English." Resolve debates with the slide-12 test. 3 minutes, brisk.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moment the session exists for; everything so far was preparation for you actually typing. Nothing has to be good, it's a sandbox, and we practice like we play: zero student information. Ms. Rivera builds ONE artifact all the way through this lab on screen: her family newsletter blurb, option A, from typed prompt to reviewed result. Tell the room: if you ever feel lost, copy her structure. Announce the tool by name. Energy up; pairs formed inside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pick whichever prompt is closest to your real job, type it, and read what comes back. On screen, Ms. Rivera's window: option A filled in with her fall book fair, and the first draft back. It's beige, and one detail in it will matter in task 2; don't spoil it yet. Circulate. Stuck pairs → option A, it works for every role. Deputize power users to float. Option D comes from a real carpentry classroom; invite electives staff to swap in their station or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don't accept the first draft; tell it what's wrong, like you would an intern, short and blunt, the tool has no feelings. On screen, Ms. Rivera's same newsletter blurb after two pushbacks: it finally sounds like her, and her read-through caught the intern inventing "all week, 8:00 to 3:00"; she never typed a schedule. Push back at least twice on your own draft, the same way. 45-minute version: skip this task, go straight to the debrief. This is the move that separates people who get real value from people who quit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saw an AI mistake, spotlight it warmly; it’s the best possible outcome of the lab. If nobody caught one, point back at Ms. Rivera’s invented book-fair hours from task 2; the read-through is where errors surface. Take 3–4 voices, a minute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governed what goes INTO the tool; this governs what comes OUT. Source: U.S. Dept. of Education OET (2023), "humans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selling AI leads with these. Naming them is what earns the room’s trust. If you chose to share the founders’ note, their view that over-reliance is the biggest risk lands well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facts: OpenAI terms: 13+ minimum, under-18 parental permission. Park student-cheating debates here explicitly: "That’s Kit 5; today is about our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three, then ask for a visible nod or thumbs-up. It matters that this is agreed, not just heard. These commitments are the school’s interim stance until a formal policy exists (Kit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First 48 Hours sheet as you talk. Research basis for follow-through: Darling-Hammond et al. (2017): sustained duration and active use are what make PD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up is Kit 2, Prompting Basics: consistently useful results instead of occasionally lucky ones. Progress tracking and the certificate run through an AI-Ready School membership (ai-readyschool.com). Certificate language is exactly "Certificate of Completion"; check with your district whether it qualifies for local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exit tickets; collect at the door; they are the school’s PD documentation. Your worries steer what we do next. Thanks,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731520"/>
            <a:ext cx="1051560" cy="969264"/>
          </a:xfrm>
          <a:prstGeom prst="rect">
            <a:avLst/>
          </a:prstGeom>
        </p:spPr>
      </p:pic>
      <p:sp>
        <p:nvSpPr>
          <p:cNvPr id="3" name="Text 0"/>
          <p:cNvSpPr/>
          <p:nvPr/>
        </p:nvSpPr>
        <p:spPr>
          <a:xfrm>
            <a:off x="1965960" y="960120"/>
            <a:ext cx="3657600" cy="54864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AI-Ready</a:t>
            </a:r>
            <a:pPr indent="0" marL="0">
              <a:buNone/>
            </a:pPr>
            <a:r>
              <a:rPr lang="en-US" sz="2600" b="1" dirty="0">
                <a:solidFill>
                  <a:srgbClr val="FFFFFF"/>
                </a:solidFill>
                <a:latin typeface="Inter" pitchFamily="34" charset="0"/>
                <a:ea typeface="Inter" pitchFamily="34" charset="-122"/>
                <a:cs typeface="Inter" pitchFamily="34" charset="-120"/>
              </a:rPr>
              <a:t> School</a:t>
            </a:r>
            <a:endParaRPr lang="en-US" sz="2600" dirty="0"/>
          </a:p>
        </p:txBody>
      </p:sp>
      <p:sp>
        <p:nvSpPr>
          <p:cNvPr id="4" name="Text 1"/>
          <p:cNvSpPr/>
          <p:nvPr/>
        </p:nvSpPr>
        <p:spPr>
          <a:xfrm>
            <a:off x="822960" y="2743200"/>
            <a:ext cx="8229600" cy="36576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TRACK A · AI FOUNDATIONS · KIT 1 OF 20</a:t>
            </a:r>
            <a:endParaRPr lang="en-US" sz="1500" dirty="0"/>
          </a:p>
        </p:txBody>
      </p:sp>
      <p:sp>
        <p:nvSpPr>
          <p:cNvPr id="5" name="Text 2"/>
          <p:cNvSpPr/>
          <p:nvPr/>
        </p:nvSpPr>
        <p:spPr>
          <a:xfrm>
            <a:off x="777240" y="3063240"/>
            <a:ext cx="10607040" cy="1828800"/>
          </a:xfrm>
          <a:prstGeom prst="rect">
            <a:avLst/>
          </a:prstGeom>
          <a:noFill/>
          <a:ln/>
        </p:spPr>
        <p:txBody>
          <a:bodyPr wrap="square" lIns="0" tIns="0" rIns="0" bIns="0" rtlCol="0" anchor="ctr"/>
          <a:lstStyle/>
          <a:p>
            <a:pPr indent="0" marL="0">
              <a:lnSpc>
                <a:spcPct val="105000"/>
              </a:lnSpc>
              <a:buNone/>
            </a:pPr>
            <a:r>
              <a:rPr lang="en-US" sz="4700" b="1" dirty="0">
                <a:solidFill>
                  <a:srgbClr val="FFFFFF"/>
                </a:solidFill>
                <a:latin typeface="Inter" pitchFamily="34" charset="0"/>
                <a:ea typeface="Inter" pitchFamily="34" charset="-122"/>
                <a:cs typeface="Inter" pitchFamily="34" charset="-120"/>
              </a:rPr>
              <a:t>AI Foundations &amp; Safety:</a:t>
            </a:r>
            <a:endParaRPr lang="en-US" sz="4700" dirty="0"/>
          </a:p>
          <a:p>
            <a:pPr indent="0" marL="0">
              <a:lnSpc>
                <a:spcPct val="105000"/>
              </a:lnSpc>
              <a:buNone/>
            </a:pPr>
            <a:r>
              <a:rPr lang="en-US" sz="4700" b="1" dirty="0">
                <a:solidFill>
                  <a:srgbClr val="FFFFFF"/>
                </a:solidFill>
                <a:latin typeface="Inter" pitchFamily="34" charset="0"/>
                <a:ea typeface="Inter" pitchFamily="34" charset="-122"/>
                <a:cs typeface="Inter" pitchFamily="34" charset="-120"/>
              </a:rPr>
              <a:t>The One Hard Rule</a:t>
            </a:r>
            <a:endParaRPr lang="en-US" sz="4700" dirty="0"/>
          </a:p>
        </p:txBody>
      </p:sp>
      <p:sp>
        <p:nvSpPr>
          <p:cNvPr id="6" name="Text 3"/>
          <p:cNvSpPr/>
          <p:nvPr/>
        </p:nvSpPr>
        <p:spPr>
          <a:xfrm>
            <a:off x="822960" y="4983480"/>
            <a:ext cx="9601200" cy="457200"/>
          </a:xfrm>
          <a:prstGeom prst="rect">
            <a:avLst/>
          </a:prstGeom>
          <a:noFill/>
          <a:ln/>
        </p:spPr>
        <p:txBody>
          <a:bodyPr wrap="square" lIns="0" tIns="0" rIns="0" bIns="0" rtlCol="0" anchor="ctr"/>
          <a:lstStyle/>
          <a:p>
            <a:pPr indent="0" marL="0">
              <a:buNone/>
            </a:pPr>
            <a:r>
              <a:rPr lang="en-US" sz="1800" dirty="0">
                <a:solidFill>
                  <a:srgbClr val="C9D4DE"/>
                </a:solidFill>
                <a:latin typeface="Inter" pitchFamily="34" charset="0"/>
                <a:ea typeface="Inter" pitchFamily="34" charset="-122"/>
                <a:cs typeface="Inter" pitchFamily="34" charset="-120"/>
              </a:rPr>
              <a:t>A 45–60 minute working session for the whole staff, with 15 minutes hands-on.</a:t>
            </a:r>
            <a:endParaRPr lang="en-US" sz="1800" dirty="0"/>
          </a:p>
        </p:txBody>
      </p:sp>
      <p:sp>
        <p:nvSpPr>
          <p:cNvPr id="7"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9FB2C2"/>
                </a:solidFill>
                <a:latin typeface="Inter" pitchFamily="34" charset="0"/>
                <a:ea typeface="Inter" pitchFamily="34" charset="-122"/>
                <a:cs typeface="Inter" pitchFamily="34" charset="-120"/>
              </a:rPr>
              <a:t>Built by Adam &amp; Katelyn Spinozzi · certified educators · 20+ combined years in the classroom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Meet her: our running example teacher. Same piles on her desk as yours.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TWO PROMISES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today is (and isn’t)</a:t>
            </a:r>
            <a:endParaRPr lang="en-US" sz="3200" dirty="0"/>
          </a:p>
        </p:txBody>
      </p:sp>
      <p:sp>
        <p:nvSpPr>
          <p:cNvPr id="14" name="Shape 11"/>
          <p:cNvSpPr/>
          <p:nvPr/>
        </p:nvSpPr>
        <p:spPr>
          <a:xfrm>
            <a:off x="640080" y="1508760"/>
            <a:ext cx="5394960" cy="4206240"/>
          </a:xfrm>
          <a:prstGeom prst="roundRect">
            <a:avLst>
              <a:gd name="adj" fmla="val 1957"/>
            </a:avLst>
          </a:prstGeom>
          <a:solidFill>
            <a:srgbClr val="F7F5F0"/>
          </a:solidFill>
          <a:ln w="12700">
            <a:solidFill>
              <a:srgbClr val="F7F5F0"/>
            </a:solidFill>
            <a:prstDash val="solid"/>
          </a:ln>
        </p:spPr>
      </p:sp>
      <p:sp>
        <p:nvSpPr>
          <p:cNvPr id="15" name="Text 12"/>
          <p:cNvSpPr/>
          <p:nvPr/>
        </p:nvSpPr>
        <p:spPr>
          <a:xfrm>
            <a:off x="960120" y="1783080"/>
            <a:ext cx="4754880" cy="411480"/>
          </a:xfrm>
          <a:prstGeom prst="rect">
            <a:avLst/>
          </a:prstGeom>
          <a:noFill/>
          <a:ln/>
        </p:spPr>
        <p:txBody>
          <a:bodyPr wrap="square" lIns="0" tIns="0" rIns="0" bIns="0" rtlCol="0" anchor="ctr"/>
          <a:lstStyle/>
          <a:p>
            <a:pPr indent="0" marL="0">
              <a:buNone/>
            </a:pPr>
            <a:r>
              <a:rPr lang="en-US" sz="2000" b="1" dirty="0">
                <a:solidFill>
                  <a:srgbClr val="B4453A"/>
                </a:solidFill>
                <a:latin typeface="Inter" pitchFamily="34" charset="0"/>
                <a:ea typeface="Inter" pitchFamily="34" charset="-122"/>
                <a:cs typeface="Inter" pitchFamily="34" charset="-120"/>
              </a:rPr>
              <a:t>This session is NOT</a:t>
            </a:r>
            <a:endParaRPr lang="en-US" sz="2000" dirty="0"/>
          </a:p>
        </p:txBody>
      </p:sp>
      <p:sp>
        <p:nvSpPr>
          <p:cNvPr id="16" name="Text 13"/>
          <p:cNvSpPr/>
          <p:nvPr/>
        </p:nvSpPr>
        <p:spPr>
          <a:xfrm>
            <a:off x="960120" y="2331720"/>
            <a:ext cx="4846320" cy="31089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sales pitch for AI</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scare session</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prediction that robots replace teachers</a:t>
            </a:r>
            <a:endParaRPr lang="en-US" sz="2000" dirty="0"/>
          </a:p>
        </p:txBody>
      </p:sp>
      <p:sp>
        <p:nvSpPr>
          <p:cNvPr id="17" name="Shape 14"/>
          <p:cNvSpPr/>
          <p:nvPr/>
        </p:nvSpPr>
        <p:spPr>
          <a:xfrm>
            <a:off x="6263640" y="1508760"/>
            <a:ext cx="5394960" cy="4206240"/>
          </a:xfrm>
          <a:prstGeom prst="roundRect">
            <a:avLst>
              <a:gd name="adj" fmla="val 1957"/>
            </a:avLst>
          </a:prstGeom>
          <a:solidFill>
            <a:srgbClr val="EAF5F3"/>
          </a:solidFill>
          <a:ln w="12700">
            <a:solidFill>
              <a:srgbClr val="EAF5F3"/>
            </a:solidFill>
            <a:prstDash val="solid"/>
          </a:ln>
        </p:spPr>
      </p:sp>
      <p:sp>
        <p:nvSpPr>
          <p:cNvPr id="18" name="Text 15"/>
          <p:cNvSpPr/>
          <p:nvPr/>
        </p:nvSpPr>
        <p:spPr>
          <a:xfrm>
            <a:off x="6583680" y="1783080"/>
            <a:ext cx="4754880" cy="411480"/>
          </a:xfrm>
          <a:prstGeom prst="rect">
            <a:avLst/>
          </a:prstGeom>
          <a:noFill/>
          <a:ln/>
        </p:spPr>
        <p:txBody>
          <a:bodyPr wrap="square" lIns="0" tIns="0" rIns="0" bIns="0" rtlCol="0" anchor="ctr"/>
          <a:lstStyle/>
          <a:p>
            <a:pPr indent="0" marL="0">
              <a:buNone/>
            </a:pPr>
            <a:r>
              <a:rPr lang="en-US" sz="2000" b="1" dirty="0">
                <a:solidFill>
                  <a:srgbClr val="2E7D5B"/>
                </a:solidFill>
                <a:latin typeface="Inter" pitchFamily="34" charset="0"/>
                <a:ea typeface="Inter" pitchFamily="34" charset="-122"/>
                <a:cs typeface="Inter" pitchFamily="34" charset="-120"/>
              </a:rPr>
              <a:t>It IS</a:t>
            </a:r>
            <a:endParaRPr lang="en-US" sz="2000" dirty="0"/>
          </a:p>
        </p:txBody>
      </p:sp>
      <p:sp>
        <p:nvSpPr>
          <p:cNvPr id="19" name="Text 16"/>
          <p:cNvSpPr/>
          <p:nvPr/>
        </p:nvSpPr>
        <p:spPr>
          <a:xfrm>
            <a:off x="6583680" y="2331720"/>
            <a:ext cx="4846320" cy="31089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A clear picture of what these tools actually are</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The one rule that keeps you and your students safe</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15 minutes of actually using AI, hands-on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She noticed: her students and colleagues are already using these tools.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WHY NOW: THREE NUMBERS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2600" b="1" dirty="0">
                <a:solidFill>
                  <a:srgbClr val="13293D"/>
                </a:solidFill>
                <a:latin typeface="Inter" pitchFamily="34" charset="0"/>
                <a:ea typeface="Inter" pitchFamily="34" charset="-122"/>
                <a:cs typeface="Inter" pitchFamily="34" charset="-120"/>
              </a:rPr>
              <a:t>This moved faster than any school technology before it</a:t>
            </a:r>
            <a:endParaRPr lang="en-US" sz="2600" dirty="0"/>
          </a:p>
        </p:txBody>
      </p:sp>
      <p:sp>
        <p:nvSpPr>
          <p:cNvPr id="14" name="Shape 11"/>
          <p:cNvSpPr/>
          <p:nvPr/>
        </p:nvSpPr>
        <p:spPr>
          <a:xfrm>
            <a:off x="640080" y="1600200"/>
            <a:ext cx="3520440" cy="3291840"/>
          </a:xfrm>
          <a:prstGeom prst="roundRect">
            <a:avLst>
              <a:gd name="adj" fmla="val 2500"/>
            </a:avLst>
          </a:prstGeom>
          <a:solidFill>
            <a:srgbClr val="F7F5F0"/>
          </a:solidFill>
          <a:ln w="12700">
            <a:solidFill>
              <a:srgbClr val="F7F5F0"/>
            </a:solidFill>
            <a:prstDash val="solid"/>
          </a:ln>
        </p:spPr>
      </p:sp>
      <p:sp>
        <p:nvSpPr>
          <p:cNvPr id="15" name="Text 12"/>
          <p:cNvSpPr/>
          <p:nvPr/>
        </p:nvSpPr>
        <p:spPr>
          <a:xfrm>
            <a:off x="640080" y="1828800"/>
            <a:ext cx="3520440" cy="1371600"/>
          </a:xfrm>
          <a:prstGeom prst="rect">
            <a:avLst/>
          </a:prstGeom>
          <a:noFill/>
          <a:ln/>
        </p:spPr>
        <p:txBody>
          <a:bodyPr wrap="square" lIns="0" tIns="0" rIns="0" bIns="0" rtlCol="0" anchor="ctr"/>
          <a:lstStyle/>
          <a:p>
            <a:pPr algn="ctr" indent="0" marL="0">
              <a:buNone/>
            </a:pPr>
            <a:r>
              <a:rPr lang="en-US" sz="4400" b="1" dirty="0">
                <a:solidFill>
                  <a:srgbClr val="5B6B7A"/>
                </a:solidFill>
                <a:latin typeface="Inter" pitchFamily="34" charset="0"/>
                <a:ea typeface="Inter" pitchFamily="34" charset="-122"/>
                <a:cs typeface="Inter" pitchFamily="34" charset="-120"/>
              </a:rPr>
              <a:t>25%</a:t>
            </a:r>
            <a:pPr algn="ctr" indent="0" marL="0">
              <a:buNone/>
            </a:pPr>
            <a:r>
              <a:rPr lang="en-US" sz="4400" b="1" dirty="0">
                <a:solidFill>
                  <a:srgbClr val="2A9D8F"/>
                </a:solidFill>
                <a:latin typeface="Inter" pitchFamily="34" charset="0"/>
                <a:ea typeface="Inter" pitchFamily="34" charset="-122"/>
                <a:cs typeface="Inter" pitchFamily="34" charset="-120"/>
              </a:rPr>
              <a:t> → </a:t>
            </a:r>
            <a:pPr algn="ctr" indent="0" marL="0">
              <a:buNone/>
            </a:pPr>
            <a:r>
              <a:rPr lang="en-US" sz="4400" b="1" dirty="0">
                <a:solidFill>
                  <a:srgbClr val="13293D"/>
                </a:solidFill>
                <a:latin typeface="Inter" pitchFamily="34" charset="0"/>
                <a:ea typeface="Inter" pitchFamily="34" charset="-122"/>
                <a:cs typeface="Inter" pitchFamily="34" charset="-120"/>
              </a:rPr>
              <a:t>53%</a:t>
            </a:r>
            <a:endParaRPr lang="en-US" sz="4400" dirty="0"/>
          </a:p>
        </p:txBody>
      </p:sp>
      <p:sp>
        <p:nvSpPr>
          <p:cNvPr id="16" name="Text 13"/>
          <p:cNvSpPr/>
          <p:nvPr/>
        </p:nvSpPr>
        <p:spPr>
          <a:xfrm>
            <a:off x="640080" y="3246120"/>
            <a:ext cx="3520440" cy="1554480"/>
          </a:xfrm>
          <a:prstGeom prst="rect">
            <a:avLst/>
          </a:prstGeom>
          <a:noFill/>
          <a:ln/>
        </p:spPr>
        <p:txBody>
          <a:bodyPr wrap="square" lIns="0" tIns="0" rIns="0" bIns="0" rtlCol="0" anchor="t"/>
          <a:lstStyle/>
          <a:p>
            <a:pPr algn="ctr" indent="0" marL="0">
              <a:buNone/>
            </a:pPr>
            <a:r>
              <a:rPr lang="en-US" sz="1600" dirty="0">
                <a:solidFill>
                  <a:srgbClr val="1B1F24"/>
                </a:solidFill>
                <a:latin typeface="Inter" pitchFamily="34" charset="0"/>
                <a:ea typeface="Inter" pitchFamily="34" charset="-122"/>
                <a:cs typeface="Inter" pitchFamily="34" charset="-120"/>
              </a:rPr>
              <a:t>Teachers using AI for work,</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2023–24 vs. 2024–25 (RAND)</a:t>
            </a:r>
            <a:endParaRPr lang="en-US" sz="1600" dirty="0"/>
          </a:p>
        </p:txBody>
      </p:sp>
      <p:sp>
        <p:nvSpPr>
          <p:cNvPr id="17" name="Shape 14"/>
          <p:cNvSpPr/>
          <p:nvPr/>
        </p:nvSpPr>
        <p:spPr>
          <a:xfrm>
            <a:off x="4343400" y="1600200"/>
            <a:ext cx="3520440" cy="3291840"/>
          </a:xfrm>
          <a:prstGeom prst="roundRect">
            <a:avLst>
              <a:gd name="adj" fmla="val 2500"/>
            </a:avLst>
          </a:prstGeom>
          <a:solidFill>
            <a:srgbClr val="F7F5F0"/>
          </a:solidFill>
          <a:ln w="12700">
            <a:solidFill>
              <a:srgbClr val="F7F5F0"/>
            </a:solidFill>
            <a:prstDash val="solid"/>
          </a:ln>
        </p:spPr>
      </p:sp>
      <p:sp>
        <p:nvSpPr>
          <p:cNvPr id="18" name="Text 15"/>
          <p:cNvSpPr/>
          <p:nvPr/>
        </p:nvSpPr>
        <p:spPr>
          <a:xfrm>
            <a:off x="4343400" y="1828800"/>
            <a:ext cx="3520440" cy="1371600"/>
          </a:xfrm>
          <a:prstGeom prst="rect">
            <a:avLst/>
          </a:prstGeom>
          <a:noFill/>
          <a:ln/>
        </p:spPr>
        <p:txBody>
          <a:bodyPr wrap="square" lIns="0" tIns="0" rIns="0" bIns="0" rtlCol="0" anchor="ctr"/>
          <a:lstStyle/>
          <a:p>
            <a:pPr algn="ctr" indent="0" marL="0">
              <a:buNone/>
            </a:pPr>
            <a:r>
              <a:rPr lang="en-US" sz="6400" b="1" dirty="0">
                <a:solidFill>
                  <a:srgbClr val="2A9D8F"/>
                </a:solidFill>
                <a:latin typeface="Inter" pitchFamily="34" charset="0"/>
                <a:ea typeface="Inter" pitchFamily="34" charset="-122"/>
                <a:cs typeface="Inter" pitchFamily="34" charset="-120"/>
              </a:rPr>
              <a:t>60%</a:t>
            </a:r>
            <a:endParaRPr lang="en-US" sz="6400" dirty="0"/>
          </a:p>
        </p:txBody>
      </p:sp>
      <p:sp>
        <p:nvSpPr>
          <p:cNvPr id="19" name="Text 16"/>
          <p:cNvSpPr/>
          <p:nvPr/>
        </p:nvSpPr>
        <p:spPr>
          <a:xfrm>
            <a:off x="4343400" y="3246120"/>
            <a:ext cx="3520440" cy="1554480"/>
          </a:xfrm>
          <a:prstGeom prst="rect">
            <a:avLst/>
          </a:prstGeom>
          <a:noFill/>
          <a:ln/>
        </p:spPr>
        <p:txBody>
          <a:bodyPr wrap="square" lIns="0" tIns="0" rIns="0" bIns="0" rtlCol="0" anchor="t"/>
          <a:lstStyle/>
          <a:p>
            <a:pPr algn="ctr" indent="0" marL="0">
              <a:buNone/>
            </a:pPr>
            <a:r>
              <a:rPr lang="en-US" sz="1600" dirty="0">
                <a:solidFill>
                  <a:srgbClr val="1B1F24"/>
                </a:solidFill>
                <a:latin typeface="Inter" pitchFamily="34" charset="0"/>
                <a:ea typeface="Inter" pitchFamily="34" charset="-122"/>
                <a:cs typeface="Inter" pitchFamily="34" charset="-120"/>
              </a:rPr>
              <a:t>of teachers used AI during</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the 2024–25 school year</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(Gallup &amp; Walton Family Fdn.)</a:t>
            </a:r>
            <a:endParaRPr lang="en-US" sz="1600" dirty="0"/>
          </a:p>
        </p:txBody>
      </p:sp>
      <p:sp>
        <p:nvSpPr>
          <p:cNvPr id="20" name="Shape 17"/>
          <p:cNvSpPr/>
          <p:nvPr/>
        </p:nvSpPr>
        <p:spPr>
          <a:xfrm>
            <a:off x="8046720" y="1600200"/>
            <a:ext cx="3520440" cy="3291840"/>
          </a:xfrm>
          <a:prstGeom prst="roundRect">
            <a:avLst>
              <a:gd name="adj" fmla="val 2500"/>
            </a:avLst>
          </a:prstGeom>
          <a:solidFill>
            <a:srgbClr val="F7F5F0"/>
          </a:solidFill>
          <a:ln w="12700">
            <a:solidFill>
              <a:srgbClr val="F7F5F0"/>
            </a:solidFill>
            <a:prstDash val="solid"/>
          </a:ln>
        </p:spPr>
      </p:sp>
      <p:sp>
        <p:nvSpPr>
          <p:cNvPr id="21" name="Text 18"/>
          <p:cNvSpPr/>
          <p:nvPr/>
        </p:nvSpPr>
        <p:spPr>
          <a:xfrm>
            <a:off x="8046720" y="1828800"/>
            <a:ext cx="3520440" cy="1371600"/>
          </a:xfrm>
          <a:prstGeom prst="rect">
            <a:avLst/>
          </a:prstGeom>
          <a:noFill/>
          <a:ln/>
        </p:spPr>
        <p:txBody>
          <a:bodyPr wrap="square" lIns="0" tIns="0" rIns="0" bIns="0" rtlCol="0" anchor="ctr"/>
          <a:lstStyle/>
          <a:p>
            <a:pPr algn="ctr" indent="0" marL="0">
              <a:buNone/>
            </a:pPr>
            <a:r>
              <a:rPr lang="en-US" sz="6400" b="1" dirty="0">
                <a:solidFill>
                  <a:srgbClr val="F4A825"/>
                </a:solidFill>
                <a:latin typeface="Inter" pitchFamily="34" charset="0"/>
                <a:ea typeface="Inter" pitchFamily="34" charset="-122"/>
                <a:cs typeface="Inter" pitchFamily="34" charset="-120"/>
              </a:rPr>
              <a:t>54%</a:t>
            </a:r>
            <a:endParaRPr lang="en-US" sz="6400" dirty="0"/>
          </a:p>
        </p:txBody>
      </p:sp>
      <p:sp>
        <p:nvSpPr>
          <p:cNvPr id="22" name="Text 19"/>
          <p:cNvSpPr/>
          <p:nvPr/>
        </p:nvSpPr>
        <p:spPr>
          <a:xfrm>
            <a:off x="8046720" y="3246120"/>
            <a:ext cx="3520440" cy="1554480"/>
          </a:xfrm>
          <a:prstGeom prst="rect">
            <a:avLst/>
          </a:prstGeom>
          <a:noFill/>
          <a:ln/>
        </p:spPr>
        <p:txBody>
          <a:bodyPr wrap="square" lIns="0" tIns="0" rIns="0" bIns="0" rtlCol="0" anchor="t"/>
          <a:lstStyle/>
          <a:p>
            <a:pPr algn="ctr" indent="0" marL="0">
              <a:buNone/>
            </a:pPr>
            <a:r>
              <a:rPr lang="en-US" sz="1600" dirty="0">
                <a:solidFill>
                  <a:srgbClr val="1B1F24"/>
                </a:solidFill>
                <a:latin typeface="Inter" pitchFamily="34" charset="0"/>
                <a:ea typeface="Inter" pitchFamily="34" charset="-122"/>
                <a:cs typeface="Inter" pitchFamily="34" charset="-120"/>
              </a:rPr>
              <a:t>of U.S. teens already use AI</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for schoolwork (Pew, 2026)</a:t>
            </a:r>
            <a:endParaRPr lang="en-US" sz="1600" dirty="0"/>
          </a:p>
        </p:txBody>
      </p:sp>
      <p:sp>
        <p:nvSpPr>
          <p:cNvPr id="23" name="Text 20"/>
          <p:cNvSpPr/>
          <p:nvPr/>
        </p:nvSpPr>
        <p:spPr>
          <a:xfrm>
            <a:off x="640080" y="5257800"/>
            <a:ext cx="10908792" cy="548640"/>
          </a:xfrm>
          <a:prstGeom prst="rect">
            <a:avLst/>
          </a:prstGeom>
          <a:noFill/>
          <a:ln/>
        </p:spPr>
        <p:txBody>
          <a:bodyPr wrap="square" lIns="0" tIns="0" rIns="0" bIns="0" rtlCol="0" anchor="ctr"/>
          <a:lstStyle/>
          <a:p>
            <a:pPr algn="ctr" indent="0" marL="0">
              <a:buNone/>
            </a:pPr>
            <a:r>
              <a:rPr lang="en-US" sz="2000" i="1" dirty="0">
                <a:solidFill>
                  <a:srgbClr val="5B6B7A"/>
                </a:solidFill>
                <a:latin typeface="Inter" pitchFamily="34" charset="0"/>
                <a:ea typeface="Inter" pitchFamily="34" charset="-122"/>
                <a:cs typeface="Inter" pitchFamily="34" charset="-120"/>
              </a:rPr>
              <a:t>Whatever we decide in this room, AI is already in our building.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goal this hour: leave with one real task done with AI, safely.</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HOUR AHEAD</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Agenda, and one promise</a:t>
            </a:r>
            <a:endParaRPr lang="en-US" sz="3200" dirty="0"/>
          </a:p>
        </p:txBody>
      </p:sp>
      <p:sp>
        <p:nvSpPr>
          <p:cNvPr id="14" name="Text 11"/>
          <p:cNvSpPr/>
          <p:nvPr/>
        </p:nvSpPr>
        <p:spPr>
          <a:xfrm>
            <a:off x="822960" y="1417320"/>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0:00</a:t>
            </a:r>
            <a:endParaRPr lang="en-US" sz="2000" dirty="0"/>
          </a:p>
        </p:txBody>
      </p:sp>
      <p:sp>
        <p:nvSpPr>
          <p:cNvPr id="15" name="Text 12"/>
          <p:cNvSpPr/>
          <p:nvPr/>
        </p:nvSpPr>
        <p:spPr>
          <a:xfrm>
            <a:off x="1920240" y="1417320"/>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Welcome &amp; why now</a:t>
            </a:r>
            <a:endParaRPr lang="en-US" sz="2000" dirty="0"/>
          </a:p>
        </p:txBody>
      </p:sp>
      <p:sp>
        <p:nvSpPr>
          <p:cNvPr id="16" name="Text 13"/>
          <p:cNvSpPr/>
          <p:nvPr/>
        </p:nvSpPr>
        <p:spPr>
          <a:xfrm>
            <a:off x="822960" y="2039112"/>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0:04</a:t>
            </a:r>
            <a:endParaRPr lang="en-US" sz="2000" dirty="0"/>
          </a:p>
        </p:txBody>
      </p:sp>
      <p:sp>
        <p:nvSpPr>
          <p:cNvPr id="17" name="Text 14"/>
          <p:cNvSpPr/>
          <p:nvPr/>
        </p:nvSpPr>
        <p:spPr>
          <a:xfrm>
            <a:off x="1920240" y="2039112"/>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What AI actually is (no jargon)</a:t>
            </a:r>
            <a:endParaRPr lang="en-US" sz="2000" dirty="0"/>
          </a:p>
        </p:txBody>
      </p:sp>
      <p:sp>
        <p:nvSpPr>
          <p:cNvPr id="18" name="Text 15"/>
          <p:cNvSpPr/>
          <p:nvPr/>
        </p:nvSpPr>
        <p:spPr>
          <a:xfrm>
            <a:off x="822960" y="2660904"/>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0:12</a:t>
            </a:r>
            <a:endParaRPr lang="en-US" sz="2000" dirty="0"/>
          </a:p>
        </p:txBody>
      </p:sp>
      <p:sp>
        <p:nvSpPr>
          <p:cNvPr id="19" name="Text 16"/>
          <p:cNvSpPr/>
          <p:nvPr/>
        </p:nvSpPr>
        <p:spPr>
          <a:xfrm>
            <a:off x="1920240" y="2660904"/>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The One Hard Rule: student privacy</a:t>
            </a:r>
            <a:endParaRPr lang="en-US" sz="2000" dirty="0"/>
          </a:p>
        </p:txBody>
      </p:sp>
      <p:sp>
        <p:nvSpPr>
          <p:cNvPr id="20" name="Text 17"/>
          <p:cNvSpPr/>
          <p:nvPr/>
        </p:nvSpPr>
        <p:spPr>
          <a:xfrm>
            <a:off x="822960" y="3282696"/>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0:22</a:t>
            </a:r>
            <a:endParaRPr lang="en-US" sz="2000" dirty="0"/>
          </a:p>
        </p:txBody>
      </p:sp>
      <p:sp>
        <p:nvSpPr>
          <p:cNvPr id="21" name="Text 18"/>
          <p:cNvSpPr/>
          <p:nvPr/>
        </p:nvSpPr>
        <p:spPr>
          <a:xfrm>
            <a:off x="1920240" y="3282696"/>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Safe practice: rewriting risky prompts</a:t>
            </a:r>
            <a:endParaRPr lang="en-US" sz="2000" dirty="0"/>
          </a:p>
        </p:txBody>
      </p:sp>
      <p:sp>
        <p:nvSpPr>
          <p:cNvPr id="22" name="Text 19"/>
          <p:cNvSpPr/>
          <p:nvPr/>
        </p:nvSpPr>
        <p:spPr>
          <a:xfrm>
            <a:off x="822960" y="3904488"/>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0:30</a:t>
            </a:r>
            <a:endParaRPr lang="en-US" sz="2000" dirty="0"/>
          </a:p>
        </p:txBody>
      </p:sp>
      <p:sp>
        <p:nvSpPr>
          <p:cNvPr id="23" name="Text 20"/>
          <p:cNvSpPr/>
          <p:nvPr/>
        </p:nvSpPr>
        <p:spPr>
          <a:xfrm>
            <a:off x="1920240" y="3904488"/>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Hands-on lab: you type, in pairs</a:t>
            </a:r>
            <a:endParaRPr lang="en-US" sz="2000" dirty="0"/>
          </a:p>
        </p:txBody>
      </p:sp>
      <p:sp>
        <p:nvSpPr>
          <p:cNvPr id="24" name="Text 21"/>
          <p:cNvSpPr/>
          <p:nvPr/>
        </p:nvSpPr>
        <p:spPr>
          <a:xfrm>
            <a:off x="822960" y="4526280"/>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0:45</a:t>
            </a:r>
            <a:endParaRPr lang="en-US" sz="2000" dirty="0"/>
          </a:p>
        </p:txBody>
      </p:sp>
      <p:sp>
        <p:nvSpPr>
          <p:cNvPr id="25" name="Text 22"/>
          <p:cNvSpPr/>
          <p:nvPr/>
        </p:nvSpPr>
        <p:spPr>
          <a:xfrm>
            <a:off x="1920240" y="4526280"/>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Staying human · our three commitments</a:t>
            </a:r>
            <a:endParaRPr lang="en-US" sz="2000" dirty="0"/>
          </a:p>
        </p:txBody>
      </p:sp>
      <p:sp>
        <p:nvSpPr>
          <p:cNvPr id="26" name="Text 23"/>
          <p:cNvSpPr/>
          <p:nvPr/>
        </p:nvSpPr>
        <p:spPr>
          <a:xfrm>
            <a:off x="822960" y="5148072"/>
            <a:ext cx="1005840" cy="50292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0:52</a:t>
            </a:r>
            <a:endParaRPr lang="en-US" sz="2000" dirty="0"/>
          </a:p>
        </p:txBody>
      </p:sp>
      <p:sp>
        <p:nvSpPr>
          <p:cNvPr id="27" name="Text 24"/>
          <p:cNvSpPr/>
          <p:nvPr/>
        </p:nvSpPr>
        <p:spPr>
          <a:xfrm>
            <a:off x="1920240" y="5148072"/>
            <a:ext cx="6949440" cy="50292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First 48 hours &amp; exit ticket</a:t>
            </a:r>
            <a:endParaRPr lang="en-US" sz="2000" dirty="0"/>
          </a:p>
        </p:txBody>
      </p:sp>
      <p:sp>
        <p:nvSpPr>
          <p:cNvPr id="28" name="Shape 25"/>
          <p:cNvSpPr/>
          <p:nvPr/>
        </p:nvSpPr>
        <p:spPr>
          <a:xfrm>
            <a:off x="9144000" y="2103120"/>
            <a:ext cx="2514600" cy="2651760"/>
          </a:xfrm>
          <a:prstGeom prst="roundRect">
            <a:avLst>
              <a:gd name="adj" fmla="val 3273"/>
            </a:avLst>
          </a:prstGeom>
          <a:solidFill>
            <a:srgbClr val="13293D"/>
          </a:solidFill>
          <a:ln w="12700">
            <a:solidFill>
              <a:srgbClr val="13293D"/>
            </a:solidFill>
            <a:prstDash val="solid"/>
          </a:ln>
        </p:spPr>
      </p:sp>
      <p:sp>
        <p:nvSpPr>
          <p:cNvPr id="29" name="Text 26"/>
          <p:cNvSpPr/>
          <p:nvPr/>
        </p:nvSpPr>
        <p:spPr>
          <a:xfrm>
            <a:off x="9372600" y="2331720"/>
            <a:ext cx="2057400" cy="365760"/>
          </a:xfrm>
          <a:prstGeom prst="rect">
            <a:avLst/>
          </a:prstGeom>
          <a:noFill/>
          <a:ln/>
        </p:spPr>
        <p:txBody>
          <a:bodyPr wrap="square" lIns="0" tIns="0" rIns="0" bIns="0" rtlCol="0" anchor="ctr"/>
          <a:lstStyle/>
          <a:p>
            <a:pPr indent="0" marL="0">
              <a:buNone/>
            </a:pPr>
            <a:r>
              <a:rPr lang="en-US" sz="1600" b="1" dirty="0">
                <a:solidFill>
                  <a:srgbClr val="F4A825"/>
                </a:solidFill>
                <a:latin typeface="Inter" pitchFamily="34" charset="0"/>
                <a:ea typeface="Inter" pitchFamily="34" charset="-122"/>
                <a:cs typeface="Inter" pitchFamily="34" charset="-120"/>
              </a:rPr>
              <a:t>One promise</a:t>
            </a:r>
            <a:endParaRPr lang="en-US" sz="1600" dirty="0"/>
          </a:p>
        </p:txBody>
      </p:sp>
      <p:sp>
        <p:nvSpPr>
          <p:cNvPr id="30" name="Text 27"/>
          <p:cNvSpPr/>
          <p:nvPr/>
        </p:nvSpPr>
        <p:spPr>
          <a:xfrm>
            <a:off x="9372600" y="2743200"/>
            <a:ext cx="2057400" cy="1828800"/>
          </a:xfrm>
          <a:prstGeom prst="rect">
            <a:avLst/>
          </a:prstGeom>
          <a:noFill/>
          <a:ln/>
        </p:spPr>
        <p:txBody>
          <a:bodyPr wrap="square" lIns="0" tIns="0" rIns="0" bIns="0" rtlCol="0" anchor="t"/>
          <a:lstStyle/>
          <a:p>
            <a:pPr indent="0" marL="0">
              <a:buNone/>
            </a:pPr>
            <a:r>
              <a:rPr lang="en-US" sz="1400" dirty="0">
                <a:solidFill>
                  <a:srgbClr val="FFFFFF"/>
                </a:solidFill>
                <a:latin typeface="Inter" pitchFamily="34" charset="0"/>
                <a:ea typeface="Inter" pitchFamily="34" charset="-122"/>
                <a:cs typeface="Inter" pitchFamily="34" charset="-120"/>
              </a:rPr>
              <a:t>You will actually use an AI tool today, and leave with something for tomorrow morning.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mental note: it predicts words. It isn't looking anything up.</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DEMYSTIFYING THE THING</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a chatbot actually does</a:t>
            </a:r>
            <a:endParaRPr lang="en-US" sz="3200" dirty="0"/>
          </a:p>
        </p:txBody>
      </p:sp>
      <p:sp>
        <p:nvSpPr>
          <p:cNvPr id="14" name="Shape 11"/>
          <p:cNvSpPr/>
          <p:nvPr/>
        </p:nvSpPr>
        <p:spPr>
          <a:xfrm>
            <a:off x="640080" y="1554480"/>
            <a:ext cx="10972800" cy="2011680"/>
          </a:xfrm>
          <a:prstGeom prst="roundRect">
            <a:avLst>
              <a:gd name="adj" fmla="val 4091"/>
            </a:avLst>
          </a:prstGeom>
          <a:solidFill>
            <a:srgbClr val="F7F5F0"/>
          </a:solidFill>
          <a:ln w="12700">
            <a:solidFill>
              <a:srgbClr val="F7F5F0"/>
            </a:solidFill>
            <a:prstDash val="solid"/>
          </a:ln>
        </p:spPr>
      </p:sp>
      <p:sp>
        <p:nvSpPr>
          <p:cNvPr id="15" name="Text 12"/>
          <p:cNvSpPr/>
          <p:nvPr/>
        </p:nvSpPr>
        <p:spPr>
          <a:xfrm>
            <a:off x="960120" y="1783080"/>
            <a:ext cx="10332720" cy="1554480"/>
          </a:xfrm>
          <a:prstGeom prst="rect">
            <a:avLst/>
          </a:prstGeom>
          <a:noFill/>
          <a:ln/>
        </p:spPr>
        <p:txBody>
          <a:bodyPr wrap="square" lIns="0" tIns="0" rIns="0" bIns="0" rtlCol="0" anchor="ctr"/>
          <a:lstStyle/>
          <a:p>
            <a:pPr indent="0" marL="0">
              <a:buNone/>
            </a:pPr>
            <a:r>
              <a:rPr lang="en-US" sz="2200" b="1" dirty="0">
                <a:solidFill>
                  <a:srgbClr val="13293D"/>
                </a:solidFill>
                <a:latin typeface="Inter" pitchFamily="34" charset="0"/>
                <a:ea typeface="Inter" pitchFamily="34" charset="-122"/>
                <a:cs typeface="Inter" pitchFamily="34" charset="-120"/>
              </a:rPr>
              <a:t>It predicts likely next words.</a:t>
            </a:r>
            <a:pPr indent="0" marL="0">
              <a:buNone/>
            </a:pPr>
            <a:r>
              <a:rPr lang="en-US" sz="2200" dirty="0">
                <a:solidFill>
                  <a:srgbClr val="1B1F24"/>
                </a:solidFill>
                <a:latin typeface="Inter" pitchFamily="34" charset="0"/>
                <a:ea typeface="Inter" pitchFamily="34" charset="-122"/>
                <a:cs typeface="Inter" pitchFamily="34" charset="-120"/>
              </a:rPr>
              <a:t>  Not a database. Not a search engine. A very sophisticated pattern-continuation machine, trained on enormous amounts of text.</a:t>
            </a:r>
            <a:endParaRPr lang="en-US" sz="2200" dirty="0"/>
          </a:p>
        </p:txBody>
      </p:sp>
      <p:sp>
        <p:nvSpPr>
          <p:cNvPr id="16" name="Text 13"/>
          <p:cNvSpPr/>
          <p:nvPr/>
        </p:nvSpPr>
        <p:spPr>
          <a:xfrm>
            <a:off x="640080" y="3886200"/>
            <a:ext cx="10908792" cy="210312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Why the writing sounds so fluent: fluent is what it was trained to produce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Why it can be smoothly, confidently wrong: it continues patterns instead of checking facts</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One fact that explains almost everything you’ll ever see AI do</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habit forming: anything factual gets checked before she relies on it.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PEER-REVIEWED EVIDENCE, NOT FOLKLORE</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It can be confidently wrong</a:t>
            </a:r>
            <a:endParaRPr lang="en-US" sz="3200" dirty="0"/>
          </a:p>
        </p:txBody>
      </p:sp>
      <p:sp>
        <p:nvSpPr>
          <p:cNvPr id="14" name="Shape 11"/>
          <p:cNvSpPr/>
          <p:nvPr/>
        </p:nvSpPr>
        <p:spPr>
          <a:xfrm>
            <a:off x="640080" y="1554480"/>
            <a:ext cx="5212080" cy="4114800"/>
          </a:xfrm>
          <a:prstGeom prst="roundRect">
            <a:avLst>
              <a:gd name="adj" fmla="val 2000"/>
            </a:avLst>
          </a:prstGeom>
          <a:solidFill>
            <a:srgbClr val="F7F5F0"/>
          </a:solidFill>
          <a:ln w="12700">
            <a:solidFill>
              <a:srgbClr val="F7F5F0"/>
            </a:solidFill>
            <a:prstDash val="solid"/>
          </a:ln>
        </p:spPr>
      </p:sp>
      <p:sp>
        <p:nvSpPr>
          <p:cNvPr id="15" name="Text 12"/>
          <p:cNvSpPr/>
          <p:nvPr/>
        </p:nvSpPr>
        <p:spPr>
          <a:xfrm>
            <a:off x="640080" y="1965960"/>
            <a:ext cx="5212080" cy="1188720"/>
          </a:xfrm>
          <a:prstGeom prst="rect">
            <a:avLst/>
          </a:prstGeom>
          <a:noFill/>
          <a:ln/>
        </p:spPr>
        <p:txBody>
          <a:bodyPr wrap="square" lIns="0" tIns="0" rIns="0" bIns="0" rtlCol="0" anchor="ctr"/>
          <a:lstStyle/>
          <a:p>
            <a:pPr algn="ctr" indent="0" marL="0">
              <a:buNone/>
            </a:pPr>
            <a:r>
              <a:rPr lang="en-US" sz="6600" b="1" dirty="0">
                <a:solidFill>
                  <a:srgbClr val="B4453A"/>
                </a:solidFill>
                <a:latin typeface="Inter" pitchFamily="34" charset="0"/>
                <a:ea typeface="Inter" pitchFamily="34" charset="-122"/>
                <a:cs typeface="Inter" pitchFamily="34" charset="-120"/>
              </a:rPr>
              <a:t>19.9%</a:t>
            </a:r>
            <a:endParaRPr lang="en-US" sz="6600" dirty="0"/>
          </a:p>
        </p:txBody>
      </p:sp>
      <p:sp>
        <p:nvSpPr>
          <p:cNvPr id="16" name="Text 13"/>
          <p:cNvSpPr/>
          <p:nvPr/>
        </p:nvSpPr>
        <p:spPr>
          <a:xfrm>
            <a:off x="1005840" y="3246120"/>
            <a:ext cx="4480560" cy="2103120"/>
          </a:xfrm>
          <a:prstGeom prst="rect">
            <a:avLst/>
          </a:prstGeom>
          <a:noFill/>
          <a:ln/>
        </p:spPr>
        <p:txBody>
          <a:bodyPr wrap="square" lIns="0" tIns="0" rIns="0" bIns="0" rtlCol="0" anchor="ctr"/>
          <a:lstStyle/>
          <a:p>
            <a:pPr algn="ctr" indent="0" marL="0">
              <a:buNone/>
            </a:pPr>
            <a:r>
              <a:rPr lang="en-US" sz="1700" dirty="0">
                <a:solidFill>
                  <a:srgbClr val="1B1F24"/>
                </a:solidFill>
                <a:latin typeface="Inter" pitchFamily="34" charset="0"/>
                <a:ea typeface="Inter" pitchFamily="34" charset="-122"/>
                <a:cs typeface="Inter" pitchFamily="34" charset="-120"/>
              </a:rPr>
              <a:t>of citations produced by a leading AI model in a 2025 test were entirely fabricated. The papers did not exist</a:t>
            </a:r>
            <a:endParaRPr lang="en-US" sz="1700" dirty="0"/>
          </a:p>
        </p:txBody>
      </p:sp>
      <p:sp>
        <p:nvSpPr>
          <p:cNvPr id="17" name="Shape 14"/>
          <p:cNvSpPr/>
          <p:nvPr/>
        </p:nvSpPr>
        <p:spPr>
          <a:xfrm>
            <a:off x="6080760" y="1554480"/>
            <a:ext cx="5212080" cy="4114800"/>
          </a:xfrm>
          <a:prstGeom prst="roundRect">
            <a:avLst>
              <a:gd name="adj" fmla="val 2000"/>
            </a:avLst>
          </a:prstGeom>
          <a:solidFill>
            <a:srgbClr val="F7F5F0"/>
          </a:solidFill>
          <a:ln w="12700">
            <a:solidFill>
              <a:srgbClr val="F7F5F0"/>
            </a:solidFill>
            <a:prstDash val="solid"/>
          </a:ln>
        </p:spPr>
      </p:sp>
      <p:sp>
        <p:nvSpPr>
          <p:cNvPr id="18" name="Text 15"/>
          <p:cNvSpPr/>
          <p:nvPr/>
        </p:nvSpPr>
        <p:spPr>
          <a:xfrm>
            <a:off x="6080760" y="1965960"/>
            <a:ext cx="5212080" cy="1188720"/>
          </a:xfrm>
          <a:prstGeom prst="rect">
            <a:avLst/>
          </a:prstGeom>
          <a:noFill/>
          <a:ln/>
        </p:spPr>
        <p:txBody>
          <a:bodyPr wrap="square" lIns="0" tIns="0" rIns="0" bIns="0" rtlCol="0" anchor="ctr"/>
          <a:lstStyle/>
          <a:p>
            <a:pPr algn="ctr" indent="0" marL="0">
              <a:buNone/>
            </a:pPr>
            <a:r>
              <a:rPr lang="en-US" sz="6600" b="1" dirty="0">
                <a:solidFill>
                  <a:srgbClr val="F4A825"/>
                </a:solidFill>
                <a:latin typeface="Inter" pitchFamily="34" charset="0"/>
                <a:ea typeface="Inter" pitchFamily="34" charset="-122"/>
                <a:cs typeface="Inter" pitchFamily="34" charset="-120"/>
              </a:rPr>
              <a:t>45.4%</a:t>
            </a:r>
            <a:endParaRPr lang="en-US" sz="6600" dirty="0"/>
          </a:p>
        </p:txBody>
      </p:sp>
      <p:sp>
        <p:nvSpPr>
          <p:cNvPr id="19" name="Text 16"/>
          <p:cNvSpPr/>
          <p:nvPr/>
        </p:nvSpPr>
        <p:spPr>
          <a:xfrm>
            <a:off x="6446520" y="3246120"/>
            <a:ext cx="4480560" cy="2103120"/>
          </a:xfrm>
          <a:prstGeom prst="rect">
            <a:avLst/>
          </a:prstGeom>
          <a:noFill/>
          <a:ln/>
        </p:spPr>
        <p:txBody>
          <a:bodyPr wrap="square" lIns="0" tIns="0" rIns="0" bIns="0" rtlCol="0" anchor="ctr"/>
          <a:lstStyle/>
          <a:p>
            <a:pPr algn="ctr" indent="0" marL="0">
              <a:buNone/>
            </a:pPr>
            <a:r>
              <a:rPr lang="en-US" sz="1700" dirty="0">
                <a:solidFill>
                  <a:srgbClr val="1B1F24"/>
                </a:solidFill>
                <a:latin typeface="Inter" pitchFamily="34" charset="0"/>
                <a:ea typeface="Inter" pitchFamily="34" charset="-122"/>
                <a:cs typeface="Inter" pitchFamily="34" charset="-120"/>
              </a:rPr>
              <a:t>of the real citations still contained errors, and every one of them looked perfect on the page</a:t>
            </a:r>
            <a:endParaRPr lang="en-US" sz="1700" dirty="0"/>
          </a:p>
        </p:txBody>
      </p:sp>
      <p:sp>
        <p:nvSpPr>
          <p:cNvPr id="20" name="Text 17"/>
          <p:cNvSpPr/>
          <p:nvPr/>
        </p:nvSpPr>
        <p:spPr>
          <a:xfrm>
            <a:off x="640080" y="580644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The habit that follows: verify anything factual before you rely on it.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7</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new frame: a fast, eager intern. She stays the professional in charge.</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MENTAL MODEL FOR THE WHOLE SERIES</a:t>
            </a:r>
            <a:endParaRPr lang="en-US" sz="1200" dirty="0"/>
          </a:p>
        </p:txBody>
      </p:sp>
      <p:sp>
        <p:nvSpPr>
          <p:cNvPr id="13" name="Text 10"/>
          <p:cNvSpPr/>
          <p:nvPr/>
        </p:nvSpPr>
        <p:spPr>
          <a:xfrm>
            <a:off x="640080" y="1554480"/>
            <a:ext cx="10972800" cy="1005840"/>
          </a:xfrm>
          <a:prstGeom prst="rect">
            <a:avLst/>
          </a:prstGeom>
          <a:noFill/>
          <a:ln/>
        </p:spPr>
        <p:txBody>
          <a:bodyPr wrap="square" lIns="0" tIns="0" rIns="0" bIns="0" rtlCol="0" anchor="ctr"/>
          <a:lstStyle/>
          <a:p>
            <a:pPr indent="0" marL="0">
              <a:buNone/>
            </a:pPr>
            <a:r>
              <a:rPr lang="en-US" sz="4500" b="1" dirty="0">
                <a:solidFill>
                  <a:srgbClr val="FFFFFF"/>
                </a:solidFill>
                <a:latin typeface="Inter" pitchFamily="34" charset="0"/>
                <a:ea typeface="Inter" pitchFamily="34" charset="-122"/>
                <a:cs typeface="Inter" pitchFamily="34" charset="-120"/>
              </a:rPr>
              <a:t>AI is an eager intern.</a:t>
            </a:r>
            <a:endParaRPr lang="en-US" sz="4500" dirty="0"/>
          </a:p>
        </p:txBody>
      </p:sp>
      <p:sp>
        <p:nvSpPr>
          <p:cNvPr id="14" name="Text 11"/>
          <p:cNvSpPr/>
          <p:nvPr/>
        </p:nvSpPr>
        <p:spPr>
          <a:xfrm>
            <a:off x="640080" y="2743200"/>
            <a:ext cx="10908792" cy="2011680"/>
          </a:xfrm>
          <a:prstGeom prst="rect">
            <a:avLst/>
          </a:prstGeom>
          <a:noFill/>
          <a:ln/>
        </p:spPr>
        <p:txBody>
          <a:bodyPr wrap="square" rtlCol="0" anchor="t"/>
          <a:lstStyle/>
          <a:p>
            <a:pPr marL="342900" indent="-342900">
              <a:spcAft>
                <a:spcPts val="1000"/>
              </a:spcAft>
              <a:buSzPct val="100000"/>
              <a:buChar char="•"/>
            </a:pPr>
            <a:r>
              <a:rPr lang="en-US" sz="2200" dirty="0">
                <a:solidFill>
                  <a:srgbClr val="C9D4DE"/>
                </a:solidFill>
                <a:latin typeface="Inter" pitchFamily="34" charset="0"/>
                <a:ea typeface="Inter" pitchFamily="34" charset="-122"/>
                <a:cs typeface="Inter" pitchFamily="34" charset="-120"/>
              </a:rPr>
              <a:t>Fast, tireless, surprisingly capable, desperate to please</a:t>
            </a:r>
            <a:endParaRPr lang="en-US" sz="2200" dirty="0"/>
          </a:p>
          <a:p>
            <a:pPr marL="342900" indent="-342900">
              <a:spcAft>
                <a:spcPts val="1000"/>
              </a:spcAft>
              <a:buSzPct val="100000"/>
              <a:buChar char="•"/>
            </a:pPr>
            <a:r>
              <a:rPr lang="en-US" sz="2200" dirty="0">
                <a:solidFill>
                  <a:srgbClr val="C9D4DE"/>
                </a:solidFill>
                <a:latin typeface="Inter" pitchFamily="34" charset="0"/>
                <a:ea typeface="Inter" pitchFamily="34" charset="-122"/>
                <a:cs typeface="Inter" pitchFamily="34" charset="-120"/>
              </a:rPr>
              <a:t>Will make things up rather than admit it doesn’t know</a:t>
            </a:r>
            <a:endParaRPr lang="en-US" sz="2200" dirty="0"/>
          </a:p>
          <a:p>
            <a:pPr marL="342900" indent="-342900">
              <a:spcAft>
                <a:spcPts val="1000"/>
              </a:spcAft>
              <a:buSzPct val="100000"/>
              <a:buChar char="•"/>
            </a:pPr>
            <a:r>
              <a:rPr lang="en-US" sz="2200" dirty="0">
                <a:solidFill>
                  <a:srgbClr val="C9D4DE"/>
                </a:solidFill>
                <a:latin typeface="Inter" pitchFamily="34" charset="0"/>
                <a:ea typeface="Inter" pitchFamily="34" charset="-122"/>
                <a:cs typeface="Inter" pitchFamily="34" charset="-120"/>
              </a:rPr>
              <a:t>Never meets your students unsupervised, never sends unread work home</a:t>
            </a:r>
            <a:endParaRPr lang="en-US" sz="2200" dirty="0"/>
          </a:p>
        </p:txBody>
      </p:sp>
      <p:sp>
        <p:nvSpPr>
          <p:cNvPr id="15" name="Text 12"/>
          <p:cNvSpPr/>
          <p:nvPr/>
        </p:nvSpPr>
        <p:spPr>
          <a:xfrm>
            <a:off x="640080" y="5029200"/>
            <a:ext cx="10972800" cy="822960"/>
          </a:xfrm>
          <a:prstGeom prst="rect">
            <a:avLst/>
          </a:prstGeom>
          <a:noFill/>
          <a:ln/>
        </p:spPr>
        <p:txBody>
          <a:bodyPr wrap="square" lIns="0" tIns="0" rIns="0" bIns="0" rtlCol="0" anchor="ctr"/>
          <a:lstStyle/>
          <a:p>
            <a:pPr algn="ctr" indent="0" marL="0">
              <a:buNone/>
            </a:pPr>
            <a:r>
              <a:rPr lang="en-US" sz="3000" b="1" dirty="0">
                <a:solidFill>
                  <a:srgbClr val="2A9D8F"/>
                </a:solidFill>
                <a:latin typeface="Inter" pitchFamily="34" charset="0"/>
                <a:ea typeface="Inter" pitchFamily="34" charset="-122"/>
                <a:cs typeface="Inter" pitchFamily="34" charset="-120"/>
              </a:rPr>
              <a:t>AI drafts. The teacher decides.</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shortlist: newsletter drafts, leveled passages, rubrics, reformatting.</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THE INTERN EARNS ITS KEEP</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it’s genuinely good at</a:t>
            </a:r>
            <a:endParaRPr lang="en-US" sz="3200" dirty="0"/>
          </a:p>
        </p:txBody>
      </p:sp>
      <p:sp>
        <p:nvSpPr>
          <p:cNvPr id="14" name="Shape 11"/>
          <p:cNvSpPr/>
          <p:nvPr/>
        </p:nvSpPr>
        <p:spPr>
          <a:xfrm>
            <a:off x="640080" y="1463040"/>
            <a:ext cx="5349240" cy="1600200"/>
          </a:xfrm>
          <a:prstGeom prst="roundRect">
            <a:avLst>
              <a:gd name="adj" fmla="val 5143"/>
            </a:avLst>
          </a:prstGeom>
          <a:solidFill>
            <a:srgbClr val="F7F5F0"/>
          </a:solidFill>
          <a:ln w="12700">
            <a:solidFill>
              <a:srgbClr val="F7F5F0"/>
            </a:solidFill>
            <a:prstDash val="solid"/>
          </a:ln>
        </p:spPr>
      </p:sp>
      <p:sp>
        <p:nvSpPr>
          <p:cNvPr id="15" name="Text 12"/>
          <p:cNvSpPr/>
          <p:nvPr/>
        </p:nvSpPr>
        <p:spPr>
          <a:xfrm>
            <a:off x="914400" y="162763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First drafts</a:t>
            </a:r>
            <a:endParaRPr lang="en-US" sz="2000" dirty="0"/>
          </a:p>
        </p:txBody>
      </p:sp>
      <p:sp>
        <p:nvSpPr>
          <p:cNvPr id="16" name="Text 13"/>
          <p:cNvSpPr/>
          <p:nvPr/>
        </p:nvSpPr>
        <p:spPr>
          <a:xfrm>
            <a:off x="914400" y="208483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Parent newsletters, routine emails, letters home</a:t>
            </a:r>
            <a:endParaRPr lang="en-US" sz="1600" dirty="0"/>
          </a:p>
        </p:txBody>
      </p:sp>
      <p:sp>
        <p:nvSpPr>
          <p:cNvPr id="17" name="Shape 14"/>
          <p:cNvSpPr/>
          <p:nvPr/>
        </p:nvSpPr>
        <p:spPr>
          <a:xfrm>
            <a:off x="6263640" y="1463040"/>
            <a:ext cx="5349240" cy="1600200"/>
          </a:xfrm>
          <a:prstGeom prst="roundRect">
            <a:avLst>
              <a:gd name="adj" fmla="val 5143"/>
            </a:avLst>
          </a:prstGeom>
          <a:solidFill>
            <a:srgbClr val="F7F5F0"/>
          </a:solidFill>
          <a:ln w="12700">
            <a:solidFill>
              <a:srgbClr val="F7F5F0"/>
            </a:solidFill>
            <a:prstDash val="solid"/>
          </a:ln>
        </p:spPr>
      </p:sp>
      <p:sp>
        <p:nvSpPr>
          <p:cNvPr id="18" name="Text 15"/>
          <p:cNvSpPr/>
          <p:nvPr/>
        </p:nvSpPr>
        <p:spPr>
          <a:xfrm>
            <a:off x="6537960" y="162763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Differentiation</a:t>
            </a:r>
            <a:endParaRPr lang="en-US" sz="2000" dirty="0"/>
          </a:p>
        </p:txBody>
      </p:sp>
      <p:sp>
        <p:nvSpPr>
          <p:cNvPr id="19" name="Text 16"/>
          <p:cNvSpPr/>
          <p:nvPr/>
        </p:nvSpPr>
        <p:spPr>
          <a:xfrm>
            <a:off x="6537960" y="208483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passage → three reading levels in a minute</a:t>
            </a:r>
            <a:endParaRPr lang="en-US" sz="1600" dirty="0"/>
          </a:p>
        </p:txBody>
      </p:sp>
      <p:sp>
        <p:nvSpPr>
          <p:cNvPr id="20" name="Shape 17"/>
          <p:cNvSpPr/>
          <p:nvPr/>
        </p:nvSpPr>
        <p:spPr>
          <a:xfrm>
            <a:off x="640080" y="3246120"/>
            <a:ext cx="5349240" cy="1600200"/>
          </a:xfrm>
          <a:prstGeom prst="roundRect">
            <a:avLst>
              <a:gd name="adj" fmla="val 5143"/>
            </a:avLst>
          </a:prstGeom>
          <a:solidFill>
            <a:srgbClr val="F7F5F0"/>
          </a:solidFill>
          <a:ln w="12700">
            <a:solidFill>
              <a:srgbClr val="F7F5F0"/>
            </a:solidFill>
            <a:prstDash val="solid"/>
          </a:ln>
        </p:spPr>
      </p:sp>
      <p:sp>
        <p:nvSpPr>
          <p:cNvPr id="21" name="Text 18"/>
          <p:cNvSpPr/>
          <p:nvPr/>
        </p:nvSpPr>
        <p:spPr>
          <a:xfrm>
            <a:off x="914400" y="341071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Assessment scaffolds</a:t>
            </a:r>
            <a:endParaRPr lang="en-US" sz="2000" dirty="0"/>
          </a:p>
        </p:txBody>
      </p:sp>
      <p:sp>
        <p:nvSpPr>
          <p:cNvPr id="22" name="Text 19"/>
          <p:cNvSpPr/>
          <p:nvPr/>
        </p:nvSpPr>
        <p:spPr>
          <a:xfrm>
            <a:off x="914400" y="386791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Your notes → rubrics, word banks, question sets</a:t>
            </a:r>
            <a:endParaRPr lang="en-US" sz="1600" dirty="0"/>
          </a:p>
        </p:txBody>
      </p:sp>
      <p:sp>
        <p:nvSpPr>
          <p:cNvPr id="23" name="Shape 20"/>
          <p:cNvSpPr/>
          <p:nvPr/>
        </p:nvSpPr>
        <p:spPr>
          <a:xfrm>
            <a:off x="6263640" y="3246120"/>
            <a:ext cx="5349240" cy="1600200"/>
          </a:xfrm>
          <a:prstGeom prst="roundRect">
            <a:avLst>
              <a:gd name="adj" fmla="val 5143"/>
            </a:avLst>
          </a:prstGeom>
          <a:solidFill>
            <a:srgbClr val="F7F5F0"/>
          </a:solidFill>
          <a:ln w="12700">
            <a:solidFill>
              <a:srgbClr val="F7F5F0"/>
            </a:solidFill>
            <a:prstDash val="solid"/>
          </a:ln>
        </p:spPr>
      </p:sp>
      <p:sp>
        <p:nvSpPr>
          <p:cNvPr id="24" name="Text 21"/>
          <p:cNvSpPr/>
          <p:nvPr/>
        </p:nvSpPr>
        <p:spPr>
          <a:xfrm>
            <a:off x="6537960" y="341071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Reformatting</a:t>
            </a:r>
            <a:endParaRPr lang="en-US" sz="2000" dirty="0"/>
          </a:p>
        </p:txBody>
      </p:sp>
      <p:sp>
        <p:nvSpPr>
          <p:cNvPr id="25" name="Text 22"/>
          <p:cNvSpPr/>
          <p:nvPr/>
        </p:nvSpPr>
        <p:spPr>
          <a:xfrm>
            <a:off x="6537960" y="386791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Same content as a quiz, a table, station cards</a:t>
            </a:r>
            <a:endParaRPr lang="en-US" sz="1600" dirty="0"/>
          </a:p>
        </p:txBody>
      </p:sp>
      <p:sp>
        <p:nvSpPr>
          <p:cNvPr id="26" name="Text 23"/>
          <p:cNvSpPr/>
          <p:nvPr/>
        </p:nvSpPr>
        <p:spPr>
          <a:xfrm>
            <a:off x="640080" y="5166360"/>
            <a:ext cx="10972800" cy="73152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Teachers who use AI weekly report saving ~5.9 hours a week: the paperwork part of the job, not the teaching part. (Gallup &amp; Walton Family Foundation, 2025)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Hers alone: knowing her kids, checking facts, caring.</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 PURPOSE, FOREVER</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it can’t do, at any price</a:t>
            </a:r>
            <a:endParaRPr lang="en-US" sz="3200" dirty="0"/>
          </a:p>
        </p:txBody>
      </p:sp>
      <p:sp>
        <p:nvSpPr>
          <p:cNvPr id="14" name="Text 11"/>
          <p:cNvSpPr/>
          <p:nvPr/>
        </p:nvSpPr>
        <p:spPr>
          <a:xfrm>
            <a:off x="640080" y="1463040"/>
            <a:ext cx="10908792" cy="265176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Know your students: that this class shuts down after lunch, that this kid needs a win today</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Verify its own facts (that’s you)</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Care: it produces text, not judgment, and not relationships</a:t>
            </a:r>
            <a:endParaRPr lang="en-US" sz="2100" dirty="0"/>
          </a:p>
        </p:txBody>
      </p:sp>
      <p:sp>
        <p:nvSpPr>
          <p:cNvPr id="15" name="Shape 12"/>
          <p:cNvSpPr/>
          <p:nvPr/>
        </p:nvSpPr>
        <p:spPr>
          <a:xfrm>
            <a:off x="640080" y="4206240"/>
            <a:ext cx="10972800" cy="1554480"/>
          </a:xfrm>
          <a:prstGeom prst="roundRect">
            <a:avLst>
              <a:gd name="adj" fmla="val 5294"/>
            </a:avLst>
          </a:prstGeom>
          <a:solidFill>
            <a:srgbClr val="EAF5F3"/>
          </a:solidFill>
          <a:ln w="12700">
            <a:solidFill>
              <a:srgbClr val="EAF5F3"/>
            </a:solidFill>
            <a:prstDash val="solid"/>
          </a:ln>
        </p:spPr>
      </p:sp>
      <p:sp>
        <p:nvSpPr>
          <p:cNvPr id="16" name="Text 13"/>
          <p:cNvSpPr/>
          <p:nvPr/>
        </p:nvSpPr>
        <p:spPr>
          <a:xfrm>
            <a:off x="960120" y="4389120"/>
            <a:ext cx="10332720" cy="118872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Everything on this slide is your job on purpose. The tool buys back time FOR this list; it never takes this list away.</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10</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line, memorized: no student PII in a public AI tool. Ever.</a:t>
            </a:r>
            <a:endParaRPr lang="en-US" sz="1000" dirty="0"/>
          </a:p>
        </p:txBody>
      </p:sp>
      <p:sp>
        <p:nvSpPr>
          <p:cNvPr id="12" name="Text 9"/>
          <p:cNvSpPr/>
          <p:nvPr/>
        </p:nvSpPr>
        <p:spPr>
          <a:xfrm>
            <a:off x="640080" y="1234440"/>
            <a:ext cx="10972800" cy="457200"/>
          </a:xfrm>
          <a:prstGeom prst="rect">
            <a:avLst/>
          </a:prstGeom>
          <a:noFill/>
          <a:ln/>
        </p:spPr>
        <p:txBody>
          <a:bodyPr wrap="square" lIns="0" tIns="0" rIns="0" bIns="0" rtlCol="0" anchor="ctr"/>
          <a:lstStyle/>
          <a:p>
            <a:pPr algn="ctr" indent="0" marL="0">
              <a:buNone/>
            </a:pPr>
            <a:r>
              <a:rPr lang="en-US" sz="1800" b="1" spc="400" kern="0" dirty="0">
                <a:solidFill>
                  <a:srgbClr val="F4A825"/>
                </a:solidFill>
                <a:latin typeface="Inter" pitchFamily="34" charset="0"/>
                <a:ea typeface="Inter" pitchFamily="34" charset="-122"/>
                <a:cs typeface="Inter" pitchFamily="34" charset="-120"/>
              </a:rPr>
              <a:t>THE ONE HARD RULE</a:t>
            </a:r>
            <a:endParaRPr lang="en-US" sz="1800" dirty="0"/>
          </a:p>
        </p:txBody>
      </p:sp>
      <p:sp>
        <p:nvSpPr>
          <p:cNvPr id="13" name="Text 10"/>
          <p:cNvSpPr/>
          <p:nvPr/>
        </p:nvSpPr>
        <p:spPr>
          <a:xfrm>
            <a:off x="914400" y="1965960"/>
            <a:ext cx="10332720" cy="2103120"/>
          </a:xfrm>
          <a:prstGeom prst="rect">
            <a:avLst/>
          </a:prstGeom>
          <a:noFill/>
          <a:ln/>
        </p:spPr>
        <p:txBody>
          <a:bodyPr wrap="square" lIns="0" tIns="0" rIns="0" bIns="0" rtlCol="0" anchor="ctr"/>
          <a:lstStyle/>
          <a:p>
            <a:pPr algn="ctr" indent="0" marL="0">
              <a:lnSpc>
                <a:spcPct val="110000"/>
              </a:lnSpc>
              <a:buNone/>
            </a:pPr>
            <a:r>
              <a:rPr lang="en-US" sz="4000" b="1" dirty="0">
                <a:solidFill>
                  <a:srgbClr val="FFFFFF"/>
                </a:solidFill>
                <a:latin typeface="Inter" pitchFamily="34" charset="0"/>
                <a:ea typeface="Inter" pitchFamily="34" charset="-122"/>
                <a:cs typeface="Inter" pitchFamily="34" charset="-120"/>
              </a:rPr>
              <a:t>Never put student personally identifiable information into a public AI tool.</a:t>
            </a:r>
            <a:endParaRPr lang="en-US" sz="4000" dirty="0"/>
          </a:p>
        </p:txBody>
      </p:sp>
      <p:sp>
        <p:nvSpPr>
          <p:cNvPr id="14" name="Text 11"/>
          <p:cNvSpPr/>
          <p:nvPr/>
        </p:nvSpPr>
        <p:spPr>
          <a:xfrm>
            <a:off x="914400" y="4343400"/>
            <a:ext cx="10332720" cy="640080"/>
          </a:xfrm>
          <a:prstGeom prst="rect">
            <a:avLst/>
          </a:prstGeom>
          <a:noFill/>
          <a:ln/>
        </p:spPr>
        <p:txBody>
          <a:bodyPr wrap="square" lIns="0" tIns="0" rIns="0" bIns="0" rtlCol="0" anchor="ctr"/>
          <a:lstStyle/>
          <a:p>
            <a:pPr algn="ctr" indent="0" marL="0">
              <a:buNone/>
            </a:pPr>
            <a:r>
              <a:rPr lang="en-US" sz="2400" b="1" dirty="0">
                <a:solidFill>
                  <a:srgbClr val="2A9D8F"/>
                </a:solidFill>
                <a:latin typeface="Inter" pitchFamily="34" charset="0"/>
                <a:ea typeface="Inter" pitchFamily="34" charset="-122"/>
                <a:cs typeface="Inter" pitchFamily="34" charset="-120"/>
              </a:rPr>
              <a:t>Not a name. Not a detail that could identify a child. Ever.</a:t>
            </a:r>
            <a:endParaRPr lang="en-US" sz="2400" dirty="0"/>
          </a:p>
        </p:txBody>
      </p:sp>
      <p:sp>
        <p:nvSpPr>
          <p:cNvPr id="15" name="Text 12"/>
          <p:cNvSpPr/>
          <p:nvPr/>
        </p:nvSpPr>
        <p:spPr>
          <a:xfrm>
            <a:off x="1463040" y="5257800"/>
            <a:ext cx="9235440" cy="731520"/>
          </a:xfrm>
          <a:prstGeom prst="rect">
            <a:avLst/>
          </a:prstGeom>
          <a:noFill/>
          <a:ln/>
        </p:spPr>
        <p:txBody>
          <a:bodyPr wrap="square" lIns="0" tIns="0" rIns="0" bIns="0" rtlCol="0" anchor="ctr"/>
          <a:lstStyle/>
          <a:p>
            <a:pPr algn="ctr" indent="0" marL="0">
              <a:buNone/>
            </a:pPr>
            <a:r>
              <a:rPr lang="en-US" sz="1600" dirty="0">
                <a:solidFill>
                  <a:srgbClr val="C9D4DE"/>
                </a:solidFill>
                <a:latin typeface="Inter" pitchFamily="34" charset="0"/>
                <a:ea typeface="Inter" pitchFamily="34" charset="-122"/>
                <a:cs typeface="Inter" pitchFamily="34" charset="-120"/>
              </a:rPr>
              <a:t>Every other AI choice is a judgment call you’re qualified to make. This one isn’t a judgment call. It’s the line.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checklist: names, IDs, grades, IEPs, health, family details. All out.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RULE, MADE CONCRETE</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counts as student PII</a:t>
            </a:r>
            <a:endParaRPr lang="en-US" sz="3200" dirty="0"/>
          </a:p>
        </p:txBody>
      </p:sp>
      <p:sp>
        <p:nvSpPr>
          <p:cNvPr id="14" name="Shape 11"/>
          <p:cNvSpPr/>
          <p:nvPr/>
        </p:nvSpPr>
        <p:spPr>
          <a:xfrm>
            <a:off x="640080" y="1463040"/>
            <a:ext cx="5394960" cy="4206240"/>
          </a:xfrm>
          <a:prstGeom prst="roundRect">
            <a:avLst>
              <a:gd name="adj" fmla="val 1957"/>
            </a:avLst>
          </a:prstGeom>
          <a:solidFill>
            <a:srgbClr val="F7F5F0"/>
          </a:solidFill>
          <a:ln w="12700">
            <a:solidFill>
              <a:srgbClr val="F7F5F0"/>
            </a:solidFill>
            <a:prstDash val="solid"/>
          </a:ln>
        </p:spPr>
      </p:sp>
      <p:sp>
        <p:nvSpPr>
          <p:cNvPr id="15" name="Text 12"/>
          <p:cNvSpPr/>
          <p:nvPr/>
        </p:nvSpPr>
        <p:spPr>
          <a:xfrm>
            <a:off x="96012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From records</a:t>
            </a:r>
            <a:endParaRPr lang="en-US" sz="2000" dirty="0"/>
          </a:p>
        </p:txBody>
      </p:sp>
      <p:sp>
        <p:nvSpPr>
          <p:cNvPr id="16" name="Text 13"/>
          <p:cNvSpPr/>
          <p:nvPr/>
        </p:nvSpPr>
        <p:spPr>
          <a:xfrm>
            <a:off x="960120" y="2240280"/>
            <a:ext cx="4846320" cy="3200400"/>
          </a:xfrm>
          <a:prstGeom prst="rect">
            <a:avLst/>
          </a:prstGeom>
          <a:noFill/>
          <a:ln/>
        </p:spPr>
        <p:txBody>
          <a:bodyPr wrap="square" rtlCol="0" anchor="t"/>
          <a:lstStyle/>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Names, initials, photos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Student ID numbers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Grades &amp; test scores tied to a student</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IEP / 504 contents &amp; accommodations</a:t>
            </a:r>
            <a:endParaRPr lang="en-US" sz="1900" dirty="0"/>
          </a:p>
        </p:txBody>
      </p:sp>
      <p:sp>
        <p:nvSpPr>
          <p:cNvPr id="17" name="Shape 14"/>
          <p:cNvSpPr/>
          <p:nvPr/>
        </p:nvSpPr>
        <p:spPr>
          <a:xfrm>
            <a:off x="6263640" y="1463040"/>
            <a:ext cx="5394960" cy="4206240"/>
          </a:xfrm>
          <a:prstGeom prst="roundRect">
            <a:avLst>
              <a:gd name="adj" fmla="val 1957"/>
            </a:avLst>
          </a:prstGeom>
          <a:solidFill>
            <a:srgbClr val="F7F5F0"/>
          </a:solidFill>
          <a:ln w="12700">
            <a:solidFill>
              <a:srgbClr val="F7F5F0"/>
            </a:solidFill>
            <a:prstDash val="solid"/>
          </a:ln>
        </p:spPr>
      </p:sp>
      <p:sp>
        <p:nvSpPr>
          <p:cNvPr id="18" name="Text 15"/>
          <p:cNvSpPr/>
          <p:nvPr/>
        </p:nvSpPr>
        <p:spPr>
          <a:xfrm>
            <a:off x="658368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About a child</a:t>
            </a:r>
            <a:endParaRPr lang="en-US" sz="2000" dirty="0"/>
          </a:p>
        </p:txBody>
      </p:sp>
      <p:sp>
        <p:nvSpPr>
          <p:cNvPr id="19" name="Text 16"/>
          <p:cNvSpPr/>
          <p:nvPr/>
        </p:nvSpPr>
        <p:spPr>
          <a:xfrm>
            <a:off x="6583680" y="2240280"/>
            <a:ext cx="4846320" cy="3200400"/>
          </a:xfrm>
          <a:prstGeom prst="rect">
            <a:avLst/>
          </a:prstGeom>
          <a:noFill/>
          <a:ln/>
        </p:spPr>
        <p:txBody>
          <a:bodyPr wrap="square" rtlCol="0" anchor="t"/>
          <a:lstStyle/>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Discipline history</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Health or diagnosis information</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Family details, addresses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Anything about an identifiable student</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test before typing: could anyone who knows our school tell who this is?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WELL-MEANING PEOPLE SLIP</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sneaky ones</a:t>
            </a:r>
            <a:endParaRPr lang="en-US" sz="3200" dirty="0"/>
          </a:p>
        </p:txBody>
      </p:sp>
      <p:sp>
        <p:nvSpPr>
          <p:cNvPr id="14" name="Shape 11"/>
          <p:cNvSpPr/>
          <p:nvPr/>
        </p:nvSpPr>
        <p:spPr>
          <a:xfrm>
            <a:off x="640080" y="1417320"/>
            <a:ext cx="6766560" cy="1051560"/>
          </a:xfrm>
          <a:prstGeom prst="roundRect">
            <a:avLst>
              <a:gd name="adj" fmla="val 7826"/>
            </a:avLst>
          </a:prstGeom>
          <a:solidFill>
            <a:srgbClr val="F7F5F0"/>
          </a:solidFill>
          <a:ln w="12700">
            <a:solidFill>
              <a:srgbClr val="F7F5F0"/>
            </a:solidFill>
            <a:prstDash val="solid"/>
          </a:ln>
        </p:spPr>
      </p:sp>
      <p:sp>
        <p:nvSpPr>
          <p:cNvPr id="15" name="Text 12"/>
          <p:cNvSpPr/>
          <p:nvPr/>
        </p:nvSpPr>
        <p:spPr>
          <a:xfrm>
            <a:off x="914400" y="1527048"/>
            <a:ext cx="6309360" cy="82296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"J.M. in my 3rd period with the anxiety diagnosis"</a:t>
            </a:r>
            <a:endParaRPr lang="en-US" sz="1700" dirty="0"/>
          </a:p>
        </p:txBody>
      </p:sp>
      <p:sp>
        <p:nvSpPr>
          <p:cNvPr id="16" name="Text 13"/>
          <p:cNvSpPr/>
          <p:nvPr/>
        </p:nvSpPr>
        <p:spPr>
          <a:xfrm>
            <a:off x="7635240" y="1527048"/>
            <a:ext cx="3931920" cy="822960"/>
          </a:xfrm>
          <a:prstGeom prst="rect">
            <a:avLst/>
          </a:prstGeom>
          <a:noFill/>
          <a:ln/>
        </p:spPr>
        <p:txBody>
          <a:bodyPr wrap="square" lIns="0" tIns="0" rIns="0" bIns="0" rtlCol="0" anchor="ctr"/>
          <a:lstStyle/>
          <a:p>
            <a:pPr indent="0" marL="0">
              <a:buNone/>
            </a:pPr>
            <a:r>
              <a:rPr lang="en-US" sz="1500" dirty="0">
                <a:solidFill>
                  <a:srgbClr val="B4453A"/>
                </a:solidFill>
                <a:latin typeface="Inter" pitchFamily="34" charset="0"/>
                <a:ea typeface="Inter" pitchFamily="34" charset="-122"/>
                <a:cs typeface="Inter" pitchFamily="34" charset="-120"/>
              </a:rPr>
              <a:t>Initials + context = identifiable</a:t>
            </a:r>
            <a:endParaRPr lang="en-US" sz="1500" dirty="0"/>
          </a:p>
        </p:txBody>
      </p:sp>
      <p:sp>
        <p:nvSpPr>
          <p:cNvPr id="17" name="Shape 14"/>
          <p:cNvSpPr/>
          <p:nvPr/>
        </p:nvSpPr>
        <p:spPr>
          <a:xfrm>
            <a:off x="640080" y="2651760"/>
            <a:ext cx="6766560" cy="1051560"/>
          </a:xfrm>
          <a:prstGeom prst="roundRect">
            <a:avLst>
              <a:gd name="adj" fmla="val 7826"/>
            </a:avLst>
          </a:prstGeom>
          <a:solidFill>
            <a:srgbClr val="F7F5F0"/>
          </a:solidFill>
          <a:ln w="12700">
            <a:solidFill>
              <a:srgbClr val="F7F5F0"/>
            </a:solidFill>
            <a:prstDash val="solid"/>
          </a:ln>
        </p:spPr>
      </p:sp>
      <p:sp>
        <p:nvSpPr>
          <p:cNvPr id="18" name="Text 15"/>
          <p:cNvSpPr/>
          <p:nvPr/>
        </p:nvSpPr>
        <p:spPr>
          <a:xfrm>
            <a:off x="914400" y="2761488"/>
            <a:ext cx="6309360" cy="82296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"The only 7th grader who uses a wheelchair"</a:t>
            </a:r>
            <a:endParaRPr lang="en-US" sz="1700" dirty="0"/>
          </a:p>
        </p:txBody>
      </p:sp>
      <p:sp>
        <p:nvSpPr>
          <p:cNvPr id="19" name="Text 16"/>
          <p:cNvSpPr/>
          <p:nvPr/>
        </p:nvSpPr>
        <p:spPr>
          <a:xfrm>
            <a:off x="7635240" y="2761488"/>
            <a:ext cx="3931920" cy="822960"/>
          </a:xfrm>
          <a:prstGeom prst="rect">
            <a:avLst/>
          </a:prstGeom>
          <a:noFill/>
          <a:ln/>
        </p:spPr>
        <p:txBody>
          <a:bodyPr wrap="square" lIns="0" tIns="0" rIns="0" bIns="0" rtlCol="0" anchor="ctr"/>
          <a:lstStyle/>
          <a:p>
            <a:pPr indent="0" marL="0">
              <a:buNone/>
            </a:pPr>
            <a:r>
              <a:rPr lang="en-US" sz="1500" dirty="0">
                <a:solidFill>
                  <a:srgbClr val="B4453A"/>
                </a:solidFill>
                <a:latin typeface="Inter" pitchFamily="34" charset="0"/>
                <a:ea typeface="Inter" pitchFamily="34" charset="-122"/>
                <a:cs typeface="Inter" pitchFamily="34" charset="-120"/>
              </a:rPr>
              <a:t>One-of-a-kind details identify without a name</a:t>
            </a:r>
            <a:endParaRPr lang="en-US" sz="1500" dirty="0"/>
          </a:p>
        </p:txBody>
      </p:sp>
      <p:sp>
        <p:nvSpPr>
          <p:cNvPr id="20" name="Shape 17"/>
          <p:cNvSpPr/>
          <p:nvPr/>
        </p:nvSpPr>
        <p:spPr>
          <a:xfrm>
            <a:off x="640080" y="3886200"/>
            <a:ext cx="6766560" cy="1051560"/>
          </a:xfrm>
          <a:prstGeom prst="roundRect">
            <a:avLst>
              <a:gd name="adj" fmla="val 7826"/>
            </a:avLst>
          </a:prstGeom>
          <a:solidFill>
            <a:srgbClr val="F7F5F0"/>
          </a:solidFill>
          <a:ln w="12700">
            <a:solidFill>
              <a:srgbClr val="F7F5F0"/>
            </a:solidFill>
            <a:prstDash val="solid"/>
          </a:ln>
        </p:spPr>
      </p:sp>
      <p:sp>
        <p:nvSpPr>
          <p:cNvPr id="21" name="Text 18"/>
          <p:cNvSpPr/>
          <p:nvPr/>
        </p:nvSpPr>
        <p:spPr>
          <a:xfrm>
            <a:off x="914400" y="3995928"/>
            <a:ext cx="6309360" cy="82296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"The new student who just arrived from Ukraine"</a:t>
            </a:r>
            <a:endParaRPr lang="en-US" sz="1700" dirty="0"/>
          </a:p>
        </p:txBody>
      </p:sp>
      <p:sp>
        <p:nvSpPr>
          <p:cNvPr id="22" name="Text 19"/>
          <p:cNvSpPr/>
          <p:nvPr/>
        </p:nvSpPr>
        <p:spPr>
          <a:xfrm>
            <a:off x="7635240" y="3995928"/>
            <a:ext cx="3931920" cy="822960"/>
          </a:xfrm>
          <a:prstGeom prst="rect">
            <a:avLst/>
          </a:prstGeom>
          <a:noFill/>
          <a:ln/>
        </p:spPr>
        <p:txBody>
          <a:bodyPr wrap="square" lIns="0" tIns="0" rIns="0" bIns="0" rtlCol="0" anchor="ctr"/>
          <a:lstStyle/>
          <a:p>
            <a:pPr indent="0" marL="0">
              <a:buNone/>
            </a:pPr>
            <a:r>
              <a:rPr lang="en-US" sz="1500" dirty="0">
                <a:solidFill>
                  <a:srgbClr val="B4453A"/>
                </a:solidFill>
                <a:latin typeface="Inter" pitchFamily="34" charset="0"/>
                <a:ea typeface="Inter" pitchFamily="34" charset="-122"/>
                <a:cs typeface="Inter" pitchFamily="34" charset="-120"/>
              </a:rPr>
              <a:t>Rare circumstance = identifiable in your school</a:t>
            </a:r>
            <a:endParaRPr lang="en-US" sz="1500" dirty="0"/>
          </a:p>
        </p:txBody>
      </p:sp>
      <p:sp>
        <p:nvSpPr>
          <p:cNvPr id="23" name="Shape 20"/>
          <p:cNvSpPr/>
          <p:nvPr/>
        </p:nvSpPr>
        <p:spPr>
          <a:xfrm>
            <a:off x="640080" y="5257800"/>
            <a:ext cx="10972800" cy="914400"/>
          </a:xfrm>
          <a:prstGeom prst="roundRect">
            <a:avLst>
              <a:gd name="adj" fmla="val 9000"/>
            </a:avLst>
          </a:prstGeom>
          <a:solidFill>
            <a:srgbClr val="13293D"/>
          </a:solidFill>
          <a:ln w="12700">
            <a:solidFill>
              <a:srgbClr val="13293D"/>
            </a:solidFill>
            <a:prstDash val="solid"/>
          </a:ln>
        </p:spPr>
      </p:sp>
      <p:sp>
        <p:nvSpPr>
          <p:cNvPr id="24" name="Text 21"/>
          <p:cNvSpPr/>
          <p:nvPr/>
        </p:nvSpPr>
        <p:spPr>
          <a:xfrm>
            <a:off x="960120" y="5349240"/>
            <a:ext cx="10332720" cy="731520"/>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The test: could anyone who knows our school figure out who this is?  If yes, it doesn’t go in.</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why: FERPA, plus a text box that makes oversharing effortless.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LEGAL REASON, ONE PRACTICAL REASON</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Why the rule exists</a:t>
            </a:r>
            <a:endParaRPr lang="en-US" sz="3200" dirty="0"/>
          </a:p>
        </p:txBody>
      </p:sp>
      <p:sp>
        <p:nvSpPr>
          <p:cNvPr id="14" name="Shape 11"/>
          <p:cNvSpPr/>
          <p:nvPr/>
        </p:nvSpPr>
        <p:spPr>
          <a:xfrm>
            <a:off x="640080" y="1463040"/>
            <a:ext cx="5394960" cy="4114800"/>
          </a:xfrm>
          <a:prstGeom prst="roundRect">
            <a:avLst>
              <a:gd name="adj" fmla="val 2000"/>
            </a:avLst>
          </a:prstGeom>
          <a:solidFill>
            <a:srgbClr val="F7F5F0"/>
          </a:solidFill>
          <a:ln w="12700">
            <a:solidFill>
              <a:srgbClr val="F7F5F0"/>
            </a:solidFill>
            <a:prstDash val="solid"/>
          </a:ln>
        </p:spPr>
      </p:sp>
      <p:sp>
        <p:nvSpPr>
          <p:cNvPr id="15" name="Text 12"/>
          <p:cNvSpPr/>
          <p:nvPr/>
        </p:nvSpPr>
        <p:spPr>
          <a:xfrm>
            <a:off x="96012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Legal</a:t>
            </a:r>
            <a:endParaRPr lang="en-US" sz="2000" dirty="0"/>
          </a:p>
        </p:txBody>
      </p:sp>
      <p:sp>
        <p:nvSpPr>
          <p:cNvPr id="16" name="Text 13"/>
          <p:cNvSpPr/>
          <p:nvPr/>
        </p:nvSpPr>
        <p:spPr>
          <a:xfrm>
            <a:off x="960120" y="2194560"/>
            <a:ext cx="4846320" cy="3108960"/>
          </a:xfrm>
          <a:prstGeom prst="rect">
            <a:avLst/>
          </a:prstGeom>
          <a:noFill/>
          <a:ln/>
        </p:spPr>
        <p:txBody>
          <a:bodyPr wrap="square" lIns="0" tIns="0" rIns="0" bIns="0" rtlCol="0" anchor="t"/>
          <a:lstStyle/>
          <a:p>
            <a:pPr indent="0" marL="0">
              <a:buNone/>
            </a:pPr>
            <a:r>
              <a:rPr lang="en-US" sz="1700" dirty="0">
                <a:solidFill>
                  <a:srgbClr val="1B1F24"/>
                </a:solidFill>
                <a:latin typeface="Inter" pitchFamily="34" charset="0"/>
                <a:ea typeface="Inter" pitchFamily="34" charset="-122"/>
                <a:cs typeface="Inter" pitchFamily="34" charset="-120"/>
              </a:rPr>
              <a:t>FERPA protects student education records, and schools answer for how record information is shared. A public AI tool is a third party with no agreement with our district. Where typed data goes depends on terms of service that change without asking us.</a:t>
            </a:r>
            <a:endParaRPr lang="en-US" sz="1700" dirty="0"/>
          </a:p>
        </p:txBody>
      </p:sp>
      <p:sp>
        <p:nvSpPr>
          <p:cNvPr id="17" name="Shape 14"/>
          <p:cNvSpPr/>
          <p:nvPr/>
        </p:nvSpPr>
        <p:spPr>
          <a:xfrm>
            <a:off x="6263640" y="1463040"/>
            <a:ext cx="5394960" cy="4114800"/>
          </a:xfrm>
          <a:prstGeom prst="roundRect">
            <a:avLst>
              <a:gd name="adj" fmla="val 2000"/>
            </a:avLst>
          </a:prstGeom>
          <a:solidFill>
            <a:srgbClr val="F7F5F0"/>
          </a:solidFill>
          <a:ln w="12700">
            <a:solidFill>
              <a:srgbClr val="F7F5F0"/>
            </a:solidFill>
            <a:prstDash val="solid"/>
          </a:ln>
        </p:spPr>
      </p:sp>
      <p:sp>
        <p:nvSpPr>
          <p:cNvPr id="18" name="Text 15"/>
          <p:cNvSpPr/>
          <p:nvPr/>
        </p:nvSpPr>
        <p:spPr>
          <a:xfrm>
            <a:off x="6583680" y="1691640"/>
            <a:ext cx="475488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Practical</a:t>
            </a:r>
            <a:endParaRPr lang="en-US" sz="2000" dirty="0"/>
          </a:p>
        </p:txBody>
      </p:sp>
      <p:sp>
        <p:nvSpPr>
          <p:cNvPr id="19" name="Text 16"/>
          <p:cNvSpPr/>
          <p:nvPr/>
        </p:nvSpPr>
        <p:spPr>
          <a:xfrm>
            <a:off x="6583680" y="2194560"/>
            <a:ext cx="4846320" cy="3108960"/>
          </a:xfrm>
          <a:prstGeom prst="rect">
            <a:avLst/>
          </a:prstGeom>
          <a:noFill/>
          <a:ln/>
        </p:spPr>
        <p:txBody>
          <a:bodyPr wrap="square" lIns="0" tIns="0" rIns="0" bIns="0" rtlCol="0" anchor="t"/>
          <a:lstStyle/>
          <a:p>
            <a:pPr indent="0" marL="0">
              <a:buNone/>
            </a:pPr>
            <a:r>
              <a:rPr lang="en-US" sz="1700" dirty="0">
                <a:solidFill>
                  <a:srgbClr val="1B1F24"/>
                </a:solidFill>
                <a:latin typeface="Inter" pitchFamily="34" charset="0"/>
                <a:ea typeface="Inter" pitchFamily="34" charset="-122"/>
                <a:cs typeface="Inter" pitchFamily="34" charset="-120"/>
              </a:rPr>
              <a:t>An open chat box makes oversharing effortless; privacy researchers flag exactly this. And nobody in this room wants to be the example in the district’s cautionary email. One rule, followed always, means that’s never you.</a:t>
            </a:r>
            <a:endParaRPr lang="en-US" sz="1700" dirty="0"/>
          </a:p>
        </p:txBody>
      </p:sp>
      <p:sp>
        <p:nvSpPr>
          <p:cNvPr id="20" name="Text 17"/>
          <p:cNvSpPr/>
          <p:nvPr/>
        </p:nvSpPr>
        <p:spPr>
          <a:xfrm>
            <a:off x="640080" y="5715000"/>
            <a:ext cx="10972800" cy="365760"/>
          </a:xfrm>
          <a:prstGeom prst="rect">
            <a:avLst/>
          </a:prstGeom>
          <a:noFill/>
          <a:ln/>
        </p:spPr>
        <p:txBody>
          <a:bodyPr wrap="square" lIns="0" tIns="0" rIns="0" bIns="0" rtlCol="0" anchor="ctr"/>
          <a:lstStyle/>
          <a:p>
            <a:pPr algn="ctr" indent="0" marL="0">
              <a:buNone/>
            </a:pPr>
            <a:r>
              <a:rPr lang="en-US" sz="1300" i="1" dirty="0">
                <a:solidFill>
                  <a:srgbClr val="5B6B7A"/>
                </a:solidFill>
                <a:latin typeface="Inter" pitchFamily="34" charset="0"/>
                <a:ea typeface="Inter" pitchFamily="34" charset="-122"/>
                <a:cs typeface="Inter" pitchFamily="34" charset="-120"/>
              </a:rPr>
              <a:t>Educators sharing safe practice, not legal advice. District-specific questions go to the district office.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rule of thumb: every tool is public until the district says otherwise.</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SO THE RULE DOESN’T OVERREACH</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“Public tool” vs. district-approved tool</a:t>
            </a:r>
            <a:endParaRPr lang="en-US" sz="3200" dirty="0"/>
          </a:p>
        </p:txBody>
      </p:sp>
      <p:sp>
        <p:nvSpPr>
          <p:cNvPr id="14" name="Shape 11"/>
          <p:cNvSpPr/>
          <p:nvPr/>
        </p:nvSpPr>
        <p:spPr>
          <a:xfrm>
            <a:off x="640080" y="1463040"/>
            <a:ext cx="5394960" cy="3931920"/>
          </a:xfrm>
          <a:prstGeom prst="roundRect">
            <a:avLst>
              <a:gd name="adj" fmla="val 2093"/>
            </a:avLst>
          </a:prstGeom>
          <a:solidFill>
            <a:srgbClr val="F7F5F0"/>
          </a:solidFill>
          <a:ln w="12700">
            <a:solidFill>
              <a:srgbClr val="F7F5F0"/>
            </a:solidFill>
            <a:prstDash val="solid"/>
          </a:ln>
        </p:spPr>
      </p:sp>
      <p:sp>
        <p:nvSpPr>
          <p:cNvPr id="15" name="Text 12"/>
          <p:cNvSpPr/>
          <p:nvPr/>
        </p:nvSpPr>
        <p:spPr>
          <a:xfrm>
            <a:off x="960120" y="1691640"/>
            <a:ext cx="4754880" cy="411480"/>
          </a:xfrm>
          <a:prstGeom prst="rect">
            <a:avLst/>
          </a:prstGeom>
          <a:noFill/>
          <a:ln/>
        </p:spPr>
        <p:txBody>
          <a:bodyPr wrap="square" lIns="0" tIns="0" rIns="0" bIns="0" rtlCol="0" anchor="ctr"/>
          <a:lstStyle/>
          <a:p>
            <a:pPr indent="0" marL="0">
              <a:buNone/>
            </a:pPr>
            <a:r>
              <a:rPr lang="en-US" sz="2000" b="1" dirty="0">
                <a:solidFill>
                  <a:srgbClr val="B4453A"/>
                </a:solidFill>
                <a:latin typeface="Inter" pitchFamily="34" charset="0"/>
                <a:ea typeface="Inter" pitchFamily="34" charset="-122"/>
                <a:cs typeface="Inter" pitchFamily="34" charset="-120"/>
              </a:rPr>
              <a:t>Public tool</a:t>
            </a:r>
            <a:endParaRPr lang="en-US" sz="2000" dirty="0"/>
          </a:p>
        </p:txBody>
      </p:sp>
      <p:sp>
        <p:nvSpPr>
          <p:cNvPr id="16" name="Text 13"/>
          <p:cNvSpPr/>
          <p:nvPr/>
        </p:nvSpPr>
        <p:spPr>
          <a:xfrm>
            <a:off x="960120" y="2194560"/>
            <a:ext cx="4846320" cy="292608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Anything you signed up for yourself: free ChatGPT, Claude, Gemini, personal accounts.</a:t>
            </a:r>
            <a:endParaRPr lang="en-US" sz="1800" dirty="0"/>
          </a:p>
          <a:p>
            <a:pPr indent="0" marL="0">
              <a:buNone/>
            </a:pPr>
            <a:endParaRPr lang="en-US" sz="1800" dirty="0"/>
          </a:p>
          <a:p>
            <a:pPr indent="0" marL="0">
              <a:buNone/>
            </a:pPr>
            <a:r>
              <a:rPr lang="en-US" sz="1800" dirty="0">
                <a:solidFill>
                  <a:srgbClr val="1B1F24"/>
                </a:solidFill>
                <a:latin typeface="Inter" pitchFamily="34" charset="0"/>
                <a:ea typeface="Inter" pitchFamily="34" charset="-122"/>
                <a:cs typeface="Inter" pitchFamily="34" charset="-120"/>
              </a:rPr>
              <a:t>The One Hard Rule applies. Always.</a:t>
            </a:r>
            <a:endParaRPr lang="en-US" sz="1800" dirty="0"/>
          </a:p>
        </p:txBody>
      </p:sp>
      <p:sp>
        <p:nvSpPr>
          <p:cNvPr id="17" name="Shape 14"/>
          <p:cNvSpPr/>
          <p:nvPr/>
        </p:nvSpPr>
        <p:spPr>
          <a:xfrm>
            <a:off x="6263640" y="1463040"/>
            <a:ext cx="5394960" cy="3931920"/>
          </a:xfrm>
          <a:prstGeom prst="roundRect">
            <a:avLst>
              <a:gd name="adj" fmla="val 2093"/>
            </a:avLst>
          </a:prstGeom>
          <a:solidFill>
            <a:srgbClr val="F7F5F0"/>
          </a:solidFill>
          <a:ln w="12700">
            <a:solidFill>
              <a:srgbClr val="F7F5F0"/>
            </a:solidFill>
            <a:prstDash val="solid"/>
          </a:ln>
        </p:spPr>
      </p:sp>
      <p:sp>
        <p:nvSpPr>
          <p:cNvPr id="18" name="Text 15"/>
          <p:cNvSpPr/>
          <p:nvPr/>
        </p:nvSpPr>
        <p:spPr>
          <a:xfrm>
            <a:off x="6583680" y="1691640"/>
            <a:ext cx="4754880" cy="411480"/>
          </a:xfrm>
          <a:prstGeom prst="rect">
            <a:avLst/>
          </a:prstGeom>
          <a:noFill/>
          <a:ln/>
        </p:spPr>
        <p:txBody>
          <a:bodyPr wrap="square" lIns="0" tIns="0" rIns="0" bIns="0" rtlCol="0" anchor="ctr"/>
          <a:lstStyle/>
          <a:p>
            <a:pPr indent="0" marL="0">
              <a:buNone/>
            </a:pPr>
            <a:r>
              <a:rPr lang="en-US" sz="2000" b="1" dirty="0">
                <a:solidFill>
                  <a:srgbClr val="2E7D5B"/>
                </a:solidFill>
                <a:latin typeface="Inter" pitchFamily="34" charset="0"/>
                <a:ea typeface="Inter" pitchFamily="34" charset="-122"/>
                <a:cs typeface="Inter" pitchFamily="34" charset="-120"/>
              </a:rPr>
              <a:t>District-approved tool</a:t>
            </a:r>
            <a:endParaRPr lang="en-US" sz="2000" dirty="0"/>
          </a:p>
        </p:txBody>
      </p:sp>
      <p:sp>
        <p:nvSpPr>
          <p:cNvPr id="19" name="Text 16"/>
          <p:cNvSpPr/>
          <p:nvPr/>
        </p:nvSpPr>
        <p:spPr>
          <a:xfrm>
            <a:off x="6583680" y="2194560"/>
            <a:ext cx="4846320" cy="292608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Vetted by the district, with a signed student-data agreement.</a:t>
            </a:r>
            <a:endParaRPr lang="en-US" sz="1800" dirty="0"/>
          </a:p>
          <a:p>
            <a:pPr indent="0" marL="0">
              <a:buNone/>
            </a:pPr>
            <a:endParaRPr lang="en-US" sz="1800" dirty="0"/>
          </a:p>
          <a:p>
            <a:pPr indent="0" marL="0">
              <a:buNone/>
            </a:pPr>
            <a:r>
              <a:rPr lang="en-US" sz="1800" dirty="0">
                <a:solidFill>
                  <a:srgbClr val="1B1F24"/>
                </a:solidFill>
                <a:latin typeface="Inter" pitchFamily="34" charset="0"/>
                <a:ea typeface="Inter" pitchFamily="34" charset="-122"/>
                <a:cs typeface="Inter" pitchFamily="34" charset="-120"/>
              </a:rPr>
              <a:t>If we adopt one, you’ll be told explicitly what changes. Until you’re told: every tool is a public tool.</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relief: the work she wants help with never needed identities anyway.</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AND NOW THE GOOD NEWS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rule barely costs you anything</a:t>
            </a:r>
            <a:endParaRPr lang="en-US" sz="3200" dirty="0"/>
          </a:p>
        </p:txBody>
      </p:sp>
      <p:sp>
        <p:nvSpPr>
          <p:cNvPr id="14" name="Text 11"/>
          <p:cNvSpPr/>
          <p:nvPr/>
        </p:nvSpPr>
        <p:spPr>
          <a:xfrm>
            <a:off x="640080" y="1645920"/>
            <a:ext cx="10972800" cy="731520"/>
          </a:xfrm>
          <a:prstGeom prst="rect">
            <a:avLst/>
          </a:prstGeom>
          <a:noFill/>
          <a:ln/>
        </p:spPr>
        <p:txBody>
          <a:bodyPr wrap="square" lIns="0" tIns="0" rIns="0" bIns="0" rtlCol="0" anchor="ctr"/>
          <a:lstStyle/>
          <a:p>
            <a:pPr indent="0" marL="0">
              <a:buNone/>
            </a:pPr>
            <a:r>
              <a:rPr lang="en-US" sz="2400" dirty="0">
                <a:solidFill>
                  <a:srgbClr val="1B1F24"/>
                </a:solidFill>
                <a:latin typeface="Inter" pitchFamily="34" charset="0"/>
                <a:ea typeface="Inter" pitchFamily="34" charset="-122"/>
                <a:cs typeface="Inter" pitchFamily="34" charset="-120"/>
              </a:rPr>
              <a:t>Almost everything AI is useful for doesn’t need student identities at all.</a:t>
            </a:r>
            <a:endParaRPr lang="en-US" sz="2400" dirty="0"/>
          </a:p>
        </p:txBody>
      </p:sp>
      <p:sp>
        <p:nvSpPr>
          <p:cNvPr id="15" name="Shape 12"/>
          <p:cNvSpPr/>
          <p:nvPr/>
        </p:nvSpPr>
        <p:spPr>
          <a:xfrm>
            <a:off x="640080" y="2651760"/>
            <a:ext cx="10972800" cy="2194560"/>
          </a:xfrm>
          <a:prstGeom prst="roundRect">
            <a:avLst>
              <a:gd name="adj" fmla="val 3750"/>
            </a:avLst>
          </a:prstGeom>
          <a:solidFill>
            <a:srgbClr val="EAF5F3"/>
          </a:solidFill>
          <a:ln w="12700">
            <a:solidFill>
              <a:srgbClr val="EAF5F3"/>
            </a:solidFill>
            <a:prstDash val="solid"/>
          </a:ln>
        </p:spPr>
      </p:sp>
      <p:sp>
        <p:nvSpPr>
          <p:cNvPr id="16" name="Text 13"/>
          <p:cNvSpPr/>
          <p:nvPr/>
        </p:nvSpPr>
        <p:spPr>
          <a:xfrm>
            <a:off x="1005840" y="2926080"/>
            <a:ext cx="10241280" cy="1645920"/>
          </a:xfrm>
          <a:prstGeom prst="rect">
            <a:avLst/>
          </a:prstGeom>
          <a:noFill/>
          <a:ln/>
        </p:spPr>
        <p:txBody>
          <a:bodyPr wrap="square" lIns="0" tIns="0" rIns="0" bIns="0" rtlCol="0" anchor="ctr"/>
          <a:lstStyle/>
          <a:p>
            <a:pPr indent="0" marL="0">
              <a:lnSpc>
                <a:spcPct val="140000"/>
              </a:lnSpc>
              <a:buNone/>
            </a:pPr>
            <a:r>
              <a:rPr lang="en-US" sz="2600" b="1" dirty="0">
                <a:solidFill>
                  <a:srgbClr val="2E7D5B"/>
                </a:solidFill>
                <a:latin typeface="Inter" pitchFamily="34" charset="0"/>
                <a:ea typeface="Inter" pitchFamily="34" charset="-122"/>
                <a:cs typeface="Inter" pitchFamily="34" charset="-120"/>
              </a:rPr>
              <a:t>You need:  </a:t>
            </a:r>
            <a:pPr indent="0" marL="0">
              <a:lnSpc>
                <a:spcPct val="140000"/>
              </a:lnSpc>
              <a:buNone/>
            </a:pPr>
            <a:r>
              <a:rPr lang="en-US" sz="2600" dirty="0">
                <a:solidFill>
                  <a:srgbClr val="1B1F24"/>
                </a:solidFill>
                <a:latin typeface="Inter" pitchFamily="34" charset="0"/>
                <a:ea typeface="Inter" pitchFamily="34" charset="-122"/>
                <a:cs typeface="Inter" pitchFamily="34" charset="-120"/>
              </a:rPr>
              <a:t>“a 4th grader reading below grade level”
</a:t>
            </a:r>
            <a:pPr indent="0" marL="0">
              <a:lnSpc>
                <a:spcPct val="140000"/>
              </a:lnSpc>
              <a:buNone/>
            </a:pPr>
            <a:r>
              <a:rPr lang="en-US" sz="2600" b="1" dirty="0">
                <a:solidFill>
                  <a:srgbClr val="B4453A"/>
                </a:solidFill>
                <a:latin typeface="Inter" pitchFamily="34" charset="0"/>
                <a:ea typeface="Inter" pitchFamily="34" charset="-122"/>
                <a:cs typeface="Inter" pitchFamily="34" charset="-120"/>
              </a:rPr>
              <a:t>You never need:  </a:t>
            </a:r>
            <a:pPr indent="0" marL="0">
              <a:lnSpc>
                <a:spcPct val="140000"/>
              </a:lnSpc>
              <a:buNone/>
            </a:pPr>
            <a:r>
              <a:rPr lang="en-US" sz="2600" dirty="0">
                <a:solidFill>
                  <a:srgbClr val="1B1F24"/>
                </a:solidFill>
                <a:latin typeface="Inter" pitchFamily="34" charset="0"/>
                <a:ea typeface="Inter" pitchFamily="34" charset="-122"/>
                <a:cs typeface="Inter" pitchFamily="34" charset="-120"/>
              </a:rPr>
              <a:t>“Marcus Chen”</a:t>
            </a:r>
            <a:endParaRPr lang="en-US" sz="2600" dirty="0"/>
          </a:p>
        </p:txBody>
      </p:sp>
      <p:sp>
        <p:nvSpPr>
          <p:cNvPr id="17" name="Text 14"/>
          <p:cNvSpPr/>
          <p:nvPr/>
        </p:nvSpPr>
        <p:spPr>
          <a:xfrm>
            <a:off x="640080" y="5212080"/>
            <a:ext cx="10972800" cy="457200"/>
          </a:xfrm>
          <a:prstGeom prst="rect">
            <a:avLst/>
          </a:prstGeom>
          <a:noFill/>
          <a:ln/>
        </p:spPr>
        <p:txBody>
          <a:bodyPr wrap="square" lIns="0" tIns="0" rIns="0" bIns="0" rtlCol="0" anchor="ctr"/>
          <a:lstStyle/>
          <a:p>
            <a:pPr indent="0" marL="0">
              <a:buNone/>
            </a:pPr>
            <a:r>
              <a:rPr lang="en-US" sz="1900" i="1" dirty="0">
                <a:solidFill>
                  <a:srgbClr val="5B6B7A"/>
                </a:solidFill>
                <a:latin typeface="Inter" pitchFamily="34" charset="0"/>
                <a:ea typeface="Inter" pitchFamily="34" charset="-122"/>
                <a:cs typeface="Inter" pitchFamily="34" charset="-120"/>
              </a:rPr>
              <a:t>Which brings us to the ten-second skill that makes this automatic →</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16</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SAME EMAIL, ZERO RISK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Safe swap #1: the parent email</a:t>
            </a:r>
            <a:endParaRPr lang="en-US" sz="3200" dirty="0"/>
          </a:p>
        </p:txBody>
      </p:sp>
      <p:sp>
        <p:nvSpPr>
          <p:cNvPr id="7" name="Shape 4"/>
          <p:cNvSpPr/>
          <p:nvPr/>
        </p:nvSpPr>
        <p:spPr>
          <a:xfrm>
            <a:off x="640080" y="1417320"/>
            <a:ext cx="10972800" cy="4389120"/>
          </a:xfrm>
          <a:prstGeom prst="roundRect">
            <a:avLst>
              <a:gd name="adj" fmla="val 2083"/>
            </a:avLst>
          </a:prstGeom>
          <a:solidFill>
            <a:srgbClr val="FFFFFF"/>
          </a:solidFill>
          <a:ln w="19050">
            <a:solidFill>
              <a:srgbClr val="DCE3EA"/>
            </a:solidFill>
            <a:prstDash val="solid"/>
          </a:ln>
        </p:spPr>
      </p:sp>
      <p:sp>
        <p:nvSpPr>
          <p:cNvPr id="8" name="Shape 5"/>
          <p:cNvSpPr/>
          <p:nvPr/>
        </p:nvSpPr>
        <p:spPr>
          <a:xfrm>
            <a:off x="640080" y="1417320"/>
            <a:ext cx="10972800" cy="384048"/>
          </a:xfrm>
          <a:prstGeom prst="roundRect">
            <a:avLst>
              <a:gd name="adj" fmla="val 23810"/>
            </a:avLst>
          </a:prstGeom>
          <a:solidFill>
            <a:srgbClr val="13293D"/>
          </a:solidFill>
          <a:ln w="12700">
            <a:solidFill>
              <a:srgbClr val="13293D"/>
            </a:solidFill>
            <a:prstDash val="solid"/>
          </a:ln>
        </p:spPr>
      </p:sp>
      <p:sp>
        <p:nvSpPr>
          <p:cNvPr id="9" name="Shape 6"/>
          <p:cNvSpPr/>
          <p:nvPr/>
        </p:nvSpPr>
        <p:spPr>
          <a:xfrm>
            <a:off x="868680" y="1536192"/>
            <a:ext cx="146304" cy="146304"/>
          </a:xfrm>
          <a:prstGeom prst="ellipse">
            <a:avLst/>
          </a:prstGeom>
          <a:solidFill>
            <a:srgbClr val="E8837A"/>
          </a:solidFill>
          <a:ln w="12700">
            <a:solidFill>
              <a:srgbClr val="E8837A"/>
            </a:solidFill>
            <a:prstDash val="solid"/>
          </a:ln>
        </p:spPr>
      </p:sp>
      <p:sp>
        <p:nvSpPr>
          <p:cNvPr id="10" name="Shape 7"/>
          <p:cNvSpPr/>
          <p:nvPr/>
        </p:nvSpPr>
        <p:spPr>
          <a:xfrm>
            <a:off x="1115568" y="1536192"/>
            <a:ext cx="146304" cy="146304"/>
          </a:xfrm>
          <a:prstGeom prst="ellipse">
            <a:avLst/>
          </a:prstGeom>
          <a:solidFill>
            <a:srgbClr val="F4A825"/>
          </a:solidFill>
          <a:ln w="12700">
            <a:solidFill>
              <a:srgbClr val="F4A825"/>
            </a:solidFill>
            <a:prstDash val="solid"/>
          </a:ln>
        </p:spPr>
      </p:sp>
      <p:sp>
        <p:nvSpPr>
          <p:cNvPr id="11" name="Shape 8"/>
          <p:cNvSpPr/>
          <p:nvPr/>
        </p:nvSpPr>
        <p:spPr>
          <a:xfrm>
            <a:off x="1362456" y="1536192"/>
            <a:ext cx="146304" cy="146304"/>
          </a:xfrm>
          <a:prstGeom prst="ellipse">
            <a:avLst/>
          </a:prstGeom>
          <a:solidFill>
            <a:srgbClr val="2E7D5B"/>
          </a:solidFill>
          <a:ln w="12700">
            <a:solidFill>
              <a:srgbClr val="2E7D5B"/>
            </a:solidFill>
            <a:prstDash val="solid"/>
          </a:ln>
        </p:spPr>
      </p:sp>
      <p:sp>
        <p:nvSpPr>
          <p:cNvPr id="12" name="Text 9"/>
          <p:cNvSpPr/>
          <p:nvPr/>
        </p:nvSpPr>
        <p:spPr>
          <a:xfrm>
            <a:off x="1783080" y="141732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a:t>
            </a:r>
            <a:endParaRPr lang="en-US" sz="1100" dirty="0"/>
          </a:p>
        </p:txBody>
      </p:sp>
      <p:sp>
        <p:nvSpPr>
          <p:cNvPr id="13" name="Shape 10"/>
          <p:cNvSpPr/>
          <p:nvPr/>
        </p:nvSpPr>
        <p:spPr>
          <a:xfrm>
            <a:off x="1554480" y="2011680"/>
            <a:ext cx="9646920" cy="1463040"/>
          </a:xfrm>
          <a:prstGeom prst="roundRect">
            <a:avLst>
              <a:gd name="adj" fmla="val 7500"/>
            </a:avLst>
          </a:prstGeom>
          <a:solidFill>
            <a:srgbClr val="FBEFED"/>
          </a:solidFill>
          <a:ln w="12700">
            <a:solidFill>
              <a:srgbClr val="FBEFED"/>
            </a:solidFill>
            <a:prstDash val="solid"/>
          </a:ln>
        </p:spPr>
      </p:sp>
      <p:sp>
        <p:nvSpPr>
          <p:cNvPr id="14" name="Text 11"/>
          <p:cNvSpPr/>
          <p:nvPr/>
        </p:nvSpPr>
        <p:spPr>
          <a:xfrm>
            <a:off x="1783080" y="2121408"/>
            <a:ext cx="9144000" cy="274320"/>
          </a:xfrm>
          <a:prstGeom prst="rect">
            <a:avLst/>
          </a:prstGeom>
          <a:noFill/>
          <a:ln/>
        </p:spPr>
        <p:txBody>
          <a:bodyPr wrap="square" lIns="0" tIns="0" rIns="0" bIns="0" rtlCol="0" anchor="ctr"/>
          <a:lstStyle/>
          <a:p>
            <a:pPr indent="0" marL="0">
              <a:buNone/>
            </a:pPr>
            <a:r>
              <a:rPr lang="en-US" sz="1150" b="1" spc="150" kern="0" dirty="0">
                <a:solidFill>
                  <a:srgbClr val="B4453A"/>
                </a:solidFill>
                <a:latin typeface="Inter" pitchFamily="34" charset="0"/>
                <a:ea typeface="Inter" pitchFamily="34" charset="-122"/>
                <a:cs typeface="Inter" pitchFamily="34" charset="-120"/>
              </a:rPr>
              <a:t>WHAT SHE ALMOST TYPED · UNSAFE</a:t>
            </a:r>
            <a:endParaRPr lang="en-US" sz="1150" dirty="0"/>
          </a:p>
        </p:txBody>
      </p:sp>
      <p:sp>
        <p:nvSpPr>
          <p:cNvPr id="15" name="Text 12"/>
          <p:cNvSpPr/>
          <p:nvPr/>
        </p:nvSpPr>
        <p:spPr>
          <a:xfrm>
            <a:off x="1783080" y="2414016"/>
            <a:ext cx="9189720" cy="100584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“Write an email to Jayden Miller’s mom about his three missing assignments and his outburst in class Tuesday.”</a:t>
            </a:r>
            <a:endParaRPr lang="en-US" sz="1700" dirty="0"/>
          </a:p>
        </p:txBody>
      </p:sp>
      <p:sp>
        <p:nvSpPr>
          <p:cNvPr id="16" name="Shape 13"/>
          <p:cNvSpPr/>
          <p:nvPr/>
        </p:nvSpPr>
        <p:spPr>
          <a:xfrm>
            <a:off x="1554480" y="3657600"/>
            <a:ext cx="9646920" cy="1920240"/>
          </a:xfrm>
          <a:prstGeom prst="roundRect">
            <a:avLst>
              <a:gd name="adj" fmla="val 5714"/>
            </a:avLst>
          </a:prstGeom>
          <a:solidFill>
            <a:srgbClr val="EAF5F3"/>
          </a:solidFill>
          <a:ln w="12700">
            <a:solidFill>
              <a:srgbClr val="EAF5F3"/>
            </a:solidFill>
            <a:prstDash val="solid"/>
          </a:ln>
        </p:spPr>
      </p:sp>
      <p:sp>
        <p:nvSpPr>
          <p:cNvPr id="17" name="Text 14"/>
          <p:cNvSpPr/>
          <p:nvPr/>
        </p:nvSpPr>
        <p:spPr>
          <a:xfrm>
            <a:off x="1783080" y="3767328"/>
            <a:ext cx="9144000" cy="274320"/>
          </a:xfrm>
          <a:prstGeom prst="rect">
            <a:avLst/>
          </a:prstGeom>
          <a:noFill/>
          <a:ln/>
        </p:spPr>
        <p:txBody>
          <a:bodyPr wrap="square" lIns="0" tIns="0" rIns="0" bIns="0" rtlCol="0" anchor="ctr"/>
          <a:lstStyle/>
          <a:p>
            <a:pPr indent="0" marL="0">
              <a:buNone/>
            </a:pPr>
            <a:r>
              <a:rPr lang="en-US" sz="1150" b="1" spc="150" kern="0" dirty="0">
                <a:solidFill>
                  <a:srgbClr val="2E7D5B"/>
                </a:solidFill>
                <a:latin typeface="Inter" pitchFamily="34" charset="0"/>
                <a:ea typeface="Inter" pitchFamily="34" charset="-122"/>
                <a:cs typeface="Inter" pitchFamily="34" charset="-120"/>
              </a:rPr>
              <a:t>WHAT SHE SENT · SAFE</a:t>
            </a:r>
            <a:endParaRPr lang="en-US" sz="1150" dirty="0"/>
          </a:p>
        </p:txBody>
      </p:sp>
      <p:sp>
        <p:nvSpPr>
          <p:cNvPr id="18" name="Text 15"/>
          <p:cNvSpPr/>
          <p:nvPr/>
        </p:nvSpPr>
        <p:spPr>
          <a:xfrm>
            <a:off x="1783080" y="4059936"/>
            <a:ext cx="9189720" cy="1417320"/>
          </a:xfrm>
          <a:prstGeom prst="rect">
            <a:avLst/>
          </a:prstGeom>
          <a:noFill/>
          <a:ln/>
        </p:spPr>
        <p:txBody>
          <a:bodyPr wrap="square" lIns="0" tIns="0" rIns="0" bIns="0" rtlCol="0" anchor="ctr"/>
          <a:lstStyle/>
          <a:p>
            <a:pPr indent="0" marL="0">
              <a:buNone/>
            </a:pPr>
            <a:r>
              <a:rPr lang="en-US" sz="1700" i="1" dirty="0">
                <a:solidFill>
                  <a:srgbClr val="1B1F24"/>
                </a:solidFill>
                <a:latin typeface="Inter" pitchFamily="34" charset="0"/>
                <a:ea typeface="Inter" pitchFamily="34" charset="-122"/>
                <a:cs typeface="Inter" pitchFamily="34" charset="-120"/>
              </a:rPr>
              <a:t>“Write a warm, professional email to a parent about a middle schooler with several missing assignments and a recent difficult day in class. Firm but supportive; end by inviting a conversation.”</a:t>
            </a:r>
            <a:endParaRPr lang="en-US" sz="1700" dirty="0"/>
          </a:p>
        </p:txBody>
      </p:sp>
      <p:sp>
        <p:nvSpPr>
          <p:cNvPr id="19" name="Text 16"/>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600" b="1" dirty="0">
                <a:solidFill>
                  <a:srgbClr val="13293D"/>
                </a:solidFill>
                <a:latin typeface="Inter" pitchFamily="34" charset="0"/>
                <a:ea typeface="Inter" pitchFamily="34" charset="-122"/>
                <a:cs typeface="Inter" pitchFamily="34" charset="-120"/>
              </a:rPr>
              <a:t>Same email out the other end. The AI needed the situation, never the child.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swap: the reading level and format, never the diagnosis.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SAFER IS ALSO JUST A BETTER PROMPT</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Safe swap #2: differentiation</a:t>
            </a:r>
            <a:endParaRPr lang="en-US" sz="3200" dirty="0"/>
          </a:p>
        </p:txBody>
      </p:sp>
      <p:sp>
        <p:nvSpPr>
          <p:cNvPr id="14" name="Shape 11"/>
          <p:cNvSpPr/>
          <p:nvPr/>
        </p:nvSpPr>
        <p:spPr>
          <a:xfrm>
            <a:off x="640080" y="1463040"/>
            <a:ext cx="10972800" cy="1828800"/>
          </a:xfrm>
          <a:prstGeom prst="roundRect">
            <a:avLst>
              <a:gd name="adj" fmla="val 4500"/>
            </a:avLst>
          </a:prstGeom>
          <a:solidFill>
            <a:srgbClr val="FBEFED"/>
          </a:solidFill>
          <a:ln w="12700">
            <a:solidFill>
              <a:srgbClr val="FBEFED"/>
            </a:solidFill>
            <a:prstDash val="solid"/>
          </a:ln>
        </p:spPr>
      </p:sp>
      <p:sp>
        <p:nvSpPr>
          <p:cNvPr id="15" name="Text 12"/>
          <p:cNvSpPr/>
          <p:nvPr/>
        </p:nvSpPr>
        <p:spPr>
          <a:xfrm>
            <a:off x="914400" y="1627632"/>
            <a:ext cx="1828800" cy="320040"/>
          </a:xfrm>
          <a:prstGeom prst="rect">
            <a:avLst/>
          </a:prstGeom>
          <a:noFill/>
          <a:ln/>
        </p:spPr>
        <p:txBody>
          <a:bodyPr wrap="square" lIns="0" tIns="0" rIns="0" bIns="0" rtlCol="0" anchor="ctr"/>
          <a:lstStyle/>
          <a:p>
            <a:pPr indent="0" marL="0">
              <a:buNone/>
            </a:pPr>
            <a:r>
              <a:rPr lang="en-US" sz="1400" b="1" dirty="0">
                <a:solidFill>
                  <a:srgbClr val="B4453A"/>
                </a:solidFill>
                <a:latin typeface="Inter" pitchFamily="34" charset="0"/>
                <a:ea typeface="Inter" pitchFamily="34" charset="-122"/>
                <a:cs typeface="Inter" pitchFamily="34" charset="-120"/>
              </a:rPr>
              <a:t>UNSAFE</a:t>
            </a:r>
            <a:endParaRPr lang="en-US" sz="1400" dirty="0"/>
          </a:p>
        </p:txBody>
      </p:sp>
      <p:sp>
        <p:nvSpPr>
          <p:cNvPr id="16" name="Text 13"/>
          <p:cNvSpPr/>
          <p:nvPr/>
        </p:nvSpPr>
        <p:spPr>
          <a:xfrm>
            <a:off x="914400" y="1965960"/>
            <a:ext cx="10424160" cy="1097280"/>
          </a:xfrm>
          <a:prstGeom prst="rect">
            <a:avLst/>
          </a:prstGeom>
          <a:noFill/>
          <a:ln/>
        </p:spPr>
        <p:txBody>
          <a:bodyPr wrap="square" lIns="0" tIns="0" rIns="0" bIns="0" rtlCol="0" anchor="ctr"/>
          <a:lstStyle/>
          <a:p>
            <a:pPr indent="0" marL="0">
              <a:buNone/>
            </a:pPr>
            <a:r>
              <a:rPr lang="en-US" sz="1900" i="1" dirty="0">
                <a:solidFill>
                  <a:srgbClr val="1B1F24"/>
                </a:solidFill>
                <a:latin typeface="Inter" pitchFamily="34" charset="0"/>
                <a:ea typeface="Inter" pitchFamily="34" charset="-122"/>
                <a:cs typeface="Inter" pitchFamily="34" charset="-120"/>
              </a:rPr>
              <a:t>“Rewrite this passage for Sofia R., who has a reading IEP with a 2nd-grade fluency goal.”</a:t>
            </a:r>
            <a:endParaRPr lang="en-US" sz="1900" dirty="0"/>
          </a:p>
        </p:txBody>
      </p:sp>
      <p:sp>
        <p:nvSpPr>
          <p:cNvPr id="17" name="Shape 14"/>
          <p:cNvSpPr/>
          <p:nvPr/>
        </p:nvSpPr>
        <p:spPr>
          <a:xfrm>
            <a:off x="640080" y="3520440"/>
            <a:ext cx="10972800" cy="1965960"/>
          </a:xfrm>
          <a:prstGeom prst="roundRect">
            <a:avLst>
              <a:gd name="adj" fmla="val 4186"/>
            </a:avLst>
          </a:prstGeom>
          <a:solidFill>
            <a:srgbClr val="EAF5F3"/>
          </a:solidFill>
          <a:ln w="12700">
            <a:solidFill>
              <a:srgbClr val="EAF5F3"/>
            </a:solidFill>
            <a:prstDash val="solid"/>
          </a:ln>
        </p:spPr>
      </p:sp>
      <p:sp>
        <p:nvSpPr>
          <p:cNvPr id="18" name="Text 15"/>
          <p:cNvSpPr/>
          <p:nvPr/>
        </p:nvSpPr>
        <p:spPr>
          <a:xfrm>
            <a:off x="914400" y="3685032"/>
            <a:ext cx="1828800" cy="320040"/>
          </a:xfrm>
          <a:prstGeom prst="rect">
            <a:avLst/>
          </a:prstGeom>
          <a:noFill/>
          <a:ln/>
        </p:spPr>
        <p:txBody>
          <a:bodyPr wrap="square" lIns="0" tIns="0" rIns="0" bIns="0" rtlCol="0" anchor="ctr"/>
          <a:lstStyle/>
          <a:p>
            <a:pPr indent="0" marL="0">
              <a:buNone/>
            </a:pPr>
            <a:r>
              <a:rPr lang="en-US" sz="1400" b="1" dirty="0">
                <a:solidFill>
                  <a:srgbClr val="2E7D5B"/>
                </a:solidFill>
                <a:latin typeface="Inter" pitchFamily="34" charset="0"/>
                <a:ea typeface="Inter" pitchFamily="34" charset="-122"/>
                <a:cs typeface="Inter" pitchFamily="34" charset="-120"/>
              </a:rPr>
              <a:t>SAFE</a:t>
            </a:r>
            <a:endParaRPr lang="en-US" sz="1400" dirty="0"/>
          </a:p>
        </p:txBody>
      </p:sp>
      <p:sp>
        <p:nvSpPr>
          <p:cNvPr id="19" name="Text 16"/>
          <p:cNvSpPr/>
          <p:nvPr/>
        </p:nvSpPr>
        <p:spPr>
          <a:xfrm>
            <a:off x="914400" y="4023360"/>
            <a:ext cx="10424160" cy="1371600"/>
          </a:xfrm>
          <a:prstGeom prst="rect">
            <a:avLst/>
          </a:prstGeom>
          <a:noFill/>
          <a:ln/>
        </p:spPr>
        <p:txBody>
          <a:bodyPr wrap="square" lIns="0" tIns="0" rIns="0" bIns="0" rtlCol="0" anchor="ctr"/>
          <a:lstStyle/>
          <a:p>
            <a:pPr indent="0" marL="0">
              <a:buNone/>
            </a:pPr>
            <a:r>
              <a:rPr lang="en-US" sz="1900" i="1" dirty="0">
                <a:solidFill>
                  <a:srgbClr val="1B1F24"/>
                </a:solidFill>
                <a:latin typeface="Inter" pitchFamily="34" charset="0"/>
                <a:ea typeface="Inter" pitchFamily="34" charset="-122"/>
                <a:cs typeface="Inter" pitchFamily="34" charset="-120"/>
              </a:rPr>
              <a:t>“Rewrite this passage at a 2nd-grade reading level, same key ideas, shorter sentences, and add a five-word picture-supported vocabulary list.”</a:t>
            </a:r>
            <a:endParaRPr lang="en-US" sz="1900" dirty="0"/>
          </a:p>
        </p:txBody>
      </p:sp>
      <p:sp>
        <p:nvSpPr>
          <p:cNvPr id="20" name="Text 17"/>
          <p:cNvSpPr/>
          <p:nvPr/>
        </p:nvSpPr>
        <p:spPr>
          <a:xfrm>
            <a:off x="640080" y="5715000"/>
            <a:ext cx="10972800" cy="411480"/>
          </a:xfrm>
          <a:prstGeom prst="rect">
            <a:avLst/>
          </a:prstGeom>
          <a:noFill/>
          <a:ln/>
        </p:spPr>
        <p:txBody>
          <a:bodyPr wrap="square" lIns="0" tIns="0" rIns="0" bIns="0" rtlCol="0" anchor="ctr"/>
          <a:lstStyle/>
          <a:p>
            <a:pPr algn="ctr" indent="0" marL="0">
              <a:buNone/>
            </a:pPr>
            <a:r>
              <a:rPr lang="en-US" sz="1800" b="1" dirty="0">
                <a:solidFill>
                  <a:srgbClr val="13293D"/>
                </a:solidFill>
                <a:latin typeface="Inter" pitchFamily="34" charset="0"/>
                <a:ea typeface="Inter" pitchFamily="34" charset="-122"/>
                <a:cs typeface="Inter" pitchFamily="34" charset="-120"/>
              </a:rPr>
              <a:t>The AI never needed the diagnosis; it needed the reading level and the format.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3 moves, automatic: strip identity, generalize, describe the need.</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TEN SECONDS, THEN IT’S AUTOMATIC</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De-identify like a pro: the 3 moves</a:t>
            </a:r>
            <a:endParaRPr lang="en-US" sz="3200" dirty="0"/>
          </a:p>
        </p:txBody>
      </p:sp>
      <p:sp>
        <p:nvSpPr>
          <p:cNvPr id="14" name="Shape 11"/>
          <p:cNvSpPr/>
          <p:nvPr/>
        </p:nvSpPr>
        <p:spPr>
          <a:xfrm>
            <a:off x="640080" y="1554480"/>
            <a:ext cx="3520440" cy="3566160"/>
          </a:xfrm>
          <a:prstGeom prst="roundRect">
            <a:avLst>
              <a:gd name="adj" fmla="val 2338"/>
            </a:avLst>
          </a:prstGeom>
          <a:solidFill>
            <a:srgbClr val="F7F5F0"/>
          </a:solidFill>
          <a:ln w="12700">
            <a:solidFill>
              <a:srgbClr val="F7F5F0"/>
            </a:solidFill>
            <a:prstDash val="solid"/>
          </a:ln>
        </p:spPr>
      </p:sp>
      <p:sp>
        <p:nvSpPr>
          <p:cNvPr id="15" name="Shape 12"/>
          <p:cNvSpPr/>
          <p:nvPr/>
        </p:nvSpPr>
        <p:spPr>
          <a:xfrm>
            <a:off x="1938528" y="1828800"/>
            <a:ext cx="914400" cy="914400"/>
          </a:xfrm>
          <a:prstGeom prst="ellipse">
            <a:avLst/>
          </a:prstGeom>
          <a:solidFill>
            <a:srgbClr val="2A9D8F"/>
          </a:solidFill>
          <a:ln w="12700">
            <a:solidFill>
              <a:srgbClr val="2A9D8F"/>
            </a:solidFill>
            <a:prstDash val="solid"/>
          </a:ln>
        </p:spPr>
      </p:sp>
      <p:sp>
        <p:nvSpPr>
          <p:cNvPr id="16" name="Text 13"/>
          <p:cNvSpPr/>
          <p:nvPr/>
        </p:nvSpPr>
        <p:spPr>
          <a:xfrm>
            <a:off x="1938528"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Inter" pitchFamily="34" charset="0"/>
                <a:ea typeface="Inter" pitchFamily="34" charset="-122"/>
                <a:cs typeface="Inter" pitchFamily="34" charset="-120"/>
              </a:rPr>
              <a:t>1</a:t>
            </a:r>
            <a:endParaRPr lang="en-US" sz="3000" dirty="0"/>
          </a:p>
        </p:txBody>
      </p:sp>
      <p:sp>
        <p:nvSpPr>
          <p:cNvPr id="17" name="Text 14"/>
          <p:cNvSpPr/>
          <p:nvPr/>
        </p:nvSpPr>
        <p:spPr>
          <a:xfrm>
            <a:off x="868680" y="2971800"/>
            <a:ext cx="3063240" cy="868680"/>
          </a:xfrm>
          <a:prstGeom prst="rect">
            <a:avLst/>
          </a:prstGeom>
          <a:noFill/>
          <a:ln/>
        </p:spPr>
        <p:txBody>
          <a:bodyPr wrap="square" lIns="0" tIns="0" rIns="0" bIns="0" rtlCol="0" anchor="t"/>
          <a:lstStyle/>
          <a:p>
            <a:pPr algn="ctr" indent="0" marL="0">
              <a:buNone/>
            </a:pPr>
            <a:r>
              <a:rPr lang="en-US" sz="1900" b="1" dirty="0">
                <a:solidFill>
                  <a:srgbClr val="13293D"/>
                </a:solidFill>
                <a:latin typeface="Inter" pitchFamily="34" charset="0"/>
                <a:ea typeface="Inter" pitchFamily="34" charset="-122"/>
                <a:cs typeface="Inter" pitchFamily="34" charset="-120"/>
              </a:rPr>
              <a:t>Strip identity</a:t>
            </a:r>
            <a:endParaRPr lang="en-US" sz="1900" dirty="0"/>
          </a:p>
        </p:txBody>
      </p:sp>
      <p:sp>
        <p:nvSpPr>
          <p:cNvPr id="18" name="Text 15"/>
          <p:cNvSpPr/>
          <p:nvPr/>
        </p:nvSpPr>
        <p:spPr>
          <a:xfrm>
            <a:off x="868680" y="3840480"/>
            <a:ext cx="3063240" cy="1188720"/>
          </a:xfrm>
          <a:prstGeom prst="rect">
            <a:avLst/>
          </a:prstGeom>
          <a:noFill/>
          <a:ln/>
        </p:spPr>
        <p:txBody>
          <a:bodyPr wrap="square" lIns="0" tIns="0" rIns="0" bIns="0" rtlCol="0" anchor="t"/>
          <a:lstStyle/>
          <a:p>
            <a:pPr algn="ctr" indent="0" marL="0">
              <a:buNone/>
            </a:pPr>
            <a:r>
              <a:rPr lang="en-US" sz="1500" dirty="0">
                <a:solidFill>
                  <a:srgbClr val="1B1F24"/>
                </a:solidFill>
                <a:latin typeface="Inter" pitchFamily="34" charset="0"/>
                <a:ea typeface="Inter" pitchFamily="34" charset="-122"/>
                <a:cs typeface="Inter" pitchFamily="34" charset="-120"/>
              </a:rPr>
              <a:t>No names, no initials, no one-of-a-kind details</a:t>
            </a:r>
            <a:endParaRPr lang="en-US" sz="1500" dirty="0"/>
          </a:p>
        </p:txBody>
      </p:sp>
      <p:sp>
        <p:nvSpPr>
          <p:cNvPr id="19" name="Shape 16"/>
          <p:cNvSpPr/>
          <p:nvPr/>
        </p:nvSpPr>
        <p:spPr>
          <a:xfrm>
            <a:off x="4407408" y="1554480"/>
            <a:ext cx="3520440" cy="3566160"/>
          </a:xfrm>
          <a:prstGeom prst="roundRect">
            <a:avLst>
              <a:gd name="adj" fmla="val 2338"/>
            </a:avLst>
          </a:prstGeom>
          <a:solidFill>
            <a:srgbClr val="F7F5F0"/>
          </a:solidFill>
          <a:ln w="12700">
            <a:solidFill>
              <a:srgbClr val="F7F5F0"/>
            </a:solidFill>
            <a:prstDash val="solid"/>
          </a:ln>
        </p:spPr>
      </p:sp>
      <p:sp>
        <p:nvSpPr>
          <p:cNvPr id="20" name="Shape 17"/>
          <p:cNvSpPr/>
          <p:nvPr/>
        </p:nvSpPr>
        <p:spPr>
          <a:xfrm>
            <a:off x="5705856" y="1828800"/>
            <a:ext cx="914400" cy="914400"/>
          </a:xfrm>
          <a:prstGeom prst="ellipse">
            <a:avLst/>
          </a:prstGeom>
          <a:solidFill>
            <a:srgbClr val="2A9D8F"/>
          </a:solidFill>
          <a:ln w="12700">
            <a:solidFill>
              <a:srgbClr val="2A9D8F"/>
            </a:solidFill>
            <a:prstDash val="solid"/>
          </a:ln>
        </p:spPr>
      </p:sp>
      <p:sp>
        <p:nvSpPr>
          <p:cNvPr id="21" name="Text 18"/>
          <p:cNvSpPr/>
          <p:nvPr/>
        </p:nvSpPr>
        <p:spPr>
          <a:xfrm>
            <a:off x="5705856"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Inter" pitchFamily="34" charset="0"/>
                <a:ea typeface="Inter" pitchFamily="34" charset="-122"/>
                <a:cs typeface="Inter" pitchFamily="34" charset="-120"/>
              </a:rPr>
              <a:t>2</a:t>
            </a:r>
            <a:endParaRPr lang="en-US" sz="3000" dirty="0"/>
          </a:p>
        </p:txBody>
      </p:sp>
      <p:sp>
        <p:nvSpPr>
          <p:cNvPr id="22" name="Text 19"/>
          <p:cNvSpPr/>
          <p:nvPr/>
        </p:nvSpPr>
        <p:spPr>
          <a:xfrm>
            <a:off x="4636008" y="2971800"/>
            <a:ext cx="3063240" cy="868680"/>
          </a:xfrm>
          <a:prstGeom prst="rect">
            <a:avLst/>
          </a:prstGeom>
          <a:noFill/>
          <a:ln/>
        </p:spPr>
        <p:txBody>
          <a:bodyPr wrap="square" lIns="0" tIns="0" rIns="0" bIns="0" rtlCol="0" anchor="t"/>
          <a:lstStyle/>
          <a:p>
            <a:pPr algn="ctr" indent="0" marL="0">
              <a:buNone/>
            </a:pPr>
            <a:r>
              <a:rPr lang="en-US" sz="1900" b="1" dirty="0">
                <a:solidFill>
                  <a:srgbClr val="13293D"/>
                </a:solidFill>
                <a:latin typeface="Inter" pitchFamily="34" charset="0"/>
                <a:ea typeface="Inter" pitchFamily="34" charset="-122"/>
                <a:cs typeface="Inter" pitchFamily="34" charset="-120"/>
              </a:rPr>
              <a:t>Generalize</a:t>
            </a:r>
            <a:endParaRPr lang="en-US" sz="1900" dirty="0"/>
          </a:p>
        </p:txBody>
      </p:sp>
      <p:sp>
        <p:nvSpPr>
          <p:cNvPr id="23" name="Text 20"/>
          <p:cNvSpPr/>
          <p:nvPr/>
        </p:nvSpPr>
        <p:spPr>
          <a:xfrm>
            <a:off x="4636008" y="3840480"/>
            <a:ext cx="3063240" cy="1188720"/>
          </a:xfrm>
          <a:prstGeom prst="rect">
            <a:avLst/>
          </a:prstGeom>
          <a:noFill/>
          <a:ln/>
        </p:spPr>
        <p:txBody>
          <a:bodyPr wrap="square" lIns="0" tIns="0" rIns="0" bIns="0" rtlCol="0" anchor="t"/>
          <a:lstStyle/>
          <a:p>
            <a:pPr algn="ctr" indent="0" marL="0">
              <a:buNone/>
            </a:pPr>
            <a:r>
              <a:rPr lang="en-US" sz="1500" dirty="0">
                <a:solidFill>
                  <a:srgbClr val="1B1F24"/>
                </a:solidFill>
                <a:latin typeface="Inter" pitchFamily="34" charset="0"/>
                <a:ea typeface="Inter" pitchFamily="34" charset="-122"/>
                <a:cs typeface="Inter" pitchFamily="34" charset="-120"/>
              </a:rPr>
              <a:t>“A 7th grader” · “several students” · “a parent”</a:t>
            </a:r>
            <a:endParaRPr lang="en-US" sz="1500" dirty="0"/>
          </a:p>
        </p:txBody>
      </p:sp>
      <p:sp>
        <p:nvSpPr>
          <p:cNvPr id="24" name="Shape 21"/>
          <p:cNvSpPr/>
          <p:nvPr/>
        </p:nvSpPr>
        <p:spPr>
          <a:xfrm>
            <a:off x="8174736" y="1554480"/>
            <a:ext cx="3520440" cy="3566160"/>
          </a:xfrm>
          <a:prstGeom prst="roundRect">
            <a:avLst>
              <a:gd name="adj" fmla="val 2338"/>
            </a:avLst>
          </a:prstGeom>
          <a:solidFill>
            <a:srgbClr val="F7F5F0"/>
          </a:solidFill>
          <a:ln w="12700">
            <a:solidFill>
              <a:srgbClr val="F7F5F0"/>
            </a:solidFill>
            <a:prstDash val="solid"/>
          </a:ln>
        </p:spPr>
      </p:sp>
      <p:sp>
        <p:nvSpPr>
          <p:cNvPr id="25" name="Shape 22"/>
          <p:cNvSpPr/>
          <p:nvPr/>
        </p:nvSpPr>
        <p:spPr>
          <a:xfrm>
            <a:off x="9473184" y="1828800"/>
            <a:ext cx="914400" cy="914400"/>
          </a:xfrm>
          <a:prstGeom prst="ellipse">
            <a:avLst/>
          </a:prstGeom>
          <a:solidFill>
            <a:srgbClr val="2A9D8F"/>
          </a:solidFill>
          <a:ln w="12700">
            <a:solidFill>
              <a:srgbClr val="2A9D8F"/>
            </a:solidFill>
            <a:prstDash val="solid"/>
          </a:ln>
        </p:spPr>
      </p:sp>
      <p:sp>
        <p:nvSpPr>
          <p:cNvPr id="26" name="Text 23"/>
          <p:cNvSpPr/>
          <p:nvPr/>
        </p:nvSpPr>
        <p:spPr>
          <a:xfrm>
            <a:off x="9473184" y="1828800"/>
            <a:ext cx="9144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Inter" pitchFamily="34" charset="0"/>
                <a:ea typeface="Inter" pitchFamily="34" charset="-122"/>
                <a:cs typeface="Inter" pitchFamily="34" charset="-120"/>
              </a:rPr>
              <a:t>3</a:t>
            </a:r>
            <a:endParaRPr lang="en-US" sz="3000" dirty="0"/>
          </a:p>
        </p:txBody>
      </p:sp>
      <p:sp>
        <p:nvSpPr>
          <p:cNvPr id="27" name="Text 24"/>
          <p:cNvSpPr/>
          <p:nvPr/>
        </p:nvSpPr>
        <p:spPr>
          <a:xfrm>
            <a:off x="8403336" y="2971800"/>
            <a:ext cx="3063240" cy="868680"/>
          </a:xfrm>
          <a:prstGeom prst="rect">
            <a:avLst/>
          </a:prstGeom>
          <a:noFill/>
          <a:ln/>
        </p:spPr>
        <p:txBody>
          <a:bodyPr wrap="square" lIns="0" tIns="0" rIns="0" bIns="0" rtlCol="0" anchor="t"/>
          <a:lstStyle/>
          <a:p>
            <a:pPr algn="ctr" indent="0" marL="0">
              <a:buNone/>
            </a:pPr>
            <a:r>
              <a:rPr lang="en-US" sz="1900" b="1" dirty="0">
                <a:solidFill>
                  <a:srgbClr val="13293D"/>
                </a:solidFill>
                <a:latin typeface="Inter" pitchFamily="34" charset="0"/>
                <a:ea typeface="Inter" pitchFamily="34" charset="-122"/>
                <a:cs typeface="Inter" pitchFamily="34" charset="-120"/>
              </a:rPr>
              <a:t>Describe the need, not the child</a:t>
            </a:r>
            <a:endParaRPr lang="en-US" sz="1900" dirty="0"/>
          </a:p>
        </p:txBody>
      </p:sp>
      <p:sp>
        <p:nvSpPr>
          <p:cNvPr id="28" name="Text 25"/>
          <p:cNvSpPr/>
          <p:nvPr/>
        </p:nvSpPr>
        <p:spPr>
          <a:xfrm>
            <a:off x="8403336" y="3840480"/>
            <a:ext cx="3063240" cy="1188720"/>
          </a:xfrm>
          <a:prstGeom prst="rect">
            <a:avLst/>
          </a:prstGeom>
          <a:noFill/>
          <a:ln/>
        </p:spPr>
        <p:txBody>
          <a:bodyPr wrap="square" lIns="0" tIns="0" rIns="0" bIns="0" rtlCol="0" anchor="t"/>
          <a:lstStyle/>
          <a:p>
            <a:pPr algn="ctr" indent="0" marL="0">
              <a:buNone/>
            </a:pPr>
            <a:r>
              <a:rPr lang="en-US" sz="1500" dirty="0">
                <a:solidFill>
                  <a:srgbClr val="1B1F24"/>
                </a:solidFill>
                <a:latin typeface="Inter" pitchFamily="34" charset="0"/>
                <a:ea typeface="Inter" pitchFamily="34" charset="-122"/>
                <a:cs typeface="Inter" pitchFamily="34" charset="-120"/>
              </a:rPr>
              <a:t>Reading level, behavior pattern, scaffold you want</a:t>
            </a:r>
            <a:endParaRPr lang="en-US" sz="1500" dirty="0"/>
          </a:p>
        </p:txBody>
      </p:sp>
      <p:sp>
        <p:nvSpPr>
          <p:cNvPr id="29" name="Text 26"/>
          <p:cNvSpPr/>
          <p:nvPr/>
        </p:nvSpPr>
        <p:spPr>
          <a:xfrm>
            <a:off x="640080" y="5486400"/>
            <a:ext cx="10972800" cy="457200"/>
          </a:xfrm>
          <a:prstGeom prst="rect">
            <a:avLst/>
          </a:prstGeom>
          <a:noFill/>
          <a:ln/>
        </p:spPr>
        <p:txBody>
          <a:bodyPr wrap="square" lIns="0" tIns="0" rIns="0" bIns="0" rtlCol="0" anchor="ctr"/>
          <a:lstStyle/>
          <a:p>
            <a:pPr algn="ctr" indent="0" marL="0">
              <a:buNone/>
            </a:pPr>
            <a:r>
              <a:rPr lang="en-US" sz="1900" i="1" dirty="0">
                <a:solidFill>
                  <a:srgbClr val="5B6B7A"/>
                </a:solidFill>
                <a:latin typeface="Inter" pitchFamily="34" charset="0"/>
                <a:ea typeface="Inter" pitchFamily="34" charset="-122"/>
                <a:cs typeface="Inter" pitchFamily="34" charset="-120"/>
              </a:rPr>
              <a:t>Every school prompt you ever write passes through these three moves.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19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eye: initials + context still identify. Rare details identify too.</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CALL IT OUT: SAFE OR UNSAFE?</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 try: spot the problem</a:t>
            </a:r>
            <a:endParaRPr lang="en-US" sz="3200" dirty="0"/>
          </a:p>
        </p:txBody>
      </p:sp>
      <p:sp>
        <p:nvSpPr>
          <p:cNvPr id="14" name="Shape 11"/>
          <p:cNvSpPr/>
          <p:nvPr/>
        </p:nvSpPr>
        <p:spPr>
          <a:xfrm>
            <a:off x="640080" y="1417320"/>
            <a:ext cx="685800" cy="868680"/>
          </a:xfrm>
          <a:prstGeom prst="roundRect">
            <a:avLst>
              <a:gd name="adj" fmla="val 10667"/>
            </a:avLst>
          </a:prstGeom>
          <a:solidFill>
            <a:srgbClr val="13293D"/>
          </a:solidFill>
          <a:ln w="12700">
            <a:solidFill>
              <a:srgbClr val="13293D"/>
            </a:solidFill>
            <a:prstDash val="solid"/>
          </a:ln>
        </p:spPr>
      </p:sp>
      <p:sp>
        <p:nvSpPr>
          <p:cNvPr id="15" name="Text 12"/>
          <p:cNvSpPr/>
          <p:nvPr/>
        </p:nvSpPr>
        <p:spPr>
          <a:xfrm>
            <a:off x="640080" y="1417320"/>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A</a:t>
            </a:r>
            <a:endParaRPr lang="en-US" sz="2600" dirty="0"/>
          </a:p>
        </p:txBody>
      </p:sp>
      <p:sp>
        <p:nvSpPr>
          <p:cNvPr id="16" name="Shape 13"/>
          <p:cNvSpPr/>
          <p:nvPr/>
        </p:nvSpPr>
        <p:spPr>
          <a:xfrm>
            <a:off x="1463040" y="1417320"/>
            <a:ext cx="10149840" cy="868680"/>
          </a:xfrm>
          <a:prstGeom prst="roundRect">
            <a:avLst>
              <a:gd name="adj" fmla="val 9474"/>
            </a:avLst>
          </a:prstGeom>
          <a:solidFill>
            <a:srgbClr val="F7F5F0"/>
          </a:solidFill>
          <a:ln w="12700">
            <a:solidFill>
              <a:srgbClr val="F7F5F0"/>
            </a:solidFill>
            <a:prstDash val="solid"/>
          </a:ln>
        </p:spPr>
      </p:sp>
      <p:sp>
        <p:nvSpPr>
          <p:cNvPr id="17" name="Text 14"/>
          <p:cNvSpPr/>
          <p:nvPr/>
        </p:nvSpPr>
        <p:spPr>
          <a:xfrm>
            <a:off x="1737360" y="1472184"/>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“Write a note home about D.T.’s IEP accommodations for the field trip.”</a:t>
            </a:r>
            <a:endParaRPr lang="en-US" sz="1800" dirty="0"/>
          </a:p>
        </p:txBody>
      </p:sp>
      <p:sp>
        <p:nvSpPr>
          <p:cNvPr id="18" name="Shape 15"/>
          <p:cNvSpPr/>
          <p:nvPr/>
        </p:nvSpPr>
        <p:spPr>
          <a:xfrm>
            <a:off x="640080" y="2496312"/>
            <a:ext cx="685800" cy="868680"/>
          </a:xfrm>
          <a:prstGeom prst="roundRect">
            <a:avLst>
              <a:gd name="adj" fmla="val 10667"/>
            </a:avLst>
          </a:prstGeom>
          <a:solidFill>
            <a:srgbClr val="13293D"/>
          </a:solidFill>
          <a:ln w="12700">
            <a:solidFill>
              <a:srgbClr val="13293D"/>
            </a:solidFill>
            <a:prstDash val="solid"/>
          </a:ln>
        </p:spPr>
      </p:sp>
      <p:sp>
        <p:nvSpPr>
          <p:cNvPr id="19" name="Text 16"/>
          <p:cNvSpPr/>
          <p:nvPr/>
        </p:nvSpPr>
        <p:spPr>
          <a:xfrm>
            <a:off x="640080" y="2496312"/>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B</a:t>
            </a:r>
            <a:endParaRPr lang="en-US" sz="2600" dirty="0"/>
          </a:p>
        </p:txBody>
      </p:sp>
      <p:sp>
        <p:nvSpPr>
          <p:cNvPr id="20" name="Shape 17"/>
          <p:cNvSpPr/>
          <p:nvPr/>
        </p:nvSpPr>
        <p:spPr>
          <a:xfrm>
            <a:off x="1463040" y="2496312"/>
            <a:ext cx="10149840" cy="868680"/>
          </a:xfrm>
          <a:prstGeom prst="roundRect">
            <a:avLst>
              <a:gd name="adj" fmla="val 9474"/>
            </a:avLst>
          </a:prstGeom>
          <a:solidFill>
            <a:srgbClr val="F7F5F0"/>
          </a:solidFill>
          <a:ln w="12700">
            <a:solidFill>
              <a:srgbClr val="F7F5F0"/>
            </a:solidFill>
            <a:prstDash val="solid"/>
          </a:ln>
        </p:spPr>
      </p:sp>
      <p:sp>
        <p:nvSpPr>
          <p:cNvPr id="21" name="Text 18"/>
          <p:cNvSpPr/>
          <p:nvPr/>
        </p:nvSpPr>
        <p:spPr>
          <a:xfrm>
            <a:off x="1737360" y="2551176"/>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“Create a behavior-reflection sheet for elementary students, friendly tone.”</a:t>
            </a:r>
            <a:endParaRPr lang="en-US" sz="1800" dirty="0"/>
          </a:p>
        </p:txBody>
      </p:sp>
      <p:sp>
        <p:nvSpPr>
          <p:cNvPr id="22" name="Shape 19"/>
          <p:cNvSpPr/>
          <p:nvPr/>
        </p:nvSpPr>
        <p:spPr>
          <a:xfrm>
            <a:off x="640080" y="3575304"/>
            <a:ext cx="685800" cy="868680"/>
          </a:xfrm>
          <a:prstGeom prst="roundRect">
            <a:avLst>
              <a:gd name="adj" fmla="val 10667"/>
            </a:avLst>
          </a:prstGeom>
          <a:solidFill>
            <a:srgbClr val="13293D"/>
          </a:solidFill>
          <a:ln w="12700">
            <a:solidFill>
              <a:srgbClr val="13293D"/>
            </a:solidFill>
            <a:prstDash val="solid"/>
          </a:ln>
        </p:spPr>
      </p:sp>
      <p:sp>
        <p:nvSpPr>
          <p:cNvPr id="23" name="Text 20"/>
          <p:cNvSpPr/>
          <p:nvPr/>
        </p:nvSpPr>
        <p:spPr>
          <a:xfrm>
            <a:off x="640080" y="3575304"/>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C</a:t>
            </a:r>
            <a:endParaRPr lang="en-US" sz="2600" dirty="0"/>
          </a:p>
        </p:txBody>
      </p:sp>
      <p:sp>
        <p:nvSpPr>
          <p:cNvPr id="24" name="Shape 21"/>
          <p:cNvSpPr/>
          <p:nvPr/>
        </p:nvSpPr>
        <p:spPr>
          <a:xfrm>
            <a:off x="1463040" y="3575304"/>
            <a:ext cx="10149840" cy="868680"/>
          </a:xfrm>
          <a:prstGeom prst="roundRect">
            <a:avLst>
              <a:gd name="adj" fmla="val 9474"/>
            </a:avLst>
          </a:prstGeom>
          <a:solidFill>
            <a:srgbClr val="F7F5F0"/>
          </a:solidFill>
          <a:ln w="12700">
            <a:solidFill>
              <a:srgbClr val="F7F5F0"/>
            </a:solidFill>
            <a:prstDash val="solid"/>
          </a:ln>
        </p:spPr>
      </p:sp>
      <p:sp>
        <p:nvSpPr>
          <p:cNvPr id="25" name="Text 22"/>
          <p:cNvSpPr/>
          <p:nvPr/>
        </p:nvSpPr>
        <p:spPr>
          <a:xfrm>
            <a:off x="1737360" y="3630168"/>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“Help me write a welcome plan for the student who just moved here from Ukraine.”</a:t>
            </a:r>
            <a:endParaRPr lang="en-US" sz="1800" dirty="0"/>
          </a:p>
        </p:txBody>
      </p:sp>
      <p:sp>
        <p:nvSpPr>
          <p:cNvPr id="26" name="Shape 23"/>
          <p:cNvSpPr/>
          <p:nvPr/>
        </p:nvSpPr>
        <p:spPr>
          <a:xfrm>
            <a:off x="640080" y="4654296"/>
            <a:ext cx="685800" cy="868680"/>
          </a:xfrm>
          <a:prstGeom prst="roundRect">
            <a:avLst>
              <a:gd name="adj" fmla="val 10667"/>
            </a:avLst>
          </a:prstGeom>
          <a:solidFill>
            <a:srgbClr val="13293D"/>
          </a:solidFill>
          <a:ln w="12700">
            <a:solidFill>
              <a:srgbClr val="13293D"/>
            </a:solidFill>
            <a:prstDash val="solid"/>
          </a:ln>
        </p:spPr>
      </p:sp>
      <p:sp>
        <p:nvSpPr>
          <p:cNvPr id="27" name="Text 24"/>
          <p:cNvSpPr/>
          <p:nvPr/>
        </p:nvSpPr>
        <p:spPr>
          <a:xfrm>
            <a:off x="640080" y="4654296"/>
            <a:ext cx="68580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D</a:t>
            </a:r>
            <a:endParaRPr lang="en-US" sz="2600" dirty="0"/>
          </a:p>
        </p:txBody>
      </p:sp>
      <p:sp>
        <p:nvSpPr>
          <p:cNvPr id="28" name="Shape 25"/>
          <p:cNvSpPr/>
          <p:nvPr/>
        </p:nvSpPr>
        <p:spPr>
          <a:xfrm>
            <a:off x="1463040" y="4654296"/>
            <a:ext cx="10149840" cy="868680"/>
          </a:xfrm>
          <a:prstGeom prst="roundRect">
            <a:avLst>
              <a:gd name="adj" fmla="val 9474"/>
            </a:avLst>
          </a:prstGeom>
          <a:solidFill>
            <a:srgbClr val="F7F5F0"/>
          </a:solidFill>
          <a:ln w="12700">
            <a:solidFill>
              <a:srgbClr val="F7F5F0"/>
            </a:solidFill>
            <a:prstDash val="solid"/>
          </a:ln>
        </p:spPr>
      </p:sp>
      <p:sp>
        <p:nvSpPr>
          <p:cNvPr id="29" name="Text 26"/>
          <p:cNvSpPr/>
          <p:nvPr/>
        </p:nvSpPr>
        <p:spPr>
          <a:xfrm>
            <a:off x="1737360" y="4709160"/>
            <a:ext cx="9601200" cy="7772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“Summarize strategies for a class where a third of students read below grade level.”</a:t>
            </a:r>
            <a:endParaRPr lang="en-US" sz="1800" dirty="0"/>
          </a:p>
        </p:txBody>
      </p:sp>
      <p:sp>
        <p:nvSpPr>
          <p:cNvPr id="30" name="Text 27"/>
          <p:cNvSpPr/>
          <p:nvPr/>
        </p:nvSpPr>
        <p:spPr>
          <a:xfrm>
            <a:off x="640080" y="5806440"/>
            <a:ext cx="10972800" cy="365760"/>
          </a:xfrm>
          <a:prstGeom prst="rect">
            <a:avLst/>
          </a:prstGeom>
          <a:noFill/>
          <a:ln/>
        </p:spPr>
        <p:txBody>
          <a:bodyPr wrap="square" lIns="0" tIns="0" rIns="0" bIns="0" rtlCol="0" anchor="ctr"/>
          <a:lstStyle/>
          <a:p>
            <a:pPr algn="ctr" indent="0" marL="0">
              <a:buNone/>
            </a:pPr>
            <a:r>
              <a:rPr lang="en-US" sz="1350" i="1" dirty="0">
                <a:solidFill>
                  <a:srgbClr val="5B6B7A"/>
                </a:solidFill>
                <a:latin typeface="Inter" pitchFamily="34" charset="0"/>
                <a:ea typeface="Inter" pitchFamily="34" charset="-122"/>
                <a:cs typeface="Inter" pitchFamily="34" charset="-120"/>
              </a:rPr>
              <a:t>Answers: A unsafe (initials + IEP details) · B safe · C unsafe (identifiable without a name) · D safe (aggregate, no identities)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20</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lab pick, one artifact all the way through: the family newsletter blurb.</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HANDS-ON · 15 MINUTES</a:t>
            </a:r>
            <a:endParaRPr lang="en-US" sz="1200" dirty="0"/>
          </a:p>
        </p:txBody>
      </p:sp>
      <p:sp>
        <p:nvSpPr>
          <p:cNvPr id="13" name="Text 10"/>
          <p:cNvSpPr/>
          <p:nvPr/>
        </p:nvSpPr>
        <p:spPr>
          <a:xfrm>
            <a:off x="640080" y="137160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Inter" pitchFamily="34" charset="0"/>
                <a:ea typeface="Inter" pitchFamily="34" charset="-122"/>
                <a:cs typeface="Inter" pitchFamily="34" charset="-120"/>
              </a:rPr>
              <a:t>Lab time. Devices out.</a:t>
            </a:r>
            <a:endParaRPr lang="en-US" sz="4400" dirty="0"/>
          </a:p>
        </p:txBody>
      </p:sp>
      <p:sp>
        <p:nvSpPr>
          <p:cNvPr id="14" name="Text 11"/>
          <p:cNvSpPr/>
          <p:nvPr/>
        </p:nvSpPr>
        <p:spPr>
          <a:xfrm>
            <a:off x="640080" y="2331720"/>
            <a:ext cx="10972800" cy="457200"/>
          </a:xfrm>
          <a:prstGeom prst="rect">
            <a:avLst/>
          </a:prstGeom>
          <a:noFill/>
          <a:ln/>
        </p:spPr>
        <p:txBody>
          <a:bodyPr wrap="square" lIns="0" tIns="0" rIns="0" bIns="0" rtlCol="0" anchor="ctr"/>
          <a:lstStyle/>
          <a:p>
            <a:pPr indent="0" marL="0">
              <a:buNone/>
            </a:pPr>
            <a:r>
              <a:rPr lang="en-US" sz="2000" dirty="0">
                <a:solidFill>
                  <a:srgbClr val="C9D4DE"/>
                </a:solidFill>
                <a:latin typeface="Inter" pitchFamily="34" charset="0"/>
                <a:ea typeface="Inter" pitchFamily="34" charset="-122"/>
                <a:cs typeface="Inter" pitchFamily="34" charset="-120"/>
              </a:rPr>
              <a:t>Pair up · one screen per pair · open the tool we’re using today</a:t>
            </a:r>
            <a:endParaRPr lang="en-US" sz="2000" dirty="0"/>
          </a:p>
        </p:txBody>
      </p:sp>
      <p:sp>
        <p:nvSpPr>
          <p:cNvPr id="15" name="Shape 12"/>
          <p:cNvSpPr/>
          <p:nvPr/>
        </p:nvSpPr>
        <p:spPr>
          <a:xfrm>
            <a:off x="822960" y="3108960"/>
            <a:ext cx="566928" cy="566928"/>
          </a:xfrm>
          <a:prstGeom prst="ellipse">
            <a:avLst/>
          </a:prstGeom>
          <a:solidFill>
            <a:srgbClr val="2A9D8F"/>
          </a:solidFill>
          <a:ln w="12700">
            <a:solidFill>
              <a:srgbClr val="2A9D8F"/>
            </a:solidFill>
            <a:prstDash val="solid"/>
          </a:ln>
        </p:spPr>
      </p:sp>
      <p:sp>
        <p:nvSpPr>
          <p:cNvPr id="16" name="Text 13"/>
          <p:cNvSpPr/>
          <p:nvPr/>
        </p:nvSpPr>
        <p:spPr>
          <a:xfrm>
            <a:off x="822960" y="3108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1</a:t>
            </a:r>
            <a:endParaRPr lang="en-US" sz="2000" dirty="0"/>
          </a:p>
        </p:txBody>
      </p:sp>
      <p:sp>
        <p:nvSpPr>
          <p:cNvPr id="17" name="Text 14"/>
          <p:cNvSpPr/>
          <p:nvPr/>
        </p:nvSpPr>
        <p:spPr>
          <a:xfrm>
            <a:off x="1600200" y="3063240"/>
            <a:ext cx="9875520" cy="658368"/>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No student information: we practice like we play</a:t>
            </a:r>
            <a:endParaRPr lang="en-US" sz="2100" dirty="0"/>
          </a:p>
        </p:txBody>
      </p:sp>
      <p:sp>
        <p:nvSpPr>
          <p:cNvPr id="18" name="Shape 15"/>
          <p:cNvSpPr/>
          <p:nvPr/>
        </p:nvSpPr>
        <p:spPr>
          <a:xfrm>
            <a:off x="822960" y="3977640"/>
            <a:ext cx="566928" cy="566928"/>
          </a:xfrm>
          <a:prstGeom prst="ellipse">
            <a:avLst/>
          </a:prstGeom>
          <a:solidFill>
            <a:srgbClr val="2A9D8F"/>
          </a:solidFill>
          <a:ln w="12700">
            <a:solidFill>
              <a:srgbClr val="2A9D8F"/>
            </a:solidFill>
            <a:prstDash val="solid"/>
          </a:ln>
        </p:spPr>
      </p:sp>
      <p:sp>
        <p:nvSpPr>
          <p:cNvPr id="19" name="Text 16"/>
          <p:cNvSpPr/>
          <p:nvPr/>
        </p:nvSpPr>
        <p:spPr>
          <a:xfrm>
            <a:off x="822960" y="3977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2</a:t>
            </a:r>
            <a:endParaRPr lang="en-US" sz="2000" dirty="0"/>
          </a:p>
        </p:txBody>
      </p:sp>
      <p:sp>
        <p:nvSpPr>
          <p:cNvPr id="20" name="Text 17"/>
          <p:cNvSpPr/>
          <p:nvPr/>
        </p:nvSpPr>
        <p:spPr>
          <a:xfrm>
            <a:off x="1600200" y="3931920"/>
            <a:ext cx="9875520" cy="658368"/>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Nothing has to be good; this is a sandbox</a:t>
            </a:r>
            <a:endParaRPr lang="en-US" sz="2100" dirty="0"/>
          </a:p>
        </p:txBody>
      </p:sp>
      <p:sp>
        <p:nvSpPr>
          <p:cNvPr id="21" name="Shape 18"/>
          <p:cNvSpPr/>
          <p:nvPr/>
        </p:nvSpPr>
        <p:spPr>
          <a:xfrm>
            <a:off x="822960" y="4846320"/>
            <a:ext cx="566928" cy="566928"/>
          </a:xfrm>
          <a:prstGeom prst="ellipse">
            <a:avLst/>
          </a:prstGeom>
          <a:solidFill>
            <a:srgbClr val="2A9D8F"/>
          </a:solidFill>
          <a:ln w="12700">
            <a:solidFill>
              <a:srgbClr val="2A9D8F"/>
            </a:solidFill>
            <a:prstDash val="solid"/>
          </a:ln>
        </p:spPr>
      </p:sp>
      <p:sp>
        <p:nvSpPr>
          <p:cNvPr id="22" name="Text 19"/>
          <p:cNvSpPr/>
          <p:nvPr/>
        </p:nvSpPr>
        <p:spPr>
          <a:xfrm>
            <a:off x="822960" y="48463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3</a:t>
            </a:r>
            <a:endParaRPr lang="en-US" sz="2000" dirty="0"/>
          </a:p>
        </p:txBody>
      </p:sp>
      <p:sp>
        <p:nvSpPr>
          <p:cNvPr id="23" name="Text 20"/>
          <p:cNvSpPr/>
          <p:nvPr/>
        </p:nvSpPr>
        <p:spPr>
          <a:xfrm>
            <a:off x="1600200" y="4800600"/>
            <a:ext cx="9875520" cy="658368"/>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When it gives you something mediocre, don’t settle</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newsletter blurb, v1: option A typed, draft back. Beige, sounds like nobody.</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TASK 1 OF 2 · 6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Your first useful prompt: pick one</a:t>
            </a:r>
            <a:endParaRPr lang="en-US" sz="3200" dirty="0"/>
          </a:p>
        </p:txBody>
      </p:sp>
      <p:sp>
        <p:nvSpPr>
          <p:cNvPr id="14" name="Shape 11"/>
          <p:cNvSpPr/>
          <p:nvPr/>
        </p:nvSpPr>
        <p:spPr>
          <a:xfrm>
            <a:off x="640080" y="1298448"/>
            <a:ext cx="5074920" cy="1024128"/>
          </a:xfrm>
          <a:prstGeom prst="roundRect">
            <a:avLst>
              <a:gd name="adj" fmla="val 8036"/>
            </a:avLst>
          </a:prstGeom>
          <a:solidFill>
            <a:srgbClr val="F7F5F0"/>
          </a:solidFill>
          <a:ln w="12700">
            <a:solidFill>
              <a:srgbClr val="F7F5F0"/>
            </a:solidFill>
            <a:prstDash val="solid"/>
          </a:ln>
        </p:spPr>
      </p:sp>
      <p:sp>
        <p:nvSpPr>
          <p:cNvPr id="15" name="Shape 12"/>
          <p:cNvSpPr/>
          <p:nvPr/>
        </p:nvSpPr>
        <p:spPr>
          <a:xfrm>
            <a:off x="841248" y="1609344"/>
            <a:ext cx="402336" cy="402336"/>
          </a:xfrm>
          <a:prstGeom prst="ellipse">
            <a:avLst/>
          </a:prstGeom>
          <a:solidFill>
            <a:srgbClr val="2A9D8F"/>
          </a:solidFill>
          <a:ln w="12700">
            <a:solidFill>
              <a:srgbClr val="2A9D8F"/>
            </a:solidFill>
            <a:prstDash val="solid"/>
          </a:ln>
        </p:spPr>
      </p:sp>
      <p:sp>
        <p:nvSpPr>
          <p:cNvPr id="16" name="Text 13"/>
          <p:cNvSpPr/>
          <p:nvPr/>
        </p:nvSpPr>
        <p:spPr>
          <a:xfrm>
            <a:off x="841248" y="160934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A</a:t>
            </a:r>
            <a:endParaRPr lang="en-US" sz="1600" dirty="0"/>
          </a:p>
        </p:txBody>
      </p:sp>
      <p:sp>
        <p:nvSpPr>
          <p:cNvPr id="17" name="Text 14"/>
          <p:cNvSpPr/>
          <p:nvPr/>
        </p:nvSpPr>
        <p:spPr>
          <a:xfrm>
            <a:off x="1389888" y="1380744"/>
            <a:ext cx="4206240" cy="237744"/>
          </a:xfrm>
          <a:prstGeom prst="rect">
            <a:avLst/>
          </a:prstGeom>
          <a:noFill/>
          <a:ln/>
        </p:spPr>
        <p:txBody>
          <a:bodyPr wrap="square" lIns="0" tIns="0" rIns="0" bIns="0" rtlCol="0" anchor="ctr"/>
          <a:lstStyle/>
          <a:p>
            <a:pPr indent="0" marL="0">
              <a:buNone/>
            </a:pPr>
            <a:r>
              <a:rPr lang="en-US" sz="950" b="1" spc="150" kern="0" dirty="0">
                <a:solidFill>
                  <a:srgbClr val="2A9D8F"/>
                </a:solidFill>
                <a:latin typeface="Inter" pitchFamily="34" charset="0"/>
                <a:ea typeface="Inter" pitchFamily="34" charset="-122"/>
                <a:cs typeface="Inter" pitchFamily="34" charset="-120"/>
              </a:rPr>
              <a:t>FAMILIES</a:t>
            </a:r>
            <a:endParaRPr lang="en-US" sz="950" dirty="0"/>
          </a:p>
        </p:txBody>
      </p:sp>
      <p:sp>
        <p:nvSpPr>
          <p:cNvPr id="18" name="Text 15"/>
          <p:cNvSpPr/>
          <p:nvPr/>
        </p:nvSpPr>
        <p:spPr>
          <a:xfrm>
            <a:off x="1389888" y="1618488"/>
            <a:ext cx="4224528" cy="658368"/>
          </a:xfrm>
          <a:prstGeom prst="rect">
            <a:avLst/>
          </a:prstGeom>
          <a:noFill/>
          <a:ln/>
        </p:spPr>
        <p:txBody>
          <a:bodyPr wrap="square" lIns="0" tIns="0" rIns="0" bIns="0" rtlCol="0" anchor="t"/>
          <a:lstStyle/>
          <a:p>
            <a:pPr indent="0" marL="0">
              <a:buNone/>
            </a:pPr>
            <a:r>
              <a:rPr lang="en-US" sz="1200" dirty="0">
                <a:solidFill>
                  <a:srgbClr val="1B1F24"/>
                </a:solidFill>
                <a:latin typeface="Inter" pitchFamily="34" charset="0"/>
                <a:ea typeface="Inter" pitchFamily="34" charset="-122"/>
                <a:cs typeface="Inter" pitchFamily="34" charset="-120"/>
              </a:rPr>
              <a:t>“Write a warm, professional newsletter blurb for families about [any upcoming school event], under 120 words.”</a:t>
            </a:r>
            <a:endParaRPr lang="en-US" sz="1200" dirty="0"/>
          </a:p>
        </p:txBody>
      </p:sp>
      <p:sp>
        <p:nvSpPr>
          <p:cNvPr id="19" name="Shape 16"/>
          <p:cNvSpPr/>
          <p:nvPr/>
        </p:nvSpPr>
        <p:spPr>
          <a:xfrm>
            <a:off x="640080" y="2395728"/>
            <a:ext cx="5074920" cy="1024128"/>
          </a:xfrm>
          <a:prstGeom prst="roundRect">
            <a:avLst>
              <a:gd name="adj" fmla="val 8036"/>
            </a:avLst>
          </a:prstGeom>
          <a:solidFill>
            <a:srgbClr val="F7F5F0"/>
          </a:solidFill>
          <a:ln w="12700">
            <a:solidFill>
              <a:srgbClr val="F7F5F0"/>
            </a:solidFill>
            <a:prstDash val="solid"/>
          </a:ln>
        </p:spPr>
      </p:sp>
      <p:sp>
        <p:nvSpPr>
          <p:cNvPr id="20" name="Shape 17"/>
          <p:cNvSpPr/>
          <p:nvPr/>
        </p:nvSpPr>
        <p:spPr>
          <a:xfrm>
            <a:off x="841248" y="2706624"/>
            <a:ext cx="402336" cy="402336"/>
          </a:xfrm>
          <a:prstGeom prst="ellipse">
            <a:avLst/>
          </a:prstGeom>
          <a:solidFill>
            <a:srgbClr val="2A9D8F"/>
          </a:solidFill>
          <a:ln w="12700">
            <a:solidFill>
              <a:srgbClr val="2A9D8F"/>
            </a:solidFill>
            <a:prstDash val="solid"/>
          </a:ln>
        </p:spPr>
      </p:sp>
      <p:sp>
        <p:nvSpPr>
          <p:cNvPr id="21" name="Text 18"/>
          <p:cNvSpPr/>
          <p:nvPr/>
        </p:nvSpPr>
        <p:spPr>
          <a:xfrm>
            <a:off x="841248" y="270662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B</a:t>
            </a:r>
            <a:endParaRPr lang="en-US" sz="1600" dirty="0"/>
          </a:p>
        </p:txBody>
      </p:sp>
      <p:sp>
        <p:nvSpPr>
          <p:cNvPr id="22" name="Text 19"/>
          <p:cNvSpPr/>
          <p:nvPr/>
        </p:nvSpPr>
        <p:spPr>
          <a:xfrm>
            <a:off x="1389888" y="2478024"/>
            <a:ext cx="4206240" cy="237744"/>
          </a:xfrm>
          <a:prstGeom prst="rect">
            <a:avLst/>
          </a:prstGeom>
          <a:noFill/>
          <a:ln/>
        </p:spPr>
        <p:txBody>
          <a:bodyPr wrap="square" lIns="0" tIns="0" rIns="0" bIns="0" rtlCol="0" anchor="ctr"/>
          <a:lstStyle/>
          <a:p>
            <a:pPr indent="0" marL="0">
              <a:buNone/>
            </a:pPr>
            <a:r>
              <a:rPr lang="en-US" sz="950" b="1" spc="150" kern="0" dirty="0">
                <a:solidFill>
                  <a:srgbClr val="2A9D8F"/>
                </a:solidFill>
                <a:latin typeface="Inter" pitchFamily="34" charset="0"/>
                <a:ea typeface="Inter" pitchFamily="34" charset="-122"/>
                <a:cs typeface="Inter" pitchFamily="34" charset="-120"/>
              </a:rPr>
              <a:t>ASSESSMENT</a:t>
            </a:r>
            <a:endParaRPr lang="en-US" sz="950" dirty="0"/>
          </a:p>
        </p:txBody>
      </p:sp>
      <p:sp>
        <p:nvSpPr>
          <p:cNvPr id="23" name="Text 20"/>
          <p:cNvSpPr/>
          <p:nvPr/>
        </p:nvSpPr>
        <p:spPr>
          <a:xfrm>
            <a:off x="1389888" y="2715768"/>
            <a:ext cx="4224528" cy="658368"/>
          </a:xfrm>
          <a:prstGeom prst="rect">
            <a:avLst/>
          </a:prstGeom>
          <a:noFill/>
          <a:ln/>
        </p:spPr>
        <p:txBody>
          <a:bodyPr wrap="square" lIns="0" tIns="0" rIns="0" bIns="0" rtlCol="0" anchor="t"/>
          <a:lstStyle/>
          <a:p>
            <a:pPr indent="0" marL="0">
              <a:buNone/>
            </a:pPr>
            <a:r>
              <a:rPr lang="en-US" sz="1200" dirty="0">
                <a:solidFill>
                  <a:srgbClr val="1B1F24"/>
                </a:solidFill>
                <a:latin typeface="Inter" pitchFamily="34" charset="0"/>
                <a:ea typeface="Inter" pitchFamily="34" charset="-122"/>
                <a:cs typeface="Inter" pitchFamily="34" charset="-120"/>
              </a:rPr>
              <a:t>“Create a five-question review quiz on [any topic you teach], mixed difficulty, with an answer key.”</a:t>
            </a:r>
            <a:endParaRPr lang="en-US" sz="1200" dirty="0"/>
          </a:p>
        </p:txBody>
      </p:sp>
      <p:sp>
        <p:nvSpPr>
          <p:cNvPr id="24" name="Shape 21"/>
          <p:cNvSpPr/>
          <p:nvPr/>
        </p:nvSpPr>
        <p:spPr>
          <a:xfrm>
            <a:off x="640080" y="3493008"/>
            <a:ext cx="5074920" cy="1024128"/>
          </a:xfrm>
          <a:prstGeom prst="roundRect">
            <a:avLst>
              <a:gd name="adj" fmla="val 8036"/>
            </a:avLst>
          </a:prstGeom>
          <a:solidFill>
            <a:srgbClr val="F7F5F0"/>
          </a:solidFill>
          <a:ln w="12700">
            <a:solidFill>
              <a:srgbClr val="F7F5F0"/>
            </a:solidFill>
            <a:prstDash val="solid"/>
          </a:ln>
        </p:spPr>
      </p:sp>
      <p:sp>
        <p:nvSpPr>
          <p:cNvPr id="25" name="Shape 22"/>
          <p:cNvSpPr/>
          <p:nvPr/>
        </p:nvSpPr>
        <p:spPr>
          <a:xfrm>
            <a:off x="841248" y="3803904"/>
            <a:ext cx="402336" cy="402336"/>
          </a:xfrm>
          <a:prstGeom prst="ellipse">
            <a:avLst/>
          </a:prstGeom>
          <a:solidFill>
            <a:srgbClr val="2A9D8F"/>
          </a:solidFill>
          <a:ln w="12700">
            <a:solidFill>
              <a:srgbClr val="2A9D8F"/>
            </a:solidFill>
            <a:prstDash val="solid"/>
          </a:ln>
        </p:spPr>
      </p:sp>
      <p:sp>
        <p:nvSpPr>
          <p:cNvPr id="26" name="Text 23"/>
          <p:cNvSpPr/>
          <p:nvPr/>
        </p:nvSpPr>
        <p:spPr>
          <a:xfrm>
            <a:off x="841248" y="380390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C</a:t>
            </a:r>
            <a:endParaRPr lang="en-US" sz="1600" dirty="0"/>
          </a:p>
        </p:txBody>
      </p:sp>
      <p:sp>
        <p:nvSpPr>
          <p:cNvPr id="27" name="Text 24"/>
          <p:cNvSpPr/>
          <p:nvPr/>
        </p:nvSpPr>
        <p:spPr>
          <a:xfrm>
            <a:off x="1389888" y="3575304"/>
            <a:ext cx="4206240" cy="237744"/>
          </a:xfrm>
          <a:prstGeom prst="rect">
            <a:avLst/>
          </a:prstGeom>
          <a:noFill/>
          <a:ln/>
        </p:spPr>
        <p:txBody>
          <a:bodyPr wrap="square" lIns="0" tIns="0" rIns="0" bIns="0" rtlCol="0" anchor="ctr"/>
          <a:lstStyle/>
          <a:p>
            <a:pPr indent="0" marL="0">
              <a:buNone/>
            </a:pPr>
            <a:r>
              <a:rPr lang="en-US" sz="950" b="1" spc="150" kern="0" dirty="0">
                <a:solidFill>
                  <a:srgbClr val="2A9D8F"/>
                </a:solidFill>
                <a:latin typeface="Inter" pitchFamily="34" charset="0"/>
                <a:ea typeface="Inter" pitchFamily="34" charset="-122"/>
                <a:cs typeface="Inter" pitchFamily="34" charset="-120"/>
              </a:rPr>
              <a:t>DIFFERENTIATION</a:t>
            </a:r>
            <a:endParaRPr lang="en-US" sz="950" dirty="0"/>
          </a:p>
        </p:txBody>
      </p:sp>
      <p:sp>
        <p:nvSpPr>
          <p:cNvPr id="28" name="Text 25"/>
          <p:cNvSpPr/>
          <p:nvPr/>
        </p:nvSpPr>
        <p:spPr>
          <a:xfrm>
            <a:off x="1389888" y="3813048"/>
            <a:ext cx="4224528" cy="658368"/>
          </a:xfrm>
          <a:prstGeom prst="rect">
            <a:avLst/>
          </a:prstGeom>
          <a:noFill/>
          <a:ln/>
        </p:spPr>
        <p:txBody>
          <a:bodyPr wrap="square" lIns="0" tIns="0" rIns="0" bIns="0" rtlCol="0" anchor="t"/>
          <a:lstStyle/>
          <a:p>
            <a:pPr indent="0" marL="0">
              <a:buNone/>
            </a:pPr>
            <a:r>
              <a:rPr lang="en-US" sz="1200" dirty="0">
                <a:solidFill>
                  <a:srgbClr val="1B1F24"/>
                </a:solidFill>
                <a:latin typeface="Inter" pitchFamily="34" charset="0"/>
                <a:ea typeface="Inter" pitchFamily="34" charset="-122"/>
                <a:cs typeface="Inter" pitchFamily="34" charset="-120"/>
              </a:rPr>
              <a:t>“Rewrite this paragraph at three different reading levels.” Then paste any paragraph you already have.</a:t>
            </a:r>
            <a:endParaRPr lang="en-US" sz="1200" dirty="0"/>
          </a:p>
        </p:txBody>
      </p:sp>
      <p:sp>
        <p:nvSpPr>
          <p:cNvPr id="29" name="Shape 26"/>
          <p:cNvSpPr/>
          <p:nvPr/>
        </p:nvSpPr>
        <p:spPr>
          <a:xfrm>
            <a:off x="640080" y="4590288"/>
            <a:ext cx="5074920" cy="1024128"/>
          </a:xfrm>
          <a:prstGeom prst="roundRect">
            <a:avLst>
              <a:gd name="adj" fmla="val 8036"/>
            </a:avLst>
          </a:prstGeom>
          <a:solidFill>
            <a:srgbClr val="F7F5F0"/>
          </a:solidFill>
          <a:ln w="12700">
            <a:solidFill>
              <a:srgbClr val="F7F5F0"/>
            </a:solidFill>
            <a:prstDash val="solid"/>
          </a:ln>
        </p:spPr>
      </p:sp>
      <p:sp>
        <p:nvSpPr>
          <p:cNvPr id="30" name="Shape 27"/>
          <p:cNvSpPr/>
          <p:nvPr/>
        </p:nvSpPr>
        <p:spPr>
          <a:xfrm>
            <a:off x="841248" y="4901184"/>
            <a:ext cx="402336" cy="402336"/>
          </a:xfrm>
          <a:prstGeom prst="ellipse">
            <a:avLst/>
          </a:prstGeom>
          <a:solidFill>
            <a:srgbClr val="2A9D8F"/>
          </a:solidFill>
          <a:ln w="12700">
            <a:solidFill>
              <a:srgbClr val="2A9D8F"/>
            </a:solidFill>
            <a:prstDash val="solid"/>
          </a:ln>
        </p:spPr>
      </p:sp>
      <p:sp>
        <p:nvSpPr>
          <p:cNvPr id="31" name="Text 28"/>
          <p:cNvSpPr/>
          <p:nvPr/>
        </p:nvSpPr>
        <p:spPr>
          <a:xfrm>
            <a:off x="841248" y="490118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D</a:t>
            </a:r>
            <a:endParaRPr lang="en-US" sz="1600" dirty="0"/>
          </a:p>
        </p:txBody>
      </p:sp>
      <p:sp>
        <p:nvSpPr>
          <p:cNvPr id="32" name="Text 29"/>
          <p:cNvSpPr/>
          <p:nvPr/>
        </p:nvSpPr>
        <p:spPr>
          <a:xfrm>
            <a:off x="1389888" y="4672584"/>
            <a:ext cx="4206240" cy="237744"/>
          </a:xfrm>
          <a:prstGeom prst="rect">
            <a:avLst/>
          </a:prstGeom>
          <a:noFill/>
          <a:ln/>
        </p:spPr>
        <p:txBody>
          <a:bodyPr wrap="square" lIns="0" tIns="0" rIns="0" bIns="0" rtlCol="0" anchor="ctr"/>
          <a:lstStyle/>
          <a:p>
            <a:pPr indent="0" marL="0">
              <a:buNone/>
            </a:pPr>
            <a:r>
              <a:rPr lang="en-US" sz="950" b="1" spc="150" kern="0" dirty="0">
                <a:solidFill>
                  <a:srgbClr val="2A9D8F"/>
                </a:solidFill>
                <a:latin typeface="Inter" pitchFamily="34" charset="0"/>
                <a:ea typeface="Inter" pitchFamily="34" charset="-122"/>
                <a:cs typeface="Inter" pitchFamily="34" charset="-120"/>
              </a:rPr>
              <a:t>CTE &amp; ELECTIVES</a:t>
            </a:r>
            <a:endParaRPr lang="en-US" sz="950" dirty="0"/>
          </a:p>
        </p:txBody>
      </p:sp>
      <p:sp>
        <p:nvSpPr>
          <p:cNvPr id="33" name="Text 30"/>
          <p:cNvSpPr/>
          <p:nvPr/>
        </p:nvSpPr>
        <p:spPr>
          <a:xfrm>
            <a:off x="1389888" y="4910328"/>
            <a:ext cx="4224528" cy="658368"/>
          </a:xfrm>
          <a:prstGeom prst="rect">
            <a:avLst/>
          </a:prstGeom>
          <a:noFill/>
          <a:ln/>
        </p:spPr>
        <p:txBody>
          <a:bodyPr wrap="square" lIns="0" tIns="0" rIns="0" bIns="0" rtlCol="0" anchor="t"/>
          <a:lstStyle/>
          <a:p>
            <a:pPr indent="0" marL="0">
              <a:buNone/>
            </a:pPr>
            <a:r>
              <a:rPr lang="en-US" sz="1200" dirty="0">
                <a:solidFill>
                  <a:srgbClr val="1B1F24"/>
                </a:solidFill>
                <a:latin typeface="Inter" pitchFamily="34" charset="0"/>
                <a:ea typeface="Inter" pitchFamily="34" charset="-122"/>
                <a:cs typeface="Inter" pitchFamily="34" charset="-120"/>
              </a:rPr>
              <a:t>“Create a five-question tool safety check for the miter saw station, mixed question formats, with an answer key.” Swap in any station, lab, kitchen, or instrument.</a:t>
            </a:r>
            <a:endParaRPr lang="en-US" sz="1200" dirty="0"/>
          </a:p>
        </p:txBody>
      </p:sp>
      <p:sp>
        <p:nvSpPr>
          <p:cNvPr id="34" name="Shape 31"/>
          <p:cNvSpPr/>
          <p:nvPr/>
        </p:nvSpPr>
        <p:spPr>
          <a:xfrm>
            <a:off x="5897880" y="1298448"/>
            <a:ext cx="5715000" cy="4315968"/>
          </a:xfrm>
          <a:prstGeom prst="roundRect">
            <a:avLst>
              <a:gd name="adj" fmla="val 2119"/>
            </a:avLst>
          </a:prstGeom>
          <a:solidFill>
            <a:srgbClr val="FFFFFF"/>
          </a:solidFill>
          <a:ln w="19050">
            <a:solidFill>
              <a:srgbClr val="DCE3EA"/>
            </a:solidFill>
            <a:prstDash val="solid"/>
          </a:ln>
        </p:spPr>
      </p:sp>
      <p:sp>
        <p:nvSpPr>
          <p:cNvPr id="35" name="Shape 32"/>
          <p:cNvSpPr/>
          <p:nvPr/>
        </p:nvSpPr>
        <p:spPr>
          <a:xfrm>
            <a:off x="5897880" y="1298448"/>
            <a:ext cx="5715000" cy="384048"/>
          </a:xfrm>
          <a:prstGeom prst="roundRect">
            <a:avLst>
              <a:gd name="adj" fmla="val 23810"/>
            </a:avLst>
          </a:prstGeom>
          <a:solidFill>
            <a:srgbClr val="13293D"/>
          </a:solidFill>
          <a:ln w="12700">
            <a:solidFill>
              <a:srgbClr val="13293D"/>
            </a:solidFill>
            <a:prstDash val="solid"/>
          </a:ln>
        </p:spPr>
      </p:sp>
      <p:sp>
        <p:nvSpPr>
          <p:cNvPr id="36" name="Shape 33"/>
          <p:cNvSpPr/>
          <p:nvPr/>
        </p:nvSpPr>
        <p:spPr>
          <a:xfrm>
            <a:off x="6099048" y="1417320"/>
            <a:ext cx="146304" cy="146304"/>
          </a:xfrm>
          <a:prstGeom prst="ellipse">
            <a:avLst/>
          </a:prstGeom>
          <a:solidFill>
            <a:srgbClr val="E8837A"/>
          </a:solidFill>
          <a:ln w="12700">
            <a:solidFill>
              <a:srgbClr val="E8837A"/>
            </a:solidFill>
            <a:prstDash val="solid"/>
          </a:ln>
        </p:spPr>
      </p:sp>
      <p:sp>
        <p:nvSpPr>
          <p:cNvPr id="37" name="Shape 34"/>
          <p:cNvSpPr/>
          <p:nvPr/>
        </p:nvSpPr>
        <p:spPr>
          <a:xfrm>
            <a:off x="6345936" y="1417320"/>
            <a:ext cx="146304" cy="146304"/>
          </a:xfrm>
          <a:prstGeom prst="ellipse">
            <a:avLst/>
          </a:prstGeom>
          <a:solidFill>
            <a:srgbClr val="F4A825"/>
          </a:solidFill>
          <a:ln w="12700">
            <a:solidFill>
              <a:srgbClr val="F4A825"/>
            </a:solidFill>
            <a:prstDash val="solid"/>
          </a:ln>
        </p:spPr>
      </p:sp>
      <p:sp>
        <p:nvSpPr>
          <p:cNvPr id="38" name="Shape 35"/>
          <p:cNvSpPr/>
          <p:nvPr/>
        </p:nvSpPr>
        <p:spPr>
          <a:xfrm>
            <a:off x="6592824" y="1417320"/>
            <a:ext cx="146304" cy="146304"/>
          </a:xfrm>
          <a:prstGeom prst="ellipse">
            <a:avLst/>
          </a:prstGeom>
          <a:solidFill>
            <a:srgbClr val="2E7D5B"/>
          </a:solidFill>
          <a:ln w="12700">
            <a:solidFill>
              <a:srgbClr val="2E7D5B"/>
            </a:solidFill>
            <a:prstDash val="solid"/>
          </a:ln>
        </p:spPr>
      </p:sp>
      <p:sp>
        <p:nvSpPr>
          <p:cNvPr id="39" name="Text 36"/>
          <p:cNvSpPr/>
          <p:nvPr/>
        </p:nvSpPr>
        <p:spPr>
          <a:xfrm>
            <a:off x="6949440" y="1298448"/>
            <a:ext cx="452628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Ms. Rivera’s newsletter blurb · task 1 · option A, typed</a:t>
            </a:r>
            <a:endParaRPr lang="en-US" sz="1100" dirty="0"/>
          </a:p>
        </p:txBody>
      </p:sp>
      <p:sp>
        <p:nvSpPr>
          <p:cNvPr id="40" name="Text 37"/>
          <p:cNvSpPr/>
          <p:nvPr/>
        </p:nvSpPr>
        <p:spPr>
          <a:xfrm>
            <a:off x="6172200" y="1810512"/>
            <a:ext cx="5166360" cy="256032"/>
          </a:xfrm>
          <a:prstGeom prst="rect">
            <a:avLst/>
          </a:prstGeom>
          <a:noFill/>
          <a:ln/>
        </p:spPr>
        <p:txBody>
          <a:bodyPr wrap="square" lIns="0" tIns="0" rIns="0" bIns="0" rtlCol="0" anchor="ctr"/>
          <a:lstStyle/>
          <a:p>
            <a:pPr indent="0" marL="0">
              <a:buNone/>
            </a:pPr>
            <a:r>
              <a:rPr lang="en-US" sz="1000" b="1" spc="150" kern="0" dirty="0">
                <a:solidFill>
                  <a:srgbClr val="2A9D8F"/>
                </a:solidFill>
                <a:latin typeface="Inter" pitchFamily="34" charset="0"/>
                <a:ea typeface="Inter" pitchFamily="34" charset="-122"/>
                <a:cs typeface="Inter" pitchFamily="34" charset="-120"/>
              </a:rPr>
              <a:t>SHE TYPES · OPTION A, FILLED IN</a:t>
            </a:r>
            <a:endParaRPr lang="en-US" sz="1000" dirty="0"/>
          </a:p>
        </p:txBody>
      </p:sp>
      <p:sp>
        <p:nvSpPr>
          <p:cNvPr id="41" name="Text 38"/>
          <p:cNvSpPr/>
          <p:nvPr/>
        </p:nvSpPr>
        <p:spPr>
          <a:xfrm>
            <a:off x="6172200" y="2084832"/>
            <a:ext cx="5166360" cy="777240"/>
          </a:xfrm>
          <a:prstGeom prst="rect">
            <a:avLst/>
          </a:prstGeom>
          <a:noFill/>
          <a:ln/>
        </p:spPr>
        <p:txBody>
          <a:bodyPr wrap="square" lIns="0" tIns="0" rIns="0" bIns="0" rtlCol="0" anchor="t"/>
          <a:lstStyle/>
          <a:p>
            <a:pPr indent="0" marL="0">
              <a:lnSpc>
                <a:spcPct val="112000"/>
              </a:lnSpc>
              <a:buNone/>
            </a:pPr>
            <a:r>
              <a:rPr lang="en-US" sz="1450" i="1" dirty="0">
                <a:solidFill>
                  <a:srgbClr val="13293D"/>
                </a:solidFill>
                <a:latin typeface="Inter" pitchFamily="34" charset="0"/>
                <a:ea typeface="Inter" pitchFamily="34" charset="-122"/>
                <a:cs typeface="Inter" pitchFamily="34" charset="-120"/>
              </a:rPr>
              <a:t>“Write a warm, professional newsletter blurb for families about our fall book fair, under 120 words.”</a:t>
            </a:r>
            <a:endParaRPr lang="en-US" sz="1450" dirty="0"/>
          </a:p>
        </p:txBody>
      </p:sp>
      <p:sp>
        <p:nvSpPr>
          <p:cNvPr id="42" name="Text 39"/>
          <p:cNvSpPr/>
          <p:nvPr/>
        </p:nvSpPr>
        <p:spPr>
          <a:xfrm>
            <a:off x="6172200" y="3017520"/>
            <a:ext cx="5166360" cy="256032"/>
          </a:xfrm>
          <a:prstGeom prst="rect">
            <a:avLst/>
          </a:prstGeom>
          <a:noFill/>
          <a:ln/>
        </p:spPr>
        <p:txBody>
          <a:bodyPr wrap="square" lIns="0" tIns="0" rIns="0" bIns="0" rtlCol="0" anchor="ctr"/>
          <a:lstStyle/>
          <a:p>
            <a:pPr indent="0" marL="0">
              <a:buNone/>
            </a:pPr>
            <a:r>
              <a:rPr lang="en-US" sz="1000" b="1" spc="150" kern="0" dirty="0">
                <a:solidFill>
                  <a:srgbClr val="5B6B7A"/>
                </a:solidFill>
                <a:latin typeface="Inter" pitchFamily="34" charset="0"/>
                <a:ea typeface="Inter" pitchFamily="34" charset="-122"/>
                <a:cs typeface="Inter" pitchFamily="34" charset="-120"/>
              </a:rPr>
              <a:t>THE FIRST DRAFT COMES BACK</a:t>
            </a:r>
            <a:endParaRPr lang="en-US" sz="1000" dirty="0"/>
          </a:p>
        </p:txBody>
      </p:sp>
      <p:sp>
        <p:nvSpPr>
          <p:cNvPr id="43" name="Text 40"/>
          <p:cNvSpPr/>
          <p:nvPr/>
        </p:nvSpPr>
        <p:spPr>
          <a:xfrm>
            <a:off x="6172200" y="3291840"/>
            <a:ext cx="5166360" cy="1417320"/>
          </a:xfrm>
          <a:prstGeom prst="rect">
            <a:avLst/>
          </a:prstGeom>
          <a:noFill/>
          <a:ln/>
        </p:spPr>
        <p:txBody>
          <a:bodyPr wrap="square" lIns="0" tIns="0" rIns="0" bIns="0" rtlCol="0" anchor="t"/>
          <a:lstStyle/>
          <a:p>
            <a:pPr indent="0" marL="0">
              <a:lnSpc>
                <a:spcPct val="112000"/>
              </a:lnSpc>
              <a:buNone/>
            </a:pPr>
            <a:r>
              <a:rPr lang="en-US" sz="1400" dirty="0">
                <a:solidFill>
                  <a:srgbClr val="1B1F24"/>
                </a:solidFill>
                <a:latin typeface="Inter" pitchFamily="34" charset="0"/>
                <a:ea typeface="Inter" pitchFamily="34" charset="-122"/>
                <a:cs typeface="Inter" pitchFamily="34" charset="-120"/>
              </a:rPr>
              <a:t>“Dear families, we are thrilled to announce our upcoming Book Fair! This wonderful event promises something for every reader. The fair runs all week, 8:00 to 3:00. We sincerely appreciate your continued support!”</a:t>
            </a:r>
            <a:endParaRPr lang="en-US" sz="1400" dirty="0"/>
          </a:p>
        </p:txBody>
      </p:sp>
      <p:sp>
        <p:nvSpPr>
          <p:cNvPr id="44" name="Text 41"/>
          <p:cNvSpPr/>
          <p:nvPr/>
        </p:nvSpPr>
        <p:spPr>
          <a:xfrm>
            <a:off x="6172200" y="4937760"/>
            <a:ext cx="5166360" cy="548640"/>
          </a:xfrm>
          <a:prstGeom prst="rect">
            <a:avLst/>
          </a:prstGeom>
          <a:noFill/>
          <a:ln/>
        </p:spPr>
        <p:txBody>
          <a:bodyPr wrap="square" lIns="0" tIns="0" rIns="0" bIns="0" rtlCol="0" anchor="t"/>
          <a:lstStyle/>
          <a:p>
            <a:pPr indent="0" marL="0">
              <a:buNone/>
            </a:pPr>
            <a:r>
              <a:rPr lang="en-US" sz="1150" i="1" dirty="0">
                <a:solidFill>
                  <a:srgbClr val="5B6B7A"/>
                </a:solidFill>
                <a:latin typeface="Inter" pitchFamily="34" charset="0"/>
                <a:ea typeface="Inter" pitchFamily="34" charset="-122"/>
                <a:cs typeface="Inter" pitchFamily="34" charset="-120"/>
              </a:rPr>
              <a:t>Beige, and it sounds like nobody. Keep yours on screen; task 2 works on this exact draft.</a:t>
            </a:r>
            <a:endParaRPr lang="en-US" sz="1150" dirty="0"/>
          </a:p>
        </p:txBody>
      </p:sp>
      <p:sp>
        <p:nvSpPr>
          <p:cNvPr id="45" name="Text 42"/>
          <p:cNvSpPr/>
          <p:nvPr/>
        </p:nvSpPr>
        <p:spPr>
          <a:xfrm>
            <a:off x="640080" y="5806440"/>
            <a:ext cx="10972800" cy="41148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Pick whichever is closest to your real job. Type it. Read what comes back.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newsletter blurb, v3: two pushbacks later, hers. One invented detail caught.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TASK 2 OF 2 · 6 MINUTES · HOW MS. RIVERA DOES IT</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Now push back: twice, minimum</a:t>
            </a:r>
            <a:endParaRPr lang="en-US" sz="3200" dirty="0"/>
          </a:p>
        </p:txBody>
      </p:sp>
      <p:sp>
        <p:nvSpPr>
          <p:cNvPr id="14" name="Text 11"/>
          <p:cNvSpPr/>
          <p:nvPr/>
        </p:nvSpPr>
        <p:spPr>
          <a:xfrm>
            <a:off x="640080" y="1335024"/>
            <a:ext cx="5074920" cy="640080"/>
          </a:xfrm>
          <a:prstGeom prst="rect">
            <a:avLst/>
          </a:prstGeom>
          <a:noFill/>
          <a:ln/>
        </p:spPr>
        <p:txBody>
          <a:bodyPr wrap="square" lIns="0" tIns="0" rIns="0" bIns="0" rtlCol="0" anchor="t"/>
          <a:lstStyle/>
          <a:p>
            <a:pPr indent="0" marL="0">
              <a:buNone/>
            </a:pPr>
            <a:r>
              <a:rPr lang="en-US" sz="1550" dirty="0">
                <a:solidFill>
                  <a:srgbClr val="1B1F24"/>
                </a:solidFill>
                <a:latin typeface="Inter" pitchFamily="34" charset="0"/>
                <a:ea typeface="Inter" pitchFamily="34" charset="-122"/>
                <a:cs typeface="Inter" pitchFamily="34" charset="-120"/>
              </a:rPr>
              <a:t>Don’t accept the first draft. Tell it what’s wrong, like you would an intern:</a:t>
            </a:r>
            <a:endParaRPr lang="en-US" sz="1550" dirty="0"/>
          </a:p>
        </p:txBody>
      </p:sp>
      <p:sp>
        <p:nvSpPr>
          <p:cNvPr id="15" name="Shape 12"/>
          <p:cNvSpPr/>
          <p:nvPr/>
        </p:nvSpPr>
        <p:spPr>
          <a:xfrm>
            <a:off x="640080" y="2011680"/>
            <a:ext cx="5074920" cy="768096"/>
          </a:xfrm>
          <a:prstGeom prst="roundRect">
            <a:avLst>
              <a:gd name="adj" fmla="val 14286"/>
            </a:avLst>
          </a:prstGeom>
          <a:solidFill>
            <a:srgbClr val="EAF5F3"/>
          </a:solidFill>
          <a:ln w="12700">
            <a:solidFill>
              <a:srgbClr val="EAF5F3"/>
            </a:solidFill>
            <a:prstDash val="solid"/>
          </a:ln>
        </p:spPr>
      </p:sp>
      <p:sp>
        <p:nvSpPr>
          <p:cNvPr id="16" name="Text 13"/>
          <p:cNvSpPr/>
          <p:nvPr/>
        </p:nvSpPr>
        <p:spPr>
          <a:xfrm>
            <a:off x="896112" y="2057400"/>
            <a:ext cx="4572000" cy="676656"/>
          </a:xfrm>
          <a:prstGeom prst="rect">
            <a:avLst/>
          </a:prstGeom>
          <a:noFill/>
          <a:ln/>
        </p:spPr>
        <p:txBody>
          <a:bodyPr wrap="square" lIns="0" tIns="0" rIns="0" bIns="0" rtlCol="0" anchor="ctr"/>
          <a:lstStyle/>
          <a:p>
            <a:pPr indent="0" marL="0">
              <a:buNone/>
            </a:pPr>
            <a:r>
              <a:rPr lang="en-US" sz="1500" b="1" dirty="0">
                <a:solidFill>
                  <a:srgbClr val="13293D"/>
                </a:solidFill>
                <a:latin typeface="Inter" pitchFamily="34" charset="0"/>
                <a:ea typeface="Inter" pitchFamily="34" charset="-122"/>
                <a:cs typeface="Inter" pitchFamily="34" charset="-120"/>
              </a:rPr>
              <a:t>“Warmer.”</a:t>
            </a:r>
            <a:endParaRPr lang="en-US" sz="1500" dirty="0"/>
          </a:p>
        </p:txBody>
      </p:sp>
      <p:sp>
        <p:nvSpPr>
          <p:cNvPr id="17" name="Shape 14"/>
          <p:cNvSpPr/>
          <p:nvPr/>
        </p:nvSpPr>
        <p:spPr>
          <a:xfrm>
            <a:off x="640080" y="2907792"/>
            <a:ext cx="5074920" cy="768096"/>
          </a:xfrm>
          <a:prstGeom prst="roundRect">
            <a:avLst>
              <a:gd name="adj" fmla="val 14286"/>
            </a:avLst>
          </a:prstGeom>
          <a:solidFill>
            <a:srgbClr val="EAF5F3"/>
          </a:solidFill>
          <a:ln w="12700">
            <a:solidFill>
              <a:srgbClr val="EAF5F3"/>
            </a:solidFill>
            <a:prstDash val="solid"/>
          </a:ln>
        </p:spPr>
      </p:sp>
      <p:sp>
        <p:nvSpPr>
          <p:cNvPr id="18" name="Text 15"/>
          <p:cNvSpPr/>
          <p:nvPr/>
        </p:nvSpPr>
        <p:spPr>
          <a:xfrm>
            <a:off x="896112" y="2953512"/>
            <a:ext cx="4572000" cy="676656"/>
          </a:xfrm>
          <a:prstGeom prst="rect">
            <a:avLst/>
          </a:prstGeom>
          <a:noFill/>
          <a:ln/>
        </p:spPr>
        <p:txBody>
          <a:bodyPr wrap="square" lIns="0" tIns="0" rIns="0" bIns="0" rtlCol="0" anchor="ctr"/>
          <a:lstStyle/>
          <a:p>
            <a:pPr indent="0" marL="0">
              <a:buNone/>
            </a:pPr>
            <a:r>
              <a:rPr lang="en-US" sz="1500" b="1" dirty="0">
                <a:solidFill>
                  <a:srgbClr val="13293D"/>
                </a:solidFill>
                <a:latin typeface="Inter" pitchFamily="34" charset="0"/>
                <a:ea typeface="Inter" pitchFamily="34" charset="-122"/>
                <a:cs typeface="Inter" pitchFamily="34" charset="-120"/>
              </a:rPr>
              <a:t>“Shorter.”</a:t>
            </a:r>
            <a:endParaRPr lang="en-US" sz="1500" dirty="0"/>
          </a:p>
        </p:txBody>
      </p:sp>
      <p:sp>
        <p:nvSpPr>
          <p:cNvPr id="19" name="Shape 16"/>
          <p:cNvSpPr/>
          <p:nvPr/>
        </p:nvSpPr>
        <p:spPr>
          <a:xfrm>
            <a:off x="640080" y="3803904"/>
            <a:ext cx="5074920" cy="768096"/>
          </a:xfrm>
          <a:prstGeom prst="roundRect">
            <a:avLst>
              <a:gd name="adj" fmla="val 14286"/>
            </a:avLst>
          </a:prstGeom>
          <a:solidFill>
            <a:srgbClr val="EAF5F3"/>
          </a:solidFill>
          <a:ln w="12700">
            <a:solidFill>
              <a:srgbClr val="EAF5F3"/>
            </a:solidFill>
            <a:prstDash val="solid"/>
          </a:ln>
        </p:spPr>
      </p:sp>
      <p:sp>
        <p:nvSpPr>
          <p:cNvPr id="20" name="Text 17"/>
          <p:cNvSpPr/>
          <p:nvPr/>
        </p:nvSpPr>
        <p:spPr>
          <a:xfrm>
            <a:off x="896112" y="3849624"/>
            <a:ext cx="4572000" cy="676656"/>
          </a:xfrm>
          <a:prstGeom prst="rect">
            <a:avLst/>
          </a:prstGeom>
          <a:noFill/>
          <a:ln/>
        </p:spPr>
        <p:txBody>
          <a:bodyPr wrap="square" lIns="0" tIns="0" rIns="0" bIns="0" rtlCol="0" anchor="ctr"/>
          <a:lstStyle/>
          <a:p>
            <a:pPr indent="0" marL="0">
              <a:buNone/>
            </a:pPr>
            <a:r>
              <a:rPr lang="en-US" sz="1500" b="1" dirty="0">
                <a:solidFill>
                  <a:srgbClr val="13293D"/>
                </a:solidFill>
                <a:latin typeface="Inter" pitchFamily="34" charset="0"/>
                <a:ea typeface="Inter" pitchFamily="34" charset="-122"/>
                <a:cs typeface="Inter" pitchFamily="34" charset="-120"/>
              </a:rPr>
              <a:t>“A 5th grader wouldn’t know three of these words. Fix that.”</a:t>
            </a:r>
            <a:endParaRPr lang="en-US" sz="1500" dirty="0"/>
          </a:p>
        </p:txBody>
      </p:sp>
      <p:sp>
        <p:nvSpPr>
          <p:cNvPr id="21" name="Shape 18"/>
          <p:cNvSpPr/>
          <p:nvPr/>
        </p:nvSpPr>
        <p:spPr>
          <a:xfrm>
            <a:off x="640080" y="4700016"/>
            <a:ext cx="5074920" cy="768096"/>
          </a:xfrm>
          <a:prstGeom prst="roundRect">
            <a:avLst>
              <a:gd name="adj" fmla="val 14286"/>
            </a:avLst>
          </a:prstGeom>
          <a:solidFill>
            <a:srgbClr val="EAF5F3"/>
          </a:solidFill>
          <a:ln w="12700">
            <a:solidFill>
              <a:srgbClr val="EAF5F3"/>
            </a:solidFill>
            <a:prstDash val="solid"/>
          </a:ln>
        </p:spPr>
      </p:sp>
      <p:sp>
        <p:nvSpPr>
          <p:cNvPr id="22" name="Text 19"/>
          <p:cNvSpPr/>
          <p:nvPr/>
        </p:nvSpPr>
        <p:spPr>
          <a:xfrm>
            <a:off x="896112" y="4745736"/>
            <a:ext cx="4572000" cy="676656"/>
          </a:xfrm>
          <a:prstGeom prst="rect">
            <a:avLst/>
          </a:prstGeom>
          <a:noFill/>
          <a:ln/>
        </p:spPr>
        <p:txBody>
          <a:bodyPr wrap="square" lIns="0" tIns="0" rIns="0" bIns="0" rtlCol="0" anchor="ctr"/>
          <a:lstStyle/>
          <a:p>
            <a:pPr indent="0" marL="0">
              <a:buNone/>
            </a:pPr>
            <a:r>
              <a:rPr lang="en-US" sz="1500" b="1" dirty="0">
                <a:solidFill>
                  <a:srgbClr val="13293D"/>
                </a:solidFill>
                <a:latin typeface="Inter" pitchFamily="34" charset="0"/>
                <a:ea typeface="Inter" pitchFamily="34" charset="-122"/>
                <a:cs typeface="Inter" pitchFamily="34" charset="-120"/>
              </a:rPr>
              <a:t>“Make question four harder and add a diagram question.”</a:t>
            </a:r>
            <a:endParaRPr lang="en-US" sz="1500" dirty="0"/>
          </a:p>
        </p:txBody>
      </p:sp>
      <p:sp>
        <p:nvSpPr>
          <p:cNvPr id="23" name="Shape 20"/>
          <p:cNvSpPr/>
          <p:nvPr/>
        </p:nvSpPr>
        <p:spPr>
          <a:xfrm>
            <a:off x="5897880" y="1298448"/>
            <a:ext cx="5715000" cy="4315968"/>
          </a:xfrm>
          <a:prstGeom prst="roundRect">
            <a:avLst>
              <a:gd name="adj" fmla="val 2119"/>
            </a:avLst>
          </a:prstGeom>
          <a:solidFill>
            <a:srgbClr val="FFFFFF"/>
          </a:solidFill>
          <a:ln w="19050">
            <a:solidFill>
              <a:srgbClr val="DCE3EA"/>
            </a:solidFill>
            <a:prstDash val="solid"/>
          </a:ln>
        </p:spPr>
      </p:sp>
      <p:sp>
        <p:nvSpPr>
          <p:cNvPr id="24" name="Shape 21"/>
          <p:cNvSpPr/>
          <p:nvPr/>
        </p:nvSpPr>
        <p:spPr>
          <a:xfrm>
            <a:off x="5897880" y="1298448"/>
            <a:ext cx="5715000" cy="384048"/>
          </a:xfrm>
          <a:prstGeom prst="roundRect">
            <a:avLst>
              <a:gd name="adj" fmla="val 23810"/>
            </a:avLst>
          </a:prstGeom>
          <a:solidFill>
            <a:srgbClr val="13293D"/>
          </a:solidFill>
          <a:ln w="12700">
            <a:solidFill>
              <a:srgbClr val="13293D"/>
            </a:solidFill>
            <a:prstDash val="solid"/>
          </a:ln>
        </p:spPr>
      </p:sp>
      <p:sp>
        <p:nvSpPr>
          <p:cNvPr id="25" name="Shape 22"/>
          <p:cNvSpPr/>
          <p:nvPr/>
        </p:nvSpPr>
        <p:spPr>
          <a:xfrm>
            <a:off x="6099048" y="1417320"/>
            <a:ext cx="146304" cy="146304"/>
          </a:xfrm>
          <a:prstGeom prst="ellipse">
            <a:avLst/>
          </a:prstGeom>
          <a:solidFill>
            <a:srgbClr val="E8837A"/>
          </a:solidFill>
          <a:ln w="12700">
            <a:solidFill>
              <a:srgbClr val="E8837A"/>
            </a:solidFill>
            <a:prstDash val="solid"/>
          </a:ln>
        </p:spPr>
      </p:sp>
      <p:sp>
        <p:nvSpPr>
          <p:cNvPr id="26" name="Shape 23"/>
          <p:cNvSpPr/>
          <p:nvPr/>
        </p:nvSpPr>
        <p:spPr>
          <a:xfrm>
            <a:off x="6345936" y="1417320"/>
            <a:ext cx="146304" cy="146304"/>
          </a:xfrm>
          <a:prstGeom prst="ellipse">
            <a:avLst/>
          </a:prstGeom>
          <a:solidFill>
            <a:srgbClr val="F4A825"/>
          </a:solidFill>
          <a:ln w="12700">
            <a:solidFill>
              <a:srgbClr val="F4A825"/>
            </a:solidFill>
            <a:prstDash val="solid"/>
          </a:ln>
        </p:spPr>
      </p:sp>
      <p:sp>
        <p:nvSpPr>
          <p:cNvPr id="27" name="Shape 24"/>
          <p:cNvSpPr/>
          <p:nvPr/>
        </p:nvSpPr>
        <p:spPr>
          <a:xfrm>
            <a:off x="6592824" y="1417320"/>
            <a:ext cx="146304" cy="146304"/>
          </a:xfrm>
          <a:prstGeom prst="ellipse">
            <a:avLst/>
          </a:prstGeom>
          <a:solidFill>
            <a:srgbClr val="2E7D5B"/>
          </a:solidFill>
          <a:ln w="12700">
            <a:solidFill>
              <a:srgbClr val="2E7D5B"/>
            </a:solidFill>
            <a:prstDash val="solid"/>
          </a:ln>
        </p:spPr>
      </p:sp>
      <p:sp>
        <p:nvSpPr>
          <p:cNvPr id="28" name="Text 25"/>
          <p:cNvSpPr/>
          <p:nvPr/>
        </p:nvSpPr>
        <p:spPr>
          <a:xfrm>
            <a:off x="6949440" y="1298448"/>
            <a:ext cx="452628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Ms. Rivera’s newsletter blurb · task 2 · two pushbacks later</a:t>
            </a:r>
            <a:endParaRPr lang="en-US" sz="1100" dirty="0"/>
          </a:p>
        </p:txBody>
      </p:sp>
      <p:sp>
        <p:nvSpPr>
          <p:cNvPr id="29" name="Text 26"/>
          <p:cNvSpPr/>
          <p:nvPr/>
        </p:nvSpPr>
        <p:spPr>
          <a:xfrm>
            <a:off x="6172200" y="1792224"/>
            <a:ext cx="5166360" cy="256032"/>
          </a:xfrm>
          <a:prstGeom prst="rect">
            <a:avLst/>
          </a:prstGeom>
          <a:noFill/>
          <a:ln/>
        </p:spPr>
        <p:txBody>
          <a:bodyPr wrap="square" lIns="0" tIns="0" rIns="0" bIns="0" rtlCol="0" anchor="ctr"/>
          <a:lstStyle/>
          <a:p>
            <a:pPr indent="0" marL="0">
              <a:buNone/>
            </a:pPr>
            <a:r>
              <a:rPr lang="en-US" sz="1000" b="1" spc="150" kern="0" dirty="0">
                <a:solidFill>
                  <a:srgbClr val="2A9D8F"/>
                </a:solidFill>
                <a:latin typeface="Inter" pitchFamily="34" charset="0"/>
                <a:ea typeface="Inter" pitchFamily="34" charset="-122"/>
                <a:cs typeface="Inter" pitchFamily="34" charset="-120"/>
              </a:rPr>
              <a:t>SHE TYPES, ONE AT A TIME</a:t>
            </a:r>
            <a:endParaRPr lang="en-US" sz="1000" dirty="0"/>
          </a:p>
        </p:txBody>
      </p:sp>
      <p:sp>
        <p:nvSpPr>
          <p:cNvPr id="30" name="Text 27"/>
          <p:cNvSpPr/>
          <p:nvPr/>
        </p:nvSpPr>
        <p:spPr>
          <a:xfrm>
            <a:off x="6172200" y="2048256"/>
            <a:ext cx="5166360" cy="310896"/>
          </a:xfrm>
          <a:prstGeom prst="rect">
            <a:avLst/>
          </a:prstGeom>
          <a:noFill/>
          <a:ln/>
        </p:spPr>
        <p:txBody>
          <a:bodyPr wrap="square" lIns="0" tIns="0" rIns="0" bIns="0" rtlCol="0" anchor="t"/>
          <a:lstStyle/>
          <a:p>
            <a:pPr indent="0" marL="0">
              <a:buNone/>
            </a:pPr>
            <a:r>
              <a:rPr lang="en-US" sz="1550" b="1" dirty="0">
                <a:solidFill>
                  <a:srgbClr val="13293D"/>
                </a:solidFill>
                <a:latin typeface="Inter" pitchFamily="34" charset="0"/>
                <a:ea typeface="Inter" pitchFamily="34" charset="-122"/>
                <a:cs typeface="Inter" pitchFamily="34" charset="-120"/>
              </a:rPr>
              <a:t>“Warmer.”   then   “Shorter.”</a:t>
            </a:r>
            <a:endParaRPr lang="en-US" sz="1550" dirty="0"/>
          </a:p>
        </p:txBody>
      </p:sp>
      <p:sp>
        <p:nvSpPr>
          <p:cNvPr id="31" name="Text 28"/>
          <p:cNvSpPr/>
          <p:nvPr/>
        </p:nvSpPr>
        <p:spPr>
          <a:xfrm>
            <a:off x="6172200" y="2468880"/>
            <a:ext cx="5166360" cy="256032"/>
          </a:xfrm>
          <a:prstGeom prst="rect">
            <a:avLst/>
          </a:prstGeom>
          <a:noFill/>
          <a:ln/>
        </p:spPr>
        <p:txBody>
          <a:bodyPr wrap="square" lIns="0" tIns="0" rIns="0" bIns="0" rtlCol="0" anchor="ctr"/>
          <a:lstStyle/>
          <a:p>
            <a:pPr indent="0" marL="0">
              <a:buNone/>
            </a:pPr>
            <a:r>
              <a:rPr lang="en-US" sz="1000" b="1" spc="150" kern="0" dirty="0">
                <a:solidFill>
                  <a:srgbClr val="5B6B7A"/>
                </a:solidFill>
                <a:latin typeface="Inter" pitchFamily="34" charset="0"/>
                <a:ea typeface="Inter" pitchFamily="34" charset="-122"/>
                <a:cs typeface="Inter" pitchFamily="34" charset="-120"/>
              </a:rPr>
              <a:t>THE BLURB, TWO ROUNDS LATER</a:t>
            </a:r>
            <a:endParaRPr lang="en-US" sz="1000" dirty="0"/>
          </a:p>
        </p:txBody>
      </p:sp>
      <p:sp>
        <p:nvSpPr>
          <p:cNvPr id="32" name="Text 29"/>
          <p:cNvSpPr/>
          <p:nvPr/>
        </p:nvSpPr>
        <p:spPr>
          <a:xfrm>
            <a:off x="6172200" y="2724912"/>
            <a:ext cx="5166360" cy="868680"/>
          </a:xfrm>
          <a:prstGeom prst="rect">
            <a:avLst/>
          </a:prstGeom>
          <a:noFill/>
          <a:ln/>
        </p:spPr>
        <p:txBody>
          <a:bodyPr wrap="square" lIns="0" tIns="0" rIns="0" bIns="0" rtlCol="0" anchor="t"/>
          <a:lstStyle/>
          <a:p>
            <a:pPr indent="0" marL="0">
              <a:lnSpc>
                <a:spcPct val="112000"/>
              </a:lnSpc>
              <a:buNone/>
            </a:pPr>
            <a:r>
              <a:rPr lang="en-US" sz="1400" dirty="0">
                <a:solidFill>
                  <a:srgbClr val="1B1F24"/>
                </a:solidFill>
                <a:latin typeface="Inter" pitchFamily="34" charset="0"/>
                <a:ea typeface="Inter" pitchFamily="34" charset="-122"/>
                <a:cs typeface="Inter" pitchFamily="34" charset="-120"/>
              </a:rPr>
              <a:t>“Families, our fall book fair is almost here! Stop by the library with your reader and help them pick a book they’ll actually love. Happy reading!”</a:t>
            </a:r>
            <a:endParaRPr lang="en-US" sz="1400" dirty="0"/>
          </a:p>
        </p:txBody>
      </p:sp>
      <p:sp>
        <p:nvSpPr>
          <p:cNvPr id="33" name="Text 30"/>
          <p:cNvSpPr/>
          <p:nvPr/>
        </p:nvSpPr>
        <p:spPr>
          <a:xfrm>
            <a:off x="6172200" y="3675888"/>
            <a:ext cx="5166360" cy="256032"/>
          </a:xfrm>
          <a:prstGeom prst="rect">
            <a:avLst/>
          </a:prstGeom>
          <a:noFill/>
          <a:ln/>
        </p:spPr>
        <p:txBody>
          <a:bodyPr wrap="square" lIns="0" tIns="0" rIns="0" bIns="0" rtlCol="0" anchor="ctr"/>
          <a:lstStyle/>
          <a:p>
            <a:pPr indent="0" marL="0">
              <a:buNone/>
            </a:pPr>
            <a:r>
              <a:rPr lang="en-US" sz="1000" b="1" spc="150" kern="0" dirty="0">
                <a:solidFill>
                  <a:srgbClr val="B4453A"/>
                </a:solidFill>
                <a:latin typeface="Inter" pitchFamily="34" charset="0"/>
                <a:ea typeface="Inter" pitchFamily="34" charset="-122"/>
                <a:cs typeface="Inter" pitchFamily="34" charset="-120"/>
              </a:rPr>
              <a:t>ONE ERROR, CAUGHT ON THE READ-THROUGH</a:t>
            </a:r>
            <a:endParaRPr lang="en-US" sz="1000" dirty="0"/>
          </a:p>
        </p:txBody>
      </p:sp>
      <p:sp>
        <p:nvSpPr>
          <p:cNvPr id="34" name="Text 31"/>
          <p:cNvSpPr/>
          <p:nvPr/>
        </p:nvSpPr>
        <p:spPr>
          <a:xfrm>
            <a:off x="6172200" y="3931920"/>
            <a:ext cx="5166360" cy="868680"/>
          </a:xfrm>
          <a:prstGeom prst="rect">
            <a:avLst/>
          </a:prstGeom>
          <a:noFill/>
          <a:ln/>
        </p:spPr>
        <p:txBody>
          <a:bodyPr wrap="square" lIns="0" tIns="0" rIns="0" bIns="0" rtlCol="0" anchor="t"/>
          <a:lstStyle/>
          <a:p>
            <a:pPr indent="0" marL="0">
              <a:lnSpc>
                <a:spcPct val="110000"/>
              </a:lnSpc>
              <a:buNone/>
            </a:pPr>
            <a:r>
              <a:rPr lang="en-US" sz="1250" dirty="0">
                <a:solidFill>
                  <a:srgbClr val="1B1F24"/>
                </a:solidFill>
                <a:latin typeface="Inter" pitchFamily="34" charset="0"/>
                <a:ea typeface="Inter" pitchFamily="34" charset="-122"/>
                <a:cs typeface="Inter" pitchFamily="34" charset="-120"/>
              </a:rPr>
              <a:t>The draft claimed the fair “runs all week, 8:00 to 3:00.” She never typed a schedule; the intern invented one. She cut it and checked the real flyer.</a:t>
            </a:r>
            <a:endParaRPr lang="en-US" sz="1250" dirty="0"/>
          </a:p>
        </p:txBody>
      </p:sp>
      <p:sp>
        <p:nvSpPr>
          <p:cNvPr id="35" name="Text 32"/>
          <p:cNvSpPr/>
          <p:nvPr/>
        </p:nvSpPr>
        <p:spPr>
          <a:xfrm>
            <a:off x="6172200" y="4892040"/>
            <a:ext cx="5166360" cy="594360"/>
          </a:xfrm>
          <a:prstGeom prst="rect">
            <a:avLst/>
          </a:prstGeom>
          <a:noFill/>
          <a:ln/>
        </p:spPr>
        <p:txBody>
          <a:bodyPr wrap="square" lIns="0" tIns="0" rIns="0" bIns="0" rtlCol="0" anchor="t"/>
          <a:lstStyle/>
          <a:p>
            <a:pPr indent="0" marL="0">
              <a:buNone/>
            </a:pPr>
            <a:r>
              <a:rPr lang="en-US" sz="1150" i="1" dirty="0">
                <a:solidFill>
                  <a:srgbClr val="5B6B7A"/>
                </a:solidFill>
                <a:latin typeface="Inter" pitchFamily="34" charset="0"/>
                <a:ea typeface="Inter" pitchFamily="34" charset="-122"/>
                <a:cs typeface="Inter" pitchFamily="34" charset="-120"/>
              </a:rPr>
              <a:t>Usable now, with nothing in it she didn’t verify. Copy her arc: draft, push back twice, read it before it goes anywhere.</a:t>
            </a:r>
            <a:endParaRPr lang="en-US" sz="1150" dirty="0"/>
          </a:p>
        </p:txBody>
      </p:sp>
      <p:sp>
        <p:nvSpPr>
          <p:cNvPr id="36" name="Text 33"/>
          <p:cNvSpPr/>
          <p:nvPr/>
        </p:nvSpPr>
        <p:spPr>
          <a:xfrm>
            <a:off x="640080" y="5806440"/>
            <a:ext cx="10972800" cy="411480"/>
          </a:xfrm>
          <a:prstGeom prst="rect">
            <a:avLst/>
          </a:prstGeom>
          <a:noFill/>
          <a:ln/>
        </p:spPr>
        <p:txBody>
          <a:bodyPr wrap="square" lIns="0" tIns="0" rIns="0" bIns="0" rtlCol="0" anchor="ctr"/>
          <a:lstStyle/>
          <a:p>
            <a:pPr algn="ctr" indent="0" marL="0">
              <a:buNone/>
            </a:pPr>
            <a:r>
              <a:rPr lang="en-US" sz="1900" i="1" dirty="0">
                <a:solidFill>
                  <a:srgbClr val="5B6B7A"/>
                </a:solidFill>
                <a:latin typeface="Inter" pitchFamily="34" charset="0"/>
                <a:ea typeface="Inter" pitchFamily="34" charset="-122"/>
                <a:cs typeface="Inter" pitchFamily="34" charset="-120"/>
              </a:rPr>
              <a:t>The first draft is the intern’s. The third one is yours.</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newsletter blurb's arc: beige v1, two pushbacks, usable. One error caught.</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DEBRIEF · 3–4 VOICES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did you notice?</a:t>
            </a:r>
            <a:endParaRPr lang="en-US" sz="3200" dirty="0"/>
          </a:p>
        </p:txBody>
      </p:sp>
      <p:sp>
        <p:nvSpPr>
          <p:cNvPr id="14" name="Text 11"/>
          <p:cNvSpPr/>
          <p:nvPr/>
        </p:nvSpPr>
        <p:spPr>
          <a:xfrm>
            <a:off x="640080" y="1463040"/>
            <a:ext cx="10908792" cy="2194560"/>
          </a:xfrm>
          <a:prstGeom prst="rect">
            <a:avLst/>
          </a:prstGeom>
          <a:noFill/>
          <a:ln/>
        </p:spPr>
        <p:txBody>
          <a:bodyPr wrap="square" rtlCol="0" anchor="t"/>
          <a:lstStyle/>
          <a:p>
            <a:pPr marL="342900" indent="-342900">
              <a:spcAft>
                <a:spcPts val="1000"/>
              </a:spcAft>
              <a:buSzPct val="100000"/>
              <a:buChar char="•"/>
            </a:pPr>
            <a:r>
              <a:rPr lang="en-US" sz="2300" dirty="0">
                <a:solidFill>
                  <a:srgbClr val="1B1F24"/>
                </a:solidFill>
                <a:latin typeface="Inter" pitchFamily="34" charset="0"/>
                <a:ea typeface="Inter" pitchFamily="34" charset="-122"/>
                <a:cs typeface="Inter" pitchFamily="34" charset="-120"/>
              </a:rPr>
              <a:t>What surprised you?</a:t>
            </a:r>
            <a:endParaRPr lang="en-US" sz="2300" dirty="0"/>
          </a:p>
          <a:p>
            <a:pPr marL="342900" indent="-342900">
              <a:spcAft>
                <a:spcPts val="1000"/>
              </a:spcAft>
              <a:buSzPct val="100000"/>
              <a:buChar char="•"/>
            </a:pPr>
            <a:r>
              <a:rPr lang="en-US" sz="2300" dirty="0">
                <a:solidFill>
                  <a:srgbClr val="1B1F24"/>
                </a:solidFill>
                <a:latin typeface="Inter" pitchFamily="34" charset="0"/>
                <a:ea typeface="Inter" pitchFamily="34" charset="-122"/>
                <a:cs typeface="Inter" pitchFamily="34" charset="-120"/>
              </a:rPr>
              <a:t>What was better than you expected, and what was worse?</a:t>
            </a:r>
            <a:endParaRPr lang="en-US" sz="2300" dirty="0"/>
          </a:p>
          <a:p>
            <a:pPr marL="342900" indent="-342900">
              <a:spcAft>
                <a:spcPts val="1000"/>
              </a:spcAft>
              <a:buSzPct val="100000"/>
              <a:buChar char="•"/>
            </a:pPr>
            <a:r>
              <a:rPr lang="en-US" sz="2300" b="1" dirty="0">
                <a:solidFill>
                  <a:srgbClr val="13293D"/>
                </a:solidFill>
                <a:latin typeface="Inter" pitchFamily="34" charset="0"/>
                <a:ea typeface="Inter" pitchFamily="34" charset="-122"/>
                <a:cs typeface="Inter" pitchFamily="34" charset="-120"/>
              </a:rPr>
              <a:t>Did anyone catch it being wrong?</a:t>
            </a:r>
            <a:endParaRPr lang="en-US" sz="2300" dirty="0"/>
          </a:p>
        </p:txBody>
      </p:sp>
      <p:sp>
        <p:nvSpPr>
          <p:cNvPr id="15" name="Shape 12"/>
          <p:cNvSpPr/>
          <p:nvPr/>
        </p:nvSpPr>
        <p:spPr>
          <a:xfrm>
            <a:off x="640080" y="3931920"/>
            <a:ext cx="10972800" cy="1828800"/>
          </a:xfrm>
          <a:prstGeom prst="roundRect">
            <a:avLst>
              <a:gd name="adj" fmla="val 4500"/>
            </a:avLst>
          </a:prstGeom>
          <a:solidFill>
            <a:srgbClr val="F7F5F0"/>
          </a:solidFill>
          <a:ln w="12700">
            <a:solidFill>
              <a:srgbClr val="F7F5F0"/>
            </a:solidFill>
            <a:prstDash val="solid"/>
          </a:ln>
        </p:spPr>
      </p:sp>
      <p:sp>
        <p:nvSpPr>
          <p:cNvPr id="16" name="Text 13"/>
          <p:cNvSpPr/>
          <p:nvPr/>
        </p:nvSpPr>
        <p:spPr>
          <a:xfrm>
            <a:off x="960120" y="4160520"/>
            <a:ext cx="10332720" cy="146304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Two patterns worth naming:  </a:t>
            </a:r>
            <a:pPr indent="0" marL="0">
              <a:buNone/>
            </a:pPr>
            <a:r>
              <a:rPr lang="en-US" sz="1900" dirty="0">
                <a:solidFill>
                  <a:srgbClr val="1B1F24"/>
                </a:solidFill>
                <a:latin typeface="Inter" pitchFamily="34" charset="0"/>
                <a:ea typeface="Inter" pitchFamily="34" charset="-122"/>
                <a:cs typeface="Inter" pitchFamily="34" charset="-120"/>
              </a:rPr>
              <a:t>the first draft is rarely the good draft; the value shows up when you push back. And everything you just made still needs your eyes: it’s fast, it’s fluent, and it’s unsigned until a professional signs it.</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rule for what leaves her desk: nothing AI-drafted goes out unread.</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COMPANION HABIT</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human stays in charge</a:t>
            </a:r>
            <a:endParaRPr lang="en-US" sz="3200" dirty="0"/>
          </a:p>
        </p:txBody>
      </p:sp>
      <p:sp>
        <p:nvSpPr>
          <p:cNvPr id="14" name="Shape 11"/>
          <p:cNvSpPr/>
          <p:nvPr/>
        </p:nvSpPr>
        <p:spPr>
          <a:xfrm>
            <a:off x="640080" y="1554480"/>
            <a:ext cx="10972800" cy="1737360"/>
          </a:xfrm>
          <a:prstGeom prst="roundRect">
            <a:avLst>
              <a:gd name="adj" fmla="val 4737"/>
            </a:avLst>
          </a:prstGeom>
          <a:solidFill>
            <a:srgbClr val="13293D"/>
          </a:solidFill>
          <a:ln w="12700">
            <a:solidFill>
              <a:srgbClr val="13293D"/>
            </a:solidFill>
            <a:prstDash val="solid"/>
          </a:ln>
        </p:spPr>
      </p:sp>
      <p:sp>
        <p:nvSpPr>
          <p:cNvPr id="15" name="Text 12"/>
          <p:cNvSpPr/>
          <p:nvPr/>
        </p:nvSpPr>
        <p:spPr>
          <a:xfrm>
            <a:off x="1005840" y="1783080"/>
            <a:ext cx="10241280" cy="1280160"/>
          </a:xfrm>
          <a:prstGeom prst="rect">
            <a:avLst/>
          </a:prstGeom>
          <a:noFill/>
          <a:ln/>
        </p:spPr>
        <p:txBody>
          <a:bodyPr wrap="square" lIns="0" tIns="0" rIns="0" bIns="0" rtlCol="0" anchor="ctr"/>
          <a:lstStyle/>
          <a:p>
            <a:pPr indent="0" marL="0">
              <a:buNone/>
            </a:pPr>
            <a:r>
              <a:rPr lang="en-US" sz="2500" b="1" dirty="0">
                <a:solidFill>
                  <a:srgbClr val="FFFFFF"/>
                </a:solidFill>
                <a:latin typeface="Inter" pitchFamily="34" charset="0"/>
                <a:ea typeface="Inter" pitchFamily="34" charset="-122"/>
                <a:cs typeface="Inter" pitchFamily="34" charset="-120"/>
              </a:rPr>
              <a:t>Nothing AI-drafted reaches a student or a parent without a human reading it first.</a:t>
            </a:r>
            <a:endParaRPr lang="en-US" sz="2500" dirty="0"/>
          </a:p>
        </p:txBody>
      </p:sp>
      <p:sp>
        <p:nvSpPr>
          <p:cNvPr id="16" name="Text 13"/>
          <p:cNvSpPr/>
          <p:nvPr/>
        </p:nvSpPr>
        <p:spPr>
          <a:xfrm>
            <a:off x="640080" y="3611880"/>
            <a:ext cx="10908792" cy="21945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Not because it’s usually wrong, but because sometimes it is, and your name is on it</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Federal guidance says it in three words: keep humans in the loop (U.S. Dept. of Education, 2023)</a:t>
            </a:r>
            <a:endParaRPr lang="en-US" sz="2000" dirty="0"/>
          </a:p>
          <a:p>
            <a:pPr marL="342900" indent="-342900">
              <a:spcAft>
                <a:spcPts val="1000"/>
              </a:spcAft>
              <a:buSzPct val="100000"/>
              <a:buChar char="•"/>
            </a:pPr>
            <a:r>
              <a:rPr lang="en-US" sz="2000" b="1" dirty="0">
                <a:solidFill>
                  <a:srgbClr val="13293D"/>
                </a:solidFill>
                <a:latin typeface="Inter" pitchFamily="34" charset="0"/>
                <a:ea typeface="Inter" pitchFamily="34" charset="-122"/>
                <a:cs typeface="Inter" pitchFamily="34" charset="-120"/>
              </a:rPr>
              <a:t>In this building: AI drafts, the teacher decides. Always.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guardrails: keep her own voice; drafts never become decisions.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TRUST REQUIRES HONESTY</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Honest limits: the risks are real</a:t>
            </a:r>
            <a:endParaRPr lang="en-US" sz="3200" dirty="0"/>
          </a:p>
        </p:txBody>
      </p:sp>
      <p:sp>
        <p:nvSpPr>
          <p:cNvPr id="14" name="Shape 11"/>
          <p:cNvSpPr/>
          <p:nvPr/>
        </p:nvSpPr>
        <p:spPr>
          <a:xfrm>
            <a:off x="640080" y="1554480"/>
            <a:ext cx="3520440" cy="3108960"/>
          </a:xfrm>
          <a:prstGeom prst="roundRect">
            <a:avLst>
              <a:gd name="adj" fmla="val 2647"/>
            </a:avLst>
          </a:prstGeom>
          <a:solidFill>
            <a:srgbClr val="F7F5F0"/>
          </a:solidFill>
          <a:ln w="12700">
            <a:solidFill>
              <a:srgbClr val="F7F5F0"/>
            </a:solidFill>
            <a:prstDash val="solid"/>
          </a:ln>
        </p:spPr>
      </p:sp>
      <p:sp>
        <p:nvSpPr>
          <p:cNvPr id="15" name="Text 12"/>
          <p:cNvSpPr/>
          <p:nvPr/>
        </p:nvSpPr>
        <p:spPr>
          <a:xfrm>
            <a:off x="896112" y="1828800"/>
            <a:ext cx="301752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Over-reliance</a:t>
            </a:r>
            <a:endParaRPr lang="en-US" sz="2100" dirty="0"/>
          </a:p>
        </p:txBody>
      </p:sp>
      <p:sp>
        <p:nvSpPr>
          <p:cNvPr id="16" name="Text 13"/>
          <p:cNvSpPr/>
          <p:nvPr/>
        </p:nvSpPr>
        <p:spPr>
          <a:xfrm>
            <a:off x="896112"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If the tool writes everything, your writing muscle atrophies; students’ too</a:t>
            </a:r>
            <a:endParaRPr lang="en-US" sz="1600" dirty="0"/>
          </a:p>
        </p:txBody>
      </p:sp>
      <p:sp>
        <p:nvSpPr>
          <p:cNvPr id="17" name="Shape 14"/>
          <p:cNvSpPr/>
          <p:nvPr/>
        </p:nvSpPr>
        <p:spPr>
          <a:xfrm>
            <a:off x="4407408" y="1554480"/>
            <a:ext cx="3520440" cy="3108960"/>
          </a:xfrm>
          <a:prstGeom prst="roundRect">
            <a:avLst>
              <a:gd name="adj" fmla="val 2647"/>
            </a:avLst>
          </a:prstGeom>
          <a:solidFill>
            <a:srgbClr val="F7F5F0"/>
          </a:solidFill>
          <a:ln w="12700">
            <a:solidFill>
              <a:srgbClr val="F7F5F0"/>
            </a:solidFill>
            <a:prstDash val="solid"/>
          </a:ln>
        </p:spPr>
      </p:sp>
      <p:sp>
        <p:nvSpPr>
          <p:cNvPr id="18" name="Text 15"/>
          <p:cNvSpPr/>
          <p:nvPr/>
        </p:nvSpPr>
        <p:spPr>
          <a:xfrm>
            <a:off x="4663440" y="1828800"/>
            <a:ext cx="301752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Sameness</a:t>
            </a:r>
            <a:endParaRPr lang="en-US" sz="2100" dirty="0"/>
          </a:p>
        </p:txBody>
      </p:sp>
      <p:sp>
        <p:nvSpPr>
          <p:cNvPr id="19" name="Text 16"/>
          <p:cNvSpPr/>
          <p:nvPr/>
        </p:nvSpPr>
        <p:spPr>
          <a:xfrm>
            <a:off x="4663440"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AI output has a beige, everyone-sounds-alike quality; your voice is worth protecting</a:t>
            </a:r>
            <a:endParaRPr lang="en-US" sz="1600" dirty="0"/>
          </a:p>
        </p:txBody>
      </p:sp>
      <p:sp>
        <p:nvSpPr>
          <p:cNvPr id="20" name="Shape 17"/>
          <p:cNvSpPr/>
          <p:nvPr/>
        </p:nvSpPr>
        <p:spPr>
          <a:xfrm>
            <a:off x="8174736" y="1554480"/>
            <a:ext cx="3520440" cy="3108960"/>
          </a:xfrm>
          <a:prstGeom prst="roundRect">
            <a:avLst>
              <a:gd name="adj" fmla="val 2647"/>
            </a:avLst>
          </a:prstGeom>
          <a:solidFill>
            <a:srgbClr val="F7F5F0"/>
          </a:solidFill>
          <a:ln w="12700">
            <a:solidFill>
              <a:srgbClr val="F7F5F0"/>
            </a:solidFill>
            <a:prstDash val="solid"/>
          </a:ln>
        </p:spPr>
      </p:sp>
      <p:sp>
        <p:nvSpPr>
          <p:cNvPr id="21" name="Text 18"/>
          <p:cNvSpPr/>
          <p:nvPr/>
        </p:nvSpPr>
        <p:spPr>
          <a:xfrm>
            <a:off x="8430768" y="1828800"/>
            <a:ext cx="301752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Drift</a:t>
            </a:r>
            <a:endParaRPr lang="en-US" sz="2100" dirty="0"/>
          </a:p>
        </p:txBody>
      </p:sp>
      <p:sp>
        <p:nvSpPr>
          <p:cNvPr id="22" name="Text 19"/>
          <p:cNvSpPr/>
          <p:nvPr/>
        </p:nvSpPr>
        <p:spPr>
          <a:xfrm>
            <a:off x="8430768"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It’s easy to slide from “AI drafts it” to “AI decides it” without noticing</a:t>
            </a:r>
            <a:endParaRPr lang="en-US" sz="1600" dirty="0"/>
          </a:p>
        </p:txBody>
      </p:sp>
      <p:sp>
        <p:nvSpPr>
          <p:cNvPr id="23" name="Text 20"/>
          <p:cNvSpPr/>
          <p:nvPr/>
        </p:nvSpPr>
        <p:spPr>
          <a:xfrm>
            <a:off x="640080" y="502920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The guardrails you learned today exist because these are genuine, not theoretical.</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scope today: adult use only. Student use is Kit 5's hour.</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QUESTION EVERY FACULTY ASKS</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about students using it?</a:t>
            </a:r>
            <a:endParaRPr lang="en-US" sz="3200" dirty="0"/>
          </a:p>
        </p:txBody>
      </p:sp>
      <p:sp>
        <p:nvSpPr>
          <p:cNvPr id="14" name="Text 11"/>
          <p:cNvSpPr/>
          <p:nvPr/>
        </p:nvSpPr>
        <p:spPr>
          <a:xfrm>
            <a:off x="640080" y="1463040"/>
            <a:ext cx="10908792" cy="265176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Major public chatbots require users to be 13+, and minors need parent/guardian permission under the terms of service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So student use is a real policy question, not a free-for-all, and not banned by default</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It deserves its own session: that’s Kit 5, AI &amp; Academic Integrity</a:t>
            </a:r>
            <a:endParaRPr lang="en-US" sz="2100" dirty="0"/>
          </a:p>
        </p:txBody>
      </p:sp>
      <p:sp>
        <p:nvSpPr>
          <p:cNvPr id="15" name="Shape 12"/>
          <p:cNvSpPr/>
          <p:nvPr/>
        </p:nvSpPr>
        <p:spPr>
          <a:xfrm>
            <a:off x="640080" y="4297680"/>
            <a:ext cx="10972800" cy="1371600"/>
          </a:xfrm>
          <a:prstGeom prst="roundRect">
            <a:avLst>
              <a:gd name="adj" fmla="val 6000"/>
            </a:avLst>
          </a:prstGeom>
          <a:solidFill>
            <a:srgbClr val="EAF5F3"/>
          </a:solidFill>
          <a:ln w="12700">
            <a:solidFill>
              <a:srgbClr val="EAF5F3"/>
            </a:solidFill>
            <a:prstDash val="solid"/>
          </a:ln>
        </p:spPr>
      </p:sp>
      <p:sp>
        <p:nvSpPr>
          <p:cNvPr id="16" name="Text 13"/>
          <p:cNvSpPr/>
          <p:nvPr/>
        </p:nvSpPr>
        <p:spPr>
          <a:xfrm>
            <a:off x="960120" y="4480560"/>
            <a:ext cx="10332720" cy="100584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Today’s scope is the adults: our use, our privacy practice, our judgment. Get that right and we’re ready to lead students well.</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27</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She nodded to all three. Her interim stance until policy exists.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STARTING TODAY</a:t>
            </a:r>
            <a:endParaRPr lang="en-US" sz="1200" dirty="0"/>
          </a:p>
        </p:txBody>
      </p:sp>
      <p:sp>
        <p:nvSpPr>
          <p:cNvPr id="13" name="Text 10"/>
          <p:cNvSpPr/>
          <p:nvPr/>
        </p:nvSpPr>
        <p:spPr>
          <a:xfrm>
            <a:off x="640080" y="7772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Our three commitments</a:t>
            </a:r>
            <a:endParaRPr lang="en-US" sz="3600" dirty="0"/>
          </a:p>
        </p:txBody>
      </p:sp>
      <p:sp>
        <p:nvSpPr>
          <p:cNvPr id="14" name="Shape 11"/>
          <p:cNvSpPr/>
          <p:nvPr/>
        </p:nvSpPr>
        <p:spPr>
          <a:xfrm>
            <a:off x="868680" y="1920240"/>
            <a:ext cx="777240" cy="777240"/>
          </a:xfrm>
          <a:prstGeom prst="ellipse">
            <a:avLst/>
          </a:prstGeom>
          <a:solidFill>
            <a:srgbClr val="2A9D8F"/>
          </a:solidFill>
          <a:ln w="12700">
            <a:solidFill>
              <a:srgbClr val="2A9D8F"/>
            </a:solidFill>
            <a:prstDash val="solid"/>
          </a:ln>
        </p:spPr>
      </p:sp>
      <p:sp>
        <p:nvSpPr>
          <p:cNvPr id="15" name="Text 12"/>
          <p:cNvSpPr/>
          <p:nvPr/>
        </p:nvSpPr>
        <p:spPr>
          <a:xfrm>
            <a:off x="868680" y="192024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1</a:t>
            </a:r>
            <a:endParaRPr lang="en-US" sz="2800" dirty="0"/>
          </a:p>
        </p:txBody>
      </p:sp>
      <p:sp>
        <p:nvSpPr>
          <p:cNvPr id="16" name="Text 13"/>
          <p:cNvSpPr/>
          <p:nvPr/>
        </p:nvSpPr>
        <p:spPr>
          <a:xfrm>
            <a:off x="1920240" y="1783080"/>
            <a:ext cx="9509760" cy="1051560"/>
          </a:xfrm>
          <a:prstGeom prst="rect">
            <a:avLst/>
          </a:prstGeom>
          <a:noFill/>
          <a:ln/>
        </p:spPr>
        <p:txBody>
          <a:bodyPr wrap="square" lIns="0" tIns="0" rIns="0" bIns="0" rtlCol="0" anchor="ctr"/>
          <a:lstStyle/>
          <a:p>
            <a:pPr indent="0" marL="0">
              <a:buNone/>
            </a:pPr>
            <a:r>
              <a:rPr lang="en-US" sz="2300" dirty="0">
                <a:solidFill>
                  <a:srgbClr val="FFFFFF"/>
                </a:solidFill>
                <a:latin typeface="Inter" pitchFamily="34" charset="0"/>
                <a:ea typeface="Inter" pitchFamily="34" charset="-122"/>
                <a:cs typeface="Inter" pitchFamily="34" charset="-120"/>
              </a:rPr>
              <a:t>No student personally identifiable information in public AI tools. Ever</a:t>
            </a:r>
            <a:endParaRPr lang="en-US" sz="2300" dirty="0"/>
          </a:p>
        </p:txBody>
      </p:sp>
      <p:sp>
        <p:nvSpPr>
          <p:cNvPr id="17" name="Shape 14"/>
          <p:cNvSpPr/>
          <p:nvPr/>
        </p:nvSpPr>
        <p:spPr>
          <a:xfrm>
            <a:off x="868680" y="3246120"/>
            <a:ext cx="777240" cy="777240"/>
          </a:xfrm>
          <a:prstGeom prst="ellipse">
            <a:avLst/>
          </a:prstGeom>
          <a:solidFill>
            <a:srgbClr val="2A9D8F"/>
          </a:solidFill>
          <a:ln w="12700">
            <a:solidFill>
              <a:srgbClr val="2A9D8F"/>
            </a:solidFill>
            <a:prstDash val="solid"/>
          </a:ln>
        </p:spPr>
      </p:sp>
      <p:sp>
        <p:nvSpPr>
          <p:cNvPr id="18" name="Text 15"/>
          <p:cNvSpPr/>
          <p:nvPr/>
        </p:nvSpPr>
        <p:spPr>
          <a:xfrm>
            <a:off x="868680" y="324612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2</a:t>
            </a:r>
            <a:endParaRPr lang="en-US" sz="2800" dirty="0"/>
          </a:p>
        </p:txBody>
      </p:sp>
      <p:sp>
        <p:nvSpPr>
          <p:cNvPr id="19" name="Text 16"/>
          <p:cNvSpPr/>
          <p:nvPr/>
        </p:nvSpPr>
        <p:spPr>
          <a:xfrm>
            <a:off x="1920240" y="3108960"/>
            <a:ext cx="9509760" cy="1051560"/>
          </a:xfrm>
          <a:prstGeom prst="rect">
            <a:avLst/>
          </a:prstGeom>
          <a:noFill/>
          <a:ln/>
        </p:spPr>
        <p:txBody>
          <a:bodyPr wrap="square" lIns="0" tIns="0" rIns="0" bIns="0" rtlCol="0" anchor="ctr"/>
          <a:lstStyle/>
          <a:p>
            <a:pPr indent="0" marL="0">
              <a:buNone/>
            </a:pPr>
            <a:r>
              <a:rPr lang="en-US" sz="2300" dirty="0">
                <a:solidFill>
                  <a:srgbClr val="FFFFFF"/>
                </a:solidFill>
                <a:latin typeface="Inter" pitchFamily="34" charset="0"/>
                <a:ea typeface="Inter" pitchFamily="34" charset="-122"/>
                <a:cs typeface="Inter" pitchFamily="34" charset="-120"/>
              </a:rPr>
              <a:t>A human reviews everything AI-drafted before it reaches a student or family</a:t>
            </a:r>
            <a:endParaRPr lang="en-US" sz="2300" dirty="0"/>
          </a:p>
        </p:txBody>
      </p:sp>
      <p:sp>
        <p:nvSpPr>
          <p:cNvPr id="20" name="Shape 17"/>
          <p:cNvSpPr/>
          <p:nvPr/>
        </p:nvSpPr>
        <p:spPr>
          <a:xfrm>
            <a:off x="868680" y="4572000"/>
            <a:ext cx="777240" cy="777240"/>
          </a:xfrm>
          <a:prstGeom prst="ellipse">
            <a:avLst/>
          </a:prstGeom>
          <a:solidFill>
            <a:srgbClr val="2A9D8F"/>
          </a:solidFill>
          <a:ln w="12700">
            <a:solidFill>
              <a:srgbClr val="2A9D8F"/>
            </a:solidFill>
            <a:prstDash val="solid"/>
          </a:ln>
        </p:spPr>
      </p:sp>
      <p:sp>
        <p:nvSpPr>
          <p:cNvPr id="21" name="Text 18"/>
          <p:cNvSpPr/>
          <p:nvPr/>
        </p:nvSpPr>
        <p:spPr>
          <a:xfrm>
            <a:off x="868680" y="457200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Inter" pitchFamily="34" charset="0"/>
                <a:ea typeface="Inter" pitchFamily="34" charset="-122"/>
                <a:cs typeface="Inter" pitchFamily="34" charset="-120"/>
              </a:rPr>
              <a:t>3</a:t>
            </a:r>
            <a:endParaRPr lang="en-US" sz="2800" dirty="0"/>
          </a:p>
        </p:txBody>
      </p:sp>
      <p:sp>
        <p:nvSpPr>
          <p:cNvPr id="22" name="Text 19"/>
          <p:cNvSpPr/>
          <p:nvPr/>
        </p:nvSpPr>
        <p:spPr>
          <a:xfrm>
            <a:off x="1920240" y="4434840"/>
            <a:ext cx="9509760" cy="1051560"/>
          </a:xfrm>
          <a:prstGeom prst="rect">
            <a:avLst/>
          </a:prstGeom>
          <a:noFill/>
          <a:ln/>
        </p:spPr>
        <p:txBody>
          <a:bodyPr wrap="square" lIns="0" tIns="0" rIns="0" bIns="0" rtlCol="0" anchor="ctr"/>
          <a:lstStyle/>
          <a:p>
            <a:pPr indent="0" marL="0">
              <a:buNone/>
            </a:pPr>
            <a:r>
              <a:rPr lang="en-US" sz="2300" dirty="0">
                <a:solidFill>
                  <a:srgbClr val="FFFFFF"/>
                </a:solidFill>
                <a:latin typeface="Inter" pitchFamily="34" charset="0"/>
                <a:ea typeface="Inter" pitchFamily="34" charset="-122"/>
                <a:cs typeface="Inter" pitchFamily="34" charset="-120"/>
              </a:rPr>
              <a:t>When we find something that works, we share it</a:t>
            </a:r>
            <a:endParaRPr lang="en-US" sz="2300" dirty="0"/>
          </a:p>
        </p:txBody>
      </p:sp>
      <p:sp>
        <p:nvSpPr>
          <p:cNvPr id="23" name="Text 20"/>
          <p:cNvSpPr/>
          <p:nvPr/>
        </p:nvSpPr>
        <p:spPr>
          <a:xfrm>
            <a:off x="640080" y="5806440"/>
            <a:ext cx="10972800" cy="457200"/>
          </a:xfrm>
          <a:prstGeom prst="rect">
            <a:avLst/>
          </a:prstGeom>
          <a:noFill/>
          <a:ln/>
        </p:spPr>
        <p:txBody>
          <a:bodyPr wrap="square" lIns="0" tIns="0" rIns="0" bIns="0" rtlCol="0" anchor="ctr"/>
          <a:lstStyle/>
          <a:p>
            <a:pPr indent="0" marL="0">
              <a:buNone/>
            </a:pPr>
            <a:r>
              <a:rPr lang="en-US" sz="2000" i="1" dirty="0">
                <a:solidFill>
                  <a:srgbClr val="2A9D8F"/>
                </a:solidFill>
                <a:latin typeface="Inter" pitchFamily="34" charset="0"/>
                <a:ea typeface="Inter" pitchFamily="34" charset="-122"/>
                <a:cs typeface="Inter" pitchFamily="34" charset="-120"/>
              </a:rPr>
              <a:t>Can I get a nod on those three?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next 48 hours: one real task, one de-ID drill, one share.</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FRIDAY BECOMES A MEMORY</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Your first 48 hours: three small things</a:t>
            </a:r>
            <a:endParaRPr lang="en-US" sz="3200" dirty="0"/>
          </a:p>
        </p:txBody>
      </p:sp>
      <p:sp>
        <p:nvSpPr>
          <p:cNvPr id="14" name="Shape 11"/>
          <p:cNvSpPr/>
          <p:nvPr/>
        </p:nvSpPr>
        <p:spPr>
          <a:xfrm>
            <a:off x="640080" y="1463040"/>
            <a:ext cx="10972800" cy="1234440"/>
          </a:xfrm>
          <a:prstGeom prst="roundRect">
            <a:avLst>
              <a:gd name="adj" fmla="val 6667"/>
            </a:avLst>
          </a:prstGeom>
          <a:solidFill>
            <a:srgbClr val="F7F5F0"/>
          </a:solidFill>
          <a:ln w="12700">
            <a:solidFill>
              <a:srgbClr val="F7F5F0"/>
            </a:solidFill>
            <a:prstDash val="solid"/>
          </a:ln>
        </p:spPr>
      </p:sp>
      <p:sp>
        <p:nvSpPr>
          <p:cNvPr id="15" name="Text 12"/>
          <p:cNvSpPr/>
          <p:nvPr/>
        </p:nvSpPr>
        <p:spPr>
          <a:xfrm>
            <a:off x="914400" y="184708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~10 min</a:t>
            </a:r>
            <a:endParaRPr lang="en-US" sz="1700" dirty="0"/>
          </a:p>
        </p:txBody>
      </p:sp>
      <p:sp>
        <p:nvSpPr>
          <p:cNvPr id="16" name="Text 13"/>
          <p:cNvSpPr/>
          <p:nvPr/>
        </p:nvSpPr>
        <p:spPr>
          <a:xfrm>
            <a:off x="2377440" y="160934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Do one real task with AI</a:t>
            </a:r>
            <a:endParaRPr lang="en-US" sz="2000" dirty="0"/>
          </a:p>
        </p:txBody>
      </p:sp>
      <p:sp>
        <p:nvSpPr>
          <p:cNvPr id="17" name="Text 14"/>
          <p:cNvSpPr/>
          <p:nvPr/>
        </p:nvSpPr>
        <p:spPr>
          <a:xfrm>
            <a:off x="2377440" y="208483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Something already on your to-do list. Push back twice, review it, use it</a:t>
            </a:r>
            <a:endParaRPr lang="en-US" sz="1600" dirty="0"/>
          </a:p>
        </p:txBody>
      </p:sp>
      <p:sp>
        <p:nvSpPr>
          <p:cNvPr id="18" name="Shape 15"/>
          <p:cNvSpPr/>
          <p:nvPr/>
        </p:nvSpPr>
        <p:spPr>
          <a:xfrm>
            <a:off x="640080" y="2880360"/>
            <a:ext cx="10972800" cy="1234440"/>
          </a:xfrm>
          <a:prstGeom prst="roundRect">
            <a:avLst>
              <a:gd name="adj" fmla="val 6667"/>
            </a:avLst>
          </a:prstGeom>
          <a:solidFill>
            <a:srgbClr val="F7F5F0"/>
          </a:solidFill>
          <a:ln w="12700">
            <a:solidFill>
              <a:srgbClr val="F7F5F0"/>
            </a:solidFill>
            <a:prstDash val="solid"/>
          </a:ln>
        </p:spPr>
      </p:sp>
      <p:sp>
        <p:nvSpPr>
          <p:cNvPr id="19" name="Text 16"/>
          <p:cNvSpPr/>
          <p:nvPr/>
        </p:nvSpPr>
        <p:spPr>
          <a:xfrm>
            <a:off x="914400" y="326440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~5 min</a:t>
            </a:r>
            <a:endParaRPr lang="en-US" sz="1700" dirty="0"/>
          </a:p>
        </p:txBody>
      </p:sp>
      <p:sp>
        <p:nvSpPr>
          <p:cNvPr id="20" name="Text 17"/>
          <p:cNvSpPr/>
          <p:nvPr/>
        </p:nvSpPr>
        <p:spPr>
          <a:xfrm>
            <a:off x="2377440" y="302666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Run the de-identification drill</a:t>
            </a:r>
            <a:endParaRPr lang="en-US" sz="2000" dirty="0"/>
          </a:p>
        </p:txBody>
      </p:sp>
      <p:sp>
        <p:nvSpPr>
          <p:cNvPr id="21" name="Text 18"/>
          <p:cNvSpPr/>
          <p:nvPr/>
        </p:nvSpPr>
        <p:spPr>
          <a:xfrm>
            <a:off x="2377440" y="350215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real prompt, written unsafe then safe, on paper; the rep that builds the habit</a:t>
            </a:r>
            <a:endParaRPr lang="en-US" sz="1600" dirty="0"/>
          </a:p>
        </p:txBody>
      </p:sp>
      <p:sp>
        <p:nvSpPr>
          <p:cNvPr id="22" name="Shape 19"/>
          <p:cNvSpPr/>
          <p:nvPr/>
        </p:nvSpPr>
        <p:spPr>
          <a:xfrm>
            <a:off x="640080" y="4297680"/>
            <a:ext cx="10972800" cy="1234440"/>
          </a:xfrm>
          <a:prstGeom prst="roundRect">
            <a:avLst>
              <a:gd name="adj" fmla="val 6667"/>
            </a:avLst>
          </a:prstGeom>
          <a:solidFill>
            <a:srgbClr val="F7F5F0"/>
          </a:solidFill>
          <a:ln w="12700">
            <a:solidFill>
              <a:srgbClr val="F7F5F0"/>
            </a:solidFill>
            <a:prstDash val="solid"/>
          </a:ln>
        </p:spPr>
      </p:sp>
      <p:sp>
        <p:nvSpPr>
          <p:cNvPr id="23" name="Text 20"/>
          <p:cNvSpPr/>
          <p:nvPr/>
        </p:nvSpPr>
        <p:spPr>
          <a:xfrm>
            <a:off x="914400" y="468172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~2 min</a:t>
            </a:r>
            <a:endParaRPr lang="en-US" sz="1700" dirty="0"/>
          </a:p>
        </p:txBody>
      </p:sp>
      <p:sp>
        <p:nvSpPr>
          <p:cNvPr id="24" name="Text 21"/>
          <p:cNvSpPr/>
          <p:nvPr/>
        </p:nvSpPr>
        <p:spPr>
          <a:xfrm>
            <a:off x="2377440" y="444398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Share one discovery</a:t>
            </a:r>
            <a:endParaRPr lang="en-US" sz="2000" dirty="0"/>
          </a:p>
        </p:txBody>
      </p:sp>
      <p:sp>
        <p:nvSpPr>
          <p:cNvPr id="25" name="Text 22"/>
          <p:cNvSpPr/>
          <p:nvPr/>
        </p:nvSpPr>
        <p:spPr>
          <a:xfrm>
            <a:off x="2377440" y="491947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colleague, one specific thing: a win or a useful failure</a:t>
            </a:r>
            <a:endParaRPr lang="en-US" sz="1600" dirty="0"/>
          </a:p>
        </p:txBody>
      </p:sp>
      <p:sp>
        <p:nvSpPr>
          <p:cNvPr id="26" name="Text 23"/>
          <p:cNvSpPr/>
          <p:nvPr/>
        </p:nvSpPr>
        <p:spPr>
          <a:xfrm>
            <a:off x="640080" y="5760720"/>
            <a:ext cx="10972800" cy="41148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PD you don’t use within two days mostly evaporates. The action sheet in your hands is the antidote.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1 · AI Foundations &amp; Safety   |   29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track: Kit 1 done, seven to go in the full series.</a:t>
            </a:r>
            <a:endParaRPr lang="en-US" sz="1000" dirty="0"/>
          </a:p>
        </p:txBody>
      </p:sp>
      <p:sp>
        <p:nvSpPr>
          <p:cNvPr id="12" name="Text 9"/>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KIT 1 OF 8 · TRACK A</a:t>
            </a:r>
            <a:endParaRPr lang="en-US" sz="1200" dirty="0"/>
          </a:p>
        </p:txBody>
      </p:sp>
      <p:sp>
        <p:nvSpPr>
          <p:cNvPr id="13" name="Text 10"/>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Where this series goes</a:t>
            </a:r>
            <a:endParaRPr lang="en-US" sz="3200" dirty="0"/>
          </a:p>
        </p:txBody>
      </p:sp>
      <p:sp>
        <p:nvSpPr>
          <p:cNvPr id="14" name="Shape 11"/>
          <p:cNvSpPr/>
          <p:nvPr/>
        </p:nvSpPr>
        <p:spPr>
          <a:xfrm>
            <a:off x="640080" y="1554480"/>
            <a:ext cx="2651760" cy="1005840"/>
          </a:xfrm>
          <a:prstGeom prst="roundRect">
            <a:avLst>
              <a:gd name="adj" fmla="val 8182"/>
            </a:avLst>
          </a:prstGeom>
          <a:solidFill>
            <a:srgbClr val="EAF5F3"/>
          </a:solidFill>
          <a:ln w="12700">
            <a:solidFill>
              <a:srgbClr val="EAF5F3"/>
            </a:solidFill>
            <a:prstDash val="solid"/>
          </a:ln>
        </p:spPr>
      </p:sp>
      <p:sp>
        <p:nvSpPr>
          <p:cNvPr id="15" name="Text 12"/>
          <p:cNvSpPr/>
          <p:nvPr/>
        </p:nvSpPr>
        <p:spPr>
          <a:xfrm>
            <a:off x="82296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1 · AI Foundations &amp; Safety  ✔</a:t>
            </a:r>
            <a:endParaRPr lang="en-US" sz="1450" dirty="0"/>
          </a:p>
        </p:txBody>
      </p:sp>
      <p:sp>
        <p:nvSpPr>
          <p:cNvPr id="16" name="Shape 13"/>
          <p:cNvSpPr/>
          <p:nvPr/>
        </p:nvSpPr>
        <p:spPr>
          <a:xfrm>
            <a:off x="3474720" y="1554480"/>
            <a:ext cx="2651760" cy="1005840"/>
          </a:xfrm>
          <a:prstGeom prst="roundRect">
            <a:avLst>
              <a:gd name="adj" fmla="val 8182"/>
            </a:avLst>
          </a:prstGeom>
          <a:solidFill>
            <a:srgbClr val="F7F5F0"/>
          </a:solidFill>
          <a:ln w="12700">
            <a:solidFill>
              <a:srgbClr val="F7F5F0"/>
            </a:solidFill>
            <a:prstDash val="solid"/>
          </a:ln>
        </p:spPr>
      </p:sp>
      <p:sp>
        <p:nvSpPr>
          <p:cNvPr id="17" name="Text 14"/>
          <p:cNvSpPr/>
          <p:nvPr/>
        </p:nvSpPr>
        <p:spPr>
          <a:xfrm>
            <a:off x="365760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2 · Prompting Basics</a:t>
            </a:r>
            <a:endParaRPr lang="en-US" sz="1450" dirty="0"/>
          </a:p>
        </p:txBody>
      </p:sp>
      <p:sp>
        <p:nvSpPr>
          <p:cNvPr id="18" name="Shape 15"/>
          <p:cNvSpPr/>
          <p:nvPr/>
        </p:nvSpPr>
        <p:spPr>
          <a:xfrm>
            <a:off x="6309360" y="1554480"/>
            <a:ext cx="2651760" cy="1005840"/>
          </a:xfrm>
          <a:prstGeom prst="roundRect">
            <a:avLst>
              <a:gd name="adj" fmla="val 8182"/>
            </a:avLst>
          </a:prstGeom>
          <a:solidFill>
            <a:srgbClr val="F7F5F0"/>
          </a:solidFill>
          <a:ln w="12700">
            <a:solidFill>
              <a:srgbClr val="F7F5F0"/>
            </a:solidFill>
            <a:prstDash val="solid"/>
          </a:ln>
        </p:spPr>
      </p:sp>
      <p:sp>
        <p:nvSpPr>
          <p:cNvPr id="19" name="Text 16"/>
          <p:cNvSpPr/>
          <p:nvPr/>
        </p:nvSpPr>
        <p:spPr>
          <a:xfrm>
            <a:off x="649224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3 · Planning &amp; Differentiation</a:t>
            </a:r>
            <a:endParaRPr lang="en-US" sz="1450" dirty="0"/>
          </a:p>
        </p:txBody>
      </p:sp>
      <p:sp>
        <p:nvSpPr>
          <p:cNvPr id="20" name="Shape 17"/>
          <p:cNvSpPr/>
          <p:nvPr/>
        </p:nvSpPr>
        <p:spPr>
          <a:xfrm>
            <a:off x="9144000" y="1554480"/>
            <a:ext cx="2651760" cy="1005840"/>
          </a:xfrm>
          <a:prstGeom prst="roundRect">
            <a:avLst>
              <a:gd name="adj" fmla="val 8182"/>
            </a:avLst>
          </a:prstGeom>
          <a:solidFill>
            <a:srgbClr val="F7F5F0"/>
          </a:solidFill>
          <a:ln w="12700">
            <a:solidFill>
              <a:srgbClr val="F7F5F0"/>
            </a:solidFill>
            <a:prstDash val="solid"/>
          </a:ln>
        </p:spPr>
      </p:sp>
      <p:sp>
        <p:nvSpPr>
          <p:cNvPr id="21" name="Text 18"/>
          <p:cNvSpPr/>
          <p:nvPr/>
        </p:nvSpPr>
        <p:spPr>
          <a:xfrm>
            <a:off x="932688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4 · Assessment</a:t>
            </a:r>
            <a:endParaRPr lang="en-US" sz="1450" dirty="0"/>
          </a:p>
        </p:txBody>
      </p:sp>
      <p:sp>
        <p:nvSpPr>
          <p:cNvPr id="22" name="Shape 19"/>
          <p:cNvSpPr/>
          <p:nvPr/>
        </p:nvSpPr>
        <p:spPr>
          <a:xfrm>
            <a:off x="640080" y="2743200"/>
            <a:ext cx="2651760" cy="1005840"/>
          </a:xfrm>
          <a:prstGeom prst="roundRect">
            <a:avLst>
              <a:gd name="adj" fmla="val 8182"/>
            </a:avLst>
          </a:prstGeom>
          <a:solidFill>
            <a:srgbClr val="F7F5F0"/>
          </a:solidFill>
          <a:ln w="12700">
            <a:solidFill>
              <a:srgbClr val="F7F5F0"/>
            </a:solidFill>
            <a:prstDash val="solid"/>
          </a:ln>
        </p:spPr>
      </p:sp>
      <p:sp>
        <p:nvSpPr>
          <p:cNvPr id="23" name="Text 20"/>
          <p:cNvSpPr/>
          <p:nvPr/>
        </p:nvSpPr>
        <p:spPr>
          <a:xfrm>
            <a:off x="82296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5 · Academic Integrity</a:t>
            </a:r>
            <a:endParaRPr lang="en-US" sz="1450" dirty="0"/>
          </a:p>
        </p:txBody>
      </p:sp>
      <p:sp>
        <p:nvSpPr>
          <p:cNvPr id="24" name="Shape 21"/>
          <p:cNvSpPr/>
          <p:nvPr/>
        </p:nvSpPr>
        <p:spPr>
          <a:xfrm>
            <a:off x="3474720" y="2743200"/>
            <a:ext cx="2651760" cy="1005840"/>
          </a:xfrm>
          <a:prstGeom prst="roundRect">
            <a:avLst>
              <a:gd name="adj" fmla="val 8182"/>
            </a:avLst>
          </a:prstGeom>
          <a:solidFill>
            <a:srgbClr val="F7F5F0"/>
          </a:solidFill>
          <a:ln w="12700">
            <a:solidFill>
              <a:srgbClr val="F7F5F0"/>
            </a:solidFill>
            <a:prstDash val="solid"/>
          </a:ln>
        </p:spPr>
      </p:sp>
      <p:sp>
        <p:nvSpPr>
          <p:cNvPr id="25" name="Text 22"/>
          <p:cNvSpPr/>
          <p:nvPr/>
        </p:nvSpPr>
        <p:spPr>
          <a:xfrm>
            <a:off x="365760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6 · Communication</a:t>
            </a:r>
            <a:endParaRPr lang="en-US" sz="1450" dirty="0"/>
          </a:p>
        </p:txBody>
      </p:sp>
      <p:sp>
        <p:nvSpPr>
          <p:cNvPr id="26" name="Shape 23"/>
          <p:cNvSpPr/>
          <p:nvPr/>
        </p:nvSpPr>
        <p:spPr>
          <a:xfrm>
            <a:off x="6309360" y="2743200"/>
            <a:ext cx="2651760" cy="1005840"/>
          </a:xfrm>
          <a:prstGeom prst="roundRect">
            <a:avLst>
              <a:gd name="adj" fmla="val 8182"/>
            </a:avLst>
          </a:prstGeom>
          <a:solidFill>
            <a:srgbClr val="F7F5F0"/>
          </a:solidFill>
          <a:ln w="12700">
            <a:solidFill>
              <a:srgbClr val="F7F5F0"/>
            </a:solidFill>
            <a:prstDash val="solid"/>
          </a:ln>
        </p:spPr>
      </p:sp>
      <p:sp>
        <p:nvSpPr>
          <p:cNvPr id="27" name="Text 24"/>
          <p:cNvSpPr/>
          <p:nvPr/>
        </p:nvSpPr>
        <p:spPr>
          <a:xfrm>
            <a:off x="649224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7 · Workload</a:t>
            </a:r>
            <a:endParaRPr lang="en-US" sz="1450" dirty="0"/>
          </a:p>
        </p:txBody>
      </p:sp>
      <p:sp>
        <p:nvSpPr>
          <p:cNvPr id="28" name="Shape 25"/>
          <p:cNvSpPr/>
          <p:nvPr/>
        </p:nvSpPr>
        <p:spPr>
          <a:xfrm>
            <a:off x="9144000" y="2743200"/>
            <a:ext cx="2651760" cy="1005840"/>
          </a:xfrm>
          <a:prstGeom prst="roundRect">
            <a:avLst>
              <a:gd name="adj" fmla="val 8182"/>
            </a:avLst>
          </a:prstGeom>
          <a:solidFill>
            <a:srgbClr val="F7F5F0"/>
          </a:solidFill>
          <a:ln w="12700">
            <a:solidFill>
              <a:srgbClr val="F7F5F0"/>
            </a:solidFill>
            <a:prstDash val="solid"/>
          </a:ln>
        </p:spPr>
      </p:sp>
      <p:sp>
        <p:nvSpPr>
          <p:cNvPr id="29" name="Text 26"/>
          <p:cNvSpPr/>
          <p:nvPr/>
        </p:nvSpPr>
        <p:spPr>
          <a:xfrm>
            <a:off x="932688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8 · Your School’s AI Culture</a:t>
            </a:r>
            <a:endParaRPr lang="en-US" sz="1450" dirty="0"/>
          </a:p>
        </p:txBody>
      </p:sp>
      <p:sp>
        <p:nvSpPr>
          <p:cNvPr id="30" name="Shape 27"/>
          <p:cNvSpPr/>
          <p:nvPr/>
        </p:nvSpPr>
        <p:spPr>
          <a:xfrm>
            <a:off x="640080" y="4206240"/>
            <a:ext cx="10972800" cy="1463040"/>
          </a:xfrm>
          <a:prstGeom prst="roundRect">
            <a:avLst>
              <a:gd name="adj" fmla="val 5625"/>
            </a:avLst>
          </a:prstGeom>
          <a:solidFill>
            <a:srgbClr val="13293D"/>
          </a:solidFill>
          <a:ln w="12700">
            <a:solidFill>
              <a:srgbClr val="13293D"/>
            </a:solidFill>
            <a:prstDash val="solid"/>
          </a:ln>
        </p:spPr>
      </p:sp>
      <p:sp>
        <p:nvSpPr>
          <p:cNvPr id="31" name="Text 28"/>
          <p:cNvSpPr/>
          <p:nvPr/>
        </p:nvSpPr>
        <p:spPr>
          <a:xfrm>
            <a:off x="960120" y="4389120"/>
            <a:ext cx="10332720" cy="1097280"/>
          </a:xfrm>
          <a:prstGeom prst="rect">
            <a:avLst/>
          </a:prstGeom>
          <a:noFill/>
          <a:ln/>
        </p:spPr>
        <p:txBody>
          <a:bodyPr wrap="square" lIns="0" tIns="0" rIns="0" bIns="0" rtlCol="0" anchor="ctr"/>
          <a:lstStyle/>
          <a:p>
            <a:pPr indent="0" marL="0">
              <a:buNone/>
            </a:pPr>
            <a:r>
              <a:rPr lang="en-US" sz="1800" b="1" dirty="0">
                <a:solidFill>
                  <a:srgbClr val="FFFFFF"/>
                </a:solidFill>
                <a:latin typeface="Inter" pitchFamily="34" charset="0"/>
                <a:ea typeface="Inter" pitchFamily="34" charset="-122"/>
                <a:cs typeface="Inter" pitchFamily="34" charset="-120"/>
              </a:rPr>
              <a:t>Finish all eight → the AI-Ready Educator Certificate of Completion (school membership).</a:t>
            </a:r>
            <a:pPr indent="0" marL="0">
              <a:buNone/>
            </a:pPr>
            <a:r>
              <a:rPr lang="en-US" sz="1800" dirty="0">
                <a:solidFill>
                  <a:srgbClr val="C9D4DE"/>
                </a:solidFill>
                <a:latin typeface="Inter" pitchFamily="34" charset="0"/>
                <a:ea typeface="Inter" pitchFamily="34" charset="-122"/>
                <a:cs typeface="Inter" pitchFamily="34" charset="-120"/>
              </a:rPr>
              <a:t>  Real documentation of real professional learning. Follow-ups run inside existing PLC time; nothing new to schedule.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1 · AI Foundations &amp; Safety   |   30</a:t>
            </a:r>
            <a:endParaRPr lang="en-US" sz="900" dirty="0"/>
          </a:p>
        </p:txBody>
      </p:sp>
      <p:sp>
        <p:nvSpPr>
          <p:cNvPr id="5" name="Text 2"/>
          <p:cNvSpPr/>
          <p:nvPr/>
        </p:nvSpPr>
        <p:spPr>
          <a:xfrm>
            <a:off x="640080" y="105156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Inter" pitchFamily="34" charset="0"/>
                <a:ea typeface="Inter" pitchFamily="34" charset="-122"/>
                <a:cs typeface="Inter" pitchFamily="34" charset="-120"/>
              </a:rPr>
              <a:t>Two minutes: the exit ticket.</a:t>
            </a:r>
            <a:endParaRPr lang="en-US" sz="3200" dirty="0"/>
          </a:p>
        </p:txBody>
      </p:sp>
      <p:sp>
        <p:nvSpPr>
          <p:cNvPr id="6" name="Text 3"/>
          <p:cNvSpPr/>
          <p:nvPr/>
        </p:nvSpPr>
        <p:spPr>
          <a:xfrm>
            <a:off x="640080" y="1783080"/>
            <a:ext cx="10972800" cy="457200"/>
          </a:xfrm>
          <a:prstGeom prst="rect">
            <a:avLst/>
          </a:prstGeom>
          <a:noFill/>
          <a:ln/>
        </p:spPr>
        <p:txBody>
          <a:bodyPr wrap="square" lIns="0" tIns="0" rIns="0" bIns="0" rtlCol="0" anchor="ctr"/>
          <a:lstStyle/>
          <a:p>
            <a:pPr indent="0" marL="0">
              <a:buNone/>
            </a:pPr>
            <a:r>
              <a:rPr lang="en-US" sz="1900" dirty="0">
                <a:solidFill>
                  <a:srgbClr val="C9D4DE"/>
                </a:solidFill>
                <a:latin typeface="Inter" pitchFamily="34" charset="0"/>
                <a:ea typeface="Inter" pitchFamily="34" charset="-122"/>
                <a:cs typeface="Inter" pitchFamily="34" charset="-120"/>
              </a:rPr>
              <a:t>One thing you’re taking · one worry you still have · one thing you’ll try</a:t>
            </a:r>
            <a:endParaRPr lang="en-US" sz="1900" dirty="0"/>
          </a:p>
        </p:txBody>
      </p:sp>
      <p:sp>
        <p:nvSpPr>
          <p:cNvPr id="7" name="Text 4"/>
          <p:cNvSpPr/>
          <p:nvPr/>
        </p:nvSpPr>
        <p:spPr>
          <a:xfrm>
            <a:off x="640080" y="2651760"/>
            <a:ext cx="10972800" cy="2377440"/>
          </a:xfrm>
          <a:prstGeom prst="rect">
            <a:avLst/>
          </a:prstGeom>
          <a:noFill/>
          <a:ln/>
        </p:spPr>
        <p:txBody>
          <a:bodyPr wrap="square" lIns="0" tIns="0" rIns="0" bIns="0" rtlCol="0" anchor="ctr"/>
          <a:lstStyle/>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AI can write a draft.</a:t>
            </a:r>
            <a:endParaRPr lang="en-US" sz="2800" dirty="0"/>
          </a:p>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It cannot greet a kid at the door by name,</a:t>
            </a:r>
            <a:endParaRPr lang="en-US" sz="2800" dirty="0"/>
          </a:p>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notice something’s off, and change that kid’s day.</a:t>
            </a:r>
            <a:endParaRPr lang="en-US" sz="2800" dirty="0"/>
          </a:p>
          <a:p>
            <a:pPr algn="ctr" indent="0" marL="0">
              <a:lnSpc>
                <a:spcPct val="125000"/>
              </a:lnSpc>
              <a:buNone/>
            </a:pPr>
            <a:r>
              <a:rPr lang="en-US" sz="2800" b="1" dirty="0">
                <a:solidFill>
                  <a:srgbClr val="FFFFFF"/>
                </a:solidFill>
                <a:latin typeface="Inter" pitchFamily="34" charset="0"/>
                <a:ea typeface="Inter" pitchFamily="34" charset="-122"/>
                <a:cs typeface="Inter" pitchFamily="34" charset="-120"/>
              </a:rPr>
              <a:t>That’s you.</a:t>
            </a:r>
            <a:endParaRPr lang="en-US" sz="2800" dirty="0"/>
          </a:p>
        </p:txBody>
      </p:sp>
      <p:sp>
        <p:nvSpPr>
          <p:cNvPr id="8" name="Text 5"/>
          <p:cNvSpPr/>
          <p:nvPr/>
        </p:nvSpPr>
        <p:spPr>
          <a:xfrm>
            <a:off x="640080" y="5212080"/>
            <a:ext cx="10972800" cy="548640"/>
          </a:xfrm>
          <a:prstGeom prst="rect">
            <a:avLst/>
          </a:prstGeom>
          <a:noFill/>
          <a:ln/>
        </p:spPr>
        <p:txBody>
          <a:bodyPr wrap="square" lIns="0" tIns="0" rIns="0" bIns="0" rtlCol="0" anchor="ctr"/>
          <a:lstStyle/>
          <a:p>
            <a:pPr algn="ctr" indent="0" marL="0">
              <a:buNone/>
            </a:pPr>
            <a:r>
              <a:rPr lang="en-US" sz="2400" b="1" dirty="0">
                <a:solidFill>
                  <a:srgbClr val="2A9D8F"/>
                </a:solidFill>
                <a:latin typeface="Inter" pitchFamily="34" charset="0"/>
                <a:ea typeface="Inter" pitchFamily="34" charset="-122"/>
                <a:cs typeface="Inter" pitchFamily="34" charset="-120"/>
              </a:rPr>
              <a:t>Use the tool for the paperwork — keep the teaching.</a:t>
            </a:r>
            <a:endParaRPr lang="en-US" sz="2400" dirty="0"/>
          </a:p>
        </p:txBody>
      </p:sp>
      <p:sp>
        <p:nvSpPr>
          <p:cNvPr id="9" name="Text 6"/>
          <p:cNvSpPr/>
          <p:nvPr/>
        </p:nvSpPr>
        <p:spPr>
          <a:xfrm>
            <a:off x="640080" y="5943600"/>
            <a:ext cx="10972800" cy="365760"/>
          </a:xfrm>
          <a:prstGeom prst="rect">
            <a:avLst/>
          </a:prstGeom>
          <a:noFill/>
          <a:ln/>
        </p:spPr>
        <p:txBody>
          <a:bodyPr wrap="square" lIns="0" tIns="0" rIns="0" bIns="0" rtlCol="0" anchor="ctr"/>
          <a:lstStyle/>
          <a:p>
            <a:pPr algn="ctr" indent="0" marL="0">
              <a:buNone/>
            </a:pPr>
            <a:r>
              <a:rPr lang="en-US" sz="1300" spc="200" kern="0" dirty="0">
                <a:solidFill>
                  <a:srgbClr val="9FB2C2"/>
                </a:solidFill>
                <a:latin typeface="Inter" pitchFamily="34" charset="0"/>
                <a:ea typeface="Inter" pitchFamily="34" charset="-122"/>
                <a:cs typeface="Inter" pitchFamily="34" charset="-120"/>
              </a:rPr>
              <a:t>Human teaching. Life-changing tools.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AI-Ready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1: AI Foundations &amp; Safety: The One Hard Rule</dc:title>
  <dc:subject>PptxGenJS Presentation</dc:subject>
  <dc:creator>Adam &amp; Katelyn Spinozzi</dc:creator>
  <cp:lastModifiedBy>Adam &amp; Katelyn Spinozzi</cp:lastModifiedBy>
  <cp:revision>1</cp:revision>
  <dcterms:created xsi:type="dcterms:W3CDTF">2026-08-12T22:19:51Z</dcterms:created>
  <dcterms:modified xsi:type="dcterms:W3CDTF">2026-08-12T22:19:51Z</dcterms:modified>
</cp:coreProperties>
</file>