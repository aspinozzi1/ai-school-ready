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two is scaffolds. Same task, same target, more handholds, and here it is on Ms. Rivera's screen, filled in on the food webs passage she is carrying through this session. Role in teal, task in navy, context in amber, format in green; your handout has the same prompt as a blank template. The clause worth pointing at is the worked example on a DIFFERENT topic: that teaches the structure and keeps the thinking with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three is extension, and the quiet rule goes out loud: early finishers get depth, not more of the same. Ms. Rivera's screen shows the prompt on her food webs passage, colour-coded the same four ways; the handout carries the blank template. Apply, critique, teach: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four is the UDL move, same content in a different shape. On Ms. Rivera's screen it runs on the same food webs content, with the four parts colour-coded; the handout has the blank template. Some days you use one format, some days three stations run at once. Either way,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 Ms. Rivera builds ONE artifact across all three steps, the reading passage for her 6th grade food webs lesson. You will see it through to completion: the passage she starts with (slide 21), the prompt she types (slide 23), her four follow-ups and what each one changed (slide 24), and the finished set (slide 26).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draft the core artifact with the Kit 2 formula, and get it to eighty percent. Circulate. Weak drafts usually lack context; nudge with “what would a substitute need to know about this lesson?” The big card is Ms. Rivera’s step 1: one reading passage for her 6th grade food webs lesson, drafted to 80%. The next slide shows that passage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artifact Ms. Rivera is about to differentiate, in full, so nobody has to imagine it. Sections 2 and 3, producers and consumers, then decomposers, run the same way; sections 1 and 4 are on screen. Point out that it is on-grade and unpolished: this is what eighty percent looks like, and it is enough to start differentiating. Keep this up while pairs finish their own step 1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differentiate it in two directions, both as follow-ups in the same chat. The big card is Ms. Rivera's step 2 on the same food webs passage: the leveled support version, then three depth prompts. The next two slides show her actual prompt and every follow-up she typed, so mimicking her is possible from the screen alone.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whole point of the lab on one screen. The same four parts you learned in Kit 2, aimed at the passage from two slides ago: role in teal, task in navy, context in amber, format in green. Notice what the context does, because it is the part people skip: naming the five words that must survive is what keeps the support version real science instead of baby talk. At worst, copy this shape with your own artifact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Four follow-ups, one chat, nothing re-pasted, and each one is one of the four moves you learned before the lab. Read the right-hand column out loud: that is what each follow-up bought her. Tell the room the honest timing, that this whole thread ran under seven minutes, and that they are doing the same thing right now with their own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run the 4-point review on all three versions and fix what fails while the chat is still open. Insist on this step; skipping review is the failure mode of the whole kit. Pairs swap and check each other’s level labels: a partner’s ear is the first check. The big card is Ms. Rivera's review run on the same food webs passage: two points fail, two fixes happen live, and only then is it done. The next slide shows what she ends up holding.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Read Section 1 aloud, then read the on-grade sentence at the bottom, and let the room hear the difference. Point out what did not change: the four sections, the science, and the five words that are the whole point of the unit. That is what "same content, different door" means. If anyone is still deciding whether this is worth twenty minutes, this slide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stretch prompts are the equity half of the hour, and notice not one of them is another worksheet. The stations are the same content in a shape Tuesday can actually run. Read station 2 aloud; it is the whole unit in one line. Then the arithmetic: hand-built this was an evening, on her screen it was under twenty minutes, and all four versions passed her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Ms. Rivera's model story is on the chip: what the review caught in her food webs passage goes first.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tool for the time problem arrived</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A lesson plan in 30 minutes. And one catch.</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Review is where your expertise enters</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UDL: generate options, then choose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Four moves. New price, same pedagogy.</a:t>
            </a:r>
            <a:endParaRPr lang="en-US" sz="28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Check the level. Don’t trust the label.</a:t>
            </a:r>
            <a:endParaRPr lang="en-US" sz="28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Sentence starters: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Word bank: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Worked example: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 a different topic, so it teaches the shape, not the answer</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Organizer text: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For the food webs passage below, create five sentence starters, a 10-word word bank, and one fully worked example paragraph.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My students can explain a food web out loud and then freeze on the page. Keep the science exactly as the passage has it.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starter per paragraph, student-friendly definitions, and the worked example on a different topic, so students see the shape without copying the content.”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Stretch it: depth, not more worksheets</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Apply: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use the concept in an unfamiliar context</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Critique: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find the flaw in a flawed example</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Teach: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explain it to a younger student, in their own words</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A second worksheet is a punishment for being fast. Say “no additional practice problems.”</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Create three extension prompts for students who have already mastered the food webs passage below.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These are the students who finish in ten minutes. Go deeper, not longer, and no additional practice problems.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prompt that applies the idea to an unfamiliar context, one that asks them to critique a flawed example, and one that asks them to teach it to a younger student in their own words.”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Reformat it: same content, new shape</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Stations: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Discussion cards: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Practice set: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items ramping from recall to application</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One draft becomes a menu: multiple means of engagement and expression, on demand.</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64692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Turn the food webs content below into three formats.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Same concepts and same vocabulary in all three, and label everything, so I can hand them out without re-reading them.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set of four station-activity directions. A deck of eight discussion cards, one question per card. A 10-item practice set that ramps from recall to application.”  [paste content]</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Narrow gaps. Don’t widen them.</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her 6th grade food webs passage.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big: her food webs passage, drafted to 80%, not polished.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Role · task · context · format, and be generous with context</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What did students just learn? What do they always trip on?</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Run it. Read like an editor. Get it to 80%, not perfect.</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Her pick: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the reading passage for her 6th grade food webs lesson.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“Food Webs: Energy on the Move”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Four sections, drafted with the formula: what a food web shows · producers and consumers · decomposers · when one link breaks.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“Eighty percent is enough. The polish waits for the review.”</a:t>
            </a:r>
            <a:endParaRPr lang="en-US" sz="16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on-grade food webs passage she will differentiate.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CORE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passage she starts with</a:t>
            </a:r>
            <a:endParaRPr lang="en-US" sz="3200" dirty="0"/>
          </a:p>
        </p:txBody>
      </p:sp>
      <p:sp>
        <p:nvSpPr>
          <p:cNvPr id="14" name="Shape 11"/>
          <p:cNvSpPr/>
          <p:nvPr/>
        </p:nvSpPr>
        <p:spPr>
          <a:xfrm>
            <a:off x="640080" y="1225296"/>
            <a:ext cx="10972800" cy="4069080"/>
          </a:xfrm>
          <a:prstGeom prst="roundRect">
            <a:avLst>
              <a:gd name="adj" fmla="val 2022"/>
            </a:avLst>
          </a:prstGeom>
          <a:solidFill>
            <a:srgbClr val="F7F5F0"/>
          </a:solidFill>
          <a:ln w="12700">
            <a:solidFill>
              <a:srgbClr val="F7F5F0"/>
            </a:solidFill>
            <a:prstDash val="solid"/>
          </a:ln>
        </p:spPr>
      </p:sp>
      <p:sp>
        <p:nvSpPr>
          <p:cNvPr id="15" name="Shape 12"/>
          <p:cNvSpPr/>
          <p:nvPr/>
        </p:nvSpPr>
        <p:spPr>
          <a:xfrm>
            <a:off x="640080" y="1225296"/>
            <a:ext cx="109728" cy="406908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6TH GRADE SCIENCE · ON-GRADE DRAFT</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“Food Webs: Energy on the Move”</a:t>
            </a:r>
            <a:endParaRPr lang="en-US" sz="2600" dirty="0"/>
          </a:p>
        </p:txBody>
      </p:sp>
      <p:sp>
        <p:nvSpPr>
          <p:cNvPr id="18" name="Text 15"/>
          <p:cNvSpPr/>
          <p:nvPr/>
        </p:nvSpPr>
        <p:spPr>
          <a:xfrm>
            <a:off x="1005840" y="2194560"/>
            <a:ext cx="10241280" cy="2971800"/>
          </a:xfrm>
          <a:prstGeom prst="rect">
            <a:avLst/>
          </a:prstGeom>
          <a:noFill/>
          <a:ln/>
        </p:spPr>
        <p:txBody>
          <a:bodyPr wrap="square" lIns="0" tIns="0" rIns="0" bIns="0" rtlCol="0" anchor="t"/>
          <a:lstStyle/>
          <a:p>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1 · What a food web shows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Every organism in an ecosystem needs energy, and a food web is the map of where that energy goes. Producers, such as grasses and oak trees, capture sunlight and build their own food. Consumers get their energy secondhand: a rabbit eats the grass, a hawk eats the rabbit.
</a:t>
            </a:r>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4 · When one link breaks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Remove the hawks from a schoolyard food web and the rabbits are not the only thing that changes. The grasses get grazed to the roots, the soil loses its cover, and the decomposers that live on fallen leaves lose their supply.</a:t>
            </a:r>
            <a:endParaRPr lang="en-US" sz="1400" dirty="0"/>
          </a:p>
        </p:txBody>
      </p:sp>
      <p:sp>
        <p:nvSpPr>
          <p:cNvPr id="19" name="Text 16"/>
          <p:cNvSpPr/>
          <p:nvPr/>
        </p:nvSpPr>
        <p:spPr>
          <a:xfrm>
            <a:off x="640080" y="544068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Four sections, drafted with role, task, context, format. Eighty percent, not polished. Every version that follows starts here.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two follow-ups, same chat: the support version, then the stretch.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Differentiate it: two directions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14400" y="1719072"/>
            <a:ext cx="4846320" cy="384048"/>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Support</a:t>
            </a:r>
            <a:endParaRPr lang="en-US" sz="1900" dirty="0"/>
          </a:p>
        </p:txBody>
      </p:sp>
      <p:sp>
        <p:nvSpPr>
          <p:cNvPr id="16" name="Text 13"/>
          <p:cNvSpPr/>
          <p:nvPr/>
        </p:nvSpPr>
        <p:spPr>
          <a:xfrm>
            <a:off x="914400" y="21396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450" dirty="0"/>
          </a:p>
        </p:txBody>
      </p:sp>
      <p:sp>
        <p:nvSpPr>
          <p:cNvPr id="17" name="Shape 14"/>
          <p:cNvSpPr/>
          <p:nvPr/>
        </p:nvSpPr>
        <p:spPr>
          <a:xfrm>
            <a:off x="640080" y="3611880"/>
            <a:ext cx="5394960" cy="1874520"/>
          </a:xfrm>
          <a:prstGeom prst="roundRect">
            <a:avLst>
              <a:gd name="adj" fmla="val 4390"/>
            </a:avLst>
          </a:prstGeom>
          <a:solidFill>
            <a:srgbClr val="F7F5F0"/>
          </a:solidFill>
          <a:ln w="12700">
            <a:solidFill>
              <a:srgbClr val="F7F5F0"/>
            </a:solidFill>
            <a:prstDash val="solid"/>
          </a:ln>
        </p:spPr>
      </p:sp>
      <p:sp>
        <p:nvSpPr>
          <p:cNvPr id="18" name="Text 15"/>
          <p:cNvSpPr/>
          <p:nvPr/>
        </p:nvSpPr>
        <p:spPr>
          <a:xfrm>
            <a:off x="914400" y="3776472"/>
            <a:ext cx="4846320" cy="384048"/>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Stretch</a:t>
            </a:r>
            <a:endParaRPr lang="en-US" sz="1900" dirty="0"/>
          </a:p>
        </p:txBody>
      </p:sp>
      <p:sp>
        <p:nvSpPr>
          <p:cNvPr id="19" name="Text 16"/>
          <p:cNvSpPr/>
          <p:nvPr/>
        </p:nvSpPr>
        <p:spPr>
          <a:xfrm>
            <a:off x="914400" y="41970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450" dirty="0"/>
          </a:p>
        </p:txBody>
      </p:sp>
      <p:sp>
        <p:nvSpPr>
          <p:cNvPr id="20" name="Shape 17"/>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2</a:t>
            </a:r>
            <a:endParaRPr lang="en-US" sz="1250" dirty="0"/>
          </a:p>
        </p:txBody>
      </p:sp>
      <p:sp>
        <p:nvSpPr>
          <p:cNvPr id="22" name="Text 19"/>
          <p:cNvSpPr/>
          <p:nvPr/>
        </p:nvSpPr>
        <p:spPr>
          <a:xfrm>
            <a:off x="6537960" y="2148840"/>
            <a:ext cx="4892040" cy="3200400"/>
          </a:xfrm>
          <a:prstGeom prst="rect">
            <a:avLst/>
          </a:prstGeom>
          <a:noFill/>
          <a:ln/>
        </p:spPr>
        <p:txBody>
          <a:bodyPr wrap="square" lIns="0" tIns="0" rIns="0" bIns="0" rtlCol="0" anchor="t"/>
          <a:lstStyle/>
          <a:p>
            <a:pPr indent="0" marL="0">
              <a:lnSpc>
                <a:spcPct val="120000"/>
              </a:lnSpc>
              <a:buNone/>
            </a:pPr>
            <a:r>
              <a:rPr lang="en-US" sz="1600" b="1" dirty="0">
                <a:solidFill>
                  <a:srgbClr val="2E7D5B"/>
                </a:solidFill>
                <a:latin typeface="Inter" pitchFamily="34" charset="0"/>
                <a:ea typeface="Inter" pitchFamily="34" charset="-122"/>
                <a:cs typeface="Inter" pitchFamily="34" charset="-120"/>
              </a:rPr>
              <a:t>Support: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her passage leveled down. Sentences under 12 words, plus a 5-word vocabulary box.
</a:t>
            </a:r>
            <a:pPr indent="0" marL="0">
              <a:lnSpc>
                <a:spcPct val="120000"/>
              </a:lnSpc>
              <a:buNone/>
            </a:pPr>
            <a:r>
              <a:rPr lang="en-US" sz="1600" b="1" dirty="0">
                <a:solidFill>
                  <a:srgbClr val="2A9D8F"/>
                </a:solidFill>
                <a:latin typeface="Inter" pitchFamily="34" charset="0"/>
                <a:ea typeface="Inter" pitchFamily="34" charset="-122"/>
                <a:cs typeface="Inter" pitchFamily="34" charset="-120"/>
              </a:rPr>
              <a:t>Stretch: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three depth prompts: apply it to a desert food web, find the flaw in a broken one, teach it to a 3rd grader.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"Same chat, no re-pasting. My prompt is on the next slide."</a:t>
            </a:r>
            <a:endParaRPr lang="en-US" sz="1600" dirty="0"/>
          </a:p>
        </p:txBody>
      </p:sp>
      <p:sp>
        <p:nvSpPr>
          <p:cNvPr id="23" name="Text 20"/>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“Now make an easier version of that.”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same chat</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who works with 6th graders.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food webs passage you just drafted for students reading about two years below grade level.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all four sections, every key idea, and these words: producer, consumer, decomposer, energy, ecosystem. The science does not get smaller; the sentences do.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Sentences under 12 words. Add a 5-word vocabulary box with student-friendly definitions. Label it “Support version.”</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ITERATIONS, ONE CHAT, FOUR FOLLOW-UPS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 re-pasting</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LEVEL IT</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“Rewrite it two years below grade level. Same four sections, same key words, sentences under 12 words.”</a:t>
            </a:r>
            <a:endParaRPr lang="en-US" sz="145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One passage became two. Same science, shorter sentences, plus a 5-word vocabulary box.</a:t>
            </a:r>
            <a:endParaRPr lang="en-US" sz="145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SCAFFOLD IT</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“Add five sentence starters, one per paragraph, and one worked example on a different topic.”</a:t>
            </a:r>
            <a:endParaRPr lang="en-US" sz="145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The support version can now be written from, not only read.</a:t>
            </a:r>
            <a:endParaRPr lang="en-US" sz="145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STRETCH IT</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“Three extension prompts for the students who finish in ten minutes. Deeper, not longer. No extra practice problems.”</a:t>
            </a:r>
            <a:endParaRPr lang="en-US" sz="145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Apply it to a desert web, find the flaw in a broken one, teach it to a 3rd grader.</a:t>
            </a:r>
            <a:endParaRPr lang="en-US" sz="145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REFORMAT IT</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“Turn the same content into four station directions and eight discussion cards. Label everything.”</a:t>
            </a:r>
            <a:endParaRPr lang="en-US" sz="145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Tuesday can run as stations without a second planning night.</a:t>
            </a:r>
            <a:endParaRPr lang="en-US" sz="145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LEVEL IT</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SCAFFOLD IT</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STRETCH IT</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REFORMAT IT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review, run live: one long sentence split, one example swapped.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Run the 4-point review. Fix what fails.</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Accurate? Check facts and any named resources</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Fits your students? Swap the examples that won’t land</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Sounds like you? If not: “warmer,” “plainer,” “shorter”</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550" b="1" dirty="0">
                <a:solidFill>
                  <a:srgbClr val="2E7D5B"/>
                </a:solidFill>
                <a:latin typeface="Inter" pitchFamily="34" charset="0"/>
                <a:ea typeface="Inter" pitchFamily="34" charset="-122"/>
                <a:cs typeface="Inter" pitchFamily="34" charset="-120"/>
              </a:rPr>
              <a:t>Accurate: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Every fact and resource checks out.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At level: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one 24-word sentence in the support version. Split it in the chat.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Fits her kids: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the ocean example swapped for the schoolyard one.
</a:t>
            </a:r>
            <a:pPr indent="0" marL="0">
              <a:lnSpc>
                <a:spcPct val="120000"/>
              </a:lnSpc>
              <a:buNone/>
            </a:pPr>
            <a:r>
              <a:rPr lang="en-US" sz="1550" b="1" dirty="0">
                <a:solidFill>
                  <a:srgbClr val="2E7D5B"/>
                </a:solidFill>
                <a:latin typeface="Inter" pitchFamily="34" charset="0"/>
                <a:ea typeface="Inter" pitchFamily="34" charset="-122"/>
                <a:cs typeface="Inter" pitchFamily="34" charset="-120"/>
              </a:rPr>
              <a:t>Sounds like her: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after one follow-up: “plainer.”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"Two fixes, four passes, while the chat was open."</a:t>
            </a:r>
            <a:endParaRPr lang="en-US" sz="15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support version, finished: the same science, sentences a struggling reader can hold.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SUPPORT VERSION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actually came out</a:t>
            </a:r>
            <a:endParaRPr lang="en-US" sz="3200" dirty="0"/>
          </a:p>
        </p:txBody>
      </p:sp>
      <p:sp>
        <p:nvSpPr>
          <p:cNvPr id="14" name="Shape 11"/>
          <p:cNvSpPr/>
          <p:nvPr/>
        </p:nvSpPr>
        <p:spPr>
          <a:xfrm>
            <a:off x="640080" y="1188720"/>
            <a:ext cx="10972800" cy="4041648"/>
          </a:xfrm>
          <a:prstGeom prst="roundRect">
            <a:avLst>
              <a:gd name="adj" fmla="val 2036"/>
            </a:avLst>
          </a:prstGeom>
          <a:solidFill>
            <a:srgbClr val="F7F5F0"/>
          </a:solidFill>
          <a:ln w="12700">
            <a:solidFill>
              <a:srgbClr val="F7F5F0"/>
            </a:solidFill>
            <a:prstDash val="solid"/>
          </a:ln>
        </p:spPr>
      </p:sp>
      <p:sp>
        <p:nvSpPr>
          <p:cNvPr id="15" name="Text 12"/>
          <p:cNvSpPr/>
          <p:nvPr/>
        </p:nvSpPr>
        <p:spPr>
          <a:xfrm>
            <a:off x="914400" y="1325880"/>
            <a:ext cx="104241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“FOOD WEBS: ENERGY ON THE MOVE (SUPPORT VERSION)”  ·  SENTENCES UNDER 12 WORDS</a:t>
            </a:r>
            <a:endParaRPr lang="en-US" sz="1100" dirty="0"/>
          </a:p>
        </p:txBody>
      </p:sp>
      <p:sp>
        <p:nvSpPr>
          <p:cNvPr id="16" name="Text 13"/>
          <p:cNvSpPr/>
          <p:nvPr/>
        </p:nvSpPr>
        <p:spPr>
          <a:xfrm>
            <a:off x="914400" y="1691640"/>
            <a:ext cx="6537960" cy="3383280"/>
          </a:xfrm>
          <a:prstGeom prst="rect">
            <a:avLst/>
          </a:prstGeom>
          <a:noFill/>
          <a:ln/>
        </p:spPr>
        <p:txBody>
          <a:bodyPr wrap="square" lIns="0" tIns="0" rIns="0" bIns="0" rtlCol="0" anchor="t"/>
          <a:lstStyle/>
          <a:p>
            <a:pPr indent="0" marL="0">
              <a:lnSpc>
                <a:spcPct val="112000"/>
              </a:lnSpc>
              <a:buNone/>
            </a:pPr>
            <a:r>
              <a:rPr lang="en-US" sz="1500" b="1" dirty="0">
                <a:solidFill>
                  <a:srgbClr val="2A9D8F"/>
                </a:solidFill>
                <a:latin typeface="Inter" pitchFamily="34" charset="0"/>
                <a:ea typeface="Inter" pitchFamily="34" charset="-122"/>
                <a:cs typeface="Inter" pitchFamily="34" charset="-120"/>
              </a:rPr>
              <a:t>Section 1 · What a food web shows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Every living thing needs energy. A food web maps where that energy goes. Producers make their own food. Grasses and oak trees use sunlight. Consumers cannot make food. They eat other living things. A rabbit eats the grass. A hawk eats the rabbit.
</a:t>
            </a:r>
            <a:pPr indent="0" marL="0">
              <a:lnSpc>
                <a:spcPct val="112000"/>
              </a:lnSpc>
              <a:buNone/>
            </a:pPr>
            <a:r>
              <a:rPr lang="en-US" sz="1500" b="1" dirty="0">
                <a:solidFill>
                  <a:srgbClr val="2A9D8F"/>
                </a:solidFill>
                <a:latin typeface="Inter" pitchFamily="34" charset="0"/>
                <a:ea typeface="Inter" pitchFamily="34" charset="-122"/>
                <a:cs typeface="Inter" pitchFamily="34" charset="-120"/>
              </a:rPr>
              <a:t>Section 4 · When one link breaks
</a:t>
            </a:r>
            <a:pPr indent="0" marL="0">
              <a:lnSpc>
                <a:spcPct val="112000"/>
              </a:lnSpc>
              <a:buNone/>
            </a:pPr>
            <a:r>
              <a:rPr lang="en-US" sz="1500" dirty="0">
                <a:solidFill>
                  <a:srgbClr val="1B1F24"/>
                </a:solidFill>
                <a:latin typeface="Inter" pitchFamily="34" charset="0"/>
                <a:ea typeface="Inter" pitchFamily="34" charset="-122"/>
                <a:cs typeface="Inter" pitchFamily="34" charset="-120"/>
              </a:rPr>
              <a:t>Take the hawks out of the food web. More than the rabbits will change. The rabbits eat the grasses down to the roots. Bare soil has no cover left. Decomposers live on fallen leaves. Now they lose their supply.</a:t>
            </a:r>
            <a:endParaRPr lang="en-US" sz="1500" dirty="0"/>
          </a:p>
        </p:txBody>
      </p:sp>
      <p:sp>
        <p:nvSpPr>
          <p:cNvPr id="17" name="Shape 14"/>
          <p:cNvSpPr/>
          <p:nvPr/>
        </p:nvSpPr>
        <p:spPr>
          <a:xfrm>
            <a:off x="7726680" y="1691640"/>
            <a:ext cx="3611880" cy="3200400"/>
          </a:xfrm>
          <a:prstGeom prst="roundRect">
            <a:avLst>
              <a:gd name="adj" fmla="val 2571"/>
            </a:avLst>
          </a:prstGeom>
          <a:solidFill>
            <a:srgbClr val="FFFFFF"/>
          </a:solidFill>
          <a:ln w="12700">
            <a:solidFill>
              <a:srgbClr val="FFFFFF"/>
            </a:solidFill>
            <a:prstDash val="solid"/>
          </a:ln>
        </p:spPr>
      </p:sp>
      <p:sp>
        <p:nvSpPr>
          <p:cNvPr id="18" name="Text 15"/>
          <p:cNvSpPr/>
          <p:nvPr/>
        </p:nvSpPr>
        <p:spPr>
          <a:xfrm>
            <a:off x="7955280" y="1828800"/>
            <a:ext cx="3200400" cy="237744"/>
          </a:xfrm>
          <a:prstGeom prst="rect">
            <a:avLst/>
          </a:prstGeom>
          <a:noFill/>
          <a:ln/>
        </p:spPr>
        <p:txBody>
          <a:bodyPr wrap="square" lIns="0" tIns="0" rIns="0" bIns="0" rtlCol="0" anchor="ctr"/>
          <a:lstStyle/>
          <a:p>
            <a:pPr indent="0" marL="0">
              <a:buNone/>
            </a:pPr>
            <a:r>
              <a:rPr lang="en-US" sz="1000" b="1" spc="120" kern="0" dirty="0">
                <a:solidFill>
                  <a:srgbClr val="5B6B7A"/>
                </a:solidFill>
                <a:latin typeface="Inter" pitchFamily="34" charset="0"/>
                <a:ea typeface="Inter" pitchFamily="34" charset="-122"/>
                <a:cs typeface="Inter" pitchFamily="34" charset="-120"/>
              </a:rPr>
              <a:t>VOCABULARY BOX · 5 WORDS</a:t>
            </a:r>
            <a:endParaRPr lang="en-US" sz="1000" dirty="0"/>
          </a:p>
        </p:txBody>
      </p:sp>
      <p:sp>
        <p:nvSpPr>
          <p:cNvPr id="19" name="Text 16"/>
          <p:cNvSpPr/>
          <p:nvPr/>
        </p:nvSpPr>
        <p:spPr>
          <a:xfrm>
            <a:off x="7955280" y="2121408"/>
            <a:ext cx="3200400" cy="2651760"/>
          </a:xfrm>
          <a:prstGeom prst="rect">
            <a:avLst/>
          </a:prstGeom>
          <a:noFill/>
          <a:ln/>
        </p:spPr>
        <p:txBody>
          <a:bodyPr wrap="square" lIns="0" tIns="0" rIns="0" bIns="0" rtlCol="0" anchor="t"/>
          <a:lstStyle/>
          <a:p>
            <a:pPr indent="0" marL="0">
              <a:lnSpc>
                <a:spcPct val="110000"/>
              </a:lnSpc>
              <a:buNone/>
            </a:pPr>
            <a:r>
              <a:rPr lang="en-US" sz="1250" b="1" dirty="0">
                <a:solidFill>
                  <a:srgbClr val="13293D"/>
                </a:solidFill>
                <a:latin typeface="Inter" pitchFamily="34" charset="0"/>
                <a:ea typeface="Inter" pitchFamily="34" charset="-122"/>
                <a:cs typeface="Inter" pitchFamily="34" charset="-120"/>
              </a:rPr>
              <a:t>producer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makes its own food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consumer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eats other living things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decomposer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breaks down dead matter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energy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what living things need to grow
</a:t>
            </a:r>
            <a:pPr indent="0" marL="0">
              <a:lnSpc>
                <a:spcPct val="110000"/>
              </a:lnSpc>
              <a:buNone/>
            </a:pPr>
            <a:r>
              <a:rPr lang="en-US" sz="1250" b="1" dirty="0">
                <a:solidFill>
                  <a:srgbClr val="13293D"/>
                </a:solidFill>
                <a:latin typeface="Inter" pitchFamily="34" charset="0"/>
                <a:ea typeface="Inter" pitchFamily="34" charset="-122"/>
                <a:cs typeface="Inter" pitchFamily="34" charset="-120"/>
              </a:rPr>
              <a:t>ecosystem  </a:t>
            </a:r>
            <a:pPr indent="0" marL="0">
              <a:lnSpc>
                <a:spcPct val="110000"/>
              </a:lnSpc>
              <a:buNone/>
            </a:pPr>
            <a:r>
              <a:rPr lang="en-US" sz="1250" dirty="0">
                <a:solidFill>
                  <a:srgbClr val="1B1F24"/>
                </a:solidFill>
                <a:latin typeface="Inter" pitchFamily="34" charset="0"/>
                <a:ea typeface="Inter" pitchFamily="34" charset="-122"/>
                <a:cs typeface="Inter" pitchFamily="34" charset="-120"/>
              </a:rPr>
              <a:t>the living and nonliving things in one place</a:t>
            </a:r>
            <a:endParaRPr lang="en-US" sz="1250" dirty="0"/>
          </a:p>
        </p:txBody>
      </p:sp>
      <p:sp>
        <p:nvSpPr>
          <p:cNvPr id="20" name="Text 17"/>
          <p:cNvSpPr/>
          <p:nvPr/>
        </p:nvSpPr>
        <p:spPr>
          <a:xfrm>
            <a:off x="640080" y="5394960"/>
            <a:ext cx="10972800" cy="685800"/>
          </a:xfrm>
          <a:prstGeom prst="rect">
            <a:avLst/>
          </a:prstGeom>
          <a:noFill/>
          <a:ln/>
        </p:spPr>
        <p:txBody>
          <a:bodyPr wrap="square" lIns="0" tIns="0" rIns="0" bIns="0" rtlCol="0" anchor="ctr"/>
          <a:lstStyle/>
          <a:p>
            <a:pPr algn="ctr" indent="0" marL="0">
              <a:buNone/>
            </a:pPr>
            <a:r>
              <a:rPr lang="en-US" sz="1400" b="1" dirty="0">
                <a:solidFill>
                  <a:srgbClr val="5B6B7A"/>
                </a:solidFill>
                <a:latin typeface="Inter" pitchFamily="34" charset="0"/>
                <a:ea typeface="Inter" pitchFamily="34" charset="-122"/>
                <a:cs typeface="Inter" pitchFamily="34" charset="-120"/>
              </a:rPr>
              <a:t>On grade it read: </a:t>
            </a:r>
            <a:pPr algn="ctr" indent="0" marL="0">
              <a:buNone/>
            </a:pPr>
            <a:r>
              <a:rPr lang="en-US" sz="1400" i="1" dirty="0">
                <a:solidFill>
                  <a:srgbClr val="5B6B7A"/>
                </a:solidFill>
                <a:latin typeface="Inter" pitchFamily="34" charset="0"/>
                <a:ea typeface="Inter" pitchFamily="34" charset="-122"/>
                <a:cs typeface="Inter" pitchFamily="34" charset="-120"/>
              </a:rPr>
              <a:t>“Consumers get their energy secondhand: a rabbit eats the grass, a hawk eats the rabbit.”  Same science. Same key words. Sentences a struggling reader can hold.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and her stations, finished: depth for some, a new shape for Tuesday.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STRETCH AND HER STATIONS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other two versions, word for word</a:t>
            </a:r>
            <a:endParaRPr lang="en-US" sz="2800" dirty="0"/>
          </a:p>
        </p:txBody>
      </p:sp>
      <p:sp>
        <p:nvSpPr>
          <p:cNvPr id="14" name="Shape 11"/>
          <p:cNvSpPr/>
          <p:nvPr/>
        </p:nvSpPr>
        <p:spPr>
          <a:xfrm>
            <a:off x="640080" y="1188720"/>
            <a:ext cx="5349240" cy="3611880"/>
          </a:xfrm>
          <a:prstGeom prst="roundRect">
            <a:avLst>
              <a:gd name="adj" fmla="val 2278"/>
            </a:avLst>
          </a:prstGeom>
          <a:solidFill>
            <a:srgbClr val="F7F5F0"/>
          </a:solidFill>
          <a:ln w="12700">
            <a:solidFill>
              <a:srgbClr val="F7F5F0"/>
            </a:solidFill>
            <a:prstDash val="solid"/>
          </a:ln>
        </p:spPr>
      </p:sp>
      <p:sp>
        <p:nvSpPr>
          <p:cNvPr id="15" name="Text 12"/>
          <p:cNvSpPr/>
          <p:nvPr/>
        </p:nvSpPr>
        <p:spPr>
          <a:xfrm>
            <a:off x="914400" y="1325880"/>
            <a:ext cx="480060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THREE STRETCH PROMPTS · DEPTH, NOT VOLUME</a:t>
            </a:r>
            <a:endParaRPr lang="en-US" sz="1100" dirty="0"/>
          </a:p>
        </p:txBody>
      </p:sp>
      <p:sp>
        <p:nvSpPr>
          <p:cNvPr id="16" name="Text 13"/>
          <p:cNvSpPr/>
          <p:nvPr/>
        </p:nvSpPr>
        <p:spPr>
          <a:xfrm>
            <a:off x="914400" y="1691640"/>
            <a:ext cx="4800600" cy="3291840"/>
          </a:xfrm>
          <a:prstGeom prst="rect">
            <a:avLst/>
          </a:prstGeom>
          <a:noFill/>
          <a:ln/>
        </p:spPr>
        <p:txBody>
          <a:bodyPr wrap="square" lIns="0" tIns="0" rIns="0" bIns="0" rtlCol="0" anchor="t"/>
          <a:lstStyle/>
          <a:p>
            <a:pPr indent="0" marL="0">
              <a:lnSpc>
                <a:spcPct val="112000"/>
              </a:lnSpc>
              <a:buNone/>
            </a:pPr>
            <a:r>
              <a:rPr lang="en-US" sz="1400" b="1" dirty="0">
                <a:solidFill>
                  <a:srgbClr val="13293D"/>
                </a:solidFill>
                <a:latin typeface="Inter" pitchFamily="34" charset="0"/>
                <a:ea typeface="Inter" pitchFamily="34" charset="-122"/>
                <a:cs typeface="Inter" pitchFamily="34" charset="-120"/>
              </a:rPr>
              <a:t>1.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“A desert food web has no grasses. Draw one and explain where the energy starts.”
</a:t>
            </a:r>
            <a:pPr indent="0" marL="0">
              <a:lnSpc>
                <a:spcPct val="112000"/>
              </a:lnSpc>
              <a:buNone/>
            </a:pPr>
            <a:r>
              <a:rPr lang="en-US" sz="1400" b="1" dirty="0">
                <a:solidFill>
                  <a:srgbClr val="13293D"/>
                </a:solidFill>
                <a:latin typeface="Inter" pitchFamily="34" charset="0"/>
                <a:ea typeface="Inter" pitchFamily="34" charset="-122"/>
                <a:cs typeface="Inter" pitchFamily="34" charset="-120"/>
              </a:rPr>
              <a:t>2.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“Here is a food web with the arrows pointing from the hawk to the rabbit. Explain what is wrong, then fix it.”
</a:t>
            </a:r>
            <a:pPr indent="0" marL="0">
              <a:lnSpc>
                <a:spcPct val="112000"/>
              </a:lnSpc>
              <a:buNone/>
            </a:pPr>
            <a:r>
              <a:rPr lang="en-US" sz="1400" b="1" dirty="0">
                <a:solidFill>
                  <a:srgbClr val="13293D"/>
                </a:solidFill>
                <a:latin typeface="Inter" pitchFamily="34" charset="0"/>
                <a:ea typeface="Inter" pitchFamily="34" charset="-122"/>
                <a:cs typeface="Inter" pitchFamily="34" charset="-120"/>
              </a:rPr>
              <a:t>3.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“Explain to a 3rd grader why removing one animal changes the whole web. Use your own words.”</a:t>
            </a:r>
            <a:endParaRPr lang="en-US" sz="1400" dirty="0"/>
          </a:p>
        </p:txBody>
      </p:sp>
      <p:sp>
        <p:nvSpPr>
          <p:cNvPr id="17" name="Shape 14"/>
          <p:cNvSpPr/>
          <p:nvPr/>
        </p:nvSpPr>
        <p:spPr>
          <a:xfrm>
            <a:off x="6263640" y="1188720"/>
            <a:ext cx="5349240" cy="3611880"/>
          </a:xfrm>
          <a:prstGeom prst="roundRect">
            <a:avLst>
              <a:gd name="adj" fmla="val 2278"/>
            </a:avLst>
          </a:prstGeom>
          <a:solidFill>
            <a:srgbClr val="F7F5F0"/>
          </a:solidFill>
          <a:ln w="12700">
            <a:solidFill>
              <a:srgbClr val="F7F5F0"/>
            </a:solidFill>
            <a:prstDash val="solid"/>
          </a:ln>
        </p:spPr>
      </p:sp>
      <p:sp>
        <p:nvSpPr>
          <p:cNvPr id="18" name="Text 15"/>
          <p:cNvSpPr/>
          <p:nvPr/>
        </p:nvSpPr>
        <p:spPr>
          <a:xfrm>
            <a:off x="6537960" y="1325880"/>
            <a:ext cx="48006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FOUR STATION DIRECTIONS · A NEW SHAPE</a:t>
            </a:r>
            <a:endParaRPr lang="en-US" sz="1100" dirty="0"/>
          </a:p>
        </p:txBody>
      </p:sp>
      <p:sp>
        <p:nvSpPr>
          <p:cNvPr id="19" name="Text 16"/>
          <p:cNvSpPr/>
          <p:nvPr/>
        </p:nvSpPr>
        <p:spPr>
          <a:xfrm>
            <a:off x="6537960" y="1691640"/>
            <a:ext cx="4800600" cy="3291840"/>
          </a:xfrm>
          <a:prstGeom prst="rect">
            <a:avLst/>
          </a:prstGeom>
          <a:noFill/>
          <a:ln/>
        </p:spPr>
        <p:txBody>
          <a:bodyPr wrap="square" lIns="0" tIns="0" rIns="0" bIns="0" rtlCol="0" anchor="t"/>
          <a:lstStyle/>
          <a:p>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1 · Build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“Use the cards to build a schoolyard food web. Producers go at the bottom.”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2 · Break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“Take one card out. List three things that change.”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3 · Read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“Read the passage with a partner. Find all five vocabulary words.”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Station 4 · Explain it   </a:t>
            </a:r>
            <a:pPr indent="0" marL="0">
              <a:lnSpc>
                <a:spcPct val="112000"/>
              </a:lnSpc>
              <a:buNone/>
            </a:pPr>
            <a:r>
              <a:rPr lang="en-US" sz="1400" dirty="0">
                <a:solidFill>
                  <a:srgbClr val="1B1F24"/>
                </a:solidFill>
                <a:latin typeface="Inter" pitchFamily="34" charset="0"/>
                <a:ea typeface="Inter" pitchFamily="34" charset="-122"/>
                <a:cs typeface="Inter" pitchFamily="34" charset="-120"/>
              </a:rPr>
              <a:t>“Teach your web to the next group, in your own words.”</a:t>
            </a:r>
            <a:endParaRPr lang="en-US" sz="1400" dirty="0"/>
          </a:p>
        </p:txBody>
      </p:sp>
      <p:sp>
        <p:nvSpPr>
          <p:cNvPr id="20" name="Shape 17"/>
          <p:cNvSpPr/>
          <p:nvPr/>
        </p:nvSpPr>
        <p:spPr>
          <a:xfrm>
            <a:off x="640080" y="507492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074920"/>
            <a:ext cx="10332720" cy="658368"/>
          </a:xfrm>
          <a:prstGeom prst="rect">
            <a:avLst/>
          </a:prstGeom>
          <a:noFill/>
          <a:ln/>
        </p:spPr>
        <p:txBody>
          <a:bodyPr wrap="square" lIns="0" tIns="0" rIns="0" bIns="0" rtlCol="0" anchor="ctr"/>
          <a:lstStyle/>
          <a:p>
            <a:pPr algn="ctr" indent="0" marL="0">
              <a:buNone/>
            </a:pPr>
            <a:r>
              <a:rPr lang="en-US" sz="1600" b="1" dirty="0">
                <a:solidFill>
                  <a:srgbClr val="2A9D8F"/>
                </a:solidFill>
                <a:latin typeface="Inter" pitchFamily="34" charset="0"/>
                <a:ea typeface="Inter" pitchFamily="34" charset="-122"/>
                <a:cs typeface="Inter" pitchFamily="34" charset="-120"/>
              </a:rPr>
              <a:t>Accurate · At level · Fits her students · Sounds like her.  </a:t>
            </a:r>
            <a:pPr algn="ctr" indent="0" marL="0">
              <a:buNone/>
            </a:pPr>
            <a:r>
              <a:rPr lang="en-US" sz="1600" dirty="0">
                <a:solidFill>
                  <a:srgbClr val="FFFFFF"/>
                </a:solidFill>
                <a:latin typeface="Inter" pitchFamily="34" charset="0"/>
                <a:ea typeface="Inter" pitchFamily="34" charset="-122"/>
                <a:cs typeface="Inter" pitchFamily="34" charset="-120"/>
              </a:rPr>
              <a:t>All four passed, after two fixes. One passage in, four teachable versions out.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what the review caught in her food webs passage, told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twenty minutes: one food webs passage became four teachable versions.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From good intentions to materials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One differentiated artifact per week</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35</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2026-08-14T17:59:14Z</dcterms:created>
  <dcterms:modified xsi:type="dcterms:W3CDTF">2026-08-14T17:59:14Z</dcterms:modified>
</cp:coreProperties>
</file>