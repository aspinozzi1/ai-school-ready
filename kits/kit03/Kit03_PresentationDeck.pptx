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88952" cy="6858000"/>
  <p:notesSz cx="6858000" cy="12188952"/>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up as people arrive. Start on time. This session assumes Kits 1 and 2: the permanent rules and the four-part formula. Staff should have brought one upcoming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Deunk et al. 2018, Educational Research Review: grouping alone is not enough; the materials have to actually differ. If you chose to share the founders’ note from the front of the script, their point lands here: when versions are hand-built, the stretch gets triaged.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Attributions out loud: EdWeek Research Center for the 61% (up from 34%); Gallup-Walton for the time-savings range, with weekly users saving about six hours a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quick. The promise line matters: not examples, their lesson. Confirm everyone has a lesson in hand; borrowing a partner’s is fine.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breath, then move. The five-word posture appears on screen; say it with the room if the culture is there.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Peer-reviewed, PLOS ONE 2024. The AI recommended a resource that does not exist. Tell it straight: the 30 minutes is real AND the fabrication is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Bridge slide; keep it to 40 seconds. The 4-point review checklist arrives on slide 16, before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CAST’s UDL Guidelines 3.0; Capp’s 2017 meta-analysis found UDL effective for improving learning across the board. If asked “is this learning styles?”: no; UDL builds flexible materials, it does not sort kids into types.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Draft, options, pick, review. Steps 3 and 4 are the human steps and they are the point. This is the handout’s spine.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here is new pedagogy (Tomlinson et al., 2003: readiness, interest, learning profile). What’s new is the price of the materials.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here's the same move on Ms. Rivera's screen, our running composite example. It's the Kit 2 formula wearing work clothes: role in teal, task in navy, context in amber, format in green. Ninety seconds replaces an evening. In the lab, mimic this shape with your own passage. Next slide is the habit that keeps this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Crossley et al. 2022: the CommonLit CLEAR corpus grounded readability in teacher judgment; level is a testable property, not a vibe. Teach the three quick checks (read aloud, sentence length, try on one student) and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two is scaffolds. Same task, same target, more handholds, and here it is on Ms. Rivera's screen, filled in on the food webs passage she is carrying through this session. Role in teal, task in navy, context in amber, format in green; your handout has the same prompt as a blank template. The clause worth pointing at is the worked example on a DIFFERENT topic: that teaches the structure and keeps the thinking with the student.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three is extension, and the quiet rule goes out loud: early finishers get depth, not more of the same. Ms. Rivera's screen shows the prompt on her food webs passage, colour-coded the same four ways; the handout carries the blank template. Apply, critique, teach: your strongest students stop being your most bored ones, and it cost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move four is the UDL move, same content in a different shape. On Ms. Rivera's screen it runs on the same food webs content, with the four parts colour-coded; the handout has the blank template. Some days you use one format, some days three stations run at once. Either way, the version you never had time to make now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Accurate, at level, fits, sounds like you. This checklist is on the handout and becomes commitment #5. The lab’s step 3 runs it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drafting got fast. The deciding is still yours. Steady, honest beat before the equity note.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That’s from RAND (RR-A134-25): the schools whose students most need differentiated materials are least likely to be getting AI’s help making them. Then read the authors’ shared take from the script: in practice, equity tends to favor the struggling child, and the top end of the class gets forgotten; now that extensions cost two minutes, build the stretch on purpose.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Pairs, devices out inside two minutes, announce the tool. The standard to name here: differentiate until understanding is equal, and let AI do the drafting that used to make that impossible. Ms. Rivera builds ONE artifact across all three steps, the reading passage for her 6th grade food webs lesson. You will see it through to completion: the passage she starts with (slide 21), the prompt she types (slide 23), her four follow-ups and what each one changed (slide 24), and the finished set (slide 26). Anyone lost can copy her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one, draft the core artifact with the Kit 2 formula, and get it to eighty percent. Circulate. Weak drafts usually lack context; nudge with “what would a substitute need to know about this lesson?” The big card is Ms. Rivera’s step 1: one reading passage for her 6th grade food webs lesson, drafted to 80%. The next slide shows that passage in full.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artifact Ms. Rivera is about to differentiate, in full, so nobody has to imagine it. Sections 2 and 3, producers and consumers, then decomposers, run the same way; sections 1 and 4 are on screen. Point out that it is on-grade and unpolished: this is what eighty percent looks like, and it is enough to start differentiating. Keep this up while pairs finish their own step 1 draft.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two, differentiate it in two directions, both as follow-ups in the same chat. The big card is Ms. Rivera's step 2 on the same food webs passage: the leveled support version, then three depth prompts. The next two slides show her actual prompt and every follow-up she typed, so mimicking her is possible from the screen alone. 45-min cut: one direction instead of two; each teacher picks support or stretch based on their roster.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the whole point of the lab on one screen. The same four parts you learned in Kit 2, aimed at the passage from two slides ago: role in teal, task in navy, context in amber, format in green. Notice what the context does, because it is the part people skip: naming the five words that must survive is what keeps the support version real science instead of baby talk. At worst, copy this shape with your own artifact and you will finish the lab.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iteration is not failure, it is the work. Four follow-ups, one chat, nothing re-pasted, and each one is one of the four moves you learned before the lab. Read the right-hand column out loud: that is what each follow-up bought her. Tell the room the honest timing, that this whole thread ran under seven minutes, and that they are doing the same thing right now with their own artifact.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step three, run the 4-point review on all three versions and fix what fails while the chat is still open. Insist on this step; skipping review is the failure mode of the whole kit. Pairs swap and check each other’s level labels: a partner’s ear is the first check. The big card is Ms. Rivera's review run on the same food webs passage: two points fail, two fixes happen live, and only then is it done. The next slide shows what she ends up holding.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this is completion, not process. One passage went in and four teachable versions came out, and every one of them passed the 4-point review. Point at the support card and read the leveled line aloud, because that is the moment the room hears the difference. Then say the honest arithmetic: hand-built, this set was an evening; on her screen it was under twenty minutes, and it is what she teaches Tuesday. Hold this up while the last pairs finish.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Prioritize anyone whose review caught a real problem; it’s the most useful minute in the room. Ms. Rivera's model story is on the chip: what the review caught in her food webs passage goes first. 45-min cut: two voices. Keep each to a minute.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an hour ago, differentiation was a good intention priced at three hand-built versions of everything. You just built core, support, and stretch for a real lesson in twenty minutes, and the research from slide 2 says materials that actually differ are what make it work. Land it plainly and move to the habit.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Built in the margins of time staff already have. The 30-day plan’s PLC follow-ups reinforce exactly this cadence.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Kit 1 gave three commitments; Kit 2 added the staff doc. Ask for the visible nod; agreement out loud is what makes it a norm.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Your differentiated artifact from today comes with you; it’s about to need an exit ticket. Completing all eight kits earns the Certificate of Completion; check with your district or state about local credit.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Hold up the First 48 Hours sheet. Tomorrow morning, coffee in hand, pick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Distribute tickets; collect at the door. They double as the school’s PD documentation.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teach the lesson you just planned. Thanks, everyone. Collect the exit tickets at the door.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77240" y="731520"/>
            <a:ext cx="1051560" cy="969264"/>
          </a:xfrm>
          <a:prstGeom prst="rect">
            <a:avLst/>
          </a:prstGeom>
        </p:spPr>
      </p:pic>
      <p:sp>
        <p:nvSpPr>
          <p:cNvPr id="3" name="Text 0"/>
          <p:cNvSpPr/>
          <p:nvPr/>
        </p:nvSpPr>
        <p:spPr>
          <a:xfrm>
            <a:off x="1965960" y="960120"/>
            <a:ext cx="3657600" cy="548640"/>
          </a:xfrm>
          <a:prstGeom prst="rect">
            <a:avLst/>
          </a:prstGeom>
          <a:noFill/>
          <a:ln/>
        </p:spPr>
        <p:txBody>
          <a:bodyPr wrap="square" lIns="0" tIns="0" rIns="0" bIns="0" rtlCol="0" anchor="ctr"/>
          <a:lstStyle/>
          <a:p>
            <a:pPr indent="0" marL="0">
              <a:buNone/>
            </a:pPr>
            <a:r>
              <a:rPr lang="en-US" sz="2600" b="1" dirty="0">
                <a:solidFill>
                  <a:srgbClr val="2A9D8F"/>
                </a:solidFill>
                <a:latin typeface="Inter" pitchFamily="34" charset="0"/>
                <a:ea typeface="Inter" pitchFamily="34" charset="-122"/>
                <a:cs typeface="Inter" pitchFamily="34" charset="-120"/>
              </a:rPr>
              <a:t>AI-Ready</a:t>
            </a:r>
            <a:pPr indent="0" marL="0">
              <a:buNone/>
            </a:pPr>
            <a:r>
              <a:rPr lang="en-US" sz="2600" b="1" dirty="0">
                <a:solidFill>
                  <a:srgbClr val="FFFFFF"/>
                </a:solidFill>
                <a:latin typeface="Inter" pitchFamily="34" charset="0"/>
                <a:ea typeface="Inter" pitchFamily="34" charset="-122"/>
                <a:cs typeface="Inter" pitchFamily="34" charset="-120"/>
              </a:rPr>
              <a:t> School</a:t>
            </a:r>
            <a:endParaRPr lang="en-US" sz="2600" dirty="0"/>
          </a:p>
        </p:txBody>
      </p:sp>
      <p:sp>
        <p:nvSpPr>
          <p:cNvPr id="4" name="Text 1"/>
          <p:cNvSpPr/>
          <p:nvPr/>
        </p:nvSpPr>
        <p:spPr>
          <a:xfrm>
            <a:off x="822960" y="2743200"/>
            <a:ext cx="8229600" cy="365760"/>
          </a:xfrm>
          <a:prstGeom prst="rect">
            <a:avLst/>
          </a:prstGeom>
          <a:noFill/>
          <a:ln/>
        </p:spPr>
        <p:txBody>
          <a:bodyPr wrap="square" lIns="0" tIns="0" rIns="0" bIns="0" rtlCol="0" anchor="ctr"/>
          <a:lstStyle/>
          <a:p>
            <a:pPr indent="0" marL="0">
              <a:buNone/>
            </a:pPr>
            <a:r>
              <a:rPr lang="en-US" sz="1500" b="1" spc="300" kern="0" dirty="0">
                <a:solidFill>
                  <a:srgbClr val="F4A825"/>
                </a:solidFill>
                <a:latin typeface="Inter" pitchFamily="34" charset="0"/>
                <a:ea typeface="Inter" pitchFamily="34" charset="-122"/>
                <a:cs typeface="Inter" pitchFamily="34" charset="-120"/>
              </a:rPr>
              <a:t>TRACK A · AI FOUNDATIONS · KIT 3 OF 20</a:t>
            </a:r>
            <a:endParaRPr lang="en-US" sz="1500" dirty="0"/>
          </a:p>
        </p:txBody>
      </p:sp>
      <p:sp>
        <p:nvSpPr>
          <p:cNvPr id="5" name="Text 2"/>
          <p:cNvSpPr/>
          <p:nvPr/>
        </p:nvSpPr>
        <p:spPr>
          <a:xfrm>
            <a:off x="777240" y="3063240"/>
            <a:ext cx="10789920" cy="1828800"/>
          </a:xfrm>
          <a:prstGeom prst="rect">
            <a:avLst/>
          </a:prstGeom>
          <a:noFill/>
          <a:ln/>
        </p:spPr>
        <p:txBody>
          <a:bodyPr wrap="square" lIns="0" tIns="0" rIns="0" bIns="0" rtlCol="0" anchor="ctr"/>
          <a:lstStyle/>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AI for Planning</a:t>
            </a:r>
            <a:endParaRPr lang="en-US" sz="4400" dirty="0"/>
          </a:p>
          <a:p>
            <a:pPr indent="0" marL="0">
              <a:lnSpc>
                <a:spcPct val="105000"/>
              </a:lnSpc>
              <a:buNone/>
            </a:pPr>
            <a:r>
              <a:rPr lang="en-US" sz="4400" b="1" dirty="0">
                <a:solidFill>
                  <a:srgbClr val="FFFFFF"/>
                </a:solidFill>
                <a:latin typeface="Inter" pitchFamily="34" charset="0"/>
                <a:ea typeface="Inter" pitchFamily="34" charset="-122"/>
                <a:cs typeface="Inter" pitchFamily="34" charset="-120"/>
              </a:rPr>
              <a:t>&amp; Differentiation</a:t>
            </a:r>
            <a:endParaRPr lang="en-US" sz="4400" dirty="0"/>
          </a:p>
        </p:txBody>
      </p:sp>
      <p:sp>
        <p:nvSpPr>
          <p:cNvPr id="6" name="Text 3"/>
          <p:cNvSpPr/>
          <p:nvPr/>
        </p:nvSpPr>
        <p:spPr>
          <a:xfrm>
            <a:off x="822960" y="4983480"/>
            <a:ext cx="10241280" cy="457200"/>
          </a:xfrm>
          <a:prstGeom prst="rect">
            <a:avLst/>
          </a:prstGeom>
          <a:noFill/>
          <a:ln/>
        </p:spPr>
        <p:txBody>
          <a:bodyPr wrap="square" lIns="0" tIns="0" rIns="0" bIns="0" rtlCol="0" anchor="ctr"/>
          <a:lstStyle/>
          <a:p>
            <a:pPr indent="0" marL="0">
              <a:buNone/>
            </a:pPr>
            <a:r>
              <a:rPr lang="en-US" sz="1800" dirty="0">
                <a:solidFill>
                  <a:srgbClr val="C9D4DE"/>
                </a:solidFill>
                <a:latin typeface="Inter" pitchFamily="34" charset="0"/>
                <a:ea typeface="Inter" pitchFamily="34" charset="-122"/>
                <a:cs typeface="Inter" pitchFamily="34" charset="-120"/>
              </a:rPr>
              <a:t>A 45–60 minute working session. You leave with one fully differentiated artifact for a lesson you’re about to teach.</a:t>
            </a:r>
            <a:endParaRPr lang="en-US" sz="1800" dirty="0"/>
          </a:p>
        </p:txBody>
      </p:sp>
      <p:sp>
        <p:nvSpPr>
          <p:cNvPr id="7" name="Text 4"/>
          <p:cNvSpPr/>
          <p:nvPr/>
        </p:nvSpPr>
        <p:spPr>
          <a:xfrm>
            <a:off x="822960" y="6035040"/>
            <a:ext cx="10515600" cy="365760"/>
          </a:xfrm>
          <a:prstGeom prst="rect">
            <a:avLst/>
          </a:prstGeom>
          <a:noFill/>
          <a:ln/>
        </p:spPr>
        <p:txBody>
          <a:bodyPr wrap="square" lIns="0" tIns="0" rIns="0" bIns="0" rtlCol="0" anchor="ctr"/>
          <a:lstStyle/>
          <a:p>
            <a:pPr indent="0" marL="0">
              <a:buNone/>
            </a:pPr>
            <a:r>
              <a:rPr lang="en-US" sz="1200" dirty="0">
                <a:solidFill>
                  <a:srgbClr val="9FB2C2"/>
                </a:solidFill>
                <a:latin typeface="Inter" pitchFamily="34" charset="0"/>
                <a:ea typeface="Inter" pitchFamily="34" charset="-122"/>
                <a:cs typeface="Inter" pitchFamily="34" charset="-120"/>
              </a:rPr>
              <a:t>Built by Adam &amp; Katelyn Spinozzi · certified educators · 20+ combined years in the classroom</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dilemma: differentiation worked when she managed it; the hours didn't exist.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BOTH HALVES ARE TRUE</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differentiation dilemma</a:t>
            </a:r>
            <a:endParaRPr lang="en-US" sz="32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874520"/>
            <a:ext cx="5257800" cy="640080"/>
          </a:xfrm>
          <a:prstGeom prst="rect">
            <a:avLst/>
          </a:prstGeom>
          <a:noFill/>
          <a:ln/>
        </p:spPr>
        <p:txBody>
          <a:bodyPr wrap="square" lIns="0" tIns="0" rIns="0" bIns="0" rtlCol="0" anchor="ctr"/>
          <a:lstStyle/>
          <a:p>
            <a:pPr algn="ctr" indent="0" marL="0">
              <a:buNone/>
            </a:pPr>
            <a:r>
              <a:rPr lang="en-US" sz="3000" b="1" dirty="0">
                <a:solidFill>
                  <a:srgbClr val="2E7D5B"/>
                </a:solidFill>
                <a:latin typeface="Inter" pitchFamily="34" charset="0"/>
                <a:ea typeface="Inter" pitchFamily="34" charset="-122"/>
                <a:cs typeface="Inter" pitchFamily="34" charset="-120"/>
              </a:rPr>
              <a:t>It works</a:t>
            </a:r>
            <a:endParaRPr lang="en-US" sz="3000" dirty="0"/>
          </a:p>
        </p:txBody>
      </p:sp>
      <p:sp>
        <p:nvSpPr>
          <p:cNvPr id="16" name="Text 13"/>
          <p:cNvSpPr/>
          <p:nvPr/>
        </p:nvSpPr>
        <p:spPr>
          <a:xfrm>
            <a:off x="91440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Meta-analysis: small-to-moderate positive effects, strongest when embedded in instruction and supported by technology</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(Deunk et al., 2018)</a:t>
            </a:r>
            <a:endParaRPr lang="en-US" sz="155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874520"/>
            <a:ext cx="5257800" cy="640080"/>
          </a:xfrm>
          <a:prstGeom prst="rect">
            <a:avLst/>
          </a:prstGeom>
          <a:noFill/>
          <a:ln/>
        </p:spPr>
        <p:txBody>
          <a:bodyPr wrap="square" lIns="0" tIns="0" rIns="0" bIns="0" rtlCol="0" anchor="ctr"/>
          <a:lstStyle/>
          <a:p>
            <a:pPr algn="ctr" indent="0" marL="0">
              <a:buNone/>
            </a:pPr>
            <a:r>
              <a:rPr lang="en-US" sz="3000" b="1" dirty="0">
                <a:solidFill>
                  <a:srgbClr val="B4453A"/>
                </a:solidFill>
                <a:latin typeface="Inter" pitchFamily="34" charset="0"/>
                <a:ea typeface="Inter" pitchFamily="34" charset="-122"/>
                <a:cs typeface="Inter" pitchFamily="34" charset="-120"/>
              </a:rPr>
              <a:t>It wasn’t sustainable</a:t>
            </a:r>
            <a:endParaRPr lang="en-US" sz="3000" dirty="0"/>
          </a:p>
        </p:txBody>
      </p:sp>
      <p:sp>
        <p:nvSpPr>
          <p:cNvPr id="19" name="Text 16"/>
          <p:cNvSpPr/>
          <p:nvPr/>
        </p:nvSpPr>
        <p:spPr>
          <a:xfrm>
            <a:off x="6537960" y="2651760"/>
            <a:ext cx="4709160" cy="210312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Three versions of every text, practice set, and station, by hand?</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The plan asked for more hours than the week has.</a:t>
            </a:r>
            <a:endParaRPr lang="en-US" sz="155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2100" b="1" dirty="0">
                <a:solidFill>
                  <a:srgbClr val="13293D"/>
                </a:solidFill>
                <a:latin typeface="Inter" pitchFamily="34" charset="0"/>
                <a:ea typeface="Inter" pitchFamily="34" charset="-122"/>
                <a:cs typeface="Inter" pitchFamily="34" charset="-120"/>
              </a:rPr>
              <a:t>The gap was never intention. It was time.</a:t>
            </a:r>
            <a:endParaRPr lang="en-US" sz="2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time math changed: the drafting help finally arrived.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WHY THIS SESSION EXISTS NOW</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The tool for the time problem arrived</a:t>
            </a:r>
            <a:endParaRPr lang="en-US" sz="2800" dirty="0"/>
          </a:p>
        </p:txBody>
      </p:sp>
      <p:sp>
        <p:nvSpPr>
          <p:cNvPr id="14" name="Shape 11"/>
          <p:cNvSpPr/>
          <p:nvPr/>
        </p:nvSpPr>
        <p:spPr>
          <a:xfrm>
            <a:off x="640080" y="1600200"/>
            <a:ext cx="5257800" cy="3383280"/>
          </a:xfrm>
          <a:prstGeom prst="roundRect">
            <a:avLst>
              <a:gd name="adj" fmla="val 2432"/>
            </a:avLst>
          </a:prstGeom>
          <a:solidFill>
            <a:srgbClr val="F7F5F0"/>
          </a:solidFill>
          <a:ln w="12700">
            <a:solidFill>
              <a:srgbClr val="F7F5F0"/>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61%</a:t>
            </a:r>
            <a:endParaRPr lang="en-US" sz="5800" dirty="0"/>
          </a:p>
        </p:txBody>
      </p:sp>
      <p:sp>
        <p:nvSpPr>
          <p:cNvPr id="16" name="Text 13"/>
          <p:cNvSpPr/>
          <p:nvPr/>
        </p:nvSpPr>
        <p:spPr>
          <a:xfrm>
            <a:off x="91440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in their work by late 2025, up from 34% in Dec 2023</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(EdWeek Research Center, 2026)</a:t>
            </a:r>
            <a:endParaRPr lang="en-US" sz="1600" dirty="0"/>
          </a:p>
        </p:txBody>
      </p:sp>
      <p:sp>
        <p:nvSpPr>
          <p:cNvPr id="17" name="Shape 14"/>
          <p:cNvSpPr/>
          <p:nvPr/>
        </p:nvSpPr>
        <p:spPr>
          <a:xfrm>
            <a:off x="6263640" y="1600200"/>
            <a:ext cx="5257800" cy="3383280"/>
          </a:xfrm>
          <a:prstGeom prst="roundRect">
            <a:avLst>
              <a:gd name="adj" fmla="val 2432"/>
            </a:avLst>
          </a:prstGeom>
          <a:solidFill>
            <a:srgbClr val="F7F5F0"/>
          </a:solidFill>
          <a:ln w="12700">
            <a:solidFill>
              <a:srgbClr val="F7F5F0"/>
            </a:solidFill>
            <a:prstDash val="solid"/>
          </a:ln>
        </p:spPr>
      </p:sp>
      <p:sp>
        <p:nvSpPr>
          <p:cNvPr id="18" name="Text 15"/>
          <p:cNvSpPr/>
          <p:nvPr/>
        </p:nvSpPr>
        <p:spPr>
          <a:xfrm>
            <a:off x="6263640" y="1920240"/>
            <a:ext cx="5257800" cy="1097280"/>
          </a:xfrm>
          <a:prstGeom prst="rect">
            <a:avLst/>
          </a:prstGeom>
          <a:noFill/>
          <a:ln/>
        </p:spPr>
        <p:txBody>
          <a:bodyPr wrap="square" lIns="0" tIns="0" rIns="0" bIns="0" rtlCol="0" anchor="ctr"/>
          <a:lstStyle/>
          <a:p>
            <a:pPr algn="ctr" indent="0" marL="0">
              <a:buNone/>
            </a:pPr>
            <a:r>
              <a:rPr lang="en-US" sz="5800" b="1" dirty="0">
                <a:solidFill>
                  <a:srgbClr val="2A9D8F"/>
                </a:solidFill>
                <a:latin typeface="Inter" pitchFamily="34" charset="0"/>
                <a:ea typeface="Inter" pitchFamily="34" charset="-122"/>
                <a:cs typeface="Inter" pitchFamily="34" charset="-120"/>
              </a:rPr>
              <a:t>60–84%</a:t>
            </a:r>
            <a:endParaRPr lang="en-US" sz="5800" dirty="0"/>
          </a:p>
        </p:txBody>
      </p:sp>
      <p:sp>
        <p:nvSpPr>
          <p:cNvPr id="19" name="Text 16"/>
          <p:cNvSpPr/>
          <p:nvPr/>
        </p:nvSpPr>
        <p:spPr>
          <a:xfrm>
            <a:off x="6537960" y="3108960"/>
            <a:ext cx="4709160" cy="164592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using AI for a task, like modifying materials to student levels, say it saves them time</a:t>
            </a:r>
            <a:endParaRPr lang="en-US" sz="1600" dirty="0"/>
          </a:p>
          <a:p>
            <a:pPr algn="ctr" indent="0" marL="0">
              <a:buNone/>
            </a:pPr>
            <a:r>
              <a:rPr lang="en-US" sz="1600" dirty="0">
                <a:solidFill>
                  <a:srgbClr val="1B1F24"/>
                </a:solidFill>
                <a:latin typeface="Inter" pitchFamily="34" charset="0"/>
                <a:ea typeface="Inter" pitchFamily="34" charset="-122"/>
                <a:cs typeface="Inter" pitchFamily="34" charset="-120"/>
              </a:rPr>
              <a:t>(Gallup &amp; Walton Family Fdn., 2025)</a:t>
            </a:r>
            <a:endParaRPr lang="en-US" sz="1600" dirty="0"/>
          </a:p>
        </p:txBody>
      </p:sp>
      <p:sp>
        <p:nvSpPr>
          <p:cNvPr id="20" name="Text 17"/>
          <p:cNvSpPr/>
          <p:nvPr/>
        </p:nvSpPr>
        <p:spPr>
          <a:xfrm>
            <a:off x="640080" y="5349240"/>
            <a:ext cx="10972800" cy="50292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Lesson plans and student resources are among the most common uses. Today we aim it at differentiation.</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goal: one artifact, three versions, reviewed, teachable this week.</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HOUR AHEAD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Agenda, and one promise</a:t>
            </a:r>
            <a:endParaRPr lang="en-US" sz="3200" dirty="0"/>
          </a:p>
        </p:txBody>
      </p:sp>
      <p:sp>
        <p:nvSpPr>
          <p:cNvPr id="14" name="Text 11"/>
          <p:cNvSpPr/>
          <p:nvPr/>
        </p:nvSpPr>
        <p:spPr>
          <a:xfrm>
            <a:off x="822960" y="146304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0:05</a:t>
            </a:r>
            <a:endParaRPr lang="en-US" sz="2000" dirty="0"/>
          </a:p>
        </p:txBody>
      </p:sp>
      <p:sp>
        <p:nvSpPr>
          <p:cNvPr id="15" name="Text 12"/>
          <p:cNvSpPr/>
          <p:nvPr/>
        </p:nvSpPr>
        <p:spPr>
          <a:xfrm>
            <a:off x="1920240" y="146304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planning workflow: where AI fits</a:t>
            </a:r>
            <a:endParaRPr lang="en-US" sz="2000" dirty="0"/>
          </a:p>
        </p:txBody>
      </p:sp>
      <p:sp>
        <p:nvSpPr>
          <p:cNvPr id="16" name="Text 13"/>
          <p:cNvSpPr/>
          <p:nvPr/>
        </p:nvSpPr>
        <p:spPr>
          <a:xfrm>
            <a:off x="822960" y="219456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0:12</a:t>
            </a:r>
            <a:endParaRPr lang="en-US" sz="2000" dirty="0"/>
          </a:p>
        </p:txBody>
      </p:sp>
      <p:sp>
        <p:nvSpPr>
          <p:cNvPr id="17" name="Text 14"/>
          <p:cNvSpPr/>
          <p:nvPr/>
        </p:nvSpPr>
        <p:spPr>
          <a:xfrm>
            <a:off x="1920240" y="219456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The toolkit: four differentiation moves</a:t>
            </a:r>
            <a:endParaRPr lang="en-US" sz="2000" dirty="0"/>
          </a:p>
        </p:txBody>
      </p:sp>
      <p:sp>
        <p:nvSpPr>
          <p:cNvPr id="18" name="Text 15"/>
          <p:cNvSpPr/>
          <p:nvPr/>
        </p:nvSpPr>
        <p:spPr>
          <a:xfrm>
            <a:off x="822960" y="292608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0:24</a:t>
            </a:r>
            <a:endParaRPr lang="en-US" sz="2000" dirty="0"/>
          </a:p>
        </p:txBody>
      </p:sp>
      <p:sp>
        <p:nvSpPr>
          <p:cNvPr id="19" name="Text 16"/>
          <p:cNvSpPr/>
          <p:nvPr/>
        </p:nvSpPr>
        <p:spPr>
          <a:xfrm>
            <a:off x="1920240" y="292608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Quality control: the 4-point review</a:t>
            </a:r>
            <a:endParaRPr lang="en-US" sz="2000" dirty="0"/>
          </a:p>
        </p:txBody>
      </p:sp>
      <p:sp>
        <p:nvSpPr>
          <p:cNvPr id="20" name="Text 17"/>
          <p:cNvSpPr/>
          <p:nvPr/>
        </p:nvSpPr>
        <p:spPr>
          <a:xfrm>
            <a:off x="822960" y="365760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0:30</a:t>
            </a:r>
            <a:endParaRPr lang="en-US" sz="2000" dirty="0"/>
          </a:p>
        </p:txBody>
      </p:sp>
      <p:sp>
        <p:nvSpPr>
          <p:cNvPr id="21" name="Text 18"/>
          <p:cNvSpPr/>
          <p:nvPr/>
        </p:nvSpPr>
        <p:spPr>
          <a:xfrm>
            <a:off x="1920240" y="365760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Lab: differentiate your real lesson</a:t>
            </a:r>
            <a:endParaRPr lang="en-US" sz="2000" dirty="0"/>
          </a:p>
        </p:txBody>
      </p:sp>
      <p:sp>
        <p:nvSpPr>
          <p:cNvPr id="22" name="Text 19"/>
          <p:cNvSpPr/>
          <p:nvPr/>
        </p:nvSpPr>
        <p:spPr>
          <a:xfrm>
            <a:off x="822960" y="4389120"/>
            <a:ext cx="1005840" cy="548640"/>
          </a:xfrm>
          <a:prstGeom prst="rect">
            <a:avLst/>
          </a:prstGeom>
          <a:noFill/>
          <a:ln/>
        </p:spPr>
        <p:txBody>
          <a:bodyPr wrap="square" lIns="0" tIns="0" rIns="0" bIns="0" rtlCol="0" anchor="ctr"/>
          <a:lstStyle/>
          <a:p>
            <a:pPr indent="0" marL="0">
              <a:buNone/>
            </a:pPr>
            <a:r>
              <a:rPr lang="en-US" sz="2000" b="1" dirty="0">
                <a:solidFill>
                  <a:srgbClr val="2A9D8F"/>
                </a:solidFill>
                <a:latin typeface="Inter" pitchFamily="34" charset="0"/>
                <a:ea typeface="Inter" pitchFamily="34" charset="-122"/>
                <a:cs typeface="Inter" pitchFamily="34" charset="-120"/>
              </a:rPr>
              <a:t>0:50</a:t>
            </a:r>
            <a:endParaRPr lang="en-US" sz="2000" dirty="0"/>
          </a:p>
        </p:txBody>
      </p:sp>
      <p:sp>
        <p:nvSpPr>
          <p:cNvPr id="23" name="Text 20"/>
          <p:cNvSpPr/>
          <p:nvPr/>
        </p:nvSpPr>
        <p:spPr>
          <a:xfrm>
            <a:off x="1920240" y="4389120"/>
            <a:ext cx="6766560" cy="548640"/>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Making it stick + first 48 hours</a:t>
            </a:r>
            <a:endParaRPr lang="en-US" sz="2000" dirty="0"/>
          </a:p>
        </p:txBody>
      </p:sp>
      <p:sp>
        <p:nvSpPr>
          <p:cNvPr id="24" name="Shape 21"/>
          <p:cNvSpPr/>
          <p:nvPr/>
        </p:nvSpPr>
        <p:spPr>
          <a:xfrm>
            <a:off x="9052560" y="1920240"/>
            <a:ext cx="2606040" cy="2926080"/>
          </a:xfrm>
          <a:prstGeom prst="roundRect">
            <a:avLst>
              <a:gd name="adj" fmla="val 3158"/>
            </a:avLst>
          </a:prstGeom>
          <a:solidFill>
            <a:srgbClr val="13293D"/>
          </a:solidFill>
          <a:ln w="12700">
            <a:solidFill>
              <a:srgbClr val="13293D"/>
            </a:solidFill>
            <a:prstDash val="solid"/>
          </a:ln>
        </p:spPr>
      </p:sp>
      <p:sp>
        <p:nvSpPr>
          <p:cNvPr id="25" name="Text 22"/>
          <p:cNvSpPr/>
          <p:nvPr/>
        </p:nvSpPr>
        <p:spPr>
          <a:xfrm>
            <a:off x="9281160" y="2148840"/>
            <a:ext cx="2148840" cy="365760"/>
          </a:xfrm>
          <a:prstGeom prst="rect">
            <a:avLst/>
          </a:prstGeom>
          <a:noFill/>
          <a:ln/>
        </p:spPr>
        <p:txBody>
          <a:bodyPr wrap="square" lIns="0" tIns="0" rIns="0" bIns="0" rtlCol="0" anchor="ctr"/>
          <a:lstStyle/>
          <a:p>
            <a:pPr indent="0" marL="0">
              <a:buNone/>
            </a:pPr>
            <a:r>
              <a:rPr lang="en-US" sz="1600" b="1" dirty="0">
                <a:solidFill>
                  <a:srgbClr val="F4A825"/>
                </a:solidFill>
                <a:latin typeface="Inter" pitchFamily="34" charset="0"/>
                <a:ea typeface="Inter" pitchFamily="34" charset="-122"/>
                <a:cs typeface="Inter" pitchFamily="34" charset="-120"/>
              </a:rPr>
              <a:t>One promise</a:t>
            </a:r>
            <a:endParaRPr lang="en-US" sz="1600" dirty="0"/>
          </a:p>
        </p:txBody>
      </p:sp>
      <p:sp>
        <p:nvSpPr>
          <p:cNvPr id="26" name="Text 23"/>
          <p:cNvSpPr/>
          <p:nvPr/>
        </p:nvSpPr>
        <p:spPr>
          <a:xfrm>
            <a:off x="9281160" y="2560320"/>
            <a:ext cx="2148840" cy="2103120"/>
          </a:xfrm>
          <a:prstGeom prst="rect">
            <a:avLst/>
          </a:prstGeom>
          <a:noFill/>
          <a:ln/>
        </p:spPr>
        <p:txBody>
          <a:bodyPr wrap="square" lIns="0" tIns="0" rIns="0" bIns="0" rtlCol="0" anchor="t"/>
          <a:lstStyle/>
          <a:p>
            <a:pPr indent="0" marL="0">
              <a:buNone/>
            </a:pPr>
            <a:r>
              <a:rPr lang="en-US" sz="1400" dirty="0">
                <a:solidFill>
                  <a:srgbClr val="FFFFFF"/>
                </a:solidFill>
                <a:latin typeface="Inter" pitchFamily="34" charset="0"/>
                <a:ea typeface="Inter" pitchFamily="34" charset="-122"/>
                <a:cs typeface="Inter" pitchFamily="34" charset="-120"/>
              </a:rPr>
              <a:t>You leave with one fully differentiated artifact for an upcoming lesson: core, support, extension. Reviewed. Teachable.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5</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stance: never from a blank page again. Skeleton drafted, judgment hers.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STANCE FOR TODAY</a:t>
            </a:r>
            <a:endParaRPr lang="en-US" sz="1200" dirty="0"/>
          </a:p>
        </p:txBody>
      </p:sp>
      <p:sp>
        <p:nvSpPr>
          <p:cNvPr id="13" name="Text 10"/>
          <p:cNvSpPr/>
          <p:nvPr/>
        </p:nvSpPr>
        <p:spPr>
          <a:xfrm>
            <a:off x="640080" y="12801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Never from scratch again.</a:t>
            </a:r>
            <a:endParaRPr lang="en-US" sz="4000" dirty="0"/>
          </a:p>
        </p:txBody>
      </p:sp>
      <p:sp>
        <p:nvSpPr>
          <p:cNvPr id="14" name="Text 11"/>
          <p:cNvSpPr/>
          <p:nvPr/>
        </p:nvSpPr>
        <p:spPr>
          <a:xfrm>
            <a:off x="640080" y="2377440"/>
            <a:ext cx="10972800" cy="1280160"/>
          </a:xfrm>
          <a:prstGeom prst="rect">
            <a:avLst/>
          </a:prstGeom>
          <a:noFill/>
          <a:ln/>
        </p:spPr>
        <p:txBody>
          <a:bodyPr wrap="square" lIns="0" tIns="0" rIns="0" bIns="0" rtlCol="0" anchor="ctr"/>
          <a:lstStyle/>
          <a:p>
            <a:pPr indent="0" marL="0">
              <a:lnSpc>
                <a:spcPct val="120000"/>
              </a:lnSpc>
              <a:buNone/>
            </a:pPr>
            <a:r>
              <a:rPr lang="en-US" sz="2400" dirty="0">
                <a:solidFill>
                  <a:srgbClr val="C9D4DE"/>
                </a:solidFill>
                <a:latin typeface="Inter" pitchFamily="34" charset="0"/>
                <a:ea typeface="Inter" pitchFamily="34" charset="-122"/>
                <a:cs typeface="Inter" pitchFamily="34" charset="-120"/>
              </a:rPr>
              <a:t>Not “never plan again.” Never start from a blank page again.</a:t>
            </a:r>
            <a:endParaRPr lang="en-US" sz="2400" dirty="0"/>
          </a:p>
          <a:p>
            <a:pPr indent="0" marL="0">
              <a:lnSpc>
                <a:spcPct val="120000"/>
              </a:lnSpc>
              <a:buNone/>
            </a:pPr>
            <a:r>
              <a:rPr lang="en-US" sz="2400" dirty="0">
                <a:solidFill>
                  <a:srgbClr val="C9D4DE"/>
                </a:solidFill>
                <a:latin typeface="Inter" pitchFamily="34" charset="0"/>
                <a:ea typeface="Inter" pitchFamily="34" charset="-122"/>
                <a:cs typeface="Inter" pitchFamily="34" charset="-120"/>
              </a:rPr>
              <a:t>The blank page was the most expensive part, and it never needed your expertise.</a:t>
            </a:r>
            <a:endParaRPr lang="en-US" sz="2400" dirty="0"/>
          </a:p>
        </p:txBody>
      </p:sp>
      <p:sp>
        <p:nvSpPr>
          <p:cNvPr id="15" name="Text 12"/>
          <p:cNvSpPr/>
          <p:nvPr/>
        </p:nvSpPr>
        <p:spPr>
          <a:xfrm>
            <a:off x="640080" y="4114800"/>
            <a:ext cx="10972800" cy="1097280"/>
          </a:xfrm>
          <a:prstGeom prst="rect">
            <a:avLst/>
          </a:prstGeom>
          <a:noFill/>
          <a:ln/>
        </p:spPr>
        <p:txBody>
          <a:bodyPr wrap="square" lIns="0" tIns="0" rIns="0" bIns="0" rtlCol="0" anchor="ctr"/>
          <a:lstStyle/>
          <a:p>
            <a:pPr indent="0" marL="0">
              <a:buNone/>
            </a:pPr>
            <a:r>
              <a:rPr lang="en-US" sz="2200" b="1" dirty="0">
                <a:solidFill>
                  <a:srgbClr val="2A9D8F"/>
                </a:solidFill>
                <a:latin typeface="Inter" pitchFamily="34" charset="0"/>
                <a:ea typeface="Inter" pitchFamily="34" charset="-122"/>
                <a:cs typeface="Inter" pitchFamily="34" charset="-120"/>
              </a:rPr>
              <a:t>AI drafts the skeleton. You supply the judgment. AI drafts, the teacher decides.</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expectation: a 30-minute draft, and at least one invented thing to catch.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BEST STUDY WE HAVE ON EXACTLY THIS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A lesson plan in 30 minutes. And one catch.</a:t>
            </a:r>
            <a:endParaRPr lang="en-US" sz="2800" dirty="0"/>
          </a:p>
        </p:txBody>
      </p:sp>
      <p:sp>
        <p:nvSpPr>
          <p:cNvPr id="14" name="Shape 11"/>
          <p:cNvSpPr/>
          <p:nvPr/>
        </p:nvSpPr>
        <p:spPr>
          <a:xfrm>
            <a:off x="640080" y="1600200"/>
            <a:ext cx="5257800" cy="3383280"/>
          </a:xfrm>
          <a:prstGeom prst="roundRect">
            <a:avLst>
              <a:gd name="adj" fmla="val 2432"/>
            </a:avLst>
          </a:prstGeom>
          <a:solidFill>
            <a:srgbClr val="EAF5F3"/>
          </a:solidFill>
          <a:ln w="12700">
            <a:solidFill>
              <a:srgbClr val="EAF5F3"/>
            </a:solidFill>
            <a:prstDash val="solid"/>
          </a:ln>
        </p:spPr>
      </p:sp>
      <p:sp>
        <p:nvSpPr>
          <p:cNvPr id="15" name="Text 12"/>
          <p:cNvSpPr/>
          <p:nvPr/>
        </p:nvSpPr>
        <p:spPr>
          <a:xfrm>
            <a:off x="640080" y="1920240"/>
            <a:ext cx="5257800" cy="1097280"/>
          </a:xfrm>
          <a:prstGeom prst="rect">
            <a:avLst/>
          </a:prstGeom>
          <a:noFill/>
          <a:ln/>
        </p:spPr>
        <p:txBody>
          <a:bodyPr wrap="square" lIns="0" tIns="0" rIns="0" bIns="0" rtlCol="0" anchor="ctr"/>
          <a:lstStyle/>
          <a:p>
            <a:pPr algn="ctr" indent="0" marL="0">
              <a:buNone/>
            </a:pPr>
            <a:r>
              <a:rPr lang="en-US" sz="5400" b="1" dirty="0">
                <a:solidFill>
                  <a:srgbClr val="2E7D5B"/>
                </a:solidFill>
                <a:latin typeface="Inter" pitchFamily="34" charset="0"/>
                <a:ea typeface="Inter" pitchFamily="34" charset="-122"/>
                <a:cs typeface="Inter" pitchFamily="34" charset="-120"/>
              </a:rPr>
              <a:t>~30 min</a:t>
            </a:r>
            <a:endParaRPr lang="en-US" sz="5400" dirty="0"/>
          </a:p>
        </p:txBody>
      </p:sp>
      <p:sp>
        <p:nvSpPr>
          <p:cNvPr id="16" name="Text 13"/>
          <p:cNvSpPr/>
          <p:nvPr/>
        </p:nvSpPr>
        <p:spPr>
          <a:xfrm>
            <a:off x="91440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for ChatGPT to draft and refine a standards-aligned grade 1 science lesson</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(Powell &amp; Courchesne, PLOS ONE, 2024)</a:t>
            </a:r>
            <a:endParaRPr lang="en-US" sz="1550" dirty="0"/>
          </a:p>
        </p:txBody>
      </p:sp>
      <p:sp>
        <p:nvSpPr>
          <p:cNvPr id="17" name="Shape 14"/>
          <p:cNvSpPr/>
          <p:nvPr/>
        </p:nvSpPr>
        <p:spPr>
          <a:xfrm>
            <a:off x="6263640" y="1600200"/>
            <a:ext cx="5257800" cy="3383280"/>
          </a:xfrm>
          <a:prstGeom prst="roundRect">
            <a:avLst>
              <a:gd name="adj" fmla="val 2432"/>
            </a:avLst>
          </a:prstGeom>
          <a:solidFill>
            <a:srgbClr val="FBEFED"/>
          </a:solidFill>
          <a:ln w="12700">
            <a:solidFill>
              <a:srgbClr val="FBEFED"/>
            </a:solidFill>
            <a:prstDash val="solid"/>
          </a:ln>
        </p:spPr>
      </p:sp>
      <p:sp>
        <p:nvSpPr>
          <p:cNvPr id="18" name="Text 15"/>
          <p:cNvSpPr/>
          <p:nvPr/>
        </p:nvSpPr>
        <p:spPr>
          <a:xfrm>
            <a:off x="6263640" y="1828800"/>
            <a:ext cx="5257800" cy="1280160"/>
          </a:xfrm>
          <a:prstGeom prst="rect">
            <a:avLst/>
          </a:prstGeom>
          <a:noFill/>
          <a:ln/>
        </p:spPr>
        <p:txBody>
          <a:bodyPr wrap="square" lIns="0" tIns="0" rIns="0" bIns="0" rtlCol="0" anchor="ctr"/>
          <a:lstStyle/>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1 fabricated</a:t>
            </a:r>
            <a:endParaRPr lang="en-US" sz="3200" dirty="0"/>
          </a:p>
          <a:p>
            <a:pPr algn="ctr" indent="0" marL="0">
              <a:lnSpc>
                <a:spcPct val="105000"/>
              </a:lnSpc>
              <a:buNone/>
            </a:pPr>
            <a:r>
              <a:rPr lang="en-US" sz="3200" b="1" dirty="0">
                <a:solidFill>
                  <a:srgbClr val="B4453A"/>
                </a:solidFill>
                <a:latin typeface="Inter" pitchFamily="34" charset="0"/>
                <a:ea typeface="Inter" pitchFamily="34" charset="-122"/>
                <a:cs typeface="Inter" pitchFamily="34" charset="-120"/>
              </a:rPr>
              <a:t>resource</a:t>
            </a:r>
            <a:endParaRPr lang="en-US" sz="3200" dirty="0"/>
          </a:p>
        </p:txBody>
      </p:sp>
      <p:sp>
        <p:nvSpPr>
          <p:cNvPr id="19" name="Text 16"/>
          <p:cNvSpPr/>
          <p:nvPr/>
        </p:nvSpPr>
        <p:spPr>
          <a:xfrm>
            <a:off x="6537960" y="3063240"/>
            <a:ext cx="4709160" cy="1737360"/>
          </a:xfrm>
          <a:prstGeom prst="rect">
            <a:avLst/>
          </a:prstGeom>
          <a:noFill/>
          <a:ln/>
        </p:spPr>
        <p:txBody>
          <a:bodyPr wrap="square" lIns="0" tIns="0" rIns="0" bIns="0" rtlCol="0" anchor="ctr"/>
          <a:lstStyle/>
          <a:p>
            <a:pPr algn="ctr" indent="0" marL="0">
              <a:buNone/>
            </a:pPr>
            <a:r>
              <a:rPr lang="en-US" sz="1550" dirty="0">
                <a:solidFill>
                  <a:srgbClr val="1B1F24"/>
                </a:solidFill>
                <a:latin typeface="Inter" pitchFamily="34" charset="0"/>
                <a:ea typeface="Inter" pitchFamily="34" charset="-122"/>
                <a:cs typeface="Inter" pitchFamily="34" charset="-120"/>
              </a:rPr>
              <a:t>plus questionable components and missing details along the way, delivered with total confidence</a:t>
            </a:r>
            <a:endParaRPr lang="en-US" sz="1550" dirty="0"/>
          </a:p>
          <a:p>
            <a:pPr algn="ctr" indent="0" marL="0">
              <a:buNone/>
            </a:pPr>
            <a:r>
              <a:rPr lang="en-US" sz="1550" dirty="0">
                <a:solidFill>
                  <a:srgbClr val="1B1F24"/>
                </a:solidFill>
                <a:latin typeface="Inter" pitchFamily="34" charset="0"/>
                <a:ea typeface="Inter" pitchFamily="34" charset="-122"/>
                <a:cs typeface="Inter" pitchFamily="34" charset="-120"/>
              </a:rPr>
              <a:t>(same study)</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review habit: that's where her expertise enters the document.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WHAT THAT STUDY MEANS FOR MONDAY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Review is where your expertise enters</a:t>
            </a:r>
            <a:endParaRPr lang="en-US" sz="2800" dirty="0"/>
          </a:p>
        </p:txBody>
      </p:sp>
      <p:sp>
        <p:nvSpPr>
          <p:cNvPr id="14" name="Shape 11"/>
          <p:cNvSpPr/>
          <p:nvPr/>
        </p:nvSpPr>
        <p:spPr>
          <a:xfrm>
            <a:off x="640080" y="1554480"/>
            <a:ext cx="10972800" cy="2011680"/>
          </a:xfrm>
          <a:prstGeom prst="roundRect">
            <a:avLst>
              <a:gd name="adj" fmla="val 4091"/>
            </a:avLst>
          </a:prstGeom>
          <a:solidFill>
            <a:srgbClr val="13293D"/>
          </a:solidFill>
          <a:ln w="12700">
            <a:solidFill>
              <a:srgbClr val="13293D"/>
            </a:solidFill>
            <a:prstDash val="solid"/>
          </a:ln>
        </p:spPr>
      </p:sp>
      <p:sp>
        <p:nvSpPr>
          <p:cNvPr id="15" name="Text 12"/>
          <p:cNvSpPr/>
          <p:nvPr/>
        </p:nvSpPr>
        <p:spPr>
          <a:xfrm>
            <a:off x="1005840" y="1783080"/>
            <a:ext cx="10241280" cy="1554480"/>
          </a:xfrm>
          <a:prstGeom prst="rect">
            <a:avLst/>
          </a:prstGeom>
          <a:noFill/>
          <a:ln/>
        </p:spPr>
        <p:txBody>
          <a:bodyPr wrap="square" lIns="0" tIns="0" rIns="0" bIns="0" rtlCol="0" anchor="ctr"/>
          <a:lstStyle/>
          <a:p>
            <a:pPr indent="0" marL="0">
              <a:buNone/>
            </a:pPr>
            <a:r>
              <a:rPr lang="en-US" sz="2400" b="1" dirty="0">
                <a:solidFill>
                  <a:srgbClr val="FFFFFF"/>
                </a:solidFill>
                <a:latin typeface="Inter" pitchFamily="34" charset="0"/>
                <a:ea typeface="Inter" pitchFamily="34" charset="-122"/>
                <a:cs typeface="Inter" pitchFamily="34" charset="-120"/>
              </a:rPr>
              <a:t>Review is not a formality. It’s the step where the teaching expertise enters the document.</a:t>
            </a:r>
            <a:endParaRPr lang="en-US" sz="2400" dirty="0"/>
          </a:p>
        </p:txBody>
      </p:sp>
      <p:sp>
        <p:nvSpPr>
          <p:cNvPr id="16" name="Text 13"/>
          <p:cNvSpPr/>
          <p:nvPr/>
        </p:nvSpPr>
        <p:spPr>
          <a:xfrm>
            <a:off x="640080" y="3840480"/>
            <a:ext cx="10908792" cy="1645920"/>
          </a:xfrm>
          <a:prstGeom prst="rect">
            <a:avLst/>
          </a:prstGeom>
          <a:noFill/>
          <a:ln/>
        </p:spPr>
        <p:txBody>
          <a:bodyPr wrap="square" rtlCol="0" anchor="t"/>
          <a:lstStyle/>
          <a:p>
            <a:pPr marL="342900" indent="-342900">
              <a:spcAft>
                <a:spcPts val="1000"/>
              </a:spcAft>
              <a:buSzPct val="100000"/>
              <a:buChar char="•"/>
            </a:pPr>
            <a:r>
              <a:rPr lang="en-US" sz="2000" dirty="0">
                <a:solidFill>
                  <a:srgbClr val="1B1F24"/>
                </a:solidFill>
                <a:latin typeface="Inter" pitchFamily="34" charset="0"/>
                <a:ea typeface="Inter" pitchFamily="34" charset="-122"/>
                <a:cs typeface="Inter" pitchFamily="34" charset="-120"/>
              </a:rPr>
              <a:t>Take the 30 minutes; the skeleton is real and it’s useful</a:t>
            </a:r>
            <a:endParaRPr lang="en-US" sz="2000" dirty="0"/>
          </a:p>
          <a:p>
            <a:pPr marL="342900" indent="-342900">
              <a:spcAft>
                <a:spcPts val="1000"/>
              </a:spcAft>
              <a:buSzPct val="100000"/>
              <a:buChar char="•"/>
            </a:pPr>
            <a:r>
              <a:rPr lang="en-US" sz="2000" b="1" dirty="0">
                <a:solidFill>
                  <a:srgbClr val="13293D"/>
                </a:solidFill>
                <a:latin typeface="Inter" pitchFamily="34" charset="0"/>
                <a:ea typeface="Inter" pitchFamily="34" charset="-122"/>
                <a:cs typeface="Inter" pitchFamily="34" charset="-120"/>
              </a:rPr>
              <a:t>Then review like a professional: the study’s authors and every kit in this series agree it’s non-negotiable</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UDL frame: AI generates the menu; she orders for her class.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FRAME THAT MAKES AI USEFUL, NOT JUST FAST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UDL: generate options, then choose</a:t>
            </a:r>
            <a:endParaRPr lang="en-US" sz="3200" dirty="0"/>
          </a:p>
        </p:txBody>
      </p:sp>
      <p:sp>
        <p:nvSpPr>
          <p:cNvPr id="14" name="Shape 11"/>
          <p:cNvSpPr/>
          <p:nvPr/>
        </p:nvSpPr>
        <p:spPr>
          <a:xfrm>
            <a:off x="640080" y="1554480"/>
            <a:ext cx="3520440" cy="2743200"/>
          </a:xfrm>
          <a:prstGeom prst="roundRect">
            <a:avLst>
              <a:gd name="adj" fmla="val 3000"/>
            </a:avLst>
          </a:prstGeom>
          <a:solidFill>
            <a:srgbClr val="F7F5F0"/>
          </a:solidFill>
          <a:ln w="12700">
            <a:solidFill>
              <a:srgbClr val="F7F5F0"/>
            </a:solidFill>
            <a:prstDash val="solid"/>
          </a:ln>
        </p:spPr>
      </p:sp>
      <p:sp>
        <p:nvSpPr>
          <p:cNvPr id="15" name="Text 12"/>
          <p:cNvSpPr/>
          <p:nvPr/>
        </p:nvSpPr>
        <p:spPr>
          <a:xfrm>
            <a:off x="896112"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Engagement</a:t>
            </a:r>
            <a:endParaRPr lang="en-US" sz="1900" dirty="0"/>
          </a:p>
        </p:txBody>
      </p:sp>
      <p:sp>
        <p:nvSpPr>
          <p:cNvPr id="16" name="Text 13"/>
          <p:cNvSpPr/>
          <p:nvPr/>
        </p:nvSpPr>
        <p:spPr>
          <a:xfrm>
            <a:off x="896112"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in: choice, relevance, challenge level</a:t>
            </a:r>
            <a:endParaRPr lang="en-US" sz="1500" dirty="0"/>
          </a:p>
        </p:txBody>
      </p:sp>
      <p:sp>
        <p:nvSpPr>
          <p:cNvPr id="17" name="Shape 14"/>
          <p:cNvSpPr/>
          <p:nvPr/>
        </p:nvSpPr>
        <p:spPr>
          <a:xfrm>
            <a:off x="4407408" y="1554480"/>
            <a:ext cx="3520440" cy="2743200"/>
          </a:xfrm>
          <a:prstGeom prst="roundRect">
            <a:avLst>
              <a:gd name="adj" fmla="val 3000"/>
            </a:avLst>
          </a:prstGeom>
          <a:solidFill>
            <a:srgbClr val="F7F5F0"/>
          </a:solidFill>
          <a:ln w="12700">
            <a:solidFill>
              <a:srgbClr val="F7F5F0"/>
            </a:solidFill>
            <a:prstDash val="solid"/>
          </a:ln>
        </p:spPr>
      </p:sp>
      <p:sp>
        <p:nvSpPr>
          <p:cNvPr id="18" name="Text 15"/>
          <p:cNvSpPr/>
          <p:nvPr/>
        </p:nvSpPr>
        <p:spPr>
          <a:xfrm>
            <a:off x="4663440"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Representation</a:t>
            </a:r>
            <a:endParaRPr lang="en-US" sz="1900" dirty="0"/>
          </a:p>
        </p:txBody>
      </p:sp>
      <p:sp>
        <p:nvSpPr>
          <p:cNvPr id="19" name="Text 16"/>
          <p:cNvSpPr/>
          <p:nvPr/>
        </p:nvSpPr>
        <p:spPr>
          <a:xfrm>
            <a:off x="4663440"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meet the content: text, levels, visuals described</a:t>
            </a:r>
            <a:endParaRPr lang="en-US" sz="1500" dirty="0"/>
          </a:p>
        </p:txBody>
      </p:sp>
      <p:sp>
        <p:nvSpPr>
          <p:cNvPr id="20" name="Shape 17"/>
          <p:cNvSpPr/>
          <p:nvPr/>
        </p:nvSpPr>
        <p:spPr>
          <a:xfrm>
            <a:off x="8174736" y="1554480"/>
            <a:ext cx="3520440" cy="2743200"/>
          </a:xfrm>
          <a:prstGeom prst="roundRect">
            <a:avLst>
              <a:gd name="adj" fmla="val 3000"/>
            </a:avLst>
          </a:prstGeom>
          <a:solidFill>
            <a:srgbClr val="F7F5F0"/>
          </a:solidFill>
          <a:ln w="12700">
            <a:solidFill>
              <a:srgbClr val="F7F5F0"/>
            </a:solidFill>
            <a:prstDash val="solid"/>
          </a:ln>
        </p:spPr>
      </p:sp>
      <p:sp>
        <p:nvSpPr>
          <p:cNvPr id="21" name="Text 18"/>
          <p:cNvSpPr/>
          <p:nvPr/>
        </p:nvSpPr>
        <p:spPr>
          <a:xfrm>
            <a:off x="8430768" y="1828800"/>
            <a:ext cx="3017520" cy="731520"/>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Action &amp; expression</a:t>
            </a:r>
            <a:endParaRPr lang="en-US" sz="1900" dirty="0"/>
          </a:p>
        </p:txBody>
      </p:sp>
      <p:sp>
        <p:nvSpPr>
          <p:cNvPr id="22" name="Text 19"/>
          <p:cNvSpPr/>
          <p:nvPr/>
        </p:nvSpPr>
        <p:spPr>
          <a:xfrm>
            <a:off x="8430768" y="2606040"/>
            <a:ext cx="3017520" cy="1463040"/>
          </a:xfrm>
          <a:prstGeom prst="rect">
            <a:avLst/>
          </a:prstGeom>
          <a:noFill/>
          <a:ln/>
        </p:spPr>
        <p:txBody>
          <a:bodyPr wrap="square" lIns="0" tIns="0" rIns="0" bIns="0" rtlCol="0" anchor="t"/>
          <a:lstStyle/>
          <a:p>
            <a:pPr indent="0" marL="0">
              <a:buNone/>
            </a:pPr>
            <a:r>
              <a:rPr lang="en-US" sz="1500" dirty="0">
                <a:solidFill>
                  <a:srgbClr val="1B1F24"/>
                </a:solidFill>
                <a:latin typeface="Inter" pitchFamily="34" charset="0"/>
                <a:ea typeface="Inter" pitchFamily="34" charset="-122"/>
                <a:cs typeface="Inter" pitchFamily="34" charset="-120"/>
              </a:rPr>
              <a:t>Multiple ways to show it: write, build, discuss, teach back</a:t>
            </a:r>
            <a:endParaRPr lang="en-US" sz="1500" dirty="0"/>
          </a:p>
        </p:txBody>
      </p:sp>
      <p:sp>
        <p:nvSpPr>
          <p:cNvPr id="23" name="Text 20"/>
          <p:cNvSpPr/>
          <p:nvPr/>
        </p:nvSpPr>
        <p:spPr>
          <a:xfrm>
            <a:off x="640080" y="4663440"/>
            <a:ext cx="10972800" cy="914400"/>
          </a:xfrm>
          <a:prstGeom prst="rect">
            <a:avLst/>
          </a:prstGeom>
          <a:noFill/>
          <a:ln/>
        </p:spPr>
        <p:txBody>
          <a:bodyPr wrap="square" lIns="0" tIns="0" rIns="0" bIns="0" rtlCol="0" anchor="ctr"/>
          <a:lstStyle/>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Options were always UDL’s cost problem. Generating options is the thing AI does fastest.</a:t>
            </a:r>
            <a:endParaRPr lang="en-US" sz="1800" dirty="0"/>
          </a:p>
          <a:p>
            <a:pPr algn="ctr" indent="0" marL="0">
              <a:lnSpc>
                <a:spcPct val="115000"/>
              </a:lnSpc>
              <a:buNone/>
            </a:pPr>
            <a:r>
              <a:rPr lang="en-US" sz="1800" b="1" dirty="0">
                <a:solidFill>
                  <a:srgbClr val="13293D"/>
                </a:solidFill>
                <a:latin typeface="Inter" pitchFamily="34" charset="0"/>
                <a:ea typeface="Inter" pitchFamily="34" charset="-122"/>
                <a:cs typeface="Inter" pitchFamily="34" charset="-120"/>
              </a:rPr>
              <a:t>AI generates the menu; you order for your class. (CAST UDL 3.0; Capp, 2017)</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workflow: draft, then options, then pick and adapt, then review.</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WHOLE SYSTEM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planning workflow</a:t>
            </a:r>
            <a:endParaRPr lang="en-US" sz="3200" dirty="0"/>
          </a:p>
        </p:txBody>
      </p:sp>
      <p:sp>
        <p:nvSpPr>
          <p:cNvPr id="14" name="Shape 11"/>
          <p:cNvSpPr/>
          <p:nvPr/>
        </p:nvSpPr>
        <p:spPr>
          <a:xfrm>
            <a:off x="822960" y="1572768"/>
            <a:ext cx="658368" cy="658368"/>
          </a:xfrm>
          <a:prstGeom prst="ellipse">
            <a:avLst/>
          </a:prstGeom>
          <a:solidFill>
            <a:srgbClr val="2A9D8F"/>
          </a:solidFill>
          <a:ln w="12700">
            <a:solidFill>
              <a:srgbClr val="2A9D8F"/>
            </a:solidFill>
            <a:prstDash val="solid"/>
          </a:ln>
        </p:spPr>
      </p:sp>
      <p:sp>
        <p:nvSpPr>
          <p:cNvPr id="15" name="Text 12"/>
          <p:cNvSpPr/>
          <p:nvPr/>
        </p:nvSpPr>
        <p:spPr>
          <a:xfrm>
            <a:off x="822960" y="157276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1</a:t>
            </a:r>
            <a:endParaRPr lang="en-US" sz="2200" dirty="0"/>
          </a:p>
        </p:txBody>
      </p:sp>
      <p:sp>
        <p:nvSpPr>
          <p:cNvPr id="16" name="Shape 13"/>
          <p:cNvSpPr/>
          <p:nvPr/>
        </p:nvSpPr>
        <p:spPr>
          <a:xfrm>
            <a:off x="1783080" y="1463040"/>
            <a:ext cx="9784080" cy="868680"/>
          </a:xfrm>
          <a:prstGeom prst="roundRect">
            <a:avLst>
              <a:gd name="adj" fmla="val 9474"/>
            </a:avLst>
          </a:prstGeom>
          <a:solidFill>
            <a:srgbClr val="F7F5F0"/>
          </a:solidFill>
          <a:ln w="12700">
            <a:solidFill>
              <a:srgbClr val="F7F5F0"/>
            </a:solidFill>
            <a:prstDash val="solid"/>
          </a:ln>
        </p:spPr>
      </p:sp>
      <p:sp>
        <p:nvSpPr>
          <p:cNvPr id="17" name="Text 14"/>
          <p:cNvSpPr/>
          <p:nvPr/>
        </p:nvSpPr>
        <p:spPr>
          <a:xfrm>
            <a:off x="2103120" y="153619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Draft:  </a:t>
            </a:r>
            <a:pPr indent="0" marL="0">
              <a:buNone/>
            </a:pPr>
            <a:r>
              <a:rPr lang="en-US" sz="1800" dirty="0">
                <a:solidFill>
                  <a:srgbClr val="1B1F24"/>
                </a:solidFill>
                <a:latin typeface="Inter" pitchFamily="34" charset="0"/>
                <a:ea typeface="Inter" pitchFamily="34" charset="-122"/>
                <a:cs typeface="Inter" pitchFamily="34" charset="-120"/>
              </a:rPr>
              <a:t>the core artifact with the Kit 2 formula</a:t>
            </a:r>
            <a:endParaRPr lang="en-US" sz="1800" dirty="0"/>
          </a:p>
        </p:txBody>
      </p:sp>
      <p:sp>
        <p:nvSpPr>
          <p:cNvPr id="18" name="Shape 15"/>
          <p:cNvSpPr/>
          <p:nvPr/>
        </p:nvSpPr>
        <p:spPr>
          <a:xfrm>
            <a:off x="822960" y="2624328"/>
            <a:ext cx="658368" cy="658368"/>
          </a:xfrm>
          <a:prstGeom prst="ellipse">
            <a:avLst/>
          </a:prstGeom>
          <a:solidFill>
            <a:srgbClr val="2A9D8F"/>
          </a:solidFill>
          <a:ln w="12700">
            <a:solidFill>
              <a:srgbClr val="2A9D8F"/>
            </a:solidFill>
            <a:prstDash val="solid"/>
          </a:ln>
        </p:spPr>
      </p:sp>
      <p:sp>
        <p:nvSpPr>
          <p:cNvPr id="19" name="Text 16"/>
          <p:cNvSpPr/>
          <p:nvPr/>
        </p:nvSpPr>
        <p:spPr>
          <a:xfrm>
            <a:off x="822960" y="262432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2</a:t>
            </a:r>
            <a:endParaRPr lang="en-US" sz="2200" dirty="0"/>
          </a:p>
        </p:txBody>
      </p:sp>
      <p:sp>
        <p:nvSpPr>
          <p:cNvPr id="20" name="Shape 17"/>
          <p:cNvSpPr/>
          <p:nvPr/>
        </p:nvSpPr>
        <p:spPr>
          <a:xfrm>
            <a:off x="1783080" y="2514600"/>
            <a:ext cx="9784080" cy="868680"/>
          </a:xfrm>
          <a:prstGeom prst="roundRect">
            <a:avLst>
              <a:gd name="adj" fmla="val 9474"/>
            </a:avLst>
          </a:prstGeom>
          <a:solidFill>
            <a:srgbClr val="F7F5F0"/>
          </a:solidFill>
          <a:ln w="12700">
            <a:solidFill>
              <a:srgbClr val="F7F5F0"/>
            </a:solidFill>
            <a:prstDash val="solid"/>
          </a:ln>
        </p:spPr>
      </p:sp>
      <p:sp>
        <p:nvSpPr>
          <p:cNvPr id="21" name="Text 18"/>
          <p:cNvSpPr/>
          <p:nvPr/>
        </p:nvSpPr>
        <p:spPr>
          <a:xfrm>
            <a:off x="2103120" y="258775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Options:  </a:t>
            </a:r>
            <a:pPr indent="0" marL="0">
              <a:buNone/>
            </a:pPr>
            <a:r>
              <a:rPr lang="en-US" sz="1800" dirty="0">
                <a:solidFill>
                  <a:srgbClr val="1B1F24"/>
                </a:solidFill>
                <a:latin typeface="Inter" pitchFamily="34" charset="0"/>
                <a:ea typeface="Inter" pitchFamily="34" charset="-122"/>
                <a:cs typeface="Inter" pitchFamily="34" charset="-120"/>
              </a:rPr>
              <a:t>ask AI to vary it: levels, scaffolds, formats</a:t>
            </a:r>
            <a:endParaRPr lang="en-US" sz="1800" dirty="0"/>
          </a:p>
        </p:txBody>
      </p:sp>
      <p:sp>
        <p:nvSpPr>
          <p:cNvPr id="22" name="Shape 19"/>
          <p:cNvSpPr/>
          <p:nvPr/>
        </p:nvSpPr>
        <p:spPr>
          <a:xfrm>
            <a:off x="822960" y="3675888"/>
            <a:ext cx="658368" cy="658368"/>
          </a:xfrm>
          <a:prstGeom prst="ellipse">
            <a:avLst/>
          </a:prstGeom>
          <a:solidFill>
            <a:srgbClr val="2A9D8F"/>
          </a:solidFill>
          <a:ln w="12700">
            <a:solidFill>
              <a:srgbClr val="2A9D8F"/>
            </a:solidFill>
            <a:prstDash val="solid"/>
          </a:ln>
        </p:spPr>
      </p:sp>
      <p:sp>
        <p:nvSpPr>
          <p:cNvPr id="23" name="Text 20"/>
          <p:cNvSpPr/>
          <p:nvPr/>
        </p:nvSpPr>
        <p:spPr>
          <a:xfrm>
            <a:off x="822960" y="367588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3</a:t>
            </a:r>
            <a:endParaRPr lang="en-US" sz="2200" dirty="0"/>
          </a:p>
        </p:txBody>
      </p:sp>
      <p:sp>
        <p:nvSpPr>
          <p:cNvPr id="24" name="Shape 21"/>
          <p:cNvSpPr/>
          <p:nvPr/>
        </p:nvSpPr>
        <p:spPr>
          <a:xfrm>
            <a:off x="1783080" y="3566160"/>
            <a:ext cx="9784080" cy="868680"/>
          </a:xfrm>
          <a:prstGeom prst="roundRect">
            <a:avLst>
              <a:gd name="adj" fmla="val 9474"/>
            </a:avLst>
          </a:prstGeom>
          <a:solidFill>
            <a:srgbClr val="F7F5F0"/>
          </a:solidFill>
          <a:ln w="12700">
            <a:solidFill>
              <a:srgbClr val="F7F5F0"/>
            </a:solidFill>
            <a:prstDash val="solid"/>
          </a:ln>
        </p:spPr>
      </p:sp>
      <p:sp>
        <p:nvSpPr>
          <p:cNvPr id="25" name="Text 22"/>
          <p:cNvSpPr/>
          <p:nvPr/>
        </p:nvSpPr>
        <p:spPr>
          <a:xfrm>
            <a:off x="2103120" y="363931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Pick &amp; adapt:  </a:t>
            </a:r>
            <a:pPr indent="0" marL="0">
              <a:buNone/>
            </a:pPr>
            <a:r>
              <a:rPr lang="en-US" sz="1800" dirty="0">
                <a:solidFill>
                  <a:srgbClr val="1B1F24"/>
                </a:solidFill>
                <a:latin typeface="Inter" pitchFamily="34" charset="0"/>
                <a:ea typeface="Inter" pitchFamily="34" charset="-122"/>
                <a:cs typeface="Inter" pitchFamily="34" charset="-120"/>
              </a:rPr>
              <a:t>you know which option fits which kid</a:t>
            </a:r>
            <a:endParaRPr lang="en-US" sz="1800" dirty="0"/>
          </a:p>
        </p:txBody>
      </p:sp>
      <p:sp>
        <p:nvSpPr>
          <p:cNvPr id="26" name="Shape 23"/>
          <p:cNvSpPr/>
          <p:nvPr/>
        </p:nvSpPr>
        <p:spPr>
          <a:xfrm>
            <a:off x="822960" y="4727448"/>
            <a:ext cx="658368" cy="658368"/>
          </a:xfrm>
          <a:prstGeom prst="ellipse">
            <a:avLst/>
          </a:prstGeom>
          <a:solidFill>
            <a:srgbClr val="2A9D8F"/>
          </a:solidFill>
          <a:ln w="12700">
            <a:solidFill>
              <a:srgbClr val="2A9D8F"/>
            </a:solidFill>
            <a:prstDash val="solid"/>
          </a:ln>
        </p:spPr>
      </p:sp>
      <p:sp>
        <p:nvSpPr>
          <p:cNvPr id="27" name="Text 24"/>
          <p:cNvSpPr/>
          <p:nvPr/>
        </p:nvSpPr>
        <p:spPr>
          <a:xfrm>
            <a:off x="822960" y="4727448"/>
            <a:ext cx="658368" cy="658368"/>
          </a:xfrm>
          <a:prstGeom prst="rect">
            <a:avLst/>
          </a:prstGeom>
          <a:noFill/>
          <a:ln/>
        </p:spPr>
        <p:txBody>
          <a:bodyPr wrap="square" lIns="0" tIns="0" rIns="0" bIns="0" rtlCol="0" anchor="ctr"/>
          <a:lstStyle/>
          <a:p>
            <a:pPr algn="ctr" indent="0" marL="0">
              <a:buNone/>
            </a:pPr>
            <a:r>
              <a:rPr lang="en-US" sz="2200" b="1" dirty="0">
                <a:solidFill>
                  <a:srgbClr val="FFFFFF"/>
                </a:solidFill>
                <a:latin typeface="Inter" pitchFamily="34" charset="0"/>
                <a:ea typeface="Inter" pitchFamily="34" charset="-122"/>
                <a:cs typeface="Inter" pitchFamily="34" charset="-120"/>
              </a:rPr>
              <a:t>4</a:t>
            </a:r>
            <a:endParaRPr lang="en-US" sz="2200" dirty="0"/>
          </a:p>
        </p:txBody>
      </p:sp>
      <p:sp>
        <p:nvSpPr>
          <p:cNvPr id="28" name="Shape 25"/>
          <p:cNvSpPr/>
          <p:nvPr/>
        </p:nvSpPr>
        <p:spPr>
          <a:xfrm>
            <a:off x="1783080" y="4617720"/>
            <a:ext cx="9784080" cy="868680"/>
          </a:xfrm>
          <a:prstGeom prst="roundRect">
            <a:avLst>
              <a:gd name="adj" fmla="val 9474"/>
            </a:avLst>
          </a:prstGeom>
          <a:solidFill>
            <a:srgbClr val="F7F5F0"/>
          </a:solidFill>
          <a:ln w="12700">
            <a:solidFill>
              <a:srgbClr val="F7F5F0"/>
            </a:solidFill>
            <a:prstDash val="solid"/>
          </a:ln>
        </p:spPr>
      </p:sp>
      <p:sp>
        <p:nvSpPr>
          <p:cNvPr id="29" name="Text 26"/>
          <p:cNvSpPr/>
          <p:nvPr/>
        </p:nvSpPr>
        <p:spPr>
          <a:xfrm>
            <a:off x="2103120" y="4690872"/>
            <a:ext cx="9144000" cy="731520"/>
          </a:xfrm>
          <a:prstGeom prst="rect">
            <a:avLst/>
          </a:prstGeom>
          <a:noFill/>
          <a:ln/>
        </p:spPr>
        <p:txBody>
          <a:bodyPr wrap="square" lIns="0" tIns="0" rIns="0" bIns="0" rtlCol="0" anchor="ctr"/>
          <a:lstStyle/>
          <a:p>
            <a:pPr indent="0" marL="0">
              <a:buNone/>
            </a:pPr>
            <a:r>
              <a:rPr lang="en-US" sz="1800" b="1" dirty="0">
                <a:solidFill>
                  <a:srgbClr val="13293D"/>
                </a:solidFill>
                <a:latin typeface="Inter" pitchFamily="34" charset="0"/>
                <a:ea typeface="Inter" pitchFamily="34" charset="-122"/>
                <a:cs typeface="Inter" pitchFamily="34" charset="-120"/>
              </a:rPr>
              <a:t>Review:  </a:t>
            </a:r>
            <a:pPr indent="0" marL="0">
              <a:buNone/>
            </a:pPr>
            <a:r>
              <a:rPr lang="en-US" sz="1800" dirty="0">
                <a:solidFill>
                  <a:srgbClr val="1B1F24"/>
                </a:solidFill>
                <a:latin typeface="Inter" pitchFamily="34" charset="0"/>
                <a:ea typeface="Inter" pitchFamily="34" charset="-122"/>
                <a:cs typeface="Inter" pitchFamily="34" charset="-120"/>
              </a:rPr>
              <a:t>the 4-point check before it reaches a student</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four moves: level it, scaffold it, stretch it, reformat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DIFFERENTIATION TOOLKIT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Four moves. New price, same pedagogy.</a:t>
            </a:r>
            <a:endParaRPr lang="en-US" sz="28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Level it</a:t>
            </a:r>
            <a:endParaRPr lang="en-US" sz="2400" dirty="0"/>
          </a:p>
        </p:txBody>
      </p:sp>
      <p:sp>
        <p:nvSpPr>
          <p:cNvPr id="16" name="Text 13"/>
          <p:cNvSpPr/>
          <p:nvPr/>
        </p:nvSpPr>
        <p:spPr>
          <a:xfrm>
            <a:off x="91440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One passage, multiple reading levels</a:t>
            </a:r>
            <a:endParaRPr lang="en-US" sz="17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1848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Scaffold it</a:t>
            </a:r>
            <a:endParaRPr lang="en-US" sz="2400" dirty="0"/>
          </a:p>
        </p:txBody>
      </p:sp>
      <p:sp>
        <p:nvSpPr>
          <p:cNvPr id="19" name="Text 16"/>
          <p:cNvSpPr/>
          <p:nvPr/>
        </p:nvSpPr>
        <p:spPr>
          <a:xfrm>
            <a:off x="6537960" y="224028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Starters, word banks, worked examples, organizers</a:t>
            </a:r>
            <a:endParaRPr lang="en-US" sz="17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Stretch it</a:t>
            </a:r>
            <a:endParaRPr lang="en-US" sz="2400" dirty="0"/>
          </a:p>
        </p:txBody>
      </p:sp>
      <p:sp>
        <p:nvSpPr>
          <p:cNvPr id="22" name="Text 19"/>
          <p:cNvSpPr/>
          <p:nvPr/>
        </p:nvSpPr>
        <p:spPr>
          <a:xfrm>
            <a:off x="91440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Depth for early finishers, never more worksheets</a:t>
            </a:r>
            <a:endParaRPr lang="en-US" sz="17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21608"/>
            <a:ext cx="4800600" cy="502920"/>
          </a:xfrm>
          <a:prstGeom prst="rect">
            <a:avLst/>
          </a:prstGeom>
          <a:noFill/>
          <a:ln/>
        </p:spPr>
        <p:txBody>
          <a:bodyPr wrap="square" lIns="0" tIns="0" rIns="0" bIns="0" rtlCol="0" anchor="ctr"/>
          <a:lstStyle/>
          <a:p>
            <a:pPr indent="0" marL="0">
              <a:buNone/>
            </a:pPr>
            <a:r>
              <a:rPr lang="en-US" sz="2400" b="1" dirty="0">
                <a:solidFill>
                  <a:srgbClr val="2A9D8F"/>
                </a:solidFill>
                <a:latin typeface="Inter" pitchFamily="34" charset="0"/>
                <a:ea typeface="Inter" pitchFamily="34" charset="-122"/>
                <a:cs typeface="Inter" pitchFamily="34" charset="-120"/>
              </a:rPr>
              <a:t>Reformat it</a:t>
            </a:r>
            <a:endParaRPr lang="en-US" sz="2400" dirty="0"/>
          </a:p>
        </p:txBody>
      </p:sp>
      <p:sp>
        <p:nvSpPr>
          <p:cNvPr id="25" name="Text 22"/>
          <p:cNvSpPr/>
          <p:nvPr/>
        </p:nvSpPr>
        <p:spPr>
          <a:xfrm>
            <a:off x="6537960" y="4343400"/>
            <a:ext cx="4800600" cy="914400"/>
          </a:xfrm>
          <a:prstGeom prst="rect">
            <a:avLst/>
          </a:prstGeom>
          <a:noFill/>
          <a:ln/>
        </p:spPr>
        <p:txBody>
          <a:bodyPr wrap="square" lIns="0" tIns="0" rIns="0" bIns="0" rtlCol="0" anchor="ctr"/>
          <a:lstStyle/>
          <a:p>
            <a:pPr indent="0" marL="0">
              <a:buNone/>
            </a:pPr>
            <a:r>
              <a:rPr lang="en-US" sz="1700" dirty="0">
                <a:solidFill>
                  <a:srgbClr val="1B1F24"/>
                </a:solidFill>
                <a:latin typeface="Inter" pitchFamily="34" charset="0"/>
                <a:ea typeface="Inter" pitchFamily="34" charset="-122"/>
                <a:cs typeface="Inter" pitchFamily="34" charset="-120"/>
              </a:rPr>
              <a:t>Same content as stations, cards, practice sets</a:t>
            </a:r>
            <a:endParaRPr lang="en-US" sz="17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700" i="1" dirty="0">
                <a:solidFill>
                  <a:srgbClr val="5B6B7A"/>
                </a:solidFill>
                <a:latin typeface="Inter" pitchFamily="34" charset="0"/>
                <a:ea typeface="Inter" pitchFamily="34" charset="-122"/>
                <a:cs typeface="Inter" pitchFamily="34" charset="-120"/>
              </a:rPr>
              <a:t>Tomlinson’s frame: readiness (moves 1–3), interest and profile (move 4).</a:t>
            </a:r>
            <a:endParaRPr lang="en-US" sz="1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11</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1 · THE WORKHORSE · ON MS. RIVERA'S SCREEN</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Level it: one passage, three levels</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“Make this easier.”</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14" name="Shape 11"/>
          <p:cNvSpPr/>
          <p:nvPr/>
        </p:nvSpPr>
        <p:spPr>
          <a:xfrm>
            <a:off x="1554480" y="2377440"/>
            <a:ext cx="914400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passage below at three levels: on-grade for 6th grade, about two years below, and about two years above.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every key idea, the section headings, and the same core vocabulary.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Lower level: sentences under 12 words plus a 5-word vocabulary box. Higher level: raise the complexity of the reasoning, not just the vocabulary. Label each version.”  [paste passage]</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level check: read aloud, eyeball sentence length, try on one student.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KEEPS MOVE 1 HONEST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Check the level. Don’t trust the label.</a:t>
            </a:r>
            <a:endParaRPr lang="en-US" sz="2800" dirty="0"/>
          </a:p>
        </p:txBody>
      </p:sp>
      <p:sp>
        <p:nvSpPr>
          <p:cNvPr id="14" name="Shape 11"/>
          <p:cNvSpPr/>
          <p:nvPr/>
        </p:nvSpPr>
        <p:spPr>
          <a:xfrm>
            <a:off x="822960" y="1554480"/>
            <a:ext cx="566928" cy="566928"/>
          </a:xfrm>
          <a:prstGeom prst="ellipse">
            <a:avLst/>
          </a:prstGeom>
          <a:solidFill>
            <a:srgbClr val="2A9D8F"/>
          </a:solidFill>
          <a:ln w="12700">
            <a:solidFill>
              <a:srgbClr val="2A9D8F"/>
            </a:solidFill>
            <a:prstDash val="solid"/>
          </a:ln>
        </p:spPr>
      </p:sp>
      <p:sp>
        <p:nvSpPr>
          <p:cNvPr id="15" name="Text 12"/>
          <p:cNvSpPr/>
          <p:nvPr/>
        </p:nvSpPr>
        <p:spPr>
          <a:xfrm>
            <a:off x="822960" y="15544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6" name="Text 13"/>
          <p:cNvSpPr/>
          <p:nvPr/>
        </p:nvSpPr>
        <p:spPr>
          <a:xfrm>
            <a:off x="1600200" y="15087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Read a paragraph aloud: your ear knows your grade level</a:t>
            </a:r>
            <a:endParaRPr lang="en-US" sz="2000" dirty="0"/>
          </a:p>
        </p:txBody>
      </p:sp>
      <p:sp>
        <p:nvSpPr>
          <p:cNvPr id="17" name="Shape 14"/>
          <p:cNvSpPr/>
          <p:nvPr/>
        </p:nvSpPr>
        <p:spPr>
          <a:xfrm>
            <a:off x="822960" y="2468880"/>
            <a:ext cx="566928" cy="566928"/>
          </a:xfrm>
          <a:prstGeom prst="ellipse">
            <a:avLst/>
          </a:prstGeom>
          <a:solidFill>
            <a:srgbClr val="2A9D8F"/>
          </a:solidFill>
          <a:ln w="12700">
            <a:solidFill>
              <a:srgbClr val="2A9D8F"/>
            </a:solidFill>
            <a:prstDash val="solid"/>
          </a:ln>
        </p:spPr>
      </p:sp>
      <p:sp>
        <p:nvSpPr>
          <p:cNvPr id="18" name="Text 15"/>
          <p:cNvSpPr/>
          <p:nvPr/>
        </p:nvSpPr>
        <p:spPr>
          <a:xfrm>
            <a:off x="822960" y="24688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19" name="Text 16"/>
          <p:cNvSpPr/>
          <p:nvPr/>
        </p:nvSpPr>
        <p:spPr>
          <a:xfrm>
            <a:off x="1600200" y="24231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Eyeball sentence length: 25-word sentences aren’t “easier”</a:t>
            </a:r>
            <a:endParaRPr lang="en-US" sz="2000" dirty="0"/>
          </a:p>
        </p:txBody>
      </p:sp>
      <p:sp>
        <p:nvSpPr>
          <p:cNvPr id="20" name="Shape 17"/>
          <p:cNvSpPr/>
          <p:nvPr/>
        </p:nvSpPr>
        <p:spPr>
          <a:xfrm>
            <a:off x="822960" y="3383280"/>
            <a:ext cx="566928" cy="566928"/>
          </a:xfrm>
          <a:prstGeom prst="ellipse">
            <a:avLst/>
          </a:prstGeom>
          <a:solidFill>
            <a:srgbClr val="2A9D8F"/>
          </a:solidFill>
          <a:ln w="12700">
            <a:solidFill>
              <a:srgbClr val="2A9D8F"/>
            </a:solidFill>
            <a:prstDash val="solid"/>
          </a:ln>
        </p:spPr>
      </p:sp>
      <p:sp>
        <p:nvSpPr>
          <p:cNvPr id="21" name="Text 18"/>
          <p:cNvSpPr/>
          <p:nvPr/>
        </p:nvSpPr>
        <p:spPr>
          <a:xfrm>
            <a:off x="822960" y="33832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2" name="Text 19"/>
          <p:cNvSpPr/>
          <p:nvPr/>
        </p:nvSpPr>
        <p:spPr>
          <a:xfrm>
            <a:off x="1600200" y="3337560"/>
            <a:ext cx="9875520" cy="658368"/>
          </a:xfrm>
          <a:prstGeom prst="rect">
            <a:avLst/>
          </a:prstGeom>
          <a:noFill/>
          <a:ln/>
        </p:spPr>
        <p:txBody>
          <a:bodyPr wrap="square" lIns="0" tIns="0" rIns="0" bIns="0" rtlCol="0" anchor="ctr"/>
          <a:lstStyle/>
          <a:p>
            <a:pPr indent="0" marL="0">
              <a:buNone/>
            </a:pPr>
            <a:r>
              <a:rPr lang="en-US" sz="2000" dirty="0">
                <a:solidFill>
                  <a:srgbClr val="1B1F24"/>
                </a:solidFill>
                <a:latin typeface="Inter" pitchFamily="34" charset="0"/>
                <a:ea typeface="Inter" pitchFamily="34" charset="-122"/>
                <a:cs typeface="Inter" pitchFamily="34" charset="-120"/>
              </a:rPr>
              <a:t>Try it on one student tomorrow and watch where they stumble</a:t>
            </a:r>
            <a:endParaRPr lang="en-US" sz="2000" dirty="0"/>
          </a:p>
        </p:txBody>
      </p:sp>
      <p:sp>
        <p:nvSpPr>
          <p:cNvPr id="23" name="Shape 20"/>
          <p:cNvSpPr/>
          <p:nvPr/>
        </p:nvSpPr>
        <p:spPr>
          <a:xfrm>
            <a:off x="640080" y="4480560"/>
            <a:ext cx="10972800" cy="1234440"/>
          </a:xfrm>
          <a:prstGeom prst="roundRect">
            <a:avLst>
              <a:gd name="adj" fmla="val 6667"/>
            </a:avLst>
          </a:prstGeom>
          <a:solidFill>
            <a:srgbClr val="EAF5F3"/>
          </a:solidFill>
          <a:ln w="12700">
            <a:solidFill>
              <a:srgbClr val="EAF5F3"/>
            </a:solidFill>
            <a:prstDash val="solid"/>
          </a:ln>
        </p:spPr>
      </p:sp>
      <p:sp>
        <p:nvSpPr>
          <p:cNvPr id="24" name="Text 21"/>
          <p:cNvSpPr/>
          <p:nvPr/>
        </p:nvSpPr>
        <p:spPr>
          <a:xfrm>
            <a:off x="960120" y="4617720"/>
            <a:ext cx="10332720" cy="960120"/>
          </a:xfrm>
          <a:prstGeom prst="rect">
            <a:avLst/>
          </a:prstGeom>
          <a:noFill/>
          <a:ln/>
        </p:spPr>
        <p:txBody>
          <a:bodyPr wrap="square" lIns="0" tIns="0" rIns="0" bIns="0" rtlCol="0" anchor="ctr"/>
          <a:lstStyle/>
          <a:p>
            <a:pPr indent="0" marL="0">
              <a:buNone/>
            </a:pPr>
            <a:r>
              <a:rPr lang="en-US" sz="1650" b="1" dirty="0">
                <a:solidFill>
                  <a:srgbClr val="13293D"/>
                </a:solidFill>
                <a:latin typeface="Inter" pitchFamily="34" charset="0"/>
                <a:ea typeface="Inter" pitchFamily="34" charset="-122"/>
                <a:cs typeface="Inter" pitchFamily="34" charset="-120"/>
              </a:rPr>
              <a:t>Readability is measurable; teacher judgment is the benchmark. That’s the point of the CLEAR corpus research. Verify in two minutes; keep everything the leveling bought you.</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scaffold set: starters, word bank, worked example on a different topic.</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2 · SAME TARGET, MORE HANDHOLDS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Scaffold it</a:t>
            </a:r>
            <a:endParaRPr lang="en-US" sz="32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Sentence starters: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one per paragraph; gets the stuck writer moving</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Word bank: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words with student-friendly definitions</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Worked example: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on a different topic, so it teaches the shape, not the answer</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Organizer text: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the labels and prompts for your graphic organizer</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14400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For the food webs passage below, create five sentence starters, a 10-word word bank, and one fully worked example paragraph.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My students can explain a food web out loud and then freeze on the page. Keep the science exactly as the passage has it.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starter per paragraph, student-friendly definitions, and the worked example on a different topic, so students see the shape without copying the content.”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14</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stretch rule: depth, not more worksheets. Apply, critique, teach.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3 · EARLY FINISHERS &amp; ADVANCED LEARNERS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Stretch it: depth, not more worksheets</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Apply: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use the concept in an unfamiliar context</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Critique: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find the flaw in a flawed example</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Teach: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explain it to a younger student, in their own words</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A second worksheet is a punishment for being fast. Say “no additional practice problems.”</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14400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Create three extension prompts for students who have already mastered the food webs passage below.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These are the students who finish in ten minutes. Go deeper, not longer, and no additional practice problems.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One prompt that applies the idea to an unfamiliar context, one that asks them to critique a flawed example, and one that asks them to teach it to a younger student in their own words.”  [paste passage]</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reformat: same lesson as stations, cards, and a ramped practice set.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MOVE 4 · THE UDL MOVE · ON HER SCREEN</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Reformat it: same content, new shape</a:t>
            </a:r>
            <a:endParaRPr lang="en-US" sz="2800" dirty="0"/>
          </a:p>
        </p:txBody>
      </p:sp>
      <p:sp>
        <p:nvSpPr>
          <p:cNvPr id="14" name="Shape 11"/>
          <p:cNvSpPr/>
          <p:nvPr/>
        </p:nvSpPr>
        <p:spPr>
          <a:xfrm>
            <a:off x="640080" y="1225296"/>
            <a:ext cx="10972800" cy="1152144"/>
          </a:xfrm>
          <a:prstGeom prst="roundRect">
            <a:avLst>
              <a:gd name="adj" fmla="val 7143"/>
            </a:avLst>
          </a:prstGeom>
          <a:solidFill>
            <a:srgbClr val="F7F5F0"/>
          </a:solidFill>
          <a:ln w="12700">
            <a:solidFill>
              <a:srgbClr val="F7F5F0"/>
            </a:solidFill>
            <a:prstDash val="solid"/>
          </a:ln>
        </p:spPr>
      </p:sp>
      <p:sp>
        <p:nvSpPr>
          <p:cNvPr id="15" name="Text 12"/>
          <p:cNvSpPr/>
          <p:nvPr/>
        </p:nvSpPr>
        <p:spPr>
          <a:xfrm>
            <a:off x="960120" y="1298448"/>
            <a:ext cx="10332720" cy="1005840"/>
          </a:xfrm>
          <a:prstGeom prst="rect">
            <a:avLst/>
          </a:prstGeom>
          <a:noFill/>
          <a:ln/>
        </p:spPr>
        <p:txBody>
          <a:bodyPr wrap="square" lIns="0" tIns="0" rIns="0" bIns="0" rtlCol="0" anchor="ctr"/>
          <a:lstStyle/>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Stations: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four activity-direction sets from one lesson</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Discussion cards: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eight cards, one question each</a:t>
            </a:r>
            <a:endParaRPr lang="en-US" sz="1550" dirty="0"/>
          </a:p>
          <a:p>
            <a:pPr indent="0" marL="0">
              <a:lnSpc>
                <a:spcPct val="108000"/>
              </a:lnSpc>
              <a:buNone/>
            </a:pPr>
            <a:r>
              <a:rPr lang="en-US" sz="1550" b="1" dirty="0">
                <a:solidFill>
                  <a:srgbClr val="13293D"/>
                </a:solidFill>
                <a:latin typeface="Inter" pitchFamily="34" charset="0"/>
                <a:ea typeface="Inter" pitchFamily="34" charset="-122"/>
                <a:cs typeface="Inter" pitchFamily="34" charset="-120"/>
              </a:rPr>
              <a:t>Practice set: </a:t>
            </a:r>
            <a:pPr indent="0" marL="0">
              <a:lnSpc>
                <a:spcPct val="108000"/>
              </a:lnSpc>
              <a:buNone/>
            </a:pPr>
            <a:r>
              <a:rPr lang="en-US" sz="1550" dirty="0">
                <a:solidFill>
                  <a:srgbClr val="1B1F24"/>
                </a:solidFill>
                <a:latin typeface="Inter" pitchFamily="34" charset="0"/>
                <a:ea typeface="Inter" pitchFamily="34" charset="-122"/>
                <a:cs typeface="Inter" pitchFamily="34" charset="-120"/>
              </a:rPr>
              <a:t>10 items ramping from recall to application</a:t>
            </a:r>
            <a:endParaRPr lang="en-US" sz="1550" dirty="0"/>
          </a:p>
          <a:p>
            <a:pPr indent="0" marL="0">
              <a:lnSpc>
                <a:spcPct val="108000"/>
              </a:lnSpc>
              <a:buNone/>
            </a:pPr>
            <a:r>
              <a:rPr lang="en-US" sz="1550" i="1" dirty="0">
                <a:solidFill>
                  <a:srgbClr val="5B6B7A"/>
                </a:solidFill>
                <a:latin typeface="Inter" pitchFamily="34" charset="0"/>
                <a:ea typeface="Inter" pitchFamily="34" charset="-122"/>
                <a:cs typeface="Inter" pitchFamily="34" charset="-120"/>
              </a:rPr>
              <a:t>One draft becomes a menu: multiple means of engagement and expression, on demand.</a:t>
            </a:r>
            <a:endParaRPr lang="en-US" sz="1550" dirty="0"/>
          </a:p>
        </p:txBody>
      </p:sp>
      <p:sp>
        <p:nvSpPr>
          <p:cNvPr id="16" name="Shape 13"/>
          <p:cNvSpPr/>
          <p:nvPr/>
        </p:nvSpPr>
        <p:spPr>
          <a:xfrm>
            <a:off x="640080" y="2468880"/>
            <a:ext cx="10972800" cy="3063240"/>
          </a:xfrm>
          <a:prstGeom prst="roundRect">
            <a:avLst>
              <a:gd name="adj" fmla="val 2985"/>
            </a:avLst>
          </a:prstGeom>
          <a:solidFill>
            <a:srgbClr val="FFFFFF"/>
          </a:solidFill>
          <a:ln w="19050">
            <a:solidFill>
              <a:srgbClr val="DCE3EA"/>
            </a:solidFill>
            <a:prstDash val="solid"/>
          </a:ln>
        </p:spPr>
      </p:sp>
      <p:sp>
        <p:nvSpPr>
          <p:cNvPr id="17" name="Shape 14"/>
          <p:cNvSpPr/>
          <p:nvPr/>
        </p:nvSpPr>
        <p:spPr>
          <a:xfrm>
            <a:off x="640080" y="2468880"/>
            <a:ext cx="10972800" cy="384048"/>
          </a:xfrm>
          <a:prstGeom prst="roundRect">
            <a:avLst>
              <a:gd name="adj" fmla="val 23810"/>
            </a:avLst>
          </a:prstGeom>
          <a:solidFill>
            <a:srgbClr val="13293D"/>
          </a:solidFill>
          <a:ln w="12700">
            <a:solidFill>
              <a:srgbClr val="13293D"/>
            </a:solidFill>
            <a:prstDash val="solid"/>
          </a:ln>
        </p:spPr>
      </p:sp>
      <p:sp>
        <p:nvSpPr>
          <p:cNvPr id="18" name="Shape 15"/>
          <p:cNvSpPr/>
          <p:nvPr/>
        </p:nvSpPr>
        <p:spPr>
          <a:xfrm>
            <a:off x="868680" y="2587752"/>
            <a:ext cx="146304" cy="146304"/>
          </a:xfrm>
          <a:prstGeom prst="ellipse">
            <a:avLst/>
          </a:prstGeom>
          <a:solidFill>
            <a:srgbClr val="E8837A"/>
          </a:solidFill>
          <a:ln w="12700">
            <a:solidFill>
              <a:srgbClr val="E8837A"/>
            </a:solidFill>
            <a:prstDash val="solid"/>
          </a:ln>
        </p:spPr>
      </p:sp>
      <p:sp>
        <p:nvSpPr>
          <p:cNvPr id="19" name="Shape 16"/>
          <p:cNvSpPr/>
          <p:nvPr/>
        </p:nvSpPr>
        <p:spPr>
          <a:xfrm>
            <a:off x="1115568" y="2587752"/>
            <a:ext cx="146304" cy="146304"/>
          </a:xfrm>
          <a:prstGeom prst="ellipse">
            <a:avLst/>
          </a:prstGeom>
          <a:solidFill>
            <a:srgbClr val="F4A825"/>
          </a:solidFill>
          <a:ln w="12700">
            <a:solidFill>
              <a:srgbClr val="F4A825"/>
            </a:solidFill>
            <a:prstDash val="solid"/>
          </a:ln>
        </p:spPr>
      </p:sp>
      <p:sp>
        <p:nvSpPr>
          <p:cNvPr id="20" name="Shape 17"/>
          <p:cNvSpPr/>
          <p:nvPr/>
        </p:nvSpPr>
        <p:spPr>
          <a:xfrm>
            <a:off x="1362456" y="2587752"/>
            <a:ext cx="146304" cy="146304"/>
          </a:xfrm>
          <a:prstGeom prst="ellipse">
            <a:avLst/>
          </a:prstGeom>
          <a:solidFill>
            <a:srgbClr val="2E7D5B"/>
          </a:solidFill>
          <a:ln w="12700">
            <a:solidFill>
              <a:srgbClr val="2E7D5B"/>
            </a:solidFill>
            <a:prstDash val="solid"/>
          </a:ln>
        </p:spPr>
      </p:sp>
      <p:sp>
        <p:nvSpPr>
          <p:cNvPr id="21" name="Text 18"/>
          <p:cNvSpPr/>
          <p:nvPr/>
        </p:nvSpPr>
        <p:spPr>
          <a:xfrm>
            <a:off x="1783080" y="24688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a:t>
            </a:r>
            <a:endParaRPr lang="en-US" sz="1100" dirty="0"/>
          </a:p>
        </p:txBody>
      </p:sp>
      <p:sp>
        <p:nvSpPr>
          <p:cNvPr id="22" name="Shape 19"/>
          <p:cNvSpPr/>
          <p:nvPr/>
        </p:nvSpPr>
        <p:spPr>
          <a:xfrm>
            <a:off x="1554480" y="3063240"/>
            <a:ext cx="9144000" cy="2240280"/>
          </a:xfrm>
          <a:prstGeom prst="roundRect">
            <a:avLst>
              <a:gd name="adj" fmla="val 4898"/>
            </a:avLst>
          </a:prstGeom>
          <a:solidFill>
            <a:srgbClr val="F7F5F0"/>
          </a:solidFill>
          <a:ln w="12700">
            <a:solidFill>
              <a:srgbClr val="F7F5F0"/>
            </a:solidFill>
            <a:prstDash val="solid"/>
          </a:ln>
        </p:spPr>
      </p:sp>
      <p:sp>
        <p:nvSpPr>
          <p:cNvPr id="23" name="Text 20"/>
          <p:cNvSpPr/>
          <p:nvPr/>
        </p:nvSpPr>
        <p:spPr>
          <a:xfrm>
            <a:off x="1783080" y="3172968"/>
            <a:ext cx="9189720" cy="2011680"/>
          </a:xfrm>
          <a:prstGeom prst="rect">
            <a:avLst/>
          </a:prstGeom>
          <a:noFill/>
          <a:ln/>
        </p:spPr>
        <p:txBody>
          <a:bodyPr wrap="square" lIns="0" tIns="0" rIns="0" bIns="0" rtlCol="0" anchor="t"/>
          <a:lstStyle/>
          <a:p>
            <a:pPr indent="0" marL="0">
              <a:lnSpc>
                <a:spcPct val="110000"/>
              </a:lnSpc>
              <a:buNone/>
            </a:pPr>
            <a:r>
              <a:rPr lang="en-US" sz="1550" b="1" dirty="0">
                <a:solidFill>
                  <a:srgbClr val="2A9D8F"/>
                </a:solidFill>
                <a:latin typeface="Inter" pitchFamily="34" charset="0"/>
                <a:ea typeface="Inter" pitchFamily="34" charset="-122"/>
                <a:cs typeface="Inter" pitchFamily="34" charset="-120"/>
              </a:rPr>
              <a:t>“You are a 6th grade science teacher. </a:t>
            </a:r>
            <a:pPr indent="0" marL="0">
              <a:lnSpc>
                <a:spcPct val="110000"/>
              </a:lnSpc>
              <a:buNone/>
            </a:pPr>
            <a:r>
              <a:rPr lang="en-US" sz="1550" b="1" dirty="0">
                <a:solidFill>
                  <a:srgbClr val="13293D"/>
                </a:solidFill>
                <a:latin typeface="Inter" pitchFamily="34" charset="0"/>
                <a:ea typeface="Inter" pitchFamily="34" charset="-122"/>
                <a:cs typeface="Inter" pitchFamily="34" charset="-120"/>
              </a:rPr>
              <a:t>Turn the food webs content below into three formats. </a:t>
            </a:r>
            <a:pPr indent="0" marL="0">
              <a:lnSpc>
                <a:spcPct val="110000"/>
              </a:lnSpc>
              <a:buNone/>
            </a:pPr>
            <a:r>
              <a:rPr lang="en-US" sz="1550" b="1" dirty="0">
                <a:solidFill>
                  <a:srgbClr val="B07914"/>
                </a:solidFill>
                <a:latin typeface="Inter" pitchFamily="34" charset="0"/>
                <a:ea typeface="Inter" pitchFamily="34" charset="-122"/>
                <a:cs typeface="Inter" pitchFamily="34" charset="-120"/>
              </a:rPr>
              <a:t>Same concepts and same vocabulary in all three, and label everything, so I can hand them out without re-reading them. </a:t>
            </a:r>
            <a:pPr indent="0" marL="0">
              <a:lnSpc>
                <a:spcPct val="110000"/>
              </a:lnSpc>
              <a:buNone/>
            </a:pPr>
            <a:r>
              <a:rPr lang="en-US" sz="1550" b="1" dirty="0">
                <a:solidFill>
                  <a:srgbClr val="2E7D5B"/>
                </a:solidFill>
                <a:latin typeface="Inter" pitchFamily="34" charset="0"/>
                <a:ea typeface="Inter" pitchFamily="34" charset="-122"/>
                <a:cs typeface="Inter" pitchFamily="34" charset="-120"/>
              </a:rPr>
              <a:t>A set of four station-activity directions. A deck of eight discussion cards, one question per card. A 10-item practice set that ramps from recall to application.”  [paste content]</a:t>
            </a:r>
            <a:endParaRPr lang="en-US" sz="1550" dirty="0"/>
          </a:p>
        </p:txBody>
      </p:sp>
      <p:sp>
        <p:nvSpPr>
          <p:cNvPr id="24" name="Shape 21"/>
          <p:cNvSpPr/>
          <p:nvPr/>
        </p:nvSpPr>
        <p:spPr>
          <a:xfrm>
            <a:off x="640080" y="5650992"/>
            <a:ext cx="2606040" cy="457200"/>
          </a:xfrm>
          <a:prstGeom prst="roundRect">
            <a:avLst>
              <a:gd name="adj" fmla="val 50000"/>
            </a:avLst>
          </a:prstGeom>
          <a:solidFill>
            <a:srgbClr val="2A9D8F"/>
          </a:solidFill>
          <a:ln w="12700">
            <a:solidFill>
              <a:srgbClr val="2A9D8F"/>
            </a:solidFill>
            <a:prstDash val="solid"/>
          </a:ln>
        </p:spPr>
      </p:sp>
      <p:sp>
        <p:nvSpPr>
          <p:cNvPr id="25" name="Text 22"/>
          <p:cNvSpPr/>
          <p:nvPr/>
        </p:nvSpPr>
        <p:spPr>
          <a:xfrm>
            <a:off x="640080"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26" name="Shape 23"/>
          <p:cNvSpPr/>
          <p:nvPr/>
        </p:nvSpPr>
        <p:spPr>
          <a:xfrm>
            <a:off x="3456432" y="5650992"/>
            <a:ext cx="2606040" cy="457200"/>
          </a:xfrm>
          <a:prstGeom prst="roundRect">
            <a:avLst>
              <a:gd name="adj" fmla="val 50000"/>
            </a:avLst>
          </a:prstGeom>
          <a:solidFill>
            <a:srgbClr val="13293D"/>
          </a:solidFill>
          <a:ln w="12700">
            <a:solidFill>
              <a:srgbClr val="13293D"/>
            </a:solidFill>
            <a:prstDash val="solid"/>
          </a:ln>
        </p:spPr>
      </p:sp>
      <p:sp>
        <p:nvSpPr>
          <p:cNvPr id="27" name="Text 24"/>
          <p:cNvSpPr/>
          <p:nvPr/>
        </p:nvSpPr>
        <p:spPr>
          <a:xfrm>
            <a:off x="3456432"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8" name="Shape 25"/>
          <p:cNvSpPr/>
          <p:nvPr/>
        </p:nvSpPr>
        <p:spPr>
          <a:xfrm>
            <a:off x="6272784" y="5650992"/>
            <a:ext cx="2606040" cy="457200"/>
          </a:xfrm>
          <a:prstGeom prst="roundRect">
            <a:avLst>
              <a:gd name="adj" fmla="val 50000"/>
            </a:avLst>
          </a:prstGeom>
          <a:solidFill>
            <a:srgbClr val="B07914"/>
          </a:solidFill>
          <a:ln w="12700">
            <a:solidFill>
              <a:srgbClr val="B07914"/>
            </a:solidFill>
            <a:prstDash val="solid"/>
          </a:ln>
        </p:spPr>
      </p:sp>
      <p:sp>
        <p:nvSpPr>
          <p:cNvPr id="29" name="Text 26"/>
          <p:cNvSpPr/>
          <p:nvPr/>
        </p:nvSpPr>
        <p:spPr>
          <a:xfrm>
            <a:off x="6272784"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30" name="Shape 27"/>
          <p:cNvSpPr/>
          <p:nvPr/>
        </p:nvSpPr>
        <p:spPr>
          <a:xfrm>
            <a:off x="9089136" y="5650992"/>
            <a:ext cx="2606040" cy="457200"/>
          </a:xfrm>
          <a:prstGeom prst="roundRect">
            <a:avLst>
              <a:gd name="adj" fmla="val 50000"/>
            </a:avLst>
          </a:prstGeom>
          <a:solidFill>
            <a:srgbClr val="2E7D5B"/>
          </a:solidFill>
          <a:ln w="12700">
            <a:solidFill>
              <a:srgbClr val="2E7D5B"/>
            </a:solidFill>
            <a:prstDash val="solid"/>
          </a:ln>
        </p:spPr>
      </p:sp>
      <p:sp>
        <p:nvSpPr>
          <p:cNvPr id="31" name="Text 28"/>
          <p:cNvSpPr/>
          <p:nvPr/>
        </p:nvSpPr>
        <p:spPr>
          <a:xfrm>
            <a:off x="9089136" y="5650992"/>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4-point review: accurate, at level, fits her kids, sounds like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ANYTHING REACHES A STUDENT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4-point review</a:t>
            </a:r>
            <a:endParaRPr lang="en-US" sz="3200" dirty="0"/>
          </a:p>
        </p:txBody>
      </p:sp>
      <p:sp>
        <p:nvSpPr>
          <p:cNvPr id="14" name="Shape 11"/>
          <p:cNvSpPr/>
          <p:nvPr/>
        </p:nvSpPr>
        <p:spPr>
          <a:xfrm>
            <a:off x="640080" y="1417320"/>
            <a:ext cx="5349240" cy="1920240"/>
          </a:xfrm>
          <a:prstGeom prst="roundRect">
            <a:avLst>
              <a:gd name="adj" fmla="val 4286"/>
            </a:avLst>
          </a:prstGeom>
          <a:solidFill>
            <a:srgbClr val="F7F5F0"/>
          </a:solidFill>
          <a:ln w="12700">
            <a:solidFill>
              <a:srgbClr val="F7F5F0"/>
            </a:solidFill>
            <a:prstDash val="solid"/>
          </a:ln>
        </p:spPr>
      </p:sp>
      <p:sp>
        <p:nvSpPr>
          <p:cNvPr id="15" name="Text 12"/>
          <p:cNvSpPr/>
          <p:nvPr/>
        </p:nvSpPr>
        <p:spPr>
          <a:xfrm>
            <a:off x="91440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1 · Accurate?</a:t>
            </a:r>
            <a:endParaRPr lang="en-US" sz="2100" dirty="0"/>
          </a:p>
        </p:txBody>
      </p:sp>
      <p:sp>
        <p:nvSpPr>
          <p:cNvPr id="16" name="Text 13"/>
          <p:cNvSpPr/>
          <p:nvPr/>
        </p:nvSpPr>
        <p:spPr>
          <a:xfrm>
            <a:off x="91440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Facts, examples, named resources checked. Remember the fabricated resource.</a:t>
            </a:r>
            <a:endParaRPr lang="en-US" sz="1500" dirty="0"/>
          </a:p>
        </p:txBody>
      </p:sp>
      <p:sp>
        <p:nvSpPr>
          <p:cNvPr id="17" name="Shape 14"/>
          <p:cNvSpPr/>
          <p:nvPr/>
        </p:nvSpPr>
        <p:spPr>
          <a:xfrm>
            <a:off x="6263640" y="1417320"/>
            <a:ext cx="5349240" cy="1920240"/>
          </a:xfrm>
          <a:prstGeom prst="roundRect">
            <a:avLst>
              <a:gd name="adj" fmla="val 4286"/>
            </a:avLst>
          </a:prstGeom>
          <a:solidFill>
            <a:srgbClr val="F7F5F0"/>
          </a:solidFill>
          <a:ln w="12700">
            <a:solidFill>
              <a:srgbClr val="F7F5F0"/>
            </a:solidFill>
            <a:prstDash val="solid"/>
          </a:ln>
        </p:spPr>
      </p:sp>
      <p:sp>
        <p:nvSpPr>
          <p:cNvPr id="18" name="Text 15"/>
          <p:cNvSpPr/>
          <p:nvPr/>
        </p:nvSpPr>
        <p:spPr>
          <a:xfrm>
            <a:off x="6537960" y="160020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2 · At level, actually?</a:t>
            </a:r>
            <a:endParaRPr lang="en-US" sz="2100" dirty="0"/>
          </a:p>
        </p:txBody>
      </p:sp>
      <p:sp>
        <p:nvSpPr>
          <p:cNvPr id="19" name="Text 16"/>
          <p:cNvSpPr/>
          <p:nvPr/>
        </p:nvSpPr>
        <p:spPr>
          <a:xfrm>
            <a:off x="6537960" y="213055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Run the quick checks. The label is a guess until you test it.</a:t>
            </a:r>
            <a:endParaRPr lang="en-US" sz="1500" dirty="0"/>
          </a:p>
        </p:txBody>
      </p:sp>
      <p:sp>
        <p:nvSpPr>
          <p:cNvPr id="20" name="Shape 17"/>
          <p:cNvSpPr/>
          <p:nvPr/>
        </p:nvSpPr>
        <p:spPr>
          <a:xfrm>
            <a:off x="640080" y="3520440"/>
            <a:ext cx="5349240" cy="1920240"/>
          </a:xfrm>
          <a:prstGeom prst="roundRect">
            <a:avLst>
              <a:gd name="adj" fmla="val 4286"/>
            </a:avLst>
          </a:prstGeom>
          <a:solidFill>
            <a:srgbClr val="F7F5F0"/>
          </a:solidFill>
          <a:ln w="12700">
            <a:solidFill>
              <a:srgbClr val="F7F5F0"/>
            </a:solidFill>
            <a:prstDash val="solid"/>
          </a:ln>
        </p:spPr>
      </p:sp>
      <p:sp>
        <p:nvSpPr>
          <p:cNvPr id="21" name="Text 18"/>
          <p:cNvSpPr/>
          <p:nvPr/>
        </p:nvSpPr>
        <p:spPr>
          <a:xfrm>
            <a:off x="91440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3 · Fits your students?</a:t>
            </a:r>
            <a:endParaRPr lang="en-US" sz="2100" dirty="0"/>
          </a:p>
        </p:txBody>
      </p:sp>
      <p:sp>
        <p:nvSpPr>
          <p:cNvPr id="22" name="Text 19"/>
          <p:cNvSpPr/>
          <p:nvPr/>
        </p:nvSpPr>
        <p:spPr>
          <a:xfrm>
            <a:off x="91440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AI wrote for a generic class. Swap examples that won’t land in yours.</a:t>
            </a:r>
            <a:endParaRPr lang="en-US" sz="1500" dirty="0"/>
          </a:p>
        </p:txBody>
      </p:sp>
      <p:sp>
        <p:nvSpPr>
          <p:cNvPr id="23" name="Shape 20"/>
          <p:cNvSpPr/>
          <p:nvPr/>
        </p:nvSpPr>
        <p:spPr>
          <a:xfrm>
            <a:off x="6263640" y="3520440"/>
            <a:ext cx="5349240" cy="1920240"/>
          </a:xfrm>
          <a:prstGeom prst="roundRect">
            <a:avLst>
              <a:gd name="adj" fmla="val 4286"/>
            </a:avLst>
          </a:prstGeom>
          <a:solidFill>
            <a:srgbClr val="F7F5F0"/>
          </a:solidFill>
          <a:ln w="12700">
            <a:solidFill>
              <a:srgbClr val="F7F5F0"/>
            </a:solidFill>
            <a:prstDash val="solid"/>
          </a:ln>
        </p:spPr>
      </p:sp>
      <p:sp>
        <p:nvSpPr>
          <p:cNvPr id="24" name="Text 21"/>
          <p:cNvSpPr/>
          <p:nvPr/>
        </p:nvSpPr>
        <p:spPr>
          <a:xfrm>
            <a:off x="6537960" y="3703320"/>
            <a:ext cx="4800600" cy="457200"/>
          </a:xfrm>
          <a:prstGeom prst="rect">
            <a:avLst/>
          </a:prstGeom>
          <a:noFill/>
          <a:ln/>
        </p:spPr>
        <p:txBody>
          <a:bodyPr wrap="square" lIns="0" tIns="0" rIns="0" bIns="0" rtlCol="0" anchor="ctr"/>
          <a:lstStyle/>
          <a:p>
            <a:pPr indent="0" marL="0">
              <a:buNone/>
            </a:pPr>
            <a:r>
              <a:rPr lang="en-US" sz="2100" b="1" dirty="0">
                <a:solidFill>
                  <a:srgbClr val="2A9D8F"/>
                </a:solidFill>
                <a:latin typeface="Inter" pitchFamily="34" charset="0"/>
                <a:ea typeface="Inter" pitchFamily="34" charset="-122"/>
                <a:cs typeface="Inter" pitchFamily="34" charset="-120"/>
              </a:rPr>
              <a:t>4 · Sounds like you?</a:t>
            </a:r>
            <a:endParaRPr lang="en-US" sz="2100" dirty="0"/>
          </a:p>
        </p:txBody>
      </p:sp>
      <p:sp>
        <p:nvSpPr>
          <p:cNvPr id="25" name="Text 22"/>
          <p:cNvSpPr/>
          <p:nvPr/>
        </p:nvSpPr>
        <p:spPr>
          <a:xfrm>
            <a:off x="6537960" y="4233672"/>
            <a:ext cx="4800600" cy="1097280"/>
          </a:xfrm>
          <a:prstGeom prst="rect">
            <a:avLst/>
          </a:prstGeom>
          <a:noFill/>
          <a:ln/>
        </p:spPr>
        <p:txBody>
          <a:bodyPr wrap="square" lIns="0" tIns="0" rIns="0" bIns="0" rtlCol="0" anchor="ctr"/>
          <a:lstStyle/>
          <a:p>
            <a:pPr indent="0" marL="0">
              <a:buNone/>
            </a:pPr>
            <a:r>
              <a:rPr lang="en-US" sz="1500" dirty="0">
                <a:solidFill>
                  <a:srgbClr val="1B1F24"/>
                </a:solidFill>
                <a:latin typeface="Inter" pitchFamily="34" charset="0"/>
                <a:ea typeface="Inter" pitchFamily="34" charset="-122"/>
                <a:cs typeface="Inter" pitchFamily="34" charset="-120"/>
              </a:rPr>
              <a:t>If the directions don’t sound like your directions, students notice first.</a:t>
            </a:r>
            <a:endParaRPr lang="en-US" sz="1500" dirty="0"/>
          </a:p>
        </p:txBody>
      </p:sp>
      <p:sp>
        <p:nvSpPr>
          <p:cNvPr id="26" name="Text 23"/>
          <p:cNvSpPr/>
          <p:nvPr/>
        </p:nvSpPr>
        <p:spPr>
          <a:xfrm>
            <a:off x="640080" y="56235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Fail a point, fix it. That’s the review.</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honesty: the level label is a guess until she checks it.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SO NOBODY OVERSELLS IT IN THE HALLWAY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AI can’t do here</a:t>
            </a:r>
            <a:endParaRPr lang="en-US" sz="3200" dirty="0"/>
          </a:p>
        </p:txBody>
      </p:sp>
      <p:sp>
        <p:nvSpPr>
          <p:cNvPr id="14" name="Shape 11"/>
          <p:cNvSpPr/>
          <p:nvPr/>
        </p:nvSpPr>
        <p:spPr>
          <a:xfrm>
            <a:off x="640080" y="1554480"/>
            <a:ext cx="352044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896112"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Doesn’t know your kids</a:t>
            </a:r>
            <a:endParaRPr lang="en-US" sz="1900" dirty="0"/>
          </a:p>
        </p:txBody>
      </p:sp>
      <p:sp>
        <p:nvSpPr>
          <p:cNvPr id="16" name="Text 13"/>
          <p:cNvSpPr/>
          <p:nvPr/>
        </p:nvSpPr>
        <p:spPr>
          <a:xfrm>
            <a:off x="896112"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It never met the reader who shuts down, or the one who’s two grades ahead.</a:t>
            </a:r>
            <a:endParaRPr lang="en-US" sz="1600" dirty="0"/>
          </a:p>
        </p:txBody>
      </p:sp>
      <p:sp>
        <p:nvSpPr>
          <p:cNvPr id="17" name="Shape 14"/>
          <p:cNvSpPr/>
          <p:nvPr/>
        </p:nvSpPr>
        <p:spPr>
          <a:xfrm>
            <a:off x="4407408" y="1554480"/>
            <a:ext cx="3520440" cy="2926080"/>
          </a:xfrm>
          <a:prstGeom prst="roundRect">
            <a:avLst>
              <a:gd name="adj" fmla="val 2813"/>
            </a:avLst>
          </a:prstGeom>
          <a:solidFill>
            <a:srgbClr val="F7F5F0"/>
          </a:solidFill>
          <a:ln w="12700">
            <a:solidFill>
              <a:srgbClr val="F7F5F0"/>
            </a:solidFill>
            <a:prstDash val="solid"/>
          </a:ln>
        </p:spPr>
      </p:sp>
      <p:sp>
        <p:nvSpPr>
          <p:cNvPr id="18" name="Text 15"/>
          <p:cNvSpPr/>
          <p:nvPr/>
        </p:nvSpPr>
        <p:spPr>
          <a:xfrm>
            <a:off x="4663440"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Leveled ≠ verified</a:t>
            </a:r>
            <a:endParaRPr lang="en-US" sz="1900" dirty="0"/>
          </a:p>
        </p:txBody>
      </p:sp>
      <p:sp>
        <p:nvSpPr>
          <p:cNvPr id="19" name="Text 16"/>
          <p:cNvSpPr/>
          <p:nvPr/>
        </p:nvSpPr>
        <p:spPr>
          <a:xfrm>
            <a:off x="4663440"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The label is a guess until you check it.</a:t>
            </a:r>
            <a:endParaRPr lang="en-US" sz="1600" dirty="0"/>
          </a:p>
        </p:txBody>
      </p:sp>
      <p:sp>
        <p:nvSpPr>
          <p:cNvPr id="20" name="Shape 17"/>
          <p:cNvSpPr/>
          <p:nvPr/>
        </p:nvSpPr>
        <p:spPr>
          <a:xfrm>
            <a:off x="8174736" y="1554480"/>
            <a:ext cx="3520440" cy="2926080"/>
          </a:xfrm>
          <a:prstGeom prst="roundRect">
            <a:avLst>
              <a:gd name="adj" fmla="val 2813"/>
            </a:avLst>
          </a:prstGeom>
          <a:solidFill>
            <a:srgbClr val="F7F5F0"/>
          </a:solidFill>
          <a:ln w="12700">
            <a:solidFill>
              <a:srgbClr val="F7F5F0"/>
            </a:solidFill>
            <a:prstDash val="solid"/>
          </a:ln>
        </p:spPr>
      </p:sp>
      <p:sp>
        <p:nvSpPr>
          <p:cNvPr id="21" name="Text 18"/>
          <p:cNvSpPr/>
          <p:nvPr/>
        </p:nvSpPr>
        <p:spPr>
          <a:xfrm>
            <a:off x="8430768" y="1828800"/>
            <a:ext cx="3017520" cy="822960"/>
          </a:xfrm>
          <a:prstGeom prst="rect">
            <a:avLst/>
          </a:prstGeom>
          <a:noFill/>
          <a:ln/>
        </p:spPr>
        <p:txBody>
          <a:bodyPr wrap="square" lIns="0" tIns="0" rIns="0" bIns="0" rtlCol="0" anchor="ctr"/>
          <a:lstStyle/>
          <a:p>
            <a:pPr indent="0" marL="0">
              <a:buNone/>
            </a:pPr>
            <a:r>
              <a:rPr lang="en-US" sz="1900" b="1" dirty="0">
                <a:solidFill>
                  <a:srgbClr val="B4453A"/>
                </a:solidFill>
                <a:latin typeface="Inter" pitchFamily="34" charset="0"/>
                <a:ea typeface="Inter" pitchFamily="34" charset="-122"/>
                <a:cs typeface="Inter" pitchFamily="34" charset="-120"/>
              </a:rPr>
              <a:t>Can invent things</a:t>
            </a:r>
            <a:endParaRPr lang="en-US" sz="1900" dirty="0"/>
          </a:p>
        </p:txBody>
      </p:sp>
      <p:sp>
        <p:nvSpPr>
          <p:cNvPr id="22" name="Text 19"/>
          <p:cNvSpPr/>
          <p:nvPr/>
        </p:nvSpPr>
        <p:spPr>
          <a:xfrm>
            <a:off x="8430768" y="2743200"/>
            <a:ext cx="3017520" cy="1463040"/>
          </a:xfrm>
          <a:prstGeom prst="rect">
            <a:avLst/>
          </a:prstGeom>
          <a:noFill/>
          <a:ln/>
        </p:spPr>
        <p:txBody>
          <a:bodyPr wrap="square" lIns="0" tIns="0" rIns="0" bIns="0" rtlCol="0" anchor="t"/>
          <a:lstStyle/>
          <a:p>
            <a:pPr indent="0" marL="0">
              <a:buNone/>
            </a:pPr>
            <a:r>
              <a:rPr lang="en-US" sz="1600" dirty="0">
                <a:solidFill>
                  <a:srgbClr val="1B1F24"/>
                </a:solidFill>
                <a:latin typeface="Inter" pitchFamily="34" charset="0"/>
                <a:ea typeface="Inter" pitchFamily="34" charset="-122"/>
                <a:cs typeface="Inter" pitchFamily="34" charset="-120"/>
              </a:rPr>
              <a:t>Activities that don’t quite work; resources that don’t exist.</a:t>
            </a:r>
            <a:endParaRPr lang="en-US" sz="1600" dirty="0"/>
          </a:p>
        </p:txBody>
      </p:sp>
      <p:sp>
        <p:nvSpPr>
          <p:cNvPr id="23" name="Text 20"/>
          <p:cNvSpPr/>
          <p:nvPr/>
        </p:nvSpPr>
        <p:spPr>
          <a:xfrm>
            <a:off x="640080" y="4937760"/>
            <a:ext cx="10972800" cy="45720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None of that is a reason to skip the tool. All of it is the reason the teacher stays in the loop.</a:t>
            </a:r>
            <a:endParaRPr lang="en-US" sz="1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18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equity move: build the stretch on purpose, not just the support.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BIGGER THAN THIS ROOM</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Narrow gaps. Don’t widen them.</a:t>
            </a:r>
            <a:endParaRPr lang="en-US" sz="3200" dirty="0"/>
          </a:p>
        </p:txBody>
      </p:sp>
      <p:sp>
        <p:nvSpPr>
          <p:cNvPr id="14" name="Shape 11"/>
          <p:cNvSpPr/>
          <p:nvPr/>
        </p:nvSpPr>
        <p:spPr>
          <a:xfrm>
            <a:off x="640080" y="1645920"/>
            <a:ext cx="10972800" cy="2926080"/>
          </a:xfrm>
          <a:prstGeom prst="roundRect">
            <a:avLst>
              <a:gd name="adj" fmla="val 2813"/>
            </a:avLst>
          </a:prstGeom>
          <a:solidFill>
            <a:srgbClr val="F7F5F0"/>
          </a:solidFill>
          <a:ln w="12700">
            <a:solidFill>
              <a:srgbClr val="F7F5F0"/>
            </a:solidFill>
            <a:prstDash val="solid"/>
          </a:ln>
        </p:spPr>
      </p:sp>
      <p:sp>
        <p:nvSpPr>
          <p:cNvPr id="15" name="Text 12"/>
          <p:cNvSpPr/>
          <p:nvPr/>
        </p:nvSpPr>
        <p:spPr>
          <a:xfrm>
            <a:off x="640080" y="2011680"/>
            <a:ext cx="10972800" cy="1280160"/>
          </a:xfrm>
          <a:prstGeom prst="rect">
            <a:avLst/>
          </a:prstGeom>
          <a:noFill/>
          <a:ln/>
        </p:spPr>
        <p:txBody>
          <a:bodyPr wrap="square" lIns="0" tIns="0" rIns="0" bIns="0" rtlCol="0" anchor="ctr"/>
          <a:lstStyle/>
          <a:p>
            <a:pPr algn="ctr" indent="0" marL="0">
              <a:buNone/>
            </a:pPr>
            <a:r>
              <a:rPr lang="en-US" sz="7200" b="1" dirty="0">
                <a:solidFill>
                  <a:srgbClr val="2A9D8F"/>
                </a:solidFill>
                <a:latin typeface="Inter" pitchFamily="34" charset="0"/>
                <a:ea typeface="Inter" pitchFamily="34" charset="-122"/>
                <a:cs typeface="Inter" pitchFamily="34" charset="-120"/>
              </a:rPr>
              <a:t>25%</a:t>
            </a:r>
            <a:endParaRPr lang="en-US" sz="7200" dirty="0"/>
          </a:p>
        </p:txBody>
      </p:sp>
      <p:sp>
        <p:nvSpPr>
          <p:cNvPr id="16" name="Text 13"/>
          <p:cNvSpPr/>
          <p:nvPr/>
        </p:nvSpPr>
        <p:spPr>
          <a:xfrm>
            <a:off x="1280160" y="3383280"/>
            <a:ext cx="9601200" cy="1005840"/>
          </a:xfrm>
          <a:prstGeom prst="rect">
            <a:avLst/>
          </a:prstGeom>
          <a:noFill/>
          <a:ln/>
        </p:spPr>
        <p:txBody>
          <a:bodyPr wrap="square" lIns="0" tIns="0" rIns="0" bIns="0" rtlCol="0" anchor="ctr"/>
          <a:lstStyle/>
          <a:p>
            <a:pPr algn="ctr" indent="0" marL="0">
              <a:buNone/>
            </a:pPr>
            <a:r>
              <a:rPr lang="en-US" sz="1600" dirty="0">
                <a:solidFill>
                  <a:srgbClr val="1B1F24"/>
                </a:solidFill>
                <a:latin typeface="Inter" pitchFamily="34" charset="0"/>
                <a:ea typeface="Inter" pitchFamily="34" charset="-122"/>
                <a:cs typeface="Inter" pitchFamily="34" charset="-120"/>
              </a:rPr>
              <a:t>of teachers used AI for planning or teaching in 2023–24, and adoption lagged in higher-poverty schools. (RAND, 2025)</a:t>
            </a:r>
            <a:endParaRPr lang="en-US" sz="1600" dirty="0"/>
          </a:p>
        </p:txBody>
      </p:sp>
      <p:sp>
        <p:nvSpPr>
          <p:cNvPr id="17" name="Text 14"/>
          <p:cNvSpPr/>
          <p:nvPr/>
        </p:nvSpPr>
        <p:spPr>
          <a:xfrm>
            <a:off x="640080" y="502920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The fix in this building: everyone learns the moves, everyone shares the prompts, every roster benefits.</a:t>
            </a:r>
            <a:endParaRPr lang="en-US" sz="1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19</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lab pick, one artifact all the way through: her 6th grade food webs passage.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HANDS-ON · ~20 MINUTES</a:t>
            </a:r>
            <a:endParaRPr lang="en-US" sz="1200" dirty="0"/>
          </a:p>
        </p:txBody>
      </p:sp>
      <p:sp>
        <p:nvSpPr>
          <p:cNvPr id="13" name="Text 10"/>
          <p:cNvSpPr/>
          <p:nvPr/>
        </p:nvSpPr>
        <p:spPr>
          <a:xfrm>
            <a:off x="640080" y="1371600"/>
            <a:ext cx="10972800" cy="914400"/>
          </a:xfrm>
          <a:prstGeom prst="rect">
            <a:avLst/>
          </a:prstGeom>
          <a:noFill/>
          <a:ln/>
        </p:spPr>
        <p:txBody>
          <a:bodyPr wrap="square" lIns="0" tIns="0" rIns="0" bIns="0" rtlCol="0" anchor="ctr"/>
          <a:lstStyle/>
          <a:p>
            <a:pPr indent="0" marL="0">
              <a:buNone/>
            </a:pPr>
            <a:r>
              <a:rPr lang="en-US" sz="4000" b="1" dirty="0">
                <a:solidFill>
                  <a:srgbClr val="FFFFFF"/>
                </a:solidFill>
                <a:latin typeface="Inter" pitchFamily="34" charset="0"/>
                <a:ea typeface="Inter" pitchFamily="34" charset="-122"/>
                <a:cs typeface="Inter" pitchFamily="34" charset="-120"/>
              </a:rPr>
              <a:t>Lab: differentiate your real lesson.</a:t>
            </a:r>
            <a:endParaRPr lang="en-US" sz="4000" dirty="0"/>
          </a:p>
        </p:txBody>
      </p:sp>
      <p:sp>
        <p:nvSpPr>
          <p:cNvPr id="14" name="Text 11"/>
          <p:cNvSpPr/>
          <p:nvPr/>
        </p:nvSpPr>
        <p:spPr>
          <a:xfrm>
            <a:off x="640080" y="2377440"/>
            <a:ext cx="10972800" cy="822960"/>
          </a:xfrm>
          <a:prstGeom prst="rect">
            <a:avLst/>
          </a:prstGeom>
          <a:noFill/>
          <a:ln/>
        </p:spPr>
        <p:txBody>
          <a:bodyPr wrap="square" lIns="0" tIns="0" rIns="0" bIns="0" rtlCol="0" anchor="ctr"/>
          <a:lstStyle/>
          <a:p>
            <a:pPr indent="0" marL="0">
              <a:buNone/>
            </a:pPr>
            <a:r>
              <a:rPr lang="en-US" sz="2000" dirty="0">
                <a:solidFill>
                  <a:srgbClr val="C9D4DE"/>
                </a:solidFill>
                <a:latin typeface="Inter" pitchFamily="34" charset="0"/>
                <a:ea typeface="Inter" pitchFamily="34" charset="-122"/>
                <a:cs typeface="Inter" pitchFamily="34" charset="-120"/>
              </a:rPr>
              <a:t>The lesson you brought. By the end: a core artifact, a support version, and an extension, reviewed and teachable this week.</a:t>
            </a:r>
            <a:endParaRPr lang="en-US" sz="2000" dirty="0"/>
          </a:p>
        </p:txBody>
      </p:sp>
      <p:sp>
        <p:nvSpPr>
          <p:cNvPr id="15" name="Shape 12"/>
          <p:cNvSpPr/>
          <p:nvPr/>
        </p:nvSpPr>
        <p:spPr>
          <a:xfrm>
            <a:off x="822960" y="3474720"/>
            <a:ext cx="566928" cy="566928"/>
          </a:xfrm>
          <a:prstGeom prst="ellipse">
            <a:avLst/>
          </a:prstGeom>
          <a:solidFill>
            <a:srgbClr val="2A9D8F"/>
          </a:solidFill>
          <a:ln w="12700">
            <a:solidFill>
              <a:srgbClr val="2A9D8F"/>
            </a:solidFill>
            <a:prstDash val="solid"/>
          </a:ln>
        </p:spPr>
      </p:sp>
      <p:sp>
        <p:nvSpPr>
          <p:cNvPr id="16" name="Text 13"/>
          <p:cNvSpPr/>
          <p:nvPr/>
        </p:nvSpPr>
        <p:spPr>
          <a:xfrm>
            <a:off x="822960" y="34747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1</a:t>
            </a:r>
            <a:endParaRPr lang="en-US" sz="2000" dirty="0"/>
          </a:p>
        </p:txBody>
      </p:sp>
      <p:sp>
        <p:nvSpPr>
          <p:cNvPr id="17" name="Text 14"/>
          <p:cNvSpPr/>
          <p:nvPr/>
        </p:nvSpPr>
        <p:spPr>
          <a:xfrm>
            <a:off x="1600200" y="342900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 student information: describe needs, never names</a:t>
            </a:r>
            <a:endParaRPr lang="en-US" sz="2000" dirty="0"/>
          </a:p>
        </p:txBody>
      </p:sp>
      <p:sp>
        <p:nvSpPr>
          <p:cNvPr id="18" name="Shape 15"/>
          <p:cNvSpPr/>
          <p:nvPr/>
        </p:nvSpPr>
        <p:spPr>
          <a:xfrm>
            <a:off x="822960" y="4297680"/>
            <a:ext cx="566928" cy="566928"/>
          </a:xfrm>
          <a:prstGeom prst="ellipse">
            <a:avLst/>
          </a:prstGeom>
          <a:solidFill>
            <a:srgbClr val="2A9D8F"/>
          </a:solidFill>
          <a:ln w="12700">
            <a:solidFill>
              <a:srgbClr val="2A9D8F"/>
            </a:solidFill>
            <a:prstDash val="solid"/>
          </a:ln>
        </p:spPr>
      </p:sp>
      <p:sp>
        <p:nvSpPr>
          <p:cNvPr id="19" name="Text 16"/>
          <p:cNvSpPr/>
          <p:nvPr/>
        </p:nvSpPr>
        <p:spPr>
          <a:xfrm>
            <a:off x="822960" y="429768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2</a:t>
            </a:r>
            <a:endParaRPr lang="en-US" sz="2000" dirty="0"/>
          </a:p>
        </p:txBody>
      </p:sp>
      <p:sp>
        <p:nvSpPr>
          <p:cNvPr id="20" name="Text 17"/>
          <p:cNvSpPr/>
          <p:nvPr/>
        </p:nvSpPr>
        <p:spPr>
          <a:xfrm>
            <a:off x="1600200" y="425196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Draft the core with the four-part formula, then differentiate two directions</a:t>
            </a:r>
            <a:endParaRPr lang="en-US" sz="2000" dirty="0"/>
          </a:p>
        </p:txBody>
      </p:sp>
      <p:sp>
        <p:nvSpPr>
          <p:cNvPr id="21" name="Shape 18"/>
          <p:cNvSpPr/>
          <p:nvPr/>
        </p:nvSpPr>
        <p:spPr>
          <a:xfrm>
            <a:off x="822960" y="5120640"/>
            <a:ext cx="566928" cy="566928"/>
          </a:xfrm>
          <a:prstGeom prst="ellipse">
            <a:avLst/>
          </a:prstGeom>
          <a:solidFill>
            <a:srgbClr val="2A9D8F"/>
          </a:solidFill>
          <a:ln w="12700">
            <a:solidFill>
              <a:srgbClr val="2A9D8F"/>
            </a:solidFill>
            <a:prstDash val="solid"/>
          </a:ln>
        </p:spPr>
      </p:sp>
      <p:sp>
        <p:nvSpPr>
          <p:cNvPr id="22" name="Text 19"/>
          <p:cNvSpPr/>
          <p:nvPr/>
        </p:nvSpPr>
        <p:spPr>
          <a:xfrm>
            <a:off x="822960" y="512064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nter" pitchFamily="34" charset="0"/>
                <a:ea typeface="Inter" pitchFamily="34" charset="-122"/>
                <a:cs typeface="Inter" pitchFamily="34" charset="-120"/>
              </a:rPr>
              <a:t>3</a:t>
            </a:r>
            <a:endParaRPr lang="en-US" sz="2000" dirty="0"/>
          </a:p>
        </p:txBody>
      </p:sp>
      <p:sp>
        <p:nvSpPr>
          <p:cNvPr id="23" name="Text 20"/>
          <p:cNvSpPr/>
          <p:nvPr/>
        </p:nvSpPr>
        <p:spPr>
          <a:xfrm>
            <a:off x="1600200" y="5074920"/>
            <a:ext cx="9875520" cy="658368"/>
          </a:xfrm>
          <a:prstGeom prst="rect">
            <a:avLst/>
          </a:prstGeom>
          <a:noFill/>
          <a:ln/>
        </p:spPr>
        <p:txBody>
          <a:bodyPr wrap="square" lIns="0" tIns="0" rIns="0" bIns="0" rtlCol="0" anchor="ctr"/>
          <a:lstStyle/>
          <a:p>
            <a:pPr indent="0" marL="0">
              <a:buNone/>
            </a:pPr>
            <a:r>
              <a:rPr lang="en-US" sz="2000" dirty="0">
                <a:solidFill>
                  <a:srgbClr val="FFFFFF"/>
                </a:solidFill>
                <a:latin typeface="Inter" pitchFamily="34" charset="0"/>
                <a:ea typeface="Inter" pitchFamily="34" charset="-122"/>
                <a:cs typeface="Inter" pitchFamily="34" charset="-120"/>
              </a:rPr>
              <a:t>Nothing is done until it passes the 4-point review</a:t>
            </a:r>
            <a:endParaRPr lang="en-US" sz="2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20</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On her screen big: her food webs passage, drafted to 80%, not polished.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OF 3 · 5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Draft the core artifact</a:t>
            </a:r>
            <a:endParaRPr lang="en-US" sz="32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Pick the one artifact your lesson most needs: reading, practice set, directions, exit check</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Role · task · context · format, and be generous with context</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What did students just learn? What do they always trip on?</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Run it. Read like an editor. Get it to 80%, not perfect.</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1</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650" b="1" dirty="0">
                <a:solidFill>
                  <a:srgbClr val="13293D"/>
                </a:solidFill>
                <a:latin typeface="Inter" pitchFamily="34" charset="0"/>
                <a:ea typeface="Inter" pitchFamily="34" charset="-122"/>
                <a:cs typeface="Inter" pitchFamily="34" charset="-120"/>
              </a:rPr>
              <a:t>Her pick: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the reading passage for her 6th grade food webs lesson.
</a:t>
            </a:r>
            <a:pPr indent="0" marL="0">
              <a:lnSpc>
                <a:spcPct val="120000"/>
              </a:lnSpc>
              <a:buNone/>
            </a:pPr>
            <a:r>
              <a:rPr lang="en-US" sz="1650" b="1" dirty="0">
                <a:solidFill>
                  <a:srgbClr val="13293D"/>
                </a:solidFill>
                <a:latin typeface="Inter" pitchFamily="34" charset="0"/>
                <a:ea typeface="Inter" pitchFamily="34" charset="-122"/>
                <a:cs typeface="Inter" pitchFamily="34" charset="-120"/>
              </a:rPr>
              <a:t>“Food Webs: Energy on the Move”
</a:t>
            </a:r>
            <a:pPr indent="0" marL="0">
              <a:lnSpc>
                <a:spcPct val="120000"/>
              </a:lnSpc>
              <a:buNone/>
            </a:pPr>
            <a:r>
              <a:rPr lang="en-US" sz="1650" dirty="0">
                <a:solidFill>
                  <a:srgbClr val="1B1F24"/>
                </a:solidFill>
                <a:latin typeface="Inter" pitchFamily="34" charset="0"/>
                <a:ea typeface="Inter" pitchFamily="34" charset="-122"/>
                <a:cs typeface="Inter" pitchFamily="34" charset="-120"/>
              </a:rPr>
              <a:t>Four sections, drafted with the formula: what a food web shows · producers and consumers · decomposers · when one link breaks.
</a:t>
            </a:r>
            <a:pPr indent="0" marL="0">
              <a:lnSpc>
                <a:spcPct val="120000"/>
              </a:lnSpc>
              <a:buNone/>
            </a:pPr>
            <a:r>
              <a:rPr lang="en-US" sz="1650" i="1" dirty="0">
                <a:solidFill>
                  <a:srgbClr val="5B6B7A"/>
                </a:solidFill>
                <a:latin typeface="Inter" pitchFamily="34" charset="0"/>
                <a:ea typeface="Inter" pitchFamily="34" charset="-122"/>
                <a:cs typeface="Inter" pitchFamily="34" charset="-120"/>
              </a:rPr>
              <a:t>“Eighty percent is enough. The polish waits for the review.”</a:t>
            </a:r>
            <a:endParaRPr lang="en-US" sz="16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Don’t polish. The next step is where today earns its name.</a:t>
            </a:r>
            <a:endParaRPr lang="en-US" sz="2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starting artifact, in full: the on-grade food webs passage she will differentiate.</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1 · MS. RIVERA’S CORE ARTIFACT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The passage she starts with</a:t>
            </a:r>
            <a:endParaRPr lang="en-US" sz="3200" dirty="0"/>
          </a:p>
        </p:txBody>
      </p:sp>
      <p:sp>
        <p:nvSpPr>
          <p:cNvPr id="14" name="Shape 11"/>
          <p:cNvSpPr/>
          <p:nvPr/>
        </p:nvSpPr>
        <p:spPr>
          <a:xfrm>
            <a:off x="640080" y="1225296"/>
            <a:ext cx="10972800" cy="4069080"/>
          </a:xfrm>
          <a:prstGeom prst="roundRect">
            <a:avLst>
              <a:gd name="adj" fmla="val 2022"/>
            </a:avLst>
          </a:prstGeom>
          <a:solidFill>
            <a:srgbClr val="F7F5F0"/>
          </a:solidFill>
          <a:ln w="12700">
            <a:solidFill>
              <a:srgbClr val="F7F5F0"/>
            </a:solidFill>
            <a:prstDash val="solid"/>
          </a:ln>
        </p:spPr>
      </p:sp>
      <p:sp>
        <p:nvSpPr>
          <p:cNvPr id="15" name="Shape 12"/>
          <p:cNvSpPr/>
          <p:nvPr/>
        </p:nvSpPr>
        <p:spPr>
          <a:xfrm>
            <a:off x="640080" y="1225296"/>
            <a:ext cx="109728" cy="4069080"/>
          </a:xfrm>
          <a:prstGeom prst="roundRect">
            <a:avLst>
              <a:gd name="adj" fmla="val 41667"/>
            </a:avLst>
          </a:prstGeom>
          <a:solidFill>
            <a:srgbClr val="2A9D8F"/>
          </a:solidFill>
          <a:ln w="12700">
            <a:solidFill>
              <a:srgbClr val="2A9D8F"/>
            </a:solidFill>
            <a:prstDash val="solid"/>
          </a:ln>
        </p:spPr>
      </p:sp>
      <p:sp>
        <p:nvSpPr>
          <p:cNvPr id="16" name="Text 13"/>
          <p:cNvSpPr/>
          <p:nvPr/>
        </p:nvSpPr>
        <p:spPr>
          <a:xfrm>
            <a:off x="1005840" y="1371600"/>
            <a:ext cx="10241280" cy="274320"/>
          </a:xfrm>
          <a:prstGeom prst="rect">
            <a:avLst/>
          </a:prstGeom>
          <a:noFill/>
          <a:ln/>
        </p:spPr>
        <p:txBody>
          <a:bodyPr wrap="square" lIns="0" tIns="0" rIns="0" bIns="0" rtlCol="0" anchor="ctr"/>
          <a:lstStyle/>
          <a:p>
            <a:pPr indent="0" marL="0">
              <a:buNone/>
            </a:pPr>
            <a:r>
              <a:rPr lang="en-US" sz="1200" b="1" spc="150" kern="0" dirty="0">
                <a:solidFill>
                  <a:srgbClr val="2A9D8F"/>
                </a:solidFill>
                <a:latin typeface="Inter" pitchFamily="34" charset="0"/>
                <a:ea typeface="Inter" pitchFamily="34" charset="-122"/>
                <a:cs typeface="Inter" pitchFamily="34" charset="-120"/>
              </a:rPr>
              <a:t>MS. RIVERA’S CORE ARTIFACT · 6TH GRADE SCIENCE · ON-GRADE DRAFT</a:t>
            </a:r>
            <a:endParaRPr lang="en-US" sz="1200" dirty="0"/>
          </a:p>
        </p:txBody>
      </p:sp>
      <p:sp>
        <p:nvSpPr>
          <p:cNvPr id="17" name="Text 14"/>
          <p:cNvSpPr/>
          <p:nvPr/>
        </p:nvSpPr>
        <p:spPr>
          <a:xfrm>
            <a:off x="1005840" y="1691640"/>
            <a:ext cx="10241280" cy="457200"/>
          </a:xfrm>
          <a:prstGeom prst="rect">
            <a:avLst/>
          </a:prstGeom>
          <a:noFill/>
          <a:ln/>
        </p:spPr>
        <p:txBody>
          <a:bodyPr wrap="square" lIns="0" tIns="0" rIns="0" bIns="0" rtlCol="0" anchor="ctr"/>
          <a:lstStyle/>
          <a:p>
            <a:pPr indent="0" marL="0">
              <a:buNone/>
            </a:pPr>
            <a:r>
              <a:rPr lang="en-US" sz="2600" b="1" dirty="0">
                <a:solidFill>
                  <a:srgbClr val="13293D"/>
                </a:solidFill>
                <a:latin typeface="Inter" pitchFamily="34" charset="0"/>
                <a:ea typeface="Inter" pitchFamily="34" charset="-122"/>
                <a:cs typeface="Inter" pitchFamily="34" charset="-120"/>
              </a:rPr>
              <a:t>“Food Webs: Energy on the Move”</a:t>
            </a:r>
            <a:endParaRPr lang="en-US" sz="2600" dirty="0"/>
          </a:p>
        </p:txBody>
      </p:sp>
      <p:sp>
        <p:nvSpPr>
          <p:cNvPr id="18" name="Text 15"/>
          <p:cNvSpPr/>
          <p:nvPr/>
        </p:nvSpPr>
        <p:spPr>
          <a:xfrm>
            <a:off x="1005840" y="2194560"/>
            <a:ext cx="10241280" cy="2971800"/>
          </a:xfrm>
          <a:prstGeom prst="rect">
            <a:avLst/>
          </a:prstGeom>
          <a:noFill/>
          <a:ln/>
        </p:spPr>
        <p:txBody>
          <a:bodyPr wrap="square" lIns="0" tIns="0" rIns="0" bIns="0" rtlCol="0" anchor="t"/>
          <a:lstStyle/>
          <a:p>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1 · What a food web shows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Every organism in an ecosystem needs energy, and a food web is the map of where that energy goes. Producers, such as grasses and oak trees, capture sunlight and build their own food. Consumers get their energy secondhand: a rabbit eats the grass, a hawk eats the rabbit.
</a:t>
            </a:r>
            <a:pPr indent="0" marL="0">
              <a:lnSpc>
                <a:spcPct val="114000"/>
              </a:lnSpc>
              <a:buNone/>
            </a:pPr>
            <a:r>
              <a:rPr lang="en-US" sz="1400" b="1" dirty="0">
                <a:solidFill>
                  <a:srgbClr val="2A9D8F"/>
                </a:solidFill>
                <a:latin typeface="Inter" pitchFamily="34" charset="0"/>
                <a:ea typeface="Inter" pitchFamily="34" charset="-122"/>
                <a:cs typeface="Inter" pitchFamily="34" charset="-120"/>
              </a:rPr>
              <a:t>Section 4 · When one link breaks
</a:t>
            </a:r>
            <a:pPr indent="0" marL="0">
              <a:lnSpc>
                <a:spcPct val="114000"/>
              </a:lnSpc>
              <a:buNone/>
            </a:pPr>
            <a:r>
              <a:rPr lang="en-US" sz="1700" dirty="0">
                <a:solidFill>
                  <a:srgbClr val="1B1F24"/>
                </a:solidFill>
                <a:latin typeface="Inter" pitchFamily="34" charset="0"/>
                <a:ea typeface="Inter" pitchFamily="34" charset="-122"/>
                <a:cs typeface="Inter" pitchFamily="34" charset="-120"/>
              </a:rPr>
              <a:t>Remove the hawks from a schoolyard food web and the rabbits are not the only thing that changes. The grasses get grazed to the roots, the soil loses its cover, and the decomposers that live on fallen leaves lose their supply.</a:t>
            </a:r>
            <a:endParaRPr lang="en-US" sz="1400" dirty="0"/>
          </a:p>
        </p:txBody>
      </p:sp>
      <p:sp>
        <p:nvSpPr>
          <p:cNvPr id="19" name="Text 16"/>
          <p:cNvSpPr/>
          <p:nvPr/>
        </p:nvSpPr>
        <p:spPr>
          <a:xfrm>
            <a:off x="640080" y="5440680"/>
            <a:ext cx="10972800" cy="548640"/>
          </a:xfrm>
          <a:prstGeom prst="rect">
            <a:avLst/>
          </a:prstGeom>
          <a:noFill/>
          <a:ln/>
        </p:spPr>
        <p:txBody>
          <a:bodyPr wrap="square" lIns="0" tIns="0" rIns="0" bIns="0" rtlCol="0" anchor="ctr"/>
          <a:lstStyle/>
          <a:p>
            <a:pPr algn="ctr" indent="0" marL="0">
              <a:buNone/>
            </a:pPr>
            <a:r>
              <a:rPr lang="en-US" sz="1900" b="1" dirty="0">
                <a:solidFill>
                  <a:srgbClr val="13293D"/>
                </a:solidFill>
                <a:latin typeface="Inter" pitchFamily="34" charset="0"/>
                <a:ea typeface="Inter" pitchFamily="34" charset="-122"/>
                <a:cs typeface="Inter" pitchFamily="34" charset="-120"/>
              </a:rPr>
              <a:t>Four sections, drafted with role, task, context, format. Eighty percent, not polished. Every version that follows starts here.</a:t>
            </a:r>
            <a:endParaRPr lang="en-US" sz="1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two follow-ups, same chat: the support version, then the stretch.</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OF 3 · 7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Differentiate it: two directions</a:t>
            </a:r>
            <a:endParaRPr lang="en-US" sz="3200" dirty="0"/>
          </a:p>
        </p:txBody>
      </p:sp>
      <p:sp>
        <p:nvSpPr>
          <p:cNvPr id="14" name="Shape 11"/>
          <p:cNvSpPr/>
          <p:nvPr/>
        </p:nvSpPr>
        <p:spPr>
          <a:xfrm>
            <a:off x="640080" y="1554480"/>
            <a:ext cx="5394960" cy="1874520"/>
          </a:xfrm>
          <a:prstGeom prst="roundRect">
            <a:avLst>
              <a:gd name="adj" fmla="val 4390"/>
            </a:avLst>
          </a:prstGeom>
          <a:solidFill>
            <a:srgbClr val="F7F5F0"/>
          </a:solidFill>
          <a:ln w="12700">
            <a:solidFill>
              <a:srgbClr val="F7F5F0"/>
            </a:solidFill>
            <a:prstDash val="solid"/>
          </a:ln>
        </p:spPr>
      </p:sp>
      <p:sp>
        <p:nvSpPr>
          <p:cNvPr id="15" name="Text 12"/>
          <p:cNvSpPr/>
          <p:nvPr/>
        </p:nvSpPr>
        <p:spPr>
          <a:xfrm>
            <a:off x="914400" y="1719072"/>
            <a:ext cx="4846320" cy="384048"/>
          </a:xfrm>
          <a:prstGeom prst="rect">
            <a:avLst/>
          </a:prstGeom>
          <a:noFill/>
          <a:ln/>
        </p:spPr>
        <p:txBody>
          <a:bodyPr wrap="square" lIns="0" tIns="0" rIns="0" bIns="0" rtlCol="0" anchor="ctr"/>
          <a:lstStyle/>
          <a:p>
            <a:pPr indent="0" marL="0">
              <a:buNone/>
            </a:pPr>
            <a:r>
              <a:rPr lang="en-US" sz="1900" b="1" dirty="0">
                <a:solidFill>
                  <a:srgbClr val="2E7D5B"/>
                </a:solidFill>
                <a:latin typeface="Inter" pitchFamily="34" charset="0"/>
                <a:ea typeface="Inter" pitchFamily="34" charset="-122"/>
                <a:cs typeface="Inter" pitchFamily="34" charset="-120"/>
              </a:rPr>
              <a:t>Support</a:t>
            </a:r>
            <a:endParaRPr lang="en-US" sz="1900" dirty="0"/>
          </a:p>
        </p:txBody>
      </p:sp>
      <p:sp>
        <p:nvSpPr>
          <p:cNvPr id="16" name="Text 13"/>
          <p:cNvSpPr/>
          <p:nvPr/>
        </p:nvSpPr>
        <p:spPr>
          <a:xfrm>
            <a:off x="914400" y="21396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Level it down or scaffold it, your choice. Use the handout prompt as-is; the AI already has your artifact in the chat.</a:t>
            </a:r>
            <a:endParaRPr lang="en-US" sz="1450" dirty="0"/>
          </a:p>
        </p:txBody>
      </p:sp>
      <p:sp>
        <p:nvSpPr>
          <p:cNvPr id="17" name="Shape 14"/>
          <p:cNvSpPr/>
          <p:nvPr/>
        </p:nvSpPr>
        <p:spPr>
          <a:xfrm>
            <a:off x="640080" y="3611880"/>
            <a:ext cx="5394960" cy="1874520"/>
          </a:xfrm>
          <a:prstGeom prst="roundRect">
            <a:avLst>
              <a:gd name="adj" fmla="val 4390"/>
            </a:avLst>
          </a:prstGeom>
          <a:solidFill>
            <a:srgbClr val="F7F5F0"/>
          </a:solidFill>
          <a:ln w="12700">
            <a:solidFill>
              <a:srgbClr val="F7F5F0"/>
            </a:solidFill>
            <a:prstDash val="solid"/>
          </a:ln>
        </p:spPr>
      </p:sp>
      <p:sp>
        <p:nvSpPr>
          <p:cNvPr id="18" name="Text 15"/>
          <p:cNvSpPr/>
          <p:nvPr/>
        </p:nvSpPr>
        <p:spPr>
          <a:xfrm>
            <a:off x="914400" y="3776472"/>
            <a:ext cx="4846320" cy="384048"/>
          </a:xfrm>
          <a:prstGeom prst="rect">
            <a:avLst/>
          </a:prstGeom>
          <a:noFill/>
          <a:ln/>
        </p:spPr>
        <p:txBody>
          <a:bodyPr wrap="square" lIns="0" tIns="0" rIns="0" bIns="0" rtlCol="0" anchor="ctr"/>
          <a:lstStyle/>
          <a:p>
            <a:pPr indent="0" marL="0">
              <a:buNone/>
            </a:pPr>
            <a:r>
              <a:rPr lang="en-US" sz="1900" b="1" dirty="0">
                <a:solidFill>
                  <a:srgbClr val="2A9D8F"/>
                </a:solidFill>
                <a:latin typeface="Inter" pitchFamily="34" charset="0"/>
                <a:ea typeface="Inter" pitchFamily="34" charset="-122"/>
                <a:cs typeface="Inter" pitchFamily="34" charset="-120"/>
              </a:rPr>
              <a:t>Stretch</a:t>
            </a:r>
            <a:endParaRPr lang="en-US" sz="1900" dirty="0"/>
          </a:p>
        </p:txBody>
      </p:sp>
      <p:sp>
        <p:nvSpPr>
          <p:cNvPr id="19" name="Text 16"/>
          <p:cNvSpPr/>
          <p:nvPr/>
        </p:nvSpPr>
        <p:spPr>
          <a:xfrm>
            <a:off x="914400" y="4197096"/>
            <a:ext cx="4846320" cy="1188720"/>
          </a:xfrm>
          <a:prstGeom prst="rect">
            <a:avLst/>
          </a:prstGeom>
          <a:noFill/>
          <a:ln/>
        </p:spPr>
        <p:txBody>
          <a:bodyPr wrap="square" lIns="0" tIns="0" rIns="0" bIns="0" rtlCol="0" anchor="t"/>
          <a:lstStyle/>
          <a:p>
            <a:pPr indent="0" marL="0">
              <a:buNone/>
            </a:pPr>
            <a:r>
              <a:rPr lang="en-US" sz="1450" dirty="0">
                <a:solidFill>
                  <a:srgbClr val="1B1F24"/>
                </a:solidFill>
                <a:latin typeface="Inter" pitchFamily="34" charset="0"/>
                <a:ea typeface="Inter" pitchFamily="34" charset="-122"/>
                <a:cs typeface="Inter" pitchFamily="34" charset="-120"/>
              </a:rPr>
              <a:t>Extension prompts: apply, critique, teach back. Depth, not length. Say “no additional practice problems.”</a:t>
            </a:r>
            <a:endParaRPr lang="en-US" sz="1450" dirty="0"/>
          </a:p>
        </p:txBody>
      </p:sp>
      <p:sp>
        <p:nvSpPr>
          <p:cNvPr id="20" name="Shape 17"/>
          <p:cNvSpPr/>
          <p:nvPr/>
        </p:nvSpPr>
        <p:spPr>
          <a:xfrm>
            <a:off x="6263640" y="1554480"/>
            <a:ext cx="5394960" cy="3931920"/>
          </a:xfrm>
          <a:prstGeom prst="roundRect">
            <a:avLst>
              <a:gd name="adj" fmla="val 2093"/>
            </a:avLst>
          </a:prstGeom>
          <a:solidFill>
            <a:srgbClr val="EAF5F3"/>
          </a:solidFill>
          <a:ln w="12700">
            <a:solidFill>
              <a:srgbClr val="EAF5F3"/>
            </a:solidFill>
            <a:prstDash val="solid"/>
          </a:ln>
        </p:spPr>
      </p:sp>
      <p:sp>
        <p:nvSpPr>
          <p:cNvPr id="21" name="Text 18"/>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2</a:t>
            </a:r>
            <a:endParaRPr lang="en-US" sz="1250" dirty="0"/>
          </a:p>
        </p:txBody>
      </p:sp>
      <p:sp>
        <p:nvSpPr>
          <p:cNvPr id="22" name="Text 19"/>
          <p:cNvSpPr/>
          <p:nvPr/>
        </p:nvSpPr>
        <p:spPr>
          <a:xfrm>
            <a:off x="6537960" y="2148840"/>
            <a:ext cx="4892040" cy="3200400"/>
          </a:xfrm>
          <a:prstGeom prst="rect">
            <a:avLst/>
          </a:prstGeom>
          <a:noFill/>
          <a:ln/>
        </p:spPr>
        <p:txBody>
          <a:bodyPr wrap="square" lIns="0" tIns="0" rIns="0" bIns="0" rtlCol="0" anchor="t"/>
          <a:lstStyle/>
          <a:p>
            <a:pPr indent="0" marL="0">
              <a:lnSpc>
                <a:spcPct val="120000"/>
              </a:lnSpc>
              <a:buNone/>
            </a:pPr>
            <a:r>
              <a:rPr lang="en-US" sz="1600" b="1" dirty="0">
                <a:solidFill>
                  <a:srgbClr val="2E7D5B"/>
                </a:solidFill>
                <a:latin typeface="Inter" pitchFamily="34" charset="0"/>
                <a:ea typeface="Inter" pitchFamily="34" charset="-122"/>
                <a:cs typeface="Inter" pitchFamily="34" charset="-120"/>
              </a:rPr>
              <a:t>Support: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her passage leveled down. Sentences under 12 words, plus a 5-word vocabulary box.
</a:t>
            </a:r>
            <a:pPr indent="0" marL="0">
              <a:lnSpc>
                <a:spcPct val="120000"/>
              </a:lnSpc>
              <a:buNone/>
            </a:pPr>
            <a:r>
              <a:rPr lang="en-US" sz="1600" b="1" dirty="0">
                <a:solidFill>
                  <a:srgbClr val="2A9D8F"/>
                </a:solidFill>
                <a:latin typeface="Inter" pitchFamily="34" charset="0"/>
                <a:ea typeface="Inter" pitchFamily="34" charset="-122"/>
                <a:cs typeface="Inter" pitchFamily="34" charset="-120"/>
              </a:rPr>
              <a:t>Stretch: </a:t>
            </a:r>
            <a:pPr indent="0" marL="0">
              <a:lnSpc>
                <a:spcPct val="120000"/>
              </a:lnSpc>
              <a:buNone/>
            </a:pPr>
            <a:r>
              <a:rPr lang="en-US" sz="1600" dirty="0">
                <a:solidFill>
                  <a:srgbClr val="1B1F24"/>
                </a:solidFill>
                <a:latin typeface="Inter" pitchFamily="34" charset="0"/>
                <a:ea typeface="Inter" pitchFamily="34" charset="-122"/>
                <a:cs typeface="Inter" pitchFamily="34" charset="-120"/>
              </a:rPr>
              <a:t>three depth prompts: apply it to a desert food web, find the flaw in a broken one, teach it to a 3rd grader.
</a:t>
            </a:r>
            <a:pPr indent="0" marL="0">
              <a:lnSpc>
                <a:spcPct val="120000"/>
              </a:lnSpc>
              <a:buNone/>
            </a:pPr>
            <a:r>
              <a:rPr lang="en-US" sz="1600" i="1" dirty="0">
                <a:solidFill>
                  <a:srgbClr val="5B6B7A"/>
                </a:solidFill>
                <a:latin typeface="Inter" pitchFamily="34" charset="0"/>
                <a:ea typeface="Inter" pitchFamily="34" charset="-122"/>
                <a:cs typeface="Inter" pitchFamily="34" charset="-120"/>
              </a:rPr>
              <a:t>"Same chat, no re-pasting. My prompt is on the next slide."</a:t>
            </a:r>
            <a:endParaRPr lang="en-US" sz="1600" dirty="0"/>
          </a:p>
        </p:txBody>
      </p:sp>
      <p:sp>
        <p:nvSpPr>
          <p:cNvPr id="23" name="Text 20"/>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1800" i="1" dirty="0">
                <a:solidFill>
                  <a:srgbClr val="5B6B7A"/>
                </a:solidFill>
                <a:latin typeface="Inter" pitchFamily="34" charset="0"/>
                <a:ea typeface="Inter" pitchFamily="34" charset="-122"/>
                <a:cs typeface="Inter" pitchFamily="34" charset="-120"/>
              </a:rPr>
              <a:t>You’re building the versions that used to cost an evening, inside seven minutes.</a:t>
            </a:r>
            <a:endParaRPr lang="en-US" sz="18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23</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THE PROMPT SHE TYPES INTO THE CHAT</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actually typed</a:t>
            </a:r>
            <a:endParaRPr lang="en-US" sz="3200" dirty="0"/>
          </a:p>
        </p:txBody>
      </p:sp>
      <p:sp>
        <p:nvSpPr>
          <p:cNvPr id="7" name="Text 4"/>
          <p:cNvSpPr/>
          <p:nvPr/>
        </p:nvSpPr>
        <p:spPr>
          <a:xfrm>
            <a:off x="640080" y="1298448"/>
            <a:ext cx="10972800" cy="365760"/>
          </a:xfrm>
          <a:prstGeom prst="rect">
            <a:avLst/>
          </a:prstGeom>
          <a:noFill/>
          <a:ln/>
        </p:spPr>
        <p:txBody>
          <a:bodyPr wrap="square" lIns="0" tIns="0" rIns="0" bIns="0" rtlCol="0" anchor="ctr"/>
          <a:lstStyle/>
          <a:p>
            <a:pPr indent="0" marL="0">
              <a:buNone/>
            </a:pPr>
            <a:r>
              <a:rPr lang="en-US" sz="1600" b="1" dirty="0">
                <a:solidFill>
                  <a:srgbClr val="B4453A"/>
                </a:solidFill>
                <a:latin typeface="Inter" pitchFamily="34" charset="0"/>
                <a:ea typeface="Inter" pitchFamily="34" charset="-122"/>
                <a:cs typeface="Inter" pitchFamily="34" charset="-120"/>
              </a:rPr>
              <a:t>BEFORE   </a:t>
            </a:r>
            <a:pPr indent="0" marL="0">
              <a:buNone/>
            </a:pPr>
            <a:r>
              <a:rPr lang="en-US" sz="1600" i="1" dirty="0">
                <a:solidFill>
                  <a:srgbClr val="5B6B7A"/>
                </a:solidFill>
                <a:latin typeface="Inter" pitchFamily="34" charset="0"/>
                <a:ea typeface="Inter" pitchFamily="34" charset="-122"/>
                <a:cs typeface="Inter" pitchFamily="34" charset="-120"/>
              </a:rPr>
              <a:t>“Now make an easier version of that.”</a:t>
            </a:r>
            <a:endParaRPr lang="en-US" sz="1600" dirty="0"/>
          </a:p>
        </p:txBody>
      </p:sp>
      <p:sp>
        <p:nvSpPr>
          <p:cNvPr id="8" name="Shape 5"/>
          <p:cNvSpPr/>
          <p:nvPr/>
        </p:nvSpPr>
        <p:spPr>
          <a:xfrm>
            <a:off x="640080" y="1783080"/>
            <a:ext cx="10972800" cy="3520440"/>
          </a:xfrm>
          <a:prstGeom prst="roundRect">
            <a:avLst>
              <a:gd name="adj" fmla="val 2597"/>
            </a:avLst>
          </a:prstGeom>
          <a:solidFill>
            <a:srgbClr val="FFFFFF"/>
          </a:solidFill>
          <a:ln w="19050">
            <a:solidFill>
              <a:srgbClr val="DCE3EA"/>
            </a:solidFill>
            <a:prstDash val="solid"/>
          </a:ln>
        </p:spPr>
      </p:sp>
      <p:sp>
        <p:nvSpPr>
          <p:cNvPr id="9" name="Shape 6"/>
          <p:cNvSpPr/>
          <p:nvPr/>
        </p:nvSpPr>
        <p:spPr>
          <a:xfrm>
            <a:off x="640080" y="1783080"/>
            <a:ext cx="10972800" cy="384048"/>
          </a:xfrm>
          <a:prstGeom prst="roundRect">
            <a:avLst>
              <a:gd name="adj" fmla="val 23810"/>
            </a:avLst>
          </a:prstGeom>
          <a:solidFill>
            <a:srgbClr val="13293D"/>
          </a:solidFill>
          <a:ln w="12700">
            <a:solidFill>
              <a:srgbClr val="13293D"/>
            </a:solidFill>
            <a:prstDash val="solid"/>
          </a:ln>
        </p:spPr>
      </p:sp>
      <p:sp>
        <p:nvSpPr>
          <p:cNvPr id="10" name="Shape 7"/>
          <p:cNvSpPr/>
          <p:nvPr/>
        </p:nvSpPr>
        <p:spPr>
          <a:xfrm>
            <a:off x="868680" y="1901952"/>
            <a:ext cx="146304" cy="146304"/>
          </a:xfrm>
          <a:prstGeom prst="ellipse">
            <a:avLst/>
          </a:prstGeom>
          <a:solidFill>
            <a:srgbClr val="E8837A"/>
          </a:solidFill>
          <a:ln w="12700">
            <a:solidFill>
              <a:srgbClr val="E8837A"/>
            </a:solidFill>
            <a:prstDash val="solid"/>
          </a:ln>
        </p:spPr>
      </p:sp>
      <p:sp>
        <p:nvSpPr>
          <p:cNvPr id="11" name="Shape 8"/>
          <p:cNvSpPr/>
          <p:nvPr/>
        </p:nvSpPr>
        <p:spPr>
          <a:xfrm>
            <a:off x="1115568" y="1901952"/>
            <a:ext cx="146304" cy="146304"/>
          </a:xfrm>
          <a:prstGeom prst="ellipse">
            <a:avLst/>
          </a:prstGeom>
          <a:solidFill>
            <a:srgbClr val="F4A825"/>
          </a:solidFill>
          <a:ln w="12700">
            <a:solidFill>
              <a:srgbClr val="F4A825"/>
            </a:solidFill>
            <a:prstDash val="solid"/>
          </a:ln>
        </p:spPr>
      </p:sp>
      <p:sp>
        <p:nvSpPr>
          <p:cNvPr id="12" name="Shape 9"/>
          <p:cNvSpPr/>
          <p:nvPr/>
        </p:nvSpPr>
        <p:spPr>
          <a:xfrm>
            <a:off x="1362456" y="1901952"/>
            <a:ext cx="146304" cy="146304"/>
          </a:xfrm>
          <a:prstGeom prst="ellipse">
            <a:avLst/>
          </a:prstGeom>
          <a:solidFill>
            <a:srgbClr val="2E7D5B"/>
          </a:solidFill>
          <a:ln w="12700">
            <a:solidFill>
              <a:srgbClr val="2E7D5B"/>
            </a:solidFill>
            <a:prstDash val="solid"/>
          </a:ln>
        </p:spPr>
      </p:sp>
      <p:sp>
        <p:nvSpPr>
          <p:cNvPr id="13" name="Text 10"/>
          <p:cNvSpPr/>
          <p:nvPr/>
        </p:nvSpPr>
        <p:spPr>
          <a:xfrm>
            <a:off x="1783080" y="178308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same chat</a:t>
            </a:r>
            <a:endParaRPr lang="en-US" sz="1100" dirty="0"/>
          </a:p>
        </p:txBody>
      </p:sp>
      <p:sp>
        <p:nvSpPr>
          <p:cNvPr id="14" name="Shape 11"/>
          <p:cNvSpPr/>
          <p:nvPr/>
        </p:nvSpPr>
        <p:spPr>
          <a:xfrm>
            <a:off x="1554480" y="2377440"/>
            <a:ext cx="9144000" cy="2697480"/>
          </a:xfrm>
          <a:prstGeom prst="roundRect">
            <a:avLst>
              <a:gd name="adj" fmla="val 4068"/>
            </a:avLst>
          </a:prstGeom>
          <a:solidFill>
            <a:srgbClr val="F7F5F0"/>
          </a:solidFill>
          <a:ln w="12700">
            <a:solidFill>
              <a:srgbClr val="F7F5F0"/>
            </a:solidFill>
            <a:prstDash val="solid"/>
          </a:ln>
        </p:spPr>
      </p:sp>
      <p:sp>
        <p:nvSpPr>
          <p:cNvPr id="15" name="Text 12"/>
          <p:cNvSpPr/>
          <p:nvPr/>
        </p:nvSpPr>
        <p:spPr>
          <a:xfrm>
            <a:off x="1783080" y="2514600"/>
            <a:ext cx="9189720" cy="2468880"/>
          </a:xfrm>
          <a:prstGeom prst="rect">
            <a:avLst/>
          </a:prstGeom>
          <a:noFill/>
          <a:ln/>
        </p:spPr>
        <p:txBody>
          <a:bodyPr wrap="square" lIns="0" tIns="0" rIns="0" bIns="0" rtlCol="0" anchor="t"/>
          <a:lstStyle/>
          <a:p>
            <a:pPr indent="0" marL="0">
              <a:lnSpc>
                <a:spcPct val="110000"/>
              </a:lnSpc>
              <a:buNone/>
            </a:pPr>
            <a:r>
              <a:rPr lang="en-US" sz="1600" b="1" dirty="0">
                <a:solidFill>
                  <a:srgbClr val="2A9D8F"/>
                </a:solidFill>
                <a:latin typeface="Inter" pitchFamily="34" charset="0"/>
                <a:ea typeface="Inter" pitchFamily="34" charset="-122"/>
                <a:cs typeface="Inter" pitchFamily="34" charset="-120"/>
              </a:rPr>
              <a:t>“You are a reading specialist who works with 6th graders. </a:t>
            </a:r>
            <a:pPr indent="0" marL="0">
              <a:lnSpc>
                <a:spcPct val="110000"/>
              </a:lnSpc>
              <a:buNone/>
            </a:pPr>
            <a:r>
              <a:rPr lang="en-US" sz="1600" b="1" dirty="0">
                <a:solidFill>
                  <a:srgbClr val="13293D"/>
                </a:solidFill>
                <a:latin typeface="Inter" pitchFamily="34" charset="0"/>
                <a:ea typeface="Inter" pitchFamily="34" charset="-122"/>
                <a:cs typeface="Inter" pitchFamily="34" charset="-120"/>
              </a:rPr>
              <a:t>Rewrite the food webs passage you just drafted for students reading about two years below grade level. </a:t>
            </a:r>
            <a:pPr indent="0" marL="0">
              <a:lnSpc>
                <a:spcPct val="110000"/>
              </a:lnSpc>
              <a:buNone/>
            </a:pPr>
            <a:r>
              <a:rPr lang="en-US" sz="1600" b="1" dirty="0">
                <a:solidFill>
                  <a:srgbClr val="B07914"/>
                </a:solidFill>
                <a:latin typeface="Inter" pitchFamily="34" charset="0"/>
                <a:ea typeface="Inter" pitchFamily="34" charset="-122"/>
                <a:cs typeface="Inter" pitchFamily="34" charset="-120"/>
              </a:rPr>
              <a:t>Keep all four sections, every key idea, and these words: producer, consumer, decomposer, energy, ecosystem. The science does not get smaller; the sentences do. </a:t>
            </a:r>
            <a:pPr indent="0" marL="0">
              <a:lnSpc>
                <a:spcPct val="110000"/>
              </a:lnSpc>
              <a:buNone/>
            </a:pPr>
            <a:r>
              <a:rPr lang="en-US" sz="1600" b="1" dirty="0">
                <a:solidFill>
                  <a:srgbClr val="2E7D5B"/>
                </a:solidFill>
                <a:latin typeface="Inter" pitchFamily="34" charset="0"/>
                <a:ea typeface="Inter" pitchFamily="34" charset="-122"/>
                <a:cs typeface="Inter" pitchFamily="34" charset="-120"/>
              </a:rPr>
              <a:t>Sentences under 12 words. Add a 5-word vocabulary box with student-friendly definitions. Label it “Support version.”</a:t>
            </a:r>
            <a:endParaRPr lang="en-US" sz="1600" dirty="0"/>
          </a:p>
        </p:txBody>
      </p:sp>
      <p:sp>
        <p:nvSpPr>
          <p:cNvPr id="16" name="Shape 13"/>
          <p:cNvSpPr/>
          <p:nvPr/>
        </p:nvSpPr>
        <p:spPr>
          <a:xfrm>
            <a:off x="640080" y="5532120"/>
            <a:ext cx="2606040" cy="457200"/>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640080"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ROLE</a:t>
            </a:r>
            <a:endParaRPr lang="en-US" sz="1400" dirty="0"/>
          </a:p>
        </p:txBody>
      </p:sp>
      <p:sp>
        <p:nvSpPr>
          <p:cNvPr id="18" name="Shape 15"/>
          <p:cNvSpPr/>
          <p:nvPr/>
        </p:nvSpPr>
        <p:spPr>
          <a:xfrm>
            <a:off x="3456432" y="5532120"/>
            <a:ext cx="2606040" cy="457200"/>
          </a:xfrm>
          <a:prstGeom prst="roundRect">
            <a:avLst>
              <a:gd name="adj" fmla="val 50000"/>
            </a:avLst>
          </a:prstGeom>
          <a:solidFill>
            <a:srgbClr val="13293D"/>
          </a:solidFill>
          <a:ln w="12700">
            <a:solidFill>
              <a:srgbClr val="13293D"/>
            </a:solidFill>
            <a:prstDash val="solid"/>
          </a:ln>
        </p:spPr>
      </p:sp>
      <p:sp>
        <p:nvSpPr>
          <p:cNvPr id="19" name="Text 16"/>
          <p:cNvSpPr/>
          <p:nvPr/>
        </p:nvSpPr>
        <p:spPr>
          <a:xfrm>
            <a:off x="3456432"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TASK</a:t>
            </a:r>
            <a:endParaRPr lang="en-US" sz="1400" dirty="0"/>
          </a:p>
        </p:txBody>
      </p:sp>
      <p:sp>
        <p:nvSpPr>
          <p:cNvPr id="20" name="Shape 17"/>
          <p:cNvSpPr/>
          <p:nvPr/>
        </p:nvSpPr>
        <p:spPr>
          <a:xfrm>
            <a:off x="6272784" y="5532120"/>
            <a:ext cx="2606040" cy="457200"/>
          </a:xfrm>
          <a:prstGeom prst="roundRect">
            <a:avLst>
              <a:gd name="adj" fmla="val 50000"/>
            </a:avLst>
          </a:prstGeom>
          <a:solidFill>
            <a:srgbClr val="B07914"/>
          </a:solidFill>
          <a:ln w="12700">
            <a:solidFill>
              <a:srgbClr val="B07914"/>
            </a:solidFill>
            <a:prstDash val="solid"/>
          </a:ln>
        </p:spPr>
      </p:sp>
      <p:sp>
        <p:nvSpPr>
          <p:cNvPr id="21" name="Text 18"/>
          <p:cNvSpPr/>
          <p:nvPr/>
        </p:nvSpPr>
        <p:spPr>
          <a:xfrm>
            <a:off x="6272784"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CONTEXT</a:t>
            </a:r>
            <a:endParaRPr lang="en-US" sz="1400" dirty="0"/>
          </a:p>
        </p:txBody>
      </p:sp>
      <p:sp>
        <p:nvSpPr>
          <p:cNvPr id="22" name="Shape 19"/>
          <p:cNvSpPr/>
          <p:nvPr/>
        </p:nvSpPr>
        <p:spPr>
          <a:xfrm>
            <a:off x="9089136" y="5532120"/>
            <a:ext cx="2606040" cy="457200"/>
          </a:xfrm>
          <a:prstGeom prst="roundRect">
            <a:avLst>
              <a:gd name="adj" fmla="val 50000"/>
            </a:avLst>
          </a:prstGeom>
          <a:solidFill>
            <a:srgbClr val="2E7D5B"/>
          </a:solidFill>
          <a:ln w="12700">
            <a:solidFill>
              <a:srgbClr val="2E7D5B"/>
            </a:solidFill>
            <a:prstDash val="solid"/>
          </a:ln>
        </p:spPr>
      </p:sp>
      <p:sp>
        <p:nvSpPr>
          <p:cNvPr id="23" name="Text 20"/>
          <p:cNvSpPr/>
          <p:nvPr/>
        </p:nvSpPr>
        <p:spPr>
          <a:xfrm>
            <a:off x="9089136" y="553212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FORMAT</a:t>
            </a:r>
            <a:endParaRPr lang="en-US" sz="14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24</a:t>
            </a:r>
            <a:endParaRPr lang="en-US" sz="900" dirty="0"/>
          </a:p>
        </p:txBody>
      </p:sp>
      <p:sp>
        <p:nvSpPr>
          <p:cNvPr id="5" name="Text 2"/>
          <p:cNvSpPr/>
          <p:nvPr/>
        </p:nvSpPr>
        <p:spPr>
          <a:xfrm>
            <a:off x="566928" y="128016"/>
            <a:ext cx="11055096"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2 · HER ITERATIONS, ONE CHAT, FOUR FOLLOW-UPS</a:t>
            </a:r>
            <a:endParaRPr lang="en-US" sz="1200" dirty="0"/>
          </a:p>
        </p:txBody>
      </p:sp>
      <p:sp>
        <p:nvSpPr>
          <p:cNvPr id="6" name="Text 3"/>
          <p:cNvSpPr/>
          <p:nvPr/>
        </p:nvSpPr>
        <p:spPr>
          <a:xfrm>
            <a:off x="548640" y="384048"/>
            <a:ext cx="11091672"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she typed next, and what changed</a:t>
            </a:r>
            <a:endParaRPr lang="en-US" sz="3200" dirty="0"/>
          </a:p>
        </p:txBody>
      </p:sp>
      <p:sp>
        <p:nvSpPr>
          <p:cNvPr id="7" name="Shape 4"/>
          <p:cNvSpPr/>
          <p:nvPr/>
        </p:nvSpPr>
        <p:spPr>
          <a:xfrm>
            <a:off x="640080" y="1280160"/>
            <a:ext cx="10972800" cy="4160520"/>
          </a:xfrm>
          <a:prstGeom prst="roundRect">
            <a:avLst>
              <a:gd name="adj" fmla="val 2198"/>
            </a:avLst>
          </a:prstGeom>
          <a:solidFill>
            <a:srgbClr val="FFFFFF"/>
          </a:solidFill>
          <a:ln w="19050">
            <a:solidFill>
              <a:srgbClr val="DCE3EA"/>
            </a:solidFill>
            <a:prstDash val="solid"/>
          </a:ln>
        </p:spPr>
      </p:sp>
      <p:sp>
        <p:nvSpPr>
          <p:cNvPr id="8" name="Shape 5"/>
          <p:cNvSpPr/>
          <p:nvPr/>
        </p:nvSpPr>
        <p:spPr>
          <a:xfrm>
            <a:off x="640080" y="1280160"/>
            <a:ext cx="10972800" cy="384048"/>
          </a:xfrm>
          <a:prstGeom prst="roundRect">
            <a:avLst>
              <a:gd name="adj" fmla="val 23810"/>
            </a:avLst>
          </a:prstGeom>
          <a:solidFill>
            <a:srgbClr val="13293D"/>
          </a:solidFill>
          <a:ln w="12700">
            <a:solidFill>
              <a:srgbClr val="13293D"/>
            </a:solidFill>
            <a:prstDash val="solid"/>
          </a:ln>
        </p:spPr>
      </p:sp>
      <p:sp>
        <p:nvSpPr>
          <p:cNvPr id="9" name="Shape 6"/>
          <p:cNvSpPr/>
          <p:nvPr/>
        </p:nvSpPr>
        <p:spPr>
          <a:xfrm>
            <a:off x="868680" y="1399032"/>
            <a:ext cx="146304" cy="146304"/>
          </a:xfrm>
          <a:prstGeom prst="ellipse">
            <a:avLst/>
          </a:prstGeom>
          <a:solidFill>
            <a:srgbClr val="E8837A"/>
          </a:solidFill>
          <a:ln w="12700">
            <a:solidFill>
              <a:srgbClr val="E8837A"/>
            </a:solidFill>
            <a:prstDash val="solid"/>
          </a:ln>
        </p:spPr>
      </p:sp>
      <p:sp>
        <p:nvSpPr>
          <p:cNvPr id="10" name="Shape 7"/>
          <p:cNvSpPr/>
          <p:nvPr/>
        </p:nvSpPr>
        <p:spPr>
          <a:xfrm>
            <a:off x="1115568" y="1399032"/>
            <a:ext cx="146304" cy="146304"/>
          </a:xfrm>
          <a:prstGeom prst="ellipse">
            <a:avLst/>
          </a:prstGeom>
          <a:solidFill>
            <a:srgbClr val="F4A825"/>
          </a:solidFill>
          <a:ln w="12700">
            <a:solidFill>
              <a:srgbClr val="F4A825"/>
            </a:solidFill>
            <a:prstDash val="solid"/>
          </a:ln>
        </p:spPr>
      </p:sp>
      <p:sp>
        <p:nvSpPr>
          <p:cNvPr id="11" name="Shape 8"/>
          <p:cNvSpPr/>
          <p:nvPr/>
        </p:nvSpPr>
        <p:spPr>
          <a:xfrm>
            <a:off x="1362456" y="1399032"/>
            <a:ext cx="146304" cy="146304"/>
          </a:xfrm>
          <a:prstGeom prst="ellipse">
            <a:avLst/>
          </a:prstGeom>
          <a:solidFill>
            <a:srgbClr val="2E7D5B"/>
          </a:solidFill>
          <a:ln w="12700">
            <a:solidFill>
              <a:srgbClr val="2E7D5B"/>
            </a:solidFill>
            <a:prstDash val="solid"/>
          </a:ln>
        </p:spPr>
      </p:sp>
      <p:sp>
        <p:nvSpPr>
          <p:cNvPr id="12" name="Text 9"/>
          <p:cNvSpPr/>
          <p:nvPr/>
        </p:nvSpPr>
        <p:spPr>
          <a:xfrm>
            <a:off x="1783080" y="1280160"/>
            <a:ext cx="9692640" cy="384048"/>
          </a:xfrm>
          <a:prstGeom prst="rect">
            <a:avLst/>
          </a:prstGeom>
          <a:noFill/>
          <a:ln/>
        </p:spPr>
        <p:txBody>
          <a:bodyPr wrap="square" lIns="0" tIns="0" rIns="0" bIns="0" rtlCol="0" anchor="ctr"/>
          <a:lstStyle/>
          <a:p>
            <a:pPr indent="0" marL="0">
              <a:buNone/>
            </a:pPr>
            <a:r>
              <a:rPr lang="en-US" sz="1100" dirty="0">
                <a:solidFill>
                  <a:srgbClr val="9FB2C2"/>
                </a:solidFill>
                <a:latin typeface="Inter" pitchFamily="34" charset="0"/>
                <a:ea typeface="Inter" pitchFamily="34" charset="-122"/>
                <a:cs typeface="Inter" pitchFamily="34" charset="-120"/>
              </a:rPr>
              <a:t>AI chat tool (any of them) · Ms. Rivera, our running example teacher (a composite, not a real person) · follow-ups, no re-pasting</a:t>
            </a:r>
            <a:endParaRPr lang="en-US" sz="1100" dirty="0"/>
          </a:p>
        </p:txBody>
      </p:sp>
      <p:sp>
        <p:nvSpPr>
          <p:cNvPr id="13" name="Shape 10"/>
          <p:cNvSpPr/>
          <p:nvPr/>
        </p:nvSpPr>
        <p:spPr>
          <a:xfrm>
            <a:off x="914400" y="1874520"/>
            <a:ext cx="10424160" cy="3337560"/>
          </a:xfrm>
          <a:prstGeom prst="roundRect">
            <a:avLst>
              <a:gd name="adj" fmla="val 3288"/>
            </a:avLst>
          </a:prstGeom>
          <a:solidFill>
            <a:srgbClr val="F7F5F0"/>
          </a:solidFill>
          <a:ln w="12700">
            <a:solidFill>
              <a:srgbClr val="F7F5F0"/>
            </a:solidFill>
            <a:prstDash val="solid"/>
          </a:ln>
        </p:spPr>
      </p:sp>
      <p:sp>
        <p:nvSpPr>
          <p:cNvPr id="14" name="Text 11"/>
          <p:cNvSpPr/>
          <p:nvPr/>
        </p:nvSpPr>
        <p:spPr>
          <a:xfrm>
            <a:off x="3429000" y="1938528"/>
            <a:ext cx="434340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SHE TYPED NEXT</a:t>
            </a:r>
            <a:endParaRPr lang="en-US" sz="1100" dirty="0"/>
          </a:p>
        </p:txBody>
      </p:sp>
      <p:sp>
        <p:nvSpPr>
          <p:cNvPr id="15" name="Text 12"/>
          <p:cNvSpPr/>
          <p:nvPr/>
        </p:nvSpPr>
        <p:spPr>
          <a:xfrm>
            <a:off x="8001000" y="1938528"/>
            <a:ext cx="3063240" cy="219456"/>
          </a:xfrm>
          <a:prstGeom prst="rect">
            <a:avLst/>
          </a:prstGeom>
          <a:noFill/>
          <a:ln/>
        </p:spPr>
        <p:txBody>
          <a:bodyPr wrap="square" lIns="0" tIns="0" rIns="0" bIns="0" rtlCol="0" anchor="ctr"/>
          <a:lstStyle/>
          <a:p>
            <a:pPr indent="0" marL="0">
              <a:buNone/>
            </a:pPr>
            <a:r>
              <a:rPr lang="en-US" sz="1100" b="1" spc="150" kern="0" dirty="0">
                <a:solidFill>
                  <a:srgbClr val="5B6B7A"/>
                </a:solidFill>
                <a:latin typeface="Inter" pitchFamily="34" charset="0"/>
                <a:ea typeface="Inter" pitchFamily="34" charset="-122"/>
                <a:cs typeface="Inter" pitchFamily="34" charset="-120"/>
              </a:rPr>
              <a:t>WHAT CHANGED</a:t>
            </a:r>
            <a:endParaRPr lang="en-US" sz="1100" dirty="0"/>
          </a:p>
        </p:txBody>
      </p:sp>
      <p:sp>
        <p:nvSpPr>
          <p:cNvPr id="16" name="Shape 13"/>
          <p:cNvSpPr/>
          <p:nvPr/>
        </p:nvSpPr>
        <p:spPr>
          <a:xfrm>
            <a:off x="1234440" y="2231136"/>
            <a:ext cx="1572768" cy="310896"/>
          </a:xfrm>
          <a:prstGeom prst="roundRect">
            <a:avLst>
              <a:gd name="adj" fmla="val 50000"/>
            </a:avLst>
          </a:prstGeom>
          <a:solidFill>
            <a:srgbClr val="2A9D8F"/>
          </a:solidFill>
          <a:ln w="12700">
            <a:solidFill>
              <a:srgbClr val="2A9D8F"/>
            </a:solidFill>
            <a:prstDash val="solid"/>
          </a:ln>
        </p:spPr>
      </p:sp>
      <p:sp>
        <p:nvSpPr>
          <p:cNvPr id="17" name="Text 14"/>
          <p:cNvSpPr/>
          <p:nvPr/>
        </p:nvSpPr>
        <p:spPr>
          <a:xfrm>
            <a:off x="1234440" y="2231136"/>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LEVEL IT</a:t>
            </a:r>
            <a:endParaRPr lang="en-US" sz="1100" dirty="0"/>
          </a:p>
        </p:txBody>
      </p:sp>
      <p:sp>
        <p:nvSpPr>
          <p:cNvPr id="18" name="Text 15"/>
          <p:cNvSpPr/>
          <p:nvPr/>
        </p:nvSpPr>
        <p:spPr>
          <a:xfrm>
            <a:off x="3063240" y="2194560"/>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“Rewrite it two years below grade level. Same four sections, same key words, sentences under 12 words.”</a:t>
            </a:r>
            <a:endParaRPr lang="en-US" sz="1450" dirty="0"/>
          </a:p>
        </p:txBody>
      </p:sp>
      <p:sp>
        <p:nvSpPr>
          <p:cNvPr id="19" name="Shape 16"/>
          <p:cNvSpPr/>
          <p:nvPr/>
        </p:nvSpPr>
        <p:spPr>
          <a:xfrm>
            <a:off x="7845552" y="2249424"/>
            <a:ext cx="12802" cy="585216"/>
          </a:xfrm>
          <a:prstGeom prst="rect">
            <a:avLst/>
          </a:prstGeom>
          <a:solidFill>
            <a:srgbClr val="DCE3EA"/>
          </a:solidFill>
          <a:ln w="12700">
            <a:solidFill>
              <a:srgbClr val="DCE3EA"/>
            </a:solidFill>
            <a:prstDash val="solid"/>
          </a:ln>
        </p:spPr>
      </p:sp>
      <p:sp>
        <p:nvSpPr>
          <p:cNvPr id="20" name="Text 17"/>
          <p:cNvSpPr/>
          <p:nvPr/>
        </p:nvSpPr>
        <p:spPr>
          <a:xfrm>
            <a:off x="8001000" y="2194560"/>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One passage became two. Same science, shorter sentences, plus a 5-word vocabulary box.</a:t>
            </a:r>
            <a:endParaRPr lang="en-US" sz="1450" dirty="0"/>
          </a:p>
        </p:txBody>
      </p:sp>
      <p:sp>
        <p:nvSpPr>
          <p:cNvPr id="21" name="Shape 18"/>
          <p:cNvSpPr/>
          <p:nvPr/>
        </p:nvSpPr>
        <p:spPr>
          <a:xfrm>
            <a:off x="1234440" y="2980944"/>
            <a:ext cx="1572768" cy="310896"/>
          </a:xfrm>
          <a:prstGeom prst="roundRect">
            <a:avLst>
              <a:gd name="adj" fmla="val 50000"/>
            </a:avLst>
          </a:prstGeom>
          <a:solidFill>
            <a:srgbClr val="13293D"/>
          </a:solidFill>
          <a:ln w="12700">
            <a:solidFill>
              <a:srgbClr val="13293D"/>
            </a:solidFill>
            <a:prstDash val="solid"/>
          </a:ln>
        </p:spPr>
      </p:sp>
      <p:sp>
        <p:nvSpPr>
          <p:cNvPr id="22" name="Text 19"/>
          <p:cNvSpPr/>
          <p:nvPr/>
        </p:nvSpPr>
        <p:spPr>
          <a:xfrm>
            <a:off x="1234440" y="2980944"/>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SCAFFOLD IT</a:t>
            </a:r>
            <a:endParaRPr lang="en-US" sz="1100" dirty="0"/>
          </a:p>
        </p:txBody>
      </p:sp>
      <p:sp>
        <p:nvSpPr>
          <p:cNvPr id="23" name="Text 20"/>
          <p:cNvSpPr/>
          <p:nvPr/>
        </p:nvSpPr>
        <p:spPr>
          <a:xfrm>
            <a:off x="3063240" y="2944368"/>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“Add five sentence starters, one per paragraph, and one worked example on a different topic.”</a:t>
            </a:r>
            <a:endParaRPr lang="en-US" sz="1450" dirty="0"/>
          </a:p>
        </p:txBody>
      </p:sp>
      <p:sp>
        <p:nvSpPr>
          <p:cNvPr id="24" name="Shape 21"/>
          <p:cNvSpPr/>
          <p:nvPr/>
        </p:nvSpPr>
        <p:spPr>
          <a:xfrm>
            <a:off x="7845552" y="2999232"/>
            <a:ext cx="12802" cy="585216"/>
          </a:xfrm>
          <a:prstGeom prst="rect">
            <a:avLst/>
          </a:prstGeom>
          <a:solidFill>
            <a:srgbClr val="DCE3EA"/>
          </a:solidFill>
          <a:ln w="12700">
            <a:solidFill>
              <a:srgbClr val="DCE3EA"/>
            </a:solidFill>
            <a:prstDash val="solid"/>
          </a:ln>
        </p:spPr>
      </p:sp>
      <p:sp>
        <p:nvSpPr>
          <p:cNvPr id="25" name="Text 22"/>
          <p:cNvSpPr/>
          <p:nvPr/>
        </p:nvSpPr>
        <p:spPr>
          <a:xfrm>
            <a:off x="8001000" y="2944368"/>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The support version can now be written from, not only read.</a:t>
            </a:r>
            <a:endParaRPr lang="en-US" sz="1450" dirty="0"/>
          </a:p>
        </p:txBody>
      </p:sp>
      <p:sp>
        <p:nvSpPr>
          <p:cNvPr id="26" name="Shape 23"/>
          <p:cNvSpPr/>
          <p:nvPr/>
        </p:nvSpPr>
        <p:spPr>
          <a:xfrm>
            <a:off x="1234440" y="3730752"/>
            <a:ext cx="1572768" cy="310896"/>
          </a:xfrm>
          <a:prstGeom prst="roundRect">
            <a:avLst>
              <a:gd name="adj" fmla="val 50000"/>
            </a:avLst>
          </a:prstGeom>
          <a:solidFill>
            <a:srgbClr val="B07914"/>
          </a:solidFill>
          <a:ln w="12700">
            <a:solidFill>
              <a:srgbClr val="B07914"/>
            </a:solidFill>
            <a:prstDash val="solid"/>
          </a:ln>
        </p:spPr>
      </p:sp>
      <p:sp>
        <p:nvSpPr>
          <p:cNvPr id="27" name="Text 24"/>
          <p:cNvSpPr/>
          <p:nvPr/>
        </p:nvSpPr>
        <p:spPr>
          <a:xfrm>
            <a:off x="1234440" y="3730752"/>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STRETCH IT</a:t>
            </a:r>
            <a:endParaRPr lang="en-US" sz="1100" dirty="0"/>
          </a:p>
        </p:txBody>
      </p:sp>
      <p:sp>
        <p:nvSpPr>
          <p:cNvPr id="28" name="Text 25"/>
          <p:cNvSpPr/>
          <p:nvPr/>
        </p:nvSpPr>
        <p:spPr>
          <a:xfrm>
            <a:off x="3063240" y="3694176"/>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“Three extension prompts for the students who finish in ten minutes. Deeper, not longer. No extra practice problems.”</a:t>
            </a:r>
            <a:endParaRPr lang="en-US" sz="1450" dirty="0"/>
          </a:p>
        </p:txBody>
      </p:sp>
      <p:sp>
        <p:nvSpPr>
          <p:cNvPr id="29" name="Shape 26"/>
          <p:cNvSpPr/>
          <p:nvPr/>
        </p:nvSpPr>
        <p:spPr>
          <a:xfrm>
            <a:off x="7845552" y="3749040"/>
            <a:ext cx="12802" cy="585216"/>
          </a:xfrm>
          <a:prstGeom prst="rect">
            <a:avLst/>
          </a:prstGeom>
          <a:solidFill>
            <a:srgbClr val="DCE3EA"/>
          </a:solidFill>
          <a:ln w="12700">
            <a:solidFill>
              <a:srgbClr val="DCE3EA"/>
            </a:solidFill>
            <a:prstDash val="solid"/>
          </a:ln>
        </p:spPr>
      </p:sp>
      <p:sp>
        <p:nvSpPr>
          <p:cNvPr id="30" name="Text 27"/>
          <p:cNvSpPr/>
          <p:nvPr/>
        </p:nvSpPr>
        <p:spPr>
          <a:xfrm>
            <a:off x="8001000" y="3694176"/>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Apply it to a desert web, find the flaw in a broken one, teach it to a 3rd grader.</a:t>
            </a:r>
            <a:endParaRPr lang="en-US" sz="1450" dirty="0"/>
          </a:p>
        </p:txBody>
      </p:sp>
      <p:sp>
        <p:nvSpPr>
          <p:cNvPr id="31" name="Shape 28"/>
          <p:cNvSpPr/>
          <p:nvPr/>
        </p:nvSpPr>
        <p:spPr>
          <a:xfrm>
            <a:off x="1234440" y="4480560"/>
            <a:ext cx="1572768" cy="310896"/>
          </a:xfrm>
          <a:prstGeom prst="roundRect">
            <a:avLst>
              <a:gd name="adj" fmla="val 50000"/>
            </a:avLst>
          </a:prstGeom>
          <a:solidFill>
            <a:srgbClr val="2E7D5B"/>
          </a:solidFill>
          <a:ln w="12700">
            <a:solidFill>
              <a:srgbClr val="2E7D5B"/>
            </a:solidFill>
            <a:prstDash val="solid"/>
          </a:ln>
        </p:spPr>
      </p:sp>
      <p:sp>
        <p:nvSpPr>
          <p:cNvPr id="32" name="Text 29"/>
          <p:cNvSpPr/>
          <p:nvPr/>
        </p:nvSpPr>
        <p:spPr>
          <a:xfrm>
            <a:off x="1234440" y="4480560"/>
            <a:ext cx="1572768" cy="310896"/>
          </a:xfrm>
          <a:prstGeom prst="rect">
            <a:avLst/>
          </a:prstGeom>
          <a:noFill/>
          <a:ln/>
        </p:spPr>
        <p:txBody>
          <a:bodyPr wrap="square" lIns="0" tIns="0" rIns="0" bIns="0" rtlCol="0" anchor="ctr"/>
          <a:lstStyle/>
          <a:p>
            <a:pPr algn="ctr" indent="0" marL="0">
              <a:buNone/>
            </a:pPr>
            <a:r>
              <a:rPr lang="en-US" sz="1100" b="1" spc="100" kern="0" dirty="0">
                <a:solidFill>
                  <a:srgbClr val="FFFFFF"/>
                </a:solidFill>
                <a:latin typeface="Inter" pitchFamily="34" charset="0"/>
                <a:ea typeface="Inter" pitchFamily="34" charset="-122"/>
                <a:cs typeface="Inter" pitchFamily="34" charset="-120"/>
              </a:rPr>
              <a:t>REFORMAT IT</a:t>
            </a:r>
            <a:endParaRPr lang="en-US" sz="1100" dirty="0"/>
          </a:p>
        </p:txBody>
      </p:sp>
      <p:sp>
        <p:nvSpPr>
          <p:cNvPr id="33" name="Text 30"/>
          <p:cNvSpPr/>
          <p:nvPr/>
        </p:nvSpPr>
        <p:spPr>
          <a:xfrm>
            <a:off x="3063240" y="4443984"/>
            <a:ext cx="4572000" cy="694944"/>
          </a:xfrm>
          <a:prstGeom prst="rect">
            <a:avLst/>
          </a:prstGeom>
          <a:noFill/>
          <a:ln/>
        </p:spPr>
        <p:txBody>
          <a:bodyPr wrap="square" lIns="0" tIns="0" rIns="0" bIns="0" rtlCol="0" anchor="ctr"/>
          <a:lstStyle/>
          <a:p>
            <a:pPr indent="0" marL="0">
              <a:lnSpc>
                <a:spcPct val="105000"/>
              </a:lnSpc>
              <a:buNone/>
            </a:pPr>
            <a:r>
              <a:rPr lang="en-US" sz="1450" i="1" dirty="0">
                <a:solidFill>
                  <a:srgbClr val="13293D"/>
                </a:solidFill>
                <a:latin typeface="Inter" pitchFamily="34" charset="0"/>
                <a:ea typeface="Inter" pitchFamily="34" charset="-122"/>
                <a:cs typeface="Inter" pitchFamily="34" charset="-120"/>
              </a:rPr>
              <a:t>“Turn the same content into four station directions and eight discussion cards. Label everything.”</a:t>
            </a:r>
            <a:endParaRPr lang="en-US" sz="1450" dirty="0"/>
          </a:p>
        </p:txBody>
      </p:sp>
      <p:sp>
        <p:nvSpPr>
          <p:cNvPr id="34" name="Shape 31"/>
          <p:cNvSpPr/>
          <p:nvPr/>
        </p:nvSpPr>
        <p:spPr>
          <a:xfrm>
            <a:off x="7845552" y="4498848"/>
            <a:ext cx="12802" cy="585216"/>
          </a:xfrm>
          <a:prstGeom prst="rect">
            <a:avLst/>
          </a:prstGeom>
          <a:solidFill>
            <a:srgbClr val="DCE3EA"/>
          </a:solidFill>
          <a:ln w="12700">
            <a:solidFill>
              <a:srgbClr val="DCE3EA"/>
            </a:solidFill>
            <a:prstDash val="solid"/>
          </a:ln>
        </p:spPr>
      </p:sp>
      <p:sp>
        <p:nvSpPr>
          <p:cNvPr id="35" name="Text 32"/>
          <p:cNvSpPr/>
          <p:nvPr/>
        </p:nvSpPr>
        <p:spPr>
          <a:xfrm>
            <a:off x="8001000" y="4443984"/>
            <a:ext cx="3063240" cy="694944"/>
          </a:xfrm>
          <a:prstGeom prst="rect">
            <a:avLst/>
          </a:prstGeom>
          <a:noFill/>
          <a:ln/>
        </p:spPr>
        <p:txBody>
          <a:bodyPr wrap="square" lIns="0" tIns="0" rIns="0" bIns="0" rtlCol="0" anchor="ctr"/>
          <a:lstStyle/>
          <a:p>
            <a:pPr indent="0" marL="0">
              <a:lnSpc>
                <a:spcPct val="105000"/>
              </a:lnSpc>
              <a:buNone/>
            </a:pPr>
            <a:r>
              <a:rPr lang="en-US" sz="1450" dirty="0">
                <a:solidFill>
                  <a:srgbClr val="1B1F24"/>
                </a:solidFill>
                <a:latin typeface="Inter" pitchFamily="34" charset="0"/>
                <a:ea typeface="Inter" pitchFamily="34" charset="-122"/>
                <a:cs typeface="Inter" pitchFamily="34" charset="-120"/>
              </a:rPr>
              <a:t>Tuesday can run as stations without a second planning night.</a:t>
            </a:r>
            <a:endParaRPr lang="en-US" sz="1450" dirty="0"/>
          </a:p>
        </p:txBody>
      </p:sp>
      <p:sp>
        <p:nvSpPr>
          <p:cNvPr id="36" name="Shape 33"/>
          <p:cNvSpPr/>
          <p:nvPr/>
        </p:nvSpPr>
        <p:spPr>
          <a:xfrm>
            <a:off x="640080" y="5623560"/>
            <a:ext cx="2606040" cy="457200"/>
          </a:xfrm>
          <a:prstGeom prst="roundRect">
            <a:avLst>
              <a:gd name="adj" fmla="val 50000"/>
            </a:avLst>
          </a:prstGeom>
          <a:solidFill>
            <a:srgbClr val="2A9D8F"/>
          </a:solidFill>
          <a:ln w="12700">
            <a:solidFill>
              <a:srgbClr val="2A9D8F"/>
            </a:solidFill>
            <a:prstDash val="solid"/>
          </a:ln>
        </p:spPr>
      </p:sp>
      <p:sp>
        <p:nvSpPr>
          <p:cNvPr id="37" name="Text 34"/>
          <p:cNvSpPr/>
          <p:nvPr/>
        </p:nvSpPr>
        <p:spPr>
          <a:xfrm>
            <a:off x="640080"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LEVEL IT</a:t>
            </a:r>
            <a:endParaRPr lang="en-US" sz="1400" dirty="0"/>
          </a:p>
        </p:txBody>
      </p:sp>
      <p:sp>
        <p:nvSpPr>
          <p:cNvPr id="38" name="Shape 35"/>
          <p:cNvSpPr/>
          <p:nvPr/>
        </p:nvSpPr>
        <p:spPr>
          <a:xfrm>
            <a:off x="3456432" y="5623560"/>
            <a:ext cx="2606040" cy="457200"/>
          </a:xfrm>
          <a:prstGeom prst="roundRect">
            <a:avLst>
              <a:gd name="adj" fmla="val 50000"/>
            </a:avLst>
          </a:prstGeom>
          <a:solidFill>
            <a:srgbClr val="13293D"/>
          </a:solidFill>
          <a:ln w="12700">
            <a:solidFill>
              <a:srgbClr val="13293D"/>
            </a:solidFill>
            <a:prstDash val="solid"/>
          </a:ln>
        </p:spPr>
      </p:sp>
      <p:sp>
        <p:nvSpPr>
          <p:cNvPr id="39" name="Text 36"/>
          <p:cNvSpPr/>
          <p:nvPr/>
        </p:nvSpPr>
        <p:spPr>
          <a:xfrm>
            <a:off x="3456432"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SCAFFOLD IT</a:t>
            </a:r>
            <a:endParaRPr lang="en-US" sz="1400" dirty="0"/>
          </a:p>
        </p:txBody>
      </p:sp>
      <p:sp>
        <p:nvSpPr>
          <p:cNvPr id="40" name="Shape 37"/>
          <p:cNvSpPr/>
          <p:nvPr/>
        </p:nvSpPr>
        <p:spPr>
          <a:xfrm>
            <a:off x="6272784" y="5623560"/>
            <a:ext cx="2606040" cy="457200"/>
          </a:xfrm>
          <a:prstGeom prst="roundRect">
            <a:avLst>
              <a:gd name="adj" fmla="val 50000"/>
            </a:avLst>
          </a:prstGeom>
          <a:solidFill>
            <a:srgbClr val="B07914"/>
          </a:solidFill>
          <a:ln w="12700">
            <a:solidFill>
              <a:srgbClr val="B07914"/>
            </a:solidFill>
            <a:prstDash val="solid"/>
          </a:ln>
        </p:spPr>
      </p:sp>
      <p:sp>
        <p:nvSpPr>
          <p:cNvPr id="41" name="Text 38"/>
          <p:cNvSpPr/>
          <p:nvPr/>
        </p:nvSpPr>
        <p:spPr>
          <a:xfrm>
            <a:off x="6272784"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STRETCH IT</a:t>
            </a:r>
            <a:endParaRPr lang="en-US" sz="1400" dirty="0"/>
          </a:p>
        </p:txBody>
      </p:sp>
      <p:sp>
        <p:nvSpPr>
          <p:cNvPr id="42" name="Shape 39"/>
          <p:cNvSpPr/>
          <p:nvPr/>
        </p:nvSpPr>
        <p:spPr>
          <a:xfrm>
            <a:off x="9089136" y="5623560"/>
            <a:ext cx="2606040" cy="457200"/>
          </a:xfrm>
          <a:prstGeom prst="roundRect">
            <a:avLst>
              <a:gd name="adj" fmla="val 50000"/>
            </a:avLst>
          </a:prstGeom>
          <a:solidFill>
            <a:srgbClr val="2E7D5B"/>
          </a:solidFill>
          <a:ln w="12700">
            <a:solidFill>
              <a:srgbClr val="2E7D5B"/>
            </a:solidFill>
            <a:prstDash val="solid"/>
          </a:ln>
        </p:spPr>
      </p:sp>
      <p:sp>
        <p:nvSpPr>
          <p:cNvPr id="43" name="Text 40"/>
          <p:cNvSpPr/>
          <p:nvPr/>
        </p:nvSpPr>
        <p:spPr>
          <a:xfrm>
            <a:off x="9089136" y="5623560"/>
            <a:ext cx="2606040" cy="457200"/>
          </a:xfrm>
          <a:prstGeom prst="rect">
            <a:avLst/>
          </a:prstGeom>
          <a:noFill/>
          <a:ln/>
        </p:spPr>
        <p:txBody>
          <a:bodyPr wrap="square" lIns="0" tIns="0" rIns="0" bIns="0" rtlCol="0" anchor="ctr"/>
          <a:lstStyle/>
          <a:p>
            <a:pPr algn="ctr" indent="0" marL="0">
              <a:buNone/>
            </a:pPr>
            <a:r>
              <a:rPr lang="en-US" sz="1400" b="1" spc="200" kern="0" dirty="0">
                <a:solidFill>
                  <a:srgbClr val="FFFFFF"/>
                </a:solidFill>
                <a:latin typeface="Inter" pitchFamily="34" charset="0"/>
                <a:ea typeface="Inter" pitchFamily="34" charset="-122"/>
                <a:cs typeface="Inter" pitchFamily="34" charset="-120"/>
              </a:rPr>
              <a:t>REFORMAT IT</a:t>
            </a:r>
            <a:endParaRPr lang="en-US" sz="14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25</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passage's review, run live: one long sentence split, one example swapped.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STEP 3 OF 3 · 4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Run the 4-point review. Fix what fails.</a:t>
            </a:r>
            <a:endParaRPr lang="en-US" sz="2800" dirty="0"/>
          </a:p>
        </p:txBody>
      </p:sp>
      <p:sp>
        <p:nvSpPr>
          <p:cNvPr id="14" name="Text 11"/>
          <p:cNvSpPr/>
          <p:nvPr/>
        </p:nvSpPr>
        <p:spPr>
          <a:xfrm>
            <a:off x="640080" y="1554480"/>
            <a:ext cx="5394960" cy="4023360"/>
          </a:xfrm>
          <a:prstGeom prst="rect">
            <a:avLst/>
          </a:prstGeom>
          <a:noFill/>
          <a:ln/>
        </p:spPr>
        <p:txBody>
          <a:bodyPr wrap="square" rtlCol="0" anchor="t"/>
          <a:lstStyle/>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Accurate? Check facts and any named resources</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At level, actually? Read the support version aloud to your partner</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Fits your students? Swap the examples that won’t land</a:t>
            </a:r>
            <a:endParaRPr lang="en-US" sz="1650" dirty="0"/>
          </a:p>
          <a:p>
            <a:pPr marL="342900" indent="-342900">
              <a:spcAft>
                <a:spcPts val="1000"/>
              </a:spcAft>
              <a:buSzPct val="100000"/>
              <a:buChar char="•"/>
            </a:pPr>
            <a:r>
              <a:rPr lang="en-US" sz="1650" dirty="0">
                <a:solidFill>
                  <a:srgbClr val="1B1F24"/>
                </a:solidFill>
                <a:latin typeface="Inter" pitchFamily="34" charset="0"/>
                <a:ea typeface="Inter" pitchFamily="34" charset="-122"/>
                <a:cs typeface="Inter" pitchFamily="34" charset="-120"/>
              </a:rPr>
              <a:t>Sounds like you? If not: “warmer,” “plainer,” “shorter”</a:t>
            </a:r>
            <a:endParaRPr lang="en-US" sz="1650" dirty="0"/>
          </a:p>
        </p:txBody>
      </p:sp>
      <p:sp>
        <p:nvSpPr>
          <p:cNvPr id="15" name="Shape 12"/>
          <p:cNvSpPr/>
          <p:nvPr/>
        </p:nvSpPr>
        <p:spPr>
          <a:xfrm>
            <a:off x="6263640" y="1554480"/>
            <a:ext cx="5394960" cy="4023360"/>
          </a:xfrm>
          <a:prstGeom prst="roundRect">
            <a:avLst>
              <a:gd name="adj" fmla="val 2045"/>
            </a:avLst>
          </a:prstGeom>
          <a:solidFill>
            <a:srgbClr val="EAF5F3"/>
          </a:solidFill>
          <a:ln w="12700">
            <a:solidFill>
              <a:srgbClr val="EAF5F3"/>
            </a:solidFill>
            <a:prstDash val="solid"/>
          </a:ln>
        </p:spPr>
      </p:sp>
      <p:sp>
        <p:nvSpPr>
          <p:cNvPr id="16" name="Text 13"/>
          <p:cNvSpPr/>
          <p:nvPr/>
        </p:nvSpPr>
        <p:spPr>
          <a:xfrm>
            <a:off x="6537960" y="1737360"/>
            <a:ext cx="4937760" cy="292608"/>
          </a:xfrm>
          <a:prstGeom prst="rect">
            <a:avLst/>
          </a:prstGeom>
          <a:noFill/>
          <a:ln/>
        </p:spPr>
        <p:txBody>
          <a:bodyPr wrap="square" lIns="0" tIns="0" rIns="0" bIns="0" rtlCol="0" anchor="ctr"/>
          <a:lstStyle/>
          <a:p>
            <a:pPr indent="0" marL="0">
              <a:buNone/>
            </a:pPr>
            <a:r>
              <a:rPr lang="en-US" sz="1250" b="1" spc="150" kern="0" dirty="0">
                <a:solidFill>
                  <a:srgbClr val="2A9D8F"/>
                </a:solidFill>
                <a:latin typeface="Inter" pitchFamily="34" charset="0"/>
                <a:ea typeface="Inter" pitchFamily="34" charset="-122"/>
                <a:cs typeface="Inter" pitchFamily="34" charset="-120"/>
              </a:rPr>
              <a:t>MS. RIVERA'S PASSAGE · STEP 3</a:t>
            </a:r>
            <a:endParaRPr lang="en-US" sz="1250" dirty="0"/>
          </a:p>
        </p:txBody>
      </p:sp>
      <p:sp>
        <p:nvSpPr>
          <p:cNvPr id="17" name="Text 14"/>
          <p:cNvSpPr/>
          <p:nvPr/>
        </p:nvSpPr>
        <p:spPr>
          <a:xfrm>
            <a:off x="6537960" y="2148840"/>
            <a:ext cx="4892040" cy="3291840"/>
          </a:xfrm>
          <a:prstGeom prst="rect">
            <a:avLst/>
          </a:prstGeom>
          <a:noFill/>
          <a:ln/>
        </p:spPr>
        <p:txBody>
          <a:bodyPr wrap="square" lIns="0" tIns="0" rIns="0" bIns="0" rtlCol="0" anchor="t"/>
          <a:lstStyle/>
          <a:p>
            <a:pPr indent="0" marL="0">
              <a:lnSpc>
                <a:spcPct val="120000"/>
              </a:lnSpc>
              <a:buNone/>
            </a:pPr>
            <a:r>
              <a:rPr lang="en-US" sz="1550" b="1" dirty="0">
                <a:solidFill>
                  <a:srgbClr val="2E7D5B"/>
                </a:solidFill>
                <a:latin typeface="Inter" pitchFamily="34" charset="0"/>
                <a:ea typeface="Inter" pitchFamily="34" charset="-122"/>
                <a:cs typeface="Inter" pitchFamily="34" charset="-120"/>
              </a:rPr>
              <a:t>Accurate: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Every fact and resource checks out.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At level: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one 24-word sentence in the support version. Split it in the chat.
</a:t>
            </a:r>
            <a:pPr indent="0" marL="0">
              <a:lnSpc>
                <a:spcPct val="120000"/>
              </a:lnSpc>
              <a:buNone/>
            </a:pPr>
            <a:r>
              <a:rPr lang="en-US" sz="1550" b="1" dirty="0">
                <a:solidFill>
                  <a:srgbClr val="B4453A"/>
                </a:solidFill>
                <a:latin typeface="Inter" pitchFamily="34" charset="0"/>
                <a:ea typeface="Inter" pitchFamily="34" charset="-122"/>
                <a:cs typeface="Inter" pitchFamily="34" charset="-120"/>
              </a:rPr>
              <a:t>Fits her kids: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the ocean example swapped for the schoolyard one.
</a:t>
            </a:r>
            <a:pPr indent="0" marL="0">
              <a:lnSpc>
                <a:spcPct val="120000"/>
              </a:lnSpc>
              <a:buNone/>
            </a:pPr>
            <a:r>
              <a:rPr lang="en-US" sz="1550" b="1" dirty="0">
                <a:solidFill>
                  <a:srgbClr val="2E7D5B"/>
                </a:solidFill>
                <a:latin typeface="Inter" pitchFamily="34" charset="0"/>
                <a:ea typeface="Inter" pitchFamily="34" charset="-122"/>
                <a:cs typeface="Inter" pitchFamily="34" charset="-120"/>
              </a:rPr>
              <a:t>Sounds like her: </a:t>
            </a:r>
            <a:pPr indent="0" marL="0">
              <a:lnSpc>
                <a:spcPct val="120000"/>
              </a:lnSpc>
              <a:buNone/>
            </a:pPr>
            <a:r>
              <a:rPr lang="en-US" sz="1550" dirty="0">
                <a:solidFill>
                  <a:srgbClr val="1B1F24"/>
                </a:solidFill>
                <a:latin typeface="Inter" pitchFamily="34" charset="0"/>
                <a:ea typeface="Inter" pitchFamily="34" charset="-122"/>
                <a:cs typeface="Inter" pitchFamily="34" charset="-120"/>
              </a:rPr>
              <a:t>passes, after one follow-up: “plainer.”
</a:t>
            </a:r>
            <a:pPr indent="0" marL="0">
              <a:lnSpc>
                <a:spcPct val="120000"/>
              </a:lnSpc>
              <a:buNone/>
            </a:pPr>
            <a:r>
              <a:rPr lang="en-US" sz="1550" i="1" dirty="0">
                <a:solidFill>
                  <a:srgbClr val="5B6B7A"/>
                </a:solidFill>
                <a:latin typeface="Inter" pitchFamily="34" charset="0"/>
                <a:ea typeface="Inter" pitchFamily="34" charset="-122"/>
                <a:cs typeface="Inter" pitchFamily="34" charset="-120"/>
              </a:rPr>
              <a:t>"Two fixes, four passes, while the chat was open."</a:t>
            </a:r>
            <a:endParaRPr lang="en-US" sz="1550" dirty="0"/>
          </a:p>
        </p:txBody>
      </p:sp>
      <p:sp>
        <p:nvSpPr>
          <p:cNvPr id="18" name="Text 15"/>
          <p:cNvSpPr/>
          <p:nvPr/>
        </p:nvSpPr>
        <p:spPr>
          <a:xfrm>
            <a:off x="640080" y="5715000"/>
            <a:ext cx="10972800" cy="457200"/>
          </a:xfrm>
          <a:prstGeom prst="rect">
            <a:avLst/>
          </a:prstGeom>
          <a:noFill/>
          <a:ln/>
        </p:spPr>
        <p:txBody>
          <a:bodyPr wrap="square" lIns="0" tIns="0" rIns="0" bIns="0" rtlCol="0" anchor="ctr"/>
          <a:lstStyle/>
          <a:p>
            <a:pPr algn="ctr" indent="0" marL="0">
              <a:buNone/>
            </a:pPr>
            <a:r>
              <a:rPr lang="en-US" sz="2000" b="1" dirty="0">
                <a:solidFill>
                  <a:srgbClr val="13293D"/>
                </a:solidFill>
                <a:latin typeface="Inter" pitchFamily="34" charset="0"/>
                <a:ea typeface="Inter" pitchFamily="34" charset="-122"/>
                <a:cs typeface="Inter" pitchFamily="34" charset="-120"/>
              </a:rPr>
              <a:t>An artifact that passes all four is done. Not AI-done. Done done.</a:t>
            </a:r>
            <a:endParaRPr lang="en-US" sz="20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26</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finished set, on screen: core, support, stretch, stations, all reviewed.</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LAB · AFTER THE REVIEW · ONE PASSAGE, FINISHED</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Her finished set, ready to teach</a:t>
            </a:r>
            <a:endParaRPr lang="en-US" sz="3200" dirty="0"/>
          </a:p>
        </p:txBody>
      </p:sp>
      <p:sp>
        <p:nvSpPr>
          <p:cNvPr id="14" name="Shape 11"/>
          <p:cNvSpPr/>
          <p:nvPr/>
        </p:nvSpPr>
        <p:spPr>
          <a:xfrm>
            <a:off x="640080" y="1225296"/>
            <a:ext cx="5349240" cy="1975104"/>
          </a:xfrm>
          <a:prstGeom prst="roundRect">
            <a:avLst>
              <a:gd name="adj" fmla="val 4167"/>
            </a:avLst>
          </a:prstGeom>
          <a:solidFill>
            <a:srgbClr val="F7F5F0"/>
          </a:solidFill>
          <a:ln w="12700">
            <a:solidFill>
              <a:srgbClr val="F7F5F0"/>
            </a:solidFill>
            <a:prstDash val="solid"/>
          </a:ln>
        </p:spPr>
      </p:sp>
      <p:sp>
        <p:nvSpPr>
          <p:cNvPr id="15" name="Text 12"/>
          <p:cNvSpPr/>
          <p:nvPr/>
        </p:nvSpPr>
        <p:spPr>
          <a:xfrm>
            <a:off x="914400" y="1371600"/>
            <a:ext cx="4800600" cy="274320"/>
          </a:xfrm>
          <a:prstGeom prst="rect">
            <a:avLst/>
          </a:prstGeom>
          <a:noFill/>
          <a:ln/>
        </p:spPr>
        <p:txBody>
          <a:bodyPr wrap="square" lIns="0" tIns="0" rIns="0" bIns="0" rtlCol="0" anchor="ctr"/>
          <a:lstStyle/>
          <a:p>
            <a:pPr indent="0" marL="0">
              <a:buNone/>
            </a:pPr>
            <a:r>
              <a:rPr lang="en-US" sz="1200" b="1" spc="140" kern="0" dirty="0">
                <a:solidFill>
                  <a:srgbClr val="2A9D8F"/>
                </a:solidFill>
                <a:latin typeface="Inter" pitchFamily="34" charset="0"/>
                <a:ea typeface="Inter" pitchFamily="34" charset="-122"/>
                <a:cs typeface="Inter" pitchFamily="34" charset="-120"/>
              </a:rPr>
              <a:t>CORE · ON GRADE</a:t>
            </a:r>
            <a:endParaRPr lang="en-US" sz="1200" dirty="0"/>
          </a:p>
        </p:txBody>
      </p:sp>
      <p:sp>
        <p:nvSpPr>
          <p:cNvPr id="16" name="Text 13"/>
          <p:cNvSpPr/>
          <p:nvPr/>
        </p:nvSpPr>
        <p:spPr>
          <a:xfrm>
            <a:off x="914400" y="1700784"/>
            <a:ext cx="4800600" cy="1371600"/>
          </a:xfrm>
          <a:prstGeom prst="rect">
            <a:avLst/>
          </a:prstGeom>
          <a:noFill/>
          <a:ln/>
        </p:spPr>
        <p:txBody>
          <a:bodyPr wrap="square" lIns="0" tIns="0" rIns="0" bIns="0" rtlCol="0" anchor="t"/>
          <a:lstStyle/>
          <a:p>
            <a:pPr indent="0" marL="0">
              <a:lnSpc>
                <a:spcPct val="114000"/>
              </a:lnSpc>
              <a:buNone/>
            </a:pPr>
            <a:r>
              <a:rPr lang="en-US" sz="1500" b="1" dirty="0">
                <a:solidFill>
                  <a:srgbClr val="13293D"/>
                </a:solidFill>
                <a:latin typeface="Inter" pitchFamily="34" charset="0"/>
                <a:ea typeface="Inter" pitchFamily="34" charset="-122"/>
                <a:cs typeface="Inter" pitchFamily="34" charset="-120"/>
              </a:rPr>
              <a:t>“Food Webs: Energy on the Move”
</a:t>
            </a:r>
            <a:pPr indent="0" marL="0">
              <a:lnSpc>
                <a:spcPct val="114000"/>
              </a:lnSpc>
              <a:buNone/>
            </a:pPr>
            <a:r>
              <a:rPr lang="en-US" sz="1500" dirty="0">
                <a:solidFill>
                  <a:srgbClr val="1B1F24"/>
                </a:solidFill>
                <a:latin typeface="Inter" pitchFamily="34" charset="0"/>
                <a:ea typeface="Inter" pitchFamily="34" charset="-122"/>
                <a:cs typeface="Inter" pitchFamily="34" charset="-120"/>
              </a:rPr>
              <a:t>Four sections, unchanged. “Producers, such as grasses and oak trees, capture sunlight and build their own food.”</a:t>
            </a:r>
            <a:endParaRPr lang="en-US" sz="1500" dirty="0"/>
          </a:p>
        </p:txBody>
      </p:sp>
      <p:sp>
        <p:nvSpPr>
          <p:cNvPr id="17" name="Shape 14"/>
          <p:cNvSpPr/>
          <p:nvPr/>
        </p:nvSpPr>
        <p:spPr>
          <a:xfrm>
            <a:off x="6263640" y="1225296"/>
            <a:ext cx="5349240" cy="1975104"/>
          </a:xfrm>
          <a:prstGeom prst="roundRect">
            <a:avLst>
              <a:gd name="adj" fmla="val 4167"/>
            </a:avLst>
          </a:prstGeom>
          <a:solidFill>
            <a:srgbClr val="F7F5F0"/>
          </a:solidFill>
          <a:ln w="12700">
            <a:solidFill>
              <a:srgbClr val="F7F5F0"/>
            </a:solidFill>
            <a:prstDash val="solid"/>
          </a:ln>
        </p:spPr>
      </p:sp>
      <p:sp>
        <p:nvSpPr>
          <p:cNvPr id="18" name="Text 15"/>
          <p:cNvSpPr/>
          <p:nvPr/>
        </p:nvSpPr>
        <p:spPr>
          <a:xfrm>
            <a:off x="6537960" y="1371600"/>
            <a:ext cx="4800600" cy="274320"/>
          </a:xfrm>
          <a:prstGeom prst="rect">
            <a:avLst/>
          </a:prstGeom>
          <a:noFill/>
          <a:ln/>
        </p:spPr>
        <p:txBody>
          <a:bodyPr wrap="square" lIns="0" tIns="0" rIns="0" bIns="0" rtlCol="0" anchor="ctr"/>
          <a:lstStyle/>
          <a:p>
            <a:pPr indent="0" marL="0">
              <a:buNone/>
            </a:pPr>
            <a:r>
              <a:rPr lang="en-US" sz="1200" b="1" spc="140" kern="0" dirty="0">
                <a:solidFill>
                  <a:srgbClr val="2E7D5B"/>
                </a:solidFill>
                <a:latin typeface="Inter" pitchFamily="34" charset="0"/>
                <a:ea typeface="Inter" pitchFamily="34" charset="-122"/>
                <a:cs typeface="Inter" pitchFamily="34" charset="-120"/>
              </a:rPr>
              <a:t>SUPPORT · ABOUT TWO YEARS BELOW</a:t>
            </a:r>
            <a:endParaRPr lang="en-US" sz="1200" dirty="0"/>
          </a:p>
        </p:txBody>
      </p:sp>
      <p:sp>
        <p:nvSpPr>
          <p:cNvPr id="19" name="Text 16"/>
          <p:cNvSpPr/>
          <p:nvPr/>
        </p:nvSpPr>
        <p:spPr>
          <a:xfrm>
            <a:off x="6537960" y="1700784"/>
            <a:ext cx="4800600" cy="1371600"/>
          </a:xfrm>
          <a:prstGeom prst="rect">
            <a:avLst/>
          </a:prstGeom>
          <a:noFill/>
          <a:ln/>
        </p:spPr>
        <p:txBody>
          <a:bodyPr wrap="square" lIns="0" tIns="0" rIns="0" bIns="0" rtlCol="0" anchor="t"/>
          <a:lstStyle/>
          <a:p>
            <a:pPr indent="0" marL="0">
              <a:lnSpc>
                <a:spcPct val="114000"/>
              </a:lnSpc>
              <a:buNone/>
            </a:pPr>
            <a:r>
              <a:rPr lang="en-US" sz="1500" b="1" dirty="0">
                <a:solidFill>
                  <a:srgbClr val="13293D"/>
                </a:solidFill>
                <a:latin typeface="Inter" pitchFamily="34" charset="0"/>
                <a:ea typeface="Inter" pitchFamily="34" charset="-122"/>
                <a:cs typeface="Inter" pitchFamily="34" charset="-120"/>
              </a:rPr>
              <a:t>“Food Webs: Energy on the Move (Support)”
</a:t>
            </a:r>
            <a:pPr indent="0" marL="0">
              <a:lnSpc>
                <a:spcPct val="114000"/>
              </a:lnSpc>
              <a:buNone/>
            </a:pPr>
            <a:r>
              <a:rPr lang="en-US" sz="1500" dirty="0">
                <a:solidFill>
                  <a:srgbClr val="1B1F24"/>
                </a:solidFill>
                <a:latin typeface="Inter" pitchFamily="34" charset="0"/>
                <a:ea typeface="Inter" pitchFamily="34" charset="-122"/>
                <a:cs typeface="Inter" pitchFamily="34" charset="-120"/>
              </a:rPr>
              <a:t>Same four sections. “A rabbit eats the grass. A hawk eats the rabbit.” Vocabulary box, five sentence starters, one worked example.</a:t>
            </a:r>
            <a:endParaRPr lang="en-US" sz="1500" dirty="0"/>
          </a:p>
        </p:txBody>
      </p:sp>
      <p:sp>
        <p:nvSpPr>
          <p:cNvPr id="20" name="Shape 17"/>
          <p:cNvSpPr/>
          <p:nvPr/>
        </p:nvSpPr>
        <p:spPr>
          <a:xfrm>
            <a:off x="640080" y="3310128"/>
            <a:ext cx="5349240" cy="1975104"/>
          </a:xfrm>
          <a:prstGeom prst="roundRect">
            <a:avLst>
              <a:gd name="adj" fmla="val 4167"/>
            </a:avLst>
          </a:prstGeom>
          <a:solidFill>
            <a:srgbClr val="F7F5F0"/>
          </a:solidFill>
          <a:ln w="12700">
            <a:solidFill>
              <a:srgbClr val="F7F5F0"/>
            </a:solidFill>
            <a:prstDash val="solid"/>
          </a:ln>
        </p:spPr>
      </p:sp>
      <p:sp>
        <p:nvSpPr>
          <p:cNvPr id="21" name="Text 18"/>
          <p:cNvSpPr/>
          <p:nvPr/>
        </p:nvSpPr>
        <p:spPr>
          <a:xfrm>
            <a:off x="914400" y="3456432"/>
            <a:ext cx="4800600" cy="274320"/>
          </a:xfrm>
          <a:prstGeom prst="rect">
            <a:avLst/>
          </a:prstGeom>
          <a:noFill/>
          <a:ln/>
        </p:spPr>
        <p:txBody>
          <a:bodyPr wrap="square" lIns="0" tIns="0" rIns="0" bIns="0" rtlCol="0" anchor="ctr"/>
          <a:lstStyle/>
          <a:p>
            <a:pPr indent="0" marL="0">
              <a:buNone/>
            </a:pPr>
            <a:r>
              <a:rPr lang="en-US" sz="1200" b="1" spc="140" kern="0" dirty="0">
                <a:solidFill>
                  <a:srgbClr val="B07914"/>
                </a:solidFill>
                <a:latin typeface="Inter" pitchFamily="34" charset="0"/>
                <a:ea typeface="Inter" pitchFamily="34" charset="-122"/>
                <a:cs typeface="Inter" pitchFamily="34" charset="-120"/>
              </a:rPr>
              <a:t>STRETCH · DEPTH, NOT VOLUME</a:t>
            </a:r>
            <a:endParaRPr lang="en-US" sz="1200" dirty="0"/>
          </a:p>
        </p:txBody>
      </p:sp>
      <p:sp>
        <p:nvSpPr>
          <p:cNvPr id="22" name="Text 19"/>
          <p:cNvSpPr/>
          <p:nvPr/>
        </p:nvSpPr>
        <p:spPr>
          <a:xfrm>
            <a:off x="914400" y="3785616"/>
            <a:ext cx="4800600" cy="1371600"/>
          </a:xfrm>
          <a:prstGeom prst="rect">
            <a:avLst/>
          </a:prstGeom>
          <a:noFill/>
          <a:ln/>
        </p:spPr>
        <p:txBody>
          <a:bodyPr wrap="square" lIns="0" tIns="0" rIns="0" bIns="0" rtlCol="0" anchor="t"/>
          <a:lstStyle/>
          <a:p>
            <a:pPr indent="0" marL="0">
              <a:lnSpc>
                <a:spcPct val="114000"/>
              </a:lnSpc>
              <a:buNone/>
            </a:pPr>
            <a:r>
              <a:rPr lang="en-US" sz="1500" b="1" dirty="0">
                <a:solidFill>
                  <a:srgbClr val="13293D"/>
                </a:solidFill>
                <a:latin typeface="Inter" pitchFamily="34" charset="0"/>
                <a:ea typeface="Inter" pitchFamily="34" charset="-122"/>
                <a:cs typeface="Inter" pitchFamily="34" charset="-120"/>
              </a:rPr>
              <a:t>Three prompts, no extra worksheet
</a:t>
            </a:r>
            <a:pPr indent="0" marL="0">
              <a:lnSpc>
                <a:spcPct val="114000"/>
              </a:lnSpc>
              <a:buNone/>
            </a:pPr>
            <a:r>
              <a:rPr lang="en-US" sz="1500" dirty="0">
                <a:solidFill>
                  <a:srgbClr val="1B1F24"/>
                </a:solidFill>
                <a:latin typeface="Inter" pitchFamily="34" charset="0"/>
                <a:ea typeface="Inter" pitchFamily="34" charset="-122"/>
                <a:cs typeface="Inter" pitchFamily="34" charset="-120"/>
              </a:rPr>
              <a:t>Apply it to a desert food web. Find the flaw in a broken web. Teach it to a 3rd grader in your own words.</a:t>
            </a:r>
            <a:endParaRPr lang="en-US" sz="1500" dirty="0"/>
          </a:p>
        </p:txBody>
      </p:sp>
      <p:sp>
        <p:nvSpPr>
          <p:cNvPr id="23" name="Shape 20"/>
          <p:cNvSpPr/>
          <p:nvPr/>
        </p:nvSpPr>
        <p:spPr>
          <a:xfrm>
            <a:off x="6263640" y="3310128"/>
            <a:ext cx="5349240" cy="1975104"/>
          </a:xfrm>
          <a:prstGeom prst="roundRect">
            <a:avLst>
              <a:gd name="adj" fmla="val 4167"/>
            </a:avLst>
          </a:prstGeom>
          <a:solidFill>
            <a:srgbClr val="F7F5F0"/>
          </a:solidFill>
          <a:ln w="12700">
            <a:solidFill>
              <a:srgbClr val="F7F5F0"/>
            </a:solidFill>
            <a:prstDash val="solid"/>
          </a:ln>
        </p:spPr>
      </p:sp>
      <p:sp>
        <p:nvSpPr>
          <p:cNvPr id="24" name="Text 21"/>
          <p:cNvSpPr/>
          <p:nvPr/>
        </p:nvSpPr>
        <p:spPr>
          <a:xfrm>
            <a:off x="6537960" y="3456432"/>
            <a:ext cx="4800600" cy="274320"/>
          </a:xfrm>
          <a:prstGeom prst="rect">
            <a:avLst/>
          </a:prstGeom>
          <a:noFill/>
          <a:ln/>
        </p:spPr>
        <p:txBody>
          <a:bodyPr wrap="square" lIns="0" tIns="0" rIns="0" bIns="0" rtlCol="0" anchor="ctr"/>
          <a:lstStyle/>
          <a:p>
            <a:pPr indent="0" marL="0">
              <a:buNone/>
            </a:pPr>
            <a:r>
              <a:rPr lang="en-US" sz="1200" b="1" spc="140" kern="0" dirty="0">
                <a:solidFill>
                  <a:srgbClr val="13293D"/>
                </a:solidFill>
                <a:latin typeface="Inter" pitchFamily="34" charset="0"/>
                <a:ea typeface="Inter" pitchFamily="34" charset="-122"/>
                <a:cs typeface="Inter" pitchFamily="34" charset="-120"/>
              </a:rPr>
              <a:t>REFORMAT · SAME CONTENT, NEW SHAPE</a:t>
            </a:r>
            <a:endParaRPr lang="en-US" sz="1200" dirty="0"/>
          </a:p>
        </p:txBody>
      </p:sp>
      <p:sp>
        <p:nvSpPr>
          <p:cNvPr id="25" name="Text 22"/>
          <p:cNvSpPr/>
          <p:nvPr/>
        </p:nvSpPr>
        <p:spPr>
          <a:xfrm>
            <a:off x="6537960" y="3785616"/>
            <a:ext cx="4800600" cy="1371600"/>
          </a:xfrm>
          <a:prstGeom prst="rect">
            <a:avLst/>
          </a:prstGeom>
          <a:noFill/>
          <a:ln/>
        </p:spPr>
        <p:txBody>
          <a:bodyPr wrap="square" lIns="0" tIns="0" rIns="0" bIns="0" rtlCol="0" anchor="t"/>
          <a:lstStyle/>
          <a:p>
            <a:pPr indent="0" marL="0">
              <a:lnSpc>
                <a:spcPct val="114000"/>
              </a:lnSpc>
              <a:buNone/>
            </a:pPr>
            <a:r>
              <a:rPr lang="en-US" sz="1500" b="1" dirty="0">
                <a:solidFill>
                  <a:srgbClr val="13293D"/>
                </a:solidFill>
                <a:latin typeface="Inter" pitchFamily="34" charset="0"/>
                <a:ea typeface="Inter" pitchFamily="34" charset="-122"/>
                <a:cs typeface="Inter" pitchFamily="34" charset="-120"/>
              </a:rPr>
              <a:t>Four station directions, eight cards
</a:t>
            </a:r>
            <a:pPr indent="0" marL="0">
              <a:lnSpc>
                <a:spcPct val="114000"/>
              </a:lnSpc>
              <a:buNone/>
            </a:pPr>
            <a:r>
              <a:rPr lang="en-US" sz="1500" dirty="0">
                <a:solidFill>
                  <a:srgbClr val="1B1F24"/>
                </a:solidFill>
                <a:latin typeface="Inter" pitchFamily="34" charset="0"/>
                <a:ea typeface="Inter" pitchFamily="34" charset="-122"/>
                <a:cs typeface="Inter" pitchFamily="34" charset="-120"/>
              </a:rPr>
              <a:t>The same food web content, labeled and ready to print, so Tuesday can run as stations instead of a read-aloud.</a:t>
            </a:r>
            <a:endParaRPr lang="en-US" sz="1500" dirty="0"/>
          </a:p>
        </p:txBody>
      </p:sp>
      <p:sp>
        <p:nvSpPr>
          <p:cNvPr id="26" name="Shape 23"/>
          <p:cNvSpPr/>
          <p:nvPr/>
        </p:nvSpPr>
        <p:spPr>
          <a:xfrm>
            <a:off x="640080" y="5440680"/>
            <a:ext cx="10972800" cy="658368"/>
          </a:xfrm>
          <a:prstGeom prst="roundRect">
            <a:avLst>
              <a:gd name="adj" fmla="val 12500"/>
            </a:avLst>
          </a:prstGeom>
          <a:solidFill>
            <a:srgbClr val="13293D"/>
          </a:solidFill>
          <a:ln w="12700">
            <a:solidFill>
              <a:srgbClr val="13293D"/>
            </a:solidFill>
            <a:prstDash val="solid"/>
          </a:ln>
        </p:spPr>
      </p:sp>
      <p:sp>
        <p:nvSpPr>
          <p:cNvPr id="27" name="Text 24"/>
          <p:cNvSpPr/>
          <p:nvPr/>
        </p:nvSpPr>
        <p:spPr>
          <a:xfrm>
            <a:off x="960120" y="5440680"/>
            <a:ext cx="10332720" cy="658368"/>
          </a:xfrm>
          <a:prstGeom prst="rect">
            <a:avLst/>
          </a:prstGeom>
          <a:noFill/>
          <a:ln/>
        </p:spPr>
        <p:txBody>
          <a:bodyPr wrap="square" lIns="0" tIns="0" rIns="0" bIns="0" rtlCol="0" anchor="ctr"/>
          <a:lstStyle/>
          <a:p>
            <a:pPr algn="ctr" indent="0" marL="0">
              <a:buNone/>
            </a:pPr>
            <a:r>
              <a:rPr lang="en-US" sz="1600" b="1" dirty="0">
                <a:solidFill>
                  <a:srgbClr val="2A9D8F"/>
                </a:solidFill>
                <a:latin typeface="Inter" pitchFamily="34" charset="0"/>
                <a:ea typeface="Inter" pitchFamily="34" charset="-122"/>
                <a:cs typeface="Inter" pitchFamily="34" charset="-120"/>
              </a:rPr>
              <a:t>Accurate · At level · Fits her students · Sounds like her.  </a:t>
            </a:r>
            <a:pPr algn="ctr" indent="0" marL="0">
              <a:buNone/>
            </a:pPr>
            <a:r>
              <a:rPr lang="en-US" sz="1600" dirty="0">
                <a:solidFill>
                  <a:srgbClr val="FFFFFF"/>
                </a:solidFill>
                <a:latin typeface="Inter" pitchFamily="34" charset="0"/>
                <a:ea typeface="Inter" pitchFamily="34" charset="-122"/>
                <a:cs typeface="Inter" pitchFamily="34" charset="-120"/>
              </a:rPr>
              <a:t>All four passed, after two fixes. One passage in, four teachable versions out.</a:t>
            </a:r>
            <a:endParaRPr lang="en-US" sz="16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27</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share-out: what the review caught in her food webs passage, told first.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SHARE-OUT · 3–4 VOICES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What did you build?</a:t>
            </a:r>
            <a:endParaRPr lang="en-US" sz="3200" dirty="0"/>
          </a:p>
        </p:txBody>
      </p:sp>
      <p:sp>
        <p:nvSpPr>
          <p:cNvPr id="14" name="Text 11"/>
          <p:cNvSpPr/>
          <p:nvPr/>
        </p:nvSpPr>
        <p:spPr>
          <a:xfrm>
            <a:off x="640080" y="1554480"/>
            <a:ext cx="10908792" cy="2560320"/>
          </a:xfrm>
          <a:prstGeom prst="rect">
            <a:avLst/>
          </a:prstGeom>
          <a:noFill/>
          <a:ln/>
        </p:spPr>
        <p:txBody>
          <a:bodyPr wrap="square" rtlCol="0" anchor="t"/>
          <a:lstStyle/>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What’s your artifact, and which direction surprised you?</a:t>
            </a:r>
            <a:endParaRPr lang="en-US" sz="2200" dirty="0"/>
          </a:p>
          <a:p>
            <a:pPr marL="342900" indent="-342900">
              <a:spcAft>
                <a:spcPts val="1000"/>
              </a:spcAft>
              <a:buSzPct val="100000"/>
              <a:buChar char="•"/>
            </a:pPr>
            <a:r>
              <a:rPr lang="en-US" sz="2200" dirty="0">
                <a:solidFill>
                  <a:srgbClr val="1B1F24"/>
                </a:solidFill>
                <a:latin typeface="Inter" pitchFamily="34" charset="0"/>
                <a:ea typeface="Inter" pitchFamily="34" charset="-122"/>
                <a:cs typeface="Inter" pitchFamily="34" charset="-120"/>
              </a:rPr>
              <a:t>Did the 4-point review catch anything?</a:t>
            </a:r>
            <a:endParaRPr lang="en-US" sz="2200" dirty="0"/>
          </a:p>
          <a:p>
            <a:pPr marL="342900" indent="-342900">
              <a:spcAft>
                <a:spcPts val="1000"/>
              </a:spcAft>
              <a:buSzPct val="100000"/>
              <a:buChar char="•"/>
            </a:pPr>
            <a:r>
              <a:rPr lang="en-US" sz="2200" b="1" dirty="0">
                <a:solidFill>
                  <a:srgbClr val="13293D"/>
                </a:solidFill>
                <a:latin typeface="Inter" pitchFamily="34" charset="0"/>
                <a:ea typeface="Inter" pitchFamily="34" charset="-122"/>
                <a:cs typeface="Inter" pitchFamily="34" charset="-120"/>
              </a:rPr>
              <a:t>If the AI got a level wrong or invented something, that story goes first.</a:t>
            </a:r>
            <a:endParaRPr lang="en-US" sz="2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28</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twenty minutes: one food webs passage became four teachable versions.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NINETEEN MINUTES AGO THIS DIDN’T EXIST</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From good intentions to materials</a:t>
            </a:r>
            <a:endParaRPr lang="en-US" sz="3200" dirty="0"/>
          </a:p>
        </p:txBody>
      </p:sp>
      <p:sp>
        <p:nvSpPr>
          <p:cNvPr id="14" name="Shape 11"/>
          <p:cNvSpPr/>
          <p:nvPr/>
        </p:nvSpPr>
        <p:spPr>
          <a:xfrm>
            <a:off x="640080" y="1645920"/>
            <a:ext cx="10972800" cy="3291840"/>
          </a:xfrm>
          <a:prstGeom prst="roundRect">
            <a:avLst>
              <a:gd name="adj" fmla="val 2500"/>
            </a:avLst>
          </a:prstGeom>
          <a:solidFill>
            <a:srgbClr val="F7F5F0"/>
          </a:solidFill>
          <a:ln w="12700">
            <a:solidFill>
              <a:srgbClr val="F7F5F0"/>
            </a:solidFill>
            <a:prstDash val="solid"/>
          </a:ln>
        </p:spPr>
      </p:sp>
      <p:sp>
        <p:nvSpPr>
          <p:cNvPr id="15" name="Text 12"/>
          <p:cNvSpPr/>
          <p:nvPr/>
        </p:nvSpPr>
        <p:spPr>
          <a:xfrm>
            <a:off x="1005840" y="1920240"/>
            <a:ext cx="10241280" cy="2743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A core artifact. A support version. An extension. All reviewed by the one person qualified to review them.
</a:t>
            </a:r>
            <a:pPr indent="0" marL="0">
              <a:buNone/>
            </a:pPr>
            <a:r>
              <a:rPr lang="en-US" sz="2000" dirty="0">
                <a:solidFill>
                  <a:srgbClr val="1B1F24"/>
                </a:solidFill>
                <a:latin typeface="Inter" pitchFamily="34" charset="0"/>
                <a:ea typeface="Inter" pitchFamily="34" charset="-122"/>
                <a:cs typeface="Inter" pitchFamily="34" charset="-120"/>
              </a:rPr>
              <a:t>The research said differentiation works best embedded and technology-supported. That’s not a description of some other school anymore. It’s what’s on your screen.</a:t>
            </a:r>
            <a:endParaRPr lang="en-US" sz="20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29</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habit: one differentiated artifact a week. Small and steady.</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THE HABIT THAT COMPOUNDS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One differentiated artifact per week</a:t>
            </a:r>
            <a:endParaRPr lang="en-US" sz="2800" dirty="0"/>
          </a:p>
        </p:txBody>
      </p:sp>
      <p:sp>
        <p:nvSpPr>
          <p:cNvPr id="14" name="Text 11"/>
          <p:cNvSpPr/>
          <p:nvPr/>
        </p:nvSpPr>
        <p:spPr>
          <a:xfrm>
            <a:off x="640080" y="1463040"/>
            <a:ext cx="10908792" cy="2377440"/>
          </a:xfrm>
          <a:prstGeom prst="rect">
            <a:avLst/>
          </a:prstGeom>
          <a:noFill/>
          <a:ln/>
        </p:spPr>
        <p:txBody>
          <a:bodyPr wrap="square" rtlCol="0" anchor="t"/>
          <a:lstStyle/>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Not a differentiated everything; that’s burnout dressed up as ambition</a:t>
            </a:r>
            <a:endParaRPr lang="en-US" sz="2100" dirty="0"/>
          </a:p>
          <a:p>
            <a:pPr marL="342900" indent="-342900">
              <a:spcAft>
                <a:spcPts val="1000"/>
              </a:spcAft>
              <a:buSzPct val="100000"/>
              <a:buChar char="•"/>
            </a:pPr>
            <a:r>
              <a:rPr lang="en-US" sz="2100" dirty="0">
                <a:solidFill>
                  <a:srgbClr val="1B1F24"/>
                </a:solidFill>
                <a:latin typeface="Inter" pitchFamily="34" charset="0"/>
                <a:ea typeface="Inter" pitchFamily="34" charset="-122"/>
                <a:cs typeface="Inter" pitchFamily="34" charset="-120"/>
              </a:rPr>
              <a:t>One lesson a week gets the full treatment: core, support, extension, review</a:t>
            </a:r>
            <a:endParaRPr lang="en-US" sz="2100" dirty="0"/>
          </a:p>
          <a:p>
            <a:pPr marL="342900" indent="-342900">
              <a:spcAft>
                <a:spcPts val="1000"/>
              </a:spcAft>
              <a:buSzPct val="100000"/>
              <a:buChar char="•"/>
            </a:pPr>
            <a:r>
              <a:rPr lang="en-US" sz="2100" b="1" dirty="0">
                <a:solidFill>
                  <a:srgbClr val="13293D"/>
                </a:solidFill>
                <a:latin typeface="Inter" pitchFamily="34" charset="0"/>
                <a:ea typeface="Inter" pitchFamily="34" charset="-122"/>
                <a:cs typeface="Inter" pitchFamily="34" charset="-120"/>
              </a:rPr>
              <a:t>Fifteen weeks in: fifteen lessons deep with materials for every learner on your roster</a:t>
            </a:r>
            <a:endParaRPr lang="en-US" sz="2100" dirty="0"/>
          </a:p>
        </p:txBody>
      </p:sp>
      <p:sp>
        <p:nvSpPr>
          <p:cNvPr id="15" name="Shape 12"/>
          <p:cNvSpPr/>
          <p:nvPr/>
        </p:nvSpPr>
        <p:spPr>
          <a:xfrm>
            <a:off x="640080" y="4023360"/>
            <a:ext cx="10972800" cy="1554480"/>
          </a:xfrm>
          <a:prstGeom prst="roundRect">
            <a:avLst>
              <a:gd name="adj" fmla="val 5294"/>
            </a:avLst>
          </a:prstGeom>
          <a:solidFill>
            <a:srgbClr val="EAF5F3"/>
          </a:solidFill>
          <a:ln w="12700">
            <a:solidFill>
              <a:srgbClr val="EAF5F3"/>
            </a:solidFill>
            <a:prstDash val="solid"/>
          </a:ln>
        </p:spPr>
      </p:sp>
      <p:sp>
        <p:nvSpPr>
          <p:cNvPr id="16" name="Text 13"/>
          <p:cNvSpPr/>
          <p:nvPr/>
        </p:nvSpPr>
        <p:spPr>
          <a:xfrm>
            <a:off x="960120" y="4206240"/>
            <a:ext cx="10332720" cy="1188720"/>
          </a:xfrm>
          <a:prstGeom prst="rect">
            <a:avLst/>
          </a:prstGeom>
          <a:noFill/>
          <a:ln/>
        </p:spPr>
        <p:txBody>
          <a:bodyPr wrap="square" lIns="0" tIns="0" rIns="0" bIns="0" rtlCol="0" anchor="ctr"/>
          <a:lstStyle/>
          <a:p>
            <a:pPr indent="0" marL="0">
              <a:buNone/>
            </a:pPr>
            <a:r>
              <a:rPr lang="en-US" sz="2400" b="1" dirty="0">
                <a:solidFill>
                  <a:srgbClr val="13293D"/>
                </a:solidFill>
                <a:latin typeface="Inter" pitchFamily="34" charset="0"/>
                <a:ea typeface="Inter" pitchFamily="34" charset="-122"/>
                <a:cs typeface="Inter" pitchFamily="34" charset="-120"/>
              </a:rPr>
              <a:t>Small, steady, sustainable. That’s the whole strategy.</a:t>
            </a:r>
            <a:endParaRPr lang="en-US" sz="2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30</a:t>
            </a:r>
            <a:endParaRPr lang="en-US" sz="900" dirty="0"/>
          </a:p>
        </p:txBody>
      </p:sp>
      <p:sp>
        <p:nvSpPr>
          <p:cNvPr id="5" name="Shape 2"/>
          <p:cNvSpPr/>
          <p:nvPr/>
        </p:nvSpPr>
        <p:spPr>
          <a:xfrm>
            <a:off x="8732520" y="109728"/>
            <a:ext cx="2926080" cy="896112"/>
          </a:xfrm>
          <a:prstGeom prst="roundRect">
            <a:avLst>
              <a:gd name="adj" fmla="val 7143"/>
            </a:avLst>
          </a:prstGeom>
          <a:solidFill>
            <a:srgbClr val="1E3A50"/>
          </a:solidFill>
          <a:ln w="12700">
            <a:solidFill>
              <a:srgbClr val="2A4A63"/>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C9D4DE"/>
                </a:solidFill>
                <a:latin typeface="Inter" pitchFamily="34" charset="0"/>
                <a:ea typeface="Inter" pitchFamily="34" charset="-122"/>
                <a:cs typeface="Inter" pitchFamily="34" charset="-120"/>
              </a:rPr>
              <a:t>Her commitment #5: nothing reaches a student until the review passes.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F4A825"/>
                </a:solidFill>
                <a:latin typeface="Inter" pitchFamily="34" charset="0"/>
                <a:ea typeface="Inter" pitchFamily="34" charset="-122"/>
                <a:cs typeface="Inter" pitchFamily="34" charset="-120"/>
              </a:rPr>
              <a:t>THE LIST GROWS BY ONE</a:t>
            </a:r>
            <a:endParaRPr lang="en-US" sz="1200" dirty="0"/>
          </a:p>
        </p:txBody>
      </p:sp>
      <p:sp>
        <p:nvSpPr>
          <p:cNvPr id="13" name="Text 10"/>
          <p:cNvSpPr/>
          <p:nvPr/>
        </p:nvSpPr>
        <p:spPr>
          <a:xfrm>
            <a:off x="640080" y="1463040"/>
            <a:ext cx="10972800" cy="731520"/>
          </a:xfrm>
          <a:prstGeom prst="rect">
            <a:avLst/>
          </a:prstGeom>
          <a:noFill/>
          <a:ln/>
        </p:spPr>
        <p:txBody>
          <a:bodyPr wrap="square" lIns="0" tIns="0" rIns="0" bIns="0" rtlCol="0" anchor="ctr"/>
          <a:lstStyle/>
          <a:p>
            <a:pPr indent="0" marL="0">
              <a:buNone/>
            </a:pPr>
            <a:r>
              <a:rPr lang="en-US" sz="3600" b="1" dirty="0">
                <a:solidFill>
                  <a:srgbClr val="FFFFFF"/>
                </a:solidFill>
                <a:latin typeface="Inter" pitchFamily="34" charset="0"/>
                <a:ea typeface="Inter" pitchFamily="34" charset="-122"/>
                <a:cs typeface="Inter" pitchFamily="34" charset="-120"/>
              </a:rPr>
              <a:t>Commitment #5</a:t>
            </a:r>
            <a:endParaRPr lang="en-US" sz="3600" dirty="0"/>
          </a:p>
        </p:txBody>
      </p:sp>
      <p:sp>
        <p:nvSpPr>
          <p:cNvPr id="14" name="Text 11"/>
          <p:cNvSpPr/>
          <p:nvPr/>
        </p:nvSpPr>
        <p:spPr>
          <a:xfrm>
            <a:off x="640080" y="2468880"/>
            <a:ext cx="10972800" cy="1463040"/>
          </a:xfrm>
          <a:prstGeom prst="rect">
            <a:avLst/>
          </a:prstGeom>
          <a:noFill/>
          <a:ln/>
        </p:spPr>
        <p:txBody>
          <a:bodyPr wrap="square" lIns="0" tIns="0" rIns="0" bIns="0" rtlCol="0" anchor="ctr"/>
          <a:lstStyle/>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Nothing AI-drafted reaches a student until it passes the 4-point review.</a:t>
            </a:r>
            <a:endParaRPr lang="en-US" sz="2700" dirty="0"/>
          </a:p>
          <a:p>
            <a:pPr indent="0" marL="0">
              <a:lnSpc>
                <a:spcPct val="120000"/>
              </a:lnSpc>
              <a:buNone/>
            </a:pPr>
            <a:r>
              <a:rPr lang="en-US" sz="2700" b="1" dirty="0">
                <a:solidFill>
                  <a:srgbClr val="2A9D8F"/>
                </a:solidFill>
                <a:latin typeface="Inter" pitchFamily="34" charset="0"/>
                <a:ea typeface="Inter" pitchFamily="34" charset="-122"/>
                <a:cs typeface="Inter" pitchFamily="34" charset="-120"/>
              </a:rPr>
              <a:t>And working differentiation prompts go in the staff doc.</a:t>
            </a:r>
            <a:endParaRPr lang="en-US" sz="2700" dirty="0"/>
          </a:p>
        </p:txBody>
      </p:sp>
      <p:sp>
        <p:nvSpPr>
          <p:cNvPr id="15" name="Text 12"/>
          <p:cNvSpPr/>
          <p:nvPr/>
        </p:nvSpPr>
        <p:spPr>
          <a:xfrm>
            <a:off x="640080" y="4846320"/>
            <a:ext cx="10972800" cy="457200"/>
          </a:xfrm>
          <a:prstGeom prst="rect">
            <a:avLst/>
          </a:prstGeom>
          <a:noFill/>
          <a:ln/>
        </p:spPr>
        <p:txBody>
          <a:bodyPr wrap="square" lIns="0" tIns="0" rIns="0" bIns="0" rtlCol="0" anchor="ctr"/>
          <a:lstStyle/>
          <a:p>
            <a:pPr indent="0" marL="0">
              <a:buNone/>
            </a:pPr>
            <a:r>
              <a:rPr lang="en-US" sz="2000" i="1" dirty="0">
                <a:solidFill>
                  <a:srgbClr val="9FB2C2"/>
                </a:solidFill>
                <a:latin typeface="Inter" pitchFamily="34" charset="0"/>
                <a:ea typeface="Inter" pitchFamily="34" charset="-122"/>
                <a:cs typeface="Inter" pitchFamily="34" charset="-120"/>
              </a:rPr>
              <a:t>Can I get a nod on that?</a:t>
            </a:r>
            <a:endParaRPr lang="en-US" sz="20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31</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next kit: assessment. Rubrics and question banks from her notes.</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KIT 3 OF 8 · TRACK A</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Where this series goes next</a:t>
            </a:r>
            <a:endParaRPr lang="en-US" sz="3200" dirty="0"/>
          </a:p>
        </p:txBody>
      </p:sp>
      <p:sp>
        <p:nvSpPr>
          <p:cNvPr id="14" name="Shape 11"/>
          <p:cNvSpPr/>
          <p:nvPr/>
        </p:nvSpPr>
        <p:spPr>
          <a:xfrm>
            <a:off x="640080" y="1554480"/>
            <a:ext cx="2651760" cy="1005840"/>
          </a:xfrm>
          <a:prstGeom prst="roundRect">
            <a:avLst>
              <a:gd name="adj" fmla="val 8182"/>
            </a:avLst>
          </a:prstGeom>
          <a:solidFill>
            <a:srgbClr val="EAF5F3"/>
          </a:solidFill>
          <a:ln w="12700">
            <a:solidFill>
              <a:srgbClr val="EAF5F3"/>
            </a:solidFill>
            <a:prstDash val="solid"/>
          </a:ln>
        </p:spPr>
      </p:sp>
      <p:sp>
        <p:nvSpPr>
          <p:cNvPr id="15" name="Text 12"/>
          <p:cNvSpPr/>
          <p:nvPr/>
        </p:nvSpPr>
        <p:spPr>
          <a:xfrm>
            <a:off x="82296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1 · Foundations &amp; Safety  ✔</a:t>
            </a:r>
            <a:endParaRPr lang="en-US" sz="1450" dirty="0"/>
          </a:p>
        </p:txBody>
      </p:sp>
      <p:sp>
        <p:nvSpPr>
          <p:cNvPr id="16" name="Shape 13"/>
          <p:cNvSpPr/>
          <p:nvPr/>
        </p:nvSpPr>
        <p:spPr>
          <a:xfrm>
            <a:off x="3474720" y="1554480"/>
            <a:ext cx="2651760" cy="1005840"/>
          </a:xfrm>
          <a:prstGeom prst="roundRect">
            <a:avLst>
              <a:gd name="adj" fmla="val 8182"/>
            </a:avLst>
          </a:prstGeom>
          <a:solidFill>
            <a:srgbClr val="EAF5F3"/>
          </a:solidFill>
          <a:ln w="12700">
            <a:solidFill>
              <a:srgbClr val="EAF5F3"/>
            </a:solidFill>
            <a:prstDash val="solid"/>
          </a:ln>
        </p:spPr>
      </p:sp>
      <p:sp>
        <p:nvSpPr>
          <p:cNvPr id="17" name="Text 14"/>
          <p:cNvSpPr/>
          <p:nvPr/>
        </p:nvSpPr>
        <p:spPr>
          <a:xfrm>
            <a:off x="365760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2 · Prompting Basics  ✔</a:t>
            </a:r>
            <a:endParaRPr lang="en-US" sz="1450" dirty="0"/>
          </a:p>
        </p:txBody>
      </p:sp>
      <p:sp>
        <p:nvSpPr>
          <p:cNvPr id="18" name="Shape 15"/>
          <p:cNvSpPr/>
          <p:nvPr/>
        </p:nvSpPr>
        <p:spPr>
          <a:xfrm>
            <a:off x="6309360" y="1554480"/>
            <a:ext cx="2651760" cy="1005840"/>
          </a:xfrm>
          <a:prstGeom prst="roundRect">
            <a:avLst>
              <a:gd name="adj" fmla="val 8182"/>
            </a:avLst>
          </a:prstGeom>
          <a:solidFill>
            <a:srgbClr val="EAF5F3"/>
          </a:solidFill>
          <a:ln w="12700">
            <a:solidFill>
              <a:srgbClr val="EAF5F3"/>
            </a:solidFill>
            <a:prstDash val="solid"/>
          </a:ln>
        </p:spPr>
      </p:sp>
      <p:sp>
        <p:nvSpPr>
          <p:cNvPr id="19" name="Text 16"/>
          <p:cNvSpPr/>
          <p:nvPr/>
        </p:nvSpPr>
        <p:spPr>
          <a:xfrm>
            <a:off x="6492240" y="1645920"/>
            <a:ext cx="2286000" cy="822960"/>
          </a:xfrm>
          <a:prstGeom prst="rect">
            <a:avLst/>
          </a:prstGeom>
          <a:noFill/>
          <a:ln/>
        </p:spPr>
        <p:txBody>
          <a:bodyPr wrap="square" lIns="0" tIns="0" rIns="0" bIns="0" rtlCol="0" anchor="ctr"/>
          <a:lstStyle/>
          <a:p>
            <a:pPr indent="0" marL="0">
              <a:buNone/>
            </a:pPr>
            <a:r>
              <a:rPr lang="en-US" sz="1450" b="1" dirty="0">
                <a:solidFill>
                  <a:srgbClr val="13293D"/>
                </a:solidFill>
                <a:latin typeface="Inter" pitchFamily="34" charset="0"/>
                <a:ea typeface="Inter" pitchFamily="34" charset="-122"/>
                <a:cs typeface="Inter" pitchFamily="34" charset="-120"/>
              </a:rPr>
              <a:t>3 · Planning &amp; Differentiation  ✔</a:t>
            </a:r>
            <a:endParaRPr lang="en-US" sz="1450" dirty="0"/>
          </a:p>
        </p:txBody>
      </p:sp>
      <p:sp>
        <p:nvSpPr>
          <p:cNvPr id="20" name="Shape 17"/>
          <p:cNvSpPr/>
          <p:nvPr/>
        </p:nvSpPr>
        <p:spPr>
          <a:xfrm>
            <a:off x="9144000" y="1554480"/>
            <a:ext cx="2651760" cy="1005840"/>
          </a:xfrm>
          <a:prstGeom prst="roundRect">
            <a:avLst>
              <a:gd name="adj" fmla="val 8182"/>
            </a:avLst>
          </a:prstGeom>
          <a:solidFill>
            <a:srgbClr val="F7F5F0"/>
          </a:solidFill>
          <a:ln w="12700">
            <a:solidFill>
              <a:srgbClr val="F7F5F0"/>
            </a:solidFill>
            <a:prstDash val="solid"/>
          </a:ln>
        </p:spPr>
      </p:sp>
      <p:sp>
        <p:nvSpPr>
          <p:cNvPr id="21" name="Text 18"/>
          <p:cNvSpPr/>
          <p:nvPr/>
        </p:nvSpPr>
        <p:spPr>
          <a:xfrm>
            <a:off x="9326880" y="164592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4 · Assessment</a:t>
            </a:r>
            <a:endParaRPr lang="en-US" sz="1450" dirty="0"/>
          </a:p>
        </p:txBody>
      </p:sp>
      <p:sp>
        <p:nvSpPr>
          <p:cNvPr id="22" name="Shape 19"/>
          <p:cNvSpPr/>
          <p:nvPr/>
        </p:nvSpPr>
        <p:spPr>
          <a:xfrm>
            <a:off x="640080" y="2743200"/>
            <a:ext cx="2651760" cy="1005840"/>
          </a:xfrm>
          <a:prstGeom prst="roundRect">
            <a:avLst>
              <a:gd name="adj" fmla="val 8182"/>
            </a:avLst>
          </a:prstGeom>
          <a:solidFill>
            <a:srgbClr val="F7F5F0"/>
          </a:solidFill>
          <a:ln w="12700">
            <a:solidFill>
              <a:srgbClr val="F7F5F0"/>
            </a:solidFill>
            <a:prstDash val="solid"/>
          </a:ln>
        </p:spPr>
      </p:sp>
      <p:sp>
        <p:nvSpPr>
          <p:cNvPr id="23" name="Text 20"/>
          <p:cNvSpPr/>
          <p:nvPr/>
        </p:nvSpPr>
        <p:spPr>
          <a:xfrm>
            <a:off x="82296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5 · Academic Integrity</a:t>
            </a:r>
            <a:endParaRPr lang="en-US" sz="1450" dirty="0"/>
          </a:p>
        </p:txBody>
      </p:sp>
      <p:sp>
        <p:nvSpPr>
          <p:cNvPr id="24" name="Shape 21"/>
          <p:cNvSpPr/>
          <p:nvPr/>
        </p:nvSpPr>
        <p:spPr>
          <a:xfrm>
            <a:off x="3474720" y="2743200"/>
            <a:ext cx="2651760" cy="1005840"/>
          </a:xfrm>
          <a:prstGeom prst="roundRect">
            <a:avLst>
              <a:gd name="adj" fmla="val 8182"/>
            </a:avLst>
          </a:prstGeom>
          <a:solidFill>
            <a:srgbClr val="F7F5F0"/>
          </a:solidFill>
          <a:ln w="12700">
            <a:solidFill>
              <a:srgbClr val="F7F5F0"/>
            </a:solidFill>
            <a:prstDash val="solid"/>
          </a:ln>
        </p:spPr>
      </p:sp>
      <p:sp>
        <p:nvSpPr>
          <p:cNvPr id="25" name="Text 22"/>
          <p:cNvSpPr/>
          <p:nvPr/>
        </p:nvSpPr>
        <p:spPr>
          <a:xfrm>
            <a:off x="365760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6 · Communication</a:t>
            </a:r>
            <a:endParaRPr lang="en-US" sz="1450" dirty="0"/>
          </a:p>
        </p:txBody>
      </p:sp>
      <p:sp>
        <p:nvSpPr>
          <p:cNvPr id="26" name="Shape 23"/>
          <p:cNvSpPr/>
          <p:nvPr/>
        </p:nvSpPr>
        <p:spPr>
          <a:xfrm>
            <a:off x="6309360" y="2743200"/>
            <a:ext cx="2651760" cy="1005840"/>
          </a:xfrm>
          <a:prstGeom prst="roundRect">
            <a:avLst>
              <a:gd name="adj" fmla="val 8182"/>
            </a:avLst>
          </a:prstGeom>
          <a:solidFill>
            <a:srgbClr val="F7F5F0"/>
          </a:solidFill>
          <a:ln w="12700">
            <a:solidFill>
              <a:srgbClr val="F7F5F0"/>
            </a:solidFill>
            <a:prstDash val="solid"/>
          </a:ln>
        </p:spPr>
      </p:sp>
      <p:sp>
        <p:nvSpPr>
          <p:cNvPr id="27" name="Text 24"/>
          <p:cNvSpPr/>
          <p:nvPr/>
        </p:nvSpPr>
        <p:spPr>
          <a:xfrm>
            <a:off x="649224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7 · Workload</a:t>
            </a:r>
            <a:endParaRPr lang="en-US" sz="1450" dirty="0"/>
          </a:p>
        </p:txBody>
      </p:sp>
      <p:sp>
        <p:nvSpPr>
          <p:cNvPr id="28" name="Shape 25"/>
          <p:cNvSpPr/>
          <p:nvPr/>
        </p:nvSpPr>
        <p:spPr>
          <a:xfrm>
            <a:off x="9144000" y="2743200"/>
            <a:ext cx="2651760" cy="1005840"/>
          </a:xfrm>
          <a:prstGeom prst="roundRect">
            <a:avLst>
              <a:gd name="adj" fmla="val 8182"/>
            </a:avLst>
          </a:prstGeom>
          <a:solidFill>
            <a:srgbClr val="F7F5F0"/>
          </a:solidFill>
          <a:ln w="12700">
            <a:solidFill>
              <a:srgbClr val="F7F5F0"/>
            </a:solidFill>
            <a:prstDash val="solid"/>
          </a:ln>
        </p:spPr>
      </p:sp>
      <p:sp>
        <p:nvSpPr>
          <p:cNvPr id="29" name="Text 26"/>
          <p:cNvSpPr/>
          <p:nvPr/>
        </p:nvSpPr>
        <p:spPr>
          <a:xfrm>
            <a:off x="9326880" y="2834640"/>
            <a:ext cx="2286000" cy="822960"/>
          </a:xfrm>
          <a:prstGeom prst="rect">
            <a:avLst/>
          </a:prstGeom>
          <a:noFill/>
          <a:ln/>
        </p:spPr>
        <p:txBody>
          <a:bodyPr wrap="square" lIns="0" tIns="0" rIns="0" bIns="0" rtlCol="0" anchor="ctr"/>
          <a:lstStyle/>
          <a:p>
            <a:pPr indent="0" marL="0">
              <a:buNone/>
            </a:pPr>
            <a:r>
              <a:rPr lang="en-US" sz="1450" dirty="0">
                <a:solidFill>
                  <a:srgbClr val="13293D"/>
                </a:solidFill>
                <a:latin typeface="Inter" pitchFamily="34" charset="0"/>
                <a:ea typeface="Inter" pitchFamily="34" charset="-122"/>
                <a:cs typeface="Inter" pitchFamily="34" charset="-120"/>
              </a:rPr>
              <a:t>8 · Your School’s AI Culture</a:t>
            </a:r>
            <a:endParaRPr lang="en-US" sz="1450" dirty="0"/>
          </a:p>
        </p:txBody>
      </p:sp>
      <p:sp>
        <p:nvSpPr>
          <p:cNvPr id="30" name="Shape 27"/>
          <p:cNvSpPr/>
          <p:nvPr/>
        </p:nvSpPr>
        <p:spPr>
          <a:xfrm>
            <a:off x="640080" y="4206240"/>
            <a:ext cx="10972800" cy="1463040"/>
          </a:xfrm>
          <a:prstGeom prst="roundRect">
            <a:avLst>
              <a:gd name="adj" fmla="val 5625"/>
            </a:avLst>
          </a:prstGeom>
          <a:solidFill>
            <a:srgbClr val="13293D"/>
          </a:solidFill>
          <a:ln w="12700">
            <a:solidFill>
              <a:srgbClr val="13293D"/>
            </a:solidFill>
            <a:prstDash val="solid"/>
          </a:ln>
        </p:spPr>
      </p:sp>
      <p:sp>
        <p:nvSpPr>
          <p:cNvPr id="31" name="Text 28"/>
          <p:cNvSpPr/>
          <p:nvPr/>
        </p:nvSpPr>
        <p:spPr>
          <a:xfrm>
            <a:off x="960120" y="4389120"/>
            <a:ext cx="10332720" cy="1097280"/>
          </a:xfrm>
          <a:prstGeom prst="rect">
            <a:avLst/>
          </a:prstGeom>
          <a:noFill/>
          <a:ln/>
        </p:spPr>
        <p:txBody>
          <a:bodyPr wrap="square" lIns="0" tIns="0" rIns="0" bIns="0" rtlCol="0" anchor="ctr"/>
          <a:lstStyle/>
          <a:p>
            <a:pPr indent="0" marL="0">
              <a:buNone/>
            </a:pPr>
            <a:r>
              <a:rPr lang="en-US" sz="1700" b="1" dirty="0">
                <a:solidFill>
                  <a:srgbClr val="FFFFFF"/>
                </a:solidFill>
                <a:latin typeface="Inter" pitchFamily="34" charset="0"/>
                <a:ea typeface="Inter" pitchFamily="34" charset="-122"/>
                <a:cs typeface="Inter" pitchFamily="34" charset="-120"/>
              </a:rPr>
              <a:t>Next: Kit 4, AI for Assessment. </a:t>
            </a:r>
            <a:pPr indent="0" marL="0">
              <a:buNone/>
            </a:pPr>
            <a:r>
              <a:rPr lang="en-US" sz="1700" dirty="0">
                <a:solidFill>
                  <a:srgbClr val="C9D4DE"/>
                </a:solidFill>
                <a:latin typeface="Inter" pitchFamily="34" charset="0"/>
                <a:ea typeface="Inter" pitchFamily="34" charset="-122"/>
                <a:cs typeface="Inter" pitchFamily="34" charset="-120"/>
              </a:rPr>
              <a:t>You built the materials for the range of learners in your room; next we build the ways to find out what they learned: question banks, rubrics, feedback that doesn’t eat your Sunday.</a:t>
            </a:r>
            <a:endParaRPr lang="en-US" sz="17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32</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48 hours: teach the support version, run one review, post one prompt.</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BEFORE FRIDAY BECOMES A MEMORY</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2800" b="1" dirty="0">
                <a:solidFill>
                  <a:srgbClr val="13293D"/>
                </a:solidFill>
                <a:latin typeface="Inter" pitchFamily="34" charset="0"/>
                <a:ea typeface="Inter" pitchFamily="34" charset="-122"/>
                <a:cs typeface="Inter" pitchFamily="34" charset="-120"/>
              </a:rPr>
              <a:t>Your first 48 hours: three small things</a:t>
            </a:r>
            <a:endParaRPr lang="en-US" sz="2800" dirty="0"/>
          </a:p>
        </p:txBody>
      </p:sp>
      <p:sp>
        <p:nvSpPr>
          <p:cNvPr id="14" name="Shape 11"/>
          <p:cNvSpPr/>
          <p:nvPr/>
        </p:nvSpPr>
        <p:spPr>
          <a:xfrm>
            <a:off x="640080" y="1463040"/>
            <a:ext cx="10972800" cy="1234440"/>
          </a:xfrm>
          <a:prstGeom prst="roundRect">
            <a:avLst>
              <a:gd name="adj" fmla="val 6667"/>
            </a:avLst>
          </a:prstGeom>
          <a:solidFill>
            <a:srgbClr val="F7F5F0"/>
          </a:solidFill>
          <a:ln w="12700">
            <a:solidFill>
              <a:srgbClr val="F7F5F0"/>
            </a:solidFill>
            <a:prstDash val="solid"/>
          </a:ln>
        </p:spPr>
      </p:sp>
      <p:sp>
        <p:nvSpPr>
          <p:cNvPr id="15" name="Text 12"/>
          <p:cNvSpPr/>
          <p:nvPr/>
        </p:nvSpPr>
        <p:spPr>
          <a:xfrm>
            <a:off x="914400" y="184708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16" name="Text 13"/>
          <p:cNvSpPr/>
          <p:nvPr/>
        </p:nvSpPr>
        <p:spPr>
          <a:xfrm>
            <a:off x="2377440" y="160934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Teach with your lab artifact</a:t>
            </a:r>
            <a:endParaRPr lang="en-US" sz="2000" dirty="0"/>
          </a:p>
        </p:txBody>
      </p:sp>
      <p:sp>
        <p:nvSpPr>
          <p:cNvPr id="17" name="Text 14"/>
          <p:cNvSpPr/>
          <p:nvPr/>
        </p:nvSpPr>
        <p:spPr>
          <a:xfrm>
            <a:off x="2377440" y="208483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Then jot one line: what did the support kids and stretch kids actually do?</a:t>
            </a:r>
            <a:endParaRPr lang="en-US" sz="1600" dirty="0"/>
          </a:p>
        </p:txBody>
      </p:sp>
      <p:sp>
        <p:nvSpPr>
          <p:cNvPr id="18" name="Shape 15"/>
          <p:cNvSpPr/>
          <p:nvPr/>
        </p:nvSpPr>
        <p:spPr>
          <a:xfrm>
            <a:off x="640080" y="2880360"/>
            <a:ext cx="10972800" cy="1234440"/>
          </a:xfrm>
          <a:prstGeom prst="roundRect">
            <a:avLst>
              <a:gd name="adj" fmla="val 6667"/>
            </a:avLst>
          </a:prstGeom>
          <a:solidFill>
            <a:srgbClr val="F7F5F0"/>
          </a:solidFill>
          <a:ln w="12700">
            <a:solidFill>
              <a:srgbClr val="F7F5F0"/>
            </a:solidFill>
            <a:prstDash val="solid"/>
          </a:ln>
        </p:spPr>
      </p:sp>
      <p:sp>
        <p:nvSpPr>
          <p:cNvPr id="19" name="Text 16"/>
          <p:cNvSpPr/>
          <p:nvPr/>
        </p:nvSpPr>
        <p:spPr>
          <a:xfrm>
            <a:off x="914400" y="326440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~10 min</a:t>
            </a:r>
            <a:endParaRPr lang="en-US" sz="1700" dirty="0"/>
          </a:p>
        </p:txBody>
      </p:sp>
      <p:sp>
        <p:nvSpPr>
          <p:cNvPr id="20" name="Text 17"/>
          <p:cNvSpPr/>
          <p:nvPr/>
        </p:nvSpPr>
        <p:spPr>
          <a:xfrm>
            <a:off x="2377440" y="302666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Level one more text, then check the level</a:t>
            </a:r>
            <a:endParaRPr lang="en-US" sz="2000" dirty="0"/>
          </a:p>
        </p:txBody>
      </p:sp>
      <p:sp>
        <p:nvSpPr>
          <p:cNvPr id="21" name="Text 18"/>
          <p:cNvSpPr/>
          <p:nvPr/>
        </p:nvSpPr>
        <p:spPr>
          <a:xfrm>
            <a:off x="2377440" y="350215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Read it aloud, eyeball sentence length, fix what the label got wrong</a:t>
            </a:r>
            <a:endParaRPr lang="en-US" sz="1600" dirty="0"/>
          </a:p>
        </p:txBody>
      </p:sp>
      <p:sp>
        <p:nvSpPr>
          <p:cNvPr id="22" name="Shape 19"/>
          <p:cNvSpPr/>
          <p:nvPr/>
        </p:nvSpPr>
        <p:spPr>
          <a:xfrm>
            <a:off x="640080" y="4297680"/>
            <a:ext cx="10972800" cy="1234440"/>
          </a:xfrm>
          <a:prstGeom prst="roundRect">
            <a:avLst>
              <a:gd name="adj" fmla="val 6667"/>
            </a:avLst>
          </a:prstGeom>
          <a:solidFill>
            <a:srgbClr val="F7F5F0"/>
          </a:solidFill>
          <a:ln w="12700">
            <a:solidFill>
              <a:srgbClr val="F7F5F0"/>
            </a:solidFill>
            <a:prstDash val="solid"/>
          </a:ln>
        </p:spPr>
      </p:sp>
      <p:sp>
        <p:nvSpPr>
          <p:cNvPr id="23" name="Text 20"/>
          <p:cNvSpPr/>
          <p:nvPr/>
        </p:nvSpPr>
        <p:spPr>
          <a:xfrm>
            <a:off x="914400" y="4681728"/>
            <a:ext cx="1371600" cy="457200"/>
          </a:xfrm>
          <a:prstGeom prst="rect">
            <a:avLst/>
          </a:prstGeom>
          <a:noFill/>
          <a:ln/>
        </p:spPr>
        <p:txBody>
          <a:bodyPr wrap="square" lIns="0" tIns="0" rIns="0" bIns="0" rtlCol="0" anchor="ctr"/>
          <a:lstStyle/>
          <a:p>
            <a:pPr indent="0" marL="0">
              <a:buNone/>
            </a:pPr>
            <a:r>
              <a:rPr lang="en-US" sz="1700" b="1" dirty="0">
                <a:solidFill>
                  <a:srgbClr val="2A9D8F"/>
                </a:solidFill>
                <a:latin typeface="Inter" pitchFamily="34" charset="0"/>
                <a:ea typeface="Inter" pitchFamily="34" charset="-122"/>
                <a:cs typeface="Inter" pitchFamily="34" charset="-120"/>
              </a:rPr>
              <a:t>~2 min</a:t>
            </a:r>
            <a:endParaRPr lang="en-US" sz="1700" dirty="0"/>
          </a:p>
        </p:txBody>
      </p:sp>
      <p:sp>
        <p:nvSpPr>
          <p:cNvPr id="24" name="Text 21"/>
          <p:cNvSpPr/>
          <p:nvPr/>
        </p:nvSpPr>
        <p:spPr>
          <a:xfrm>
            <a:off x="2377440" y="4443984"/>
            <a:ext cx="9052560" cy="457200"/>
          </a:xfrm>
          <a:prstGeom prst="rect">
            <a:avLst/>
          </a:prstGeom>
          <a:noFill/>
          <a:ln/>
        </p:spPr>
        <p:txBody>
          <a:bodyPr wrap="square" lIns="0" tIns="0" rIns="0" bIns="0" rtlCol="0" anchor="ctr"/>
          <a:lstStyle/>
          <a:p>
            <a:pPr indent="0" marL="0">
              <a:buNone/>
            </a:pPr>
            <a:r>
              <a:rPr lang="en-US" sz="2000" b="1" dirty="0">
                <a:solidFill>
                  <a:srgbClr val="13293D"/>
                </a:solidFill>
                <a:latin typeface="Inter" pitchFamily="34" charset="0"/>
                <a:ea typeface="Inter" pitchFamily="34" charset="-122"/>
                <a:cs typeface="Inter" pitchFamily="34" charset="-120"/>
              </a:rPr>
              <a:t>Post your best prompt to the staff doc</a:t>
            </a:r>
            <a:endParaRPr lang="en-US" sz="2000" dirty="0"/>
          </a:p>
        </p:txBody>
      </p:sp>
      <p:sp>
        <p:nvSpPr>
          <p:cNvPr id="25" name="Text 22"/>
          <p:cNvSpPr/>
          <p:nvPr/>
        </p:nvSpPr>
        <p:spPr>
          <a:xfrm>
            <a:off x="2377440" y="4919472"/>
            <a:ext cx="9052560" cy="548640"/>
          </a:xfrm>
          <a:prstGeom prst="rect">
            <a:avLst/>
          </a:prstGeom>
          <a:noFill/>
          <a:ln/>
        </p:spPr>
        <p:txBody>
          <a:bodyPr wrap="square" lIns="0" tIns="0" rIns="0" bIns="0" rtlCol="0" anchor="ctr"/>
          <a:lstStyle/>
          <a:p>
            <a:pPr indent="0" marL="0">
              <a:buNone/>
            </a:pPr>
            <a:r>
              <a:rPr lang="en-US" sz="1600" dirty="0">
                <a:solidFill>
                  <a:srgbClr val="1B1F24"/>
                </a:solidFill>
                <a:latin typeface="Inter" pitchFamily="34" charset="0"/>
                <a:ea typeface="Inter" pitchFamily="34" charset="-122"/>
                <a:cs typeface="Inter" pitchFamily="34" charset="-120"/>
              </a:rPr>
              <a:t>Your move, your name, one line about the lesson it fit</a:t>
            </a:r>
            <a:endParaRPr lang="en-US" sz="16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13293D"/>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5B6B7A"/>
                </a:solidFill>
                <a:latin typeface="Inter" pitchFamily="34" charset="0"/>
                <a:ea typeface="Inter" pitchFamily="34" charset="-122"/>
                <a:cs typeface="Inter" pitchFamily="34" charset="-120"/>
              </a:rPr>
              <a:t>Kit 3 · Planning &amp; Differentiation   |   33</a:t>
            </a:r>
            <a:endParaRPr lang="en-US" sz="900" dirty="0"/>
          </a:p>
        </p:txBody>
      </p:sp>
      <p:sp>
        <p:nvSpPr>
          <p:cNvPr id="5" name="Shape 2"/>
          <p:cNvSpPr/>
          <p:nvPr/>
        </p:nvSpPr>
        <p:spPr>
          <a:xfrm>
            <a:off x="8732520" y="109728"/>
            <a:ext cx="2926080" cy="896112"/>
          </a:xfrm>
          <a:prstGeom prst="roundRect">
            <a:avLst>
              <a:gd name="adj" fmla="val 7143"/>
            </a:avLst>
          </a:prstGeom>
          <a:solidFill>
            <a:srgbClr val="F7F5F0"/>
          </a:solidFill>
          <a:ln w="12700">
            <a:solidFill>
              <a:srgbClr val="DCE3EA"/>
            </a:solidFill>
            <a:prstDash val="solid"/>
          </a:ln>
        </p:spPr>
      </p:sp>
      <p:sp>
        <p:nvSpPr>
          <p:cNvPr id="6" name="Shape 3"/>
          <p:cNvSpPr/>
          <p:nvPr/>
        </p:nvSpPr>
        <p:spPr>
          <a:xfrm>
            <a:off x="8732520" y="109728"/>
            <a:ext cx="2926080" cy="237744"/>
          </a:xfrm>
          <a:prstGeom prst="roundRect">
            <a:avLst>
              <a:gd name="adj" fmla="val 26923"/>
            </a:avLst>
          </a:prstGeom>
          <a:solidFill>
            <a:srgbClr val="0D1E2E"/>
          </a:solidFill>
          <a:ln w="12700">
            <a:solidFill>
              <a:srgbClr val="0D1E2E"/>
            </a:solidFill>
            <a:prstDash val="solid"/>
          </a:ln>
        </p:spPr>
      </p:sp>
      <p:sp>
        <p:nvSpPr>
          <p:cNvPr id="7" name="Shape 4"/>
          <p:cNvSpPr/>
          <p:nvPr/>
        </p:nvSpPr>
        <p:spPr>
          <a:xfrm>
            <a:off x="8823960" y="182880"/>
            <a:ext cx="91440" cy="91440"/>
          </a:xfrm>
          <a:prstGeom prst="ellipse">
            <a:avLst/>
          </a:prstGeom>
          <a:solidFill>
            <a:srgbClr val="E8837A"/>
          </a:solidFill>
          <a:ln w="12700">
            <a:solidFill>
              <a:srgbClr val="E8837A"/>
            </a:solidFill>
            <a:prstDash val="solid"/>
          </a:ln>
        </p:spPr>
      </p:sp>
      <p:sp>
        <p:nvSpPr>
          <p:cNvPr id="8" name="Shape 5"/>
          <p:cNvSpPr/>
          <p:nvPr/>
        </p:nvSpPr>
        <p:spPr>
          <a:xfrm>
            <a:off x="8970264" y="182880"/>
            <a:ext cx="91440" cy="91440"/>
          </a:xfrm>
          <a:prstGeom prst="ellipse">
            <a:avLst/>
          </a:prstGeom>
          <a:solidFill>
            <a:srgbClr val="F4A825"/>
          </a:solidFill>
          <a:ln w="12700">
            <a:solidFill>
              <a:srgbClr val="F4A825"/>
            </a:solidFill>
            <a:prstDash val="solid"/>
          </a:ln>
        </p:spPr>
      </p:sp>
      <p:sp>
        <p:nvSpPr>
          <p:cNvPr id="9" name="Shape 6"/>
          <p:cNvSpPr/>
          <p:nvPr/>
        </p:nvSpPr>
        <p:spPr>
          <a:xfrm>
            <a:off x="9116568" y="182880"/>
            <a:ext cx="91440" cy="91440"/>
          </a:xfrm>
          <a:prstGeom prst="ellipse">
            <a:avLst/>
          </a:prstGeom>
          <a:solidFill>
            <a:srgbClr val="2E7D5B"/>
          </a:solidFill>
          <a:ln w="12700">
            <a:solidFill>
              <a:srgbClr val="2E7D5B"/>
            </a:solidFill>
            <a:prstDash val="solid"/>
          </a:ln>
        </p:spPr>
      </p:sp>
      <p:sp>
        <p:nvSpPr>
          <p:cNvPr id="10" name="Text 7"/>
          <p:cNvSpPr/>
          <p:nvPr/>
        </p:nvSpPr>
        <p:spPr>
          <a:xfrm>
            <a:off x="9299448" y="109728"/>
            <a:ext cx="2286000" cy="237744"/>
          </a:xfrm>
          <a:prstGeom prst="rect">
            <a:avLst/>
          </a:prstGeom>
          <a:noFill/>
          <a:ln/>
        </p:spPr>
        <p:txBody>
          <a:bodyPr wrap="square" lIns="0" tIns="0" rIns="0" bIns="0" rtlCol="0" anchor="ctr"/>
          <a:lstStyle/>
          <a:p>
            <a:pPr indent="0" marL="0">
              <a:buNone/>
            </a:pPr>
            <a:r>
              <a:rPr lang="en-US" sz="800" b="1" spc="100" kern="0" dirty="0">
                <a:solidFill>
                  <a:srgbClr val="9FB2C2"/>
                </a:solidFill>
                <a:latin typeface="Inter" pitchFamily="34" charset="0"/>
                <a:ea typeface="Inter" pitchFamily="34" charset="-122"/>
                <a:cs typeface="Inter" pitchFamily="34" charset="-120"/>
              </a:rPr>
              <a:t>MS. RIVERA'S SCREEN · SO FAR</a:t>
            </a:r>
            <a:endParaRPr lang="en-US" sz="800" dirty="0"/>
          </a:p>
        </p:txBody>
      </p:sp>
      <p:sp>
        <p:nvSpPr>
          <p:cNvPr id="11" name="Text 8"/>
          <p:cNvSpPr/>
          <p:nvPr/>
        </p:nvSpPr>
        <p:spPr>
          <a:xfrm>
            <a:off x="8860536" y="365760"/>
            <a:ext cx="2670048" cy="566928"/>
          </a:xfrm>
          <a:prstGeom prst="rect">
            <a:avLst/>
          </a:prstGeom>
          <a:noFill/>
          <a:ln/>
        </p:spPr>
        <p:txBody>
          <a:bodyPr wrap="square" lIns="0" tIns="0" rIns="0" bIns="0" rtlCol="0" anchor="ctr"/>
          <a:lstStyle/>
          <a:p>
            <a:pPr indent="0" marL="0">
              <a:buNone/>
            </a:pPr>
            <a:r>
              <a:rPr lang="en-US" sz="1000" dirty="0">
                <a:solidFill>
                  <a:srgbClr val="1B1F24"/>
                </a:solidFill>
                <a:latin typeface="Inter" pitchFamily="34" charset="0"/>
                <a:ea typeface="Inter" pitchFamily="34" charset="-122"/>
                <a:cs typeface="Inter" pitchFamily="34" charset="-120"/>
              </a:rPr>
              <a:t>Her exit ticket: the artifact built, the direction that surprised her.</a:t>
            </a:r>
            <a:endParaRPr lang="en-US" sz="1000" dirty="0"/>
          </a:p>
        </p:txBody>
      </p:sp>
      <p:sp>
        <p:nvSpPr>
          <p:cNvPr id="12" name="Text 9"/>
          <p:cNvSpPr/>
          <p:nvPr/>
        </p:nvSpPr>
        <p:spPr>
          <a:xfrm>
            <a:off x="566928" y="128016"/>
            <a:ext cx="7955280" cy="274320"/>
          </a:xfrm>
          <a:prstGeom prst="rect">
            <a:avLst/>
          </a:prstGeom>
          <a:noFill/>
          <a:ln/>
        </p:spPr>
        <p:txBody>
          <a:bodyPr wrap="square" lIns="0" tIns="0" rIns="0" bIns="0" rtlCol="0" anchor="ctr"/>
          <a:lstStyle/>
          <a:p>
            <a:pPr indent="0" marL="0">
              <a:buNone/>
            </a:pPr>
            <a:r>
              <a:rPr lang="en-US" sz="1200" b="1" spc="200" kern="0" dirty="0">
                <a:solidFill>
                  <a:srgbClr val="2A9D8F"/>
                </a:solidFill>
                <a:latin typeface="Inter" pitchFamily="34" charset="0"/>
                <a:ea typeface="Inter" pitchFamily="34" charset="-122"/>
                <a:cs typeface="Inter" pitchFamily="34" charset="-120"/>
              </a:rPr>
              <a:t>TWO MINUTES</a:t>
            </a:r>
            <a:endParaRPr lang="en-US" sz="1200" dirty="0"/>
          </a:p>
        </p:txBody>
      </p:sp>
      <p:sp>
        <p:nvSpPr>
          <p:cNvPr id="13" name="Text 10"/>
          <p:cNvSpPr/>
          <p:nvPr/>
        </p:nvSpPr>
        <p:spPr>
          <a:xfrm>
            <a:off x="548640" y="384048"/>
            <a:ext cx="7955280" cy="777240"/>
          </a:xfrm>
          <a:prstGeom prst="rect">
            <a:avLst/>
          </a:prstGeom>
          <a:noFill/>
          <a:ln/>
        </p:spPr>
        <p:txBody>
          <a:bodyPr wrap="square" lIns="0" tIns="0" rIns="0" bIns="0" rtlCol="0" anchor="ctr"/>
          <a:lstStyle/>
          <a:p>
            <a:pPr indent="0" marL="0">
              <a:buNone/>
            </a:pPr>
            <a:r>
              <a:rPr lang="en-US" sz="3200" b="1" dirty="0">
                <a:solidFill>
                  <a:srgbClr val="13293D"/>
                </a:solidFill>
                <a:latin typeface="Inter" pitchFamily="34" charset="0"/>
                <a:ea typeface="Inter" pitchFamily="34" charset="-122"/>
                <a:cs typeface="Inter" pitchFamily="34" charset="-120"/>
              </a:rPr>
              <a:t>Exit ticket</a:t>
            </a:r>
            <a:endParaRPr lang="en-US" sz="3200" dirty="0"/>
          </a:p>
        </p:txBody>
      </p:sp>
      <p:sp>
        <p:nvSpPr>
          <p:cNvPr id="14" name="Text 11"/>
          <p:cNvSpPr/>
          <p:nvPr/>
        </p:nvSpPr>
        <p:spPr>
          <a:xfrm>
            <a:off x="640080" y="1554480"/>
            <a:ext cx="10908792" cy="2377440"/>
          </a:xfrm>
          <a:prstGeom prst="rect">
            <a:avLst/>
          </a:prstGeom>
          <a:noFill/>
          <a:ln/>
        </p:spPr>
        <p:txBody>
          <a:bodyPr wrap="square" rtlCol="0" anchor="t"/>
          <a:lstStyle/>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differentiation move you’ll use first</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The artifact you built in the lab</a:t>
            </a:r>
            <a:endParaRPr lang="en-US" sz="2400" dirty="0"/>
          </a:p>
          <a:p>
            <a:pPr marL="342900" indent="-342900">
              <a:spcAft>
                <a:spcPts val="1000"/>
              </a:spcAft>
              <a:buSzPct val="100000"/>
              <a:buChar char="•"/>
            </a:pPr>
            <a:r>
              <a:rPr lang="en-US" sz="2400" dirty="0">
                <a:solidFill>
                  <a:srgbClr val="1B1F24"/>
                </a:solidFill>
                <a:latin typeface="Inter" pitchFamily="34" charset="0"/>
                <a:ea typeface="Inter" pitchFamily="34" charset="-122"/>
                <a:cs typeface="Inter" pitchFamily="34" charset="-120"/>
              </a:rPr>
              <a:t>One differentiation task you still want help with</a:t>
            </a:r>
            <a:endParaRPr lang="en-US" sz="2400" dirty="0"/>
          </a:p>
        </p:txBody>
      </p:sp>
      <p:sp>
        <p:nvSpPr>
          <p:cNvPr id="15" name="Text 12"/>
          <p:cNvSpPr/>
          <p:nvPr/>
        </p:nvSpPr>
        <p:spPr>
          <a:xfrm>
            <a:off x="640080" y="4297680"/>
            <a:ext cx="10972800" cy="457200"/>
          </a:xfrm>
          <a:prstGeom prst="rect">
            <a:avLst/>
          </a:prstGeom>
          <a:noFill/>
          <a:ln/>
        </p:spPr>
        <p:txBody>
          <a:bodyPr wrap="square" lIns="0" tIns="0" rIns="0" bIns="0" rtlCol="0" anchor="ctr"/>
          <a:lstStyle/>
          <a:p>
            <a:pPr indent="0" marL="0">
              <a:buNone/>
            </a:pPr>
            <a:r>
              <a:rPr lang="en-US" sz="1900" i="1" dirty="0">
                <a:solidFill>
                  <a:srgbClr val="5B6B7A"/>
                </a:solidFill>
                <a:latin typeface="Inter" pitchFamily="34" charset="0"/>
                <a:ea typeface="Inter" pitchFamily="34" charset="-122"/>
                <a:cs typeface="Inter" pitchFamily="34" charset="-120"/>
              </a:rPr>
              <a:t>Your answers steer the PLC follow-ups. Be honest.</a:t>
            </a:r>
            <a:endParaRPr lang="en-US" sz="19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13293D"/>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411480" y="6473952"/>
            <a:ext cx="237744" cy="219456"/>
          </a:xfrm>
          <a:prstGeom prst="rect">
            <a:avLst/>
          </a:prstGeom>
        </p:spPr>
      </p:pic>
      <p:sp>
        <p:nvSpPr>
          <p:cNvPr id="3" name="Text 0"/>
          <p:cNvSpPr/>
          <p:nvPr/>
        </p:nvSpPr>
        <p:spPr>
          <a:xfrm>
            <a:off x="685800" y="6428232"/>
            <a:ext cx="2011680" cy="292608"/>
          </a:xfrm>
          <a:prstGeom prst="rect">
            <a:avLst/>
          </a:prstGeom>
          <a:noFill/>
          <a:ln/>
        </p:spPr>
        <p:txBody>
          <a:bodyPr wrap="square" lIns="0" tIns="0" rIns="0" bIns="0" rtlCol="0" anchor="ctr"/>
          <a:lstStyle/>
          <a:p>
            <a:pPr indent="0" marL="0">
              <a:buNone/>
            </a:pPr>
            <a:r>
              <a:rPr lang="en-US" sz="1000" b="1" dirty="0">
                <a:solidFill>
                  <a:srgbClr val="2A9D8F"/>
                </a:solidFill>
                <a:latin typeface="Inter" pitchFamily="34" charset="0"/>
                <a:ea typeface="Inter" pitchFamily="34" charset="-122"/>
                <a:cs typeface="Inter" pitchFamily="34" charset="-120"/>
              </a:rPr>
              <a:t>AI-Ready</a:t>
            </a:r>
            <a:pPr indent="0" marL="0">
              <a:buNone/>
            </a:pPr>
            <a:r>
              <a:rPr lang="en-US" sz="1000" b="1" dirty="0">
                <a:solidFill>
                  <a:srgbClr val="FFFFFF"/>
                </a:solidFill>
                <a:latin typeface="Inter" pitchFamily="34" charset="0"/>
                <a:ea typeface="Inter" pitchFamily="34" charset="-122"/>
                <a:cs typeface="Inter" pitchFamily="34" charset="-120"/>
              </a:rPr>
              <a:t> School</a:t>
            </a:r>
            <a:endParaRPr lang="en-US" sz="1000" dirty="0"/>
          </a:p>
        </p:txBody>
      </p:sp>
      <p:sp>
        <p:nvSpPr>
          <p:cNvPr id="4" name="Text 1"/>
          <p:cNvSpPr/>
          <p:nvPr/>
        </p:nvSpPr>
        <p:spPr>
          <a:xfrm>
            <a:off x="7982712" y="6428232"/>
            <a:ext cx="3794760" cy="292608"/>
          </a:xfrm>
          <a:prstGeom prst="rect">
            <a:avLst/>
          </a:prstGeom>
          <a:noFill/>
          <a:ln/>
        </p:spPr>
        <p:txBody>
          <a:bodyPr wrap="square" lIns="0" tIns="0" rIns="0" bIns="0" rtlCol="0" anchor="ctr"/>
          <a:lstStyle/>
          <a:p>
            <a:pPr algn="r" indent="0" marL="0">
              <a:buNone/>
            </a:pPr>
            <a:r>
              <a:rPr lang="en-US" sz="900" dirty="0">
                <a:solidFill>
                  <a:srgbClr val="9FB2C2"/>
                </a:solidFill>
                <a:latin typeface="Inter" pitchFamily="34" charset="0"/>
                <a:ea typeface="Inter" pitchFamily="34" charset="-122"/>
                <a:cs typeface="Inter" pitchFamily="34" charset="-120"/>
              </a:rPr>
              <a:t>Kit 3 · Planning &amp; Differentiation   |   34</a:t>
            </a:r>
            <a:endParaRPr lang="en-US" sz="900" dirty="0"/>
          </a:p>
        </p:txBody>
      </p:sp>
      <p:sp>
        <p:nvSpPr>
          <p:cNvPr id="5" name="Text 2"/>
          <p:cNvSpPr/>
          <p:nvPr/>
        </p:nvSpPr>
        <p:spPr>
          <a:xfrm>
            <a:off x="640080" y="1737360"/>
            <a:ext cx="10972800" cy="2011680"/>
          </a:xfrm>
          <a:prstGeom prst="rect">
            <a:avLst/>
          </a:prstGeom>
          <a:noFill/>
          <a:ln/>
        </p:spPr>
        <p:txBody>
          <a:bodyPr wrap="square" lIns="0" tIns="0" rIns="0" bIns="0" rtlCol="0" anchor="ctr"/>
          <a:lstStyle/>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Differentiation was never</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a good-intentions problem.</a:t>
            </a:r>
            <a:endParaRPr lang="en-US" sz="3400" dirty="0"/>
          </a:p>
          <a:p>
            <a:pPr algn="ctr" indent="0" marL="0">
              <a:lnSpc>
                <a:spcPct val="120000"/>
              </a:lnSpc>
              <a:buNone/>
            </a:pPr>
            <a:r>
              <a:rPr lang="en-US" sz="3400" b="1" dirty="0">
                <a:solidFill>
                  <a:srgbClr val="FFFFFF"/>
                </a:solidFill>
                <a:latin typeface="Inter" pitchFamily="34" charset="0"/>
                <a:ea typeface="Inter" pitchFamily="34" charset="-122"/>
                <a:cs typeface="Inter" pitchFamily="34" charset="-120"/>
              </a:rPr>
              <a:t>It was a time problem.</a:t>
            </a:r>
            <a:endParaRPr lang="en-US" sz="3400" dirty="0"/>
          </a:p>
        </p:txBody>
      </p:sp>
      <p:sp>
        <p:nvSpPr>
          <p:cNvPr id="6" name="Text 3"/>
          <p:cNvSpPr/>
          <p:nvPr/>
        </p:nvSpPr>
        <p:spPr>
          <a:xfrm>
            <a:off x="640080" y="4023360"/>
            <a:ext cx="10972800" cy="1097280"/>
          </a:xfrm>
          <a:prstGeom prst="rect">
            <a:avLst/>
          </a:prstGeom>
          <a:noFill/>
          <a:ln/>
        </p:spPr>
        <p:txBody>
          <a:bodyPr wrap="square" lIns="0" tIns="0" rIns="0" bIns="0" rtlCol="0" anchor="ctr"/>
          <a:lstStyle/>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time problem just got smaller.</a:t>
            </a:r>
            <a:endParaRPr lang="en-US" sz="2400" dirty="0"/>
          </a:p>
          <a:p>
            <a:pPr algn="ctr" indent="0" marL="0">
              <a:lnSpc>
                <a:spcPct val="125000"/>
              </a:lnSpc>
              <a:buNone/>
            </a:pPr>
            <a:r>
              <a:rPr lang="en-US" sz="2400" b="1" dirty="0">
                <a:solidFill>
                  <a:srgbClr val="2A9D8F"/>
                </a:solidFill>
                <a:latin typeface="Inter" pitchFamily="34" charset="0"/>
                <a:ea typeface="Inter" pitchFamily="34" charset="-122"/>
                <a:cs typeface="Inter" pitchFamily="34" charset="-120"/>
              </a:rPr>
              <a:t>The knowing-your-kids part was always yours.</a:t>
            </a:r>
            <a:endParaRPr lang="en-US" sz="2400" dirty="0"/>
          </a:p>
        </p:txBody>
      </p:sp>
      <p:sp>
        <p:nvSpPr>
          <p:cNvPr id="7" name="Text 4"/>
          <p:cNvSpPr/>
          <p:nvPr/>
        </p:nvSpPr>
        <p:spPr>
          <a:xfrm>
            <a:off x="640080" y="5852160"/>
            <a:ext cx="10972800" cy="365760"/>
          </a:xfrm>
          <a:prstGeom prst="rect">
            <a:avLst/>
          </a:prstGeom>
          <a:noFill/>
          <a:ln/>
        </p:spPr>
        <p:txBody>
          <a:bodyPr wrap="square" lIns="0" tIns="0" rIns="0" bIns="0" rtlCol="0" anchor="ctr"/>
          <a:lstStyle/>
          <a:p>
            <a:pPr algn="ctr" indent="0" marL="0">
              <a:buNone/>
            </a:pPr>
            <a:r>
              <a:rPr lang="en-US" sz="1300" spc="200" kern="0" dirty="0">
                <a:solidFill>
                  <a:srgbClr val="9FB2C2"/>
                </a:solidFill>
                <a:latin typeface="Inter" pitchFamily="34" charset="0"/>
                <a:ea typeface="Inter" pitchFamily="34" charset="-122"/>
                <a:cs typeface="Inter" pitchFamily="34" charset="-120"/>
              </a:rPr>
              <a:t>Human teaching. Life-changing tools.</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AI-Ready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Kit 3: AI for Planning &amp; Differentiation</dc:title>
  <dc:subject>PptxGenJS Presentation</dc:subject>
  <dc:creator>Adam &amp; Katelyn Spinozzi</dc:creator>
  <cp:lastModifiedBy>Adam &amp; Katelyn Spinozzi</cp:lastModifiedBy>
  <cp:revision>1</cp:revision>
  <dcterms:created xsi:type="dcterms:W3CDTF">2026-08-14T17:14:35Z</dcterms:created>
  <dcterms:modified xsi:type="dcterms:W3CDTF">2026-08-14T17:14:35Z</dcterms:modified>
</cp:coreProperties>
</file>