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up as people arrive. Start on time. This session assumes Kits 1 and 2: the permanent rules and the four-part formula. Staff should have brought one upcoming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Deunk et al. 2018, Educational Research Review: grouping alone is not enough; the materials have to actually differ. FOUNDER STORY slot lands here; read Katelyn’s three-versions story from the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Attributions out loud: EdWeek Research Center for the 61% (up from 34%); Gallup-Walton for the time-savings range, with weekly users saving about six hours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quick. The promise line matters: not examples, their lesson. Confirm everyone has a lesson in hand; borrowing a partner’s is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breath, then move. The five-word posture appears on screen; say it with the room if the culture is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Peer-reviewed, PLOS ONE 2024. The AI recommended a resource that does not exist. Tell it straight: the 30 minutes is real AND the fabrication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slide; keep it to 40 seconds. The 4-point review checklist arrives on slide 16, before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CAST’s UDL Guidelines 3.0; Capp’s 2017 meta-analysis found UDL effective for improving learning across the board. If asked “is this learning styles?”: no; UDL builds flexible materials, it does not sort kids into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Draft, options, pick, review. Steps 3 and 4 are the human steps and they are the point. This is the handout’s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is new pedagogy (Tomlinson et al., 2003: readiness, interest, learning profile). What’s new is the price of the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Kit 2 formula wearing work clothes: role, task, context, format. Ninety seconds replaces an evening. Next slide is the habit that keeps this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Crossley et al. 2022: the CommonLit CLEAR corpus grounded readability in teacher judgment; level is a testable property, not a vibe. FOUNDER STORY slot lands here: the time a level label was wrong and how you caught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on the handout: starters + word bank + one worked example on a DIFFERENT topic, so students see the structure without copying content. That clause is the professional touch.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quiet rule out loud: early finishers get depth, not volume. Your strongest students stop being your most bored ones, and it cost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on the handout: “same concepts in all three; label everything.” The version you never had time to make now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Accurate, at level, fits, sounds like you. This checklist is on the handout and becomes commitment #5. The lab’s step 3 runs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drafting got fast. The deciding is still yours. Steady, honest beat before the equity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from RAND (RR-A134-25): the schools whose students most need differentiated materials are least likely to be getting AI’s help making them. YOUR TAKE slot lands here; read the authors’ stated position from the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Pairs, devices out inside two minutes, announce the tool. LOCAL EXAMPLE slot: read one of the authors’ real differentiation prompts from the script (Adam’s leveled shop-safety procedure or Katelyn’s read-aloud-to-centers prompt).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Circulate. Weak drafts usually lack context; nudge with “what would a substitute need to know about this lesson?”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follow-up prompts in the same chat. 45-min cut: one direction instead of two; each teacher picks support or stretch based on their roster.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this step; skipping review is the failure mode of the whole kit. Pairs swap and check each other’s level labels: a partner’s ear is the first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Prioritize anyone whose review caught a real problem; it’s the most useful minute in the room. 45-min cut: two voices. Keep each to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Deunk et al. from slide 2. Land it plainly and move to the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in the margins of time staff already have. The 30-day plan’s PLC follow-ups reinforce exactly this cadence.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1 gave three commitments; Kit 2 added the staff doc. Ask for the visible nod; agreement out loud is what makes it a norm.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differentiated artifact from today comes with you; it’s about to need an exit ticket. Completing all eight kits earns the Certificate of Completion; check with your district or state about local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the First 48 Hours sheet. Tomorrow morning, coffee in hand, pick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 tickets; collect at the door. They double as the school’s PD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teach the lesson you just planned. Thanks, everyone. Collect the exit tickets at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1051560" cy="9692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· AI FOUNDATIONS · KIT 3 OF 20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30632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Planning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Differentiation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45–60 minute working session. You leave with one fully differentiated artifact for a lesson you’re about to teach.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Adam &amp; Katelyn Spinozzi · certified educators · 20+ combined years in the classroom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HALVES ARE TRUE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differentiation dilemma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8745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works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Meta-analysis: small-to-moderate positive effects, strongest when embedded in instruction and supported by technology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(Deunk et al., 2018)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8745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wasn’t sustainable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537960" y="265176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versions of every text, practice set, and station, by hand?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plan asked for more hours than the week has.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was never intention. It was time.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SESSION EXISTS NOW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tool for the time problem arrived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92024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61%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teachers used AI in their work by late 2025, up from 34% in Dec 2023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(EdWeek Research Center, 2026)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92024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60–84%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6537960" y="31089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teachers using AI for a task, like modifying materials to student levels, say it saves them time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(Gallup &amp; Walton Family Fdn., 2025)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plans and student resources are among the most common uses. Today we aim it at differentiation.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HOUR AHEAD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Agenda, and one promise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92024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planning workflow: where AI fits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0:12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920240" y="2194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toolkit: four differentiation moves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29260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0:24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920240" y="2926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control: the 4-point review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3657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92024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differentiate your real lesson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2960" y="4389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0:50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920240" y="4389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it stick + first 48 hours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052560" y="192024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8116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promise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281160" y="25603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leave with one fully differentiated artifact for an upcoming lesson: core, support, extension. Reviewed. Teachable.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STANCE FOR TODAY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from scratch again.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“never plan again.” Never start from a blank page again.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blank page was the most expensive part, and it never needed your expertise.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drafts the skeleton. You supply the judgment. AI drafts, the teacher decides.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BEST STUDY WE HAVE ON EXACTLY THIS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lesson plan in 30 minutes. And one catch.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92024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~30 min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ChatGPT to draft and refine a standards-aligned grade 1 science lesson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(Powell &amp; Courchesne, PLOS ONE, 2024)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BEFED"/>
          </a:solidFill>
          <a:ln w="12700">
            <a:solidFill>
              <a:srgbClr val="FBEF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82880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fabricated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537960" y="306324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questionable components and missing details along the way, delivered with total confidence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(same study)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THAT STUDY MEANS FOR MONDAY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is where your expertise enters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is not a formality. It’s the step where the teaching expertise enters the document.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30 minutes; the skeleton is real and it’s useful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review like a professional: the study’s authors and every kit in this series agree it’s non-negotiable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 THAT MAKES AI USEFUL, NOT JUST FAST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UDL: generate options, then choose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96112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ways in: choice, relevance, challenge level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07408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663440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ways to meet the content: text, levels, visuals described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74736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30768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&amp; expression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430768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ways to show it: write, build, discuss, teach back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4663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 were always UDL’s cost problem. Generating options is the thing AI does fastest.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generates the menu; you order for your class. (CAST UDL 3.0; Capp, 2017)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WHOLE SYSTEM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planning workflow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822960" y="1572768"/>
            <a:ext cx="658368" cy="6583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783080" y="1463040"/>
            <a:ext cx="9784080" cy="868680"/>
          </a:xfrm>
          <a:prstGeom prst="roundRect">
            <a:avLst>
              <a:gd name="adj" fmla="val 9474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03120" y="153619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Draft:  </a:t>
            </a:r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artifact with the Kit 2 formula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2624328"/>
            <a:ext cx="658368" cy="6583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624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783080" y="2514600"/>
            <a:ext cx="9784080" cy="868680"/>
          </a:xfrm>
          <a:prstGeom prst="roundRect">
            <a:avLst>
              <a:gd name="adj" fmla="val 9474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3120" y="2587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Options:  </a:t>
            </a:r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to vary it: levels, scaffolds, formats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22960" y="3675888"/>
            <a:ext cx="658368" cy="6583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783080" y="3566160"/>
            <a:ext cx="9784080" cy="868680"/>
          </a:xfrm>
          <a:prstGeom prst="roundRect">
            <a:avLst>
              <a:gd name="adj" fmla="val 9474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03120" y="363931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&amp; adapt:  </a:t>
            </a:r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know which option fits which kid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2960" y="4727448"/>
            <a:ext cx="658368" cy="6583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727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783080" y="4617720"/>
            <a:ext cx="9784080" cy="868680"/>
          </a:xfrm>
          <a:prstGeom prst="roundRect">
            <a:avLst>
              <a:gd name="adj" fmla="val 9474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03120" y="469087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Review:  </a:t>
            </a:r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4-point check before it reaches a student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DIFFERENTIATION TOOLKIT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moves. New price, same pedagogy.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61848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it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22402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passage, multiple reading levels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61848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Scaffold it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537960" y="22402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Starters, word banks, worked examples, organizers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0080" y="35204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72160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 it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14400" y="43434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 for early finishers, never more worksheets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263640" y="35204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72160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Reformat it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537960" y="43434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content as stations, cards, practice sets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Tomlinson’s frame: readiness (moves 1–3), interest and profile (move 4).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1 · THE WORKHORSE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it: one passage, three levels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BEFED"/>
          </a:solidFill>
          <a:ln w="12700">
            <a:solidFill>
              <a:srgbClr val="FBEF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“Make this easier.”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017520"/>
            <a:ext cx="10972800" cy="2651760"/>
          </a:xfrm>
          <a:prstGeom prst="roundRect">
            <a:avLst>
              <a:gd name="adj" fmla="val 310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47472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are a reading specialist. Rewrite the passage below at three levels: on-grade for 6th grade, about two years below, and about two years above. Keep every key idea, the section headings, and the same core vocabulary. Lower level: sentences under 12 words plus a 5-word vocabulary box. Higher level: raise the complexity of the reasoning, not just the vocabulary. Label each version.”  [paste passage]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HABIT THAT KEEPS MOVE 1 HONEST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level. Don’t trust the label.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150876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 paragraph aloud: your ear knows your grade level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00200" y="242316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Eyeball sentence length: 25-word sentences aren’t “easier”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338328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00200" y="333756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on one student tomorrow and watch where they stumble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4805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6177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Readability is measurable; teacher judgment is the benchmark. That’s the point of the CLEAR corpus research. Verify in two minutes; keep everything the leveling bought you.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2 · SAME TARGET, MORE HANDHOLDS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Scaffold it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63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645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 starters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 paragraph; gets the stuck writer moving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63640" y="1463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645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bank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37960" y="21488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words with student-friendly definitions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34290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611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Worked example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14400" y="41148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 different topic: teaches the shape, not the answer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263640" y="34290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611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Organizer text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537960" y="41148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labels and prompts for your graphic organizer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3 · EARLY FINISHERS &amp; ADVANCED LEARNERS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 it: depth, not more worksheets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38528" y="1828800"/>
            <a:ext cx="914400" cy="9144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38528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6868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concept in an unfamiliar context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407408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5856" y="1828800"/>
            <a:ext cx="914400" cy="9144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05856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636008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Critique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36008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flaw in a flawed example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74736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473184" y="1828800"/>
            <a:ext cx="914400" cy="9144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73184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403336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403336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it to a younger student, own words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second worksheet is a punishment for being fast. Say “no additional practice problems” in the prompt.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4 · THE UDL MOVE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Reformat it: same content, new shape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96112" y="24688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activity-direction sets from one lesson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07408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cards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663440" y="24688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cards, one question each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74736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30768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set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430768" y="24688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items ramping recall → application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40080" y="45720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709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draft becomes a menu: multiple means of engagement and expression, on demand.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ANYTHING REACHES A STUDENT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4-point review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600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Accurate?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14400" y="2130552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Facts, examples, named resources checked. Remember the fabricated resource.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600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At level, actually?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37960" y="2130552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quick checks. The label is a guess until you test it.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35204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703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Fits your students?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14400" y="4233672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wrote for a generic class. Swap examples that won’t land in yours.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63640" y="35204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703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Sounds like you?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537960" y="4233672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directions don’t sound like your directions, students notice first.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 a point, fix it. That’s the review.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NOBODY OVERSELLS IT IN THE HALLWAY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AI can’t do here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Doesn’t know your kids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96112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never met the reader who shuts down, or the one who’s two grades ahead.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7408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Leveled ≠ verified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663440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label is a guess until you check it.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74736" y="155448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30768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invent things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430768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Activities that don’t quite work; resources that don’t exist.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that is a reason to skip the tool. All of it is the reason the teacher stays in the loop.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BIGGER THAN THIS ROOM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gaps. Don’t widen them.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10972800" cy="2926080"/>
          </a:xfrm>
          <a:prstGeom prst="roundRect">
            <a:avLst>
              <a:gd name="adj" fmla="val 28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280160" y="33832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teachers used AI for planning or teaching in 2023–24, and adoption lagged in higher-poverty schools. (RAND, 2025)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fix in this building: everyone learns the moves, everyone shares the prompts, every roster benefits.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19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· ~20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differentiate your real lesson.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lesson you brought. By the end: a core artifact, a support version, and an extension, reviewed and teachable this week.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00200" y="34290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 information: describe needs, never names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00200" y="425196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the core with the four-part formula, then differentiate two directions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512064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00200" y="50749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is done until it passes the 4-point review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1 OF 3 · 5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the core artifact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087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6362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one artifact your lesson most needs: reading, practice set, directions, exit check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43230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· task · context · format, and be generous with context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30098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students just learn? What do they always trip on?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40080" y="411480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16966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it. Read like an editor. Get it to 80%, not perfect.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Don’t polish. The next step is where today earns its name.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2 OF 3 · 7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 it: two directions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23774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it down or scaffold it, your choice. Use the handout prompt as-is; the AI already has your artifact in the chat.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3680" y="23774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 prompts: apply, critique, teach back. Depth, not length. Say “no additional practice problems.”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You’re building the versions that used to cost an evening, inside seven minutes.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3 OF 3 · 4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4-point review. Fix what fails.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087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6362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Accurate? Check facts and any named resources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43230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level, actually? Read the support version aloud to your partner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30098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Fits your students? Swap the examples that won’t land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40080" y="411480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169664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Sounds like you? If not: “warmer,” “plainer,” “shorter”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artifact that passes all four is done. Not AI-done. Done done.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SHARE-OUT · 3–4 VOICES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you build?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109087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your artifact, and which direction surprised you?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the 4-point review catch anything?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AI got a level wrong or invented something, that story goes first.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NINETEEN MINUTES AGO THIS DIDN’T EXIST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good intentions to materials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10972800" cy="3291840"/>
          </a:xfrm>
          <a:prstGeom prst="roundRect">
            <a:avLst>
              <a:gd name="adj" fmla="val 2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202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core artifact. A support version. An extension. All reviewed by the one person qualified to review them.
</a:t>
            </a:r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research said differentiation works best embedded and technology-supported. That’s not a description of some other school anymore. It’s what’s on your screen.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HABIT THAT COMPOUNDS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differentiated artifact per week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9087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differentiated everything; that’s burnout dressed up as ambition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lesson a week gets the full treatment: core, support, extension, review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Fifteen weeks in: fifteen lessons deep with materials for every learner on your roster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2062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steady, sustainable. That’s the whole strategy.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LIST GROWS BY ONE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 #5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AI-drafted reaches a student until it passes the 4-point review.</a:t>
            </a:r>
            <a:endParaRPr lang="en-US" sz="2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working differentiation prompts go in the staff doc.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 get a nod on that?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OF 8 · TRACK 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series goes next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Foundations &amp; Safety  ✔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Prompting Basics  ✔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09360" y="1554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Planning &amp; Differentiation  ✔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144000" y="1554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Assessment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27432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Academic Integrity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3474720" y="27432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Communication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09360" y="27432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Workload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9144000" y="274320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· Your School’s AI Culture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40080" y="420624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43891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Kit 4, AI for Assessment. </a:t>
            </a:r>
            <a:pPr indent="0" marL="0">
              <a:buNone/>
            </a:pPr>
            <a:r>
              <a:rPr lang="en-US" sz="17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built the materials for the range of learners in your room; next we build the ways to find out what they learned: question banks, rubrics, feedback that doesn’t eat your Sunday.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FRIDAY BECOMES A MEMORY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48 hours: three small things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46304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847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min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377440" y="160934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with your lab artifact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377440" y="208483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jot one line: what did the support kids and stretch kids actually do?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264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min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377440" y="302666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one more text, then check the level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377440" y="350215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it aloud, eyeball sentence length, fix what the label got wrong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681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 min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377440" y="444398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your best prompt to the staff doc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377440" y="491947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move, your name, one line about the lesson it fit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29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MINUTES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109087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differentiation move you’ll use first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artifact you built in the lab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differentiation task you still want help with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answers steer the PLC follow-ups. Be honest.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982712" y="64282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3 · Planning &amp; Differentiation   |   30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Differentiation was never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good-intentions problem.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was a time problem.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time problem just got smaller.</a:t>
            </a:r>
            <a:endParaRPr lang="en-US" sz="2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knowing-your-kids part was always yours.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teaching. Life-changing tools.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AI-Ready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3: AI for Planning &amp; Differentiation</dc:title>
  <dc:subject>PptxGenJS Presentation</dc:subject>
  <dc:creator>Adam &amp; Katelyn Spinozzi</dc:creator>
  <cp:lastModifiedBy>Adam &amp; Katelyn Spinozzi</cp:lastModifiedBy>
  <cp:revision>1</cp:revision>
  <dcterms:created xsi:type="dcterms:W3CDTF">2026-08-08T01:40:07Z</dcterms:created>
  <dcterms:modified xsi:type="dcterms:W3CDTF">2026-08-08T01:40:07Z</dcterms:modified>
</cp:coreProperties>
</file>