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Kits 1 and 2: the permanent rules and the four-part formula. Staff should have brought one upcoming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Deunk et al. 2018, Educational Research Review: grouping alone is not enough; the materials have to actually differ. If you chose to share the founders’ note from the front of the script, their point lands here: when versions are hand-built, the stretch gets triaged.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Attributions out loud: EdWeek Research Center for the 61% (up from 34%); Gallup-Walton for the time-savings range, with weekly users saving about six hours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line matters: not examples, their lesson. Confirm everyone has a lesson in hand; borrowing a partner’s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breath, then move. The five-word posture appears on screen; say it with the room if the culture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Peer-reviewed, PLOS ONE 2024. The AI recommended a resource that does not exist. Tell it straight: the 30 minutes is real AND the fabrication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slide; keep it to 40 seconds. The 4-point review checklist arrives on slide 16,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CAST’s UDL Guidelines 3.0; Capp’s 2017 meta-analysis found UDL effective for improving learning across the board. If asked “is this learning styles?”: no; UDL builds flexible materials, it does not sort kids into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options, pick, review. Steps 3 and 4 are the human steps and they are the point. This is the handout’s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new pedagogy (Tomlinson et al., 2003: readiness, interest, learning profile). What’s new is the price of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here's the same move on Ms. Rivera's screen, our running composite example. It's the Kit 2 formula wearing work clothes: role in teal, task in navy, context in amber, format in green. Ninety seconds replaces an evening. In the lab, mimic this shape with your own passage. Next slide is the habit that keeps this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Crossley et al. 2022: the CommonLit CLEAR corpus grounded readability in teacher judgment; level is a testable property, not a vibe. Teach the three quick checks (read aloud, sentence length, try on one student)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on the handout: starters + word bank + one worked example on a DIFFERENT topic, so students see the structure without copying content. That clause is the professional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quiet rule out loud: early finishers get depth, not volume. Your strongest students stop being your most bored ones, and it cost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on the handout: “same concepts in all three; label everything.” The version you never had time to make now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Accurate, at level, fits, sounds like you. This checklist is on the handout and becomes commitment #5. The lab’s step 3 runs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drafting got fast. The deciding is still yours. Steady, honest beat before the equity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from RAND (RR-A134-25): the schools whose students most need differentiated materials are least likely to be getting AI’s help making them. Then read the authors’ shared take from the script: in practice, equity tends to favor the struggling child, and the top end of the class gets forgotten; now that extensions cost two minutes, build the stretch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The standard to name here: differentiate until understanding is equal, and let AI do the drafting that used to make that impossible. Ms. Rivera builds ONE artifact across all three steps, the reading passage for her 6th grade food webs lesson; her exemplar appears large on every step slide, so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Weak drafts usually lack context; nudge with “what would a substitute need to know about this lesson?” The big card is Ms. Rivera’s step 1: one reading passage for her 6th grade food webs lesson, drafted to 80%. The same passage runs through all three steps; anyone stuck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follow-up prompts in the same chat. The big card is Ms. Rivera's step 2 on the same food webs passage: the leveled support version, then three depth prompts. Mimic her pair of follow-ups with your own artifact. 45-min cut: one direction instead of two; each teacher picks support or stretch based on their roster.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this step; skipping review is the failure mode of the whole kit. Pairs swap and check each other’s level labels: a partner’s ear is the first check. The big card is Ms. Rivera's review run on the same food webs passage: two points fail, two fixes happen live, and only then is it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Prioritize anyone whose review caught a real problem; it’s the most useful minute in the room. Ms. Rivera's model story is on the chip: what the review caught in her food webs passage goes first. 45-min cut: two voices. Keep each to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hour ago, differentiation was a good intention priced at three hand-built versions of everything. You just built core, support, and stretch for a real lesson in twenty minutes, and the research from slide 2 says materials that actually differ are what make it work. Land it plainly and move to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the margins of time staff already have. The 30-day plan’s PLC follow-ups reinforce exactly this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 1 gave three commitments; Kit 2 added the staff doc. Ask for the visible nod;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differentiated artifact from today comes with you; it’s about to need an exit ticket. Completing all eight kits earns the Certificate of Completion; check with your district or state about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teach the lesson you just planned. 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3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for Planning</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&amp; Differentiation</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one fully differentiated artifact for a lesson you’re about to teach.</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dilemma: differentiation worked when she managed it; the hours didn't exist.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BOTH HALVES ARE TRUE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differentiation dilemma</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874520"/>
            <a:ext cx="5257800" cy="640080"/>
          </a:xfrm>
          <a:prstGeom prst="rect">
            <a:avLst/>
          </a:prstGeom>
          <a:noFill/>
          <a:ln/>
        </p:spPr>
        <p:txBody>
          <a:bodyPr wrap="square" lIns="0" tIns="0" rIns="0" bIns="0" rtlCol="0" anchor="ctr"/>
          <a:lstStyle/>
          <a:p>
            <a:pPr algn="ctr" indent="0" marL="0">
              <a:buNone/>
            </a:pPr>
            <a:r>
              <a:rPr lang="en-US" sz="3000" b="1" dirty="0">
                <a:solidFill>
                  <a:srgbClr val="2E7D5B"/>
                </a:solidFill>
                <a:latin typeface="Inter" pitchFamily="34" charset="0"/>
                <a:ea typeface="Inter" pitchFamily="34" charset="-122"/>
                <a:cs typeface="Inter" pitchFamily="34" charset="-120"/>
              </a:rPr>
              <a:t>It works</a:t>
            </a:r>
            <a:endParaRPr lang="en-US" sz="3000" dirty="0"/>
          </a:p>
        </p:txBody>
      </p:sp>
      <p:sp>
        <p:nvSpPr>
          <p:cNvPr id="16" name="Text 13"/>
          <p:cNvSpPr/>
          <p:nvPr/>
        </p:nvSpPr>
        <p:spPr>
          <a:xfrm>
            <a:off x="91440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Meta-analysis: small-to-moderate positive effects, strongest when embedded in instruction and supported by technology</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(Deunk et al., 2018)</a:t>
            </a:r>
            <a:endParaRPr lang="en-US" sz="155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874520"/>
            <a:ext cx="5257800" cy="640080"/>
          </a:xfrm>
          <a:prstGeom prst="rect">
            <a:avLst/>
          </a:prstGeom>
          <a:noFill/>
          <a:ln/>
        </p:spPr>
        <p:txBody>
          <a:bodyPr wrap="square" lIns="0" tIns="0" rIns="0" bIns="0" rtlCol="0" anchor="ctr"/>
          <a:lstStyle/>
          <a:p>
            <a:pPr algn="ctr" indent="0" marL="0">
              <a:buNone/>
            </a:pPr>
            <a:r>
              <a:rPr lang="en-US" sz="3000" b="1" dirty="0">
                <a:solidFill>
                  <a:srgbClr val="B4453A"/>
                </a:solidFill>
                <a:latin typeface="Inter" pitchFamily="34" charset="0"/>
                <a:ea typeface="Inter" pitchFamily="34" charset="-122"/>
                <a:cs typeface="Inter" pitchFamily="34" charset="-120"/>
              </a:rPr>
              <a:t>It wasn’t sustainable</a:t>
            </a:r>
            <a:endParaRPr lang="en-US" sz="3000" dirty="0"/>
          </a:p>
        </p:txBody>
      </p:sp>
      <p:sp>
        <p:nvSpPr>
          <p:cNvPr id="19" name="Text 16"/>
          <p:cNvSpPr/>
          <p:nvPr/>
        </p:nvSpPr>
        <p:spPr>
          <a:xfrm>
            <a:off x="653796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Three versions of every text, practice set, and station, by hand?</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The plan asked for more hours than the week has.</a:t>
            </a:r>
            <a:endParaRPr lang="en-US" sz="155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gap was never intention. It was time.</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time math changed: the drafting help finally arrived.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SESSION EXISTS NOW</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tool for the time problem arrived</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61%</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in their work by late 2025, up from 34% in Dec 2023</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(EdWeek Research Center, 2026)</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60–84%</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using AI for a task, like modifying materials to student levels, say it saves them time</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Lesson plans and student resources are among the most common uses. Today we aim it at differentiation.</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one artifact, three versions, reviewed, teachable this week.</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planning workflow: where AI fits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toolkit: four differentiation moves</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Quality control: the 4-point review</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differentiate your real lesson</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0:50</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one fully differentiated artifact for an upcoming lesson: core, support, extension. Reviewed. Teachable.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stance: never from a blank page again. Skeleton drafted, judgment hers.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STANCE FOR TODAY</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Never from scratch again.</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400" dirty="0">
                <a:solidFill>
                  <a:srgbClr val="C9D4DE"/>
                </a:solidFill>
                <a:latin typeface="Inter" pitchFamily="34" charset="0"/>
                <a:ea typeface="Inter" pitchFamily="34" charset="-122"/>
                <a:cs typeface="Inter" pitchFamily="34" charset="-120"/>
              </a:rPr>
              <a:t>Not “never plan again.” Never start from a blank page again.</a:t>
            </a:r>
            <a:endParaRPr lang="en-US" sz="2400" dirty="0"/>
          </a:p>
          <a:p>
            <a:pPr indent="0" marL="0">
              <a:lnSpc>
                <a:spcPct val="120000"/>
              </a:lnSpc>
              <a:buNone/>
            </a:pPr>
            <a:r>
              <a:rPr lang="en-US" sz="2400" dirty="0">
                <a:solidFill>
                  <a:srgbClr val="C9D4DE"/>
                </a:solidFill>
                <a:latin typeface="Inter" pitchFamily="34" charset="0"/>
                <a:ea typeface="Inter" pitchFamily="34" charset="-122"/>
                <a:cs typeface="Inter" pitchFamily="34" charset="-120"/>
              </a:rPr>
              <a:t>The blank page was the most expensive part, and it never needed your expertise.</a:t>
            </a:r>
            <a:endParaRPr lang="en-US" sz="24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AI drafts the skeleton. You supply the judgment. AI drafts, the teacher decides.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a 30-minute draft, and at least one invented thing to catch.</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STUDY WE HAVE ON EXACTLY THIS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 lesson plan in 30 minutes. And one catch.</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400" b="1" dirty="0">
                <a:solidFill>
                  <a:srgbClr val="2E7D5B"/>
                </a:solidFill>
                <a:latin typeface="Inter" pitchFamily="34" charset="0"/>
                <a:ea typeface="Inter" pitchFamily="34" charset="-122"/>
                <a:cs typeface="Inter" pitchFamily="34" charset="-120"/>
              </a:rPr>
              <a:t>~30 min</a:t>
            </a:r>
            <a:endParaRPr lang="en-US" sz="5400" dirty="0"/>
          </a:p>
        </p:txBody>
      </p:sp>
      <p:sp>
        <p:nvSpPr>
          <p:cNvPr id="16" name="Text 13"/>
          <p:cNvSpPr/>
          <p:nvPr/>
        </p:nvSpPr>
        <p:spPr>
          <a:xfrm>
            <a:off x="91440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for ChatGPT to draft and refine a standards-aligned grade 1 science lesson</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(Powell &amp; Courchesne, PLOS ONE, 2024)</a:t>
            </a:r>
            <a:endParaRPr lang="en-US" sz="1550" dirty="0"/>
          </a:p>
        </p:txBody>
      </p:sp>
      <p:sp>
        <p:nvSpPr>
          <p:cNvPr id="17" name="Shape 14"/>
          <p:cNvSpPr/>
          <p:nvPr/>
        </p:nvSpPr>
        <p:spPr>
          <a:xfrm>
            <a:off x="6263640" y="1600200"/>
            <a:ext cx="5257800" cy="3383280"/>
          </a:xfrm>
          <a:prstGeom prst="roundRect">
            <a:avLst>
              <a:gd name="adj" fmla="val 2432"/>
            </a:avLst>
          </a:prstGeom>
          <a:solidFill>
            <a:srgbClr val="FBEFED"/>
          </a:solidFill>
          <a:ln w="12700">
            <a:solidFill>
              <a:srgbClr val="FBEFED"/>
            </a:solidFill>
            <a:prstDash val="solid"/>
          </a:ln>
        </p:spPr>
      </p:sp>
      <p:sp>
        <p:nvSpPr>
          <p:cNvPr id="18" name="Text 15"/>
          <p:cNvSpPr/>
          <p:nvPr/>
        </p:nvSpPr>
        <p:spPr>
          <a:xfrm>
            <a:off x="6263640" y="1828800"/>
            <a:ext cx="5257800" cy="1280160"/>
          </a:xfrm>
          <a:prstGeom prst="rect">
            <a:avLst/>
          </a:prstGeom>
          <a:noFill/>
          <a:ln/>
        </p:spPr>
        <p:txBody>
          <a:bodyPr wrap="square" lIns="0" tIns="0" rIns="0" bIns="0" rtlCol="0" anchor="ctr"/>
          <a:lstStyle/>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1 fabricated</a:t>
            </a:r>
            <a:endParaRPr lang="en-US" sz="3200" dirty="0"/>
          </a:p>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resource</a:t>
            </a:r>
            <a:endParaRPr lang="en-US" sz="3200" dirty="0"/>
          </a:p>
        </p:txBody>
      </p:sp>
      <p:sp>
        <p:nvSpPr>
          <p:cNvPr id="19" name="Text 16"/>
          <p:cNvSpPr/>
          <p:nvPr/>
        </p:nvSpPr>
        <p:spPr>
          <a:xfrm>
            <a:off x="653796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plus questionable components and missing details along the way, delivered with total confidence</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(same study)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habit: that's where her expertise enters the document.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THAT STUDY MEANS FOR MONDAY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Review is where your expertise enters</a:t>
            </a:r>
            <a:endParaRPr lang="en-US" sz="32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Review is not a formality. It’s the step where the teaching expertise enters the document.</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Take the 30 minutes; the skeleton is real and it’s useful</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Then review like a professional: the study’s authors and every kit in this series agree it’s non-negotiable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UDL frame: AI generates the menu; she orders for her class.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 THAT MAKES AI USEFUL, NOT JUST FAST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UDL: generate options, then choose</a:t>
            </a:r>
            <a:endParaRPr lang="en-US" sz="3200" dirty="0"/>
          </a:p>
        </p:txBody>
      </p:sp>
      <p:sp>
        <p:nvSpPr>
          <p:cNvPr id="14" name="Shape 11"/>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15" name="Text 12"/>
          <p:cNvSpPr/>
          <p:nvPr/>
        </p:nvSpPr>
        <p:spPr>
          <a:xfrm>
            <a:off x="896112"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Engagement</a:t>
            </a:r>
            <a:endParaRPr lang="en-US" sz="1900" dirty="0"/>
          </a:p>
        </p:txBody>
      </p:sp>
      <p:sp>
        <p:nvSpPr>
          <p:cNvPr id="16" name="Text 13"/>
          <p:cNvSpPr/>
          <p:nvPr/>
        </p:nvSpPr>
        <p:spPr>
          <a:xfrm>
            <a:off x="896112"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in: choice, relevance, challenge level</a:t>
            </a:r>
            <a:endParaRPr lang="en-US" sz="1500" dirty="0"/>
          </a:p>
        </p:txBody>
      </p:sp>
      <p:sp>
        <p:nvSpPr>
          <p:cNvPr id="17" name="Shape 14"/>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8" name="Text 15"/>
          <p:cNvSpPr/>
          <p:nvPr/>
        </p:nvSpPr>
        <p:spPr>
          <a:xfrm>
            <a:off x="4663440"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Representation</a:t>
            </a:r>
            <a:endParaRPr lang="en-US" sz="1900" dirty="0"/>
          </a:p>
        </p:txBody>
      </p:sp>
      <p:sp>
        <p:nvSpPr>
          <p:cNvPr id="19" name="Text 16"/>
          <p:cNvSpPr/>
          <p:nvPr/>
        </p:nvSpPr>
        <p:spPr>
          <a:xfrm>
            <a:off x="4663440"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meet the content: text, levels, visuals described</a:t>
            </a:r>
            <a:endParaRPr lang="en-US" sz="1500" dirty="0"/>
          </a:p>
        </p:txBody>
      </p:sp>
      <p:sp>
        <p:nvSpPr>
          <p:cNvPr id="20" name="Shape 17"/>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21" name="Text 18"/>
          <p:cNvSpPr/>
          <p:nvPr/>
        </p:nvSpPr>
        <p:spPr>
          <a:xfrm>
            <a:off x="8430768"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Action &amp; expression</a:t>
            </a:r>
            <a:endParaRPr lang="en-US" sz="1900" dirty="0"/>
          </a:p>
        </p:txBody>
      </p:sp>
      <p:sp>
        <p:nvSpPr>
          <p:cNvPr id="22" name="Text 19"/>
          <p:cNvSpPr/>
          <p:nvPr/>
        </p:nvSpPr>
        <p:spPr>
          <a:xfrm>
            <a:off x="8430768"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show it: write, build, discuss, teach back</a:t>
            </a:r>
            <a:endParaRPr lang="en-US" sz="1500" dirty="0"/>
          </a:p>
        </p:txBody>
      </p:sp>
      <p:sp>
        <p:nvSpPr>
          <p:cNvPr id="23" name="Text 20"/>
          <p:cNvSpPr/>
          <p:nvPr/>
        </p:nvSpPr>
        <p:spPr>
          <a:xfrm>
            <a:off x="640080" y="4663440"/>
            <a:ext cx="10972800" cy="914400"/>
          </a:xfrm>
          <a:prstGeom prst="rect">
            <a:avLst/>
          </a:prstGeom>
          <a:noFill/>
          <a:ln/>
        </p:spPr>
        <p:txBody>
          <a:bodyPr wrap="square" lIns="0" tIns="0" rIns="0" bIns="0" rtlCol="0" anchor="ctr"/>
          <a:lstStyle/>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Options were always UDL’s cost problem. Generating options is the thing AI does fastest.</a:t>
            </a:r>
            <a:endParaRPr lang="en-US" sz="1800" dirty="0"/>
          </a:p>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AI generates the menu; you order for your class. (CAST UDL 3.0; Capp, 2017)</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workflow: draft, then options, then pick and adapt, then review.</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WHOLE SYSTEM</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planning workflow</a:t>
            </a:r>
            <a:endParaRPr lang="en-US" sz="3200" dirty="0"/>
          </a:p>
        </p:txBody>
      </p:sp>
      <p:sp>
        <p:nvSpPr>
          <p:cNvPr id="14" name="Shape 11"/>
          <p:cNvSpPr/>
          <p:nvPr/>
        </p:nvSpPr>
        <p:spPr>
          <a:xfrm>
            <a:off x="822960" y="1572768"/>
            <a:ext cx="658368" cy="658368"/>
          </a:xfrm>
          <a:prstGeom prst="ellipse">
            <a:avLst/>
          </a:prstGeom>
          <a:solidFill>
            <a:srgbClr val="2A9D8F"/>
          </a:solidFill>
          <a:ln w="12700">
            <a:solidFill>
              <a:srgbClr val="2A9D8F"/>
            </a:solidFill>
            <a:prstDash val="solid"/>
          </a:ln>
        </p:spPr>
      </p:sp>
      <p:sp>
        <p:nvSpPr>
          <p:cNvPr id="15" name="Text 12"/>
          <p:cNvSpPr/>
          <p:nvPr/>
        </p:nvSpPr>
        <p:spPr>
          <a:xfrm>
            <a:off x="822960" y="157276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1</a:t>
            </a:r>
            <a:endParaRPr lang="en-US" sz="2200" dirty="0"/>
          </a:p>
        </p:txBody>
      </p:sp>
      <p:sp>
        <p:nvSpPr>
          <p:cNvPr id="16" name="Shape 13"/>
          <p:cNvSpPr/>
          <p:nvPr/>
        </p:nvSpPr>
        <p:spPr>
          <a:xfrm>
            <a:off x="1783080" y="1463040"/>
            <a:ext cx="978408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2103120" y="153619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Draft:  </a:t>
            </a:r>
            <a:pPr indent="0" marL="0">
              <a:buNone/>
            </a:pPr>
            <a:r>
              <a:rPr lang="en-US" sz="1800" dirty="0">
                <a:solidFill>
                  <a:srgbClr val="1B1F24"/>
                </a:solidFill>
                <a:latin typeface="Inter" pitchFamily="34" charset="0"/>
                <a:ea typeface="Inter" pitchFamily="34" charset="-122"/>
                <a:cs typeface="Inter" pitchFamily="34" charset="-120"/>
              </a:rPr>
              <a:t>the core artifact with the Kit 2 formula</a:t>
            </a:r>
            <a:endParaRPr lang="en-US" sz="1800" dirty="0"/>
          </a:p>
        </p:txBody>
      </p:sp>
      <p:sp>
        <p:nvSpPr>
          <p:cNvPr id="18" name="Shape 15"/>
          <p:cNvSpPr/>
          <p:nvPr/>
        </p:nvSpPr>
        <p:spPr>
          <a:xfrm>
            <a:off x="822960" y="2624328"/>
            <a:ext cx="658368" cy="658368"/>
          </a:xfrm>
          <a:prstGeom prst="ellipse">
            <a:avLst/>
          </a:prstGeom>
          <a:solidFill>
            <a:srgbClr val="2A9D8F"/>
          </a:solidFill>
          <a:ln w="12700">
            <a:solidFill>
              <a:srgbClr val="2A9D8F"/>
            </a:solidFill>
            <a:prstDash val="solid"/>
          </a:ln>
        </p:spPr>
      </p:sp>
      <p:sp>
        <p:nvSpPr>
          <p:cNvPr id="19" name="Text 16"/>
          <p:cNvSpPr/>
          <p:nvPr/>
        </p:nvSpPr>
        <p:spPr>
          <a:xfrm>
            <a:off x="822960" y="262432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2</a:t>
            </a:r>
            <a:endParaRPr lang="en-US" sz="2200" dirty="0"/>
          </a:p>
        </p:txBody>
      </p:sp>
      <p:sp>
        <p:nvSpPr>
          <p:cNvPr id="20" name="Shape 17"/>
          <p:cNvSpPr/>
          <p:nvPr/>
        </p:nvSpPr>
        <p:spPr>
          <a:xfrm>
            <a:off x="1783080" y="2514600"/>
            <a:ext cx="978408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2103120" y="258775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Options:  </a:t>
            </a:r>
            <a:pPr indent="0" marL="0">
              <a:buNone/>
            </a:pPr>
            <a:r>
              <a:rPr lang="en-US" sz="1800" dirty="0">
                <a:solidFill>
                  <a:srgbClr val="1B1F24"/>
                </a:solidFill>
                <a:latin typeface="Inter" pitchFamily="34" charset="0"/>
                <a:ea typeface="Inter" pitchFamily="34" charset="-122"/>
                <a:cs typeface="Inter" pitchFamily="34" charset="-120"/>
              </a:rPr>
              <a:t>ask AI to vary it: levels, scaffolds, formats</a:t>
            </a:r>
            <a:endParaRPr lang="en-US" sz="1800" dirty="0"/>
          </a:p>
        </p:txBody>
      </p:sp>
      <p:sp>
        <p:nvSpPr>
          <p:cNvPr id="22" name="Shape 19"/>
          <p:cNvSpPr/>
          <p:nvPr/>
        </p:nvSpPr>
        <p:spPr>
          <a:xfrm>
            <a:off x="822960" y="3675888"/>
            <a:ext cx="658368" cy="658368"/>
          </a:xfrm>
          <a:prstGeom prst="ellipse">
            <a:avLst/>
          </a:prstGeom>
          <a:solidFill>
            <a:srgbClr val="2A9D8F"/>
          </a:solidFill>
          <a:ln w="12700">
            <a:solidFill>
              <a:srgbClr val="2A9D8F"/>
            </a:solidFill>
            <a:prstDash val="solid"/>
          </a:ln>
        </p:spPr>
      </p:sp>
      <p:sp>
        <p:nvSpPr>
          <p:cNvPr id="23" name="Text 20"/>
          <p:cNvSpPr/>
          <p:nvPr/>
        </p:nvSpPr>
        <p:spPr>
          <a:xfrm>
            <a:off x="822960" y="367588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3</a:t>
            </a:r>
            <a:endParaRPr lang="en-US" sz="2200" dirty="0"/>
          </a:p>
        </p:txBody>
      </p:sp>
      <p:sp>
        <p:nvSpPr>
          <p:cNvPr id="24" name="Shape 21"/>
          <p:cNvSpPr/>
          <p:nvPr/>
        </p:nvSpPr>
        <p:spPr>
          <a:xfrm>
            <a:off x="1783080" y="3566160"/>
            <a:ext cx="978408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2103120" y="363931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Pick &amp; adapt:  </a:t>
            </a:r>
            <a:pPr indent="0" marL="0">
              <a:buNone/>
            </a:pPr>
            <a:r>
              <a:rPr lang="en-US" sz="1800" dirty="0">
                <a:solidFill>
                  <a:srgbClr val="1B1F24"/>
                </a:solidFill>
                <a:latin typeface="Inter" pitchFamily="34" charset="0"/>
                <a:ea typeface="Inter" pitchFamily="34" charset="-122"/>
                <a:cs typeface="Inter" pitchFamily="34" charset="-120"/>
              </a:rPr>
              <a:t>you know which option fits which kid</a:t>
            </a:r>
            <a:endParaRPr lang="en-US" sz="1800" dirty="0"/>
          </a:p>
        </p:txBody>
      </p:sp>
      <p:sp>
        <p:nvSpPr>
          <p:cNvPr id="26" name="Shape 23"/>
          <p:cNvSpPr/>
          <p:nvPr/>
        </p:nvSpPr>
        <p:spPr>
          <a:xfrm>
            <a:off x="822960" y="4727448"/>
            <a:ext cx="658368" cy="658368"/>
          </a:xfrm>
          <a:prstGeom prst="ellipse">
            <a:avLst/>
          </a:prstGeom>
          <a:solidFill>
            <a:srgbClr val="2A9D8F"/>
          </a:solidFill>
          <a:ln w="12700">
            <a:solidFill>
              <a:srgbClr val="2A9D8F"/>
            </a:solidFill>
            <a:prstDash val="solid"/>
          </a:ln>
        </p:spPr>
      </p:sp>
      <p:sp>
        <p:nvSpPr>
          <p:cNvPr id="27" name="Text 24"/>
          <p:cNvSpPr/>
          <p:nvPr/>
        </p:nvSpPr>
        <p:spPr>
          <a:xfrm>
            <a:off x="822960" y="472744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4</a:t>
            </a:r>
            <a:endParaRPr lang="en-US" sz="2200" dirty="0"/>
          </a:p>
        </p:txBody>
      </p:sp>
      <p:sp>
        <p:nvSpPr>
          <p:cNvPr id="28" name="Shape 25"/>
          <p:cNvSpPr/>
          <p:nvPr/>
        </p:nvSpPr>
        <p:spPr>
          <a:xfrm>
            <a:off x="1783080" y="4617720"/>
            <a:ext cx="978408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2103120" y="469087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Review:  </a:t>
            </a:r>
            <a:pPr indent="0" marL="0">
              <a:buNone/>
            </a:pPr>
            <a:r>
              <a:rPr lang="en-US" sz="1800" dirty="0">
                <a:solidFill>
                  <a:srgbClr val="1B1F24"/>
                </a:solidFill>
                <a:latin typeface="Inter" pitchFamily="34" charset="0"/>
                <a:ea typeface="Inter" pitchFamily="34" charset="-122"/>
                <a:cs typeface="Inter" pitchFamily="34" charset="-120"/>
              </a:rPr>
              <a:t>the 4-point check before it reaches a student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four moves: level it, scaffold it, stretch it, reformat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DIFFERENTIATION TOOLKIT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Four moves. New price, same pedagogy.</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Level it</a:t>
            </a:r>
            <a:endParaRPr lang="en-US" sz="2400" dirty="0"/>
          </a:p>
        </p:txBody>
      </p:sp>
      <p:sp>
        <p:nvSpPr>
          <p:cNvPr id="16" name="Text 13"/>
          <p:cNvSpPr/>
          <p:nvPr/>
        </p:nvSpPr>
        <p:spPr>
          <a:xfrm>
            <a:off x="91440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passage, multiple reading levels</a:t>
            </a:r>
            <a:endParaRPr lang="en-US" sz="17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Scaffold it</a:t>
            </a:r>
            <a:endParaRPr lang="en-US" sz="2400" dirty="0"/>
          </a:p>
        </p:txBody>
      </p:sp>
      <p:sp>
        <p:nvSpPr>
          <p:cNvPr id="19" name="Text 16"/>
          <p:cNvSpPr/>
          <p:nvPr/>
        </p:nvSpPr>
        <p:spPr>
          <a:xfrm>
            <a:off x="653796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Starters, word banks, worked examples, organizers</a:t>
            </a:r>
            <a:endParaRPr lang="en-US" sz="17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Stretch it</a:t>
            </a:r>
            <a:endParaRPr lang="en-US" sz="2400" dirty="0"/>
          </a:p>
        </p:txBody>
      </p:sp>
      <p:sp>
        <p:nvSpPr>
          <p:cNvPr id="22" name="Text 19"/>
          <p:cNvSpPr/>
          <p:nvPr/>
        </p:nvSpPr>
        <p:spPr>
          <a:xfrm>
            <a:off x="91440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Depth for early finishers, never more worksheets</a:t>
            </a:r>
            <a:endParaRPr lang="en-US" sz="17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Reformat it</a:t>
            </a:r>
            <a:endParaRPr lang="en-US" sz="2400" dirty="0"/>
          </a:p>
        </p:txBody>
      </p:sp>
      <p:sp>
        <p:nvSpPr>
          <p:cNvPr id="25" name="Text 22"/>
          <p:cNvSpPr/>
          <p:nvPr/>
        </p:nvSpPr>
        <p:spPr>
          <a:xfrm>
            <a:off x="653796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Same content as stations, cards, practice sets</a:t>
            </a:r>
            <a:endParaRPr lang="en-US" sz="17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Tomlinson’s frame: readiness (moves 1–3), interest and profile (move 4).</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1 · THE WORKHORSE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Level it: one passage, three levels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passage below at three levels: on-grade for 6th grade, about two years below, and about two years above.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every key idea, the section headings, and the same core vocabulary.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Lower level: sentences under 12 words plus a 5-word vocabulary box. Higher level: raise the complexity of the reasoning, not just the vocabulary. Label each version.”  [paste passage]</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level check: read aloud, eyeball sentence length, try on one student.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KEEPS MOVE 1 HONEST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Check the level. Don’t trust the label.</a:t>
            </a:r>
            <a:endParaRPr lang="en-US" sz="3200" dirty="0"/>
          </a:p>
        </p:txBody>
      </p:sp>
      <p:sp>
        <p:nvSpPr>
          <p:cNvPr id="14" name="Shape 11"/>
          <p:cNvSpPr/>
          <p:nvPr/>
        </p:nvSpPr>
        <p:spPr>
          <a:xfrm>
            <a:off x="822960" y="1554480"/>
            <a:ext cx="566928" cy="566928"/>
          </a:xfrm>
          <a:prstGeom prst="ellipse">
            <a:avLst/>
          </a:prstGeom>
          <a:solidFill>
            <a:srgbClr val="2A9D8F"/>
          </a:solidFill>
          <a:ln w="12700">
            <a:solidFill>
              <a:srgbClr val="2A9D8F"/>
            </a:solidFill>
            <a:prstDash val="solid"/>
          </a:ln>
        </p:spPr>
      </p:sp>
      <p:sp>
        <p:nvSpPr>
          <p:cNvPr id="15" name="Text 12"/>
          <p:cNvSpPr/>
          <p:nvPr/>
        </p:nvSpPr>
        <p:spPr>
          <a:xfrm>
            <a:off x="822960" y="1554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6" name="Text 13"/>
          <p:cNvSpPr/>
          <p:nvPr/>
        </p:nvSpPr>
        <p:spPr>
          <a:xfrm>
            <a:off x="1600200" y="15087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Read a paragraph aloud: your ear knows your grade level</a:t>
            </a:r>
            <a:endParaRPr lang="en-US" sz="2000" dirty="0"/>
          </a:p>
        </p:txBody>
      </p:sp>
      <p:sp>
        <p:nvSpPr>
          <p:cNvPr id="17" name="Shape 14"/>
          <p:cNvSpPr/>
          <p:nvPr/>
        </p:nvSpPr>
        <p:spPr>
          <a:xfrm>
            <a:off x="822960" y="2468880"/>
            <a:ext cx="566928" cy="566928"/>
          </a:xfrm>
          <a:prstGeom prst="ellipse">
            <a:avLst/>
          </a:prstGeom>
          <a:solidFill>
            <a:srgbClr val="2A9D8F"/>
          </a:solidFill>
          <a:ln w="12700">
            <a:solidFill>
              <a:srgbClr val="2A9D8F"/>
            </a:solidFill>
            <a:prstDash val="solid"/>
          </a:ln>
        </p:spPr>
      </p:sp>
      <p:sp>
        <p:nvSpPr>
          <p:cNvPr id="18" name="Text 15"/>
          <p:cNvSpPr/>
          <p:nvPr/>
        </p:nvSpPr>
        <p:spPr>
          <a:xfrm>
            <a:off x="822960" y="24688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9" name="Text 16"/>
          <p:cNvSpPr/>
          <p:nvPr/>
        </p:nvSpPr>
        <p:spPr>
          <a:xfrm>
            <a:off x="1600200" y="24231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Eyeball sentence length: 25-word sentences aren’t “easier”</a:t>
            </a:r>
            <a:endParaRPr lang="en-US" sz="2000" dirty="0"/>
          </a:p>
        </p:txBody>
      </p:sp>
      <p:sp>
        <p:nvSpPr>
          <p:cNvPr id="20" name="Shape 17"/>
          <p:cNvSpPr/>
          <p:nvPr/>
        </p:nvSpPr>
        <p:spPr>
          <a:xfrm>
            <a:off x="822960" y="3383280"/>
            <a:ext cx="566928" cy="566928"/>
          </a:xfrm>
          <a:prstGeom prst="ellipse">
            <a:avLst/>
          </a:prstGeom>
          <a:solidFill>
            <a:srgbClr val="2A9D8F"/>
          </a:solidFill>
          <a:ln w="12700">
            <a:solidFill>
              <a:srgbClr val="2A9D8F"/>
            </a:solidFill>
            <a:prstDash val="solid"/>
          </a:ln>
        </p:spPr>
      </p:sp>
      <p:sp>
        <p:nvSpPr>
          <p:cNvPr id="21" name="Text 18"/>
          <p:cNvSpPr/>
          <p:nvPr/>
        </p:nvSpPr>
        <p:spPr>
          <a:xfrm>
            <a:off x="822960" y="3383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2" name="Text 19"/>
          <p:cNvSpPr/>
          <p:nvPr/>
        </p:nvSpPr>
        <p:spPr>
          <a:xfrm>
            <a:off x="1600200" y="33375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Try it on one student tomorrow and watch where they stumble</a:t>
            </a:r>
            <a:endParaRPr lang="en-US" sz="2000" dirty="0"/>
          </a:p>
        </p:txBody>
      </p:sp>
      <p:sp>
        <p:nvSpPr>
          <p:cNvPr id="23" name="Shape 20"/>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24" name="Text 21"/>
          <p:cNvSpPr/>
          <p:nvPr/>
        </p:nvSpPr>
        <p:spPr>
          <a:xfrm>
            <a:off x="960120" y="4617720"/>
            <a:ext cx="10332720" cy="96012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Readability is measurable; teacher judgment is the benchmark. That’s the point of the CLEAR corpus research. Verify in two minutes; keep everything the leveling bought you.</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scaffold set: starters, word bank, worked example on a different topic.</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2 · SAME TARGET, MORE HANDHOLDS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Scaffold it</a:t>
            </a:r>
            <a:endParaRPr lang="en-US" sz="3200" dirty="0"/>
          </a:p>
        </p:txBody>
      </p:sp>
      <p:sp>
        <p:nvSpPr>
          <p:cNvPr id="14" name="Shape 11"/>
          <p:cNvSpPr/>
          <p:nvPr/>
        </p:nvSpPr>
        <p:spPr>
          <a:xfrm>
            <a:off x="640080" y="1463040"/>
            <a:ext cx="5349240" cy="1783080"/>
          </a:xfrm>
          <a:prstGeom prst="roundRect">
            <a:avLst>
              <a:gd name="adj" fmla="val 4615"/>
            </a:avLst>
          </a:prstGeom>
          <a:solidFill>
            <a:srgbClr val="F7F5F0"/>
          </a:solidFill>
          <a:ln w="12700">
            <a:solidFill>
              <a:srgbClr val="F7F5F0"/>
            </a:solidFill>
            <a:prstDash val="solid"/>
          </a:ln>
        </p:spPr>
      </p:sp>
      <p:sp>
        <p:nvSpPr>
          <p:cNvPr id="15" name="Text 12"/>
          <p:cNvSpPr/>
          <p:nvPr/>
        </p:nvSpPr>
        <p:spPr>
          <a:xfrm>
            <a:off x="91440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Sentence starters</a:t>
            </a:r>
            <a:endParaRPr lang="en-US" sz="2000" dirty="0"/>
          </a:p>
        </p:txBody>
      </p:sp>
      <p:sp>
        <p:nvSpPr>
          <p:cNvPr id="16" name="Text 13"/>
          <p:cNvSpPr/>
          <p:nvPr/>
        </p:nvSpPr>
        <p:spPr>
          <a:xfrm>
            <a:off x="91440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One per paragraph; gets the stuck writer moving</a:t>
            </a:r>
            <a:endParaRPr lang="en-US" sz="1550" dirty="0"/>
          </a:p>
        </p:txBody>
      </p:sp>
      <p:sp>
        <p:nvSpPr>
          <p:cNvPr id="17" name="Shape 14"/>
          <p:cNvSpPr/>
          <p:nvPr/>
        </p:nvSpPr>
        <p:spPr>
          <a:xfrm>
            <a:off x="6263640" y="1463040"/>
            <a:ext cx="5349240" cy="1783080"/>
          </a:xfrm>
          <a:prstGeom prst="roundRect">
            <a:avLst>
              <a:gd name="adj" fmla="val 4615"/>
            </a:avLst>
          </a:prstGeom>
          <a:solidFill>
            <a:srgbClr val="F7F5F0"/>
          </a:solidFill>
          <a:ln w="12700">
            <a:solidFill>
              <a:srgbClr val="F7F5F0"/>
            </a:solidFill>
            <a:prstDash val="solid"/>
          </a:ln>
        </p:spPr>
      </p:sp>
      <p:sp>
        <p:nvSpPr>
          <p:cNvPr id="18" name="Text 15"/>
          <p:cNvSpPr/>
          <p:nvPr/>
        </p:nvSpPr>
        <p:spPr>
          <a:xfrm>
            <a:off x="6537960" y="164592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Word bank</a:t>
            </a:r>
            <a:endParaRPr lang="en-US" sz="2000" dirty="0"/>
          </a:p>
        </p:txBody>
      </p:sp>
      <p:sp>
        <p:nvSpPr>
          <p:cNvPr id="19" name="Text 16"/>
          <p:cNvSpPr/>
          <p:nvPr/>
        </p:nvSpPr>
        <p:spPr>
          <a:xfrm>
            <a:off x="6537960" y="214884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10 words with student-friendly definitions</a:t>
            </a:r>
            <a:endParaRPr lang="en-US" sz="1550" dirty="0"/>
          </a:p>
        </p:txBody>
      </p:sp>
      <p:sp>
        <p:nvSpPr>
          <p:cNvPr id="20" name="Shape 17"/>
          <p:cNvSpPr/>
          <p:nvPr/>
        </p:nvSpPr>
        <p:spPr>
          <a:xfrm>
            <a:off x="640080" y="3429000"/>
            <a:ext cx="5349240" cy="1783080"/>
          </a:xfrm>
          <a:prstGeom prst="roundRect">
            <a:avLst>
              <a:gd name="adj" fmla="val 4615"/>
            </a:avLst>
          </a:prstGeom>
          <a:solidFill>
            <a:srgbClr val="F7F5F0"/>
          </a:solidFill>
          <a:ln w="12700">
            <a:solidFill>
              <a:srgbClr val="F7F5F0"/>
            </a:solidFill>
            <a:prstDash val="solid"/>
          </a:ln>
        </p:spPr>
      </p:sp>
      <p:sp>
        <p:nvSpPr>
          <p:cNvPr id="21" name="Text 18"/>
          <p:cNvSpPr/>
          <p:nvPr/>
        </p:nvSpPr>
        <p:spPr>
          <a:xfrm>
            <a:off x="91440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Worked example</a:t>
            </a:r>
            <a:endParaRPr lang="en-US" sz="2000" dirty="0"/>
          </a:p>
        </p:txBody>
      </p:sp>
      <p:sp>
        <p:nvSpPr>
          <p:cNvPr id="22" name="Text 19"/>
          <p:cNvSpPr/>
          <p:nvPr/>
        </p:nvSpPr>
        <p:spPr>
          <a:xfrm>
            <a:off x="91440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On a different topic: teaches the shape, not the answer</a:t>
            </a:r>
            <a:endParaRPr lang="en-US" sz="1550" dirty="0"/>
          </a:p>
        </p:txBody>
      </p:sp>
      <p:sp>
        <p:nvSpPr>
          <p:cNvPr id="23" name="Shape 20"/>
          <p:cNvSpPr/>
          <p:nvPr/>
        </p:nvSpPr>
        <p:spPr>
          <a:xfrm>
            <a:off x="6263640" y="3429000"/>
            <a:ext cx="5349240" cy="1783080"/>
          </a:xfrm>
          <a:prstGeom prst="roundRect">
            <a:avLst>
              <a:gd name="adj" fmla="val 4615"/>
            </a:avLst>
          </a:prstGeom>
          <a:solidFill>
            <a:srgbClr val="F7F5F0"/>
          </a:solidFill>
          <a:ln w="12700">
            <a:solidFill>
              <a:srgbClr val="F7F5F0"/>
            </a:solidFill>
            <a:prstDash val="solid"/>
          </a:ln>
        </p:spPr>
      </p:sp>
      <p:sp>
        <p:nvSpPr>
          <p:cNvPr id="24" name="Text 21"/>
          <p:cNvSpPr/>
          <p:nvPr/>
        </p:nvSpPr>
        <p:spPr>
          <a:xfrm>
            <a:off x="6537960" y="3611880"/>
            <a:ext cx="480060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Organizer text</a:t>
            </a:r>
            <a:endParaRPr lang="en-US" sz="2000" dirty="0"/>
          </a:p>
        </p:txBody>
      </p:sp>
      <p:sp>
        <p:nvSpPr>
          <p:cNvPr id="25" name="Text 22"/>
          <p:cNvSpPr/>
          <p:nvPr/>
        </p:nvSpPr>
        <p:spPr>
          <a:xfrm>
            <a:off x="6537960" y="4114800"/>
            <a:ext cx="4800600" cy="1005840"/>
          </a:xfrm>
          <a:prstGeom prst="rect">
            <a:avLst/>
          </a:prstGeom>
          <a:noFill/>
          <a:ln/>
        </p:spPr>
        <p:txBody>
          <a:bodyPr wrap="square" lIns="0" tIns="0" rIns="0" bIns="0" rtlCol="0" anchor="ctr"/>
          <a:lstStyle/>
          <a:p>
            <a:pPr indent="0" marL="0">
              <a:buNone/>
            </a:pPr>
            <a:r>
              <a:rPr lang="en-US" sz="1550" dirty="0">
                <a:solidFill>
                  <a:srgbClr val="1B1F24"/>
                </a:solidFill>
                <a:latin typeface="Inter" pitchFamily="34" charset="0"/>
                <a:ea typeface="Inter" pitchFamily="34" charset="-122"/>
                <a:cs typeface="Inter" pitchFamily="34" charset="-120"/>
              </a:rPr>
              <a:t>The labels and prompts for your graphic organizer</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stretch rule: depth, not more worksheets. Apply, critique, teach.</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3 · EARLY FINISHERS &amp; ADVANCED LEARNERS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Stretch it: depth, not more worksheets</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Shape 12"/>
          <p:cNvSpPr/>
          <p:nvPr/>
        </p:nvSpPr>
        <p:spPr>
          <a:xfrm>
            <a:off x="1938528" y="1828800"/>
            <a:ext cx="914400" cy="914400"/>
          </a:xfrm>
          <a:prstGeom prst="ellipse">
            <a:avLst/>
          </a:prstGeom>
          <a:solidFill>
            <a:srgbClr val="2A9D8F"/>
          </a:solidFill>
          <a:ln w="12700">
            <a:solidFill>
              <a:srgbClr val="2A9D8F"/>
            </a:solidFill>
            <a:prstDash val="solid"/>
          </a:ln>
        </p:spPr>
      </p:sp>
      <p:sp>
        <p:nvSpPr>
          <p:cNvPr id="16" name="Text 13"/>
          <p:cNvSpPr/>
          <p:nvPr/>
        </p:nvSpPr>
        <p:spPr>
          <a:xfrm>
            <a:off x="1938528"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1</a:t>
            </a:r>
            <a:endParaRPr lang="en-US" sz="3000" dirty="0"/>
          </a:p>
        </p:txBody>
      </p:sp>
      <p:sp>
        <p:nvSpPr>
          <p:cNvPr id="17" name="Text 14"/>
          <p:cNvSpPr/>
          <p:nvPr/>
        </p:nvSpPr>
        <p:spPr>
          <a:xfrm>
            <a:off x="868680"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Apply</a:t>
            </a:r>
            <a:endParaRPr lang="en-US" sz="2000" dirty="0"/>
          </a:p>
        </p:txBody>
      </p:sp>
      <p:sp>
        <p:nvSpPr>
          <p:cNvPr id="18" name="Text 15"/>
          <p:cNvSpPr/>
          <p:nvPr/>
        </p:nvSpPr>
        <p:spPr>
          <a:xfrm>
            <a:off x="868680"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Use the concept in an unfamiliar context</a:t>
            </a:r>
            <a:endParaRPr lang="en-US" sz="1500" dirty="0"/>
          </a:p>
        </p:txBody>
      </p:sp>
      <p:sp>
        <p:nvSpPr>
          <p:cNvPr id="19" name="Shape 16"/>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20" name="Shape 17"/>
          <p:cNvSpPr/>
          <p:nvPr/>
        </p:nvSpPr>
        <p:spPr>
          <a:xfrm>
            <a:off x="5705856" y="1828800"/>
            <a:ext cx="914400" cy="914400"/>
          </a:xfrm>
          <a:prstGeom prst="ellipse">
            <a:avLst/>
          </a:prstGeom>
          <a:solidFill>
            <a:srgbClr val="2A9D8F"/>
          </a:solidFill>
          <a:ln w="12700">
            <a:solidFill>
              <a:srgbClr val="2A9D8F"/>
            </a:solidFill>
            <a:prstDash val="solid"/>
          </a:ln>
        </p:spPr>
      </p:sp>
      <p:sp>
        <p:nvSpPr>
          <p:cNvPr id="21" name="Text 18"/>
          <p:cNvSpPr/>
          <p:nvPr/>
        </p:nvSpPr>
        <p:spPr>
          <a:xfrm>
            <a:off x="5705856"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2</a:t>
            </a:r>
            <a:endParaRPr lang="en-US" sz="3000" dirty="0"/>
          </a:p>
        </p:txBody>
      </p:sp>
      <p:sp>
        <p:nvSpPr>
          <p:cNvPr id="22" name="Text 19"/>
          <p:cNvSpPr/>
          <p:nvPr/>
        </p:nvSpPr>
        <p:spPr>
          <a:xfrm>
            <a:off x="4636008"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Critique</a:t>
            </a:r>
            <a:endParaRPr lang="en-US" sz="2000" dirty="0"/>
          </a:p>
        </p:txBody>
      </p:sp>
      <p:sp>
        <p:nvSpPr>
          <p:cNvPr id="23" name="Text 20"/>
          <p:cNvSpPr/>
          <p:nvPr/>
        </p:nvSpPr>
        <p:spPr>
          <a:xfrm>
            <a:off x="4636008"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Find the flaw in a flawed example</a:t>
            </a:r>
            <a:endParaRPr lang="en-US" sz="1500" dirty="0"/>
          </a:p>
        </p:txBody>
      </p:sp>
      <p:sp>
        <p:nvSpPr>
          <p:cNvPr id="24" name="Shape 21"/>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5" name="Shape 22"/>
          <p:cNvSpPr/>
          <p:nvPr/>
        </p:nvSpPr>
        <p:spPr>
          <a:xfrm>
            <a:off x="9473184" y="1828800"/>
            <a:ext cx="914400" cy="914400"/>
          </a:xfrm>
          <a:prstGeom prst="ellipse">
            <a:avLst/>
          </a:prstGeom>
          <a:solidFill>
            <a:srgbClr val="2A9D8F"/>
          </a:solidFill>
          <a:ln w="12700">
            <a:solidFill>
              <a:srgbClr val="2A9D8F"/>
            </a:solidFill>
            <a:prstDash val="solid"/>
          </a:ln>
        </p:spPr>
      </p:sp>
      <p:sp>
        <p:nvSpPr>
          <p:cNvPr id="26" name="Text 23"/>
          <p:cNvSpPr/>
          <p:nvPr/>
        </p:nvSpPr>
        <p:spPr>
          <a:xfrm>
            <a:off x="9473184" y="18288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Inter" pitchFamily="34" charset="0"/>
                <a:ea typeface="Inter" pitchFamily="34" charset="-122"/>
                <a:cs typeface="Inter" pitchFamily="34" charset="-120"/>
              </a:rPr>
              <a:t>3</a:t>
            </a:r>
            <a:endParaRPr lang="en-US" sz="3000" dirty="0"/>
          </a:p>
        </p:txBody>
      </p:sp>
      <p:sp>
        <p:nvSpPr>
          <p:cNvPr id="27" name="Text 24"/>
          <p:cNvSpPr/>
          <p:nvPr/>
        </p:nvSpPr>
        <p:spPr>
          <a:xfrm>
            <a:off x="8403336" y="2926080"/>
            <a:ext cx="306324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Teach</a:t>
            </a:r>
            <a:endParaRPr lang="en-US" sz="2000" dirty="0"/>
          </a:p>
        </p:txBody>
      </p:sp>
      <p:sp>
        <p:nvSpPr>
          <p:cNvPr id="28" name="Text 25"/>
          <p:cNvSpPr/>
          <p:nvPr/>
        </p:nvSpPr>
        <p:spPr>
          <a:xfrm>
            <a:off x="8403336" y="3429000"/>
            <a:ext cx="3063240" cy="914400"/>
          </a:xfrm>
          <a:prstGeom prst="rect">
            <a:avLst/>
          </a:prstGeom>
          <a:noFill/>
          <a:ln/>
        </p:spPr>
        <p:txBody>
          <a:bodyPr wrap="square" lIns="0" tIns="0" rIns="0" bIns="0" rtlCol="0" anchor="ctr"/>
          <a:lstStyle/>
          <a:p>
            <a:pPr algn="ctr" indent="0" marL="0">
              <a:buNone/>
            </a:pPr>
            <a:r>
              <a:rPr lang="en-US" sz="1500" dirty="0">
                <a:solidFill>
                  <a:srgbClr val="1B1F24"/>
                </a:solidFill>
                <a:latin typeface="Inter" pitchFamily="34" charset="0"/>
                <a:ea typeface="Inter" pitchFamily="34" charset="-122"/>
                <a:cs typeface="Inter" pitchFamily="34" charset="-120"/>
              </a:rPr>
              <a:t>Explain it to a younger student, own words</a:t>
            </a:r>
            <a:endParaRPr lang="en-US" sz="1500" dirty="0"/>
          </a:p>
        </p:txBody>
      </p:sp>
      <p:sp>
        <p:nvSpPr>
          <p:cNvPr id="29" name="Text 26"/>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A second worksheet is a punishment for being fast. Say “no additional practice problems” in the prompt.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reformat: same lesson as stations, cards, and a ramped practice set.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4 · THE UDL MOVE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Reformat it: same content, new shape</a:t>
            </a:r>
            <a:endParaRPr lang="en-US" sz="3200" dirty="0"/>
          </a:p>
        </p:txBody>
      </p:sp>
      <p:sp>
        <p:nvSpPr>
          <p:cNvPr id="14" name="Shape 11"/>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15" name="Text 12"/>
          <p:cNvSpPr/>
          <p:nvPr/>
        </p:nvSpPr>
        <p:spPr>
          <a:xfrm>
            <a:off x="896112"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Stations</a:t>
            </a:r>
            <a:endParaRPr lang="en-US" sz="1900" dirty="0"/>
          </a:p>
        </p:txBody>
      </p:sp>
      <p:sp>
        <p:nvSpPr>
          <p:cNvPr id="16" name="Text 13"/>
          <p:cNvSpPr/>
          <p:nvPr/>
        </p:nvSpPr>
        <p:spPr>
          <a:xfrm>
            <a:off x="896112"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Four activity-direction sets from one lesson</a:t>
            </a:r>
            <a:endParaRPr lang="en-US" sz="1550" dirty="0"/>
          </a:p>
        </p:txBody>
      </p:sp>
      <p:sp>
        <p:nvSpPr>
          <p:cNvPr id="17" name="Shape 14"/>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8" name="Text 15"/>
          <p:cNvSpPr/>
          <p:nvPr/>
        </p:nvSpPr>
        <p:spPr>
          <a:xfrm>
            <a:off x="4663440"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Discussion cards</a:t>
            </a:r>
            <a:endParaRPr lang="en-US" sz="1900" dirty="0"/>
          </a:p>
        </p:txBody>
      </p:sp>
      <p:sp>
        <p:nvSpPr>
          <p:cNvPr id="19" name="Text 16"/>
          <p:cNvSpPr/>
          <p:nvPr/>
        </p:nvSpPr>
        <p:spPr>
          <a:xfrm>
            <a:off x="4663440"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Eight cards, one question each</a:t>
            </a:r>
            <a:endParaRPr lang="en-US" sz="1550" dirty="0"/>
          </a:p>
        </p:txBody>
      </p:sp>
      <p:sp>
        <p:nvSpPr>
          <p:cNvPr id="20" name="Shape 17"/>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21" name="Text 18"/>
          <p:cNvSpPr/>
          <p:nvPr/>
        </p:nvSpPr>
        <p:spPr>
          <a:xfrm>
            <a:off x="8430768" y="1828800"/>
            <a:ext cx="3017520" cy="54864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Practice set</a:t>
            </a:r>
            <a:endParaRPr lang="en-US" sz="1900" dirty="0"/>
          </a:p>
        </p:txBody>
      </p:sp>
      <p:sp>
        <p:nvSpPr>
          <p:cNvPr id="22" name="Text 19"/>
          <p:cNvSpPr/>
          <p:nvPr/>
        </p:nvSpPr>
        <p:spPr>
          <a:xfrm>
            <a:off x="8430768" y="2468880"/>
            <a:ext cx="3017520" cy="1554480"/>
          </a:xfrm>
          <a:prstGeom prst="rect">
            <a:avLst/>
          </a:prstGeom>
          <a:noFill/>
          <a:ln/>
        </p:spPr>
        <p:txBody>
          <a:bodyPr wrap="square" lIns="0" tIns="0" rIns="0" bIns="0" rtlCol="0" anchor="t"/>
          <a:lstStyle/>
          <a:p>
            <a:pPr indent="0" marL="0">
              <a:buNone/>
            </a:pPr>
            <a:r>
              <a:rPr lang="en-US" sz="1550" dirty="0">
                <a:solidFill>
                  <a:srgbClr val="1B1F24"/>
                </a:solidFill>
                <a:latin typeface="Inter" pitchFamily="34" charset="0"/>
                <a:ea typeface="Inter" pitchFamily="34" charset="-122"/>
                <a:cs typeface="Inter" pitchFamily="34" charset="-120"/>
              </a:rPr>
              <a:t>10 items ramping recall → application</a:t>
            </a:r>
            <a:endParaRPr lang="en-US" sz="1550" dirty="0"/>
          </a:p>
        </p:txBody>
      </p:sp>
      <p:sp>
        <p:nvSpPr>
          <p:cNvPr id="23" name="Shape 20"/>
          <p:cNvSpPr/>
          <p:nvPr/>
        </p:nvSpPr>
        <p:spPr>
          <a:xfrm>
            <a:off x="640080" y="4572000"/>
            <a:ext cx="10972800" cy="1097280"/>
          </a:xfrm>
          <a:prstGeom prst="roundRect">
            <a:avLst>
              <a:gd name="adj" fmla="val 7500"/>
            </a:avLst>
          </a:prstGeom>
          <a:solidFill>
            <a:srgbClr val="EAF5F3"/>
          </a:solidFill>
          <a:ln w="12700">
            <a:solidFill>
              <a:srgbClr val="EAF5F3"/>
            </a:solidFill>
            <a:prstDash val="solid"/>
          </a:ln>
        </p:spPr>
      </p:sp>
      <p:sp>
        <p:nvSpPr>
          <p:cNvPr id="24" name="Text 21"/>
          <p:cNvSpPr/>
          <p:nvPr/>
        </p:nvSpPr>
        <p:spPr>
          <a:xfrm>
            <a:off x="960120" y="4709160"/>
            <a:ext cx="10332720" cy="82296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One draft becomes a menu: multiple means of engagement and expression, on demand.</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4-point review: accurate, at level, fits her kids, sounds like her.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ANYTHING REACHES A STUDENT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4-point review</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1 · Accurate?</a:t>
            </a:r>
            <a:endParaRPr lang="en-US" sz="2100" dirty="0"/>
          </a:p>
        </p:txBody>
      </p:sp>
      <p:sp>
        <p:nvSpPr>
          <p:cNvPr id="16" name="Text 13"/>
          <p:cNvSpPr/>
          <p:nvPr/>
        </p:nvSpPr>
        <p:spPr>
          <a:xfrm>
            <a:off x="91440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Facts, examples, named resources checked. Remember the fabricated resource.</a:t>
            </a:r>
            <a:endParaRPr lang="en-US" sz="15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2 · At level, actually?</a:t>
            </a:r>
            <a:endParaRPr lang="en-US" sz="2100" dirty="0"/>
          </a:p>
        </p:txBody>
      </p:sp>
      <p:sp>
        <p:nvSpPr>
          <p:cNvPr id="19" name="Text 16"/>
          <p:cNvSpPr/>
          <p:nvPr/>
        </p:nvSpPr>
        <p:spPr>
          <a:xfrm>
            <a:off x="653796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Run the quick checks. The label is a guess until you test it.</a:t>
            </a:r>
            <a:endParaRPr lang="en-US" sz="15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3 · Fits your students?</a:t>
            </a:r>
            <a:endParaRPr lang="en-US" sz="2100" dirty="0"/>
          </a:p>
        </p:txBody>
      </p:sp>
      <p:sp>
        <p:nvSpPr>
          <p:cNvPr id="22" name="Text 19"/>
          <p:cNvSpPr/>
          <p:nvPr/>
        </p:nvSpPr>
        <p:spPr>
          <a:xfrm>
            <a:off x="91440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AI wrote for a generic class. Swap examples that won’t land in yours.</a:t>
            </a:r>
            <a:endParaRPr lang="en-US" sz="15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4 · Sounds like you?</a:t>
            </a:r>
            <a:endParaRPr lang="en-US" sz="2100" dirty="0"/>
          </a:p>
        </p:txBody>
      </p:sp>
      <p:sp>
        <p:nvSpPr>
          <p:cNvPr id="25" name="Text 22"/>
          <p:cNvSpPr/>
          <p:nvPr/>
        </p:nvSpPr>
        <p:spPr>
          <a:xfrm>
            <a:off x="653796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If the directions don’t sound like your directions, students notice first.</a:t>
            </a:r>
            <a:endParaRPr lang="en-US" sz="15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Fail a point, fix it. That’s the review.</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the level label is a guess until she checks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AI can’t do here</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Doesn’t know your kids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 never met the reader who shuts down, or the one who’s two grades ahead.</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Leveled ≠ verified</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label is a guess until you check it.</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 invent things</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Activities that don’t quite work; resources that don’t exist.</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None of that is a reason to skip the tool. All of it is the reason the teacher stays in the loop.</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equity move: build the stretch on purpose, not just the support.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THIS ROOM</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Narrow gaps. Don’t widen them.</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25%</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for planning or teaching in 2023–24, and adoption lagged in higher-poverty schools. (RAND, 2025)</a:t>
            </a:r>
            <a:endParaRPr lang="en-US" sz="1600" dirty="0"/>
          </a:p>
        </p:txBody>
      </p:sp>
      <p:sp>
        <p:nvSpPr>
          <p:cNvPr id="17" name="Text 14"/>
          <p:cNvSpPr/>
          <p:nvPr/>
        </p:nvSpPr>
        <p:spPr>
          <a:xfrm>
            <a:off x="640080" y="50292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fix in this building: everyone learns the moves, everyone shares the prompts, every roster benefits.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19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her 6th grade food webs passage.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~20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Lab: differentiate your real lesson.</a:t>
            </a:r>
            <a:endParaRPr lang="en-US" sz="40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lesson you brought. By the end: a core artifact, a support version, and an extension, reviewed and teachable this week.</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describe needs, never names</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the core with the four-part formula, then differentiate two directions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Nothing is done until it passes the 4-point review</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On her screen big: her food webs passage, drafted to 80%, not polished.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5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core artifact</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Pick the one artifact your lesson most needs: reading, practice set, directions, exit check</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Role · task · context · format, and be generous with context</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What did students just learn? What do they always trip on?</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Run it. Read like an editor. Get it to 80%, not perfect.</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650" b="1" dirty="0">
                <a:solidFill>
                  <a:srgbClr val="13293D"/>
                </a:solidFill>
                <a:latin typeface="Inter" pitchFamily="34" charset="0"/>
                <a:ea typeface="Inter" pitchFamily="34" charset="-122"/>
                <a:cs typeface="Inter" pitchFamily="34" charset="-120"/>
              </a:rPr>
              <a:t>Her pick: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the reading passage for her 6th grade food webs lesson.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“Food Webs: Energy on the Move”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Four sections, drafted with the formula: what a food web shows · producers and consumers · decomposers · when one link breaks.
</a:t>
            </a:r>
            <a:pPr indent="0" marL="0">
              <a:lnSpc>
                <a:spcPct val="120000"/>
              </a:lnSpc>
              <a:buNone/>
            </a:pPr>
            <a:r>
              <a:rPr lang="en-US" sz="1650" i="1" dirty="0">
                <a:solidFill>
                  <a:srgbClr val="5B6B7A"/>
                </a:solidFill>
                <a:latin typeface="Inter" pitchFamily="34" charset="0"/>
                <a:ea typeface="Inter" pitchFamily="34" charset="-122"/>
                <a:cs typeface="Inter" pitchFamily="34" charset="-120"/>
              </a:rPr>
              <a:t>“Eighty percent is enough. The polish waits for the review.”</a:t>
            </a:r>
            <a:endParaRPr lang="en-US" sz="16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Don’t polish. The next step is where today earns its name.</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two follow-ups, same chat: the support version, then the stretch.</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7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Differentiate it: two directions</a:t>
            </a:r>
            <a:endParaRPr lang="en-US" sz="3200" dirty="0"/>
          </a:p>
        </p:txBody>
      </p:sp>
      <p:sp>
        <p:nvSpPr>
          <p:cNvPr id="14" name="Shape 11"/>
          <p:cNvSpPr/>
          <p:nvPr/>
        </p:nvSpPr>
        <p:spPr>
          <a:xfrm>
            <a:off x="640080" y="1554480"/>
            <a:ext cx="5394960" cy="1874520"/>
          </a:xfrm>
          <a:prstGeom prst="roundRect">
            <a:avLst>
              <a:gd name="adj" fmla="val 4390"/>
            </a:avLst>
          </a:prstGeom>
          <a:solidFill>
            <a:srgbClr val="F7F5F0"/>
          </a:solidFill>
          <a:ln w="12700">
            <a:solidFill>
              <a:srgbClr val="F7F5F0"/>
            </a:solidFill>
            <a:prstDash val="solid"/>
          </a:ln>
        </p:spPr>
      </p:sp>
      <p:sp>
        <p:nvSpPr>
          <p:cNvPr id="15" name="Text 12"/>
          <p:cNvSpPr/>
          <p:nvPr/>
        </p:nvSpPr>
        <p:spPr>
          <a:xfrm>
            <a:off x="914400" y="1719072"/>
            <a:ext cx="4846320" cy="384048"/>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Support</a:t>
            </a:r>
            <a:endParaRPr lang="en-US" sz="1900" dirty="0"/>
          </a:p>
        </p:txBody>
      </p:sp>
      <p:sp>
        <p:nvSpPr>
          <p:cNvPr id="16" name="Text 13"/>
          <p:cNvSpPr/>
          <p:nvPr/>
        </p:nvSpPr>
        <p:spPr>
          <a:xfrm>
            <a:off x="914400" y="21396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Level it down or scaffold it, your choice. Use the handout prompt as-is; the AI already has your artifact in the chat.</a:t>
            </a:r>
            <a:endParaRPr lang="en-US" sz="1450" dirty="0"/>
          </a:p>
        </p:txBody>
      </p:sp>
      <p:sp>
        <p:nvSpPr>
          <p:cNvPr id="17" name="Shape 14"/>
          <p:cNvSpPr/>
          <p:nvPr/>
        </p:nvSpPr>
        <p:spPr>
          <a:xfrm>
            <a:off x="640080" y="3611880"/>
            <a:ext cx="5394960" cy="1874520"/>
          </a:xfrm>
          <a:prstGeom prst="roundRect">
            <a:avLst>
              <a:gd name="adj" fmla="val 4390"/>
            </a:avLst>
          </a:prstGeom>
          <a:solidFill>
            <a:srgbClr val="F7F5F0"/>
          </a:solidFill>
          <a:ln w="12700">
            <a:solidFill>
              <a:srgbClr val="F7F5F0"/>
            </a:solidFill>
            <a:prstDash val="solid"/>
          </a:ln>
        </p:spPr>
      </p:sp>
      <p:sp>
        <p:nvSpPr>
          <p:cNvPr id="18" name="Text 15"/>
          <p:cNvSpPr/>
          <p:nvPr/>
        </p:nvSpPr>
        <p:spPr>
          <a:xfrm>
            <a:off x="914400" y="3776472"/>
            <a:ext cx="4846320" cy="384048"/>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Stretch</a:t>
            </a:r>
            <a:endParaRPr lang="en-US" sz="1900" dirty="0"/>
          </a:p>
        </p:txBody>
      </p:sp>
      <p:sp>
        <p:nvSpPr>
          <p:cNvPr id="19" name="Text 16"/>
          <p:cNvSpPr/>
          <p:nvPr/>
        </p:nvSpPr>
        <p:spPr>
          <a:xfrm>
            <a:off x="914400" y="41970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Extension prompts: apply, critique, teach back. Depth, not length. Say “no additional practice problems.”</a:t>
            </a:r>
            <a:endParaRPr lang="en-US" sz="1450" dirty="0"/>
          </a:p>
        </p:txBody>
      </p:sp>
      <p:sp>
        <p:nvSpPr>
          <p:cNvPr id="20" name="Shape 17"/>
          <p:cNvSpPr/>
          <p:nvPr/>
        </p:nvSpPr>
        <p:spPr>
          <a:xfrm>
            <a:off x="6263640" y="1554480"/>
            <a:ext cx="5394960" cy="3931920"/>
          </a:xfrm>
          <a:prstGeom prst="roundRect">
            <a:avLst>
              <a:gd name="adj" fmla="val 2093"/>
            </a:avLst>
          </a:prstGeom>
          <a:solidFill>
            <a:srgbClr val="EAF5F3"/>
          </a:solidFill>
          <a:ln w="12700">
            <a:solidFill>
              <a:srgbClr val="EAF5F3"/>
            </a:solidFill>
            <a:prstDash val="solid"/>
          </a:ln>
        </p:spPr>
      </p:sp>
      <p:sp>
        <p:nvSpPr>
          <p:cNvPr id="21" name="Text 18"/>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2</a:t>
            </a:r>
            <a:endParaRPr lang="en-US" sz="1250" dirty="0"/>
          </a:p>
        </p:txBody>
      </p:sp>
      <p:sp>
        <p:nvSpPr>
          <p:cNvPr id="22" name="Text 19"/>
          <p:cNvSpPr/>
          <p:nvPr/>
        </p:nvSpPr>
        <p:spPr>
          <a:xfrm>
            <a:off x="6537960" y="2148840"/>
            <a:ext cx="4892040" cy="3200400"/>
          </a:xfrm>
          <a:prstGeom prst="rect">
            <a:avLst/>
          </a:prstGeom>
          <a:noFill/>
          <a:ln/>
        </p:spPr>
        <p:txBody>
          <a:bodyPr wrap="square" lIns="0" tIns="0" rIns="0" bIns="0" rtlCol="0" anchor="t"/>
          <a:lstStyle/>
          <a:p>
            <a:pPr indent="0" marL="0">
              <a:lnSpc>
                <a:spcPct val="120000"/>
              </a:lnSpc>
              <a:buNone/>
            </a:pPr>
            <a:r>
              <a:rPr lang="en-US" sz="1600" b="1" dirty="0">
                <a:solidFill>
                  <a:srgbClr val="2E7D5B"/>
                </a:solidFill>
                <a:latin typeface="Inter" pitchFamily="34" charset="0"/>
                <a:ea typeface="Inter" pitchFamily="34" charset="-122"/>
                <a:cs typeface="Inter" pitchFamily="34" charset="-120"/>
              </a:rPr>
              <a:t>Support: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her passage leveled down. Sentences under 12 words, plus a 5-word vocabulary box.
</a:t>
            </a:r>
            <a:pPr indent="0" marL="0">
              <a:lnSpc>
                <a:spcPct val="120000"/>
              </a:lnSpc>
              <a:buNone/>
            </a:pPr>
            <a:r>
              <a:rPr lang="en-US" sz="1600" b="1" dirty="0">
                <a:solidFill>
                  <a:srgbClr val="2A9D8F"/>
                </a:solidFill>
                <a:latin typeface="Inter" pitchFamily="34" charset="0"/>
                <a:ea typeface="Inter" pitchFamily="34" charset="-122"/>
                <a:cs typeface="Inter" pitchFamily="34" charset="-120"/>
              </a:rPr>
              <a:t>Stretch: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three depth prompts: apply it to a desert food web, find the flaw in a broken one, teach it to a 3rd grader.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"Two follow-ups in the same chat. It already has my passage."</a:t>
            </a:r>
            <a:endParaRPr lang="en-US" sz="1600" dirty="0"/>
          </a:p>
        </p:txBody>
      </p:sp>
      <p:sp>
        <p:nvSpPr>
          <p:cNvPr id="23" name="Text 20"/>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You’re building the versions that used to cost an evening, inside seven minutes.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review, run live: one long sentence split, one example swapped.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Run the 4-point review. Fix what fails.</a:t>
            </a:r>
            <a:endParaRPr lang="en-US" sz="28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Accurate? Check facts and any named resources</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At level, actually? Read the support version aloud to your partner</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Fits your students? Swap the examples that won’t land</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Sounds like you? If not: “warmer,” “plainer,” “shorter”</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3</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550" b="1" dirty="0">
                <a:solidFill>
                  <a:srgbClr val="2E7D5B"/>
                </a:solidFill>
                <a:latin typeface="Inter" pitchFamily="34" charset="0"/>
                <a:ea typeface="Inter" pitchFamily="34" charset="-122"/>
                <a:cs typeface="Inter" pitchFamily="34" charset="-120"/>
              </a:rPr>
              <a:t>Accurate: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Every fact and resource checks out.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At level: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one 24-word sentence in the support version. Split it in the chat.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Fits her kids: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the ocean example swapped for the schoolyard one.
</a:t>
            </a:r>
            <a:pPr indent="0" marL="0">
              <a:lnSpc>
                <a:spcPct val="120000"/>
              </a:lnSpc>
              <a:buNone/>
            </a:pPr>
            <a:r>
              <a:rPr lang="en-US" sz="1550" b="1" dirty="0">
                <a:solidFill>
                  <a:srgbClr val="2E7D5B"/>
                </a:solidFill>
                <a:latin typeface="Inter" pitchFamily="34" charset="0"/>
                <a:ea typeface="Inter" pitchFamily="34" charset="-122"/>
                <a:cs typeface="Inter" pitchFamily="34" charset="-120"/>
              </a:rPr>
              <a:t>Sounds like her: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after one follow-up: “plainer.”
</a:t>
            </a:r>
            <a:pPr indent="0" marL="0">
              <a:lnSpc>
                <a:spcPct val="120000"/>
              </a:lnSpc>
              <a:buNone/>
            </a:pPr>
            <a:r>
              <a:rPr lang="en-US" sz="1550" i="1" dirty="0">
                <a:solidFill>
                  <a:srgbClr val="5B6B7A"/>
                </a:solidFill>
                <a:latin typeface="Inter" pitchFamily="34" charset="0"/>
                <a:ea typeface="Inter" pitchFamily="34" charset="-122"/>
                <a:cs typeface="Inter" pitchFamily="34" charset="-120"/>
              </a:rPr>
              <a:t>"Two fixes, four passes, while the chat was open."</a:t>
            </a:r>
            <a:endParaRPr lang="en-US" sz="15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An artifact that passes all four is done. Not AI-done. Done done.</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what the review caught in her food webs passage, told first.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build?</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What’s your artifact, and which direction surprised you?</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Did the 4-point review catch anything?</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If the AI got a level wrong or invented something, that story goes first.</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one passage: core, support, stretch, all four points passed.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From good intentions to materials</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 core artifact. A support version. An extension. All reviewed by the one person qualified to review them.
</a:t>
            </a:r>
            <a:pPr indent="0" marL="0">
              <a:buNone/>
            </a:pPr>
            <a:r>
              <a:rPr lang="en-US" sz="2000" dirty="0">
                <a:solidFill>
                  <a:srgbClr val="1B1F24"/>
                </a:solidFill>
                <a:latin typeface="Inter" pitchFamily="34" charset="0"/>
                <a:ea typeface="Inter" pitchFamily="34" charset="-122"/>
                <a:cs typeface="Inter" pitchFamily="34" charset="-120"/>
              </a:rPr>
              <a:t>The research said differentiation works best embedded and technology-supported. That’s not a description of some other school anymore. It’s what’s on your screen.</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one differentiated artifact a week. Small and steady.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COMPOUNDS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differentiated artifact per week</a:t>
            </a:r>
            <a:endParaRPr lang="en-US" sz="32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a differentiated everything; that’s burnout dressed up as ambition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lesson a week gets the full treatment: core, support, extension, review</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Fifteen weeks in: fifteen lessons deep with materials for every learner on your roster</a:t>
            </a:r>
            <a:endParaRPr lang="en-US" sz="2100" dirty="0"/>
          </a:p>
        </p:txBody>
      </p:sp>
      <p:sp>
        <p:nvSpPr>
          <p:cNvPr id="15" name="Shape 12"/>
          <p:cNvSpPr/>
          <p:nvPr/>
        </p:nvSpPr>
        <p:spPr>
          <a:xfrm>
            <a:off x="640080" y="402336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206240"/>
            <a:ext cx="10332720" cy="118872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Small, steady, sustainable. That’s the whole strategy.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 #5: nothing reaches a student until the review passes.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LIST GROWS BY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#5</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Nothing AI-drafted reaches a student until it passes the 4-point review.</a:t>
            </a:r>
            <a:endParaRPr lang="en-US" sz="2700" dirty="0"/>
          </a:p>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And working differentiation prompts go in the staff doc.</a:t>
            </a:r>
            <a:endParaRPr lang="en-US" sz="27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assessment. Rubrics and question banks from her notes.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3 OF 8 · TRACK A</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4, AI for Assessment. </a:t>
            </a:r>
            <a:pPr indent="0" marL="0">
              <a:buNone/>
            </a:pPr>
            <a:r>
              <a:rPr lang="en-US" sz="1700" dirty="0">
                <a:solidFill>
                  <a:srgbClr val="C9D4DE"/>
                </a:solidFill>
                <a:latin typeface="Inter" pitchFamily="34" charset="0"/>
                <a:ea typeface="Inter" pitchFamily="34" charset="-122"/>
                <a:cs typeface="Inter" pitchFamily="34" charset="-120"/>
              </a:rPr>
              <a:t>You built the materials for the range of learners in your room; next we build the ways to find out what they learned: question banks, rubrics, feedback that doesn’t eat your Sunday.</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teach the support version, run one review, post one prompt.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Teach with your lab artifact</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Then jot one line: what did the support kids and stretch kids actually do?</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Level one more text, then check the level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Read it aloud, eyeball sentence length, fix what the label got wrong</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your best prompt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move, your name, one line about the lesson it fit</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the artifact built, the direction that surprised her.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differentiation move you’ll use first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artifact you built in the lab</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differentiation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30</a:t>
            </a:r>
            <a:endParaRPr lang="en-US" sz="900" dirty="0"/>
          </a:p>
        </p:txBody>
      </p:sp>
      <p:sp>
        <p:nvSpPr>
          <p:cNvPr id="5" name="Text 2"/>
          <p:cNvSpPr/>
          <p:nvPr/>
        </p:nvSpPr>
        <p:spPr>
          <a:xfrm>
            <a:off x="640080" y="1737360"/>
            <a:ext cx="10972800" cy="2011680"/>
          </a:xfrm>
          <a:prstGeom prst="rect">
            <a:avLst/>
          </a:prstGeom>
          <a:noFill/>
          <a:ln/>
        </p:spPr>
        <p:txBody>
          <a:bodyPr wrap="square" lIns="0" tIns="0" rIns="0" bIns="0" rtlCol="0" anchor="ctr"/>
          <a:lstStyle/>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Differentiation was never</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a good-intentions problem.</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It was a time problem.</a:t>
            </a:r>
            <a:endParaRPr lang="en-US" sz="3400" dirty="0"/>
          </a:p>
        </p:txBody>
      </p:sp>
      <p:sp>
        <p:nvSpPr>
          <p:cNvPr id="6" name="Text 3"/>
          <p:cNvSpPr/>
          <p:nvPr/>
        </p:nvSpPr>
        <p:spPr>
          <a:xfrm>
            <a:off x="640080" y="402336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time problem just got smaller.</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knowing-your-kids part was always yours.</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3: AI for Planning &amp; Differentiation</dc:title>
  <dc:subject>PptxGenJS Presentation</dc:subject>
  <dc:creator>Adam &amp; Katelyn Spinozzi</dc:creator>
  <cp:lastModifiedBy>Adam &amp; Katelyn Spinozzi</cp:lastModifiedBy>
  <cp:revision>1</cp:revision>
  <dcterms:created xsi:type="dcterms:W3CDTF">2026-08-12T22:21:24Z</dcterms:created>
  <dcterms:modified xsi:type="dcterms:W3CDTF">2026-08-12T22:21:24Z</dcterms:modified>
</cp:coreProperties>
</file>