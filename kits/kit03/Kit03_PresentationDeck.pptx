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up as people arrive. Start on time. This session assumes Kits 1 and 2: the permanent rules and the four-part formula. Staff should have brought one upcoming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Deunk et al. 2018, Educational Research Review: grouping alone is not enough; the materials have to actually differ. If you chose to share the founders’ note from the front of the script, their point lands here: when versions are hand-built, the stretch gets triaged.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Attributions out loud: EdWeek Research Center for the 61% (up from 34%); Gallup-Walton for the time-savings range, with weekly users saving about six hours a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quick. The promise line matters: not examples, their lesson. Confirm everyone has a lesson in hand; borrowing a partner’s is fine.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breath, then move. The five-word posture appears on screen; say it with the room if the culture is there.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Peer-reviewed, PLOS ONE 2024. The AI recommended a resource that does not exist. Tell it straight: the 30 minutes is real AND the fabrication is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Bridge slide; keep it to 40 seconds. The 4-point review checklist arrives on slide 16, before the lab.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CAST’s UDL Guidelines 3.0; Capp’s 2017 meta-analysis found UDL effective for improving learning across the board. If asked “is this learning styles?”: no; UDL builds flexible materials, it does not sort kids into types.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Draft, options, pick, review. Steps 3 and 4 are the human steps and they are the point. This is the handout’s spine.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Nothing here is new pedagogy (Tomlinson et al., 2003: readiness, interest, learning profile). What’s new is the price of the materials.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Kit 2 formula wearing work clothes: role, task, context, format. Ninety seconds replaces an evening. Next slide is the habit that keeps this honest.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Crossley et al. 2022: the CommonLit CLEAR corpus grounded readability in teacher judgment; level is a testable property, not a vibe. Teach the three quick checks (read aloud, sentence length, try on one student) and move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Prompt on the handout: starters + word bank + one worked example on a DIFFERENT topic, so students see the structure without copying content. That clause is the professional touch.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quiet rule out loud: early finishers get depth, not volume. Your strongest students stop being your most bored ones, and it cost a minute.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Prompt on the handout: “same concepts in all three; label everything.” The version you never had time to make now exists.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Accurate, at level, fits, sounds like you. This checklist is on the handout and becomes commitment #5. The lab’s step 3 runs it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drafting got fast. The deciding is still yours. Steady, honest beat before the equity note.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That’s from RAND (RR-A134-25): the schools whose students most need differentiated materials are least likely to be getting AI’s help making them. Then read the authors’ shared take from the script: in practice, equity tends to favor the struggling child, and the top end of the class gets forgotten; now that extensions cost two minutes, build the stretch on purpose.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Pairs, devices out inside two minutes, announce the tool. The standard to name here: differentiate until understanding is equal, and let AI do the drafting that used to make that impossible.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Circulate. Weak drafts usually lack context; nudge with “what would a substitute need to know about this lesson?”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follow-up prompts in the same chat. 45-min cut: one direction instead of two; each teacher picks support or stretch based on their roster.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 on this step; skipping review is the failure mode of the whole kit. Pairs swap and check each other’s level labels: a partner’s ear is the first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Prioritize anyone whose review caught a real problem; it’s the most useful minute in the room. 45-min cut: two voices. Keep each to a minute.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an hour ago, differentiation was a good intention priced at three hand-built versions of everything. You just built core, support, and stretch for a real lesson in twenty minutes, and the research from slide 2 says materials that actually differ are what make it work. Land it plainly and move to the habit.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Built in the margins of time staff already have. The 30-day plan’s PLC follow-ups reinforce exactly this cadence.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Kit 1 gave three commitments; Kit 2 added the staff doc. Ask for the visible nod; agreement out loud is what makes it a norm.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Your differentiated artifact from today comes with you; it’s about to need an exit ticket. Completing all eight kits earns the Certificate of Completion; check with your district or state about local credit.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Hold up the First 48 Hours sheet. Tomorrow morning, coffee in hand, pick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Distribute tickets; collect at the door. They double as the school’s PD documentation.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teach the lesson you just planned. Thanks, everyone. Collect the exit tickets at the door.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731520"/>
            <a:ext cx="1051560" cy="96926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965960" y="9601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822960" y="2743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 A · AI FOUNDATIONS · KIT 3 OF 20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77240" y="3063240"/>
            <a:ext cx="10789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for Planning</a:t>
            </a:r>
            <a:endParaRPr lang="en-US" sz="4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&amp; Differentiation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822960" y="498348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45–60 minute working session. You leave with one fully differentiated artifact for a lesson you’re about to teach.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Built by Adam &amp; Katelyn Spinozzi · certified educators · 20+ combined years in the classroom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7982712" y="6428232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3 · Planning &amp; Differentiation   |   2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BOTH HALVES ARE TRUE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differentiation dilemma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600200"/>
            <a:ext cx="5257800" cy="3383280"/>
          </a:xfrm>
          <a:prstGeom prst="roundRect">
            <a:avLst>
              <a:gd name="adj" fmla="val 2432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1874520"/>
            <a:ext cx="5257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7D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works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914400" y="2651760"/>
            <a:ext cx="47091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Meta-analysis: small-to-moderate positive effects, strongest when embedded in instruction and supported by technology</a:t>
            </a:r>
            <a:endParaRPr lang="en-US" sz="1550" dirty="0"/>
          </a:p>
          <a:p>
            <a:pPr algn="ctr"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(Deunk et al., 2018)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6263640" y="1600200"/>
            <a:ext cx="5257800" cy="3383280"/>
          </a:xfrm>
          <a:prstGeom prst="roundRect">
            <a:avLst>
              <a:gd name="adj" fmla="val 243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263640" y="1874520"/>
            <a:ext cx="5257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wasn’t sustainable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6537960" y="2651760"/>
            <a:ext cx="47091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versions of every text, practice set, and station, by hand?</a:t>
            </a:r>
            <a:endParaRPr lang="en-US" sz="1550" dirty="0"/>
          </a:p>
          <a:p>
            <a:pPr algn="ctr"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plan asked for more hours than the week has.</a:t>
            </a:r>
            <a:endParaRPr lang="en-US" sz="1550" dirty="0"/>
          </a:p>
        </p:txBody>
      </p:sp>
      <p:sp>
        <p:nvSpPr>
          <p:cNvPr id="13" name="Text 10"/>
          <p:cNvSpPr/>
          <p:nvPr/>
        </p:nvSpPr>
        <p:spPr>
          <a:xfrm>
            <a:off x="640080" y="53492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gap was never intention. It was time.</a:t>
            </a:r>
            <a:endParaRPr lang="en-US" sz="2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7982712" y="6428232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3 · Planning &amp; Differentiation   |   3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THIS SESSION EXISTS NOW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tool for the time problem arrived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600200"/>
            <a:ext cx="5257800" cy="3383280"/>
          </a:xfrm>
          <a:prstGeom prst="roundRect">
            <a:avLst>
              <a:gd name="adj" fmla="val 243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1920240"/>
            <a:ext cx="5257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61%</a:t>
            </a:r>
            <a:endParaRPr lang="en-US" sz="5800" dirty="0"/>
          </a:p>
        </p:txBody>
      </p:sp>
      <p:sp>
        <p:nvSpPr>
          <p:cNvPr id="9" name="Text 6"/>
          <p:cNvSpPr/>
          <p:nvPr/>
        </p:nvSpPr>
        <p:spPr>
          <a:xfrm>
            <a:off x="914400" y="3108960"/>
            <a:ext cx="4709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teachers used AI in their work by late 2025, up from 34% in Dec 2023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(EdWeek Research Center, 2026)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263640" y="1600200"/>
            <a:ext cx="5257800" cy="3383280"/>
          </a:xfrm>
          <a:prstGeom prst="roundRect">
            <a:avLst>
              <a:gd name="adj" fmla="val 243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263640" y="1920240"/>
            <a:ext cx="5257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60–84%</a:t>
            </a:r>
            <a:endParaRPr lang="en-US" sz="5800" dirty="0"/>
          </a:p>
        </p:txBody>
      </p:sp>
      <p:sp>
        <p:nvSpPr>
          <p:cNvPr id="12" name="Text 9"/>
          <p:cNvSpPr/>
          <p:nvPr/>
        </p:nvSpPr>
        <p:spPr>
          <a:xfrm>
            <a:off x="6537960" y="3108960"/>
            <a:ext cx="4709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teachers using AI for a task, like modifying materials to student levels, say it saves them time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(Gallup &amp; Walton Family Fdn., 2025)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640080" y="53492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 plans and student resources are among the most common uses. Today we aim it at differentiation.</a:t>
            </a:r>
            <a:endParaRPr lang="en-US" sz="1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7982712" y="6428232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3 · Planning &amp; Differentiation   |   4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HOUR AHEAD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Agenda, and one promise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822960" y="146304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0:05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1920240" y="146304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planning workflow: where AI fits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822960" y="219456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0:12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920240" y="219456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toolkit: four differentiation moves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822960" y="29260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0:24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1920240" y="292608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Quality control: the 4-point review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822960" y="365760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0:30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1920240" y="36576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Lab: differentiate your real lesson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822960" y="438912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0:50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920240" y="438912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Making it stick + first 48 hours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9052560" y="1920240"/>
            <a:ext cx="2606040" cy="2926080"/>
          </a:xfrm>
          <a:prstGeom prst="roundRect">
            <a:avLst>
              <a:gd name="adj" fmla="val 3158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281160" y="21488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promise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9281160" y="2560320"/>
            <a:ext cx="21488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leave with one fully differentiated artifact for an upcoming lesson: core, support, extension. Reviewed. Teachable.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7982712" y="6428232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3 · Planning &amp; Differentiation   |   5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STANCE FOR TODAY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40080" y="128016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Never from scratch again.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640080" y="237744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4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“never plan again.” Never start from a blank page again.</a:t>
            </a:r>
            <a:endParaRPr lang="en-US" sz="2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4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blank page was the most expensive part, and it never needed your expertise.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411480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drafts the skeleton. You supply the judgment. AI drafts, the teacher decides.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7982712" y="6428232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3 · Planning &amp; Differentiation   |   6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BEST STUDY WE HAVE ON EXACTLY THIS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lesson plan in 30 minutes. And one catch.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600200"/>
            <a:ext cx="5257800" cy="3383280"/>
          </a:xfrm>
          <a:prstGeom prst="roundRect">
            <a:avLst>
              <a:gd name="adj" fmla="val 2432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1920240"/>
            <a:ext cx="5257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2E7D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~30 min</a:t>
            </a:r>
            <a:endParaRPr lang="en-US" sz="5400" dirty="0"/>
          </a:p>
        </p:txBody>
      </p:sp>
      <p:sp>
        <p:nvSpPr>
          <p:cNvPr id="9" name="Text 6"/>
          <p:cNvSpPr/>
          <p:nvPr/>
        </p:nvSpPr>
        <p:spPr>
          <a:xfrm>
            <a:off x="914400" y="3063240"/>
            <a:ext cx="4709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 ChatGPT to draft and refine a standards-aligned grade 1 science lesson</a:t>
            </a:r>
            <a:endParaRPr lang="en-US" sz="1550" dirty="0"/>
          </a:p>
          <a:p>
            <a:pPr algn="ctr"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(Powell &amp; Courchesne, PLOS ONE, 2024)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6263640" y="1600200"/>
            <a:ext cx="5257800" cy="3383280"/>
          </a:xfrm>
          <a:prstGeom prst="roundRect">
            <a:avLst>
              <a:gd name="adj" fmla="val 2432"/>
            </a:avLst>
          </a:prstGeom>
          <a:solidFill>
            <a:srgbClr val="FBEFED"/>
          </a:solidFill>
          <a:ln w="12700">
            <a:solidFill>
              <a:srgbClr val="FBEFE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263640" y="1828800"/>
            <a:ext cx="5257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fabricated</a:t>
            </a:r>
            <a:endParaRPr lang="en-US" sz="3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resource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6537960" y="3063240"/>
            <a:ext cx="4709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plus questionable components and missing details along the way, delivered with total confidence</a:t>
            </a:r>
            <a:endParaRPr lang="en-US" sz="1550" dirty="0"/>
          </a:p>
          <a:p>
            <a:pPr algn="ctr"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(same study)</a:t>
            </a:r>
            <a:endParaRPr lang="en-US" sz="15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7982712" y="6428232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3 · Planning &amp; Differentiation   |   7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THAT STUDY MEANS FOR MONDAY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Review is where your expertise enters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10972800" cy="2011680"/>
          </a:xfrm>
          <a:prstGeom prst="roundRect">
            <a:avLst>
              <a:gd name="adj" fmla="val 4091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05840" y="1783080"/>
            <a:ext cx="10241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Review is not a formality. It’s the step where the teaching expertise enters the document.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40080" y="3840480"/>
            <a:ext cx="10908792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Take the 30 minutes; the skeleton is real and it’s useful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Then review like a professional: the study’s authors and every kit in this series agree it’s non-negotiable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7982712" y="6428232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3 · Planning &amp; Differentiation   |   8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FRAME THAT MAKES AI USEFUL, NOT JUST FAST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UDL: generate options, then choose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3520440" cy="2743200"/>
          </a:xfrm>
          <a:prstGeom prst="roundRect">
            <a:avLst>
              <a:gd name="adj" fmla="val 30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96112" y="182880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Engagement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896112" y="260604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Multiple ways in: choice, relevance, challenge level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407408" y="1554480"/>
            <a:ext cx="3520440" cy="2743200"/>
          </a:xfrm>
          <a:prstGeom prst="roundRect">
            <a:avLst>
              <a:gd name="adj" fmla="val 30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663440" y="182880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Representation</a:t>
            </a:r>
            <a:endParaRPr lang="en-US" sz="1900" dirty="0"/>
          </a:p>
        </p:txBody>
      </p:sp>
      <p:sp>
        <p:nvSpPr>
          <p:cNvPr id="12" name="Text 9"/>
          <p:cNvSpPr/>
          <p:nvPr/>
        </p:nvSpPr>
        <p:spPr>
          <a:xfrm>
            <a:off x="4663440" y="260604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Multiple ways to meet the content: text, levels, visuals described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8174736" y="1554480"/>
            <a:ext cx="3520440" cy="2743200"/>
          </a:xfrm>
          <a:prstGeom prst="roundRect">
            <a:avLst>
              <a:gd name="adj" fmla="val 30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30768" y="182880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Action &amp; expression</a:t>
            </a:r>
            <a:endParaRPr lang="en-US" sz="1900" dirty="0"/>
          </a:p>
        </p:txBody>
      </p:sp>
      <p:sp>
        <p:nvSpPr>
          <p:cNvPr id="15" name="Text 12"/>
          <p:cNvSpPr/>
          <p:nvPr/>
        </p:nvSpPr>
        <p:spPr>
          <a:xfrm>
            <a:off x="8430768" y="260604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Multiple ways to show it: write, build, discuss, teach back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640080" y="466344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Options were always UDL’s cost problem. Generating options is the thing AI does fastest.</a:t>
            </a:r>
            <a:endParaRPr lang="en-US" sz="18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generates the menu; you order for your class. (CAST UDL 3.0; Capp, 2017)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7982712" y="6428232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3 · Planning &amp; Differentiation   |   9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WHOLE SYSTEM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planning workflow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822960" y="1572768"/>
            <a:ext cx="658368" cy="65836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157276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1783080" y="1463040"/>
            <a:ext cx="9784080" cy="868680"/>
          </a:xfrm>
          <a:prstGeom prst="roundRect">
            <a:avLst>
              <a:gd name="adj" fmla="val 9474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2103120" y="1536192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Draft:  </a:t>
            </a:r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core artifact with the Kit 2 formula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822960" y="2624328"/>
            <a:ext cx="658368" cy="65836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62432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1783080" y="2514600"/>
            <a:ext cx="9784080" cy="868680"/>
          </a:xfrm>
          <a:prstGeom prst="roundRect">
            <a:avLst>
              <a:gd name="adj" fmla="val 9474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103120" y="2587752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Options:  </a:t>
            </a:r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ask AI to vary it: levels, scaffolds, formats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822960" y="3675888"/>
            <a:ext cx="658368" cy="65836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2960" y="367588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1783080" y="3566160"/>
            <a:ext cx="9784080" cy="868680"/>
          </a:xfrm>
          <a:prstGeom prst="roundRect">
            <a:avLst>
              <a:gd name="adj" fmla="val 9474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2103120" y="3639312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&amp; adapt:  </a:t>
            </a:r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know which option fits which kid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822960" y="4727448"/>
            <a:ext cx="658368" cy="65836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22960" y="472744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200" dirty="0"/>
          </a:p>
        </p:txBody>
      </p:sp>
      <p:sp>
        <p:nvSpPr>
          <p:cNvPr id="21" name="Shape 18"/>
          <p:cNvSpPr/>
          <p:nvPr/>
        </p:nvSpPr>
        <p:spPr>
          <a:xfrm>
            <a:off x="1783080" y="4617720"/>
            <a:ext cx="9784080" cy="868680"/>
          </a:xfrm>
          <a:prstGeom prst="roundRect">
            <a:avLst>
              <a:gd name="adj" fmla="val 9474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2103120" y="4690872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Review:  </a:t>
            </a:r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4-point check before it reaches a student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7982712" y="6428232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3 · Planning &amp; Differentiation   |   10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DIFFERENTIATION TOOLKIT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moves. New price, same pedagogy.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417320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1618488"/>
            <a:ext cx="4800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Level it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914400" y="2240280"/>
            <a:ext cx="4800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passage, multiple reading levels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6263640" y="1417320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37960" y="1618488"/>
            <a:ext cx="4800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Scaffold it</a:t>
            </a:r>
            <a:endParaRPr lang="en-US" sz="2400" dirty="0"/>
          </a:p>
        </p:txBody>
      </p:sp>
      <p:sp>
        <p:nvSpPr>
          <p:cNvPr id="12" name="Text 9"/>
          <p:cNvSpPr/>
          <p:nvPr/>
        </p:nvSpPr>
        <p:spPr>
          <a:xfrm>
            <a:off x="6537960" y="2240280"/>
            <a:ext cx="4800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Starters, word banks, worked examples, organizers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640080" y="3520440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14400" y="3721608"/>
            <a:ext cx="4800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Stretch it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914400" y="4343400"/>
            <a:ext cx="4800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Depth for early finishers, never more worksheets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263640" y="3520440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537960" y="3721608"/>
            <a:ext cx="4800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Reformat it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6537960" y="4343400"/>
            <a:ext cx="4800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content as stations, cards, practice sets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640080" y="56235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Tomlinson’s frame: readiness (moves 1–3), interest and profile (move 4).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7982712" y="6428232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3 · Planning &amp; Differentiation   |   11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MOVE 1 · THE WORKHORSE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Level it: one passage, three levels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417320"/>
            <a:ext cx="10972800" cy="1371600"/>
          </a:xfrm>
          <a:prstGeom prst="roundRect">
            <a:avLst>
              <a:gd name="adj" fmla="val 6000"/>
            </a:avLst>
          </a:prstGeom>
          <a:solidFill>
            <a:srgbClr val="FBEFED"/>
          </a:solidFill>
          <a:ln w="12700">
            <a:solidFill>
              <a:srgbClr val="FBEFE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15544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914400" y="187452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“Make this easier.”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" y="3017520"/>
            <a:ext cx="10972800" cy="2651760"/>
          </a:xfrm>
          <a:prstGeom prst="roundRect">
            <a:avLst>
              <a:gd name="adj" fmla="val 3103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14400" y="31546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AFTER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914400" y="3474720"/>
            <a:ext cx="104241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“You are a reading specialist. Rewrite the passage below at three levels: on-grade for 6th grade, about two years below, and about two years above. Keep every key idea, the section headings, and the same core vocabulary. Lower level: sentences under 12 words plus a 5-word vocabulary box. Higher level: raise the complexity of the reasoning, not just the vocabulary. Label each version.”  [paste passage]</a:t>
            </a:r>
            <a:endParaRPr lang="en-US" sz="15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7982712" y="6428232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3 · Planning &amp; Differentiation   |   12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HABIT THAT KEEPS MOVE 1 HONEST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 the level. Don’t trust the label.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822960" y="1554480"/>
            <a:ext cx="566928" cy="56692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15544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1600200" y="1508760"/>
            <a:ext cx="9875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a paragraph aloud: your ear knows your grade level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822960" y="2468880"/>
            <a:ext cx="566928" cy="56692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2960" y="24688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1600200" y="2423160"/>
            <a:ext cx="9875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Eyeball sentence length: 25-word sentences aren’t “easier”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822960" y="3383280"/>
            <a:ext cx="566928" cy="56692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2960" y="33832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600200" y="3337560"/>
            <a:ext cx="9875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Try it on one student tomorrow and watch where they stumble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640080" y="4480560"/>
            <a:ext cx="10972800" cy="1234440"/>
          </a:xfrm>
          <a:prstGeom prst="roundRect">
            <a:avLst>
              <a:gd name="adj" fmla="val 6667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60120" y="4617720"/>
            <a:ext cx="10332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Readability is measurable; teacher judgment is the benchmark. That’s the point of the CLEAR corpus research. Verify in two minutes; keep everything the leveling bought you.</a:t>
            </a:r>
            <a:endParaRPr lang="en-US" sz="16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7982712" y="6428232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3 · Planning &amp; Differentiation   |   13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MOVE 2 · SAME TARGET, MORE HANDHOLDS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Scaffold it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463040"/>
            <a:ext cx="5349240" cy="1783080"/>
          </a:xfrm>
          <a:prstGeom prst="roundRect">
            <a:avLst>
              <a:gd name="adj" fmla="val 4615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164592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Sentence starters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914400" y="214884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per paragraph; gets the stuck writer moving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6263640" y="1463040"/>
            <a:ext cx="5349240" cy="1783080"/>
          </a:xfrm>
          <a:prstGeom prst="roundRect">
            <a:avLst>
              <a:gd name="adj" fmla="val 4615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37960" y="164592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Word bank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6537960" y="214884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words with student-friendly definitions</a:t>
            </a:r>
            <a:endParaRPr lang="en-US" sz="1550" dirty="0"/>
          </a:p>
        </p:txBody>
      </p:sp>
      <p:sp>
        <p:nvSpPr>
          <p:cNvPr id="13" name="Shape 10"/>
          <p:cNvSpPr/>
          <p:nvPr/>
        </p:nvSpPr>
        <p:spPr>
          <a:xfrm>
            <a:off x="640080" y="3429000"/>
            <a:ext cx="5349240" cy="1783080"/>
          </a:xfrm>
          <a:prstGeom prst="roundRect">
            <a:avLst>
              <a:gd name="adj" fmla="val 4615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14400" y="361188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Worked example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914400" y="411480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 a different topic: teaches the shape, not the answer</a:t>
            </a:r>
            <a:endParaRPr lang="en-US" sz="1550" dirty="0"/>
          </a:p>
        </p:txBody>
      </p:sp>
      <p:sp>
        <p:nvSpPr>
          <p:cNvPr id="16" name="Shape 13"/>
          <p:cNvSpPr/>
          <p:nvPr/>
        </p:nvSpPr>
        <p:spPr>
          <a:xfrm>
            <a:off x="6263640" y="3429000"/>
            <a:ext cx="5349240" cy="1783080"/>
          </a:xfrm>
          <a:prstGeom prst="roundRect">
            <a:avLst>
              <a:gd name="adj" fmla="val 4615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537960" y="361188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Organizer text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6537960" y="411480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labels and prompts for your graphic organizer</a:t>
            </a:r>
            <a:endParaRPr lang="en-US" sz="15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7982712" y="6428232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3 · Planning &amp; Differentiation   |   14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MOVE 3 · EARLY FINISHERS &amp; ADVANCED LEARNERS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Stretch it: depth, not more worksheets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3520440" cy="2926080"/>
          </a:xfrm>
          <a:prstGeom prst="roundRect">
            <a:avLst>
              <a:gd name="adj" fmla="val 281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938528" y="1828800"/>
            <a:ext cx="914400" cy="91440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938528" y="18288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868680" y="29260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Apply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868680" y="342900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the concept in an unfamiliar context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4407408" y="1554480"/>
            <a:ext cx="3520440" cy="2926080"/>
          </a:xfrm>
          <a:prstGeom prst="roundRect">
            <a:avLst>
              <a:gd name="adj" fmla="val 281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705856" y="1828800"/>
            <a:ext cx="914400" cy="91440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705856" y="18288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3000" dirty="0"/>
          </a:p>
        </p:txBody>
      </p:sp>
      <p:sp>
        <p:nvSpPr>
          <p:cNvPr id="15" name="Text 12"/>
          <p:cNvSpPr/>
          <p:nvPr/>
        </p:nvSpPr>
        <p:spPr>
          <a:xfrm>
            <a:off x="4636008" y="29260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Critique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4636008" y="342900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Find the flaw in a flawed example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8174736" y="1554480"/>
            <a:ext cx="3520440" cy="2926080"/>
          </a:xfrm>
          <a:prstGeom prst="roundRect">
            <a:avLst>
              <a:gd name="adj" fmla="val 281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9473184" y="1828800"/>
            <a:ext cx="914400" cy="91440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473184" y="18288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3000" dirty="0"/>
          </a:p>
        </p:txBody>
      </p:sp>
      <p:sp>
        <p:nvSpPr>
          <p:cNvPr id="20" name="Text 17"/>
          <p:cNvSpPr/>
          <p:nvPr/>
        </p:nvSpPr>
        <p:spPr>
          <a:xfrm>
            <a:off x="8403336" y="29260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Teach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8403336" y="342900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Explain it to a younger student, own words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640080" y="4937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second worksheet is a punishment for being fast. Say “no additional practice problems” in the prompt.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7982712" y="6428232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3 · Planning &amp; Differentiation   |   15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MOVE 4 · THE UDL MOVE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Reformat it: same content, new shape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3520440" cy="2743200"/>
          </a:xfrm>
          <a:prstGeom prst="roundRect">
            <a:avLst>
              <a:gd name="adj" fmla="val 30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96112" y="18288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Stations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896112" y="2468880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activity-direction sets from one lesson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4407408" y="1554480"/>
            <a:ext cx="3520440" cy="2743200"/>
          </a:xfrm>
          <a:prstGeom prst="roundRect">
            <a:avLst>
              <a:gd name="adj" fmla="val 30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663440" y="18288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Discussion cards</a:t>
            </a:r>
            <a:endParaRPr lang="en-US" sz="1900" dirty="0"/>
          </a:p>
        </p:txBody>
      </p:sp>
      <p:sp>
        <p:nvSpPr>
          <p:cNvPr id="12" name="Text 9"/>
          <p:cNvSpPr/>
          <p:nvPr/>
        </p:nvSpPr>
        <p:spPr>
          <a:xfrm>
            <a:off x="4663440" y="2468880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Eight cards, one question each</a:t>
            </a:r>
            <a:endParaRPr lang="en-US" sz="1550" dirty="0"/>
          </a:p>
        </p:txBody>
      </p:sp>
      <p:sp>
        <p:nvSpPr>
          <p:cNvPr id="13" name="Shape 10"/>
          <p:cNvSpPr/>
          <p:nvPr/>
        </p:nvSpPr>
        <p:spPr>
          <a:xfrm>
            <a:off x="8174736" y="1554480"/>
            <a:ext cx="3520440" cy="2743200"/>
          </a:xfrm>
          <a:prstGeom prst="roundRect">
            <a:avLst>
              <a:gd name="adj" fmla="val 30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30768" y="18288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Practice set</a:t>
            </a:r>
            <a:endParaRPr lang="en-US" sz="1900" dirty="0"/>
          </a:p>
        </p:txBody>
      </p:sp>
      <p:sp>
        <p:nvSpPr>
          <p:cNvPr id="15" name="Text 12"/>
          <p:cNvSpPr/>
          <p:nvPr/>
        </p:nvSpPr>
        <p:spPr>
          <a:xfrm>
            <a:off x="8430768" y="2468880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items ramping recall → application</a:t>
            </a:r>
            <a:endParaRPr lang="en-US" sz="1550" dirty="0"/>
          </a:p>
        </p:txBody>
      </p:sp>
      <p:sp>
        <p:nvSpPr>
          <p:cNvPr id="16" name="Shape 13"/>
          <p:cNvSpPr/>
          <p:nvPr/>
        </p:nvSpPr>
        <p:spPr>
          <a:xfrm>
            <a:off x="640080" y="4572000"/>
            <a:ext cx="10972800" cy="1097280"/>
          </a:xfrm>
          <a:prstGeom prst="roundRect">
            <a:avLst>
              <a:gd name="adj" fmla="val 7500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60120" y="470916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draft becomes a menu: multiple means of engagement and expression, on demand.</a:t>
            </a:r>
            <a:endParaRPr lang="en-US" sz="1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7982712" y="6428232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3 · Planning &amp; Differentiation   |   16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ANYTHING REACHES A STUDENT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4-point review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417320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160020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· Accurate?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914400" y="2130552"/>
            <a:ext cx="4800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Facts, examples, named resources checked. Remember the fabricated resource.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6263640" y="1417320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37960" y="160020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· At level, actually?</a:t>
            </a:r>
            <a:endParaRPr lang="en-US" sz="2100" dirty="0"/>
          </a:p>
        </p:txBody>
      </p:sp>
      <p:sp>
        <p:nvSpPr>
          <p:cNvPr id="12" name="Text 9"/>
          <p:cNvSpPr/>
          <p:nvPr/>
        </p:nvSpPr>
        <p:spPr>
          <a:xfrm>
            <a:off x="6537960" y="2130552"/>
            <a:ext cx="4800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 the quick checks. The label is a guess until you test it.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640080" y="3520440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14400" y="370332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· Fits your students?</a:t>
            </a:r>
            <a:endParaRPr lang="en-US" sz="2100" dirty="0"/>
          </a:p>
        </p:txBody>
      </p:sp>
      <p:sp>
        <p:nvSpPr>
          <p:cNvPr id="15" name="Text 12"/>
          <p:cNvSpPr/>
          <p:nvPr/>
        </p:nvSpPr>
        <p:spPr>
          <a:xfrm>
            <a:off x="914400" y="4233672"/>
            <a:ext cx="4800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wrote for a generic class. Swap examples that won’t land in yours.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6263640" y="3520440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537960" y="370332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· Sounds like you?</a:t>
            </a:r>
            <a:endParaRPr lang="en-US" sz="2100" dirty="0"/>
          </a:p>
        </p:txBody>
      </p:sp>
      <p:sp>
        <p:nvSpPr>
          <p:cNvPr id="18" name="Text 15"/>
          <p:cNvSpPr/>
          <p:nvPr/>
        </p:nvSpPr>
        <p:spPr>
          <a:xfrm>
            <a:off x="6537960" y="4233672"/>
            <a:ext cx="4800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the directions don’t sound like your directions, students notice first.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640080" y="56235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Fail a point, fix it. That’s the review.</a:t>
            </a:r>
            <a:endParaRPr lang="en-US" sz="1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7982712" y="6428232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3 · Planning &amp; Differentiation   |   17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NOBODY OVERSELLS IT IN THE HALLWAY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AI can’t do here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3520440" cy="2926080"/>
          </a:xfrm>
          <a:prstGeom prst="roundRect">
            <a:avLst>
              <a:gd name="adj" fmla="val 281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96112" y="18288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Doesn’t know your kids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896112" y="274320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never met the reader who shuts down, or the one who’s two grades ahead.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4407408" y="1554480"/>
            <a:ext cx="3520440" cy="2926080"/>
          </a:xfrm>
          <a:prstGeom prst="roundRect">
            <a:avLst>
              <a:gd name="adj" fmla="val 281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663440" y="18288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Leveled ≠ verified</a:t>
            </a:r>
            <a:endParaRPr lang="en-US" sz="1900" dirty="0"/>
          </a:p>
        </p:txBody>
      </p:sp>
      <p:sp>
        <p:nvSpPr>
          <p:cNvPr id="12" name="Text 9"/>
          <p:cNvSpPr/>
          <p:nvPr/>
        </p:nvSpPr>
        <p:spPr>
          <a:xfrm>
            <a:off x="4663440" y="274320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label is a guess until you check it.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8174736" y="1554480"/>
            <a:ext cx="3520440" cy="2926080"/>
          </a:xfrm>
          <a:prstGeom prst="roundRect">
            <a:avLst>
              <a:gd name="adj" fmla="val 281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30768" y="18288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 invent things</a:t>
            </a:r>
            <a:endParaRPr lang="en-US" sz="1900" dirty="0"/>
          </a:p>
        </p:txBody>
      </p:sp>
      <p:sp>
        <p:nvSpPr>
          <p:cNvPr id="15" name="Text 12"/>
          <p:cNvSpPr/>
          <p:nvPr/>
        </p:nvSpPr>
        <p:spPr>
          <a:xfrm>
            <a:off x="8430768" y="274320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Activities that don’t quite work; resources that don’t exist.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640080" y="4937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None of that is a reason to skip the tool. All of it is the reason the teacher stays in the loop.</a:t>
            </a:r>
            <a:endParaRPr lang="en-US" sz="1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7982712" y="6428232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3 · Planning &amp; Differentiation   |   18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BIGGER THAN THIS ROOM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Narrow gaps. Don’t widen them.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645920"/>
            <a:ext cx="10972800" cy="2926080"/>
          </a:xfrm>
          <a:prstGeom prst="roundRect">
            <a:avLst>
              <a:gd name="adj" fmla="val 281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201168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25%</a:t>
            </a:r>
            <a:endParaRPr lang="en-US" sz="7200" dirty="0"/>
          </a:p>
        </p:txBody>
      </p:sp>
      <p:sp>
        <p:nvSpPr>
          <p:cNvPr id="9" name="Text 6"/>
          <p:cNvSpPr/>
          <p:nvPr/>
        </p:nvSpPr>
        <p:spPr>
          <a:xfrm>
            <a:off x="1280160" y="3383280"/>
            <a:ext cx="9601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teachers used AI for planning or teaching in 2023–24, and adoption lagged in higher-poverty schools. (RAND, 2025)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40080" y="50292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fix in this building: everyone learns the moves, everyone shares the prompts, every roster benefits.</a:t>
            </a:r>
            <a:endParaRPr lang="en-US" sz="1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7982712" y="6428232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3 · Planning &amp; Differentiation   |   19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HANDS-ON · ~20 MINUTES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40080" y="13716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Lab: differentiate your real lesson.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640080" y="23774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lesson you brought. By the end: a core artifact, a support version, and an extension, reviewed and teachable this week.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822960" y="3474720"/>
            <a:ext cx="566928" cy="56692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34747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600200" y="3429000"/>
            <a:ext cx="9875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student information: describe needs, never names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822960" y="4297680"/>
            <a:ext cx="566928" cy="56692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4297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600200" y="4251960"/>
            <a:ext cx="9875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Draft the core with the four-part formula, then differentiate two directions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822960" y="5120640"/>
            <a:ext cx="566928" cy="56692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5120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600200" y="5074920"/>
            <a:ext cx="9875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Nothing is done until it passes the 4-point review</a:t>
            </a:r>
            <a:endParaRPr lang="en-US" sz="2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7982712" y="6428232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3 · Planning &amp; Differentiation   |   20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· STEP 1 OF 3 · 5 MINUTES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Draft the core artifact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08760"/>
            <a:ext cx="10972800" cy="731520"/>
          </a:xfrm>
          <a:prstGeom prst="roundRect">
            <a:avLst>
              <a:gd name="adj" fmla="val 1125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60120" y="1563624"/>
            <a:ext cx="1033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the one artifact your lesson most needs: reading, practice set, directions, exit check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640080" y="2377440"/>
            <a:ext cx="10972800" cy="731520"/>
          </a:xfrm>
          <a:prstGeom prst="roundRect">
            <a:avLst>
              <a:gd name="adj" fmla="val 1125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60120" y="2432304"/>
            <a:ext cx="1033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Role · task · context · format, and be generous with context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0080" y="3246120"/>
            <a:ext cx="10972800" cy="731520"/>
          </a:xfrm>
          <a:prstGeom prst="roundRect">
            <a:avLst>
              <a:gd name="adj" fmla="val 1125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60120" y="3300984"/>
            <a:ext cx="1033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did students just learn? What do they always trip on?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40080" y="4114800"/>
            <a:ext cx="10972800" cy="731520"/>
          </a:xfrm>
          <a:prstGeom prst="roundRect">
            <a:avLst>
              <a:gd name="adj" fmla="val 1125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60120" y="4169664"/>
            <a:ext cx="1033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 it. Read like an editor. Get it to 80%, not perfect.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640080" y="52120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Don’t polish. The next step is where today earns its name.</a:t>
            </a:r>
            <a:endParaRPr lang="en-US" sz="2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7982712" y="6428232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3 · Planning &amp; Differentiation   |   21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· STEP 2 OF 3 · 7 MINUTES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Differentiate it: two directions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5394960" cy="3840480"/>
          </a:xfrm>
          <a:prstGeom prst="roundRect">
            <a:avLst>
              <a:gd name="adj" fmla="val 2143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60120" y="1828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Support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960120" y="2377440"/>
            <a:ext cx="4754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Level it down or scaffold it, your choice. Use the handout prompt as-is; the AI already has your artifact in the chat.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263640" y="1554480"/>
            <a:ext cx="5394960" cy="3840480"/>
          </a:xfrm>
          <a:prstGeom prst="roundRect">
            <a:avLst>
              <a:gd name="adj" fmla="val 214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83680" y="1828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Stretch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6583680" y="2377440"/>
            <a:ext cx="4754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Extension prompts: apply, critique, teach back. Depth, not length. Say “no additional practice problems.”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640080" y="56235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You’re building the versions that used to cost an evening, inside seven minutes.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7982712" y="6428232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3 · Planning &amp; Differentiation   |   22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· STEP 3 OF 3 · 4 MINUTES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 the 4-point review. Fix what fails.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08760"/>
            <a:ext cx="10972800" cy="731520"/>
          </a:xfrm>
          <a:prstGeom prst="roundRect">
            <a:avLst>
              <a:gd name="adj" fmla="val 1125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60120" y="1563624"/>
            <a:ext cx="1033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Accurate? Check facts and any named resources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640080" y="2377440"/>
            <a:ext cx="10972800" cy="731520"/>
          </a:xfrm>
          <a:prstGeom prst="roundRect">
            <a:avLst>
              <a:gd name="adj" fmla="val 1125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60120" y="2432304"/>
            <a:ext cx="1033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 level, actually? Read the support version aloud to your partner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0080" y="3246120"/>
            <a:ext cx="10972800" cy="731520"/>
          </a:xfrm>
          <a:prstGeom prst="roundRect">
            <a:avLst>
              <a:gd name="adj" fmla="val 1125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60120" y="3300984"/>
            <a:ext cx="1033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Fits your students? Swap the examples that won’t land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40080" y="4114800"/>
            <a:ext cx="10972800" cy="731520"/>
          </a:xfrm>
          <a:prstGeom prst="roundRect">
            <a:avLst>
              <a:gd name="adj" fmla="val 1125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60120" y="4169664"/>
            <a:ext cx="1033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Sounds like you? If not: “warmer,” “plainer,” “shorter”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640080" y="52120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artifact that passes all four is done. Not AI-done. Done done.</a:t>
            </a:r>
            <a:endParaRPr lang="en-US" sz="2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7982712" y="6428232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3 · Planning &amp; Differentiation   |   23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SHARE-OUT · 3–4 VOICES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did you build?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554480"/>
            <a:ext cx="10908792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What’s your artifact, and which direction surprised you?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Did the 4-point review catch anything?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the AI got a level wrong or invented something, that story goes first.</a:t>
            </a:r>
            <a:endParaRPr lang="en-US" sz="2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7982712" y="6428232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3 · Planning &amp; Differentiation   |   24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NINETEEN MINUTES AGO THIS DIDN’T EXIST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good intentions to materials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645920"/>
            <a:ext cx="10972800" cy="3291840"/>
          </a:xfrm>
          <a:prstGeom prst="roundRect">
            <a:avLst>
              <a:gd name="adj" fmla="val 2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05840" y="1920240"/>
            <a:ext cx="102412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core artifact. A support version. An extension. All reviewed by the one person qualified to review them.
</a:t>
            </a:r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research said differentiation works best embedded and technology-supported. That’s not a description of some other school anymore. It’s what’s on your screen.</a:t>
            </a:r>
            <a:endParaRPr lang="en-US" sz="2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7982712" y="6428232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3 · Planning &amp; Differentiation   |   25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HABIT THAT COMPOUNDS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differentiated artifact per week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463040"/>
            <a:ext cx="10908792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a differentiated everything; that’s burnout dressed up as ambition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lesson a week gets the full treatment: core, support, extension, review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Fifteen weeks in: fifteen lessons deep with materials for every learner on your roster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640080" y="4023360"/>
            <a:ext cx="10972800" cy="1554480"/>
          </a:xfrm>
          <a:prstGeom prst="roundRect">
            <a:avLst>
              <a:gd name="adj" fmla="val 5294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0120" y="4206240"/>
            <a:ext cx="10332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Small, steady, sustainable. That’s the whole strategy.</a:t>
            </a:r>
            <a:endParaRPr lang="en-US" sz="2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7982712" y="6428232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3 · Planning &amp; Differentiation   |   26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LIST GROWS BY ONE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40080" y="14630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Commitment #5</a:t>
            </a:r>
            <a:endParaRPr lang="en-US" sz="3600" dirty="0"/>
          </a:p>
        </p:txBody>
      </p:sp>
      <p:sp>
        <p:nvSpPr>
          <p:cNvPr id="7" name="Text 4"/>
          <p:cNvSpPr/>
          <p:nvPr/>
        </p:nvSpPr>
        <p:spPr>
          <a:xfrm>
            <a:off x="640080" y="2468880"/>
            <a:ext cx="10972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7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Nothing AI-drafted reaches a student until it passes the 4-point review.</a:t>
            </a:r>
            <a:endParaRPr lang="en-US" sz="2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7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And working differentiation prompts go in the staff doc.</a:t>
            </a:r>
            <a:endParaRPr lang="en-US" sz="2700" dirty="0"/>
          </a:p>
        </p:txBody>
      </p:sp>
      <p:sp>
        <p:nvSpPr>
          <p:cNvPr id="8" name="Text 5"/>
          <p:cNvSpPr/>
          <p:nvPr/>
        </p:nvSpPr>
        <p:spPr>
          <a:xfrm>
            <a:off x="640080" y="48463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 I get a nod on that?</a:t>
            </a:r>
            <a:endParaRPr lang="en-US" sz="2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7982712" y="6428232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3 · Planning &amp; Differentiation   |   27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3 OF 8 · TRACK A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this series goes next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16459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· Foundations &amp; Safety  ✔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3474720" y="155448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657600" y="16459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· Prompting Basics  ✔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6309360" y="155448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92240" y="16459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· Planning &amp; Differentiation  ✔</a:t>
            </a:r>
            <a:endParaRPr lang="en-US" sz="1450" dirty="0"/>
          </a:p>
        </p:txBody>
      </p:sp>
      <p:sp>
        <p:nvSpPr>
          <p:cNvPr id="13" name="Shape 10"/>
          <p:cNvSpPr/>
          <p:nvPr/>
        </p:nvSpPr>
        <p:spPr>
          <a:xfrm>
            <a:off x="9144000" y="155448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326880" y="16459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· Assessment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640080" y="274320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2960" y="28346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· Academic Integrity</a:t>
            </a:r>
            <a:endParaRPr lang="en-US" sz="1450" dirty="0"/>
          </a:p>
        </p:txBody>
      </p:sp>
      <p:sp>
        <p:nvSpPr>
          <p:cNvPr id="17" name="Shape 14"/>
          <p:cNvSpPr/>
          <p:nvPr/>
        </p:nvSpPr>
        <p:spPr>
          <a:xfrm>
            <a:off x="3474720" y="274320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657600" y="28346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· Communication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6309360" y="274320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92240" y="28346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· Workload</a:t>
            </a:r>
            <a:endParaRPr lang="en-US" sz="1450" dirty="0"/>
          </a:p>
        </p:txBody>
      </p:sp>
      <p:sp>
        <p:nvSpPr>
          <p:cNvPr id="21" name="Shape 18"/>
          <p:cNvSpPr/>
          <p:nvPr/>
        </p:nvSpPr>
        <p:spPr>
          <a:xfrm>
            <a:off x="9144000" y="274320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326880" y="28346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· Your School’s AI Culture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640080" y="4206240"/>
            <a:ext cx="10972800" cy="1463040"/>
          </a:xfrm>
          <a:prstGeom prst="roundRect">
            <a:avLst>
              <a:gd name="adj" fmla="val 5625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60120" y="438912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Next: Kit 4, AI for Assessment. </a:t>
            </a:r>
            <a:pPr indent="0" marL="0">
              <a:buNone/>
            </a:pPr>
            <a:r>
              <a:rPr lang="en-US" sz="17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built the materials for the range of learners in your room; next we build the ways to find out what they learned: question banks, rubrics, feedback that doesn’t eat your Sunday.</a:t>
            </a:r>
            <a:endParaRPr lang="en-US" sz="17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7982712" y="6428232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3 · Planning &amp; Differentiation   |   28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FRIDAY BECOMES A MEMORY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first 48 hours: three small things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463040"/>
            <a:ext cx="10972800" cy="1234440"/>
          </a:xfrm>
          <a:prstGeom prst="roundRect">
            <a:avLst>
              <a:gd name="adj" fmla="val 666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184708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~10 min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2377440" y="1609344"/>
            <a:ext cx="9052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Teach with your lab artifact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2377440" y="2084832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Then jot one line: what did the support kids and stretch kids actually do?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40080" y="2880360"/>
            <a:ext cx="10972800" cy="1234440"/>
          </a:xfrm>
          <a:prstGeom prst="roundRect">
            <a:avLst>
              <a:gd name="adj" fmla="val 666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14400" y="326440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~10 min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2377440" y="3026664"/>
            <a:ext cx="9052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Level one more text, then check the level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2377440" y="3502152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it aloud, eyeball sentence length, fix what the label got wrong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640080" y="4297680"/>
            <a:ext cx="10972800" cy="1234440"/>
          </a:xfrm>
          <a:prstGeom prst="roundRect">
            <a:avLst>
              <a:gd name="adj" fmla="val 666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4400" y="468172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~2 min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2377440" y="4443984"/>
            <a:ext cx="9052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 your best prompt to the staff doc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2377440" y="4919472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move, your name, one line about the lesson it fit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7982712" y="6428232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3 · Planning &amp; Differentiation   |   29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MINUTES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Exit ticket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554480"/>
            <a:ext cx="10908792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differentiation move you’ll use first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artifact you built in the lab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differentiation task you still want help with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42976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answers steer the PLC follow-ups. Be honest.</a:t>
            </a:r>
            <a:endParaRPr lang="en-US" sz="1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7982712" y="6428232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3 · Planning &amp; Differentiation   |   30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640080" y="1737360"/>
            <a:ext cx="10972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Differentiation was never</a:t>
            </a:r>
            <a:endParaRPr lang="en-US" sz="34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good-intentions problem.</a:t>
            </a:r>
            <a:endParaRPr lang="en-US" sz="34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was a time problem.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640080" y="402336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time problem just got smaller.</a:t>
            </a:r>
            <a:endParaRPr lang="en-US" sz="24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knowing-your-kids part was always yours.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640080" y="58521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Human teaching. Life-changing tools.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AI-Ready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Kit 3: AI for Planning &amp; Differentiation</dc:title>
  <dc:subject>PptxGenJS Presentation</dc:subject>
  <dc:creator>Adam &amp; Katelyn Spinozzi</dc:creator>
  <cp:lastModifiedBy>Adam &amp; Katelyn Spinozzi</cp:lastModifiedBy>
  <cp:revision>1</cp:revision>
  <dcterms:created xsi:type="dcterms:W3CDTF">2026-08-10T10:39:17Z</dcterms:created>
  <dcterms:modified xsi:type="dcterms:W3CDTF">2026-08-10T10:39:17Z</dcterms:modified>
</cp:coreProperties>
</file>