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This session assumes Kits 1 and 2: the permanent rules and the four-part formula. Staff should have brought one upcoming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Deunk et al. 2018, Educational Research Review: grouping alone is not enough; the materials have to actually differ. If you chose to share the founders’ note from the front of the script, their point lands here: when versions are hand-built, the stretch gets triaged.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Attributions out loud: EdWeek Research Center for the 61% (up from 34%); Gallup-Walton for the time-savings range, with weekly users saving about six hours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The promise line matters: not examples, their lesson. Confirm everyone has a lesson in hand; borrowing a partner’s is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breath, then move. The five-word posture appears on screen; say it with the room if the culture is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Peer-reviewed, PLOS ONE 2024. The AI recommended a resource that does not exist. Tell it straight: the 30 minutes is real AND the fabrication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slide; keep it to 40 seconds. The 4-point review checklist arrives on slide 16, before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CAST’s UDL Guidelines 3.0; Capp’s 2017 meta-analysis found UDL effective for improving learning across the board. If asked “is this learning styles?”: no; UDL builds flexible materials, it does not sort kids into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options, pick, review. Steps 3 and 4 are the human steps and they are the point. This is the handout’s spine.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is new pedagogy (Tomlinson et al., 2003: readiness, interest, learning profile). What’s new is the price of the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here's the same move on Ms. Rivera's screen, our running composite example. It's the Kit 2 formula wearing work clothes: role in teal, task in navy, context in amber, format in green. Ninety seconds replaces an evening. In the lab, mimic this shape with your own passage. Next slide is the habit that keeps this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Crossley et al. 2022: the CommonLit CLEAR corpus grounded readability in teacher judgment; level is a testable property, not a vibe. Teach the three quick checks (read aloud, sentence length, try on one student)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on the handout: starters + word bank + one worked example on a DIFFERENT topic, so students see the structure without copying content. That clause is the professional touch.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quiet rule out loud: early finishers get depth, not volume. Your strongest students stop being your most bored ones, and it cost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on the handout: “same concepts in all three; label everything.” The version you never had time to make now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Accurate, at level, fits, sounds like you. This checklist is on the handout and becomes commitment #5. The lab’s step 3 runs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drafting got fast. The deciding is still yours. Steady, honest beat before the equity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from RAND (RR-A134-25): the schools whose students most need differentiated materials are least likely to be getting AI’s help making them. Then read the authors’ shared take from the script: in practice, equity tends to favor the struggling child, and the top end of the class gets forgotten; now that extensions cost two minutes, build the stretch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devices out inside two minutes, announce the tool. The standard to name here: differentiate until understanding is equal, and let AI do the drafting that used to make that impossible.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Circulate. Weak drafts usually lack context; nudge with “what would a substitute need to know about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follow-up prompts in the same chat. 45-min cut: one direction instead of two; each teacher picks support or stretch based on their roster.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this step; skipping review is the failure mode of the whole kit. Pairs swap and check each other’s level labels: a partner’s ear is the first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Prioritize anyone whose review caught a real problem; it’s the most useful minute in the room. 45-min cut: two voices. Keep each to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 hour ago, differentiation was a good intention priced at three hand-built versions of everything. You just built core, support, and stretch for a real lesson in twenty minutes, and the research from slide 2 says materials that actually differ are what make it work. Land it plainly and move to the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in the margins of time staff already have. The 30-day plan’s PLC follow-ups reinforce exactly this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Kit 1 gave three commitments; Kit 2 added the staff doc. Ask for the visible nod; agreement out loud is what makes it a norm.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differentiated artifact from today comes with you; it’s about to need an exit ticket. Completing all eight kits earns the Certificate of Completion; check with your district or state about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Tomorrow morning, coffee in hand, pick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tickets; collect at the door. They double as the school’s PD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teach the lesson you just planned. Thanks, everyone. Collect the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3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AI for Planning</a:t>
            </a:r>
            <a:endParaRPr lang="en-US" sz="4400" dirty="0"/>
          </a:p>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&amp; Differentiation</a:t>
            </a:r>
            <a:endParaRPr lang="en-US" sz="44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one fully differentiated artifact for a lesson you’re about to teach.</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BOTH HALVES ARE TRUE</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differentiation dilemma</a:t>
            </a:r>
            <a:endParaRPr lang="en-US" sz="3200" dirty="0"/>
          </a:p>
        </p:txBody>
      </p:sp>
      <p:sp>
        <p:nvSpPr>
          <p:cNvPr id="7" name="Shape 4"/>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8" name="Text 5"/>
          <p:cNvSpPr/>
          <p:nvPr/>
        </p:nvSpPr>
        <p:spPr>
          <a:xfrm>
            <a:off x="640080" y="1874520"/>
            <a:ext cx="5257800" cy="640080"/>
          </a:xfrm>
          <a:prstGeom prst="rect">
            <a:avLst/>
          </a:prstGeom>
          <a:noFill/>
          <a:ln/>
        </p:spPr>
        <p:txBody>
          <a:bodyPr wrap="square" lIns="0" tIns="0" rIns="0" bIns="0" rtlCol="0" anchor="ctr"/>
          <a:lstStyle/>
          <a:p>
            <a:pPr algn="ctr" indent="0" marL="0">
              <a:buNone/>
            </a:pPr>
            <a:r>
              <a:rPr lang="en-US" sz="3000" b="1" dirty="0">
                <a:solidFill>
                  <a:srgbClr val="2E7D5B"/>
                </a:solidFill>
                <a:latin typeface="Inter" pitchFamily="34" charset="0"/>
                <a:ea typeface="Inter" pitchFamily="34" charset="-122"/>
                <a:cs typeface="Inter" pitchFamily="34" charset="-120"/>
              </a:rPr>
              <a:t>It works</a:t>
            </a:r>
            <a:endParaRPr lang="en-US" sz="3000" dirty="0"/>
          </a:p>
        </p:txBody>
      </p:sp>
      <p:sp>
        <p:nvSpPr>
          <p:cNvPr id="9" name="Text 6"/>
          <p:cNvSpPr/>
          <p:nvPr/>
        </p:nvSpPr>
        <p:spPr>
          <a:xfrm>
            <a:off x="914400" y="2651760"/>
            <a:ext cx="4709160" cy="210312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Meta-analysis: small-to-moderate positive effects, strongest when embedded in instruction and supported by technology</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(Deunk et al., 2018)</a:t>
            </a:r>
            <a:endParaRPr lang="en-US" sz="1550" dirty="0"/>
          </a:p>
        </p:txBody>
      </p:sp>
      <p:sp>
        <p:nvSpPr>
          <p:cNvPr id="10" name="Shape 7"/>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1" name="Text 8"/>
          <p:cNvSpPr/>
          <p:nvPr/>
        </p:nvSpPr>
        <p:spPr>
          <a:xfrm>
            <a:off x="6263640" y="1874520"/>
            <a:ext cx="5257800" cy="640080"/>
          </a:xfrm>
          <a:prstGeom prst="rect">
            <a:avLst/>
          </a:prstGeom>
          <a:noFill/>
          <a:ln/>
        </p:spPr>
        <p:txBody>
          <a:bodyPr wrap="square" lIns="0" tIns="0" rIns="0" bIns="0" rtlCol="0" anchor="ctr"/>
          <a:lstStyle/>
          <a:p>
            <a:pPr algn="ctr" indent="0" marL="0">
              <a:buNone/>
            </a:pPr>
            <a:r>
              <a:rPr lang="en-US" sz="3000" b="1" dirty="0">
                <a:solidFill>
                  <a:srgbClr val="B4453A"/>
                </a:solidFill>
                <a:latin typeface="Inter" pitchFamily="34" charset="0"/>
                <a:ea typeface="Inter" pitchFamily="34" charset="-122"/>
                <a:cs typeface="Inter" pitchFamily="34" charset="-120"/>
              </a:rPr>
              <a:t>It wasn’t sustainable</a:t>
            </a:r>
            <a:endParaRPr lang="en-US" sz="3000" dirty="0"/>
          </a:p>
        </p:txBody>
      </p:sp>
      <p:sp>
        <p:nvSpPr>
          <p:cNvPr id="12" name="Text 9"/>
          <p:cNvSpPr/>
          <p:nvPr/>
        </p:nvSpPr>
        <p:spPr>
          <a:xfrm>
            <a:off x="6537960" y="2651760"/>
            <a:ext cx="4709160" cy="210312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Three versions of every text, practice set, and station, by hand?</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The plan asked for more hours than the week has.</a:t>
            </a:r>
            <a:endParaRPr lang="en-US" sz="1550" dirty="0"/>
          </a:p>
        </p:txBody>
      </p:sp>
      <p:sp>
        <p:nvSpPr>
          <p:cNvPr id="13" name="Text 10"/>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The gap was never intention. It was time.</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THIS SESSION EXISTS NOW</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tool for the time problem arrived</a:t>
            </a:r>
            <a:endParaRPr lang="en-US" sz="3200" dirty="0"/>
          </a:p>
        </p:txBody>
      </p:sp>
      <p:sp>
        <p:nvSpPr>
          <p:cNvPr id="7" name="Shape 4"/>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8" name="Text 5"/>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61%</a:t>
            </a:r>
            <a:endParaRPr lang="en-US" sz="5800" dirty="0"/>
          </a:p>
        </p:txBody>
      </p:sp>
      <p:sp>
        <p:nvSpPr>
          <p:cNvPr id="9" name="Text 6"/>
          <p:cNvSpPr/>
          <p:nvPr/>
        </p:nvSpPr>
        <p:spPr>
          <a:xfrm>
            <a:off x="91440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in their work by late 2025, up from 34% in Dec 2023</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(EdWeek Research Center, 2026)</a:t>
            </a:r>
            <a:endParaRPr lang="en-US" sz="1600" dirty="0"/>
          </a:p>
        </p:txBody>
      </p:sp>
      <p:sp>
        <p:nvSpPr>
          <p:cNvPr id="10" name="Shape 7"/>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1" name="Text 8"/>
          <p:cNvSpPr/>
          <p:nvPr/>
        </p:nvSpPr>
        <p:spPr>
          <a:xfrm>
            <a:off x="626364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60–84%</a:t>
            </a:r>
            <a:endParaRPr lang="en-US" sz="5800" dirty="0"/>
          </a:p>
        </p:txBody>
      </p:sp>
      <p:sp>
        <p:nvSpPr>
          <p:cNvPr id="12" name="Text 9"/>
          <p:cNvSpPr/>
          <p:nvPr/>
        </p:nvSpPr>
        <p:spPr>
          <a:xfrm>
            <a:off x="653796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using AI for a task, like modifying materials to student levels, say it saves them time</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 2025)</a:t>
            </a:r>
            <a:endParaRPr lang="en-US" sz="1600" dirty="0"/>
          </a:p>
        </p:txBody>
      </p:sp>
      <p:sp>
        <p:nvSpPr>
          <p:cNvPr id="13" name="Text 10"/>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Lesson plans and student resources are among the most common uses. Today we aim it at differentiation.</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4</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7" name="Text 4"/>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8" name="Text 5"/>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planning workflow: where AI fits</a:t>
            </a:r>
            <a:endParaRPr lang="en-US" sz="2000" dirty="0"/>
          </a:p>
        </p:txBody>
      </p:sp>
      <p:sp>
        <p:nvSpPr>
          <p:cNvPr id="9" name="Text 6"/>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0" name="Text 7"/>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toolkit: four differentiation moves</a:t>
            </a:r>
            <a:endParaRPr lang="en-US" sz="2000" dirty="0"/>
          </a:p>
        </p:txBody>
      </p:sp>
      <p:sp>
        <p:nvSpPr>
          <p:cNvPr id="11" name="Text 8"/>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2" name="Text 9"/>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Quality control: the 4-point review</a:t>
            </a:r>
            <a:endParaRPr lang="en-US" sz="2000" dirty="0"/>
          </a:p>
        </p:txBody>
      </p:sp>
      <p:sp>
        <p:nvSpPr>
          <p:cNvPr id="13" name="Text 10"/>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14" name="Text 11"/>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differentiate your real lesson</a:t>
            </a:r>
            <a:endParaRPr lang="en-US" sz="2000" dirty="0"/>
          </a:p>
        </p:txBody>
      </p:sp>
      <p:sp>
        <p:nvSpPr>
          <p:cNvPr id="15" name="Text 12"/>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0:50</a:t>
            </a:r>
            <a:endParaRPr lang="en-US" sz="2000" dirty="0"/>
          </a:p>
        </p:txBody>
      </p:sp>
      <p:sp>
        <p:nvSpPr>
          <p:cNvPr id="16" name="Text 13"/>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17" name="Shape 14"/>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18" name="Text 15"/>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19" name="Text 16"/>
          <p:cNvSpPr/>
          <p:nvPr/>
        </p:nvSpPr>
        <p:spPr>
          <a:xfrm>
            <a:off x="9281160" y="2560320"/>
            <a:ext cx="2148840" cy="210312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leave with one fully differentiated artifact for an upcoming lesson: core, support, extension. Reviewed. Teachable.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5</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STANCE FOR TODAY</a:t>
            </a:r>
            <a:endParaRPr lang="en-US" sz="1200" dirty="0"/>
          </a:p>
        </p:txBody>
      </p:sp>
      <p:sp>
        <p:nvSpPr>
          <p:cNvPr id="6" name="Text 3"/>
          <p:cNvSpPr/>
          <p:nvPr/>
        </p:nvSpPr>
        <p:spPr>
          <a:xfrm>
            <a:off x="640080" y="128016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Never from scratch again.</a:t>
            </a:r>
            <a:endParaRPr lang="en-US" sz="4000" dirty="0"/>
          </a:p>
        </p:txBody>
      </p:sp>
      <p:sp>
        <p:nvSpPr>
          <p:cNvPr id="7" name="Text 4"/>
          <p:cNvSpPr/>
          <p:nvPr/>
        </p:nvSpPr>
        <p:spPr>
          <a:xfrm>
            <a:off x="640080" y="2377440"/>
            <a:ext cx="10972800" cy="1280160"/>
          </a:xfrm>
          <a:prstGeom prst="rect">
            <a:avLst/>
          </a:prstGeom>
          <a:noFill/>
          <a:ln/>
        </p:spPr>
        <p:txBody>
          <a:bodyPr wrap="square" lIns="0" tIns="0" rIns="0" bIns="0" rtlCol="0" anchor="ctr"/>
          <a:lstStyle/>
          <a:p>
            <a:pPr indent="0" marL="0">
              <a:lnSpc>
                <a:spcPct val="120000"/>
              </a:lnSpc>
              <a:buNone/>
            </a:pPr>
            <a:r>
              <a:rPr lang="en-US" sz="2400" dirty="0">
                <a:solidFill>
                  <a:srgbClr val="C9D4DE"/>
                </a:solidFill>
                <a:latin typeface="Inter" pitchFamily="34" charset="0"/>
                <a:ea typeface="Inter" pitchFamily="34" charset="-122"/>
                <a:cs typeface="Inter" pitchFamily="34" charset="-120"/>
              </a:rPr>
              <a:t>Not “never plan again.” Never start from a blank page again.</a:t>
            </a:r>
            <a:endParaRPr lang="en-US" sz="2400" dirty="0"/>
          </a:p>
          <a:p>
            <a:pPr indent="0" marL="0">
              <a:lnSpc>
                <a:spcPct val="120000"/>
              </a:lnSpc>
              <a:buNone/>
            </a:pPr>
            <a:r>
              <a:rPr lang="en-US" sz="2400" dirty="0">
                <a:solidFill>
                  <a:srgbClr val="C9D4DE"/>
                </a:solidFill>
                <a:latin typeface="Inter" pitchFamily="34" charset="0"/>
                <a:ea typeface="Inter" pitchFamily="34" charset="-122"/>
                <a:cs typeface="Inter" pitchFamily="34" charset="-120"/>
              </a:rPr>
              <a:t>The blank page was the most expensive part, and it never needed your expertise.</a:t>
            </a:r>
            <a:endParaRPr lang="en-US" sz="2400" dirty="0"/>
          </a:p>
        </p:txBody>
      </p:sp>
      <p:sp>
        <p:nvSpPr>
          <p:cNvPr id="8" name="Text 5"/>
          <p:cNvSpPr/>
          <p:nvPr/>
        </p:nvSpPr>
        <p:spPr>
          <a:xfrm>
            <a:off x="640080" y="4114800"/>
            <a:ext cx="10972800" cy="109728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AI drafts the skeleton. You supply the judgment. AI drafts, the teacher decides.</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BEST STUDY WE HAVE ON EXACTLY THIS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 lesson plan in 30 minutes. And one catch.</a:t>
            </a:r>
            <a:endParaRPr lang="en-US" sz="3200" dirty="0"/>
          </a:p>
        </p:txBody>
      </p:sp>
      <p:sp>
        <p:nvSpPr>
          <p:cNvPr id="7" name="Shape 4"/>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8" name="Text 5"/>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400" b="1" dirty="0">
                <a:solidFill>
                  <a:srgbClr val="2E7D5B"/>
                </a:solidFill>
                <a:latin typeface="Inter" pitchFamily="34" charset="0"/>
                <a:ea typeface="Inter" pitchFamily="34" charset="-122"/>
                <a:cs typeface="Inter" pitchFamily="34" charset="-120"/>
              </a:rPr>
              <a:t>~30 min</a:t>
            </a:r>
            <a:endParaRPr lang="en-US" sz="5400" dirty="0"/>
          </a:p>
        </p:txBody>
      </p:sp>
      <p:sp>
        <p:nvSpPr>
          <p:cNvPr id="9" name="Text 6"/>
          <p:cNvSpPr/>
          <p:nvPr/>
        </p:nvSpPr>
        <p:spPr>
          <a:xfrm>
            <a:off x="914400" y="3063240"/>
            <a:ext cx="4709160" cy="173736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for ChatGPT to draft and refine a standards-aligned grade 1 science lesson</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(Powell &amp; Courchesne, PLOS ONE, 2024)</a:t>
            </a:r>
            <a:endParaRPr lang="en-US" sz="1550" dirty="0"/>
          </a:p>
        </p:txBody>
      </p:sp>
      <p:sp>
        <p:nvSpPr>
          <p:cNvPr id="10" name="Shape 7"/>
          <p:cNvSpPr/>
          <p:nvPr/>
        </p:nvSpPr>
        <p:spPr>
          <a:xfrm>
            <a:off x="6263640" y="1600200"/>
            <a:ext cx="5257800" cy="3383280"/>
          </a:xfrm>
          <a:prstGeom prst="roundRect">
            <a:avLst>
              <a:gd name="adj" fmla="val 2432"/>
            </a:avLst>
          </a:prstGeom>
          <a:solidFill>
            <a:srgbClr val="FBEFED"/>
          </a:solidFill>
          <a:ln w="12700">
            <a:solidFill>
              <a:srgbClr val="FBEFED"/>
            </a:solidFill>
            <a:prstDash val="solid"/>
          </a:ln>
        </p:spPr>
      </p:sp>
      <p:sp>
        <p:nvSpPr>
          <p:cNvPr id="11" name="Text 8"/>
          <p:cNvSpPr/>
          <p:nvPr/>
        </p:nvSpPr>
        <p:spPr>
          <a:xfrm>
            <a:off x="6263640" y="1828800"/>
            <a:ext cx="5257800" cy="1280160"/>
          </a:xfrm>
          <a:prstGeom prst="rect">
            <a:avLst/>
          </a:prstGeom>
          <a:noFill/>
          <a:ln/>
        </p:spPr>
        <p:txBody>
          <a:bodyPr wrap="square" lIns="0" tIns="0" rIns="0" bIns="0" rtlCol="0" anchor="ctr"/>
          <a:lstStyle/>
          <a:p>
            <a:pPr algn="ctr" indent="0" marL="0">
              <a:lnSpc>
                <a:spcPct val="105000"/>
              </a:lnSpc>
              <a:buNone/>
            </a:pPr>
            <a:r>
              <a:rPr lang="en-US" sz="3200" b="1" dirty="0">
                <a:solidFill>
                  <a:srgbClr val="B4453A"/>
                </a:solidFill>
                <a:latin typeface="Inter" pitchFamily="34" charset="0"/>
                <a:ea typeface="Inter" pitchFamily="34" charset="-122"/>
                <a:cs typeface="Inter" pitchFamily="34" charset="-120"/>
              </a:rPr>
              <a:t>1 fabricated</a:t>
            </a:r>
            <a:endParaRPr lang="en-US" sz="3200" dirty="0"/>
          </a:p>
          <a:p>
            <a:pPr algn="ctr" indent="0" marL="0">
              <a:lnSpc>
                <a:spcPct val="105000"/>
              </a:lnSpc>
              <a:buNone/>
            </a:pPr>
            <a:r>
              <a:rPr lang="en-US" sz="3200" b="1" dirty="0">
                <a:solidFill>
                  <a:srgbClr val="B4453A"/>
                </a:solidFill>
                <a:latin typeface="Inter" pitchFamily="34" charset="0"/>
                <a:ea typeface="Inter" pitchFamily="34" charset="-122"/>
                <a:cs typeface="Inter" pitchFamily="34" charset="-120"/>
              </a:rPr>
              <a:t>resource</a:t>
            </a:r>
            <a:endParaRPr lang="en-US" sz="3200" dirty="0"/>
          </a:p>
        </p:txBody>
      </p:sp>
      <p:sp>
        <p:nvSpPr>
          <p:cNvPr id="12" name="Text 9"/>
          <p:cNvSpPr/>
          <p:nvPr/>
        </p:nvSpPr>
        <p:spPr>
          <a:xfrm>
            <a:off x="6537960" y="3063240"/>
            <a:ext cx="4709160" cy="173736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plus questionable components and missing details along the way, delivered with total confidence</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(same study)</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7</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WHAT THAT STUDY MEANS FOR MONDAY</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Review is where your expertise enters</a:t>
            </a:r>
            <a:endParaRPr lang="en-US" sz="3200" dirty="0"/>
          </a:p>
        </p:txBody>
      </p:sp>
      <p:sp>
        <p:nvSpPr>
          <p:cNvPr id="7" name="Shape 4"/>
          <p:cNvSpPr/>
          <p:nvPr/>
        </p:nvSpPr>
        <p:spPr>
          <a:xfrm>
            <a:off x="640080" y="1554480"/>
            <a:ext cx="10972800" cy="2011680"/>
          </a:xfrm>
          <a:prstGeom prst="roundRect">
            <a:avLst>
              <a:gd name="adj" fmla="val 4091"/>
            </a:avLst>
          </a:prstGeom>
          <a:solidFill>
            <a:srgbClr val="13293D"/>
          </a:solidFill>
          <a:ln w="12700">
            <a:solidFill>
              <a:srgbClr val="13293D"/>
            </a:solidFill>
            <a:prstDash val="solid"/>
          </a:ln>
        </p:spPr>
      </p:sp>
      <p:sp>
        <p:nvSpPr>
          <p:cNvPr id="8" name="Text 5"/>
          <p:cNvSpPr/>
          <p:nvPr/>
        </p:nvSpPr>
        <p:spPr>
          <a:xfrm>
            <a:off x="1005840" y="1783080"/>
            <a:ext cx="10241280" cy="1554480"/>
          </a:xfrm>
          <a:prstGeom prst="rect">
            <a:avLst/>
          </a:prstGeom>
          <a:noFill/>
          <a:ln/>
        </p:spPr>
        <p:txBody>
          <a:bodyPr wrap="square" lIns="0" tIns="0" rIns="0" bIns="0" rtlCol="0" anchor="ctr"/>
          <a:lstStyle/>
          <a:p>
            <a:pPr indent="0" marL="0">
              <a:buNone/>
            </a:pPr>
            <a:r>
              <a:rPr lang="en-US" sz="2400" b="1" dirty="0">
                <a:solidFill>
                  <a:srgbClr val="FFFFFF"/>
                </a:solidFill>
                <a:latin typeface="Inter" pitchFamily="34" charset="0"/>
                <a:ea typeface="Inter" pitchFamily="34" charset="-122"/>
                <a:cs typeface="Inter" pitchFamily="34" charset="-120"/>
              </a:rPr>
              <a:t>Review is not a formality. It’s the step where the teaching expertise enters the document.</a:t>
            </a:r>
            <a:endParaRPr lang="en-US" sz="2400" dirty="0"/>
          </a:p>
        </p:txBody>
      </p:sp>
      <p:sp>
        <p:nvSpPr>
          <p:cNvPr id="9" name="Text 6"/>
          <p:cNvSpPr/>
          <p:nvPr/>
        </p:nvSpPr>
        <p:spPr>
          <a:xfrm>
            <a:off x="640080" y="3840480"/>
            <a:ext cx="10908792" cy="164592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Take the 30 minutes; the skeleton is real and it’s useful</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Then review like a professional: the study’s authors and every kit in this series agree it’s non-negotiable</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8</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FRAME THAT MAKES AI USEFUL, NOT JUST FAST</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UDL: generate options, then choose</a:t>
            </a:r>
            <a:endParaRPr lang="en-US" sz="3200" dirty="0"/>
          </a:p>
        </p:txBody>
      </p:sp>
      <p:sp>
        <p:nvSpPr>
          <p:cNvPr id="7" name="Shape 4"/>
          <p:cNvSpPr/>
          <p:nvPr/>
        </p:nvSpPr>
        <p:spPr>
          <a:xfrm>
            <a:off x="640080" y="1554480"/>
            <a:ext cx="3520440" cy="2743200"/>
          </a:xfrm>
          <a:prstGeom prst="roundRect">
            <a:avLst>
              <a:gd name="adj" fmla="val 3000"/>
            </a:avLst>
          </a:prstGeom>
          <a:solidFill>
            <a:srgbClr val="F7F5F0"/>
          </a:solidFill>
          <a:ln w="12700">
            <a:solidFill>
              <a:srgbClr val="F7F5F0"/>
            </a:solidFill>
            <a:prstDash val="solid"/>
          </a:ln>
        </p:spPr>
      </p:sp>
      <p:sp>
        <p:nvSpPr>
          <p:cNvPr id="8" name="Text 5"/>
          <p:cNvSpPr/>
          <p:nvPr/>
        </p:nvSpPr>
        <p:spPr>
          <a:xfrm>
            <a:off x="896112" y="1828800"/>
            <a:ext cx="301752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Engagement</a:t>
            </a:r>
            <a:endParaRPr lang="en-US" sz="1900" dirty="0"/>
          </a:p>
        </p:txBody>
      </p:sp>
      <p:sp>
        <p:nvSpPr>
          <p:cNvPr id="9" name="Text 6"/>
          <p:cNvSpPr/>
          <p:nvPr/>
        </p:nvSpPr>
        <p:spPr>
          <a:xfrm>
            <a:off x="896112" y="2606040"/>
            <a:ext cx="3017520" cy="146304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Multiple ways in: choice, relevance, challenge level</a:t>
            </a:r>
            <a:endParaRPr lang="en-US" sz="1500" dirty="0"/>
          </a:p>
        </p:txBody>
      </p:sp>
      <p:sp>
        <p:nvSpPr>
          <p:cNvPr id="10" name="Shape 7"/>
          <p:cNvSpPr/>
          <p:nvPr/>
        </p:nvSpPr>
        <p:spPr>
          <a:xfrm>
            <a:off x="4407408" y="1554480"/>
            <a:ext cx="3520440" cy="2743200"/>
          </a:xfrm>
          <a:prstGeom prst="roundRect">
            <a:avLst>
              <a:gd name="adj" fmla="val 3000"/>
            </a:avLst>
          </a:prstGeom>
          <a:solidFill>
            <a:srgbClr val="F7F5F0"/>
          </a:solidFill>
          <a:ln w="12700">
            <a:solidFill>
              <a:srgbClr val="F7F5F0"/>
            </a:solidFill>
            <a:prstDash val="solid"/>
          </a:ln>
        </p:spPr>
      </p:sp>
      <p:sp>
        <p:nvSpPr>
          <p:cNvPr id="11" name="Text 8"/>
          <p:cNvSpPr/>
          <p:nvPr/>
        </p:nvSpPr>
        <p:spPr>
          <a:xfrm>
            <a:off x="4663440" y="1828800"/>
            <a:ext cx="301752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Representation</a:t>
            </a:r>
            <a:endParaRPr lang="en-US" sz="1900" dirty="0"/>
          </a:p>
        </p:txBody>
      </p:sp>
      <p:sp>
        <p:nvSpPr>
          <p:cNvPr id="12" name="Text 9"/>
          <p:cNvSpPr/>
          <p:nvPr/>
        </p:nvSpPr>
        <p:spPr>
          <a:xfrm>
            <a:off x="4663440" y="2606040"/>
            <a:ext cx="3017520" cy="146304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Multiple ways to meet the content: text, levels, visuals described</a:t>
            </a:r>
            <a:endParaRPr lang="en-US" sz="1500" dirty="0"/>
          </a:p>
        </p:txBody>
      </p:sp>
      <p:sp>
        <p:nvSpPr>
          <p:cNvPr id="13" name="Shape 10"/>
          <p:cNvSpPr/>
          <p:nvPr/>
        </p:nvSpPr>
        <p:spPr>
          <a:xfrm>
            <a:off x="8174736" y="1554480"/>
            <a:ext cx="3520440" cy="2743200"/>
          </a:xfrm>
          <a:prstGeom prst="roundRect">
            <a:avLst>
              <a:gd name="adj" fmla="val 3000"/>
            </a:avLst>
          </a:prstGeom>
          <a:solidFill>
            <a:srgbClr val="F7F5F0"/>
          </a:solidFill>
          <a:ln w="12700">
            <a:solidFill>
              <a:srgbClr val="F7F5F0"/>
            </a:solidFill>
            <a:prstDash val="solid"/>
          </a:ln>
        </p:spPr>
      </p:sp>
      <p:sp>
        <p:nvSpPr>
          <p:cNvPr id="14" name="Text 11"/>
          <p:cNvSpPr/>
          <p:nvPr/>
        </p:nvSpPr>
        <p:spPr>
          <a:xfrm>
            <a:off x="8430768" y="1828800"/>
            <a:ext cx="301752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Action &amp; expression</a:t>
            </a:r>
            <a:endParaRPr lang="en-US" sz="1900" dirty="0"/>
          </a:p>
        </p:txBody>
      </p:sp>
      <p:sp>
        <p:nvSpPr>
          <p:cNvPr id="15" name="Text 12"/>
          <p:cNvSpPr/>
          <p:nvPr/>
        </p:nvSpPr>
        <p:spPr>
          <a:xfrm>
            <a:off x="8430768" y="2606040"/>
            <a:ext cx="3017520" cy="146304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Multiple ways to show it: write, build, discuss, teach back</a:t>
            </a:r>
            <a:endParaRPr lang="en-US" sz="1500" dirty="0"/>
          </a:p>
        </p:txBody>
      </p:sp>
      <p:sp>
        <p:nvSpPr>
          <p:cNvPr id="16" name="Text 13"/>
          <p:cNvSpPr/>
          <p:nvPr/>
        </p:nvSpPr>
        <p:spPr>
          <a:xfrm>
            <a:off x="640080" y="4663440"/>
            <a:ext cx="10972800" cy="914400"/>
          </a:xfrm>
          <a:prstGeom prst="rect">
            <a:avLst/>
          </a:prstGeom>
          <a:noFill/>
          <a:ln/>
        </p:spPr>
        <p:txBody>
          <a:bodyPr wrap="square" lIns="0" tIns="0" rIns="0" bIns="0" rtlCol="0" anchor="ctr"/>
          <a:lstStyle/>
          <a:p>
            <a:pPr algn="ctr" indent="0" marL="0">
              <a:lnSpc>
                <a:spcPct val="115000"/>
              </a:lnSpc>
              <a:buNone/>
            </a:pPr>
            <a:r>
              <a:rPr lang="en-US" sz="1800" b="1" dirty="0">
                <a:solidFill>
                  <a:srgbClr val="13293D"/>
                </a:solidFill>
                <a:latin typeface="Inter" pitchFamily="34" charset="0"/>
                <a:ea typeface="Inter" pitchFamily="34" charset="-122"/>
                <a:cs typeface="Inter" pitchFamily="34" charset="-120"/>
              </a:rPr>
              <a:t>Options were always UDL’s cost problem. Generating options is the thing AI does fastest.</a:t>
            </a:r>
            <a:endParaRPr lang="en-US" sz="1800" dirty="0"/>
          </a:p>
          <a:p>
            <a:pPr algn="ctr" indent="0" marL="0">
              <a:lnSpc>
                <a:spcPct val="115000"/>
              </a:lnSpc>
              <a:buNone/>
            </a:pPr>
            <a:r>
              <a:rPr lang="en-US" sz="1800" b="1" dirty="0">
                <a:solidFill>
                  <a:srgbClr val="13293D"/>
                </a:solidFill>
                <a:latin typeface="Inter" pitchFamily="34" charset="0"/>
                <a:ea typeface="Inter" pitchFamily="34" charset="-122"/>
                <a:cs typeface="Inter" pitchFamily="34" charset="-120"/>
              </a:rPr>
              <a:t>AI generates the menu; you order for your class. (CAST UDL 3.0; Capp, 2017)</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WHOLE SYSTEM</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planning workflow</a:t>
            </a:r>
            <a:endParaRPr lang="en-US" sz="3200" dirty="0"/>
          </a:p>
        </p:txBody>
      </p:sp>
      <p:sp>
        <p:nvSpPr>
          <p:cNvPr id="7" name="Shape 4"/>
          <p:cNvSpPr/>
          <p:nvPr/>
        </p:nvSpPr>
        <p:spPr>
          <a:xfrm>
            <a:off x="822960" y="1572768"/>
            <a:ext cx="658368" cy="658368"/>
          </a:xfrm>
          <a:prstGeom prst="ellipse">
            <a:avLst/>
          </a:prstGeom>
          <a:solidFill>
            <a:srgbClr val="2A9D8F"/>
          </a:solidFill>
          <a:ln w="12700">
            <a:solidFill>
              <a:srgbClr val="2A9D8F"/>
            </a:solidFill>
            <a:prstDash val="solid"/>
          </a:ln>
        </p:spPr>
      </p:sp>
      <p:sp>
        <p:nvSpPr>
          <p:cNvPr id="8" name="Text 5"/>
          <p:cNvSpPr/>
          <p:nvPr/>
        </p:nvSpPr>
        <p:spPr>
          <a:xfrm>
            <a:off x="822960" y="157276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1</a:t>
            </a:r>
            <a:endParaRPr lang="en-US" sz="2200" dirty="0"/>
          </a:p>
        </p:txBody>
      </p:sp>
      <p:sp>
        <p:nvSpPr>
          <p:cNvPr id="9" name="Shape 6"/>
          <p:cNvSpPr/>
          <p:nvPr/>
        </p:nvSpPr>
        <p:spPr>
          <a:xfrm>
            <a:off x="1783080" y="1463040"/>
            <a:ext cx="9784080" cy="868680"/>
          </a:xfrm>
          <a:prstGeom prst="roundRect">
            <a:avLst>
              <a:gd name="adj" fmla="val 9474"/>
            </a:avLst>
          </a:prstGeom>
          <a:solidFill>
            <a:srgbClr val="F7F5F0"/>
          </a:solidFill>
          <a:ln w="12700">
            <a:solidFill>
              <a:srgbClr val="F7F5F0"/>
            </a:solidFill>
            <a:prstDash val="solid"/>
          </a:ln>
        </p:spPr>
      </p:sp>
      <p:sp>
        <p:nvSpPr>
          <p:cNvPr id="10" name="Text 7"/>
          <p:cNvSpPr/>
          <p:nvPr/>
        </p:nvSpPr>
        <p:spPr>
          <a:xfrm>
            <a:off x="2103120" y="153619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Draft:  </a:t>
            </a:r>
            <a:pPr indent="0" marL="0">
              <a:buNone/>
            </a:pPr>
            <a:r>
              <a:rPr lang="en-US" sz="1800" dirty="0">
                <a:solidFill>
                  <a:srgbClr val="1B1F24"/>
                </a:solidFill>
                <a:latin typeface="Inter" pitchFamily="34" charset="0"/>
                <a:ea typeface="Inter" pitchFamily="34" charset="-122"/>
                <a:cs typeface="Inter" pitchFamily="34" charset="-120"/>
              </a:rPr>
              <a:t>the core artifact with the Kit 2 formula</a:t>
            </a:r>
            <a:endParaRPr lang="en-US" sz="1800" dirty="0"/>
          </a:p>
        </p:txBody>
      </p:sp>
      <p:sp>
        <p:nvSpPr>
          <p:cNvPr id="11" name="Shape 8"/>
          <p:cNvSpPr/>
          <p:nvPr/>
        </p:nvSpPr>
        <p:spPr>
          <a:xfrm>
            <a:off x="822960" y="2624328"/>
            <a:ext cx="658368" cy="658368"/>
          </a:xfrm>
          <a:prstGeom prst="ellipse">
            <a:avLst/>
          </a:prstGeom>
          <a:solidFill>
            <a:srgbClr val="2A9D8F"/>
          </a:solidFill>
          <a:ln w="12700">
            <a:solidFill>
              <a:srgbClr val="2A9D8F"/>
            </a:solidFill>
            <a:prstDash val="solid"/>
          </a:ln>
        </p:spPr>
      </p:sp>
      <p:sp>
        <p:nvSpPr>
          <p:cNvPr id="12" name="Text 9"/>
          <p:cNvSpPr/>
          <p:nvPr/>
        </p:nvSpPr>
        <p:spPr>
          <a:xfrm>
            <a:off x="822960" y="262432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2</a:t>
            </a:r>
            <a:endParaRPr lang="en-US" sz="2200" dirty="0"/>
          </a:p>
        </p:txBody>
      </p:sp>
      <p:sp>
        <p:nvSpPr>
          <p:cNvPr id="13" name="Shape 10"/>
          <p:cNvSpPr/>
          <p:nvPr/>
        </p:nvSpPr>
        <p:spPr>
          <a:xfrm>
            <a:off x="1783080" y="2514600"/>
            <a:ext cx="9784080" cy="868680"/>
          </a:xfrm>
          <a:prstGeom prst="roundRect">
            <a:avLst>
              <a:gd name="adj" fmla="val 9474"/>
            </a:avLst>
          </a:prstGeom>
          <a:solidFill>
            <a:srgbClr val="F7F5F0"/>
          </a:solidFill>
          <a:ln w="12700">
            <a:solidFill>
              <a:srgbClr val="F7F5F0"/>
            </a:solidFill>
            <a:prstDash val="solid"/>
          </a:ln>
        </p:spPr>
      </p:sp>
      <p:sp>
        <p:nvSpPr>
          <p:cNvPr id="14" name="Text 11"/>
          <p:cNvSpPr/>
          <p:nvPr/>
        </p:nvSpPr>
        <p:spPr>
          <a:xfrm>
            <a:off x="2103120" y="258775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Options:  </a:t>
            </a:r>
            <a:pPr indent="0" marL="0">
              <a:buNone/>
            </a:pPr>
            <a:r>
              <a:rPr lang="en-US" sz="1800" dirty="0">
                <a:solidFill>
                  <a:srgbClr val="1B1F24"/>
                </a:solidFill>
                <a:latin typeface="Inter" pitchFamily="34" charset="0"/>
                <a:ea typeface="Inter" pitchFamily="34" charset="-122"/>
                <a:cs typeface="Inter" pitchFamily="34" charset="-120"/>
              </a:rPr>
              <a:t>ask AI to vary it: levels, scaffolds, formats</a:t>
            </a:r>
            <a:endParaRPr lang="en-US" sz="1800" dirty="0"/>
          </a:p>
        </p:txBody>
      </p:sp>
      <p:sp>
        <p:nvSpPr>
          <p:cNvPr id="15" name="Shape 12"/>
          <p:cNvSpPr/>
          <p:nvPr/>
        </p:nvSpPr>
        <p:spPr>
          <a:xfrm>
            <a:off x="822960" y="3675888"/>
            <a:ext cx="658368" cy="658368"/>
          </a:xfrm>
          <a:prstGeom prst="ellipse">
            <a:avLst/>
          </a:prstGeom>
          <a:solidFill>
            <a:srgbClr val="2A9D8F"/>
          </a:solidFill>
          <a:ln w="12700">
            <a:solidFill>
              <a:srgbClr val="2A9D8F"/>
            </a:solidFill>
            <a:prstDash val="solid"/>
          </a:ln>
        </p:spPr>
      </p:sp>
      <p:sp>
        <p:nvSpPr>
          <p:cNvPr id="16" name="Text 13"/>
          <p:cNvSpPr/>
          <p:nvPr/>
        </p:nvSpPr>
        <p:spPr>
          <a:xfrm>
            <a:off x="822960" y="367588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3</a:t>
            </a:r>
            <a:endParaRPr lang="en-US" sz="2200" dirty="0"/>
          </a:p>
        </p:txBody>
      </p:sp>
      <p:sp>
        <p:nvSpPr>
          <p:cNvPr id="17" name="Shape 14"/>
          <p:cNvSpPr/>
          <p:nvPr/>
        </p:nvSpPr>
        <p:spPr>
          <a:xfrm>
            <a:off x="1783080" y="3566160"/>
            <a:ext cx="9784080" cy="868680"/>
          </a:xfrm>
          <a:prstGeom prst="roundRect">
            <a:avLst>
              <a:gd name="adj" fmla="val 9474"/>
            </a:avLst>
          </a:prstGeom>
          <a:solidFill>
            <a:srgbClr val="F7F5F0"/>
          </a:solidFill>
          <a:ln w="12700">
            <a:solidFill>
              <a:srgbClr val="F7F5F0"/>
            </a:solidFill>
            <a:prstDash val="solid"/>
          </a:ln>
        </p:spPr>
      </p:sp>
      <p:sp>
        <p:nvSpPr>
          <p:cNvPr id="18" name="Text 15"/>
          <p:cNvSpPr/>
          <p:nvPr/>
        </p:nvSpPr>
        <p:spPr>
          <a:xfrm>
            <a:off x="2103120" y="363931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Pick &amp; adapt:  </a:t>
            </a:r>
            <a:pPr indent="0" marL="0">
              <a:buNone/>
            </a:pPr>
            <a:r>
              <a:rPr lang="en-US" sz="1800" dirty="0">
                <a:solidFill>
                  <a:srgbClr val="1B1F24"/>
                </a:solidFill>
                <a:latin typeface="Inter" pitchFamily="34" charset="0"/>
                <a:ea typeface="Inter" pitchFamily="34" charset="-122"/>
                <a:cs typeface="Inter" pitchFamily="34" charset="-120"/>
              </a:rPr>
              <a:t>you know which option fits which kid</a:t>
            </a:r>
            <a:endParaRPr lang="en-US" sz="1800" dirty="0"/>
          </a:p>
        </p:txBody>
      </p:sp>
      <p:sp>
        <p:nvSpPr>
          <p:cNvPr id="19" name="Shape 16"/>
          <p:cNvSpPr/>
          <p:nvPr/>
        </p:nvSpPr>
        <p:spPr>
          <a:xfrm>
            <a:off x="822960" y="4727448"/>
            <a:ext cx="658368" cy="658368"/>
          </a:xfrm>
          <a:prstGeom prst="ellipse">
            <a:avLst/>
          </a:prstGeom>
          <a:solidFill>
            <a:srgbClr val="2A9D8F"/>
          </a:solidFill>
          <a:ln w="12700">
            <a:solidFill>
              <a:srgbClr val="2A9D8F"/>
            </a:solidFill>
            <a:prstDash val="solid"/>
          </a:ln>
        </p:spPr>
      </p:sp>
      <p:sp>
        <p:nvSpPr>
          <p:cNvPr id="20" name="Text 17"/>
          <p:cNvSpPr/>
          <p:nvPr/>
        </p:nvSpPr>
        <p:spPr>
          <a:xfrm>
            <a:off x="822960" y="472744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4</a:t>
            </a:r>
            <a:endParaRPr lang="en-US" sz="2200" dirty="0"/>
          </a:p>
        </p:txBody>
      </p:sp>
      <p:sp>
        <p:nvSpPr>
          <p:cNvPr id="21" name="Shape 18"/>
          <p:cNvSpPr/>
          <p:nvPr/>
        </p:nvSpPr>
        <p:spPr>
          <a:xfrm>
            <a:off x="1783080" y="4617720"/>
            <a:ext cx="9784080" cy="868680"/>
          </a:xfrm>
          <a:prstGeom prst="roundRect">
            <a:avLst>
              <a:gd name="adj" fmla="val 9474"/>
            </a:avLst>
          </a:prstGeom>
          <a:solidFill>
            <a:srgbClr val="F7F5F0"/>
          </a:solidFill>
          <a:ln w="12700">
            <a:solidFill>
              <a:srgbClr val="F7F5F0"/>
            </a:solidFill>
            <a:prstDash val="solid"/>
          </a:ln>
        </p:spPr>
      </p:sp>
      <p:sp>
        <p:nvSpPr>
          <p:cNvPr id="22" name="Text 19"/>
          <p:cNvSpPr/>
          <p:nvPr/>
        </p:nvSpPr>
        <p:spPr>
          <a:xfrm>
            <a:off x="2103120" y="469087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Review:  </a:t>
            </a:r>
            <a:pPr indent="0" marL="0">
              <a:buNone/>
            </a:pPr>
            <a:r>
              <a:rPr lang="en-US" sz="1800" dirty="0">
                <a:solidFill>
                  <a:srgbClr val="1B1F24"/>
                </a:solidFill>
                <a:latin typeface="Inter" pitchFamily="34" charset="0"/>
                <a:ea typeface="Inter" pitchFamily="34" charset="-122"/>
                <a:cs typeface="Inter" pitchFamily="34" charset="-120"/>
              </a:rPr>
              <a:t>the 4-point check before it reaches a student</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10</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DIFFERENTIATION TOOLKIT</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Four moves. New price, same pedagogy.</a:t>
            </a:r>
            <a:endParaRPr lang="en-US" sz="3200" dirty="0"/>
          </a:p>
        </p:txBody>
      </p:sp>
      <p:sp>
        <p:nvSpPr>
          <p:cNvPr id="7" name="Shape 4"/>
          <p:cNvSpPr/>
          <p:nvPr/>
        </p:nvSpPr>
        <p:spPr>
          <a:xfrm>
            <a:off x="640080" y="1417320"/>
            <a:ext cx="5349240" cy="1920240"/>
          </a:xfrm>
          <a:prstGeom prst="roundRect">
            <a:avLst>
              <a:gd name="adj" fmla="val 4286"/>
            </a:avLst>
          </a:prstGeom>
          <a:solidFill>
            <a:srgbClr val="F7F5F0"/>
          </a:solidFill>
          <a:ln w="12700">
            <a:solidFill>
              <a:srgbClr val="F7F5F0"/>
            </a:solidFill>
            <a:prstDash val="solid"/>
          </a:ln>
        </p:spPr>
      </p:sp>
      <p:sp>
        <p:nvSpPr>
          <p:cNvPr id="8" name="Text 5"/>
          <p:cNvSpPr/>
          <p:nvPr/>
        </p:nvSpPr>
        <p:spPr>
          <a:xfrm>
            <a:off x="914400" y="161848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Level it</a:t>
            </a:r>
            <a:endParaRPr lang="en-US" sz="2400" dirty="0"/>
          </a:p>
        </p:txBody>
      </p:sp>
      <p:sp>
        <p:nvSpPr>
          <p:cNvPr id="9" name="Text 6"/>
          <p:cNvSpPr/>
          <p:nvPr/>
        </p:nvSpPr>
        <p:spPr>
          <a:xfrm>
            <a:off x="914400" y="224028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One passage, multiple reading levels</a:t>
            </a:r>
            <a:endParaRPr lang="en-US" sz="1700" dirty="0"/>
          </a:p>
        </p:txBody>
      </p:sp>
      <p:sp>
        <p:nvSpPr>
          <p:cNvPr id="10" name="Shape 7"/>
          <p:cNvSpPr/>
          <p:nvPr/>
        </p:nvSpPr>
        <p:spPr>
          <a:xfrm>
            <a:off x="6263640" y="1417320"/>
            <a:ext cx="5349240" cy="1920240"/>
          </a:xfrm>
          <a:prstGeom prst="roundRect">
            <a:avLst>
              <a:gd name="adj" fmla="val 4286"/>
            </a:avLst>
          </a:prstGeom>
          <a:solidFill>
            <a:srgbClr val="F7F5F0"/>
          </a:solidFill>
          <a:ln w="12700">
            <a:solidFill>
              <a:srgbClr val="F7F5F0"/>
            </a:solidFill>
            <a:prstDash val="solid"/>
          </a:ln>
        </p:spPr>
      </p:sp>
      <p:sp>
        <p:nvSpPr>
          <p:cNvPr id="11" name="Text 8"/>
          <p:cNvSpPr/>
          <p:nvPr/>
        </p:nvSpPr>
        <p:spPr>
          <a:xfrm>
            <a:off x="6537960" y="161848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Scaffold it</a:t>
            </a:r>
            <a:endParaRPr lang="en-US" sz="2400" dirty="0"/>
          </a:p>
        </p:txBody>
      </p:sp>
      <p:sp>
        <p:nvSpPr>
          <p:cNvPr id="12" name="Text 9"/>
          <p:cNvSpPr/>
          <p:nvPr/>
        </p:nvSpPr>
        <p:spPr>
          <a:xfrm>
            <a:off x="6537960" y="224028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Starters, word banks, worked examples, organizers</a:t>
            </a:r>
            <a:endParaRPr lang="en-US" sz="1700" dirty="0"/>
          </a:p>
        </p:txBody>
      </p:sp>
      <p:sp>
        <p:nvSpPr>
          <p:cNvPr id="13" name="Shape 10"/>
          <p:cNvSpPr/>
          <p:nvPr/>
        </p:nvSpPr>
        <p:spPr>
          <a:xfrm>
            <a:off x="640080" y="3520440"/>
            <a:ext cx="5349240" cy="1920240"/>
          </a:xfrm>
          <a:prstGeom prst="roundRect">
            <a:avLst>
              <a:gd name="adj" fmla="val 4286"/>
            </a:avLst>
          </a:prstGeom>
          <a:solidFill>
            <a:srgbClr val="F7F5F0"/>
          </a:solidFill>
          <a:ln w="12700">
            <a:solidFill>
              <a:srgbClr val="F7F5F0"/>
            </a:solidFill>
            <a:prstDash val="solid"/>
          </a:ln>
        </p:spPr>
      </p:sp>
      <p:sp>
        <p:nvSpPr>
          <p:cNvPr id="14" name="Text 11"/>
          <p:cNvSpPr/>
          <p:nvPr/>
        </p:nvSpPr>
        <p:spPr>
          <a:xfrm>
            <a:off x="914400" y="372160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Stretch it</a:t>
            </a:r>
            <a:endParaRPr lang="en-US" sz="2400" dirty="0"/>
          </a:p>
        </p:txBody>
      </p:sp>
      <p:sp>
        <p:nvSpPr>
          <p:cNvPr id="15" name="Text 12"/>
          <p:cNvSpPr/>
          <p:nvPr/>
        </p:nvSpPr>
        <p:spPr>
          <a:xfrm>
            <a:off x="914400" y="434340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Depth for early finishers, never more worksheets</a:t>
            </a:r>
            <a:endParaRPr lang="en-US" sz="1700" dirty="0"/>
          </a:p>
        </p:txBody>
      </p:sp>
      <p:sp>
        <p:nvSpPr>
          <p:cNvPr id="16" name="Shape 13"/>
          <p:cNvSpPr/>
          <p:nvPr/>
        </p:nvSpPr>
        <p:spPr>
          <a:xfrm>
            <a:off x="6263640" y="3520440"/>
            <a:ext cx="5349240" cy="1920240"/>
          </a:xfrm>
          <a:prstGeom prst="roundRect">
            <a:avLst>
              <a:gd name="adj" fmla="val 4286"/>
            </a:avLst>
          </a:prstGeom>
          <a:solidFill>
            <a:srgbClr val="F7F5F0"/>
          </a:solidFill>
          <a:ln w="12700">
            <a:solidFill>
              <a:srgbClr val="F7F5F0"/>
            </a:solidFill>
            <a:prstDash val="solid"/>
          </a:ln>
        </p:spPr>
      </p:sp>
      <p:sp>
        <p:nvSpPr>
          <p:cNvPr id="17" name="Text 14"/>
          <p:cNvSpPr/>
          <p:nvPr/>
        </p:nvSpPr>
        <p:spPr>
          <a:xfrm>
            <a:off x="6537960" y="372160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Reformat it</a:t>
            </a:r>
            <a:endParaRPr lang="en-US" sz="2400" dirty="0"/>
          </a:p>
        </p:txBody>
      </p:sp>
      <p:sp>
        <p:nvSpPr>
          <p:cNvPr id="18" name="Text 15"/>
          <p:cNvSpPr/>
          <p:nvPr/>
        </p:nvSpPr>
        <p:spPr>
          <a:xfrm>
            <a:off x="6537960" y="434340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Same content as stations, cards, practice sets</a:t>
            </a:r>
            <a:endParaRPr lang="en-US" sz="1700" dirty="0"/>
          </a:p>
        </p:txBody>
      </p:sp>
      <p:sp>
        <p:nvSpPr>
          <p:cNvPr id="19" name="Text 16"/>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700" i="1" dirty="0">
                <a:solidFill>
                  <a:srgbClr val="5B6B7A"/>
                </a:solidFill>
                <a:latin typeface="Inter" pitchFamily="34" charset="0"/>
                <a:ea typeface="Inter" pitchFamily="34" charset="-122"/>
                <a:cs typeface="Inter" pitchFamily="34" charset="-120"/>
              </a:rPr>
              <a:t>Tomlinson’s frame: readiness (moves 1–3), interest and profile (move 4).</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1 · THE WORKHORSE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Level it: one passage, three levels</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“Make this easier.”</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514600"/>
            <a:ext cx="9189720" cy="246888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 reading specialist.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Rewrite the passage below at three levels: on-grade for 6th grade, about two years below, and about two years above.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Keep every key idea, the section headings, and the same core vocabulary.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Lower level: sentences under 12 words plus a 5-word vocabulary box. Higher level: raise the complexity of the reasoning, not just the vocabulary. Label each version.”  [paste passage]</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HABIT THAT KEEPS MOVE 1 HONEST</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Check the level. Don’t trust the label.</a:t>
            </a:r>
            <a:endParaRPr lang="en-US" sz="3200" dirty="0"/>
          </a:p>
        </p:txBody>
      </p:sp>
      <p:sp>
        <p:nvSpPr>
          <p:cNvPr id="7" name="Shape 4"/>
          <p:cNvSpPr/>
          <p:nvPr/>
        </p:nvSpPr>
        <p:spPr>
          <a:xfrm>
            <a:off x="822960" y="1554480"/>
            <a:ext cx="566928" cy="566928"/>
          </a:xfrm>
          <a:prstGeom prst="ellipse">
            <a:avLst/>
          </a:prstGeom>
          <a:solidFill>
            <a:srgbClr val="2A9D8F"/>
          </a:solidFill>
          <a:ln w="12700">
            <a:solidFill>
              <a:srgbClr val="2A9D8F"/>
            </a:solidFill>
            <a:prstDash val="solid"/>
          </a:ln>
        </p:spPr>
      </p:sp>
      <p:sp>
        <p:nvSpPr>
          <p:cNvPr id="8" name="Text 5"/>
          <p:cNvSpPr/>
          <p:nvPr/>
        </p:nvSpPr>
        <p:spPr>
          <a:xfrm>
            <a:off x="822960" y="1554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9" name="Text 6"/>
          <p:cNvSpPr/>
          <p:nvPr/>
        </p:nvSpPr>
        <p:spPr>
          <a:xfrm>
            <a:off x="1600200" y="1508760"/>
            <a:ext cx="9875520" cy="658368"/>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Read a paragraph aloud: your ear knows your grade level</a:t>
            </a:r>
            <a:endParaRPr lang="en-US" sz="2000" dirty="0"/>
          </a:p>
        </p:txBody>
      </p:sp>
      <p:sp>
        <p:nvSpPr>
          <p:cNvPr id="10" name="Shape 7"/>
          <p:cNvSpPr/>
          <p:nvPr/>
        </p:nvSpPr>
        <p:spPr>
          <a:xfrm>
            <a:off x="822960" y="2468880"/>
            <a:ext cx="566928" cy="566928"/>
          </a:xfrm>
          <a:prstGeom prst="ellipse">
            <a:avLst/>
          </a:prstGeom>
          <a:solidFill>
            <a:srgbClr val="2A9D8F"/>
          </a:solidFill>
          <a:ln w="12700">
            <a:solidFill>
              <a:srgbClr val="2A9D8F"/>
            </a:solidFill>
            <a:prstDash val="solid"/>
          </a:ln>
        </p:spPr>
      </p:sp>
      <p:sp>
        <p:nvSpPr>
          <p:cNvPr id="11" name="Text 8"/>
          <p:cNvSpPr/>
          <p:nvPr/>
        </p:nvSpPr>
        <p:spPr>
          <a:xfrm>
            <a:off x="822960" y="24688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12" name="Text 9"/>
          <p:cNvSpPr/>
          <p:nvPr/>
        </p:nvSpPr>
        <p:spPr>
          <a:xfrm>
            <a:off x="1600200" y="2423160"/>
            <a:ext cx="9875520" cy="658368"/>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Eyeball sentence length: 25-word sentences aren’t “easier”</a:t>
            </a:r>
            <a:endParaRPr lang="en-US" sz="2000" dirty="0"/>
          </a:p>
        </p:txBody>
      </p:sp>
      <p:sp>
        <p:nvSpPr>
          <p:cNvPr id="13" name="Shape 10"/>
          <p:cNvSpPr/>
          <p:nvPr/>
        </p:nvSpPr>
        <p:spPr>
          <a:xfrm>
            <a:off x="822960" y="3383280"/>
            <a:ext cx="566928" cy="566928"/>
          </a:xfrm>
          <a:prstGeom prst="ellipse">
            <a:avLst/>
          </a:prstGeom>
          <a:solidFill>
            <a:srgbClr val="2A9D8F"/>
          </a:solidFill>
          <a:ln w="12700">
            <a:solidFill>
              <a:srgbClr val="2A9D8F"/>
            </a:solidFill>
            <a:prstDash val="solid"/>
          </a:ln>
        </p:spPr>
      </p:sp>
      <p:sp>
        <p:nvSpPr>
          <p:cNvPr id="14" name="Text 11"/>
          <p:cNvSpPr/>
          <p:nvPr/>
        </p:nvSpPr>
        <p:spPr>
          <a:xfrm>
            <a:off x="822960" y="33832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15" name="Text 12"/>
          <p:cNvSpPr/>
          <p:nvPr/>
        </p:nvSpPr>
        <p:spPr>
          <a:xfrm>
            <a:off x="1600200" y="3337560"/>
            <a:ext cx="9875520" cy="658368"/>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Try it on one student tomorrow and watch where they stumble</a:t>
            </a:r>
            <a:endParaRPr lang="en-US" sz="2000" dirty="0"/>
          </a:p>
        </p:txBody>
      </p:sp>
      <p:sp>
        <p:nvSpPr>
          <p:cNvPr id="16" name="Shape 13"/>
          <p:cNvSpPr/>
          <p:nvPr/>
        </p:nvSpPr>
        <p:spPr>
          <a:xfrm>
            <a:off x="640080" y="4480560"/>
            <a:ext cx="10972800" cy="1234440"/>
          </a:xfrm>
          <a:prstGeom prst="roundRect">
            <a:avLst>
              <a:gd name="adj" fmla="val 6667"/>
            </a:avLst>
          </a:prstGeom>
          <a:solidFill>
            <a:srgbClr val="EAF5F3"/>
          </a:solidFill>
          <a:ln w="12700">
            <a:solidFill>
              <a:srgbClr val="EAF5F3"/>
            </a:solidFill>
            <a:prstDash val="solid"/>
          </a:ln>
        </p:spPr>
      </p:sp>
      <p:sp>
        <p:nvSpPr>
          <p:cNvPr id="17" name="Text 14"/>
          <p:cNvSpPr/>
          <p:nvPr/>
        </p:nvSpPr>
        <p:spPr>
          <a:xfrm>
            <a:off x="960120" y="4617720"/>
            <a:ext cx="10332720" cy="960120"/>
          </a:xfrm>
          <a:prstGeom prst="rect">
            <a:avLst/>
          </a:prstGeom>
          <a:noFill/>
          <a:ln/>
        </p:spPr>
        <p:txBody>
          <a:bodyPr wrap="square" lIns="0" tIns="0" rIns="0" bIns="0" rtlCol="0" anchor="ctr"/>
          <a:lstStyle/>
          <a:p>
            <a:pPr indent="0" marL="0">
              <a:buNone/>
            </a:pPr>
            <a:r>
              <a:rPr lang="en-US" sz="1650" b="1" dirty="0">
                <a:solidFill>
                  <a:srgbClr val="13293D"/>
                </a:solidFill>
                <a:latin typeface="Inter" pitchFamily="34" charset="0"/>
                <a:ea typeface="Inter" pitchFamily="34" charset="-122"/>
                <a:cs typeface="Inter" pitchFamily="34" charset="-120"/>
              </a:rPr>
              <a:t>Readability is measurable; teacher judgment is the benchmark. That’s the point of the CLEAR corpus research. Verify in two minutes; keep everything the leveling bought you.</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2 · SAME TARGET, MORE HANDHOLDS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Scaffold it</a:t>
            </a:r>
            <a:endParaRPr lang="en-US" sz="3200" dirty="0"/>
          </a:p>
        </p:txBody>
      </p:sp>
      <p:sp>
        <p:nvSpPr>
          <p:cNvPr id="7" name="Shape 4"/>
          <p:cNvSpPr/>
          <p:nvPr/>
        </p:nvSpPr>
        <p:spPr>
          <a:xfrm>
            <a:off x="640080" y="1463040"/>
            <a:ext cx="5349240" cy="1783080"/>
          </a:xfrm>
          <a:prstGeom prst="roundRect">
            <a:avLst>
              <a:gd name="adj" fmla="val 4615"/>
            </a:avLst>
          </a:prstGeom>
          <a:solidFill>
            <a:srgbClr val="F7F5F0"/>
          </a:solidFill>
          <a:ln w="12700">
            <a:solidFill>
              <a:srgbClr val="F7F5F0"/>
            </a:solidFill>
            <a:prstDash val="solid"/>
          </a:ln>
        </p:spPr>
      </p:sp>
      <p:sp>
        <p:nvSpPr>
          <p:cNvPr id="8" name="Text 5"/>
          <p:cNvSpPr/>
          <p:nvPr/>
        </p:nvSpPr>
        <p:spPr>
          <a:xfrm>
            <a:off x="91440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Sentence starters</a:t>
            </a:r>
            <a:endParaRPr lang="en-US" sz="2000" dirty="0"/>
          </a:p>
        </p:txBody>
      </p:sp>
      <p:sp>
        <p:nvSpPr>
          <p:cNvPr id="9" name="Text 6"/>
          <p:cNvSpPr/>
          <p:nvPr/>
        </p:nvSpPr>
        <p:spPr>
          <a:xfrm>
            <a:off x="91440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One per paragraph; gets the stuck writer moving</a:t>
            </a:r>
            <a:endParaRPr lang="en-US" sz="1550" dirty="0"/>
          </a:p>
        </p:txBody>
      </p:sp>
      <p:sp>
        <p:nvSpPr>
          <p:cNvPr id="10" name="Shape 7"/>
          <p:cNvSpPr/>
          <p:nvPr/>
        </p:nvSpPr>
        <p:spPr>
          <a:xfrm>
            <a:off x="6263640" y="1463040"/>
            <a:ext cx="5349240" cy="1783080"/>
          </a:xfrm>
          <a:prstGeom prst="roundRect">
            <a:avLst>
              <a:gd name="adj" fmla="val 4615"/>
            </a:avLst>
          </a:prstGeom>
          <a:solidFill>
            <a:srgbClr val="F7F5F0"/>
          </a:solidFill>
          <a:ln w="12700">
            <a:solidFill>
              <a:srgbClr val="F7F5F0"/>
            </a:solidFill>
            <a:prstDash val="solid"/>
          </a:ln>
        </p:spPr>
      </p:sp>
      <p:sp>
        <p:nvSpPr>
          <p:cNvPr id="11" name="Text 8"/>
          <p:cNvSpPr/>
          <p:nvPr/>
        </p:nvSpPr>
        <p:spPr>
          <a:xfrm>
            <a:off x="653796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Word bank</a:t>
            </a:r>
            <a:endParaRPr lang="en-US" sz="2000" dirty="0"/>
          </a:p>
        </p:txBody>
      </p:sp>
      <p:sp>
        <p:nvSpPr>
          <p:cNvPr id="12" name="Text 9"/>
          <p:cNvSpPr/>
          <p:nvPr/>
        </p:nvSpPr>
        <p:spPr>
          <a:xfrm>
            <a:off x="653796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10 words with student-friendly definitions</a:t>
            </a:r>
            <a:endParaRPr lang="en-US" sz="1550" dirty="0"/>
          </a:p>
        </p:txBody>
      </p:sp>
      <p:sp>
        <p:nvSpPr>
          <p:cNvPr id="13" name="Shape 10"/>
          <p:cNvSpPr/>
          <p:nvPr/>
        </p:nvSpPr>
        <p:spPr>
          <a:xfrm>
            <a:off x="640080" y="3429000"/>
            <a:ext cx="5349240" cy="1783080"/>
          </a:xfrm>
          <a:prstGeom prst="roundRect">
            <a:avLst>
              <a:gd name="adj" fmla="val 4615"/>
            </a:avLst>
          </a:prstGeom>
          <a:solidFill>
            <a:srgbClr val="F7F5F0"/>
          </a:solidFill>
          <a:ln w="12700">
            <a:solidFill>
              <a:srgbClr val="F7F5F0"/>
            </a:solidFill>
            <a:prstDash val="solid"/>
          </a:ln>
        </p:spPr>
      </p:sp>
      <p:sp>
        <p:nvSpPr>
          <p:cNvPr id="14" name="Text 11"/>
          <p:cNvSpPr/>
          <p:nvPr/>
        </p:nvSpPr>
        <p:spPr>
          <a:xfrm>
            <a:off x="91440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Worked example</a:t>
            </a:r>
            <a:endParaRPr lang="en-US" sz="2000" dirty="0"/>
          </a:p>
        </p:txBody>
      </p:sp>
      <p:sp>
        <p:nvSpPr>
          <p:cNvPr id="15" name="Text 12"/>
          <p:cNvSpPr/>
          <p:nvPr/>
        </p:nvSpPr>
        <p:spPr>
          <a:xfrm>
            <a:off x="91440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On a different topic: teaches the shape, not the answer</a:t>
            </a:r>
            <a:endParaRPr lang="en-US" sz="1550" dirty="0"/>
          </a:p>
        </p:txBody>
      </p:sp>
      <p:sp>
        <p:nvSpPr>
          <p:cNvPr id="16" name="Shape 13"/>
          <p:cNvSpPr/>
          <p:nvPr/>
        </p:nvSpPr>
        <p:spPr>
          <a:xfrm>
            <a:off x="6263640" y="3429000"/>
            <a:ext cx="5349240" cy="1783080"/>
          </a:xfrm>
          <a:prstGeom prst="roundRect">
            <a:avLst>
              <a:gd name="adj" fmla="val 4615"/>
            </a:avLst>
          </a:prstGeom>
          <a:solidFill>
            <a:srgbClr val="F7F5F0"/>
          </a:solidFill>
          <a:ln w="12700">
            <a:solidFill>
              <a:srgbClr val="F7F5F0"/>
            </a:solidFill>
            <a:prstDash val="solid"/>
          </a:ln>
        </p:spPr>
      </p:sp>
      <p:sp>
        <p:nvSpPr>
          <p:cNvPr id="17" name="Text 14"/>
          <p:cNvSpPr/>
          <p:nvPr/>
        </p:nvSpPr>
        <p:spPr>
          <a:xfrm>
            <a:off x="653796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Organizer text</a:t>
            </a:r>
            <a:endParaRPr lang="en-US" sz="2000" dirty="0"/>
          </a:p>
        </p:txBody>
      </p:sp>
      <p:sp>
        <p:nvSpPr>
          <p:cNvPr id="18" name="Text 15"/>
          <p:cNvSpPr/>
          <p:nvPr/>
        </p:nvSpPr>
        <p:spPr>
          <a:xfrm>
            <a:off x="653796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The labels and prompts for your graphic organizer</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14</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3 · EARLY FINISHERS &amp; ADVANCED LEARNERS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Stretch it: depth, not more worksheets</a:t>
            </a:r>
            <a:endParaRPr lang="en-US" sz="3200" dirty="0"/>
          </a:p>
        </p:txBody>
      </p:sp>
      <p:sp>
        <p:nvSpPr>
          <p:cNvPr id="7" name="Shape 4"/>
          <p:cNvSpPr/>
          <p:nvPr/>
        </p:nvSpPr>
        <p:spPr>
          <a:xfrm>
            <a:off x="640080" y="1554480"/>
            <a:ext cx="3520440" cy="2926080"/>
          </a:xfrm>
          <a:prstGeom prst="roundRect">
            <a:avLst>
              <a:gd name="adj" fmla="val 2813"/>
            </a:avLst>
          </a:prstGeom>
          <a:solidFill>
            <a:srgbClr val="F7F5F0"/>
          </a:solidFill>
          <a:ln w="12700">
            <a:solidFill>
              <a:srgbClr val="F7F5F0"/>
            </a:solidFill>
            <a:prstDash val="solid"/>
          </a:ln>
        </p:spPr>
      </p:sp>
      <p:sp>
        <p:nvSpPr>
          <p:cNvPr id="8" name="Shape 5"/>
          <p:cNvSpPr/>
          <p:nvPr/>
        </p:nvSpPr>
        <p:spPr>
          <a:xfrm>
            <a:off x="1938528" y="1828800"/>
            <a:ext cx="914400" cy="914400"/>
          </a:xfrm>
          <a:prstGeom prst="ellipse">
            <a:avLst/>
          </a:prstGeom>
          <a:solidFill>
            <a:srgbClr val="2A9D8F"/>
          </a:solidFill>
          <a:ln w="12700">
            <a:solidFill>
              <a:srgbClr val="2A9D8F"/>
            </a:solidFill>
            <a:prstDash val="solid"/>
          </a:ln>
        </p:spPr>
      </p:sp>
      <p:sp>
        <p:nvSpPr>
          <p:cNvPr id="9" name="Text 6"/>
          <p:cNvSpPr/>
          <p:nvPr/>
        </p:nvSpPr>
        <p:spPr>
          <a:xfrm>
            <a:off x="1938528"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1</a:t>
            </a:r>
            <a:endParaRPr lang="en-US" sz="3000" dirty="0"/>
          </a:p>
        </p:txBody>
      </p:sp>
      <p:sp>
        <p:nvSpPr>
          <p:cNvPr id="10" name="Text 7"/>
          <p:cNvSpPr/>
          <p:nvPr/>
        </p:nvSpPr>
        <p:spPr>
          <a:xfrm>
            <a:off x="868680" y="2926080"/>
            <a:ext cx="306324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Apply</a:t>
            </a:r>
            <a:endParaRPr lang="en-US" sz="2000" dirty="0"/>
          </a:p>
        </p:txBody>
      </p:sp>
      <p:sp>
        <p:nvSpPr>
          <p:cNvPr id="11" name="Text 8"/>
          <p:cNvSpPr/>
          <p:nvPr/>
        </p:nvSpPr>
        <p:spPr>
          <a:xfrm>
            <a:off x="868680" y="3429000"/>
            <a:ext cx="3063240" cy="914400"/>
          </a:xfrm>
          <a:prstGeom prst="rect">
            <a:avLst/>
          </a:prstGeom>
          <a:noFill/>
          <a:ln/>
        </p:spPr>
        <p:txBody>
          <a:bodyPr wrap="square" lIns="0" tIns="0" rIns="0" bIns="0" rtlCol="0" anchor="ctr"/>
          <a:lstStyle/>
          <a:p>
            <a:pPr algn="ctr" indent="0" marL="0">
              <a:buNone/>
            </a:pPr>
            <a:r>
              <a:rPr lang="en-US" sz="1500" dirty="0">
                <a:solidFill>
                  <a:srgbClr val="1B1F24"/>
                </a:solidFill>
                <a:latin typeface="Inter" pitchFamily="34" charset="0"/>
                <a:ea typeface="Inter" pitchFamily="34" charset="-122"/>
                <a:cs typeface="Inter" pitchFamily="34" charset="-120"/>
              </a:rPr>
              <a:t>Use the concept in an unfamiliar context</a:t>
            </a:r>
            <a:endParaRPr lang="en-US" sz="1500" dirty="0"/>
          </a:p>
        </p:txBody>
      </p:sp>
      <p:sp>
        <p:nvSpPr>
          <p:cNvPr id="12" name="Shape 9"/>
          <p:cNvSpPr/>
          <p:nvPr/>
        </p:nvSpPr>
        <p:spPr>
          <a:xfrm>
            <a:off x="4407408" y="1554480"/>
            <a:ext cx="3520440" cy="2926080"/>
          </a:xfrm>
          <a:prstGeom prst="roundRect">
            <a:avLst>
              <a:gd name="adj" fmla="val 2813"/>
            </a:avLst>
          </a:prstGeom>
          <a:solidFill>
            <a:srgbClr val="F7F5F0"/>
          </a:solidFill>
          <a:ln w="12700">
            <a:solidFill>
              <a:srgbClr val="F7F5F0"/>
            </a:solidFill>
            <a:prstDash val="solid"/>
          </a:ln>
        </p:spPr>
      </p:sp>
      <p:sp>
        <p:nvSpPr>
          <p:cNvPr id="13" name="Shape 10"/>
          <p:cNvSpPr/>
          <p:nvPr/>
        </p:nvSpPr>
        <p:spPr>
          <a:xfrm>
            <a:off x="5705856" y="1828800"/>
            <a:ext cx="914400" cy="914400"/>
          </a:xfrm>
          <a:prstGeom prst="ellipse">
            <a:avLst/>
          </a:prstGeom>
          <a:solidFill>
            <a:srgbClr val="2A9D8F"/>
          </a:solidFill>
          <a:ln w="12700">
            <a:solidFill>
              <a:srgbClr val="2A9D8F"/>
            </a:solidFill>
            <a:prstDash val="solid"/>
          </a:ln>
        </p:spPr>
      </p:sp>
      <p:sp>
        <p:nvSpPr>
          <p:cNvPr id="14" name="Text 11"/>
          <p:cNvSpPr/>
          <p:nvPr/>
        </p:nvSpPr>
        <p:spPr>
          <a:xfrm>
            <a:off x="5705856"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2</a:t>
            </a:r>
            <a:endParaRPr lang="en-US" sz="3000" dirty="0"/>
          </a:p>
        </p:txBody>
      </p:sp>
      <p:sp>
        <p:nvSpPr>
          <p:cNvPr id="15" name="Text 12"/>
          <p:cNvSpPr/>
          <p:nvPr/>
        </p:nvSpPr>
        <p:spPr>
          <a:xfrm>
            <a:off x="4636008" y="2926080"/>
            <a:ext cx="306324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Critique</a:t>
            </a:r>
            <a:endParaRPr lang="en-US" sz="2000" dirty="0"/>
          </a:p>
        </p:txBody>
      </p:sp>
      <p:sp>
        <p:nvSpPr>
          <p:cNvPr id="16" name="Text 13"/>
          <p:cNvSpPr/>
          <p:nvPr/>
        </p:nvSpPr>
        <p:spPr>
          <a:xfrm>
            <a:off x="4636008" y="3429000"/>
            <a:ext cx="3063240" cy="914400"/>
          </a:xfrm>
          <a:prstGeom prst="rect">
            <a:avLst/>
          </a:prstGeom>
          <a:noFill/>
          <a:ln/>
        </p:spPr>
        <p:txBody>
          <a:bodyPr wrap="square" lIns="0" tIns="0" rIns="0" bIns="0" rtlCol="0" anchor="ctr"/>
          <a:lstStyle/>
          <a:p>
            <a:pPr algn="ctr" indent="0" marL="0">
              <a:buNone/>
            </a:pPr>
            <a:r>
              <a:rPr lang="en-US" sz="1500" dirty="0">
                <a:solidFill>
                  <a:srgbClr val="1B1F24"/>
                </a:solidFill>
                <a:latin typeface="Inter" pitchFamily="34" charset="0"/>
                <a:ea typeface="Inter" pitchFamily="34" charset="-122"/>
                <a:cs typeface="Inter" pitchFamily="34" charset="-120"/>
              </a:rPr>
              <a:t>Find the flaw in a flawed example</a:t>
            </a:r>
            <a:endParaRPr lang="en-US" sz="1500" dirty="0"/>
          </a:p>
        </p:txBody>
      </p:sp>
      <p:sp>
        <p:nvSpPr>
          <p:cNvPr id="17" name="Shape 14"/>
          <p:cNvSpPr/>
          <p:nvPr/>
        </p:nvSpPr>
        <p:spPr>
          <a:xfrm>
            <a:off x="8174736" y="1554480"/>
            <a:ext cx="3520440" cy="2926080"/>
          </a:xfrm>
          <a:prstGeom prst="roundRect">
            <a:avLst>
              <a:gd name="adj" fmla="val 2813"/>
            </a:avLst>
          </a:prstGeom>
          <a:solidFill>
            <a:srgbClr val="F7F5F0"/>
          </a:solidFill>
          <a:ln w="12700">
            <a:solidFill>
              <a:srgbClr val="F7F5F0"/>
            </a:solidFill>
            <a:prstDash val="solid"/>
          </a:ln>
        </p:spPr>
      </p:sp>
      <p:sp>
        <p:nvSpPr>
          <p:cNvPr id="18" name="Shape 15"/>
          <p:cNvSpPr/>
          <p:nvPr/>
        </p:nvSpPr>
        <p:spPr>
          <a:xfrm>
            <a:off x="9473184" y="1828800"/>
            <a:ext cx="914400" cy="914400"/>
          </a:xfrm>
          <a:prstGeom prst="ellipse">
            <a:avLst/>
          </a:prstGeom>
          <a:solidFill>
            <a:srgbClr val="2A9D8F"/>
          </a:solidFill>
          <a:ln w="12700">
            <a:solidFill>
              <a:srgbClr val="2A9D8F"/>
            </a:solidFill>
            <a:prstDash val="solid"/>
          </a:ln>
        </p:spPr>
      </p:sp>
      <p:sp>
        <p:nvSpPr>
          <p:cNvPr id="19" name="Text 16"/>
          <p:cNvSpPr/>
          <p:nvPr/>
        </p:nvSpPr>
        <p:spPr>
          <a:xfrm>
            <a:off x="9473184"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3</a:t>
            </a:r>
            <a:endParaRPr lang="en-US" sz="3000" dirty="0"/>
          </a:p>
        </p:txBody>
      </p:sp>
      <p:sp>
        <p:nvSpPr>
          <p:cNvPr id="20" name="Text 17"/>
          <p:cNvSpPr/>
          <p:nvPr/>
        </p:nvSpPr>
        <p:spPr>
          <a:xfrm>
            <a:off x="8403336" y="2926080"/>
            <a:ext cx="306324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Teach</a:t>
            </a:r>
            <a:endParaRPr lang="en-US" sz="2000" dirty="0"/>
          </a:p>
        </p:txBody>
      </p:sp>
      <p:sp>
        <p:nvSpPr>
          <p:cNvPr id="21" name="Text 18"/>
          <p:cNvSpPr/>
          <p:nvPr/>
        </p:nvSpPr>
        <p:spPr>
          <a:xfrm>
            <a:off x="8403336" y="3429000"/>
            <a:ext cx="3063240" cy="914400"/>
          </a:xfrm>
          <a:prstGeom prst="rect">
            <a:avLst/>
          </a:prstGeom>
          <a:noFill/>
          <a:ln/>
        </p:spPr>
        <p:txBody>
          <a:bodyPr wrap="square" lIns="0" tIns="0" rIns="0" bIns="0" rtlCol="0" anchor="ctr"/>
          <a:lstStyle/>
          <a:p>
            <a:pPr algn="ctr" indent="0" marL="0">
              <a:buNone/>
            </a:pPr>
            <a:r>
              <a:rPr lang="en-US" sz="1500" dirty="0">
                <a:solidFill>
                  <a:srgbClr val="1B1F24"/>
                </a:solidFill>
                <a:latin typeface="Inter" pitchFamily="34" charset="0"/>
                <a:ea typeface="Inter" pitchFamily="34" charset="-122"/>
                <a:cs typeface="Inter" pitchFamily="34" charset="-120"/>
              </a:rPr>
              <a:t>Explain it to a younger student, own words</a:t>
            </a:r>
            <a:endParaRPr lang="en-US" sz="1500" dirty="0"/>
          </a:p>
        </p:txBody>
      </p:sp>
      <p:sp>
        <p:nvSpPr>
          <p:cNvPr id="22" name="Text 19"/>
          <p:cNvSpPr/>
          <p:nvPr/>
        </p:nvSpPr>
        <p:spPr>
          <a:xfrm>
            <a:off x="640080" y="493776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A second worksheet is a punishment for being fast. Say “no additional practice problems” in the prompt.</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15</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4 · THE UDL MOVE</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Reformat it: same content, new shape</a:t>
            </a:r>
            <a:endParaRPr lang="en-US" sz="3200" dirty="0"/>
          </a:p>
        </p:txBody>
      </p:sp>
      <p:sp>
        <p:nvSpPr>
          <p:cNvPr id="7" name="Shape 4"/>
          <p:cNvSpPr/>
          <p:nvPr/>
        </p:nvSpPr>
        <p:spPr>
          <a:xfrm>
            <a:off x="640080" y="1554480"/>
            <a:ext cx="3520440" cy="2743200"/>
          </a:xfrm>
          <a:prstGeom prst="roundRect">
            <a:avLst>
              <a:gd name="adj" fmla="val 3000"/>
            </a:avLst>
          </a:prstGeom>
          <a:solidFill>
            <a:srgbClr val="F7F5F0"/>
          </a:solidFill>
          <a:ln w="12700">
            <a:solidFill>
              <a:srgbClr val="F7F5F0"/>
            </a:solidFill>
            <a:prstDash val="solid"/>
          </a:ln>
        </p:spPr>
      </p:sp>
      <p:sp>
        <p:nvSpPr>
          <p:cNvPr id="8" name="Text 5"/>
          <p:cNvSpPr/>
          <p:nvPr/>
        </p:nvSpPr>
        <p:spPr>
          <a:xfrm>
            <a:off x="896112" y="1828800"/>
            <a:ext cx="3017520" cy="54864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Stations</a:t>
            </a:r>
            <a:endParaRPr lang="en-US" sz="1900" dirty="0"/>
          </a:p>
        </p:txBody>
      </p:sp>
      <p:sp>
        <p:nvSpPr>
          <p:cNvPr id="9" name="Text 6"/>
          <p:cNvSpPr/>
          <p:nvPr/>
        </p:nvSpPr>
        <p:spPr>
          <a:xfrm>
            <a:off x="896112" y="2468880"/>
            <a:ext cx="3017520" cy="1554480"/>
          </a:xfrm>
          <a:prstGeom prst="rect">
            <a:avLst/>
          </a:prstGeom>
          <a:noFill/>
          <a:ln/>
        </p:spPr>
        <p:txBody>
          <a:bodyPr wrap="square" lIns="0" tIns="0" rIns="0" bIns="0" rtlCol="0" anchor="t"/>
          <a:lstStyle/>
          <a:p>
            <a:pPr indent="0" marL="0">
              <a:buNone/>
            </a:pPr>
            <a:r>
              <a:rPr lang="en-US" sz="1550" dirty="0">
                <a:solidFill>
                  <a:srgbClr val="1B1F24"/>
                </a:solidFill>
                <a:latin typeface="Inter" pitchFamily="34" charset="0"/>
                <a:ea typeface="Inter" pitchFamily="34" charset="-122"/>
                <a:cs typeface="Inter" pitchFamily="34" charset="-120"/>
              </a:rPr>
              <a:t>Four activity-direction sets from one lesson</a:t>
            </a:r>
            <a:endParaRPr lang="en-US" sz="1550" dirty="0"/>
          </a:p>
        </p:txBody>
      </p:sp>
      <p:sp>
        <p:nvSpPr>
          <p:cNvPr id="10" name="Shape 7"/>
          <p:cNvSpPr/>
          <p:nvPr/>
        </p:nvSpPr>
        <p:spPr>
          <a:xfrm>
            <a:off x="4407408" y="1554480"/>
            <a:ext cx="3520440" cy="2743200"/>
          </a:xfrm>
          <a:prstGeom prst="roundRect">
            <a:avLst>
              <a:gd name="adj" fmla="val 3000"/>
            </a:avLst>
          </a:prstGeom>
          <a:solidFill>
            <a:srgbClr val="F7F5F0"/>
          </a:solidFill>
          <a:ln w="12700">
            <a:solidFill>
              <a:srgbClr val="F7F5F0"/>
            </a:solidFill>
            <a:prstDash val="solid"/>
          </a:ln>
        </p:spPr>
      </p:sp>
      <p:sp>
        <p:nvSpPr>
          <p:cNvPr id="11" name="Text 8"/>
          <p:cNvSpPr/>
          <p:nvPr/>
        </p:nvSpPr>
        <p:spPr>
          <a:xfrm>
            <a:off x="4663440" y="1828800"/>
            <a:ext cx="3017520" cy="54864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Discussion cards</a:t>
            </a:r>
            <a:endParaRPr lang="en-US" sz="1900" dirty="0"/>
          </a:p>
        </p:txBody>
      </p:sp>
      <p:sp>
        <p:nvSpPr>
          <p:cNvPr id="12" name="Text 9"/>
          <p:cNvSpPr/>
          <p:nvPr/>
        </p:nvSpPr>
        <p:spPr>
          <a:xfrm>
            <a:off x="4663440" y="2468880"/>
            <a:ext cx="3017520" cy="1554480"/>
          </a:xfrm>
          <a:prstGeom prst="rect">
            <a:avLst/>
          </a:prstGeom>
          <a:noFill/>
          <a:ln/>
        </p:spPr>
        <p:txBody>
          <a:bodyPr wrap="square" lIns="0" tIns="0" rIns="0" bIns="0" rtlCol="0" anchor="t"/>
          <a:lstStyle/>
          <a:p>
            <a:pPr indent="0" marL="0">
              <a:buNone/>
            </a:pPr>
            <a:r>
              <a:rPr lang="en-US" sz="1550" dirty="0">
                <a:solidFill>
                  <a:srgbClr val="1B1F24"/>
                </a:solidFill>
                <a:latin typeface="Inter" pitchFamily="34" charset="0"/>
                <a:ea typeface="Inter" pitchFamily="34" charset="-122"/>
                <a:cs typeface="Inter" pitchFamily="34" charset="-120"/>
              </a:rPr>
              <a:t>Eight cards, one question each</a:t>
            </a:r>
            <a:endParaRPr lang="en-US" sz="1550" dirty="0"/>
          </a:p>
        </p:txBody>
      </p:sp>
      <p:sp>
        <p:nvSpPr>
          <p:cNvPr id="13" name="Shape 10"/>
          <p:cNvSpPr/>
          <p:nvPr/>
        </p:nvSpPr>
        <p:spPr>
          <a:xfrm>
            <a:off x="8174736" y="1554480"/>
            <a:ext cx="3520440" cy="2743200"/>
          </a:xfrm>
          <a:prstGeom prst="roundRect">
            <a:avLst>
              <a:gd name="adj" fmla="val 3000"/>
            </a:avLst>
          </a:prstGeom>
          <a:solidFill>
            <a:srgbClr val="F7F5F0"/>
          </a:solidFill>
          <a:ln w="12700">
            <a:solidFill>
              <a:srgbClr val="F7F5F0"/>
            </a:solidFill>
            <a:prstDash val="solid"/>
          </a:ln>
        </p:spPr>
      </p:sp>
      <p:sp>
        <p:nvSpPr>
          <p:cNvPr id="14" name="Text 11"/>
          <p:cNvSpPr/>
          <p:nvPr/>
        </p:nvSpPr>
        <p:spPr>
          <a:xfrm>
            <a:off x="8430768" y="1828800"/>
            <a:ext cx="3017520" cy="54864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Practice set</a:t>
            </a:r>
            <a:endParaRPr lang="en-US" sz="1900" dirty="0"/>
          </a:p>
        </p:txBody>
      </p:sp>
      <p:sp>
        <p:nvSpPr>
          <p:cNvPr id="15" name="Text 12"/>
          <p:cNvSpPr/>
          <p:nvPr/>
        </p:nvSpPr>
        <p:spPr>
          <a:xfrm>
            <a:off x="8430768" y="2468880"/>
            <a:ext cx="3017520" cy="1554480"/>
          </a:xfrm>
          <a:prstGeom prst="rect">
            <a:avLst/>
          </a:prstGeom>
          <a:noFill/>
          <a:ln/>
        </p:spPr>
        <p:txBody>
          <a:bodyPr wrap="square" lIns="0" tIns="0" rIns="0" bIns="0" rtlCol="0" anchor="t"/>
          <a:lstStyle/>
          <a:p>
            <a:pPr indent="0" marL="0">
              <a:buNone/>
            </a:pPr>
            <a:r>
              <a:rPr lang="en-US" sz="1550" dirty="0">
                <a:solidFill>
                  <a:srgbClr val="1B1F24"/>
                </a:solidFill>
                <a:latin typeface="Inter" pitchFamily="34" charset="0"/>
                <a:ea typeface="Inter" pitchFamily="34" charset="-122"/>
                <a:cs typeface="Inter" pitchFamily="34" charset="-120"/>
              </a:rPr>
              <a:t>10 items ramping recall → application</a:t>
            </a:r>
            <a:endParaRPr lang="en-US" sz="1550" dirty="0"/>
          </a:p>
        </p:txBody>
      </p:sp>
      <p:sp>
        <p:nvSpPr>
          <p:cNvPr id="16" name="Shape 13"/>
          <p:cNvSpPr/>
          <p:nvPr/>
        </p:nvSpPr>
        <p:spPr>
          <a:xfrm>
            <a:off x="640080" y="4572000"/>
            <a:ext cx="10972800" cy="1097280"/>
          </a:xfrm>
          <a:prstGeom prst="roundRect">
            <a:avLst>
              <a:gd name="adj" fmla="val 7500"/>
            </a:avLst>
          </a:prstGeom>
          <a:solidFill>
            <a:srgbClr val="EAF5F3"/>
          </a:solidFill>
          <a:ln w="12700">
            <a:solidFill>
              <a:srgbClr val="EAF5F3"/>
            </a:solidFill>
            <a:prstDash val="solid"/>
          </a:ln>
        </p:spPr>
      </p:sp>
      <p:sp>
        <p:nvSpPr>
          <p:cNvPr id="17" name="Text 14"/>
          <p:cNvSpPr/>
          <p:nvPr/>
        </p:nvSpPr>
        <p:spPr>
          <a:xfrm>
            <a:off x="960120" y="4709160"/>
            <a:ext cx="10332720" cy="82296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One draft becomes a menu: multiple means of engagement and expression, on demand.</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ANYTHING REACHES A STUDENT</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4-point review</a:t>
            </a:r>
            <a:endParaRPr lang="en-US" sz="3200" dirty="0"/>
          </a:p>
        </p:txBody>
      </p:sp>
      <p:sp>
        <p:nvSpPr>
          <p:cNvPr id="7" name="Shape 4"/>
          <p:cNvSpPr/>
          <p:nvPr/>
        </p:nvSpPr>
        <p:spPr>
          <a:xfrm>
            <a:off x="640080" y="1417320"/>
            <a:ext cx="5349240" cy="1920240"/>
          </a:xfrm>
          <a:prstGeom prst="roundRect">
            <a:avLst>
              <a:gd name="adj" fmla="val 4286"/>
            </a:avLst>
          </a:prstGeom>
          <a:solidFill>
            <a:srgbClr val="F7F5F0"/>
          </a:solidFill>
          <a:ln w="12700">
            <a:solidFill>
              <a:srgbClr val="F7F5F0"/>
            </a:solidFill>
            <a:prstDash val="solid"/>
          </a:ln>
        </p:spPr>
      </p:sp>
      <p:sp>
        <p:nvSpPr>
          <p:cNvPr id="8" name="Text 5"/>
          <p:cNvSpPr/>
          <p:nvPr/>
        </p:nvSpPr>
        <p:spPr>
          <a:xfrm>
            <a:off x="914400" y="160020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1 · Accurate?</a:t>
            </a:r>
            <a:endParaRPr lang="en-US" sz="2100" dirty="0"/>
          </a:p>
        </p:txBody>
      </p:sp>
      <p:sp>
        <p:nvSpPr>
          <p:cNvPr id="9" name="Text 6"/>
          <p:cNvSpPr/>
          <p:nvPr/>
        </p:nvSpPr>
        <p:spPr>
          <a:xfrm>
            <a:off x="914400" y="213055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Facts, examples, named resources checked. Remember the fabricated resource.</a:t>
            </a:r>
            <a:endParaRPr lang="en-US" sz="1500" dirty="0"/>
          </a:p>
        </p:txBody>
      </p:sp>
      <p:sp>
        <p:nvSpPr>
          <p:cNvPr id="10" name="Shape 7"/>
          <p:cNvSpPr/>
          <p:nvPr/>
        </p:nvSpPr>
        <p:spPr>
          <a:xfrm>
            <a:off x="6263640" y="1417320"/>
            <a:ext cx="5349240" cy="1920240"/>
          </a:xfrm>
          <a:prstGeom prst="roundRect">
            <a:avLst>
              <a:gd name="adj" fmla="val 4286"/>
            </a:avLst>
          </a:prstGeom>
          <a:solidFill>
            <a:srgbClr val="F7F5F0"/>
          </a:solidFill>
          <a:ln w="12700">
            <a:solidFill>
              <a:srgbClr val="F7F5F0"/>
            </a:solidFill>
            <a:prstDash val="solid"/>
          </a:ln>
        </p:spPr>
      </p:sp>
      <p:sp>
        <p:nvSpPr>
          <p:cNvPr id="11" name="Text 8"/>
          <p:cNvSpPr/>
          <p:nvPr/>
        </p:nvSpPr>
        <p:spPr>
          <a:xfrm>
            <a:off x="6537960" y="160020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2 · At level, actually?</a:t>
            </a:r>
            <a:endParaRPr lang="en-US" sz="2100" dirty="0"/>
          </a:p>
        </p:txBody>
      </p:sp>
      <p:sp>
        <p:nvSpPr>
          <p:cNvPr id="12" name="Text 9"/>
          <p:cNvSpPr/>
          <p:nvPr/>
        </p:nvSpPr>
        <p:spPr>
          <a:xfrm>
            <a:off x="6537960" y="213055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Run the quick checks. The label is a guess until you test it.</a:t>
            </a:r>
            <a:endParaRPr lang="en-US" sz="1500" dirty="0"/>
          </a:p>
        </p:txBody>
      </p:sp>
      <p:sp>
        <p:nvSpPr>
          <p:cNvPr id="13" name="Shape 10"/>
          <p:cNvSpPr/>
          <p:nvPr/>
        </p:nvSpPr>
        <p:spPr>
          <a:xfrm>
            <a:off x="640080" y="3520440"/>
            <a:ext cx="5349240" cy="1920240"/>
          </a:xfrm>
          <a:prstGeom prst="roundRect">
            <a:avLst>
              <a:gd name="adj" fmla="val 4286"/>
            </a:avLst>
          </a:prstGeom>
          <a:solidFill>
            <a:srgbClr val="F7F5F0"/>
          </a:solidFill>
          <a:ln w="12700">
            <a:solidFill>
              <a:srgbClr val="F7F5F0"/>
            </a:solidFill>
            <a:prstDash val="solid"/>
          </a:ln>
        </p:spPr>
      </p:sp>
      <p:sp>
        <p:nvSpPr>
          <p:cNvPr id="14" name="Text 11"/>
          <p:cNvSpPr/>
          <p:nvPr/>
        </p:nvSpPr>
        <p:spPr>
          <a:xfrm>
            <a:off x="914400" y="370332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3 · Fits your students?</a:t>
            </a:r>
            <a:endParaRPr lang="en-US" sz="2100" dirty="0"/>
          </a:p>
        </p:txBody>
      </p:sp>
      <p:sp>
        <p:nvSpPr>
          <p:cNvPr id="15" name="Text 12"/>
          <p:cNvSpPr/>
          <p:nvPr/>
        </p:nvSpPr>
        <p:spPr>
          <a:xfrm>
            <a:off x="914400" y="423367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AI wrote for a generic class. Swap examples that won’t land in yours.</a:t>
            </a:r>
            <a:endParaRPr lang="en-US" sz="1500" dirty="0"/>
          </a:p>
        </p:txBody>
      </p:sp>
      <p:sp>
        <p:nvSpPr>
          <p:cNvPr id="16" name="Shape 13"/>
          <p:cNvSpPr/>
          <p:nvPr/>
        </p:nvSpPr>
        <p:spPr>
          <a:xfrm>
            <a:off x="6263640" y="3520440"/>
            <a:ext cx="5349240" cy="1920240"/>
          </a:xfrm>
          <a:prstGeom prst="roundRect">
            <a:avLst>
              <a:gd name="adj" fmla="val 4286"/>
            </a:avLst>
          </a:prstGeom>
          <a:solidFill>
            <a:srgbClr val="F7F5F0"/>
          </a:solidFill>
          <a:ln w="12700">
            <a:solidFill>
              <a:srgbClr val="F7F5F0"/>
            </a:solidFill>
            <a:prstDash val="solid"/>
          </a:ln>
        </p:spPr>
      </p:sp>
      <p:sp>
        <p:nvSpPr>
          <p:cNvPr id="17" name="Text 14"/>
          <p:cNvSpPr/>
          <p:nvPr/>
        </p:nvSpPr>
        <p:spPr>
          <a:xfrm>
            <a:off x="6537960" y="370332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4 · Sounds like you?</a:t>
            </a:r>
            <a:endParaRPr lang="en-US" sz="2100" dirty="0"/>
          </a:p>
        </p:txBody>
      </p:sp>
      <p:sp>
        <p:nvSpPr>
          <p:cNvPr id="18" name="Text 15"/>
          <p:cNvSpPr/>
          <p:nvPr/>
        </p:nvSpPr>
        <p:spPr>
          <a:xfrm>
            <a:off x="6537960" y="423367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If the directions don’t sound like your directions, students notice first.</a:t>
            </a:r>
            <a:endParaRPr lang="en-US" sz="1500" dirty="0"/>
          </a:p>
        </p:txBody>
      </p:sp>
      <p:sp>
        <p:nvSpPr>
          <p:cNvPr id="19" name="Text 16"/>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Fail a point, fix it. That’s the review.</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17</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NOBODY OVERSELLS IT IN THE HALLWAY</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AI can’t do here</a:t>
            </a:r>
            <a:endParaRPr lang="en-US" sz="3200" dirty="0"/>
          </a:p>
        </p:txBody>
      </p:sp>
      <p:sp>
        <p:nvSpPr>
          <p:cNvPr id="7" name="Shape 4"/>
          <p:cNvSpPr/>
          <p:nvPr/>
        </p:nvSpPr>
        <p:spPr>
          <a:xfrm>
            <a:off x="640080" y="1554480"/>
            <a:ext cx="3520440" cy="2926080"/>
          </a:xfrm>
          <a:prstGeom prst="roundRect">
            <a:avLst>
              <a:gd name="adj" fmla="val 2813"/>
            </a:avLst>
          </a:prstGeom>
          <a:solidFill>
            <a:srgbClr val="F7F5F0"/>
          </a:solidFill>
          <a:ln w="12700">
            <a:solidFill>
              <a:srgbClr val="F7F5F0"/>
            </a:solidFill>
            <a:prstDash val="solid"/>
          </a:ln>
        </p:spPr>
      </p:sp>
      <p:sp>
        <p:nvSpPr>
          <p:cNvPr id="8" name="Text 5"/>
          <p:cNvSpPr/>
          <p:nvPr/>
        </p:nvSpPr>
        <p:spPr>
          <a:xfrm>
            <a:off x="896112"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Doesn’t know your kids</a:t>
            </a:r>
            <a:endParaRPr lang="en-US" sz="1900" dirty="0"/>
          </a:p>
        </p:txBody>
      </p:sp>
      <p:sp>
        <p:nvSpPr>
          <p:cNvPr id="9" name="Text 6"/>
          <p:cNvSpPr/>
          <p:nvPr/>
        </p:nvSpPr>
        <p:spPr>
          <a:xfrm>
            <a:off x="896112"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It never met the reader who shuts down, or the one who’s two grades ahead.</a:t>
            </a:r>
            <a:endParaRPr lang="en-US" sz="1600" dirty="0"/>
          </a:p>
        </p:txBody>
      </p:sp>
      <p:sp>
        <p:nvSpPr>
          <p:cNvPr id="10" name="Shape 7"/>
          <p:cNvSpPr/>
          <p:nvPr/>
        </p:nvSpPr>
        <p:spPr>
          <a:xfrm>
            <a:off x="4407408" y="1554480"/>
            <a:ext cx="3520440" cy="2926080"/>
          </a:xfrm>
          <a:prstGeom prst="roundRect">
            <a:avLst>
              <a:gd name="adj" fmla="val 2813"/>
            </a:avLst>
          </a:prstGeom>
          <a:solidFill>
            <a:srgbClr val="F7F5F0"/>
          </a:solidFill>
          <a:ln w="12700">
            <a:solidFill>
              <a:srgbClr val="F7F5F0"/>
            </a:solidFill>
            <a:prstDash val="solid"/>
          </a:ln>
        </p:spPr>
      </p:sp>
      <p:sp>
        <p:nvSpPr>
          <p:cNvPr id="11" name="Text 8"/>
          <p:cNvSpPr/>
          <p:nvPr/>
        </p:nvSpPr>
        <p:spPr>
          <a:xfrm>
            <a:off x="4663440"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Leveled ≠ verified</a:t>
            </a:r>
            <a:endParaRPr lang="en-US" sz="1900" dirty="0"/>
          </a:p>
        </p:txBody>
      </p:sp>
      <p:sp>
        <p:nvSpPr>
          <p:cNvPr id="12" name="Text 9"/>
          <p:cNvSpPr/>
          <p:nvPr/>
        </p:nvSpPr>
        <p:spPr>
          <a:xfrm>
            <a:off x="4663440"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The label is a guess until you check it.</a:t>
            </a:r>
            <a:endParaRPr lang="en-US" sz="1600" dirty="0"/>
          </a:p>
        </p:txBody>
      </p:sp>
      <p:sp>
        <p:nvSpPr>
          <p:cNvPr id="13" name="Shape 10"/>
          <p:cNvSpPr/>
          <p:nvPr/>
        </p:nvSpPr>
        <p:spPr>
          <a:xfrm>
            <a:off x="8174736" y="1554480"/>
            <a:ext cx="3520440" cy="2926080"/>
          </a:xfrm>
          <a:prstGeom prst="roundRect">
            <a:avLst>
              <a:gd name="adj" fmla="val 2813"/>
            </a:avLst>
          </a:prstGeom>
          <a:solidFill>
            <a:srgbClr val="F7F5F0"/>
          </a:solidFill>
          <a:ln w="12700">
            <a:solidFill>
              <a:srgbClr val="F7F5F0"/>
            </a:solidFill>
            <a:prstDash val="solid"/>
          </a:ln>
        </p:spPr>
      </p:sp>
      <p:sp>
        <p:nvSpPr>
          <p:cNvPr id="14" name="Text 11"/>
          <p:cNvSpPr/>
          <p:nvPr/>
        </p:nvSpPr>
        <p:spPr>
          <a:xfrm>
            <a:off x="8430768"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 invent things</a:t>
            </a:r>
            <a:endParaRPr lang="en-US" sz="1900" dirty="0"/>
          </a:p>
        </p:txBody>
      </p:sp>
      <p:sp>
        <p:nvSpPr>
          <p:cNvPr id="15" name="Text 12"/>
          <p:cNvSpPr/>
          <p:nvPr/>
        </p:nvSpPr>
        <p:spPr>
          <a:xfrm>
            <a:off x="8430768"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Activities that don’t quite work; resources that don’t exist.</a:t>
            </a:r>
            <a:endParaRPr lang="en-US" sz="1600" dirty="0"/>
          </a:p>
        </p:txBody>
      </p:sp>
      <p:sp>
        <p:nvSpPr>
          <p:cNvPr id="16" name="Text 13"/>
          <p:cNvSpPr/>
          <p:nvPr/>
        </p:nvSpPr>
        <p:spPr>
          <a:xfrm>
            <a:off x="640080" y="49377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None of that is a reason to skip the tool. All of it is the reason the teacher stays in the loop.</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18</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BIGGER THAN THIS ROOM</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Narrow gaps. Don’t widen them.</a:t>
            </a:r>
            <a:endParaRPr lang="en-US" sz="3200" dirty="0"/>
          </a:p>
        </p:txBody>
      </p:sp>
      <p:sp>
        <p:nvSpPr>
          <p:cNvPr id="7" name="Shape 4"/>
          <p:cNvSpPr/>
          <p:nvPr/>
        </p:nvSpPr>
        <p:spPr>
          <a:xfrm>
            <a:off x="640080" y="1645920"/>
            <a:ext cx="10972800" cy="2926080"/>
          </a:xfrm>
          <a:prstGeom prst="roundRect">
            <a:avLst>
              <a:gd name="adj" fmla="val 2813"/>
            </a:avLst>
          </a:prstGeom>
          <a:solidFill>
            <a:srgbClr val="F7F5F0"/>
          </a:solidFill>
          <a:ln w="12700">
            <a:solidFill>
              <a:srgbClr val="F7F5F0"/>
            </a:solidFill>
            <a:prstDash val="solid"/>
          </a:ln>
        </p:spPr>
      </p:sp>
      <p:sp>
        <p:nvSpPr>
          <p:cNvPr id="8" name="Text 5"/>
          <p:cNvSpPr/>
          <p:nvPr/>
        </p:nvSpPr>
        <p:spPr>
          <a:xfrm>
            <a:off x="640080" y="2011680"/>
            <a:ext cx="10972800" cy="1280160"/>
          </a:xfrm>
          <a:prstGeom prst="rect">
            <a:avLst/>
          </a:prstGeom>
          <a:noFill/>
          <a:ln/>
        </p:spPr>
        <p:txBody>
          <a:bodyPr wrap="square" lIns="0" tIns="0" rIns="0" bIns="0" rtlCol="0" anchor="ctr"/>
          <a:lstStyle/>
          <a:p>
            <a:pPr algn="ctr" indent="0" marL="0">
              <a:buNone/>
            </a:pPr>
            <a:r>
              <a:rPr lang="en-US" sz="7200" b="1" dirty="0">
                <a:solidFill>
                  <a:srgbClr val="2A9D8F"/>
                </a:solidFill>
                <a:latin typeface="Inter" pitchFamily="34" charset="0"/>
                <a:ea typeface="Inter" pitchFamily="34" charset="-122"/>
                <a:cs typeface="Inter" pitchFamily="34" charset="-120"/>
              </a:rPr>
              <a:t>25%</a:t>
            </a:r>
            <a:endParaRPr lang="en-US" sz="7200" dirty="0"/>
          </a:p>
        </p:txBody>
      </p:sp>
      <p:sp>
        <p:nvSpPr>
          <p:cNvPr id="9" name="Text 6"/>
          <p:cNvSpPr/>
          <p:nvPr/>
        </p:nvSpPr>
        <p:spPr>
          <a:xfrm>
            <a:off x="1280160" y="3383280"/>
            <a:ext cx="9601200" cy="100584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for planning or teaching in 2023–24, and adoption lagged in higher-poverty schools. (RAND, 2025)</a:t>
            </a:r>
            <a:endParaRPr lang="en-US" sz="1600" dirty="0"/>
          </a:p>
        </p:txBody>
      </p:sp>
      <p:sp>
        <p:nvSpPr>
          <p:cNvPr id="10" name="Text 7"/>
          <p:cNvSpPr/>
          <p:nvPr/>
        </p:nvSpPr>
        <p:spPr>
          <a:xfrm>
            <a:off x="640080" y="5029200"/>
            <a:ext cx="10972800" cy="54864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fix in this building: everyone learns the moves, everyone shares the prompts, every roster benefits.</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19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~20 MINUTES</a:t>
            </a:r>
            <a:endParaRPr lang="en-US" sz="1200" dirty="0"/>
          </a:p>
        </p:txBody>
      </p:sp>
      <p:sp>
        <p:nvSpPr>
          <p:cNvPr id="6" name="Text 3"/>
          <p:cNvSpPr/>
          <p:nvPr/>
        </p:nvSpPr>
        <p:spPr>
          <a:xfrm>
            <a:off x="640080" y="1371600"/>
            <a:ext cx="10972800" cy="91440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Lab: differentiate your real lesson.</a:t>
            </a:r>
            <a:endParaRPr lang="en-US" sz="4000" dirty="0"/>
          </a:p>
        </p:txBody>
      </p:sp>
      <p:sp>
        <p:nvSpPr>
          <p:cNvPr id="7" name="Text 4"/>
          <p:cNvSpPr/>
          <p:nvPr/>
        </p:nvSpPr>
        <p:spPr>
          <a:xfrm>
            <a:off x="640080" y="2377440"/>
            <a:ext cx="10972800" cy="82296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The lesson you brought. By the end: a core artifact, a support version, and an extension, reviewed and teachable this week.</a:t>
            </a:r>
            <a:endParaRPr lang="en-US" sz="2000" dirty="0"/>
          </a:p>
        </p:txBody>
      </p:sp>
      <p:sp>
        <p:nvSpPr>
          <p:cNvPr id="8" name="Shape 5"/>
          <p:cNvSpPr/>
          <p:nvPr/>
        </p:nvSpPr>
        <p:spPr>
          <a:xfrm>
            <a:off x="822960" y="3474720"/>
            <a:ext cx="566928" cy="566928"/>
          </a:xfrm>
          <a:prstGeom prst="ellipse">
            <a:avLst/>
          </a:prstGeom>
          <a:solidFill>
            <a:srgbClr val="2A9D8F"/>
          </a:solidFill>
          <a:ln w="12700">
            <a:solidFill>
              <a:srgbClr val="2A9D8F"/>
            </a:solidFill>
            <a:prstDash val="solid"/>
          </a:ln>
        </p:spPr>
      </p:sp>
      <p:sp>
        <p:nvSpPr>
          <p:cNvPr id="9" name="Text 6"/>
          <p:cNvSpPr/>
          <p:nvPr/>
        </p:nvSpPr>
        <p:spPr>
          <a:xfrm>
            <a:off x="822960" y="3474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0" name="Text 7"/>
          <p:cNvSpPr/>
          <p:nvPr/>
        </p:nvSpPr>
        <p:spPr>
          <a:xfrm>
            <a:off x="1600200" y="342900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information: describe needs, never names</a:t>
            </a:r>
            <a:endParaRPr lang="en-US" sz="2000" dirty="0"/>
          </a:p>
        </p:txBody>
      </p:sp>
      <p:sp>
        <p:nvSpPr>
          <p:cNvPr id="11" name="Shape 8"/>
          <p:cNvSpPr/>
          <p:nvPr/>
        </p:nvSpPr>
        <p:spPr>
          <a:xfrm>
            <a:off x="822960" y="4297680"/>
            <a:ext cx="566928" cy="566928"/>
          </a:xfrm>
          <a:prstGeom prst="ellipse">
            <a:avLst/>
          </a:prstGeom>
          <a:solidFill>
            <a:srgbClr val="2A9D8F"/>
          </a:solidFill>
          <a:ln w="12700">
            <a:solidFill>
              <a:srgbClr val="2A9D8F"/>
            </a:solidFill>
            <a:prstDash val="solid"/>
          </a:ln>
        </p:spPr>
      </p:sp>
      <p:sp>
        <p:nvSpPr>
          <p:cNvPr id="12" name="Text 9"/>
          <p:cNvSpPr/>
          <p:nvPr/>
        </p:nvSpPr>
        <p:spPr>
          <a:xfrm>
            <a:off x="822960" y="42976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13" name="Text 10"/>
          <p:cNvSpPr/>
          <p:nvPr/>
        </p:nvSpPr>
        <p:spPr>
          <a:xfrm>
            <a:off x="1600200" y="425196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Draft the core with the four-part formula, then differentiate two directions</a:t>
            </a:r>
            <a:endParaRPr lang="en-US" sz="2000" dirty="0"/>
          </a:p>
        </p:txBody>
      </p:sp>
      <p:sp>
        <p:nvSpPr>
          <p:cNvPr id="14" name="Shape 11"/>
          <p:cNvSpPr/>
          <p:nvPr/>
        </p:nvSpPr>
        <p:spPr>
          <a:xfrm>
            <a:off x="822960" y="5120640"/>
            <a:ext cx="566928" cy="566928"/>
          </a:xfrm>
          <a:prstGeom prst="ellipse">
            <a:avLst/>
          </a:prstGeom>
          <a:solidFill>
            <a:srgbClr val="2A9D8F"/>
          </a:solidFill>
          <a:ln w="12700">
            <a:solidFill>
              <a:srgbClr val="2A9D8F"/>
            </a:solidFill>
            <a:prstDash val="solid"/>
          </a:ln>
        </p:spPr>
      </p:sp>
      <p:sp>
        <p:nvSpPr>
          <p:cNvPr id="15" name="Text 12"/>
          <p:cNvSpPr/>
          <p:nvPr/>
        </p:nvSpPr>
        <p:spPr>
          <a:xfrm>
            <a:off x="822960" y="5120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16" name="Text 13"/>
          <p:cNvSpPr/>
          <p:nvPr/>
        </p:nvSpPr>
        <p:spPr>
          <a:xfrm>
            <a:off x="1600200" y="507492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Nothing is done until it passes the 4-point review</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20</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3 · 5 MINUTES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Draft the core artifact</a:t>
            </a:r>
            <a:endParaRPr lang="en-US" sz="3200" dirty="0"/>
          </a:p>
        </p:txBody>
      </p:sp>
      <p:sp>
        <p:nvSpPr>
          <p:cNvPr id="7" name="Shape 4"/>
          <p:cNvSpPr/>
          <p:nvPr/>
        </p:nvSpPr>
        <p:spPr>
          <a:xfrm>
            <a:off x="640080" y="1508760"/>
            <a:ext cx="10972800" cy="731520"/>
          </a:xfrm>
          <a:prstGeom prst="roundRect">
            <a:avLst>
              <a:gd name="adj" fmla="val 11250"/>
            </a:avLst>
          </a:prstGeom>
          <a:solidFill>
            <a:srgbClr val="F7F5F0"/>
          </a:solidFill>
          <a:ln w="12700">
            <a:solidFill>
              <a:srgbClr val="F7F5F0"/>
            </a:solidFill>
            <a:prstDash val="solid"/>
          </a:ln>
        </p:spPr>
      </p:sp>
      <p:sp>
        <p:nvSpPr>
          <p:cNvPr id="8" name="Text 5"/>
          <p:cNvSpPr/>
          <p:nvPr/>
        </p:nvSpPr>
        <p:spPr>
          <a:xfrm>
            <a:off x="960120" y="1563624"/>
            <a:ext cx="10332720" cy="621792"/>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Pick the one artifact your lesson most needs: reading, practice set, directions, exit check</a:t>
            </a:r>
            <a:endParaRPr lang="en-US" sz="1800" dirty="0"/>
          </a:p>
        </p:txBody>
      </p:sp>
      <p:sp>
        <p:nvSpPr>
          <p:cNvPr id="9" name="Shape 6"/>
          <p:cNvSpPr/>
          <p:nvPr/>
        </p:nvSpPr>
        <p:spPr>
          <a:xfrm>
            <a:off x="640080" y="2377440"/>
            <a:ext cx="10972800" cy="731520"/>
          </a:xfrm>
          <a:prstGeom prst="roundRect">
            <a:avLst>
              <a:gd name="adj" fmla="val 11250"/>
            </a:avLst>
          </a:prstGeom>
          <a:solidFill>
            <a:srgbClr val="F7F5F0"/>
          </a:solidFill>
          <a:ln w="12700">
            <a:solidFill>
              <a:srgbClr val="F7F5F0"/>
            </a:solidFill>
            <a:prstDash val="solid"/>
          </a:ln>
        </p:spPr>
      </p:sp>
      <p:sp>
        <p:nvSpPr>
          <p:cNvPr id="10" name="Text 7"/>
          <p:cNvSpPr/>
          <p:nvPr/>
        </p:nvSpPr>
        <p:spPr>
          <a:xfrm>
            <a:off x="960120" y="2432304"/>
            <a:ext cx="10332720" cy="621792"/>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Role · task · context · format, and be generous with context</a:t>
            </a:r>
            <a:endParaRPr lang="en-US" sz="1800" dirty="0"/>
          </a:p>
        </p:txBody>
      </p:sp>
      <p:sp>
        <p:nvSpPr>
          <p:cNvPr id="11" name="Shape 8"/>
          <p:cNvSpPr/>
          <p:nvPr/>
        </p:nvSpPr>
        <p:spPr>
          <a:xfrm>
            <a:off x="640080" y="3246120"/>
            <a:ext cx="10972800" cy="731520"/>
          </a:xfrm>
          <a:prstGeom prst="roundRect">
            <a:avLst>
              <a:gd name="adj" fmla="val 11250"/>
            </a:avLst>
          </a:prstGeom>
          <a:solidFill>
            <a:srgbClr val="F7F5F0"/>
          </a:solidFill>
          <a:ln w="12700">
            <a:solidFill>
              <a:srgbClr val="F7F5F0"/>
            </a:solidFill>
            <a:prstDash val="solid"/>
          </a:ln>
        </p:spPr>
      </p:sp>
      <p:sp>
        <p:nvSpPr>
          <p:cNvPr id="12" name="Text 9"/>
          <p:cNvSpPr/>
          <p:nvPr/>
        </p:nvSpPr>
        <p:spPr>
          <a:xfrm>
            <a:off x="960120" y="3300984"/>
            <a:ext cx="10332720" cy="621792"/>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What did students just learn? What do they always trip on?</a:t>
            </a:r>
            <a:endParaRPr lang="en-US" sz="1800" dirty="0"/>
          </a:p>
        </p:txBody>
      </p:sp>
      <p:sp>
        <p:nvSpPr>
          <p:cNvPr id="13" name="Shape 10"/>
          <p:cNvSpPr/>
          <p:nvPr/>
        </p:nvSpPr>
        <p:spPr>
          <a:xfrm>
            <a:off x="640080" y="4114800"/>
            <a:ext cx="10972800" cy="731520"/>
          </a:xfrm>
          <a:prstGeom prst="roundRect">
            <a:avLst>
              <a:gd name="adj" fmla="val 11250"/>
            </a:avLst>
          </a:prstGeom>
          <a:solidFill>
            <a:srgbClr val="F7F5F0"/>
          </a:solidFill>
          <a:ln w="12700">
            <a:solidFill>
              <a:srgbClr val="F7F5F0"/>
            </a:solidFill>
            <a:prstDash val="solid"/>
          </a:ln>
        </p:spPr>
      </p:sp>
      <p:sp>
        <p:nvSpPr>
          <p:cNvPr id="14" name="Text 11"/>
          <p:cNvSpPr/>
          <p:nvPr/>
        </p:nvSpPr>
        <p:spPr>
          <a:xfrm>
            <a:off x="960120" y="4169664"/>
            <a:ext cx="10332720" cy="621792"/>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Run it. Read like an editor. Get it to 80%, not perfect.</a:t>
            </a:r>
            <a:endParaRPr lang="en-US" sz="1800" dirty="0"/>
          </a:p>
        </p:txBody>
      </p:sp>
      <p:sp>
        <p:nvSpPr>
          <p:cNvPr id="15" name="Text 12"/>
          <p:cNvSpPr/>
          <p:nvPr/>
        </p:nvSpPr>
        <p:spPr>
          <a:xfrm>
            <a:off x="640080" y="521208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Don’t polish. The next step is where today earns its name.</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3 · 7 MINUTES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Differentiate it: two directions</a:t>
            </a:r>
            <a:endParaRPr lang="en-US" sz="3200" dirty="0"/>
          </a:p>
        </p:txBody>
      </p:sp>
      <p:sp>
        <p:nvSpPr>
          <p:cNvPr id="7" name="Shape 4"/>
          <p:cNvSpPr/>
          <p:nvPr/>
        </p:nvSpPr>
        <p:spPr>
          <a:xfrm>
            <a:off x="640080" y="1554480"/>
            <a:ext cx="5394960" cy="3840480"/>
          </a:xfrm>
          <a:prstGeom prst="roundRect">
            <a:avLst>
              <a:gd name="adj" fmla="val 2143"/>
            </a:avLst>
          </a:prstGeom>
          <a:solidFill>
            <a:srgbClr val="EAF5F3"/>
          </a:solidFill>
          <a:ln w="12700">
            <a:solidFill>
              <a:srgbClr val="EAF5F3"/>
            </a:solidFill>
            <a:prstDash val="solid"/>
          </a:ln>
        </p:spPr>
      </p:sp>
      <p:sp>
        <p:nvSpPr>
          <p:cNvPr id="8" name="Text 5"/>
          <p:cNvSpPr/>
          <p:nvPr/>
        </p:nvSpPr>
        <p:spPr>
          <a:xfrm>
            <a:off x="960120" y="1828800"/>
            <a:ext cx="4754880" cy="457200"/>
          </a:xfrm>
          <a:prstGeom prst="rect">
            <a:avLst/>
          </a:prstGeom>
          <a:noFill/>
          <a:ln/>
        </p:spPr>
        <p:txBody>
          <a:bodyPr wrap="square" lIns="0" tIns="0" rIns="0" bIns="0" rtlCol="0" anchor="ctr"/>
          <a:lstStyle/>
          <a:p>
            <a:pPr indent="0" marL="0">
              <a:buNone/>
            </a:pPr>
            <a:r>
              <a:rPr lang="en-US" sz="2200" b="1" dirty="0">
                <a:solidFill>
                  <a:srgbClr val="2E7D5B"/>
                </a:solidFill>
                <a:latin typeface="Inter" pitchFamily="34" charset="0"/>
                <a:ea typeface="Inter" pitchFamily="34" charset="-122"/>
                <a:cs typeface="Inter" pitchFamily="34" charset="-120"/>
              </a:rPr>
              <a:t>Support</a:t>
            </a:r>
            <a:endParaRPr lang="en-US" sz="2200" dirty="0"/>
          </a:p>
        </p:txBody>
      </p:sp>
      <p:sp>
        <p:nvSpPr>
          <p:cNvPr id="9" name="Text 6"/>
          <p:cNvSpPr/>
          <p:nvPr/>
        </p:nvSpPr>
        <p:spPr>
          <a:xfrm>
            <a:off x="96012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Level it down or scaffold it, your choice. Use the handout prompt as-is; the AI already has your artifact in the chat.</a:t>
            </a:r>
            <a:endParaRPr lang="en-US" sz="1800" dirty="0"/>
          </a:p>
        </p:txBody>
      </p:sp>
      <p:sp>
        <p:nvSpPr>
          <p:cNvPr id="10" name="Shape 7"/>
          <p:cNvSpPr/>
          <p:nvPr/>
        </p:nvSpPr>
        <p:spPr>
          <a:xfrm>
            <a:off x="6263640" y="1554480"/>
            <a:ext cx="5394960" cy="3840480"/>
          </a:xfrm>
          <a:prstGeom prst="roundRect">
            <a:avLst>
              <a:gd name="adj" fmla="val 2143"/>
            </a:avLst>
          </a:prstGeom>
          <a:solidFill>
            <a:srgbClr val="F7F5F0"/>
          </a:solidFill>
          <a:ln w="12700">
            <a:solidFill>
              <a:srgbClr val="F7F5F0"/>
            </a:solidFill>
            <a:prstDash val="solid"/>
          </a:ln>
        </p:spPr>
      </p:sp>
      <p:sp>
        <p:nvSpPr>
          <p:cNvPr id="11" name="Text 8"/>
          <p:cNvSpPr/>
          <p:nvPr/>
        </p:nvSpPr>
        <p:spPr>
          <a:xfrm>
            <a:off x="6583680" y="1828800"/>
            <a:ext cx="475488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Stretch</a:t>
            </a:r>
            <a:endParaRPr lang="en-US" sz="2200" dirty="0"/>
          </a:p>
        </p:txBody>
      </p:sp>
      <p:sp>
        <p:nvSpPr>
          <p:cNvPr id="12" name="Text 9"/>
          <p:cNvSpPr/>
          <p:nvPr/>
        </p:nvSpPr>
        <p:spPr>
          <a:xfrm>
            <a:off x="658368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Extension prompts: apply, critique, teach back. Depth, not length. Say “no additional practice problems.”</a:t>
            </a:r>
            <a:endParaRPr lang="en-US" sz="1800" dirty="0"/>
          </a:p>
        </p:txBody>
      </p:sp>
      <p:sp>
        <p:nvSpPr>
          <p:cNvPr id="13" name="Text 10"/>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You’re building the versions that used to cost an evening, inside seven minutes.</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3 · 4 MINUTES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Run the 4-point review. Fix what fails.</a:t>
            </a:r>
            <a:endParaRPr lang="en-US" sz="3200" dirty="0"/>
          </a:p>
        </p:txBody>
      </p:sp>
      <p:sp>
        <p:nvSpPr>
          <p:cNvPr id="7" name="Shape 4"/>
          <p:cNvSpPr/>
          <p:nvPr/>
        </p:nvSpPr>
        <p:spPr>
          <a:xfrm>
            <a:off x="640080" y="1508760"/>
            <a:ext cx="10972800" cy="731520"/>
          </a:xfrm>
          <a:prstGeom prst="roundRect">
            <a:avLst>
              <a:gd name="adj" fmla="val 11250"/>
            </a:avLst>
          </a:prstGeom>
          <a:solidFill>
            <a:srgbClr val="F7F5F0"/>
          </a:solidFill>
          <a:ln w="12700">
            <a:solidFill>
              <a:srgbClr val="F7F5F0"/>
            </a:solidFill>
            <a:prstDash val="solid"/>
          </a:ln>
        </p:spPr>
      </p:sp>
      <p:sp>
        <p:nvSpPr>
          <p:cNvPr id="8" name="Text 5"/>
          <p:cNvSpPr/>
          <p:nvPr/>
        </p:nvSpPr>
        <p:spPr>
          <a:xfrm>
            <a:off x="960120" y="1563624"/>
            <a:ext cx="10332720" cy="621792"/>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Accurate? Check facts and any named resources</a:t>
            </a:r>
            <a:endParaRPr lang="en-US" sz="1800" dirty="0"/>
          </a:p>
        </p:txBody>
      </p:sp>
      <p:sp>
        <p:nvSpPr>
          <p:cNvPr id="9" name="Shape 6"/>
          <p:cNvSpPr/>
          <p:nvPr/>
        </p:nvSpPr>
        <p:spPr>
          <a:xfrm>
            <a:off x="640080" y="2377440"/>
            <a:ext cx="10972800" cy="731520"/>
          </a:xfrm>
          <a:prstGeom prst="roundRect">
            <a:avLst>
              <a:gd name="adj" fmla="val 11250"/>
            </a:avLst>
          </a:prstGeom>
          <a:solidFill>
            <a:srgbClr val="F7F5F0"/>
          </a:solidFill>
          <a:ln w="12700">
            <a:solidFill>
              <a:srgbClr val="F7F5F0"/>
            </a:solidFill>
            <a:prstDash val="solid"/>
          </a:ln>
        </p:spPr>
      </p:sp>
      <p:sp>
        <p:nvSpPr>
          <p:cNvPr id="10" name="Text 7"/>
          <p:cNvSpPr/>
          <p:nvPr/>
        </p:nvSpPr>
        <p:spPr>
          <a:xfrm>
            <a:off x="960120" y="2432304"/>
            <a:ext cx="10332720" cy="621792"/>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At level, actually? Read the support version aloud to your partner</a:t>
            </a:r>
            <a:endParaRPr lang="en-US" sz="1800" dirty="0"/>
          </a:p>
        </p:txBody>
      </p:sp>
      <p:sp>
        <p:nvSpPr>
          <p:cNvPr id="11" name="Shape 8"/>
          <p:cNvSpPr/>
          <p:nvPr/>
        </p:nvSpPr>
        <p:spPr>
          <a:xfrm>
            <a:off x="640080" y="3246120"/>
            <a:ext cx="10972800" cy="731520"/>
          </a:xfrm>
          <a:prstGeom prst="roundRect">
            <a:avLst>
              <a:gd name="adj" fmla="val 11250"/>
            </a:avLst>
          </a:prstGeom>
          <a:solidFill>
            <a:srgbClr val="F7F5F0"/>
          </a:solidFill>
          <a:ln w="12700">
            <a:solidFill>
              <a:srgbClr val="F7F5F0"/>
            </a:solidFill>
            <a:prstDash val="solid"/>
          </a:ln>
        </p:spPr>
      </p:sp>
      <p:sp>
        <p:nvSpPr>
          <p:cNvPr id="12" name="Text 9"/>
          <p:cNvSpPr/>
          <p:nvPr/>
        </p:nvSpPr>
        <p:spPr>
          <a:xfrm>
            <a:off x="960120" y="3300984"/>
            <a:ext cx="10332720" cy="621792"/>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Fits your students? Swap the examples that won’t land</a:t>
            </a:r>
            <a:endParaRPr lang="en-US" sz="1800" dirty="0"/>
          </a:p>
        </p:txBody>
      </p:sp>
      <p:sp>
        <p:nvSpPr>
          <p:cNvPr id="13" name="Shape 10"/>
          <p:cNvSpPr/>
          <p:nvPr/>
        </p:nvSpPr>
        <p:spPr>
          <a:xfrm>
            <a:off x="640080" y="4114800"/>
            <a:ext cx="10972800" cy="731520"/>
          </a:xfrm>
          <a:prstGeom prst="roundRect">
            <a:avLst>
              <a:gd name="adj" fmla="val 11250"/>
            </a:avLst>
          </a:prstGeom>
          <a:solidFill>
            <a:srgbClr val="F7F5F0"/>
          </a:solidFill>
          <a:ln w="12700">
            <a:solidFill>
              <a:srgbClr val="F7F5F0"/>
            </a:solidFill>
            <a:prstDash val="solid"/>
          </a:ln>
        </p:spPr>
      </p:sp>
      <p:sp>
        <p:nvSpPr>
          <p:cNvPr id="14" name="Text 11"/>
          <p:cNvSpPr/>
          <p:nvPr/>
        </p:nvSpPr>
        <p:spPr>
          <a:xfrm>
            <a:off x="960120" y="4169664"/>
            <a:ext cx="10332720" cy="621792"/>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Sounds like you? If not: “warmer,” “plainer,” “shorter”</a:t>
            </a:r>
            <a:endParaRPr lang="en-US" sz="1800" dirty="0"/>
          </a:p>
        </p:txBody>
      </p:sp>
      <p:sp>
        <p:nvSpPr>
          <p:cNvPr id="15" name="Text 12"/>
          <p:cNvSpPr/>
          <p:nvPr/>
        </p:nvSpPr>
        <p:spPr>
          <a:xfrm>
            <a:off x="640080" y="521208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An artifact that passes all four is done. Not AI-done. Done done.</a:t>
            </a:r>
            <a:endParaRPr lang="en-US"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SHARE-OUT · 3–4 VOICES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did you build?</a:t>
            </a:r>
            <a:endParaRPr lang="en-US" sz="3200" dirty="0"/>
          </a:p>
        </p:txBody>
      </p:sp>
      <p:sp>
        <p:nvSpPr>
          <p:cNvPr id="7" name="Text 4"/>
          <p:cNvSpPr/>
          <p:nvPr/>
        </p:nvSpPr>
        <p:spPr>
          <a:xfrm>
            <a:off x="640080" y="1554480"/>
            <a:ext cx="10908792" cy="2560320"/>
          </a:xfrm>
          <a:prstGeom prst="rect">
            <a:avLst/>
          </a:prstGeom>
          <a:noFill/>
          <a:ln/>
        </p:spPr>
        <p:txBody>
          <a:bodyPr wrap="square" rtlCol="0" anchor="t"/>
          <a:lstStyle/>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What’s your artifact, and which direction surprised you?</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Did the 4-point review catch anything?</a:t>
            </a:r>
            <a:endParaRPr lang="en-US" sz="2200" dirty="0"/>
          </a:p>
          <a:p>
            <a:pPr marL="342900" indent="-342900">
              <a:spcAft>
                <a:spcPts val="1000"/>
              </a:spcAft>
              <a:buSzPct val="100000"/>
              <a:buChar char="•"/>
            </a:pPr>
            <a:r>
              <a:rPr lang="en-US" sz="2200" b="1" dirty="0">
                <a:solidFill>
                  <a:srgbClr val="13293D"/>
                </a:solidFill>
                <a:latin typeface="Inter" pitchFamily="34" charset="0"/>
                <a:ea typeface="Inter" pitchFamily="34" charset="-122"/>
                <a:cs typeface="Inter" pitchFamily="34" charset="-120"/>
              </a:rPr>
              <a:t>If the AI got a level wrong or invented something, that story goes first.</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24</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NINETEEN MINUTES AGO THIS DIDN’T EXIST</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From good intentions to materials</a:t>
            </a:r>
            <a:endParaRPr lang="en-US" sz="3200" dirty="0"/>
          </a:p>
        </p:txBody>
      </p:sp>
      <p:sp>
        <p:nvSpPr>
          <p:cNvPr id="7" name="Shape 4"/>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8" name="Text 5"/>
          <p:cNvSpPr/>
          <p:nvPr/>
        </p:nvSpPr>
        <p:spPr>
          <a:xfrm>
            <a:off x="1005840" y="1920240"/>
            <a:ext cx="10241280" cy="2743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 core artifact. A support version. An extension. All reviewed by the one person qualified to review them.
</a:t>
            </a:r>
            <a:pPr indent="0" marL="0">
              <a:buNone/>
            </a:pPr>
            <a:r>
              <a:rPr lang="en-US" sz="2000" dirty="0">
                <a:solidFill>
                  <a:srgbClr val="1B1F24"/>
                </a:solidFill>
                <a:latin typeface="Inter" pitchFamily="34" charset="0"/>
                <a:ea typeface="Inter" pitchFamily="34" charset="-122"/>
                <a:cs typeface="Inter" pitchFamily="34" charset="-120"/>
              </a:rPr>
              <a:t>The research said differentiation works best embedded and technology-supported. That’s not a description of some other school anymore. It’s what’s on your screen.</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25</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HABIT THAT COMPOUNDS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One differentiated artifact per week</a:t>
            </a:r>
            <a:endParaRPr lang="en-US" sz="3200" dirty="0"/>
          </a:p>
        </p:txBody>
      </p:sp>
      <p:sp>
        <p:nvSpPr>
          <p:cNvPr id="7" name="Text 4"/>
          <p:cNvSpPr/>
          <p:nvPr/>
        </p:nvSpPr>
        <p:spPr>
          <a:xfrm>
            <a:off x="640080" y="146304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Not a differentiated everything; that’s burnout dressed up as ambition</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One lesson a week gets the full treatment: core, support, extension, review</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Fifteen weeks in: fifteen lessons deep with materials for every learner on your roster</a:t>
            </a:r>
            <a:endParaRPr lang="en-US" sz="2100" dirty="0"/>
          </a:p>
        </p:txBody>
      </p:sp>
      <p:sp>
        <p:nvSpPr>
          <p:cNvPr id="8" name="Shape 5"/>
          <p:cNvSpPr/>
          <p:nvPr/>
        </p:nvSpPr>
        <p:spPr>
          <a:xfrm>
            <a:off x="640080" y="4023360"/>
            <a:ext cx="10972800" cy="1554480"/>
          </a:xfrm>
          <a:prstGeom prst="roundRect">
            <a:avLst>
              <a:gd name="adj" fmla="val 5294"/>
            </a:avLst>
          </a:prstGeom>
          <a:solidFill>
            <a:srgbClr val="EAF5F3"/>
          </a:solidFill>
          <a:ln w="12700">
            <a:solidFill>
              <a:srgbClr val="EAF5F3"/>
            </a:solidFill>
            <a:prstDash val="solid"/>
          </a:ln>
        </p:spPr>
      </p:sp>
      <p:sp>
        <p:nvSpPr>
          <p:cNvPr id="9" name="Text 6"/>
          <p:cNvSpPr/>
          <p:nvPr/>
        </p:nvSpPr>
        <p:spPr>
          <a:xfrm>
            <a:off x="960120" y="4206240"/>
            <a:ext cx="10332720" cy="1188720"/>
          </a:xfrm>
          <a:prstGeom prst="rect">
            <a:avLst/>
          </a:prstGeom>
          <a:noFill/>
          <a:ln/>
        </p:spPr>
        <p:txBody>
          <a:bodyPr wrap="square" lIns="0" tIns="0" rIns="0" bIns="0" rtlCol="0" anchor="ctr"/>
          <a:lstStyle/>
          <a:p>
            <a:pPr indent="0" marL="0">
              <a:buNone/>
            </a:pPr>
            <a:r>
              <a:rPr lang="en-US" sz="2400" b="1" dirty="0">
                <a:solidFill>
                  <a:srgbClr val="13293D"/>
                </a:solidFill>
                <a:latin typeface="Inter" pitchFamily="34" charset="0"/>
                <a:ea typeface="Inter" pitchFamily="34" charset="-122"/>
                <a:cs typeface="Inter" pitchFamily="34" charset="-120"/>
              </a:rPr>
              <a:t>Small, steady, sustainable. That’s the whole strategy.</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26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THE LIST GROWS BY ONE</a:t>
            </a:r>
            <a:endParaRPr lang="en-US" sz="1200" dirty="0"/>
          </a:p>
        </p:txBody>
      </p:sp>
      <p:sp>
        <p:nvSpPr>
          <p:cNvPr id="6" name="Text 3"/>
          <p:cNvSpPr/>
          <p:nvPr/>
        </p:nvSpPr>
        <p:spPr>
          <a:xfrm>
            <a:off x="640080" y="14630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Commitment #5</a:t>
            </a:r>
            <a:endParaRPr lang="en-US" sz="3600" dirty="0"/>
          </a:p>
        </p:txBody>
      </p:sp>
      <p:sp>
        <p:nvSpPr>
          <p:cNvPr id="7" name="Text 4"/>
          <p:cNvSpPr/>
          <p:nvPr/>
        </p:nvSpPr>
        <p:spPr>
          <a:xfrm>
            <a:off x="640080" y="2468880"/>
            <a:ext cx="10972800" cy="1463040"/>
          </a:xfrm>
          <a:prstGeom prst="rect">
            <a:avLst/>
          </a:prstGeom>
          <a:noFill/>
          <a:ln/>
        </p:spPr>
        <p:txBody>
          <a:bodyPr wrap="square" lIns="0" tIns="0" rIns="0" bIns="0" rtlCol="0" anchor="ctr"/>
          <a:lstStyle/>
          <a:p>
            <a:pPr indent="0" marL="0">
              <a:lnSpc>
                <a:spcPct val="120000"/>
              </a:lnSpc>
              <a:buNone/>
            </a:pPr>
            <a:r>
              <a:rPr lang="en-US" sz="2700" b="1" dirty="0">
                <a:solidFill>
                  <a:srgbClr val="2A9D8F"/>
                </a:solidFill>
                <a:latin typeface="Inter" pitchFamily="34" charset="0"/>
                <a:ea typeface="Inter" pitchFamily="34" charset="-122"/>
                <a:cs typeface="Inter" pitchFamily="34" charset="-120"/>
              </a:rPr>
              <a:t>Nothing AI-drafted reaches a student until it passes the 4-point review.</a:t>
            </a:r>
            <a:endParaRPr lang="en-US" sz="2700" dirty="0"/>
          </a:p>
          <a:p>
            <a:pPr indent="0" marL="0">
              <a:lnSpc>
                <a:spcPct val="120000"/>
              </a:lnSpc>
              <a:buNone/>
            </a:pPr>
            <a:r>
              <a:rPr lang="en-US" sz="2700" b="1" dirty="0">
                <a:solidFill>
                  <a:srgbClr val="2A9D8F"/>
                </a:solidFill>
                <a:latin typeface="Inter" pitchFamily="34" charset="0"/>
                <a:ea typeface="Inter" pitchFamily="34" charset="-122"/>
                <a:cs typeface="Inter" pitchFamily="34" charset="-120"/>
              </a:rPr>
              <a:t>And working differentiation prompts go in the staff doc.</a:t>
            </a:r>
            <a:endParaRPr lang="en-US" sz="2700" dirty="0"/>
          </a:p>
        </p:txBody>
      </p:sp>
      <p:sp>
        <p:nvSpPr>
          <p:cNvPr id="8" name="Text 5"/>
          <p:cNvSpPr/>
          <p:nvPr/>
        </p:nvSpPr>
        <p:spPr>
          <a:xfrm>
            <a:off x="640080" y="4846320"/>
            <a:ext cx="10972800" cy="457200"/>
          </a:xfrm>
          <a:prstGeom prst="rect">
            <a:avLst/>
          </a:prstGeom>
          <a:noFill/>
          <a:ln/>
        </p:spPr>
        <p:txBody>
          <a:bodyPr wrap="square" lIns="0" tIns="0" rIns="0" bIns="0" rtlCol="0" anchor="ctr"/>
          <a:lstStyle/>
          <a:p>
            <a:pPr indent="0" marL="0">
              <a:buNone/>
            </a:pPr>
            <a:r>
              <a:rPr lang="en-US" sz="2000" i="1" dirty="0">
                <a:solidFill>
                  <a:srgbClr val="9FB2C2"/>
                </a:solidFill>
                <a:latin typeface="Inter" pitchFamily="34" charset="0"/>
                <a:ea typeface="Inter" pitchFamily="34" charset="-122"/>
                <a:cs typeface="Inter" pitchFamily="34" charset="-120"/>
              </a:rPr>
              <a:t>Can I get a nod on that?</a:t>
            </a:r>
            <a:endParaRPr lang="en-US"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27</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3 OF 8 · TRACK A</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 next</a:t>
            </a:r>
            <a:endParaRPr lang="en-US" sz="3200" dirty="0"/>
          </a:p>
        </p:txBody>
      </p:sp>
      <p:sp>
        <p:nvSpPr>
          <p:cNvPr id="7" name="Shape 4"/>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8" name="Text 5"/>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Foundations &amp; Safety  ✔</a:t>
            </a:r>
            <a:endParaRPr lang="en-US" sz="1450" dirty="0"/>
          </a:p>
        </p:txBody>
      </p:sp>
      <p:sp>
        <p:nvSpPr>
          <p:cNvPr id="9" name="Shape 6"/>
          <p:cNvSpPr/>
          <p:nvPr/>
        </p:nvSpPr>
        <p:spPr>
          <a:xfrm>
            <a:off x="3474720" y="1554480"/>
            <a:ext cx="2651760" cy="1005840"/>
          </a:xfrm>
          <a:prstGeom prst="roundRect">
            <a:avLst>
              <a:gd name="adj" fmla="val 8182"/>
            </a:avLst>
          </a:prstGeom>
          <a:solidFill>
            <a:srgbClr val="EAF5F3"/>
          </a:solidFill>
          <a:ln w="12700">
            <a:solidFill>
              <a:srgbClr val="EAF5F3"/>
            </a:solidFill>
            <a:prstDash val="solid"/>
          </a:ln>
        </p:spPr>
      </p:sp>
      <p:sp>
        <p:nvSpPr>
          <p:cNvPr id="10" name="Text 7"/>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2 · Prompting Basics  ✔</a:t>
            </a:r>
            <a:endParaRPr lang="en-US" sz="1450" dirty="0"/>
          </a:p>
        </p:txBody>
      </p:sp>
      <p:sp>
        <p:nvSpPr>
          <p:cNvPr id="11" name="Shape 8"/>
          <p:cNvSpPr/>
          <p:nvPr/>
        </p:nvSpPr>
        <p:spPr>
          <a:xfrm>
            <a:off x="6309360" y="1554480"/>
            <a:ext cx="2651760" cy="1005840"/>
          </a:xfrm>
          <a:prstGeom prst="roundRect">
            <a:avLst>
              <a:gd name="adj" fmla="val 8182"/>
            </a:avLst>
          </a:prstGeom>
          <a:solidFill>
            <a:srgbClr val="EAF5F3"/>
          </a:solidFill>
          <a:ln w="12700">
            <a:solidFill>
              <a:srgbClr val="EAF5F3"/>
            </a:solidFill>
            <a:prstDash val="solid"/>
          </a:ln>
        </p:spPr>
      </p:sp>
      <p:sp>
        <p:nvSpPr>
          <p:cNvPr id="12" name="Text 9"/>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3 · Planning &amp; Differentiation  ✔</a:t>
            </a:r>
            <a:endParaRPr lang="en-US" sz="1450" dirty="0"/>
          </a:p>
        </p:txBody>
      </p:sp>
      <p:sp>
        <p:nvSpPr>
          <p:cNvPr id="13" name="Shape 10"/>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14" name="Text 11"/>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15" name="Shape 12"/>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16" name="Text 13"/>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17" name="Shape 14"/>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18" name="Text 15"/>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19" name="Shape 16"/>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0" name="Text 17"/>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1" name="Shape 18"/>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2" name="Text 19"/>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23" name="Shape 20"/>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24" name="Text 21"/>
          <p:cNvSpPr/>
          <p:nvPr/>
        </p:nvSpPr>
        <p:spPr>
          <a:xfrm>
            <a:off x="960120" y="4389120"/>
            <a:ext cx="10332720" cy="1097280"/>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Next: Kit 4, AI for Assessment. </a:t>
            </a:r>
            <a:pPr indent="0" marL="0">
              <a:buNone/>
            </a:pPr>
            <a:r>
              <a:rPr lang="en-US" sz="1700" dirty="0">
                <a:solidFill>
                  <a:srgbClr val="C9D4DE"/>
                </a:solidFill>
                <a:latin typeface="Inter" pitchFamily="34" charset="0"/>
                <a:ea typeface="Inter" pitchFamily="34" charset="-122"/>
                <a:cs typeface="Inter" pitchFamily="34" charset="-120"/>
              </a:rPr>
              <a:t>You built the materials for the range of learners in your room; next we build the ways to find out what they learned: question banks, rubrics, feedback that doesn’t eat your Sunday.</a:t>
            </a:r>
            <a:endParaRPr lang="en-US" sz="1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28</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Your first 48 hours: three small things</a:t>
            </a:r>
            <a:endParaRPr lang="en-US" sz="3200" dirty="0"/>
          </a:p>
        </p:txBody>
      </p:sp>
      <p:sp>
        <p:nvSpPr>
          <p:cNvPr id="7" name="Shape 4"/>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8" name="Text 5"/>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9" name="Text 6"/>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Teach with your lab artifact</a:t>
            </a:r>
            <a:endParaRPr lang="en-US" sz="2000" dirty="0"/>
          </a:p>
        </p:txBody>
      </p:sp>
      <p:sp>
        <p:nvSpPr>
          <p:cNvPr id="10" name="Text 7"/>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Then jot one line: what did the support kids and stretch kids actually do?</a:t>
            </a:r>
            <a:endParaRPr lang="en-US" sz="1600" dirty="0"/>
          </a:p>
        </p:txBody>
      </p:sp>
      <p:sp>
        <p:nvSpPr>
          <p:cNvPr id="11" name="Shape 8"/>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2" name="Text 9"/>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3" name="Text 10"/>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Level one more text, then check the level</a:t>
            </a:r>
            <a:endParaRPr lang="en-US" sz="2000" dirty="0"/>
          </a:p>
        </p:txBody>
      </p:sp>
      <p:sp>
        <p:nvSpPr>
          <p:cNvPr id="14" name="Text 11"/>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Read it aloud, eyeball sentence length, fix what the label got wrong</a:t>
            </a:r>
            <a:endParaRPr lang="en-US" sz="1600" dirty="0"/>
          </a:p>
        </p:txBody>
      </p:sp>
      <p:sp>
        <p:nvSpPr>
          <p:cNvPr id="15" name="Shape 12"/>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16" name="Text 13"/>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17" name="Text 14"/>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Post your best prompt to the staff doc</a:t>
            </a:r>
            <a:endParaRPr lang="en-US" sz="2000" dirty="0"/>
          </a:p>
        </p:txBody>
      </p:sp>
      <p:sp>
        <p:nvSpPr>
          <p:cNvPr id="18" name="Text 15"/>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move, your name, one line about the lesson it fit</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7" name="Text 4"/>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differentiation move you’ll use first</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artifact you built in the lab</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differentiation task you still want help with</a:t>
            </a:r>
            <a:endParaRPr lang="en-US" sz="2400" dirty="0"/>
          </a:p>
        </p:txBody>
      </p:sp>
      <p:sp>
        <p:nvSpPr>
          <p:cNvPr id="8" name="Text 5"/>
          <p:cNvSpPr/>
          <p:nvPr/>
        </p:nvSpPr>
        <p:spPr>
          <a:xfrm>
            <a:off x="640080" y="42976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Your answers steer the PLC follow-ups. Be honest.</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30</a:t>
            </a:r>
            <a:endParaRPr lang="en-US" sz="900" dirty="0"/>
          </a:p>
        </p:txBody>
      </p:sp>
      <p:sp>
        <p:nvSpPr>
          <p:cNvPr id="5" name="Text 2"/>
          <p:cNvSpPr/>
          <p:nvPr/>
        </p:nvSpPr>
        <p:spPr>
          <a:xfrm>
            <a:off x="640080" y="1737360"/>
            <a:ext cx="10972800" cy="2011680"/>
          </a:xfrm>
          <a:prstGeom prst="rect">
            <a:avLst/>
          </a:prstGeom>
          <a:noFill/>
          <a:ln/>
        </p:spPr>
        <p:txBody>
          <a:bodyPr wrap="square" lIns="0" tIns="0" rIns="0" bIns="0" rtlCol="0" anchor="ctr"/>
          <a:lstStyle/>
          <a:p>
            <a:pPr algn="ctr" indent="0" marL="0">
              <a:lnSpc>
                <a:spcPct val="120000"/>
              </a:lnSpc>
              <a:buNone/>
            </a:pPr>
            <a:r>
              <a:rPr lang="en-US" sz="3400" b="1" dirty="0">
                <a:solidFill>
                  <a:srgbClr val="FFFFFF"/>
                </a:solidFill>
                <a:latin typeface="Inter" pitchFamily="34" charset="0"/>
                <a:ea typeface="Inter" pitchFamily="34" charset="-122"/>
                <a:cs typeface="Inter" pitchFamily="34" charset="-120"/>
              </a:rPr>
              <a:t>Differentiation was never</a:t>
            </a:r>
            <a:endParaRPr lang="en-US" sz="3400" dirty="0"/>
          </a:p>
          <a:p>
            <a:pPr algn="ctr" indent="0" marL="0">
              <a:lnSpc>
                <a:spcPct val="120000"/>
              </a:lnSpc>
              <a:buNone/>
            </a:pPr>
            <a:r>
              <a:rPr lang="en-US" sz="3400" b="1" dirty="0">
                <a:solidFill>
                  <a:srgbClr val="FFFFFF"/>
                </a:solidFill>
                <a:latin typeface="Inter" pitchFamily="34" charset="0"/>
                <a:ea typeface="Inter" pitchFamily="34" charset="-122"/>
                <a:cs typeface="Inter" pitchFamily="34" charset="-120"/>
              </a:rPr>
              <a:t>a good-intentions problem.</a:t>
            </a:r>
            <a:endParaRPr lang="en-US" sz="3400" dirty="0"/>
          </a:p>
          <a:p>
            <a:pPr algn="ctr" indent="0" marL="0">
              <a:lnSpc>
                <a:spcPct val="120000"/>
              </a:lnSpc>
              <a:buNone/>
            </a:pPr>
            <a:r>
              <a:rPr lang="en-US" sz="3400" b="1" dirty="0">
                <a:solidFill>
                  <a:srgbClr val="FFFFFF"/>
                </a:solidFill>
                <a:latin typeface="Inter" pitchFamily="34" charset="0"/>
                <a:ea typeface="Inter" pitchFamily="34" charset="-122"/>
                <a:cs typeface="Inter" pitchFamily="34" charset="-120"/>
              </a:rPr>
              <a:t>It was a time problem.</a:t>
            </a:r>
            <a:endParaRPr lang="en-US" sz="3400" dirty="0"/>
          </a:p>
        </p:txBody>
      </p:sp>
      <p:sp>
        <p:nvSpPr>
          <p:cNvPr id="6" name="Text 3"/>
          <p:cNvSpPr/>
          <p:nvPr/>
        </p:nvSpPr>
        <p:spPr>
          <a:xfrm>
            <a:off x="640080" y="4023360"/>
            <a:ext cx="10972800" cy="1097280"/>
          </a:xfrm>
          <a:prstGeom prst="rect">
            <a:avLst/>
          </a:prstGeom>
          <a:noFill/>
          <a:ln/>
        </p:spPr>
        <p:txBody>
          <a:bodyPr wrap="square" lIns="0" tIns="0" rIns="0" bIns="0" rtlCol="0" anchor="ctr"/>
          <a:lstStyle/>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The time problem just got smaller.</a:t>
            </a:r>
            <a:endParaRPr lang="en-US" sz="2400" dirty="0"/>
          </a:p>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The knowing-your-kids part was always yours.</a:t>
            </a:r>
            <a:endParaRPr lang="en-US" sz="2400" dirty="0"/>
          </a:p>
        </p:txBody>
      </p:sp>
      <p:sp>
        <p:nvSpPr>
          <p:cNvPr id="7" name="Text 4"/>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3: AI for Planning &amp; Differentiation</dc:title>
  <dc:subject>PptxGenJS Presentation</dc:subject>
  <dc:creator>Adam &amp; Katelyn Spinozzi</dc:creator>
  <cp:lastModifiedBy>Adam &amp; Katelyn Spinozzi</cp:lastModifiedBy>
  <cp:revision>1</cp:revision>
  <dcterms:created xsi:type="dcterms:W3CDTF">2026-08-10T10:53:23Z</dcterms:created>
  <dcterms:modified xsi:type="dcterms:W3CDTF">2026-08-10T10:53:23Z</dcterms:modified>
</cp:coreProperties>
</file>