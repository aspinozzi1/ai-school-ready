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starters + word bank + one worked example on a DIFFERENT topic, so students see the structure without copying content. That clause is the professional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quiet rule out loud: early finishers get depth, not volume.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“same concepts in all three; label everything.”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drafts usually lack context; nudge with “what would a substitute need to know about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follow-up prompts in the same chat.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this step; skipping review is the failure mode of the whole kit. Pairs swap and check each other’s level labels: a partner’s ear is the first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tool for the time problem arrived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 lesson plan in 30 minutes. And one catch.</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Review is where your expertise enters</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moves. New price, same pedagogy.</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Check the level. Don’t trust the label.</a:t>
            </a:r>
            <a:endParaRPr lang="en-US" sz="32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Sentence starters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Word bank</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Worked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 a different topic: teaches the shape, not the answer</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Organizer text</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Stretch it: depth, not more worksheets</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Apply</a:t>
            </a:r>
            <a:endParaRPr lang="en-US" sz="2000" dirty="0"/>
          </a:p>
        </p:txBody>
      </p:sp>
      <p:sp>
        <p:nvSpPr>
          <p:cNvPr id="18" name="Text 15"/>
          <p:cNvSpPr/>
          <p:nvPr/>
        </p:nvSpPr>
        <p:spPr>
          <a:xfrm>
            <a:off x="868680"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Use the concept in an unfamiliar context</a:t>
            </a:r>
            <a:endParaRPr lang="en-US" sz="1500" dirty="0"/>
          </a:p>
        </p:txBody>
      </p:sp>
      <p:sp>
        <p:nvSpPr>
          <p:cNvPr id="19" name="Shape 16"/>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Critique</a:t>
            </a:r>
            <a:endParaRPr lang="en-US" sz="2000" dirty="0"/>
          </a:p>
        </p:txBody>
      </p:sp>
      <p:sp>
        <p:nvSpPr>
          <p:cNvPr id="23" name="Text 20"/>
          <p:cNvSpPr/>
          <p:nvPr/>
        </p:nvSpPr>
        <p:spPr>
          <a:xfrm>
            <a:off x="4636008"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Find the flaw in a flawed example</a:t>
            </a:r>
            <a:endParaRPr lang="en-US" sz="1500" dirty="0"/>
          </a:p>
        </p:txBody>
      </p:sp>
      <p:sp>
        <p:nvSpPr>
          <p:cNvPr id="24" name="Shape 21"/>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Teach</a:t>
            </a:r>
            <a:endParaRPr lang="en-US" sz="2000" dirty="0"/>
          </a:p>
        </p:txBody>
      </p:sp>
      <p:sp>
        <p:nvSpPr>
          <p:cNvPr id="28" name="Text 25"/>
          <p:cNvSpPr/>
          <p:nvPr/>
        </p:nvSpPr>
        <p:spPr>
          <a:xfrm>
            <a:off x="8403336"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Explain it to a younger student, own words</a:t>
            </a:r>
            <a:endParaRPr lang="en-US" sz="1500" dirty="0"/>
          </a:p>
        </p:txBody>
      </p:sp>
      <p:sp>
        <p:nvSpPr>
          <p:cNvPr id="29" name="Text 26"/>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A second worksheet is a punishment for being fast. Say “no additional practice problems” in the prompt.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Reformat it: same content, new shape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Stations</a:t>
            </a:r>
            <a:endParaRPr lang="en-US" sz="1900" dirty="0"/>
          </a:p>
        </p:txBody>
      </p:sp>
      <p:sp>
        <p:nvSpPr>
          <p:cNvPr id="16" name="Text 13"/>
          <p:cNvSpPr/>
          <p:nvPr/>
        </p:nvSpPr>
        <p:spPr>
          <a:xfrm>
            <a:off x="896112"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Discussion cards</a:t>
            </a:r>
            <a:endParaRPr lang="en-US" sz="1900" dirty="0"/>
          </a:p>
        </p:txBody>
      </p:sp>
      <p:sp>
        <p:nvSpPr>
          <p:cNvPr id="19" name="Text 16"/>
          <p:cNvSpPr/>
          <p:nvPr/>
        </p:nvSpPr>
        <p:spPr>
          <a:xfrm>
            <a:off x="4663440"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Practice set</a:t>
            </a:r>
            <a:endParaRPr lang="en-US" sz="1900" dirty="0"/>
          </a:p>
        </p:txBody>
      </p:sp>
      <p:sp>
        <p:nvSpPr>
          <p:cNvPr id="22" name="Text 19"/>
          <p:cNvSpPr/>
          <p:nvPr/>
        </p:nvSpPr>
        <p:spPr>
          <a:xfrm>
            <a:off x="8430768"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10 items ramping recall → application</a:t>
            </a:r>
            <a:endParaRPr lang="en-US" sz="1550" dirty="0"/>
          </a:p>
        </p:txBody>
      </p:sp>
      <p:sp>
        <p:nvSpPr>
          <p:cNvPr id="23" name="Shape 20"/>
          <p:cNvSpPr/>
          <p:nvPr/>
        </p:nvSpPr>
        <p:spPr>
          <a:xfrm>
            <a:off x="640080" y="4572000"/>
            <a:ext cx="10972800" cy="1097280"/>
          </a:xfrm>
          <a:prstGeom prst="roundRect">
            <a:avLst>
              <a:gd name="adj" fmla="val 7500"/>
            </a:avLst>
          </a:prstGeom>
          <a:solidFill>
            <a:srgbClr val="EAF5F3"/>
          </a:solidFill>
          <a:ln w="12700">
            <a:solidFill>
              <a:srgbClr val="EAF5F3"/>
            </a:solidFill>
            <a:prstDash val="solid"/>
          </a:ln>
        </p:spPr>
      </p:sp>
      <p:sp>
        <p:nvSpPr>
          <p:cNvPr id="24" name="Text 21"/>
          <p:cNvSpPr/>
          <p:nvPr/>
        </p:nvSpPr>
        <p:spPr>
          <a:xfrm>
            <a:off x="960120" y="4709160"/>
            <a:ext cx="10332720" cy="8229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One draft becomes a menu: multiple means of engagement and expression, on demand.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the lesson she brought, differentiated two directions.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the core artifact, drafted to 80%, not polished.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Shape 11"/>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800" dirty="0"/>
          </a:p>
        </p:txBody>
      </p:sp>
      <p:sp>
        <p:nvSpPr>
          <p:cNvPr id="16" name="Shape 13"/>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Role · task · context · format, and be generous with context</a:t>
            </a:r>
            <a:endParaRPr lang="en-US" sz="1800" dirty="0"/>
          </a:p>
        </p:txBody>
      </p:sp>
      <p:sp>
        <p:nvSpPr>
          <p:cNvPr id="18" name="Shape 15"/>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What did students just learn? What do they always trip on?</a:t>
            </a:r>
            <a:endParaRPr lang="en-US" sz="1800" dirty="0"/>
          </a:p>
        </p:txBody>
      </p:sp>
      <p:sp>
        <p:nvSpPr>
          <p:cNvPr id="20" name="Shape 17"/>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Run it. Read like an editor. Get it to 80%, not perfect.</a:t>
            </a:r>
            <a:endParaRPr lang="en-US" sz="1800" dirty="0"/>
          </a:p>
        </p:txBody>
      </p:sp>
      <p:sp>
        <p:nvSpPr>
          <p:cNvPr id="22" name="Text 19"/>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two follow-ups in the same chat: support version, then stretch.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200" b="1" dirty="0">
                <a:solidFill>
                  <a:srgbClr val="2E7D5B"/>
                </a:solidFill>
                <a:latin typeface="Inter" pitchFamily="34" charset="0"/>
                <a:ea typeface="Inter" pitchFamily="34" charset="-122"/>
                <a:cs typeface="Inter" pitchFamily="34" charset="-120"/>
              </a:rPr>
              <a:t>Support</a:t>
            </a:r>
            <a:endParaRPr lang="en-US" sz="22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Stretch</a:t>
            </a:r>
            <a:endParaRPr lang="en-US" sz="22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run live: caught one off-level sentence, fixed the examples.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Run the 4-point review. Fix what fails.</a:t>
            </a:r>
            <a:endParaRPr lang="en-US" sz="3200" dirty="0"/>
          </a:p>
        </p:txBody>
      </p:sp>
      <p:sp>
        <p:nvSpPr>
          <p:cNvPr id="14" name="Shape 11"/>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Accurate? Check facts and any named resources</a:t>
            </a:r>
            <a:endParaRPr lang="en-US" sz="1800" dirty="0"/>
          </a:p>
        </p:txBody>
      </p:sp>
      <p:sp>
        <p:nvSpPr>
          <p:cNvPr id="16" name="Shape 13"/>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800" dirty="0"/>
          </a:p>
        </p:txBody>
      </p:sp>
      <p:sp>
        <p:nvSpPr>
          <p:cNvPr id="18" name="Shape 15"/>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Fits your students? Swap the examples that won’t land</a:t>
            </a:r>
            <a:endParaRPr lang="en-US" sz="1800" dirty="0"/>
          </a:p>
        </p:txBody>
      </p:sp>
      <p:sp>
        <p:nvSpPr>
          <p:cNvPr id="20" name="Shape 17"/>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Sounds like you? If not: “warmer,” “plainer,” “shorter”</a:t>
            </a:r>
            <a:endParaRPr lang="en-US" sz="1800" dirty="0"/>
          </a:p>
        </p:txBody>
      </p:sp>
      <p:sp>
        <p:nvSpPr>
          <p:cNvPr id="22" name="Text 19"/>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artifacts: core, support, stretch. An evening's work in twenty minutes.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materials now match her intentions. That was the whole gap.</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differentiated artifact per week</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30</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2026-08-10T11:52:27Z</dcterms:created>
  <dcterms:modified xsi:type="dcterms:W3CDTF">2026-08-10T11:52:27Z</dcterms:modified>
</cp:coreProperties>
</file>