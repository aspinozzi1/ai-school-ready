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Open with the bright line: AI never grades your students. It drafts materials; the teacher makes every call about every kid.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your own grading-night story, sixty seconds on it lands here: what the stack was, how long it took,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define the number before you use it. An effect size is just a way to compare practices that are otherwise hard to compare, on one scale. Across the influences researchers have measured the average is about 0.40, and feedback sits at 0.79, which puts it among the most powerful things we do. Say the same review is clear the impact swings widely with how feedback is given. On the RAND side, be precise: about one in five teachers used AI for instructional planning at all that year, and among those who did, roughly a quarter used it to help assess students. Assessment was in fact their second most common use after generating lesson materials. So this is not an untouched frontier; it is real work that most teachers have not yet brought AI to, and the point of the hour is doing it well rather than doing 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stops this hour: what makes assessment materials work, three prompt workshops (rubrics, question banks, feedback starters), the red lines in writing, a lab where you build for an assessment already on your calendar, and how it sticks. The promise line matters: real materials for a real assessment, built today.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solid findings in education research. Frame the workload catch honestly: good formative practice multiplies the materials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students can read it" clause sets up the hand-it-to-a-student test on slide 10. Writing a readable rubric takes real time: materials problem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professional judgment, not a citation; say so if asked. The misconception-distractor idea returns in workshop 2 and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minute AI saves on drafting can move to judgment. This is the frame for all three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workshop one, on Ms. Rivera's screen, our running composite example. Her messy grading notes are the context; that is Kit 2's formula doing assessment work: role teal, task navy, context amber, format green. The "ask me up to three questions" line is the escape hatch from Kit 2's spice rack. This is the assessment she carries all the way through the lab, and the picture repeats every time a prompt or a finished piece of it is on screen. In the lab you'll mimic this shape with your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research only pays off if students can read the thing. This test is the voice round of Kit 2’s iteration system, aimed at rubrics.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window, same four parts, a different subject, because this shape travels. The special ingredient is the misconception: you know what your students mix up, the model doesn’t until you say so. Feed it the confusion and the distractors start doing diagnostic work. Ms. Rivera runs this exact shape on her persuasive essay unit in the lab, which is what her chip is promising.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lab, everyone will catch and fix or delete at least one weak question by hand, on purpose. That rep is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"doesn’t the no-difference finding mean AI could just do it?": the meta-analysis measured pooled learning outcomes, not trust or relationships, and the red line hangs on responsibility for students, which isn’t delegable.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screen again, same four parts, and notice this prompt never needs a single piece of student work. She already knows her three patterns by heart. The last line is the contract: AI drafts the starter, she writes the sentence only she can write, then she delivers it. A personal beat fits here if you have one: a piece of feedback that only worked because you knew the kid and what they were attempting.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one slide nobody may leave without. If a parent asks "is AI grading my kid?", everyone in the room can now say no, and say what we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comment you need is about the pattern anyway, which is why describing usually works as well as pasting. This rule gets policed gently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to share the founders’ note, their personal line on AI and assessment lands well here. Your own line lands even better; staff trust red lines more when the presenter shows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for ONE assessment across all three steps: her 7th grade persuasive essay, the same one from workshop 1. Her exemplar appears large on every step slide; anyone lost can copy her structure. If you grade with a rubric of your own, show it here; one real rubric from a real room tells the lab what "done"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 minutes, notes to rubric, then the three iteration rounds from Kit 2. Circulate. Weak rubrics are usually missing the teacher’s notes; nudge with "what do you actually look for when you grade this? Type that." The next two slides are Ms. Rivera doing this step on her persuasive essay: her follow-up prompt, then the rubric it produced. Anyone stuck can copy her shape with their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round that matters, and here is exactly how she asked for it. Same four parts, same colours, now aimed at a rubric she already has. Point out that the context part is doing the work: she tells it what a student has to be able to do with the words. Tell the room they can retype this line for line, swapping their own level names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what she ended up with, and it is worth reading level 4 aloud. Three messy words of her own went in; a descriptor a 7th grader can act on came out. Ask the room to test it: could a student reading level 3 tell you what to do to reach level 4? That is the bar for the thing on their own screen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minutes, same assessment, ten questions. Listen for the misconception sentences as you circulate; they are the best writing that happens all day. The next two slides show Ms. Rivera doing exactly this: her sentence going into her prompt, then the question it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workshop two’s shape with her own subject and her own students in it. Read the amber part aloud: that sentence is the one thing the model could never have supplied. Everything else on this screen is scaffolding. Tell the room to write their own amber sentence first, then build the rest of the prompt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one item out of her ten, printed the way her students will see it. Walk the options: A is the mix-up she named in her prompt, wearing confident language, so the students who hold it will pick it. That is the whole point of naming your misconception. Ask the room to look at one of their own items and find the distractor that does this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minutes, everyone, read your bank like a hostile editor. This rep is a requirement, not a suggestion: it installs the habit that makes the whole workflow safe. The card is Ms. Rivera’s actual catch in the bank you just saw: a question with two defensible answers, cut and rewritten by hand. Celebrate every catch in the room audibly.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or four minutes, and the prompt is workshop three’s, unchanged. If someone starts pasting a student’s work, redirect gently: describe the pattern instead; excerpts only if fully anonymous by Kit 1’s test. The next slide is what Ms. Rivera got back, all three of them, so anyone still typing can see where this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patterns, three starters, one run. Read the first one aloud and point at the shape: something the writer did well, the pattern named plainly, one concrete next step, all in words a 7th grader can read. That shape is what participants should be checking their own three against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let’s hear it, and the weak-question stories go first. Celebrate every catch; that’s the habit we’re building. Keep each voice to a minute. 45-min cut: two 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that is Ms. Rivera’s whole assessment, done, and this is the point of the hour. Not three demos: one real assessment with a rubric, a vetted bank, and three starters, built in the same nineteen minutes you just had. Then turn it to the room: yours is at the same stage, so let’s name what you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four things Ms. Rivera has, in your subject, for your calendar. Land it plainly. The asset is materials plus the vetting habit, not speed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staff doc’s new Assessment section; watching entries appear live is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5 hrs/week is Merrimack/EdWeek 2022. Keep the framing honest: no promised hour counts, just the drafting share moving to a faster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4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Assessment:</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Rubrics, Feedback, and Question Banks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rubric and a question bank for a real upcoming assessment.</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pile: 5 hours a week of grading and feedback, most after dinner.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TEACHERS ACTUALLY SPEND THE WEEK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grading mountain</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13293D"/>
                </a:solidFill>
                <a:latin typeface="Inter" pitchFamily="34" charset="0"/>
                <a:ea typeface="Inter" pitchFamily="34" charset="-122"/>
                <a:cs typeface="Inter" pitchFamily="34" charset="-120"/>
              </a:rPr>
              <a:t>~54 hrs</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less than half spent teaching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(Merrimack College/EdWeek, 2022)</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5 hrs</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median weekly time on</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grading and feedback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This session doesn’t grade for you. It makes the materials around grading fast to build.</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feedback is her highest-leverage move, and AI never touched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HIGH LEVERAGE, AND STILL NEW TO MOST DESKS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A powerful lever, newly delegable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POWER OF FEEDBACK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0.79</a:t>
            </a:r>
            <a:endParaRPr lang="en-US" sz="5200" dirty="0"/>
          </a:p>
        </p:txBody>
      </p:sp>
      <p:sp>
        <p:nvSpPr>
          <p:cNvPr id="17" name="Text 14"/>
          <p:cNvSpPr/>
          <p:nvPr/>
        </p:nvSpPr>
        <p:spPr>
          <a:xfrm>
            <a:off x="914400" y="3063240"/>
            <a:ext cx="4709160" cy="68580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Feedback’s average effect size on student achievement. (Hattie &amp; Timperley, 2007)</a:t>
            </a:r>
            <a:endParaRPr lang="en-US" sz="1600" dirty="0"/>
          </a:p>
        </p:txBody>
      </p:sp>
      <p:sp>
        <p:nvSpPr>
          <p:cNvPr id="18" name="Text 15"/>
          <p:cNvSpPr/>
          <p:nvPr/>
        </p:nvSpPr>
        <p:spPr>
          <a:xfrm>
            <a:off x="914400" y="3794760"/>
            <a:ext cx="4709160" cy="1051560"/>
          </a:xfrm>
          <a:prstGeom prst="rect">
            <a:avLst/>
          </a:prstGeom>
          <a:noFill/>
          <a:ln/>
        </p:spPr>
        <p:txBody>
          <a:bodyPr wrap="square" lIns="0" tIns="0" rIns="0" bIns="0" rtlCol="0" anchor="ctr"/>
          <a:lstStyle/>
          <a:p>
            <a:pPr algn="ctr" indent="0" marL="0">
              <a:buNone/>
            </a:pPr>
            <a:r>
              <a:rPr lang="en-US" sz="1300" dirty="0">
                <a:solidFill>
                  <a:srgbClr val="5B6B7A"/>
                </a:solidFill>
                <a:latin typeface="Inter" pitchFamily="34" charset="0"/>
                <a:ea typeface="Inter" pitchFamily="34" charset="-122"/>
                <a:cs typeface="Inter" pitchFamily="34" charset="-120"/>
              </a:rPr>
              <a:t>“Effect size” is how researchers put very different practices on one scale, so they can be compared. Across the influences researchers have measured, the average is about 0.40. Feedback sits at roughly double that.</a:t>
            </a:r>
            <a:endParaRPr lang="en-US" sz="1300" dirty="0"/>
          </a:p>
        </p:txBody>
      </p:sp>
      <p:sp>
        <p:nvSpPr>
          <p:cNvPr id="19" name="Shape 16"/>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20" name="Text 17"/>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200" b="1" spc="140" kern="0" dirty="0">
                <a:solidFill>
                  <a:srgbClr val="5B6B7A"/>
                </a:solidFill>
                <a:latin typeface="Inter" pitchFamily="34" charset="0"/>
                <a:ea typeface="Inter" pitchFamily="34" charset="-122"/>
                <a:cs typeface="Inter" pitchFamily="34" charset="-120"/>
              </a:rPr>
              <a:t>HOW MANY BROUGHT AI TO THE PLANNING WORK</a:t>
            </a:r>
            <a:endParaRPr lang="en-US" sz="1200" dirty="0"/>
          </a:p>
        </p:txBody>
      </p:sp>
      <p:sp>
        <p:nvSpPr>
          <p:cNvPr id="21" name="Text 18"/>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 in 5</a:t>
            </a:r>
            <a:endParaRPr lang="en-US" sz="5200" dirty="0"/>
          </a:p>
        </p:txBody>
      </p:sp>
      <p:sp>
        <p:nvSpPr>
          <p:cNvPr id="22" name="Text 19"/>
          <p:cNvSpPr/>
          <p:nvPr/>
        </p:nvSpPr>
        <p:spPr>
          <a:xfrm>
            <a:off x="6537960" y="3063240"/>
            <a:ext cx="4709160" cy="18288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About one in five teachers used AI to plan their instruction at all in 2023–24. Among those who did, about a quarter used it to help assess students, most often to build assessments, quizzes, and rubrics. (RAND, 2025)</a:t>
            </a:r>
            <a:endParaRPr lang="en-US" sz="1500" dirty="0"/>
          </a:p>
        </p:txBody>
      </p:sp>
      <p:sp>
        <p:nvSpPr>
          <p:cNvPr id="23" name="Text 2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Our stance: assessment drafting is worth delegating because the workload is real and your review stays explicit.</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a rubric and question bank for a real upcoming assessment.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makes assessment materials work</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workshops: rubrics, questions, feedback</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red lines, in writing</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for a real upcoming assessment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a rubric and a question bank for an assessment already on your calendar. Not samples.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formative habit: check understanding, adapt. AI drafts the materials.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Formative assessment works</a:t>
            </a:r>
            <a:endParaRPr lang="en-US" sz="3200" dirty="0"/>
          </a:p>
        </p:txBody>
      </p:sp>
      <p:sp>
        <p:nvSpPr>
          <p:cNvPr id="14" name="Shape 11"/>
          <p:cNvSpPr/>
          <p:nvPr/>
        </p:nvSpPr>
        <p:spPr>
          <a:xfrm>
            <a:off x="640080" y="1645920"/>
            <a:ext cx="10972800" cy="2194560"/>
          </a:xfrm>
          <a:prstGeom prst="roundRect">
            <a:avLst>
              <a:gd name="adj" fmla="val 3750"/>
            </a:avLst>
          </a:prstGeom>
          <a:solidFill>
            <a:srgbClr val="F7F5F0"/>
          </a:solidFill>
          <a:ln w="12700">
            <a:solidFill>
              <a:srgbClr val="F7F5F0"/>
            </a:solidFill>
            <a:prstDash val="solid"/>
          </a:ln>
        </p:spPr>
      </p:sp>
      <p:sp>
        <p:nvSpPr>
          <p:cNvPr id="15" name="Text 12"/>
          <p:cNvSpPr/>
          <p:nvPr/>
        </p:nvSpPr>
        <p:spPr>
          <a:xfrm>
            <a:off x="640080" y="1828800"/>
            <a:ext cx="10972800" cy="91440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~250 studies</a:t>
            </a:r>
            <a:endParaRPr lang="en-US" sz="4800" dirty="0"/>
          </a:p>
        </p:txBody>
      </p:sp>
      <p:sp>
        <p:nvSpPr>
          <p:cNvPr id="16" name="Text 13"/>
          <p:cNvSpPr/>
          <p:nvPr/>
        </p:nvSpPr>
        <p:spPr>
          <a:xfrm>
            <a:off x="1280160" y="2834640"/>
            <a:ext cx="9601200" cy="82296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behind Black &amp; Wiliam’s “Inside the Black Box”: checking understanding as you go, and adapting, raises achievement.</a:t>
            </a:r>
            <a:endParaRPr lang="en-US" sz="1700" dirty="0"/>
          </a:p>
        </p:txBody>
      </p:sp>
      <p:sp>
        <p:nvSpPr>
          <p:cNvPr id="17" name="Text 14"/>
          <p:cNvSpPr/>
          <p:nvPr/>
        </p:nvSpPr>
        <p:spPr>
          <a:xfrm>
            <a:off x="640080" y="411480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catch for your workload: day-by-day checks need more questions, more often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Formative assessment is partly a materials problem, and drafting materials is what AI is fast at</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rubric bar: students can read it. That's what makes the research pay.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TWO</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Rubrics aren’t paperwork</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2023 meta-analysis (Panadero et al.): rubric use has a moderate positive effect on academic performance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Smaller, less certain effects on self-regulated learning and self-efficacy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When students can see the target, they aim at it, and start coaching themselves toward it</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A good rubric quietly does some of your teaching for you, if students can read it.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question bar: quality beats quantity; the misconception does the work.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THREE · PROFESSIONAL JUDGMENT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Question quality beats question quantity</a:t>
            </a:r>
            <a:endParaRPr lang="en-US" sz="28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sharp question does diagnostic work</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distractor built from a real misconception tells you exactly who holds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Five sharp questions beat twenty fillers; we settle for filler because writing sharp is slow</a:t>
            </a:r>
            <a:endParaRPr lang="en-US" sz="2100" dirty="0"/>
          </a:p>
        </p:txBody>
      </p:sp>
      <p:sp>
        <p:nvSpPr>
          <p:cNvPr id="15" name="Shape 12"/>
          <p:cNvSpPr/>
          <p:nvPr/>
        </p:nvSpPr>
        <p:spPr>
          <a:xfrm>
            <a:off x="640080" y="4114800"/>
            <a:ext cx="10972800" cy="1463040"/>
          </a:xfrm>
          <a:prstGeom prst="roundRect">
            <a:avLst>
              <a:gd name="adj" fmla="val 5625"/>
            </a:avLst>
          </a:prstGeom>
          <a:solidFill>
            <a:srgbClr val="F7F5F0"/>
          </a:solidFill>
          <a:ln w="12700">
            <a:solidFill>
              <a:srgbClr val="F7F5F0"/>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Drafting speed is what makes quality affordable.</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division of labor: AI drafts the materials, she makes every judgment.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TODAY’S WORKING AGREEMENT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division of labor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AI is fast at…</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pattern work: rubric descriptors, question stems, distractors, feedback phrasing. Drafts in seconds.</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 are unreplaceable at…</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judgment: what proficient means in your room, whether a question is fair to your kids, what this student needs to hear next.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AI drafts, the teacher decides. In assessment, those five words carry the most weight they’ll ever carry.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#1 · RUBRICS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a rubric for my essay assignment.”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notes into a 4-level analytic rubric (Beginning · Developing · Proficient · Advanced) for a persuasive essay.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Criteria: claim, evidence, organization, conventions. Write every descriptor in language a 7th grader can read, and make each level describe what the work does, not what it lacks.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a table with criteria down the side. Then ask me up to three questions about anything unclear in my notes.”  [paste your notes]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rubric test: hand it to a student. 'Limited understanding' fails.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QUALITY BAR FOR EVERY RUBRIC</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hand-it-to-a-student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Read one descriptor aloud. Could a student tell you</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exactly what to do to move up one level?</a:t>
            </a:r>
            <a:endParaRPr lang="en-US" sz="2600" dirty="0"/>
          </a:p>
        </p:txBody>
      </p:sp>
      <p:sp>
        <p:nvSpPr>
          <p:cNvPr id="15" name="Text 12"/>
          <p:cNvSpPr/>
          <p:nvPr/>
        </p:nvSpPr>
        <p:spPr>
          <a:xfrm>
            <a:off x="640080" y="4114800"/>
            <a:ext cx="10972800" cy="12801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“Demonstrates limited understanding” fails: no ten-year-old ever revised an essay off the word “limited.” When it fails, iterate: “Rewrite level 2 so a student knows exactly what moving to level 3 requires.”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bank plan: the same four-part shape, aimed at her own students' mix-up.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#2 · QUESTION BANKS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Topic + misconception → bank</a:t>
            </a:r>
            <a:endParaRPr lang="en-US" sz="3200" dirty="0"/>
          </a:p>
        </p:txBody>
      </p:sp>
      <p:sp>
        <p:nvSpPr>
          <p:cNvPr id="14" name="Text 11"/>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ten quiz questions about photosynthesis.”</a:t>
            </a:r>
            <a:endParaRPr lang="en-US" sz="1600" dirty="0"/>
          </a:p>
        </p:txBody>
      </p:sp>
      <p:sp>
        <p:nvSpPr>
          <p:cNvPr id="15" name="Shape 12"/>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16" name="Shape 13"/>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868680" y="1901952"/>
            <a:ext cx="146304" cy="146304"/>
          </a:xfrm>
          <a:prstGeom prst="ellipse">
            <a:avLst/>
          </a:prstGeom>
          <a:solidFill>
            <a:srgbClr val="E8837A"/>
          </a:solidFill>
          <a:ln w="12700">
            <a:solidFill>
              <a:srgbClr val="E8837A"/>
            </a:solidFill>
            <a:prstDash val="solid"/>
          </a:ln>
        </p:spPr>
      </p:sp>
      <p:sp>
        <p:nvSpPr>
          <p:cNvPr id="18" name="Shape 15"/>
          <p:cNvSpPr/>
          <p:nvPr/>
        </p:nvSpPr>
        <p:spPr>
          <a:xfrm>
            <a:off x="1115568" y="1901952"/>
            <a:ext cx="146304" cy="146304"/>
          </a:xfrm>
          <a:prstGeom prst="ellipse">
            <a:avLst/>
          </a:prstGeom>
          <a:solidFill>
            <a:srgbClr val="F4A825"/>
          </a:solidFill>
          <a:ln w="12700">
            <a:solidFill>
              <a:srgbClr val="F4A825"/>
            </a:solidFill>
            <a:prstDash val="solid"/>
          </a:ln>
        </p:spPr>
      </p:sp>
      <p:sp>
        <p:nvSpPr>
          <p:cNvPr id="19" name="Shape 16"/>
          <p:cNvSpPr/>
          <p:nvPr/>
        </p:nvSpPr>
        <p:spPr>
          <a:xfrm>
            <a:off x="1362456" y="1901952"/>
            <a:ext cx="146304" cy="146304"/>
          </a:xfrm>
          <a:prstGeom prst="ellipse">
            <a:avLst/>
          </a:prstGeom>
          <a:solidFill>
            <a:srgbClr val="2E7D5B"/>
          </a:solidFill>
          <a:ln w="12700">
            <a:solidFill>
              <a:srgbClr val="2E7D5B"/>
            </a:solidFill>
            <a:prstDash val="solid"/>
          </a:ln>
        </p:spPr>
      </p:sp>
      <p:sp>
        <p:nvSpPr>
          <p:cNvPr id="20" name="Text 17"/>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the same four-part shape, on a middle school science teacher’s screen</a:t>
            </a:r>
            <a:endParaRPr lang="en-US" sz="1100" dirty="0"/>
          </a:p>
        </p:txBody>
      </p:sp>
      <p:sp>
        <p:nvSpPr>
          <p:cNvPr id="21" name="Shape 18"/>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22" name="Text 19"/>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middle school science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Build a 10-question bank on photosynthesis for my 7th graders: 6 multiple choice, 2 short answer, 2 extended response.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students commonly confuse photosynthesis with respiration. In each multiple-choice question, make one distractor that exact confusion, so the question shows me who is holding it.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Include a full answer key, then explain in one line why each distractor is wrong. Label each question with the skill it checks.”</a:t>
            </a:r>
            <a:endParaRPr lang="en-US" sz="1600" dirty="0"/>
          </a:p>
        </p:txBody>
      </p:sp>
      <p:sp>
        <p:nvSpPr>
          <p:cNvPr id="23" name="Shape 20"/>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24" name="Text 21"/>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5" name="Shape 22"/>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6" name="Text 23"/>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7" name="Shape 24"/>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8" name="Text 25"/>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9" name="Shape 26"/>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30" name="Text 27"/>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vetting stance: 97% on-topic still isn't 100%. Every key gets checked.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GOOD ARE THE DRAFTS? HONEST ANSWER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Good, and not good enough to skip you</a:t>
            </a:r>
            <a:endParaRPr lang="en-US" sz="2800" dirty="0"/>
          </a:p>
        </p:txBody>
      </p:sp>
      <p:sp>
        <p:nvSpPr>
          <p:cNvPr id="14" name="Shape 11"/>
          <p:cNvSpPr/>
          <p:nvPr/>
        </p:nvSpPr>
        <p:spPr>
          <a:xfrm>
            <a:off x="640080" y="1600200"/>
            <a:ext cx="5257800" cy="2926080"/>
          </a:xfrm>
          <a:prstGeom prst="roundRect">
            <a:avLst>
              <a:gd name="adj" fmla="val 2813"/>
            </a:avLst>
          </a:prstGeom>
          <a:solidFill>
            <a:srgbClr val="EAF5F3"/>
          </a:solidFill>
          <a:ln w="12700">
            <a:solidFill>
              <a:srgbClr val="EAF5F3"/>
            </a:solidFill>
            <a:prstDash val="solid"/>
          </a:ln>
        </p:spPr>
      </p:sp>
      <p:sp>
        <p:nvSpPr>
          <p:cNvPr id="15" name="Text 12"/>
          <p:cNvSpPr/>
          <p:nvPr/>
        </p:nvSpPr>
        <p:spPr>
          <a:xfrm>
            <a:off x="64008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OFTEN DRAFTS ARE ON-TOPIC</a:t>
            </a:r>
            <a:endParaRPr lang="en-US" sz="1300" dirty="0"/>
          </a:p>
        </p:txBody>
      </p:sp>
      <p:sp>
        <p:nvSpPr>
          <p:cNvPr id="16" name="Text 13"/>
          <p:cNvSpPr/>
          <p:nvPr/>
        </p:nvSpPr>
        <p:spPr>
          <a:xfrm>
            <a:off x="64008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97%</a:t>
            </a:r>
            <a:endParaRPr lang="en-US" sz="4800" dirty="0"/>
          </a:p>
        </p:txBody>
      </p:sp>
      <p:sp>
        <p:nvSpPr>
          <p:cNvPr id="17" name="Text 14"/>
          <p:cNvSpPr/>
          <p:nvPr/>
        </p:nvSpPr>
        <p:spPr>
          <a:xfrm>
            <a:off x="91440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When teachers rated quiz questions drafted by AI, 97 in 100 were judged relevant to the topic they asked for. (Elkins et al., 2023)</a:t>
            </a:r>
            <a:endParaRPr lang="en-US" sz="1600" dirty="0"/>
          </a:p>
        </p:txBody>
      </p:sp>
      <p:sp>
        <p:nvSpPr>
          <p:cNvPr id="18" name="Shape 15"/>
          <p:cNvSpPr/>
          <p:nvPr/>
        </p:nvSpPr>
        <p:spPr>
          <a:xfrm>
            <a:off x="6263640" y="1600200"/>
            <a:ext cx="5257800" cy="2926080"/>
          </a:xfrm>
          <a:prstGeom prst="roundRect">
            <a:avLst>
              <a:gd name="adj" fmla="val 2813"/>
            </a:avLst>
          </a:prstGeom>
          <a:solidFill>
            <a:srgbClr val="EAF5F3"/>
          </a:solidFill>
          <a:ln w="12700">
            <a:solidFill>
              <a:srgbClr val="EAF5F3"/>
            </a:solidFill>
            <a:prstDash val="solid"/>
          </a:ln>
        </p:spPr>
      </p:sp>
      <p:sp>
        <p:nvSpPr>
          <p:cNvPr id="19" name="Text 16"/>
          <p:cNvSpPr/>
          <p:nvPr/>
        </p:nvSpPr>
        <p:spPr>
          <a:xfrm>
            <a:off x="626364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USEFUL TEACHERS FOUND THEM</a:t>
            </a:r>
            <a:endParaRPr lang="en-US" sz="1300" dirty="0"/>
          </a:p>
        </p:txBody>
      </p:sp>
      <p:sp>
        <p:nvSpPr>
          <p:cNvPr id="20" name="Text 17"/>
          <p:cNvSpPr/>
          <p:nvPr/>
        </p:nvSpPr>
        <p:spPr>
          <a:xfrm>
            <a:off x="626364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3.6 / 4</a:t>
            </a:r>
            <a:endParaRPr lang="en-US" sz="4800" dirty="0"/>
          </a:p>
        </p:txBody>
      </p:sp>
      <p:sp>
        <p:nvSpPr>
          <p:cNvPr id="21" name="Text 18"/>
          <p:cNvSpPr/>
          <p:nvPr/>
        </p:nvSpPr>
        <p:spPr>
          <a:xfrm>
            <a:off x="653796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teachers scored the questions’ usefulness 3.6 out of 4, and the study treats teacher vetting as integral, not optional. (same study)</a:t>
            </a:r>
            <a:endParaRPr lang="en-US" sz="1600" dirty="0"/>
          </a:p>
        </p:txBody>
      </p:sp>
      <p:sp>
        <p:nvSpPr>
          <p:cNvPr id="22" name="Text 19"/>
          <p:cNvSpPr/>
          <p:nvPr/>
        </p:nvSpPr>
        <p:spPr>
          <a:xfrm>
            <a:off x="640080" y="4892040"/>
            <a:ext cx="10972800" cy="82296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Those numbers are why drafting works. The gap is why vetting isn’t optional. Every bank gets a vetting pass; every answer key gets checked.</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read of the evidence: AI feedback is a floor. She is the ceiling.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BOTH HALVES OF THE EVIDENCE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honest evidence on AI feedback</a:t>
            </a:r>
            <a:endParaRPr lang="en-US" sz="28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Trained humans win</a:t>
            </a:r>
            <a:endParaRPr lang="en-US" sz="20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Well-trained humans beat ChatGPT on nearly every dimension of feedback quality on student writing. (Steiss et al., 2024)</a:t>
            </a:r>
            <a:endParaRPr lang="en-US" sz="1650" dirty="0"/>
          </a:p>
        </p:txBody>
      </p:sp>
      <p:sp>
        <p:nvSpPr>
          <p:cNvPr id="17" name="Shape 14"/>
          <p:cNvSpPr/>
          <p:nvPr/>
        </p:nvSpPr>
        <p:spPr>
          <a:xfrm>
            <a:off x="6263640" y="1554480"/>
            <a:ext cx="539496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Outcomes look similar</a:t>
            </a:r>
            <a:endParaRPr lang="en-US" sz="20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Across 41 studies (4,813 students), no statistically significant difference in learning between AI and human feedback. (Kaliisa et al., 2025)</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Both are true. AI feedback language is a floor and a fast draft. You are the ceiling.</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Feedback starters for common patterns</a:t>
            </a:r>
            <a:endParaRPr lang="en-US" sz="3200" dirty="0"/>
          </a:p>
        </p:txBody>
      </p:sp>
      <p:sp>
        <p:nvSpPr>
          <p:cNvPr id="7" name="Text 4"/>
          <p:cNvSpPr/>
          <p:nvPr/>
        </p:nvSpPr>
        <p:spPr>
          <a:xfrm>
            <a:off x="640080" y="1188720"/>
            <a:ext cx="10972800" cy="36576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THE MOVE   </a:t>
            </a:r>
            <a:pPr indent="0" marL="0">
              <a:buNone/>
            </a:pPr>
            <a:r>
              <a:rPr lang="en-US" sz="1600" dirty="0">
                <a:solidFill>
                  <a:srgbClr val="1B1F24"/>
                </a:solidFill>
                <a:latin typeface="Inter" pitchFamily="34" charset="0"/>
                <a:ea typeface="Inter" pitchFamily="34" charset="-122"/>
                <a:cs typeface="Inter" pitchFamily="34" charset="-120"/>
              </a:rPr>
              <a:t>Describe the pattern, never the student. No student work goes in, ever.</a:t>
            </a:r>
            <a:endParaRPr lang="en-US" sz="1600" dirty="0"/>
          </a:p>
        </p:txBody>
      </p:sp>
      <p:sp>
        <p:nvSpPr>
          <p:cNvPr id="8" name="Text 5"/>
          <p:cNvSpPr/>
          <p:nvPr/>
        </p:nvSpPr>
        <p:spPr>
          <a:xfrm>
            <a:off x="640080" y="1517904"/>
            <a:ext cx="10972800" cy="36576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STARTERS, NOT STAMPS   </a:t>
            </a:r>
            <a:pPr indent="0" marL="0">
              <a:buNone/>
            </a:pPr>
            <a:r>
              <a:rPr lang="en-US" sz="1600" dirty="0">
                <a:solidFill>
                  <a:srgbClr val="1B1F24"/>
                </a:solidFill>
                <a:latin typeface="Inter" pitchFamily="34" charset="0"/>
                <a:ea typeface="Inter" pitchFamily="34" charset="-122"/>
                <a:cs typeface="Inter" pitchFamily="34" charset="-120"/>
              </a:rPr>
              <a:t>You add the sentence only you can write, then you deliver it.</a:t>
            </a:r>
            <a:endParaRPr lang="en-US" sz="1600" dirty="0"/>
          </a:p>
        </p:txBody>
      </p:sp>
      <p:sp>
        <p:nvSpPr>
          <p:cNvPr id="9" name="Shape 6"/>
          <p:cNvSpPr/>
          <p:nvPr/>
        </p:nvSpPr>
        <p:spPr>
          <a:xfrm>
            <a:off x="640080" y="1901952"/>
            <a:ext cx="10972800" cy="3401568"/>
          </a:xfrm>
          <a:prstGeom prst="roundRect">
            <a:avLst>
              <a:gd name="adj" fmla="val 2688"/>
            </a:avLst>
          </a:prstGeom>
          <a:solidFill>
            <a:srgbClr val="FFFFFF"/>
          </a:solidFill>
          <a:ln w="19050">
            <a:solidFill>
              <a:srgbClr val="DCE3EA"/>
            </a:solidFill>
            <a:prstDash val="solid"/>
          </a:ln>
        </p:spPr>
      </p:sp>
      <p:sp>
        <p:nvSpPr>
          <p:cNvPr id="10" name="Shape 7"/>
          <p:cNvSpPr/>
          <p:nvPr/>
        </p:nvSpPr>
        <p:spPr>
          <a:xfrm>
            <a:off x="640080" y="1901952"/>
            <a:ext cx="10972800" cy="384048"/>
          </a:xfrm>
          <a:prstGeom prst="roundRect">
            <a:avLst>
              <a:gd name="adj" fmla="val 23810"/>
            </a:avLst>
          </a:prstGeom>
          <a:solidFill>
            <a:srgbClr val="13293D"/>
          </a:solidFill>
          <a:ln w="12700">
            <a:solidFill>
              <a:srgbClr val="13293D"/>
            </a:solidFill>
            <a:prstDash val="solid"/>
          </a:ln>
        </p:spPr>
      </p:sp>
      <p:sp>
        <p:nvSpPr>
          <p:cNvPr id="11" name="Shape 8"/>
          <p:cNvSpPr/>
          <p:nvPr/>
        </p:nvSpPr>
        <p:spPr>
          <a:xfrm>
            <a:off x="868680" y="2020824"/>
            <a:ext cx="146304" cy="146304"/>
          </a:xfrm>
          <a:prstGeom prst="ellipse">
            <a:avLst/>
          </a:prstGeom>
          <a:solidFill>
            <a:srgbClr val="E8837A"/>
          </a:solidFill>
          <a:ln w="12700">
            <a:solidFill>
              <a:srgbClr val="E8837A"/>
            </a:solidFill>
            <a:prstDash val="solid"/>
          </a:ln>
        </p:spPr>
      </p:sp>
      <p:sp>
        <p:nvSpPr>
          <p:cNvPr id="12" name="Shape 9"/>
          <p:cNvSpPr/>
          <p:nvPr/>
        </p:nvSpPr>
        <p:spPr>
          <a:xfrm>
            <a:off x="1115568" y="2020824"/>
            <a:ext cx="146304" cy="146304"/>
          </a:xfrm>
          <a:prstGeom prst="ellipse">
            <a:avLst/>
          </a:prstGeom>
          <a:solidFill>
            <a:srgbClr val="F4A825"/>
          </a:solidFill>
          <a:ln w="12700">
            <a:solidFill>
              <a:srgbClr val="F4A825"/>
            </a:solidFill>
            <a:prstDash val="solid"/>
          </a:ln>
        </p:spPr>
      </p:sp>
      <p:sp>
        <p:nvSpPr>
          <p:cNvPr id="13" name="Shape 10"/>
          <p:cNvSpPr/>
          <p:nvPr/>
        </p:nvSpPr>
        <p:spPr>
          <a:xfrm>
            <a:off x="1362456" y="2020824"/>
            <a:ext cx="146304" cy="146304"/>
          </a:xfrm>
          <a:prstGeom prst="ellipse">
            <a:avLst/>
          </a:prstGeom>
          <a:solidFill>
            <a:srgbClr val="2E7D5B"/>
          </a:solidFill>
          <a:ln w="12700">
            <a:solidFill>
              <a:srgbClr val="2E7D5B"/>
            </a:solidFill>
            <a:prstDash val="solid"/>
          </a:ln>
        </p:spPr>
      </p:sp>
      <p:sp>
        <p:nvSpPr>
          <p:cNvPr id="14" name="Text 11"/>
          <p:cNvSpPr/>
          <p:nvPr/>
        </p:nvSpPr>
        <p:spPr>
          <a:xfrm>
            <a:off x="1783080" y="1901952"/>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5" name="Shape 12"/>
          <p:cNvSpPr/>
          <p:nvPr/>
        </p:nvSpPr>
        <p:spPr>
          <a:xfrm>
            <a:off x="1554480" y="2496312"/>
            <a:ext cx="9646920" cy="2578608"/>
          </a:xfrm>
          <a:prstGeom prst="roundRect">
            <a:avLst>
              <a:gd name="adj" fmla="val 4255"/>
            </a:avLst>
          </a:prstGeom>
          <a:solidFill>
            <a:srgbClr val="F7F5F0"/>
          </a:solidFill>
          <a:ln w="12700">
            <a:solidFill>
              <a:srgbClr val="F7F5F0"/>
            </a:solidFill>
            <a:prstDash val="solid"/>
          </a:ln>
        </p:spPr>
      </p:sp>
      <p:sp>
        <p:nvSpPr>
          <p:cNvPr id="16" name="Text 13"/>
          <p:cNvSpPr/>
          <p:nvPr/>
        </p:nvSpPr>
        <p:spPr>
          <a:xfrm>
            <a:off x="1783080" y="2606040"/>
            <a:ext cx="9189720" cy="2395728"/>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Draft a 2–3 sentence feedback comment for each of the three most common patterns in my students’ persuasive essays: claims with no evidence, evidence with no explanation, conclusions that introduce new arguments.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For each one, name something the writer did well, name the pattern plainly, and give one concrete next step. Warm, specific, readable by a 7th grader. No student work is going in here: these are patterns I see in every stack.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Three comments, labeled by pattern. I’ll personalize every one before a student sees it.”</a:t>
            </a:r>
            <a:endParaRPr lang="en-US" sz="16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lines: AI never grades, never sees names, never decides.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IN WRITING, SO NOBODY GUESSES</a:t>
            </a:r>
            <a:endParaRPr lang="en-US" sz="1200" dirty="0"/>
          </a:p>
        </p:txBody>
      </p:sp>
      <p:sp>
        <p:nvSpPr>
          <p:cNvPr id="13" name="Text 10"/>
          <p:cNvSpPr/>
          <p:nvPr/>
        </p:nvSpPr>
        <p:spPr>
          <a:xfrm>
            <a:off x="640080" y="1097280"/>
            <a:ext cx="1097280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red lines</a:t>
            </a:r>
            <a:endParaRPr lang="en-US" sz="4000" dirty="0"/>
          </a:p>
        </p:txBody>
      </p:sp>
      <p:sp>
        <p:nvSpPr>
          <p:cNvPr id="14" name="Shape 11"/>
          <p:cNvSpPr/>
          <p:nvPr/>
        </p:nvSpPr>
        <p:spPr>
          <a:xfrm>
            <a:off x="822960" y="2194560"/>
            <a:ext cx="658368" cy="658368"/>
          </a:xfrm>
          <a:prstGeom prst="ellipse">
            <a:avLst/>
          </a:prstGeom>
          <a:solidFill>
            <a:srgbClr val="F4A825"/>
          </a:solidFill>
          <a:ln w="12700">
            <a:solidFill>
              <a:srgbClr val="F4A825"/>
            </a:solidFill>
            <a:prstDash val="solid"/>
          </a:ln>
        </p:spPr>
      </p:sp>
      <p:sp>
        <p:nvSpPr>
          <p:cNvPr id="15" name="Text 12"/>
          <p:cNvSpPr/>
          <p:nvPr/>
        </p:nvSpPr>
        <p:spPr>
          <a:xfrm>
            <a:off x="822960" y="219456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1</a:t>
            </a:r>
            <a:endParaRPr lang="en-US" sz="2400" dirty="0"/>
          </a:p>
        </p:txBody>
      </p:sp>
      <p:sp>
        <p:nvSpPr>
          <p:cNvPr id="16" name="Text 13"/>
          <p:cNvSpPr/>
          <p:nvPr/>
        </p:nvSpPr>
        <p:spPr>
          <a:xfrm>
            <a:off x="1691640" y="208483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AI never grades. No score or decision about a student ever comes from a machine.</a:t>
            </a:r>
            <a:endParaRPr lang="en-US" sz="2000" dirty="0"/>
          </a:p>
        </p:txBody>
      </p:sp>
      <p:sp>
        <p:nvSpPr>
          <p:cNvPr id="17" name="Shape 14"/>
          <p:cNvSpPr/>
          <p:nvPr/>
        </p:nvSpPr>
        <p:spPr>
          <a:xfrm>
            <a:off x="822960" y="3246120"/>
            <a:ext cx="658368" cy="658368"/>
          </a:xfrm>
          <a:prstGeom prst="ellipse">
            <a:avLst/>
          </a:prstGeom>
          <a:solidFill>
            <a:srgbClr val="F4A825"/>
          </a:solidFill>
          <a:ln w="12700">
            <a:solidFill>
              <a:srgbClr val="F4A825"/>
            </a:solidFill>
            <a:prstDash val="solid"/>
          </a:ln>
        </p:spPr>
      </p:sp>
      <p:sp>
        <p:nvSpPr>
          <p:cNvPr id="18" name="Text 15"/>
          <p:cNvSpPr/>
          <p:nvPr/>
        </p:nvSpPr>
        <p:spPr>
          <a:xfrm>
            <a:off x="822960" y="324612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2</a:t>
            </a:r>
            <a:endParaRPr lang="en-US" sz="2400" dirty="0"/>
          </a:p>
        </p:txBody>
      </p:sp>
      <p:sp>
        <p:nvSpPr>
          <p:cNvPr id="19" name="Text 16"/>
          <p:cNvSpPr/>
          <p:nvPr/>
        </p:nvSpPr>
        <p:spPr>
          <a:xfrm>
            <a:off x="1691640" y="313639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names, and no identifying student work, in public AI tools. Ever.</a:t>
            </a:r>
            <a:endParaRPr lang="en-US" sz="2000" dirty="0"/>
          </a:p>
        </p:txBody>
      </p:sp>
      <p:sp>
        <p:nvSpPr>
          <p:cNvPr id="20" name="Shape 17"/>
          <p:cNvSpPr/>
          <p:nvPr/>
        </p:nvSpPr>
        <p:spPr>
          <a:xfrm>
            <a:off x="822960" y="4297680"/>
            <a:ext cx="658368" cy="658368"/>
          </a:xfrm>
          <a:prstGeom prst="ellipse">
            <a:avLst/>
          </a:prstGeom>
          <a:solidFill>
            <a:srgbClr val="F4A825"/>
          </a:solidFill>
          <a:ln w="12700">
            <a:solidFill>
              <a:srgbClr val="F4A825"/>
            </a:solidFill>
            <a:prstDash val="solid"/>
          </a:ln>
        </p:spPr>
      </p:sp>
      <p:sp>
        <p:nvSpPr>
          <p:cNvPr id="21" name="Text 18"/>
          <p:cNvSpPr/>
          <p:nvPr/>
        </p:nvSpPr>
        <p:spPr>
          <a:xfrm>
            <a:off x="822960" y="429768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3</a:t>
            </a:r>
            <a:endParaRPr lang="en-US" sz="2400" dirty="0"/>
          </a:p>
        </p:txBody>
      </p:sp>
      <p:sp>
        <p:nvSpPr>
          <p:cNvPr id="22" name="Text 19"/>
          <p:cNvSpPr/>
          <p:nvPr/>
        </p:nvSpPr>
        <p:spPr>
          <a:xfrm>
            <a:off x="1691640" y="418795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Feedback that reaches a student always passes through you. Your eyes, your edits, then delivery.</a:t>
            </a:r>
            <a:endParaRPr lang="en-US" sz="2000" dirty="0"/>
          </a:p>
        </p:txBody>
      </p:sp>
      <p:sp>
        <p:nvSpPr>
          <p:cNvPr id="23" name="Text 20"/>
          <p:cNvSpPr/>
          <p:nvPr/>
        </p:nvSpPr>
        <p:spPr>
          <a:xfrm>
            <a:off x="640080" y="5623560"/>
            <a:ext cx="10972800" cy="45720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Not opinions about the technology. Promises about our students.</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excerpt rule: anonymous or described, never pasted with identity.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YOU’RE ALREADY FORMING</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Can I ever paste student work in?</a:t>
            </a:r>
            <a:endParaRPr lang="en-US" sz="28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Only an anonymous excerpt</a:t>
            </a:r>
            <a:endParaRPr lang="en-US" sz="19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Zero identifying details, judged by Kit 1’s test: no names, no classmates, no teacher names, no story a neighbor could recognize.</a:t>
            </a:r>
            <a:endParaRPr lang="en-US" sz="1650" dirty="0"/>
          </a:p>
        </p:txBody>
      </p:sp>
      <p:sp>
        <p:nvSpPr>
          <p:cNvPr id="17" name="Shape 14"/>
          <p:cNvSpPr/>
          <p:nvPr/>
        </p:nvSpPr>
        <p:spPr>
          <a:xfrm>
            <a:off x="6263640" y="1554480"/>
            <a:ext cx="5394960" cy="3291840"/>
          </a:xfrm>
          <a:prstGeom prst="roundRect">
            <a:avLst>
              <a:gd name="adj" fmla="val 2500"/>
            </a:avLst>
          </a:prstGeom>
          <a:solidFill>
            <a:srgbClr val="EAF5F3"/>
          </a:solidFill>
          <a:ln w="12700">
            <a:solidFill>
              <a:srgbClr val="EAF5F3"/>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When unsure: describe the pattern</a:t>
            </a:r>
            <a:endParaRPr lang="en-US" sz="19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“Students keep confusing X with Y.” “This writer repeats the claim instead of explaining the evidence.” Always safe, and it usually works as well.</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When in doubt: describe, don’t paste.</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red lines, adopted out loud, with the presenter's own.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WE BUILD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honest limits</a:t>
            </a:r>
            <a:endParaRPr lang="en-US" sz="3200" dirty="0"/>
          </a:p>
        </p:txBody>
      </p:sp>
      <p:sp>
        <p:nvSpPr>
          <p:cNvPr id="14" name="Shape 11"/>
          <p:cNvSpPr/>
          <p:nvPr/>
        </p:nvSpPr>
        <p:spPr>
          <a:xfrm>
            <a:off x="640080" y="155448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intent</a:t>
            </a:r>
            <a:endParaRPr lang="en-US" sz="1900" dirty="0"/>
          </a:p>
        </p:txBody>
      </p:sp>
      <p:sp>
        <p:nvSpPr>
          <p:cNvPr id="16" name="Text 13"/>
          <p:cNvSpPr/>
          <p:nvPr/>
        </p:nvSpPr>
        <p:spPr>
          <a:xfrm>
            <a:off x="896112"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It sees the page. You saw the six weeks. Half of good feedback speaks to the attempt.</a:t>
            </a:r>
            <a:endParaRPr lang="en-US" sz="1500" dirty="0"/>
          </a:p>
        </p:txBody>
      </p:sp>
      <p:sp>
        <p:nvSpPr>
          <p:cNvPr id="17" name="Shape 14"/>
          <p:cNvSpPr/>
          <p:nvPr/>
        </p:nvSpPr>
        <p:spPr>
          <a:xfrm>
            <a:off x="4407408" y="155448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Goes generic</a:t>
            </a:r>
            <a:endParaRPr lang="en-US" sz="1900" dirty="0"/>
          </a:p>
        </p:txBody>
      </p:sp>
      <p:sp>
        <p:nvSpPr>
          <p:cNvPr id="19" name="Text 16"/>
          <p:cNvSpPr/>
          <p:nvPr/>
        </p:nvSpPr>
        <p:spPr>
          <a:xfrm>
            <a:off x="4663440"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Rubric language drifts to fog. Fix: your assignment’s specifics, by name.</a:t>
            </a:r>
            <a:endParaRPr lang="en-US" sz="1500" dirty="0"/>
          </a:p>
        </p:txBody>
      </p:sp>
      <p:sp>
        <p:nvSpPr>
          <p:cNvPr id="20" name="Shape 17"/>
          <p:cNvSpPr/>
          <p:nvPr/>
        </p:nvSpPr>
        <p:spPr>
          <a:xfrm>
            <a:off x="8174736" y="155448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Contains errors</a:t>
            </a:r>
            <a:endParaRPr lang="en-US" sz="1900" dirty="0"/>
          </a:p>
        </p:txBody>
      </p:sp>
      <p:sp>
        <p:nvSpPr>
          <p:cNvPr id="22" name="Text 19"/>
          <p:cNvSpPr/>
          <p:nvPr/>
        </p:nvSpPr>
        <p:spPr>
          <a:xfrm>
            <a:off x="8430768"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57% of AI-using teachers say AI improves their grading and feedback quality (Gallup, 2025). The ones it helps are the ones who verify.</a:t>
            </a:r>
            <a:endParaRPr lang="en-US" sz="1500" dirty="0"/>
          </a:p>
        </p:txBody>
      </p:sp>
      <p:sp>
        <p:nvSpPr>
          <p:cNvPr id="23" name="Text 20"/>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tool improves the work of people who check it. It embarrasses the people who don’t.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assessment through every step: her persuasive essay.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your next real assessment.</a:t>
            </a:r>
            <a:endParaRPr lang="en-US" sz="42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actually coming in the next month: a unit test, an essay, a project, a shop practical. Grab your notes on what good work looks like.</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of any kind; we draft materials only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Rubric first, then questions, then feedback starters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 catch and cut at least one weak question before the lab ends</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1: the rubric for that essay. Messy notes in, iteration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 then iterate</a:t>
            </a:r>
            <a:endParaRPr lang="en-US" sz="3200" dirty="0"/>
          </a:p>
        </p:txBody>
      </p:sp>
      <p:sp>
        <p:nvSpPr>
          <p:cNvPr id="14" name="Text 11"/>
          <p:cNvSpPr/>
          <p:nvPr/>
        </p:nvSpPr>
        <p:spPr>
          <a:xfrm>
            <a:off x="640080" y="1600200"/>
            <a:ext cx="10972800" cy="26517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Run the rubric prompt with your grade, subject, criteria, and your notes pasted in</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Content round: are these the right criteria? Is anything you grade for missing?</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Voice round: the hand-it-to-a-student test, on every descriptor</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Details round: table format, level names, point values if you use them</a:t>
            </a:r>
            <a:endParaRPr lang="en-US" sz="1900" dirty="0"/>
          </a:p>
        </p:txBody>
      </p:sp>
      <p:sp>
        <p:nvSpPr>
          <p:cNvPr id="15" name="Shape 12"/>
          <p:cNvSpPr/>
          <p:nvPr/>
        </p:nvSpPr>
        <p:spPr>
          <a:xfrm>
            <a:off x="640080" y="434340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343400"/>
            <a:ext cx="10332720" cy="11887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of any kind goes in. </a:t>
            </a:r>
            <a:pPr indent="0" marL="0">
              <a:buNone/>
            </a:pPr>
            <a:r>
              <a:rPr lang="en-US" sz="1800" dirty="0">
                <a:solidFill>
                  <a:srgbClr val="1B1F24"/>
                </a:solidFill>
                <a:latin typeface="Inter" pitchFamily="34" charset="0"/>
                <a:ea typeface="Inter" pitchFamily="34" charset="-122"/>
                <a:cs typeface="Inter" pitchFamily="34" charset="-120"/>
              </a:rPr>
              <a:t>45-min cut: run the voice round only; it is the one that matters most.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voice round, word for word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WHAT FAILED THE TEST   </a:t>
            </a:r>
            <a:pPr indent="0" marL="0">
              <a:buNone/>
            </a:pPr>
            <a:r>
              <a:rPr lang="en-US" sz="1600" i="1" dirty="0">
                <a:solidFill>
                  <a:srgbClr val="5B6B7A"/>
                </a:solidFill>
                <a:latin typeface="Inter" pitchFamily="34" charset="0"/>
                <a:ea typeface="Inter" pitchFamily="34" charset="-122"/>
                <a:cs typeface="Inter" pitchFamily="34" charset="-120"/>
              </a:rPr>
              <a:t>“Demonstrates limited understanding of evidence.” Her level 2, first draft.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“Stay in the role of my 7th grade ELA colleague.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Evidence descriptors for levels 2, 3, and 4 of the rubric you just built.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A student reading level 3 has to be able to tell me exactly what moving to level 4 requires. “Demonstrates limited understanding” tells a 12 year old nothing. Describe what the work does, not what it lacks, and use words my students actually use.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One sentence per level, same table, nothing else changed.”</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rubric, finished: four levels a 7th grader can act 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HER FINISHED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rubric, after two rounds</a:t>
            </a:r>
            <a:endParaRPr lang="en-US" sz="3200" dirty="0"/>
          </a:p>
        </p:txBody>
      </p:sp>
      <p:sp>
        <p:nvSpPr>
          <p:cNvPr id="14" name="Shape 11"/>
          <p:cNvSpPr/>
          <p:nvPr/>
        </p:nvSpPr>
        <p:spPr>
          <a:xfrm>
            <a:off x="640080" y="1325880"/>
            <a:ext cx="10972800" cy="640080"/>
          </a:xfrm>
          <a:prstGeom prst="roundRect">
            <a:avLst>
              <a:gd name="adj" fmla="val 12857"/>
            </a:avLst>
          </a:prstGeom>
          <a:solidFill>
            <a:srgbClr val="F7F5F0"/>
          </a:solidFill>
          <a:ln w="12700">
            <a:solidFill>
              <a:srgbClr val="F7F5F0"/>
            </a:solidFill>
            <a:prstDash val="solid"/>
          </a:ln>
        </p:spPr>
      </p:sp>
      <p:sp>
        <p:nvSpPr>
          <p:cNvPr id="15" name="Text 12"/>
          <p:cNvSpPr/>
          <p:nvPr/>
        </p:nvSpPr>
        <p:spPr>
          <a:xfrm>
            <a:off x="960120" y="1325880"/>
            <a:ext cx="10332720" cy="640080"/>
          </a:xfrm>
          <a:prstGeom prst="rect">
            <a:avLst/>
          </a:prstGeom>
          <a:noFill/>
          <a:ln/>
        </p:spPr>
        <p:txBody>
          <a:bodyPr wrap="square" lIns="0" tIns="0" rIns="0" bIns="0" rtlCol="0" anchor="ctr"/>
          <a:lstStyle/>
          <a:p>
            <a:pPr indent="0" marL="0">
              <a:buNone/>
            </a:pPr>
            <a:r>
              <a:rPr lang="en-US" sz="1600" b="1" spc="100" kern="0" dirty="0">
                <a:solidFill>
                  <a:srgbClr val="2A9D8F"/>
                </a:solidFill>
                <a:latin typeface="Inter" pitchFamily="34" charset="0"/>
                <a:ea typeface="Inter" pitchFamily="34" charset="-122"/>
                <a:cs typeface="Inter" pitchFamily="34" charset="-120"/>
              </a:rPr>
              <a:t>HER NOTE, PASTED IN   </a:t>
            </a:r>
            <a:pPr indent="0" marL="0">
              <a:buNone/>
            </a:pPr>
            <a:r>
              <a:rPr lang="en-US" sz="1600" i="1" dirty="0">
                <a:solidFill>
                  <a:srgbClr val="1B1F24"/>
                </a:solidFill>
                <a:latin typeface="Inter" pitchFamily="34" charset="0"/>
                <a:ea typeface="Inter" pitchFamily="34" charset="-122"/>
                <a:cs typeface="Inter" pitchFamily="34" charset="-120"/>
              </a:rPr>
              <a:t>“an A backs every claim and says why the evidence matters.”</a:t>
            </a:r>
            <a:endParaRPr lang="en-US" sz="1600" dirty="0"/>
          </a:p>
        </p:txBody>
      </p:sp>
      <p:sp>
        <p:nvSpPr>
          <p:cNvPr id="16" name="Shape 13"/>
          <p:cNvSpPr/>
          <p:nvPr/>
        </p:nvSpPr>
        <p:spPr>
          <a:xfrm>
            <a:off x="640080" y="2148840"/>
            <a:ext cx="10972800" cy="2788920"/>
          </a:xfrm>
          <a:prstGeom prst="roundRect">
            <a:avLst>
              <a:gd name="adj" fmla="val 2951"/>
            </a:avLst>
          </a:prstGeom>
          <a:solidFill>
            <a:srgbClr val="FFFFFF"/>
          </a:solidFill>
          <a:ln w="12700">
            <a:solidFill>
              <a:srgbClr val="DCE3EA"/>
            </a:solidFill>
            <a:prstDash val="solid"/>
          </a:ln>
        </p:spPr>
      </p:sp>
      <p:sp>
        <p:nvSpPr>
          <p:cNvPr id="17" name="Text 14"/>
          <p:cNvSpPr/>
          <p:nvPr/>
        </p:nvSpPr>
        <p:spPr>
          <a:xfrm>
            <a:off x="960120" y="227685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HER PERSUASIVE ESSAY RUBRIC · CRITERION: EVIDENCE</a:t>
            </a:r>
            <a:endParaRPr lang="en-US" sz="1250" dirty="0"/>
          </a:p>
        </p:txBody>
      </p:sp>
      <p:sp>
        <p:nvSpPr>
          <p:cNvPr id="18" name="Shape 15"/>
          <p:cNvSpPr/>
          <p:nvPr/>
        </p:nvSpPr>
        <p:spPr>
          <a:xfrm>
            <a:off x="960120" y="2697480"/>
            <a:ext cx="2286000" cy="457200"/>
          </a:xfrm>
          <a:prstGeom prst="roundRect">
            <a:avLst>
              <a:gd name="adj" fmla="val 20000"/>
            </a:avLst>
          </a:prstGeom>
          <a:solidFill>
            <a:srgbClr val="13293D"/>
          </a:solidFill>
          <a:ln w="12700">
            <a:solidFill>
              <a:srgbClr val="13293D"/>
            </a:solidFill>
            <a:prstDash val="solid"/>
          </a:ln>
        </p:spPr>
      </p:sp>
      <p:sp>
        <p:nvSpPr>
          <p:cNvPr id="19" name="Text 16"/>
          <p:cNvSpPr/>
          <p:nvPr/>
        </p:nvSpPr>
        <p:spPr>
          <a:xfrm>
            <a:off x="960120" y="2697480"/>
            <a:ext cx="228600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Inter" pitchFamily="34" charset="0"/>
                <a:ea typeface="Inter" pitchFamily="34" charset="-122"/>
                <a:cs typeface="Inter" pitchFamily="34" charset="-120"/>
              </a:rPr>
              <a:t>LEVEL 3 · PROFICIENT</a:t>
            </a:r>
            <a:endParaRPr lang="en-US" sz="1250" dirty="0"/>
          </a:p>
        </p:txBody>
      </p:sp>
      <p:sp>
        <p:nvSpPr>
          <p:cNvPr id="20" name="Text 17"/>
          <p:cNvSpPr/>
          <p:nvPr/>
        </p:nvSpPr>
        <p:spPr>
          <a:xfrm>
            <a:off x="3429000" y="2569464"/>
            <a:ext cx="7863840" cy="86868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Most of your claims have a quote or a fact behind them, and you explain why that evidence matters for at least some of them.</a:t>
            </a:r>
            <a:endParaRPr lang="en-US" sz="1800" dirty="0"/>
          </a:p>
        </p:txBody>
      </p:sp>
      <p:sp>
        <p:nvSpPr>
          <p:cNvPr id="21" name="Shape 18"/>
          <p:cNvSpPr/>
          <p:nvPr/>
        </p:nvSpPr>
        <p:spPr>
          <a:xfrm>
            <a:off x="960120" y="3840480"/>
            <a:ext cx="2286000" cy="457200"/>
          </a:xfrm>
          <a:prstGeom prst="roundRect">
            <a:avLst>
              <a:gd name="adj" fmla="val 20000"/>
            </a:avLst>
          </a:prstGeom>
          <a:solidFill>
            <a:srgbClr val="2A9D8F"/>
          </a:solidFill>
          <a:ln w="12700">
            <a:solidFill>
              <a:srgbClr val="2A9D8F"/>
            </a:solidFill>
            <a:prstDash val="solid"/>
          </a:ln>
        </p:spPr>
      </p:sp>
      <p:sp>
        <p:nvSpPr>
          <p:cNvPr id="22" name="Text 19"/>
          <p:cNvSpPr/>
          <p:nvPr/>
        </p:nvSpPr>
        <p:spPr>
          <a:xfrm>
            <a:off x="960120" y="3840480"/>
            <a:ext cx="228600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Inter" pitchFamily="34" charset="0"/>
                <a:ea typeface="Inter" pitchFamily="34" charset="-122"/>
                <a:cs typeface="Inter" pitchFamily="34" charset="-120"/>
              </a:rPr>
              <a:t>LEVEL 4 · ADVANCED</a:t>
            </a:r>
            <a:endParaRPr lang="en-US" sz="1250" dirty="0"/>
          </a:p>
        </p:txBody>
      </p:sp>
      <p:sp>
        <p:nvSpPr>
          <p:cNvPr id="23" name="Text 20"/>
          <p:cNvSpPr/>
          <p:nvPr/>
        </p:nvSpPr>
        <p:spPr>
          <a:xfrm>
            <a:off x="3429000" y="3712464"/>
            <a:ext cx="7863840" cy="86868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Every claim has a quote or a fact behind it, and you explain why it proves your point.</a:t>
            </a:r>
            <a:endParaRPr lang="en-US" sz="1800" dirty="0"/>
          </a:p>
        </p:txBody>
      </p:sp>
      <p:sp>
        <p:nvSpPr>
          <p:cNvPr id="24" name="Text 21"/>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Passed the hand-it-to-a-student test on round two. Real rubric, real essay, next week.</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2: the question bank for the same persuasive essay unit.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the 10-question bank</a:t>
            </a:r>
            <a:endParaRPr lang="en-US" sz="3200" dirty="0"/>
          </a:p>
        </p:txBody>
      </p:sp>
      <p:sp>
        <p:nvSpPr>
          <p:cNvPr id="14" name="Text 11"/>
          <p:cNvSpPr/>
          <p:nvPr/>
        </p:nvSpPr>
        <p:spPr>
          <a:xfrm>
            <a:off x="640080" y="1600200"/>
            <a:ext cx="10972800" cy="21945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Same assessment: 10 questions, mixed format, full answer key, distractor rationale</a:t>
            </a:r>
            <a:endParaRPr lang="en-US" sz="1900" dirty="0"/>
          </a:p>
          <a:p>
            <a:pPr marL="342900" indent="-342900">
              <a:lnSpc>
                <a:spcPct val="170000"/>
              </a:lnSpc>
              <a:spcAft>
                <a:spcPts val="1000"/>
              </a:spcAft>
              <a:buSzPct val="100000"/>
              <a:buChar char="•"/>
            </a:pPr>
            <a:r>
              <a:rPr lang="en-US" sz="1900" b="1" dirty="0">
                <a:solidFill>
                  <a:srgbClr val="13293D"/>
                </a:solidFill>
                <a:latin typeface="Inter" pitchFamily="34" charset="0"/>
                <a:ea typeface="Inter" pitchFamily="34" charset="-122"/>
                <a:cs typeface="Inter" pitchFamily="34" charset="-120"/>
              </a:rPr>
              <a:t>First, finish this sentence: “My students keep confusing X with Y.”</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Put that sentence in the prompt and make the misconception a distractor</a:t>
            </a:r>
            <a:endParaRPr lang="en-US" sz="1900" dirty="0"/>
          </a:p>
        </p:txBody>
      </p:sp>
      <p:sp>
        <p:nvSpPr>
          <p:cNvPr id="15" name="Shape 12"/>
          <p:cNvSpPr/>
          <p:nvPr/>
        </p:nvSpPr>
        <p:spPr>
          <a:xfrm>
            <a:off x="640080" y="402336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02336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misconception is the one ingredient only you can supply.</a:t>
            </a:r>
            <a:endParaRPr lang="en-US" sz="2100" dirty="0"/>
          </a:p>
        </p:txBody>
      </p:sp>
      <p:sp>
        <p:nvSpPr>
          <p:cNvPr id="17" name="Text 14"/>
          <p:cNvSpPr/>
          <p:nvPr/>
        </p:nvSpPr>
        <p:spPr>
          <a:xfrm>
            <a:off x="640080" y="5440680"/>
            <a:ext cx="10972800" cy="41148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45-min cut: six questions instead of ten.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bank prompt, her students’ mix-up</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ten questions about my essay unit.”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Build a 10-question bank on my persuasive essay unit: 6 multiple choice, 2 short answer, 2 extended response.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students keep confusing restating the claim with giving evidence. In every multiple-choice question, make one distractor a confident restatement of the claim, so the question catches exactly the students who hold that mix-up.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Full answer key, then one line on why each distractor is wrong. Label every question with the skill it checks.”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drafted: the claim-repeat mix-up built into a distractor.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FINISHED ARTIFACT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Her question 4, doing real work</a:t>
            </a:r>
            <a:endParaRPr lang="en-US" sz="2800" dirty="0"/>
          </a:p>
        </p:txBody>
      </p:sp>
      <p:sp>
        <p:nvSpPr>
          <p:cNvPr id="14" name="Shape 11"/>
          <p:cNvSpPr/>
          <p:nvPr/>
        </p:nvSpPr>
        <p:spPr>
          <a:xfrm>
            <a:off x="640080" y="1371600"/>
            <a:ext cx="10972800" cy="3794760"/>
          </a:xfrm>
          <a:prstGeom prst="roundRect">
            <a:avLst>
              <a:gd name="adj" fmla="val 2169"/>
            </a:avLst>
          </a:prstGeom>
          <a:solidFill>
            <a:srgbClr val="FFFFFF"/>
          </a:solidFill>
          <a:ln w="12700">
            <a:solidFill>
              <a:srgbClr val="DCE3EA"/>
            </a:solidFill>
            <a:prstDash val="solid"/>
          </a:ln>
        </p:spPr>
      </p:sp>
      <p:sp>
        <p:nvSpPr>
          <p:cNvPr id="15" name="Text 12"/>
          <p:cNvSpPr/>
          <p:nvPr/>
        </p:nvSpPr>
        <p:spPr>
          <a:xfrm>
            <a:off x="960120" y="149961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HER ESSAY BANK · QUESTION 4 OF 10 · SKILL: USING EVIDENCE</a:t>
            </a:r>
            <a:endParaRPr lang="en-US" sz="1250" dirty="0"/>
          </a:p>
        </p:txBody>
      </p:sp>
      <p:sp>
        <p:nvSpPr>
          <p:cNvPr id="16" name="Text 13"/>
          <p:cNvSpPr/>
          <p:nvPr/>
        </p:nvSpPr>
        <p:spPr>
          <a:xfrm>
            <a:off x="960120" y="1783080"/>
            <a:ext cx="10332720" cy="5486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“Which sentence gives evidence for the claim that the school day should start later?”</a:t>
            </a:r>
            <a:endParaRPr lang="en-US" sz="1800" dirty="0"/>
          </a:p>
        </p:txBody>
      </p:sp>
      <p:sp>
        <p:nvSpPr>
          <p:cNvPr id="17" name="Text 14"/>
          <p:cNvSpPr/>
          <p:nvPr/>
        </p:nvSpPr>
        <p:spPr>
          <a:xfrm>
            <a:off x="960120" y="2423160"/>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A   </a:t>
            </a:r>
            <a:pPr indent="0" marL="0">
              <a:buNone/>
            </a:pPr>
            <a:r>
              <a:rPr lang="en-US" sz="1600" dirty="0">
                <a:solidFill>
                  <a:srgbClr val="1B1F24"/>
                </a:solidFill>
                <a:latin typeface="Inter" pitchFamily="34" charset="0"/>
                <a:ea typeface="Inter" pitchFamily="34" charset="-122"/>
                <a:cs typeface="Inter" pitchFamily="34" charset="-120"/>
              </a:rPr>
              <a:t>“Starting the day later is clearly the right choice for students.”   </a:t>
            </a:r>
            <a:pPr indent="0" marL="0">
              <a:buNone/>
            </a:pPr>
            <a:r>
              <a:rPr lang="en-US" sz="1600" b="1" i="1" dirty="0">
                <a:solidFill>
                  <a:srgbClr val="B07914"/>
                </a:solidFill>
                <a:latin typeface="Inter" pitchFamily="34" charset="0"/>
                <a:ea typeface="Inter" pitchFamily="34" charset="-122"/>
                <a:cs typeface="Inter" pitchFamily="34" charset="-120"/>
              </a:rPr>
              <a:t>restates the claim</a:t>
            </a:r>
            <a:endParaRPr lang="en-US" sz="1600" dirty="0"/>
          </a:p>
        </p:txBody>
      </p:sp>
      <p:sp>
        <p:nvSpPr>
          <p:cNvPr id="18" name="Text 15"/>
          <p:cNvSpPr/>
          <p:nvPr/>
        </p:nvSpPr>
        <p:spPr>
          <a:xfrm>
            <a:off x="960120" y="2825496"/>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B   </a:t>
            </a:r>
            <a:pPr indent="0" marL="0">
              <a:buNone/>
            </a:pPr>
            <a:r>
              <a:rPr lang="en-US" sz="1600" dirty="0">
                <a:solidFill>
                  <a:srgbClr val="1B1F24"/>
                </a:solidFill>
                <a:latin typeface="Inter" pitchFamily="34" charset="0"/>
                <a:ea typeface="Inter" pitchFamily="34" charset="-122"/>
                <a:cs typeface="Inter" pitchFamily="34" charset="-120"/>
              </a:rPr>
              <a:t>“A district study found attendance rose 12 percent after the bell moved to 8:40.”   </a:t>
            </a:r>
            <a:pPr indent="0" marL="0">
              <a:buNone/>
            </a:pPr>
            <a:r>
              <a:rPr lang="en-US" sz="1600" b="1" i="1" dirty="0">
                <a:solidFill>
                  <a:srgbClr val="2E7D5B"/>
                </a:solidFill>
                <a:latin typeface="Inter" pitchFamily="34" charset="0"/>
                <a:ea typeface="Inter" pitchFamily="34" charset="-122"/>
                <a:cs typeface="Inter" pitchFamily="34" charset="-120"/>
              </a:rPr>
              <a:t>the key</a:t>
            </a:r>
            <a:endParaRPr lang="en-US" sz="1600" dirty="0"/>
          </a:p>
        </p:txBody>
      </p:sp>
      <p:sp>
        <p:nvSpPr>
          <p:cNvPr id="19" name="Text 16"/>
          <p:cNvSpPr/>
          <p:nvPr/>
        </p:nvSpPr>
        <p:spPr>
          <a:xfrm>
            <a:off x="960120" y="3227832"/>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C   </a:t>
            </a:r>
            <a:pPr indent="0" marL="0">
              <a:buNone/>
            </a:pPr>
            <a:r>
              <a:rPr lang="en-US" sz="1600" dirty="0">
                <a:solidFill>
                  <a:srgbClr val="1B1F24"/>
                </a:solidFill>
                <a:latin typeface="Inter" pitchFamily="34" charset="0"/>
                <a:ea typeface="Inter" pitchFamily="34" charset="-122"/>
                <a:cs typeface="Inter" pitchFamily="34" charset="-120"/>
              </a:rPr>
              <a:t>“Most people agree that teenagers need more sleep.”   </a:t>
            </a:r>
            <a:pPr indent="0" marL="0">
              <a:buNone/>
            </a:pPr>
            <a:r>
              <a:rPr lang="en-US" sz="1600" b="1" i="1" dirty="0">
                <a:solidFill>
                  <a:srgbClr val="5B6B7A"/>
                </a:solidFill>
                <a:latin typeface="Inter" pitchFamily="34" charset="0"/>
                <a:ea typeface="Inter" pitchFamily="34" charset="-122"/>
                <a:cs typeface="Inter" pitchFamily="34" charset="-120"/>
              </a:rPr>
              <a:t>opinion, not evidence</a:t>
            </a:r>
            <a:endParaRPr lang="en-US" sz="1600" dirty="0"/>
          </a:p>
        </p:txBody>
      </p:sp>
      <p:sp>
        <p:nvSpPr>
          <p:cNvPr id="20" name="Text 17"/>
          <p:cNvSpPr/>
          <p:nvPr/>
        </p:nvSpPr>
        <p:spPr>
          <a:xfrm>
            <a:off x="960120" y="3630168"/>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D   </a:t>
            </a:r>
            <a:pPr indent="0" marL="0">
              <a:buNone/>
            </a:pPr>
            <a:r>
              <a:rPr lang="en-US" sz="1600" dirty="0">
                <a:solidFill>
                  <a:srgbClr val="1B1F24"/>
                </a:solidFill>
                <a:latin typeface="Inter" pitchFamily="34" charset="0"/>
                <a:ea typeface="Inter" pitchFamily="34" charset="-122"/>
                <a:cs typeface="Inter" pitchFamily="34" charset="-120"/>
              </a:rPr>
              <a:t>“Teachers would like a later start too.”   </a:t>
            </a:r>
            <a:pPr indent="0" marL="0">
              <a:buNone/>
            </a:pPr>
            <a:r>
              <a:rPr lang="en-US" sz="1600" b="1" i="1" dirty="0">
                <a:solidFill>
                  <a:srgbClr val="5B6B7A"/>
                </a:solidFill>
                <a:latin typeface="Inter" pitchFamily="34" charset="0"/>
                <a:ea typeface="Inter" pitchFamily="34" charset="-122"/>
                <a:cs typeface="Inter" pitchFamily="34" charset="-120"/>
              </a:rPr>
              <a:t>off the claim</a:t>
            </a:r>
            <a:endParaRPr lang="en-US" sz="1600" dirty="0"/>
          </a:p>
        </p:txBody>
      </p:sp>
      <p:sp>
        <p:nvSpPr>
          <p:cNvPr id="21" name="Text 18"/>
          <p:cNvSpPr/>
          <p:nvPr/>
        </p:nvSpPr>
        <p:spPr>
          <a:xfrm>
            <a:off x="960120" y="4251960"/>
            <a:ext cx="10332720" cy="777240"/>
          </a:xfrm>
          <a:prstGeom prst="rect">
            <a:avLst/>
          </a:prstGeom>
          <a:noFill/>
          <a:ln/>
        </p:spPr>
        <p:txBody>
          <a:bodyPr wrap="square" lIns="0" tIns="0" rIns="0" bIns="0" rtlCol="0" anchor="ctr"/>
          <a:lstStyle/>
          <a:p>
            <a:pPr indent="0" marL="0">
              <a:buNone/>
            </a:pPr>
            <a:r>
              <a:rPr lang="en-US" sz="1700" b="1" spc="100" kern="0" dirty="0">
                <a:solidFill>
                  <a:srgbClr val="2A9D8F"/>
                </a:solidFill>
                <a:latin typeface="Inter" pitchFamily="34" charset="0"/>
                <a:ea typeface="Inter" pitchFamily="34" charset="-122"/>
                <a:cs typeface="Inter" pitchFamily="34" charset="-120"/>
              </a:rPr>
              <a:t>ANSWER KEY   </a:t>
            </a:r>
            <a:pPr indent="0" marL="0">
              <a:buNone/>
            </a:pPr>
            <a:r>
              <a:rPr lang="en-US" sz="1700" dirty="0">
                <a:solidFill>
                  <a:srgbClr val="1B1F24"/>
                </a:solidFill>
                <a:latin typeface="Inter" pitchFamily="34" charset="0"/>
                <a:ea typeface="Inter" pitchFamily="34" charset="-122"/>
                <a:cs typeface="Inter" pitchFamily="34" charset="-120"/>
              </a:rPr>
              <a:t>B. Distractor A is her students’ mix-up said louder: it restates the claim instead of supporting it.</a:t>
            </a:r>
            <a:endParaRPr lang="en-US" sz="1700" dirty="0"/>
          </a:p>
        </p:txBody>
      </p:sp>
      <p:sp>
        <p:nvSpPr>
          <p:cNvPr id="22" name="Text 19"/>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Whoever picks A has just told her what to reteach. That is a question doing diagnostic work.</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vetted: question 7 had two fair answers. Caught and cut.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STILL STEP 2 · 2 MINUTES · EVERYONE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vetting rep: find the weak one</a:t>
            </a:r>
            <a:endParaRPr lang="en-US" sz="2800" dirty="0"/>
          </a:p>
        </p:txBody>
      </p:sp>
      <p:sp>
        <p:nvSpPr>
          <p:cNvPr id="14" name="Text 11"/>
          <p:cNvSpPr/>
          <p:nvPr/>
        </p:nvSpPr>
        <p:spPr>
          <a:xfrm>
            <a:off x="640080" y="1463040"/>
            <a:ext cx="109728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Answer key checked against your own professional knowledge</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Every distractor checked for accidental truth</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Reading level right? Exactly one fair answer per question?</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Weakest question: fix it by hand, or cut it and write the replacement yourself</a:t>
            </a:r>
            <a:endParaRPr lang="en-US" sz="1800" dirty="0"/>
          </a:p>
        </p:txBody>
      </p:sp>
      <p:sp>
        <p:nvSpPr>
          <p:cNvPr id="15" name="Shape 12"/>
          <p:cNvSpPr/>
          <p:nvPr/>
        </p:nvSpPr>
        <p:spPr>
          <a:xfrm>
            <a:off x="640080" y="3246120"/>
            <a:ext cx="10972800" cy="1783080"/>
          </a:xfrm>
          <a:prstGeom prst="roundRect">
            <a:avLst>
              <a:gd name="adj" fmla="val 4615"/>
            </a:avLst>
          </a:prstGeom>
          <a:solidFill>
            <a:srgbClr val="FFFFFF"/>
          </a:solidFill>
          <a:ln w="12700">
            <a:solidFill>
              <a:srgbClr val="DCE3EA"/>
            </a:solidFill>
            <a:prstDash val="solid"/>
          </a:ln>
        </p:spPr>
      </p:sp>
      <p:sp>
        <p:nvSpPr>
          <p:cNvPr id="16" name="Text 13"/>
          <p:cNvSpPr/>
          <p:nvPr/>
        </p:nvSpPr>
        <p:spPr>
          <a:xfrm>
            <a:off x="960120" y="337413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CATCH · QUESTION 7 OF HER ESSAY BANK</a:t>
            </a:r>
            <a:endParaRPr lang="en-US" sz="1250" dirty="0"/>
          </a:p>
        </p:txBody>
      </p:sp>
      <p:sp>
        <p:nvSpPr>
          <p:cNvPr id="17" name="Text 14"/>
          <p:cNvSpPr/>
          <p:nvPr/>
        </p:nvSpPr>
        <p:spPr>
          <a:xfrm>
            <a:off x="960120" y="3657600"/>
            <a:ext cx="10332720" cy="1280160"/>
          </a:xfrm>
          <a:prstGeom prst="rect">
            <a:avLst/>
          </a:prstGeom>
          <a:noFill/>
          <a:ln/>
        </p:spPr>
        <p:txBody>
          <a:bodyPr wrap="square" lIns="0" tIns="0" rIns="0" bIns="0" rtlCol="0" anchor="t"/>
          <a:lstStyle/>
          <a:p>
            <a:pPr indent="0" marL="0">
              <a:lnSpc>
                <a:spcPct val="120000"/>
              </a:lnSpc>
              <a:buNone/>
            </a:pPr>
            <a:r>
              <a:rPr lang="en-US" sz="1800" b="1" dirty="0">
                <a:solidFill>
                  <a:srgbClr val="13293D"/>
                </a:solidFill>
                <a:latin typeface="Inter" pitchFamily="34" charset="0"/>
                <a:ea typeface="Inter" pitchFamily="34" charset="-122"/>
                <a:cs typeface="Inter" pitchFamily="34" charset="-120"/>
              </a:rPr>
              <a:t>The problem: </a:t>
            </a:r>
            <a:pPr indent="0" marL="0">
              <a:lnSpc>
                <a:spcPct val="120000"/>
              </a:lnSpc>
              <a:buNone/>
            </a:pPr>
            <a:r>
              <a:rPr lang="en-US" sz="1800" dirty="0">
                <a:solidFill>
                  <a:srgbClr val="1B1F24"/>
                </a:solidFill>
                <a:latin typeface="Inter" pitchFamily="34" charset="0"/>
                <a:ea typeface="Inter" pitchFamily="34" charset="-122"/>
                <a:cs typeface="Inter" pitchFamily="34" charset="-120"/>
              </a:rPr>
              <a:t>the answer marked wrong was defensible too. Two fair answers in one question, and no student could have known which one she wanted.
</a:t>
            </a:r>
            <a:pPr indent="0" marL="0">
              <a:lnSpc>
                <a:spcPct val="120000"/>
              </a:lnSpc>
              <a:buNone/>
            </a:pPr>
            <a:r>
              <a:rPr lang="en-US" sz="1800" b="1" dirty="0">
                <a:solidFill>
                  <a:srgbClr val="13293D"/>
                </a:solidFill>
                <a:latin typeface="Inter" pitchFamily="34" charset="0"/>
                <a:ea typeface="Inter" pitchFamily="34" charset="-122"/>
                <a:cs typeface="Inter" pitchFamily="34" charset="-120"/>
              </a:rPr>
              <a:t>The fix: </a:t>
            </a:r>
            <a:pPr indent="0" marL="0">
              <a:lnSpc>
                <a:spcPct val="120000"/>
              </a:lnSpc>
              <a:buNone/>
            </a:pPr>
            <a:r>
              <a:rPr lang="en-US" sz="1800" dirty="0">
                <a:solidFill>
                  <a:srgbClr val="1B1F24"/>
                </a:solidFill>
                <a:latin typeface="Inter" pitchFamily="34" charset="0"/>
                <a:ea typeface="Inter" pitchFamily="34" charset="-122"/>
                <a:cs typeface="Inter" pitchFamily="34" charset="-120"/>
              </a:rPr>
              <a:t>she cut question 7 and wrote its replacement herself. “Got one.”</a:t>
            </a:r>
            <a:endParaRPr lang="en-US" sz="1800" dirty="0"/>
          </a:p>
        </p:txBody>
      </p:sp>
      <p:sp>
        <p:nvSpPr>
          <p:cNvPr id="18" name="Text 15"/>
          <p:cNvSpPr/>
          <p:nvPr/>
        </p:nvSpPr>
        <p:spPr>
          <a:xfrm>
            <a:off x="640080" y="530352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When you find it, say “got one” out loud. Drafts are cheap; vetting is sacred.</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3: three starters for the patterns in her essay stacks.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3–4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Three reusable feedback starters</a:t>
            </a:r>
            <a:endParaRPr lang="en-US" sz="2800" dirty="0"/>
          </a:p>
        </p:txBody>
      </p:sp>
      <p:sp>
        <p:nvSpPr>
          <p:cNvPr id="14" name="Text 11"/>
          <p:cNvSpPr/>
          <p:nvPr/>
        </p:nvSpPr>
        <p:spPr>
          <a:xfrm>
            <a:off x="640080" y="1600200"/>
            <a:ext cx="10972800" cy="21945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 your three most common student patterns for this kind of work</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Run the pattern prompt: strength, pattern, next step, in plain student language</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Save all three where you grade; paste your best one into the staff doc</a:t>
            </a:r>
            <a:endParaRPr lang="en-US" sz="1900" dirty="0"/>
          </a:p>
        </p:txBody>
      </p:sp>
      <p:sp>
        <p:nvSpPr>
          <p:cNvPr id="15" name="Shape 12"/>
          <p:cNvSpPr/>
          <p:nvPr/>
        </p:nvSpPr>
        <p:spPr>
          <a:xfrm>
            <a:off x="640080" y="402336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02336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Starters, not stamps: you personalize every one before it reaches a kid.</a:t>
            </a:r>
            <a:endParaRPr lang="en-US" sz="2100" dirty="0"/>
          </a:p>
        </p:txBody>
      </p:sp>
      <p:sp>
        <p:nvSpPr>
          <p:cNvPr id="17" name="Text 14"/>
          <p:cNvSpPr/>
          <p:nvPr/>
        </p:nvSpPr>
        <p:spPr>
          <a:xfrm>
            <a:off x="640080" y="5440680"/>
            <a:ext cx="10972800" cy="41148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No student work goes in. You already know your patterns by heart.</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starters, finished: strength, pattern, next step,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HER FINISHED ARTIFACT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Her three starters, ready to use</a:t>
            </a:r>
            <a:endParaRPr lang="en-US" sz="2800" dirty="0"/>
          </a:p>
        </p:txBody>
      </p:sp>
      <p:sp>
        <p:nvSpPr>
          <p:cNvPr id="14" name="Shape 11"/>
          <p:cNvSpPr/>
          <p:nvPr/>
        </p:nvSpPr>
        <p:spPr>
          <a:xfrm>
            <a:off x="640080" y="1371600"/>
            <a:ext cx="10972800" cy="1325880"/>
          </a:xfrm>
          <a:prstGeom prst="roundRect">
            <a:avLst>
              <a:gd name="adj" fmla="val 6207"/>
            </a:avLst>
          </a:prstGeom>
          <a:solidFill>
            <a:srgbClr val="FFFFFF"/>
          </a:solidFill>
          <a:ln w="12700">
            <a:solidFill>
              <a:srgbClr val="DCE3EA"/>
            </a:solidFill>
            <a:prstDash val="solid"/>
          </a:ln>
        </p:spPr>
      </p:sp>
      <p:sp>
        <p:nvSpPr>
          <p:cNvPr id="15" name="Text 12"/>
          <p:cNvSpPr/>
          <p:nvPr/>
        </p:nvSpPr>
        <p:spPr>
          <a:xfrm>
            <a:off x="960120" y="148132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1 · CLAIM WITH NO EVIDENCE</a:t>
            </a:r>
            <a:endParaRPr lang="en-US" sz="1250" dirty="0"/>
          </a:p>
        </p:txBody>
      </p:sp>
      <p:sp>
        <p:nvSpPr>
          <p:cNvPr id="16" name="Text 13"/>
          <p:cNvSpPr/>
          <p:nvPr/>
        </p:nvSpPr>
        <p:spPr>
          <a:xfrm>
            <a:off x="960120" y="178308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“Your claim is clear and confident, and I knew exactly what you were arguing from the first line. Right now the essay repeats that claim instead of backing it up. Pick your strongest fact and add one sentence on why it proves your point.”</a:t>
            </a:r>
            <a:endParaRPr lang="en-US" sz="1600" dirty="0"/>
          </a:p>
        </p:txBody>
      </p:sp>
      <p:sp>
        <p:nvSpPr>
          <p:cNvPr id="17" name="Shape 14"/>
          <p:cNvSpPr/>
          <p:nvPr/>
        </p:nvSpPr>
        <p:spPr>
          <a:xfrm>
            <a:off x="640080" y="2788920"/>
            <a:ext cx="10972800" cy="1325880"/>
          </a:xfrm>
          <a:prstGeom prst="roundRect">
            <a:avLst>
              <a:gd name="adj" fmla="val 6207"/>
            </a:avLst>
          </a:prstGeom>
          <a:solidFill>
            <a:srgbClr val="FFFFFF"/>
          </a:solidFill>
          <a:ln w="12700">
            <a:solidFill>
              <a:srgbClr val="DCE3EA"/>
            </a:solidFill>
            <a:prstDash val="solid"/>
          </a:ln>
        </p:spPr>
      </p:sp>
      <p:sp>
        <p:nvSpPr>
          <p:cNvPr id="18" name="Text 15"/>
          <p:cNvSpPr/>
          <p:nvPr/>
        </p:nvSpPr>
        <p:spPr>
          <a:xfrm>
            <a:off x="960120" y="289864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2 · EVIDENCE WITH NO EXPLANATION</a:t>
            </a:r>
            <a:endParaRPr lang="en-US" sz="1250" dirty="0"/>
          </a:p>
        </p:txBody>
      </p:sp>
      <p:sp>
        <p:nvSpPr>
          <p:cNvPr id="19" name="Text 16"/>
          <p:cNvSpPr/>
          <p:nvPr/>
        </p:nvSpPr>
        <p:spPr>
          <a:xfrm>
            <a:off x="960120" y="320040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 found strong evidence, and the quote you picked is the right one for this argument. What is missing is you: the reader needs a sentence in your voice saying what that quote proves. Add it right after the quote.”</a:t>
            </a:r>
            <a:endParaRPr lang="en-US" sz="1600" dirty="0"/>
          </a:p>
        </p:txBody>
      </p:sp>
      <p:sp>
        <p:nvSpPr>
          <p:cNvPr id="20" name="Shape 17"/>
          <p:cNvSpPr/>
          <p:nvPr/>
        </p:nvSpPr>
        <p:spPr>
          <a:xfrm>
            <a:off x="640080" y="4206240"/>
            <a:ext cx="10972800" cy="1325880"/>
          </a:xfrm>
          <a:prstGeom prst="roundRect">
            <a:avLst>
              <a:gd name="adj" fmla="val 6207"/>
            </a:avLst>
          </a:prstGeom>
          <a:solidFill>
            <a:srgbClr val="FFFFFF"/>
          </a:solidFill>
          <a:ln w="12700">
            <a:solidFill>
              <a:srgbClr val="DCE3EA"/>
            </a:solidFill>
            <a:prstDash val="solid"/>
          </a:ln>
        </p:spPr>
      </p:sp>
      <p:sp>
        <p:nvSpPr>
          <p:cNvPr id="21" name="Text 18"/>
          <p:cNvSpPr/>
          <p:nvPr/>
        </p:nvSpPr>
        <p:spPr>
          <a:xfrm>
            <a:off x="960120" y="431596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3 · NEW ARGUMENT IN THE CONCLUSION</a:t>
            </a:r>
            <a:endParaRPr lang="en-US" sz="1250" dirty="0"/>
          </a:p>
        </p:txBody>
      </p:sp>
      <p:sp>
        <p:nvSpPr>
          <p:cNvPr id="22" name="Text 19"/>
          <p:cNvSpPr/>
          <p:nvPr/>
        </p:nvSpPr>
        <p:spPr>
          <a:xfrm>
            <a:off x="960120" y="461772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“Your ending has real energy and the last line lands. The new argument you bring in there deserves its own paragraph in the middle. Move it up, and close by telling the reader why your strongest point matters.”</a:t>
            </a:r>
            <a:endParaRPr lang="en-US" sz="1600" dirty="0"/>
          </a:p>
        </p:txBody>
      </p:sp>
      <p:sp>
        <p:nvSpPr>
          <p:cNvPr id="23" name="Text 20"/>
          <p:cNvSpPr/>
          <p:nvPr/>
        </p:nvSpPr>
        <p:spPr>
          <a:xfrm>
            <a:off x="640080" y="562356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Drafted in one run, for the stacks she grades every year. She personalizes every one before delivery.</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the catch from her essay bank goes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Catches first</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Who caught a weak question, and what was wrong with it? Those stories go first.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rubric descriptor that passes the hand-it-to-a-student test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feedback starter you’ll actually use this week</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assessment: rubric, vetted bank, three starters, one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LAB LANDS · ONE ASSESSMENT, COMPLETE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finished assessment</a:t>
            </a:r>
            <a:endParaRPr lang="en-US" sz="3200" dirty="0"/>
          </a:p>
        </p:txBody>
      </p:sp>
      <p:sp>
        <p:nvSpPr>
          <p:cNvPr id="14" name="Shape 11"/>
          <p:cNvSpPr/>
          <p:nvPr/>
        </p:nvSpPr>
        <p:spPr>
          <a:xfrm>
            <a:off x="640080" y="1417320"/>
            <a:ext cx="3520440" cy="3200400"/>
          </a:xfrm>
          <a:prstGeom prst="roundRect">
            <a:avLst>
              <a:gd name="adj" fmla="val 2571"/>
            </a:avLst>
          </a:prstGeom>
          <a:solidFill>
            <a:srgbClr val="F7F5F0"/>
          </a:solidFill>
          <a:ln w="12700">
            <a:solidFill>
              <a:srgbClr val="F7F5F0"/>
            </a:solidFill>
            <a:prstDash val="solid"/>
          </a:ln>
        </p:spPr>
      </p:sp>
      <p:sp>
        <p:nvSpPr>
          <p:cNvPr id="15" name="Text 12"/>
          <p:cNvSpPr/>
          <p:nvPr/>
        </p:nvSpPr>
        <p:spPr>
          <a:xfrm>
            <a:off x="896112"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RUBRIC · 4 LEVELS</a:t>
            </a:r>
            <a:endParaRPr lang="en-US" sz="1250" dirty="0"/>
          </a:p>
        </p:txBody>
      </p:sp>
      <p:sp>
        <p:nvSpPr>
          <p:cNvPr id="16" name="Text 13"/>
          <p:cNvSpPr/>
          <p:nvPr/>
        </p:nvSpPr>
        <p:spPr>
          <a:xfrm>
            <a:off x="896112"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“Every claim has a quote or a fact behind it, and you explain why it proves your point.”</a:t>
            </a:r>
            <a:endParaRPr lang="en-US" sz="1600" dirty="0"/>
          </a:p>
        </p:txBody>
      </p:sp>
      <p:sp>
        <p:nvSpPr>
          <p:cNvPr id="17" name="Text 14"/>
          <p:cNvSpPr/>
          <p:nvPr/>
        </p:nvSpPr>
        <p:spPr>
          <a:xfrm>
            <a:off x="896112"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Two rounds to get there.</a:t>
            </a:r>
            <a:endParaRPr lang="en-US" sz="1400" dirty="0"/>
          </a:p>
        </p:txBody>
      </p:sp>
      <p:sp>
        <p:nvSpPr>
          <p:cNvPr id="18" name="Shape 15"/>
          <p:cNvSpPr/>
          <p:nvPr/>
        </p:nvSpPr>
        <p:spPr>
          <a:xfrm>
            <a:off x="4407408" y="1417320"/>
            <a:ext cx="3520440" cy="3200400"/>
          </a:xfrm>
          <a:prstGeom prst="roundRect">
            <a:avLst>
              <a:gd name="adj" fmla="val 2571"/>
            </a:avLst>
          </a:prstGeom>
          <a:solidFill>
            <a:srgbClr val="F7F5F0"/>
          </a:solidFill>
          <a:ln w="12700">
            <a:solidFill>
              <a:srgbClr val="F7F5F0"/>
            </a:solidFill>
            <a:prstDash val="solid"/>
          </a:ln>
        </p:spPr>
      </p:sp>
      <p:sp>
        <p:nvSpPr>
          <p:cNvPr id="19" name="Text 16"/>
          <p:cNvSpPr/>
          <p:nvPr/>
        </p:nvSpPr>
        <p:spPr>
          <a:xfrm>
            <a:off x="4663440"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BANK · 10 QUESTIONS</a:t>
            </a:r>
            <a:endParaRPr lang="en-US" sz="1250" dirty="0"/>
          </a:p>
        </p:txBody>
      </p:sp>
      <p:sp>
        <p:nvSpPr>
          <p:cNvPr id="20" name="Text 17"/>
          <p:cNvSpPr/>
          <p:nvPr/>
        </p:nvSpPr>
        <p:spPr>
          <a:xfrm>
            <a:off x="4663440"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“Which sentence gives evidence for the claim that the school day should start later?”</a:t>
            </a:r>
            <a:endParaRPr lang="en-US" sz="1600" dirty="0"/>
          </a:p>
        </p:txBody>
      </p:sp>
      <p:sp>
        <p:nvSpPr>
          <p:cNvPr id="21" name="Text 18"/>
          <p:cNvSpPr/>
          <p:nvPr/>
        </p:nvSpPr>
        <p:spPr>
          <a:xfrm>
            <a:off x="4663440"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Question 7 caught and cut.</a:t>
            </a:r>
            <a:endParaRPr lang="en-US" sz="1400" dirty="0"/>
          </a:p>
        </p:txBody>
      </p:sp>
      <p:sp>
        <p:nvSpPr>
          <p:cNvPr id="22" name="Shape 19"/>
          <p:cNvSpPr/>
          <p:nvPr/>
        </p:nvSpPr>
        <p:spPr>
          <a:xfrm>
            <a:off x="8174736" y="1417320"/>
            <a:ext cx="3520440" cy="3200400"/>
          </a:xfrm>
          <a:prstGeom prst="roundRect">
            <a:avLst>
              <a:gd name="adj" fmla="val 2571"/>
            </a:avLst>
          </a:prstGeom>
          <a:solidFill>
            <a:srgbClr val="F7F5F0"/>
          </a:solidFill>
          <a:ln w="12700">
            <a:solidFill>
              <a:srgbClr val="F7F5F0"/>
            </a:solidFill>
            <a:prstDash val="solid"/>
          </a:ln>
        </p:spPr>
      </p:sp>
      <p:sp>
        <p:nvSpPr>
          <p:cNvPr id="23" name="Text 20"/>
          <p:cNvSpPr/>
          <p:nvPr/>
        </p:nvSpPr>
        <p:spPr>
          <a:xfrm>
            <a:off x="8430768"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STARTERS · 3 PATTERNS</a:t>
            </a:r>
            <a:endParaRPr lang="en-US" sz="1250" dirty="0"/>
          </a:p>
        </p:txBody>
      </p:sp>
      <p:sp>
        <p:nvSpPr>
          <p:cNvPr id="24" name="Text 21"/>
          <p:cNvSpPr/>
          <p:nvPr/>
        </p:nvSpPr>
        <p:spPr>
          <a:xfrm>
            <a:off x="8430768"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“Pick your strongest fact and add one sentence on why it proves your point.”</a:t>
            </a:r>
            <a:endParaRPr lang="en-US" sz="1600" dirty="0"/>
          </a:p>
        </p:txBody>
      </p:sp>
      <p:sp>
        <p:nvSpPr>
          <p:cNvPr id="25" name="Text 22"/>
          <p:cNvSpPr/>
          <p:nvPr/>
        </p:nvSpPr>
        <p:spPr>
          <a:xfrm>
            <a:off x="8430768"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Personalized before delivery.</a:t>
            </a:r>
            <a:endParaRPr lang="en-US" sz="1400" dirty="0"/>
          </a:p>
        </p:txBody>
      </p:sp>
      <p:sp>
        <p:nvSpPr>
          <p:cNvPr id="26" name="Shape 23"/>
          <p:cNvSpPr/>
          <p:nvPr/>
        </p:nvSpPr>
        <p:spPr>
          <a:xfrm>
            <a:off x="640080" y="4846320"/>
            <a:ext cx="10972800" cy="1051560"/>
          </a:xfrm>
          <a:prstGeom prst="roundRect">
            <a:avLst>
              <a:gd name="adj" fmla="val 7826"/>
            </a:avLst>
          </a:prstGeom>
          <a:solidFill>
            <a:srgbClr val="13293D"/>
          </a:solidFill>
          <a:ln w="12700">
            <a:solidFill>
              <a:srgbClr val="13293D"/>
            </a:solidFill>
            <a:prstDash val="solid"/>
          </a:ln>
        </p:spPr>
      </p:sp>
      <p:sp>
        <p:nvSpPr>
          <p:cNvPr id="27" name="Text 24"/>
          <p:cNvSpPr/>
          <p:nvPr/>
        </p:nvSpPr>
        <p:spPr>
          <a:xfrm>
            <a:off x="960120" y="4846320"/>
            <a:ext cx="10332720" cy="105156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One assessment, finished: the materials her class meets next week, and a teacher’s judgment on every line of them.</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inventory, and yours: the materials plus the vetting habit.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four-level rubric a student can read. A vetted question bank with a checked answer key. Three feedback starters for the comments you write most. One weak question caught and cut as proof the reflex works.
</a:t>
            </a:r>
            <a:pPr indent="0" marL="0">
              <a:buNone/>
            </a:pPr>
            <a:r>
              <a:rPr lang="en-US" sz="2000" b="1" dirty="0">
                <a:solidFill>
                  <a:srgbClr val="13293D"/>
                </a:solidFill>
                <a:latin typeface="Inter" pitchFamily="34" charset="0"/>
                <a:ea typeface="Inter" pitchFamily="34" charset="-122"/>
                <a:cs typeface="Inter" pitchFamily="34" charset="-120"/>
              </a:rPr>
              <a:t>That set used to be a weekend. The judgment in it is all yours; only the typing got faster.</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templates: filed in the staff doc's Assessment section.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MAKING IT STICK · PART ONE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staff doc grows an Assessment section</a:t>
            </a:r>
            <a:endParaRPr lang="en-US" sz="2800" dirty="0"/>
          </a:p>
        </p:txBody>
      </p:sp>
      <p:sp>
        <p:nvSpPr>
          <p:cNvPr id="14" name="Text 11"/>
          <p:cNvSpPr/>
          <p:nvPr/>
        </p:nvSpPr>
        <p:spPr>
          <a:xfrm>
            <a:off x="640080" y="1463040"/>
            <a:ext cx="10908792" cy="25603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Rubric prompt, question-bank prompt, starter prompt: templated, with blanks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ELA’s rubric template travels to science; the shop’s safety-quiz prompt travels to health</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Same commitment as Kit 2: when a prompt works, it goes in the doc. Nobody solves the same problem twice.</a:t>
            </a:r>
            <a:endParaRPr lang="en-US" sz="2100" dirty="0"/>
          </a:p>
        </p:txBody>
      </p:sp>
      <p:sp>
        <p:nvSpPr>
          <p:cNvPr id="15" name="Shape 12"/>
          <p:cNvSpPr/>
          <p:nvPr/>
        </p:nvSpPr>
        <p:spPr>
          <a:xfrm>
            <a:off x="640080" y="420624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38912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Templates are the compounding asset. The doc gets smarter every week you use it.</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32</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five hours: the drafting share just moved to a faster tool.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VISION, STATED CAREFULLY</a:t>
            </a:r>
            <a:endParaRPr lang="en-US" sz="1200" dirty="0"/>
          </a:p>
        </p:txBody>
      </p:sp>
      <p:sp>
        <p:nvSpPr>
          <p:cNvPr id="13" name="Text 10"/>
          <p:cNvSpPr/>
          <p:nvPr/>
        </p:nvSpPr>
        <p:spPr>
          <a:xfrm>
            <a:off x="640080" y="1554480"/>
            <a:ext cx="10972800" cy="82296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Five hours a week on grading and feedback.</a:t>
            </a:r>
            <a:endParaRPr lang="en-US" sz="3400" dirty="0"/>
          </a:p>
        </p:txBody>
      </p:sp>
      <p:sp>
        <p:nvSpPr>
          <p:cNvPr id="14" name="Text 11"/>
          <p:cNvSpPr/>
          <p:nvPr/>
        </p:nvSpPr>
        <p:spPr>
          <a:xfrm>
            <a:off x="640080" y="2560320"/>
            <a:ext cx="10972800" cy="822960"/>
          </a:xfrm>
          <a:prstGeom prst="rect">
            <a:avLst/>
          </a:prstGeom>
          <a:noFill/>
          <a:ln/>
        </p:spPr>
        <p:txBody>
          <a:bodyPr wrap="square" lIns="0" tIns="0" rIns="0" bIns="0" rtlCol="0" anchor="ctr"/>
          <a:lstStyle/>
          <a:p>
            <a:pPr indent="0" marL="0">
              <a:buNone/>
            </a:pPr>
            <a:r>
              <a:rPr lang="en-US" sz="2100" dirty="0">
                <a:solidFill>
                  <a:srgbClr val="C9D4DE"/>
                </a:solidFill>
                <a:latin typeface="Inter" pitchFamily="34" charset="0"/>
                <a:ea typeface="Inter" pitchFamily="34" charset="-122"/>
                <a:cs typeface="Inter" pitchFamily="34" charset="-120"/>
              </a:rPr>
              <a:t>We’re not promising them all back. Grading still means reading real work and making real calls, and it should.</a:t>
            </a:r>
            <a:endParaRPr lang="en-US" sz="2100" dirty="0"/>
          </a:p>
        </p:txBody>
      </p:sp>
      <p:sp>
        <p:nvSpPr>
          <p:cNvPr id="15" name="Text 12"/>
          <p:cNvSpPr/>
          <p:nvPr/>
        </p:nvSpPr>
        <p:spPr>
          <a:xfrm>
            <a:off x="640080" y="3566160"/>
            <a:ext cx="10972800" cy="13716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But a real share of those hours was never judgment. It was drafting: the rubric at 9 p.m., the quiz typed from scratch, the same comment keyed forty times. That share moves to a machine that drafts and a teacher who decides.</a:t>
            </a:r>
            <a:endParaRPr lang="en-US" sz="2100" dirty="0"/>
          </a:p>
        </p:txBody>
      </p:sp>
      <p:sp>
        <p:nvSpPr>
          <p:cNvPr id="16" name="Text 13"/>
          <p:cNvSpPr/>
          <p:nvPr/>
        </p:nvSpPr>
        <p:spPr>
          <a:xfrm>
            <a:off x="640080" y="5212080"/>
            <a:ext cx="10972800" cy="54864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Spend what comes back on the part only you can do, or on your own life. Both are wins.</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student side. Integrity and clear expectations.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4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EAF5F3"/>
          </a:solidFill>
          <a:ln w="12700">
            <a:solidFill>
              <a:srgbClr val="EAF5F3"/>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4 · Assessment  ✔</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Next: Kit 5, Academic Integrity. </a:t>
            </a:r>
            <a:pPr indent="0" marL="0">
              <a:buNone/>
            </a:pPr>
            <a:r>
              <a:rPr lang="en-US" sz="1650" dirty="0">
                <a:solidFill>
                  <a:srgbClr val="C9D4DE"/>
                </a:solidFill>
                <a:latin typeface="Inter" pitchFamily="34" charset="0"/>
                <a:ea typeface="Inter" pitchFamily="34" charset="-122"/>
                <a:cs typeface="Inter" pitchFamily="34" charset="-120"/>
              </a:rPr>
              <a:t>The student side of assessment: what honesty and original work look like when every student has these tools too. Your rubric from today comes along; clear success criteria are one of the best integrity tools we have.</a:t>
            </a:r>
            <a:endParaRPr lang="en-US" sz="1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rubric out with the assignment, finish vetting, use one starter.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Hand the rubric to students</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last student-test pass, then out with the real assignment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Finish the vetting pass</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Every question against the key; fix or delete; file the bank</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Use one starter for real</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your next stack, personalized every time; post your best to the staff doc</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built, the weak question she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assessment you built for, and what you’ll actually use</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weak question you caught, and what was wrong with it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assessment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Yes, we’re asking about the catch. It’s the answer we’re proudest of.</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36</a:t>
            </a:r>
            <a:endParaRPr lang="en-US" sz="900" dirty="0"/>
          </a:p>
        </p:txBody>
      </p:sp>
      <p:sp>
        <p:nvSpPr>
          <p:cNvPr id="5" name="Text 2"/>
          <p:cNvSpPr/>
          <p:nvPr/>
        </p:nvSpPr>
        <p:spPr>
          <a:xfrm>
            <a:off x="640080" y="182880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rubric is paper.</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questions are paper.</a:t>
            </a:r>
            <a:endParaRPr lang="en-US" sz="3600" dirty="0"/>
          </a:p>
        </p:txBody>
      </p:sp>
      <p:sp>
        <p:nvSpPr>
          <p:cNvPr id="6" name="Text 3"/>
          <p:cNvSpPr/>
          <p:nvPr/>
        </p:nvSpPr>
        <p:spPr>
          <a:xfrm>
            <a:off x="640080" y="3840480"/>
            <a:ext cx="10972800" cy="118872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Knowing what a ten-year-old meant to say, and what</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they need to hear next: that was never paper. That’s you.</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4: AI for Assessment: Rubrics, Feedback, and Question Banks</dc:title>
  <dc:subject>PptxGenJS Presentation</dc:subject>
  <dc:creator>Adam &amp; Katelyn Spinozzi</dc:creator>
  <cp:lastModifiedBy>Adam &amp; Katelyn Spinozzi</cp:lastModifiedBy>
  <cp:revision>1</cp:revision>
  <dcterms:created xsi:type="dcterms:W3CDTF">2026-08-15T14:07:23Z</dcterms:created>
  <dcterms:modified xsi:type="dcterms:W3CDTF">2026-08-15T14:07:23Z</dcterms:modified>
</cp:coreProperties>
</file>