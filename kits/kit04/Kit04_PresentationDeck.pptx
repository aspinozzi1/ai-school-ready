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Open with the bright line: AI never grades your students. It drafts materials; the teacher makes every call about every kid.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have your own grading-night story, sixty seconds on it lands here: what the stack was, how long it took, what it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Hattie &amp; Timperley: 0.79 average, roughly double the typical intervention, but impact swings widely with feedback type and delivery. RAND: assessment writing is the least-tapped use among AI-using teachers. That gap is why this hour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five stops this hour: what makes assessment materials work, three prompt workshops (rubrics, question banks, feedback starters), the red lines in writing, a lab where you build for an assessment already on your calendar, and how it sticks. The promise line matters: real materials for a real assessment, built today. Keep this quick.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most solid findings in education research. Frame the workload catch honestly: good formative practice multiplies the materials you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students can read it" clause sets up the hand-it-to-a-student test on slide 10. Writing a readable rubric takes real time: materials problem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professional judgment, not a citation; say so if asked. The misconception-distractor idea returns in workshop 2 and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minute AI saves on drafting can move to judgment. This is the frame for all three workshops.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workshop one, on Ms. Rivera's screen, our running composite example. Her messy grading notes are the context; that is Kit 2's formula doing assessment work: role teal, task navy, context amber, format green. The "ask me up to three questions" line is the escape hatch from Kit 2's spice rack. In the lab you'll mimic this shape with your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rubric research only pays off if students can read the thing. This test is the voice round of Kit 2’s iteration system, aimed at rubrics.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ingredient is the misconception: you know what your students mix up, the model doesn’t until you say so. Feed it the confusion and the distractors start doing diagnostic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lab, everyone will catch and fix or delete at least one weak question by hand, on purpose. That rep is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"doesn’t the no-difference finding mean AI could just do it?": the meta-analysis measured pooled learning outcomes, not trust or relationships, and the red line hangs on responsibility for students, which isn’t delegable.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personal beat fits here if you have one: a piece of feedback that only worked because you knew the kid and what they were attempting.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here; this is the one slide nobody may leave without. If a parent asks "is AI grading my kid?", everyone in the room can now say no, and say what we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comment you need is about the pattern anyway, which is why describing usually works as well as pasting. This rule gets policed gently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chose to share the founders’ note, their personal line on AI and assessment lands well here. Your own line lands even better; staff trust red lines more when the presenter shows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Ms. Rivera builds for ONE assessment across all three steps: her 7th grade persuasive essay, the same one from workshop 1. Her exemplar appears large on every step slide; anyone lost can copy her structure. If you grade with a rubric of your own, show it here; one real rubric from a real room tells the lab what "done"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Circulate. Weak rubrics are usually missing the teacher’s notes; nudge with "what do you actually look for when you grade this? Type that." The big card is Ms. Rivera's persuasive-essay rubric mid-build, the same assessment she carries through all three steps: her messy note went in, a readable level-4 descriptor came out. Anyone stuck can copy that shape with their own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six questions instead of ten. Listen for the misconception sentences; they’re the best writing that happens all day. The big card is Ms. Rivera's bank for the same persuasive essay: her misconception sentence went into the prompt, and one distractor now restates the claim, exactly the mix-up her students make. Mimic her sentence with your own X and 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 is a requirement, not a suggestion: it installs the habit that makes the whole workflow safe. The big card shows Ms. Rivera's catch in her own essay bank: a question with two defensible answers, cut and rewritten by hand. Celebrate every catch audibly.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starts pasting a student’s work, redirect gently: describe the pattern instead; excerpts only if fully anonymous by Kit 1’s test. The big card is one of Ms. Rivera's three starters for the same persuasive essay: strength, pattern, next step, in words a 7th grader can read. Copy its shape for your own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Celebrate every catch; that’s the habit we’re building. Keep each voice to a minute. 45-min cut: two voices.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this plainly. The asset is materials plus the vetting habit, not speed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Project the staff doc’s new Assessment section; watching entries appear live is the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Median 5 hrs/week is Merrimack/EdWeek 2022. Keep the framing honest: no promised hour counts, just the drafting share moving to a faster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all eight kits earns the AI-Ready Educator Certificate of Completion; check with your district or state whether it qualifies for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4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for Assessment:</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Rubrics, Feedback, and Question Banks</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a rubric and a question bank for a real upcoming assessment.</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pile: 5 hours a week of grading and feedback, most after dinner.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TEACHERS ACTUALLY SPEND THE WEEK</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grading mountain</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13293D"/>
                </a:solidFill>
                <a:latin typeface="Inter" pitchFamily="34" charset="0"/>
                <a:ea typeface="Inter" pitchFamily="34" charset="-122"/>
                <a:cs typeface="Inter" pitchFamily="34" charset="-120"/>
              </a:rPr>
              <a:t>~54 hrs</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teacher work week,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less than half spent teaching</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(Merrimack College/EdWeek, 2022)</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5 hrs</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median weekly time on</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grading and feedback</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(same survey)</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This session doesn’t grade for you. It makes the materials around grading fast to build.</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gap: feedback is her highest-leverage move, and AI never touched it.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HIGH LEVERAGE, BARELY TOUCHED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most powerful lever, the least-tapped use</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THE POWER OF FEEDBACK</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0.79</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Feedback’s average “effect size” on student achievement: roughly double the impact of the typical educational intervention. (Hattie &amp; Timperley, 2007)</a:t>
            </a:r>
            <a:endParaRPr lang="en-US" sz="160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HOW MANY TEACHERS TAP IT WITH AI</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5B6B7A"/>
                </a:solidFill>
                <a:latin typeface="Inter" pitchFamily="34" charset="0"/>
                <a:ea typeface="Inter" pitchFamily="34" charset="-122"/>
                <a:cs typeface="Inter" pitchFamily="34" charset="-120"/>
              </a:rPr>
              <a:t>≤15%</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who already used AI in 2023–24, 15% or fewer used it for writing assessments: the least-tapped use, sitting under the highest-leverage work. (RAND, 2025)</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Feedback’s power varies with how it’s given. That skill is yours; the drafting is delegable.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a rubric and question bank for a real upcoming assessment.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 makes assessment materials work</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Three workshops: rubrics, questions, feedback</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red lines, in writing</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build for a real upcoming assessment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a rubric and a question bank for an assessment already on your calendar. Not samples. Inventory.</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formative habit: check understanding, adapt. AI drafts the materials.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ONE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Formative assessment works</a:t>
            </a:r>
            <a:endParaRPr lang="en-US" sz="3200" dirty="0"/>
          </a:p>
        </p:txBody>
      </p:sp>
      <p:sp>
        <p:nvSpPr>
          <p:cNvPr id="14" name="Shape 11"/>
          <p:cNvSpPr/>
          <p:nvPr/>
        </p:nvSpPr>
        <p:spPr>
          <a:xfrm>
            <a:off x="640080" y="1645920"/>
            <a:ext cx="10972800" cy="2194560"/>
          </a:xfrm>
          <a:prstGeom prst="roundRect">
            <a:avLst>
              <a:gd name="adj" fmla="val 3750"/>
            </a:avLst>
          </a:prstGeom>
          <a:solidFill>
            <a:srgbClr val="F7F5F0"/>
          </a:solidFill>
          <a:ln w="12700">
            <a:solidFill>
              <a:srgbClr val="F7F5F0"/>
            </a:solidFill>
            <a:prstDash val="solid"/>
          </a:ln>
        </p:spPr>
      </p:sp>
      <p:sp>
        <p:nvSpPr>
          <p:cNvPr id="15" name="Text 12"/>
          <p:cNvSpPr/>
          <p:nvPr/>
        </p:nvSpPr>
        <p:spPr>
          <a:xfrm>
            <a:off x="640080" y="1828800"/>
            <a:ext cx="10972800" cy="91440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~250 studies</a:t>
            </a:r>
            <a:endParaRPr lang="en-US" sz="4800" dirty="0"/>
          </a:p>
        </p:txBody>
      </p:sp>
      <p:sp>
        <p:nvSpPr>
          <p:cNvPr id="16" name="Text 13"/>
          <p:cNvSpPr/>
          <p:nvPr/>
        </p:nvSpPr>
        <p:spPr>
          <a:xfrm>
            <a:off x="1280160" y="2834640"/>
            <a:ext cx="9601200" cy="822960"/>
          </a:xfrm>
          <a:prstGeom prst="rect">
            <a:avLst/>
          </a:prstGeom>
          <a:noFill/>
          <a:ln/>
        </p:spPr>
        <p:txBody>
          <a:bodyPr wrap="square" lIns="0" tIns="0" rIns="0" bIns="0" rtlCol="0" anchor="ctr"/>
          <a:lstStyle/>
          <a:p>
            <a:pPr algn="ctr" indent="0" marL="0">
              <a:buNone/>
            </a:pPr>
            <a:r>
              <a:rPr lang="en-US" sz="1700" dirty="0">
                <a:solidFill>
                  <a:srgbClr val="1B1F24"/>
                </a:solidFill>
                <a:latin typeface="Inter" pitchFamily="34" charset="0"/>
                <a:ea typeface="Inter" pitchFamily="34" charset="-122"/>
                <a:cs typeface="Inter" pitchFamily="34" charset="-120"/>
              </a:rPr>
              <a:t>behind Black &amp; Wiliam’s “Inside the Black Box”: checking understanding as you go, and adapting, raises achievement.</a:t>
            </a:r>
            <a:endParaRPr lang="en-US" sz="1700" dirty="0"/>
          </a:p>
        </p:txBody>
      </p:sp>
      <p:sp>
        <p:nvSpPr>
          <p:cNvPr id="17" name="Text 14"/>
          <p:cNvSpPr/>
          <p:nvPr/>
        </p:nvSpPr>
        <p:spPr>
          <a:xfrm>
            <a:off x="640080" y="411480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The catch for your workload: day-by-day checks need more questions, more often</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Formative assessment is partly a materials problem, and drafting materials is what AI is fast at</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rubric bar: students can read it. That's what makes the research pay.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TWO</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Rubrics aren’t paperwork</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2023 meta-analysis (Panadero et al.): rubric use has a positive, moderate effect on performance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Same finding for self-regulated learning and self-efficacy</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When students can see the target, they aim at it, and start coaching themselves toward it</a:t>
            </a:r>
            <a:endParaRPr lang="en-US" sz="2100" dirty="0"/>
          </a:p>
        </p:txBody>
      </p:sp>
      <p:sp>
        <p:nvSpPr>
          <p:cNvPr id="15" name="Shape 12"/>
          <p:cNvSpPr/>
          <p:nvPr/>
        </p:nvSpPr>
        <p:spPr>
          <a:xfrm>
            <a:off x="640080" y="4114800"/>
            <a:ext cx="10972800" cy="1463040"/>
          </a:xfrm>
          <a:prstGeom prst="roundRect">
            <a:avLst>
              <a:gd name="adj" fmla="val 5625"/>
            </a:avLst>
          </a:prstGeom>
          <a:solidFill>
            <a:srgbClr val="EAF5F3"/>
          </a:solidFill>
          <a:ln w="12700">
            <a:solidFill>
              <a:srgbClr val="EAF5F3"/>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A good rubric quietly does some of your teaching for you, if students can read it.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question bar: quality beats quantity; the misconception does the work.</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EVIDENCE PIECE THREE · PROFESSIONAL JUDGMENT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Question quality beats question quantity</a:t>
            </a:r>
            <a:endParaRPr lang="en-US" sz="3200" dirty="0"/>
          </a:p>
        </p:txBody>
      </p:sp>
      <p:sp>
        <p:nvSpPr>
          <p:cNvPr id="14" name="Text 11"/>
          <p:cNvSpPr/>
          <p:nvPr/>
        </p:nvSpPr>
        <p:spPr>
          <a:xfrm>
            <a:off x="640080" y="1463040"/>
            <a:ext cx="10908792" cy="24688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sharp question does diagnostic work</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A distractor built from a real misconception tells you exactly who holds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Five sharp questions beat twenty fillers; we settle for filler because writing sharp is slow</a:t>
            </a:r>
            <a:endParaRPr lang="en-US" sz="2100" dirty="0"/>
          </a:p>
        </p:txBody>
      </p:sp>
      <p:sp>
        <p:nvSpPr>
          <p:cNvPr id="15" name="Shape 12"/>
          <p:cNvSpPr/>
          <p:nvPr/>
        </p:nvSpPr>
        <p:spPr>
          <a:xfrm>
            <a:off x="640080" y="4114800"/>
            <a:ext cx="10972800" cy="1463040"/>
          </a:xfrm>
          <a:prstGeom prst="roundRect">
            <a:avLst>
              <a:gd name="adj" fmla="val 5625"/>
            </a:avLst>
          </a:prstGeom>
          <a:solidFill>
            <a:srgbClr val="F7F5F0"/>
          </a:solidFill>
          <a:ln w="12700">
            <a:solidFill>
              <a:srgbClr val="F7F5F0"/>
            </a:solidFill>
            <a:prstDash val="solid"/>
          </a:ln>
        </p:spPr>
      </p:sp>
      <p:sp>
        <p:nvSpPr>
          <p:cNvPr id="16" name="Text 13"/>
          <p:cNvSpPr/>
          <p:nvPr/>
        </p:nvSpPr>
        <p:spPr>
          <a:xfrm>
            <a:off x="960120" y="4297680"/>
            <a:ext cx="10332720" cy="109728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Drafting speed is what makes quality affordable.</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division of labor: AI drafts the materials, she makes every judgment.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TODAY’S WORKING AGREEMENT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division of labor</a:t>
            </a:r>
            <a:endParaRPr lang="en-US" sz="3200" dirty="0"/>
          </a:p>
        </p:txBody>
      </p:sp>
      <p:sp>
        <p:nvSpPr>
          <p:cNvPr id="14" name="Shape 11"/>
          <p:cNvSpPr/>
          <p:nvPr/>
        </p:nvSpPr>
        <p:spPr>
          <a:xfrm>
            <a:off x="640080" y="1554480"/>
            <a:ext cx="5394960" cy="3840480"/>
          </a:xfrm>
          <a:prstGeom prst="roundRect">
            <a:avLst>
              <a:gd name="adj" fmla="val 2143"/>
            </a:avLst>
          </a:prstGeom>
          <a:solidFill>
            <a:srgbClr val="EAF5F3"/>
          </a:solidFill>
          <a:ln w="12700">
            <a:solidFill>
              <a:srgbClr val="EAF5F3"/>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100" b="1" dirty="0">
                <a:solidFill>
                  <a:srgbClr val="2E7D5B"/>
                </a:solidFill>
                <a:latin typeface="Inter" pitchFamily="34" charset="0"/>
                <a:ea typeface="Inter" pitchFamily="34" charset="-122"/>
                <a:cs typeface="Inter" pitchFamily="34" charset="-120"/>
              </a:rPr>
              <a:t>AI is fast at…</a:t>
            </a:r>
            <a:endParaRPr lang="en-US" sz="2100" dirty="0"/>
          </a:p>
        </p:txBody>
      </p:sp>
      <p:sp>
        <p:nvSpPr>
          <p:cNvPr id="16" name="Text 13"/>
          <p:cNvSpPr/>
          <p:nvPr/>
        </p:nvSpPr>
        <p:spPr>
          <a:xfrm>
            <a:off x="96012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pattern work: rubric descriptors, question stems, distractors, feedback phrasing. Drafts in seconds.</a:t>
            </a:r>
            <a:endParaRPr lang="en-US" sz="1800" dirty="0"/>
          </a:p>
        </p:txBody>
      </p:sp>
      <p:sp>
        <p:nvSpPr>
          <p:cNvPr id="17" name="Shape 14"/>
          <p:cNvSpPr/>
          <p:nvPr/>
        </p:nvSpPr>
        <p:spPr>
          <a:xfrm>
            <a:off x="6263640" y="1554480"/>
            <a:ext cx="5394960" cy="3840480"/>
          </a:xfrm>
          <a:prstGeom prst="roundRect">
            <a:avLst>
              <a:gd name="adj" fmla="val 2143"/>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You are unreplaceable at…</a:t>
            </a:r>
            <a:endParaRPr lang="en-US" sz="2100" dirty="0"/>
          </a:p>
        </p:txBody>
      </p:sp>
      <p:sp>
        <p:nvSpPr>
          <p:cNvPr id="19" name="Text 16"/>
          <p:cNvSpPr/>
          <p:nvPr/>
        </p:nvSpPr>
        <p:spPr>
          <a:xfrm>
            <a:off x="6583680" y="2377440"/>
            <a:ext cx="4754880" cy="2651760"/>
          </a:xfrm>
          <a:prstGeom prst="rect">
            <a:avLst/>
          </a:prstGeom>
          <a:noFill/>
          <a:ln/>
        </p:spPr>
        <p:txBody>
          <a:bodyPr wrap="square" lIns="0" tIns="0" rIns="0" bIns="0" rtlCol="0" anchor="t"/>
          <a:lstStyle/>
          <a:p>
            <a:pPr indent="0" marL="0">
              <a:buNone/>
            </a:pPr>
            <a:r>
              <a:rPr lang="en-US" sz="1800" dirty="0">
                <a:solidFill>
                  <a:srgbClr val="1B1F24"/>
                </a:solidFill>
                <a:latin typeface="Inter" pitchFamily="34" charset="0"/>
                <a:ea typeface="Inter" pitchFamily="34" charset="-122"/>
                <a:cs typeface="Inter" pitchFamily="34" charset="-120"/>
              </a:rPr>
              <a:t>judgment: what proficient means in your room, whether a question is fair to your kids, what this student needs to hear next.</a:t>
            </a:r>
            <a:endParaRPr lang="en-US" sz="18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AI drafts, the teacher decides. In assessment, those five words carry the most weight they’ll ever carry.</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9</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#1 · RUBRICS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a rubric for my essay assignment.”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487168"/>
            <a:ext cx="9189720" cy="251460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an experienced 7th grade ELA teacher.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Turn my notes into a 4-level analytic rubric (Beginning · Developing · Proficient · Advanced) for a persuasive essay.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Criteria: claim, evidence, organization, conventions. Write every descriptor in language a 7th grader can read, and make each level describe what the work does, not what it lacks.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Format: a table with criteria down the side. Then ask me up to three questions about anything unclear in my notes.”  [paste your notes]</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rubric test: hand it to a student. 'Limited understanding' fails.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QUALITY BAR FOR EVERY RUBRIC</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hand-it-to-a-student test</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600" dirty="0">
                <a:solidFill>
                  <a:srgbClr val="C9D4DE"/>
                </a:solidFill>
                <a:latin typeface="Inter" pitchFamily="34" charset="0"/>
                <a:ea typeface="Inter" pitchFamily="34" charset="-122"/>
                <a:cs typeface="Inter" pitchFamily="34" charset="-120"/>
              </a:rPr>
              <a:t>Read one descriptor aloud. Could a student tell you</a:t>
            </a:r>
            <a:endParaRPr lang="en-US" sz="2600" dirty="0"/>
          </a:p>
          <a:p>
            <a:pPr indent="0" marL="0">
              <a:lnSpc>
                <a:spcPct val="120000"/>
              </a:lnSpc>
              <a:buNone/>
            </a:pPr>
            <a:r>
              <a:rPr lang="en-US" sz="2600" dirty="0">
                <a:solidFill>
                  <a:srgbClr val="C9D4DE"/>
                </a:solidFill>
                <a:latin typeface="Inter" pitchFamily="34" charset="0"/>
                <a:ea typeface="Inter" pitchFamily="34" charset="-122"/>
                <a:cs typeface="Inter" pitchFamily="34" charset="-120"/>
              </a:rPr>
              <a:t>exactly what to do to move up one level?</a:t>
            </a:r>
            <a:endParaRPr lang="en-US" sz="2600" dirty="0"/>
          </a:p>
        </p:txBody>
      </p:sp>
      <p:sp>
        <p:nvSpPr>
          <p:cNvPr id="15" name="Text 12"/>
          <p:cNvSpPr/>
          <p:nvPr/>
        </p:nvSpPr>
        <p:spPr>
          <a:xfrm>
            <a:off x="640080" y="4114800"/>
            <a:ext cx="10972800" cy="128016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“Demonstrates limited understanding” fails: no ten-year-old ever revised an essay off the word “limited.” When it fails, iterate: “Rewrite level 2 so a student knows exactly what moving to level 3 requires.”</a:t>
            </a:r>
            <a:endParaRPr lang="en-US" sz="2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bank prompt: topic plus the confusion her students actually have.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#2 · QUESTION BANKS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Topic + misconception → bank</a:t>
            </a:r>
            <a:endParaRPr lang="en-US" sz="3200" dirty="0"/>
          </a:p>
        </p:txBody>
      </p:sp>
      <p:sp>
        <p:nvSpPr>
          <p:cNvPr id="14" name="Shape 11"/>
          <p:cNvSpPr/>
          <p:nvPr/>
        </p:nvSpPr>
        <p:spPr>
          <a:xfrm>
            <a:off x="640080" y="1417320"/>
            <a:ext cx="10972800" cy="1371600"/>
          </a:xfrm>
          <a:prstGeom prst="roundRect">
            <a:avLst>
              <a:gd name="adj" fmla="val 6000"/>
            </a:avLst>
          </a:prstGeom>
          <a:solidFill>
            <a:srgbClr val="FBEFED"/>
          </a:solidFill>
          <a:ln w="12700">
            <a:solidFill>
              <a:srgbClr val="FBEFED"/>
            </a:solidFill>
            <a:prstDash val="solid"/>
          </a:ln>
        </p:spPr>
      </p:sp>
      <p:sp>
        <p:nvSpPr>
          <p:cNvPr id="15" name="Text 12"/>
          <p:cNvSpPr/>
          <p:nvPr/>
        </p:nvSpPr>
        <p:spPr>
          <a:xfrm>
            <a:off x="914400" y="1554480"/>
            <a:ext cx="1828800" cy="320040"/>
          </a:xfrm>
          <a:prstGeom prst="rect">
            <a:avLst/>
          </a:prstGeom>
          <a:noFill/>
          <a:ln/>
        </p:spPr>
        <p:txBody>
          <a:bodyPr wrap="square" lIns="0" tIns="0" rIns="0" bIns="0" rtlCol="0" anchor="ctr"/>
          <a:lstStyle/>
          <a:p>
            <a:pPr indent="0" marL="0">
              <a:buNone/>
            </a:pPr>
            <a:r>
              <a:rPr lang="en-US" sz="1400" b="1" dirty="0">
                <a:solidFill>
                  <a:srgbClr val="B4453A"/>
                </a:solidFill>
                <a:latin typeface="Inter" pitchFamily="34" charset="0"/>
                <a:ea typeface="Inter" pitchFamily="34" charset="-122"/>
                <a:cs typeface="Inter" pitchFamily="34" charset="-120"/>
              </a:rPr>
              <a:t>BEFORE</a:t>
            </a:r>
            <a:endParaRPr lang="en-US" sz="1400" dirty="0"/>
          </a:p>
        </p:txBody>
      </p:sp>
      <p:sp>
        <p:nvSpPr>
          <p:cNvPr id="16" name="Text 13"/>
          <p:cNvSpPr/>
          <p:nvPr/>
        </p:nvSpPr>
        <p:spPr>
          <a:xfrm>
            <a:off x="914400" y="1874520"/>
            <a:ext cx="10424160" cy="822960"/>
          </a:xfrm>
          <a:prstGeom prst="rect">
            <a:avLst/>
          </a:prstGeom>
          <a:noFill/>
          <a:ln/>
        </p:spPr>
        <p:txBody>
          <a:bodyPr wrap="square" lIns="0" tIns="0" rIns="0" bIns="0" rtlCol="0" anchor="ctr"/>
          <a:lstStyle/>
          <a:p>
            <a:pPr indent="0" marL="0">
              <a:buNone/>
            </a:pPr>
            <a:r>
              <a:rPr lang="en-US" sz="1800" i="1" dirty="0">
                <a:solidFill>
                  <a:srgbClr val="1B1F24"/>
                </a:solidFill>
                <a:latin typeface="Inter" pitchFamily="34" charset="0"/>
                <a:ea typeface="Inter" pitchFamily="34" charset="-122"/>
                <a:cs typeface="Inter" pitchFamily="34" charset="-120"/>
              </a:rPr>
              <a:t>“Write ten quiz questions about photosynthesis.”</a:t>
            </a:r>
            <a:endParaRPr lang="en-US" sz="1800" dirty="0"/>
          </a:p>
        </p:txBody>
      </p:sp>
      <p:sp>
        <p:nvSpPr>
          <p:cNvPr id="17" name="Shape 14"/>
          <p:cNvSpPr/>
          <p:nvPr/>
        </p:nvSpPr>
        <p:spPr>
          <a:xfrm>
            <a:off x="640080" y="3017520"/>
            <a:ext cx="10972800" cy="2834640"/>
          </a:xfrm>
          <a:prstGeom prst="roundRect">
            <a:avLst>
              <a:gd name="adj" fmla="val 2903"/>
            </a:avLst>
          </a:prstGeom>
          <a:solidFill>
            <a:srgbClr val="EAF5F3"/>
          </a:solidFill>
          <a:ln w="12700">
            <a:solidFill>
              <a:srgbClr val="EAF5F3"/>
            </a:solidFill>
            <a:prstDash val="solid"/>
          </a:ln>
        </p:spPr>
      </p:sp>
      <p:sp>
        <p:nvSpPr>
          <p:cNvPr id="18" name="Text 15"/>
          <p:cNvSpPr/>
          <p:nvPr/>
        </p:nvSpPr>
        <p:spPr>
          <a:xfrm>
            <a:off x="914400" y="3154680"/>
            <a:ext cx="1828800" cy="320040"/>
          </a:xfrm>
          <a:prstGeom prst="rect">
            <a:avLst/>
          </a:prstGeom>
          <a:noFill/>
          <a:ln/>
        </p:spPr>
        <p:txBody>
          <a:bodyPr wrap="square" lIns="0" tIns="0" rIns="0" bIns="0" rtlCol="0" anchor="ctr"/>
          <a:lstStyle/>
          <a:p>
            <a:pPr indent="0" marL="0">
              <a:buNone/>
            </a:pPr>
            <a:r>
              <a:rPr lang="en-US" sz="1400" b="1" dirty="0">
                <a:solidFill>
                  <a:srgbClr val="2E7D5B"/>
                </a:solidFill>
                <a:latin typeface="Inter" pitchFamily="34" charset="0"/>
                <a:ea typeface="Inter" pitchFamily="34" charset="-122"/>
                <a:cs typeface="Inter" pitchFamily="34" charset="-120"/>
              </a:rPr>
              <a:t>AFTER</a:t>
            </a:r>
            <a:endParaRPr lang="en-US" sz="1400" dirty="0"/>
          </a:p>
        </p:txBody>
      </p:sp>
      <p:sp>
        <p:nvSpPr>
          <p:cNvPr id="19" name="Text 16"/>
          <p:cNvSpPr/>
          <p:nvPr/>
        </p:nvSpPr>
        <p:spPr>
          <a:xfrm>
            <a:off x="914400" y="3474720"/>
            <a:ext cx="10424160" cy="2286000"/>
          </a:xfrm>
          <a:prstGeom prst="rect">
            <a:avLst/>
          </a:prstGeom>
          <a:noFill/>
          <a:ln/>
        </p:spPr>
        <p:txBody>
          <a:bodyPr wrap="square" lIns="0" tIns="0" rIns="0" bIns="0" rtlCol="0" anchor="t"/>
          <a:lstStyle/>
          <a:p>
            <a:pPr indent="0" marL="0">
              <a:buNone/>
            </a:pPr>
            <a:r>
              <a:rPr lang="en-US" sz="1550" i="1" dirty="0">
                <a:solidFill>
                  <a:srgbClr val="1B1F24"/>
                </a:solidFill>
                <a:latin typeface="Inter" pitchFamily="34" charset="0"/>
                <a:ea typeface="Inter" pitchFamily="34" charset="-122"/>
                <a:cs typeface="Inter" pitchFamily="34" charset="-120"/>
              </a:rPr>
              <a:t>“You are a middle school science teacher. Build a 10-question bank on photosynthesis for 7th graders who commonly confuse it with respiration. Mix: 6 multiple choice, 2 short answer, 2 extended response. In each multiple-choice question, make one distractor the respiration confusion. Include a full answer key, then explain in one line why each distractor is wrong. Label each question with the skill it checks.”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vetting stance: 97% on-topic still isn't 100%. Every key gets checked.</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HOW GOOD ARE THE DRAFTS? HONEST ANSWER</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Good, and not good enough to skip you</a:t>
            </a:r>
            <a:endParaRPr lang="en-US" sz="3200" dirty="0"/>
          </a:p>
        </p:txBody>
      </p:sp>
      <p:sp>
        <p:nvSpPr>
          <p:cNvPr id="14" name="Shape 11"/>
          <p:cNvSpPr/>
          <p:nvPr/>
        </p:nvSpPr>
        <p:spPr>
          <a:xfrm>
            <a:off x="640080" y="1600200"/>
            <a:ext cx="5257800" cy="2926080"/>
          </a:xfrm>
          <a:prstGeom prst="roundRect">
            <a:avLst>
              <a:gd name="adj" fmla="val 2813"/>
            </a:avLst>
          </a:prstGeom>
          <a:solidFill>
            <a:srgbClr val="EAF5F3"/>
          </a:solidFill>
          <a:ln w="12700">
            <a:solidFill>
              <a:srgbClr val="EAF5F3"/>
            </a:solidFill>
            <a:prstDash val="solid"/>
          </a:ln>
        </p:spPr>
      </p:sp>
      <p:sp>
        <p:nvSpPr>
          <p:cNvPr id="15" name="Text 12"/>
          <p:cNvSpPr/>
          <p:nvPr/>
        </p:nvSpPr>
        <p:spPr>
          <a:xfrm>
            <a:off x="64008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OFTEN DRAFTS ARE ON-TOPIC</a:t>
            </a:r>
            <a:endParaRPr lang="en-US" sz="1300" dirty="0"/>
          </a:p>
        </p:txBody>
      </p:sp>
      <p:sp>
        <p:nvSpPr>
          <p:cNvPr id="16" name="Text 13"/>
          <p:cNvSpPr/>
          <p:nvPr/>
        </p:nvSpPr>
        <p:spPr>
          <a:xfrm>
            <a:off x="64008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97%</a:t>
            </a:r>
            <a:endParaRPr lang="en-US" sz="4800" dirty="0"/>
          </a:p>
        </p:txBody>
      </p:sp>
      <p:sp>
        <p:nvSpPr>
          <p:cNvPr id="17" name="Text 14"/>
          <p:cNvSpPr/>
          <p:nvPr/>
        </p:nvSpPr>
        <p:spPr>
          <a:xfrm>
            <a:off x="91440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When teachers rated quiz questions drafted by AI, 97 in 100 were judged relevant to the topic they asked for. (Elkins et al., 2023)</a:t>
            </a:r>
            <a:endParaRPr lang="en-US" sz="1600" dirty="0"/>
          </a:p>
        </p:txBody>
      </p:sp>
      <p:sp>
        <p:nvSpPr>
          <p:cNvPr id="18" name="Shape 15"/>
          <p:cNvSpPr/>
          <p:nvPr/>
        </p:nvSpPr>
        <p:spPr>
          <a:xfrm>
            <a:off x="6263640" y="1600200"/>
            <a:ext cx="5257800" cy="2926080"/>
          </a:xfrm>
          <a:prstGeom prst="roundRect">
            <a:avLst>
              <a:gd name="adj" fmla="val 2813"/>
            </a:avLst>
          </a:prstGeom>
          <a:solidFill>
            <a:srgbClr val="EAF5F3"/>
          </a:solidFill>
          <a:ln w="12700">
            <a:solidFill>
              <a:srgbClr val="EAF5F3"/>
            </a:solidFill>
            <a:prstDash val="solid"/>
          </a:ln>
        </p:spPr>
      </p:sp>
      <p:sp>
        <p:nvSpPr>
          <p:cNvPr id="19" name="Text 16"/>
          <p:cNvSpPr/>
          <p:nvPr/>
        </p:nvSpPr>
        <p:spPr>
          <a:xfrm>
            <a:off x="6263640" y="1737360"/>
            <a:ext cx="5257800" cy="292608"/>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HOW USEFUL TEACHERS FOUND THEM</a:t>
            </a:r>
            <a:endParaRPr lang="en-US" sz="1300" dirty="0"/>
          </a:p>
        </p:txBody>
      </p:sp>
      <p:sp>
        <p:nvSpPr>
          <p:cNvPr id="20" name="Text 17"/>
          <p:cNvSpPr/>
          <p:nvPr/>
        </p:nvSpPr>
        <p:spPr>
          <a:xfrm>
            <a:off x="6263640" y="2029968"/>
            <a:ext cx="5257800" cy="868680"/>
          </a:xfrm>
          <a:prstGeom prst="rect">
            <a:avLst/>
          </a:prstGeom>
          <a:noFill/>
          <a:ln/>
        </p:spPr>
        <p:txBody>
          <a:bodyPr wrap="square" lIns="0" tIns="0" rIns="0" bIns="0" rtlCol="0" anchor="ctr"/>
          <a:lstStyle/>
          <a:p>
            <a:pPr algn="ctr" indent="0" marL="0">
              <a:buNone/>
            </a:pPr>
            <a:r>
              <a:rPr lang="en-US" sz="4800" b="1" dirty="0">
                <a:solidFill>
                  <a:srgbClr val="2A9D8F"/>
                </a:solidFill>
                <a:latin typeface="Inter" pitchFamily="34" charset="0"/>
                <a:ea typeface="Inter" pitchFamily="34" charset="-122"/>
                <a:cs typeface="Inter" pitchFamily="34" charset="-120"/>
              </a:rPr>
              <a:t>3.6 / 4</a:t>
            </a:r>
            <a:endParaRPr lang="en-US" sz="4800" dirty="0"/>
          </a:p>
        </p:txBody>
      </p:sp>
      <p:sp>
        <p:nvSpPr>
          <p:cNvPr id="21" name="Text 18"/>
          <p:cNvSpPr/>
          <p:nvPr/>
        </p:nvSpPr>
        <p:spPr>
          <a:xfrm>
            <a:off x="6537960" y="2971800"/>
            <a:ext cx="4709160" cy="14630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same teachers scored the questions’ usefulness 3.6 out of 4, and the study treats teacher vetting as integral, not optional. (same study)</a:t>
            </a:r>
            <a:endParaRPr lang="en-US" sz="1600" dirty="0"/>
          </a:p>
        </p:txBody>
      </p:sp>
      <p:sp>
        <p:nvSpPr>
          <p:cNvPr id="22" name="Text 19"/>
          <p:cNvSpPr/>
          <p:nvPr/>
        </p:nvSpPr>
        <p:spPr>
          <a:xfrm>
            <a:off x="640080" y="4892040"/>
            <a:ext cx="10972800" cy="82296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Those numbers are why drafting works. The gap is why vetting isn’t optional. Every bank gets a vetting pass; every answer key gets checked.</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read of the evidence: AI feedback is a floor. She is the ceiling.</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WORKSHOP #3 · FEEDBACK · BOTH HALVES OF THE EVIDENCE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honest evidence on AI feedback</a:t>
            </a:r>
            <a:endParaRPr lang="en-US" sz="32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Trained humans win</a:t>
            </a:r>
            <a:endParaRPr lang="en-US" sz="20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Well-trained humans beat ChatGPT on nearly every dimension of feedback quality on student writing. (Steiss et al., 2024)</a:t>
            </a:r>
            <a:endParaRPr lang="en-US" sz="1650" dirty="0"/>
          </a:p>
        </p:txBody>
      </p:sp>
      <p:sp>
        <p:nvSpPr>
          <p:cNvPr id="17" name="Shape 14"/>
          <p:cNvSpPr/>
          <p:nvPr/>
        </p:nvSpPr>
        <p:spPr>
          <a:xfrm>
            <a:off x="6263640" y="1554480"/>
            <a:ext cx="539496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Outcomes look similar</a:t>
            </a:r>
            <a:endParaRPr lang="en-US" sz="20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Across 41 studies (4,813 students), no statistically significant difference in learning between AI and human feedback. (Kaliisa et al., 2025)</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Both are true. AI feedback language is a floor and a fast draft. You are the ceiling.</a:t>
            </a:r>
            <a:endParaRPr lang="en-US" sz="2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starters: drafted for patterns, personalized before any student sees one.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WORKFLOW: DESCRIBE THE PATTERN, NOT THE STUDENT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Feedback starters for common patterns</a:t>
            </a:r>
            <a:endParaRPr lang="en-US" sz="3200" dirty="0"/>
          </a:p>
        </p:txBody>
      </p:sp>
      <p:sp>
        <p:nvSpPr>
          <p:cNvPr id="14" name="Shape 11"/>
          <p:cNvSpPr/>
          <p:nvPr/>
        </p:nvSpPr>
        <p:spPr>
          <a:xfrm>
            <a:off x="640080" y="1508760"/>
            <a:ext cx="10972800" cy="2651760"/>
          </a:xfrm>
          <a:prstGeom prst="roundRect">
            <a:avLst>
              <a:gd name="adj" fmla="val 3103"/>
            </a:avLst>
          </a:prstGeom>
          <a:solidFill>
            <a:srgbClr val="EAF5F3"/>
          </a:solidFill>
          <a:ln w="12700">
            <a:solidFill>
              <a:srgbClr val="EAF5F3"/>
            </a:solidFill>
            <a:prstDash val="solid"/>
          </a:ln>
        </p:spPr>
      </p:sp>
      <p:sp>
        <p:nvSpPr>
          <p:cNvPr id="15" name="Text 12"/>
          <p:cNvSpPr/>
          <p:nvPr/>
        </p:nvSpPr>
        <p:spPr>
          <a:xfrm>
            <a:off x="960120" y="1737360"/>
            <a:ext cx="10332720" cy="2194560"/>
          </a:xfrm>
          <a:prstGeom prst="rect">
            <a:avLst/>
          </a:prstGeom>
          <a:noFill/>
          <a:ln/>
        </p:spPr>
        <p:txBody>
          <a:bodyPr wrap="square" lIns="0" tIns="0" rIns="0" bIns="0" rtlCol="0" anchor="ctr"/>
          <a:lstStyle/>
          <a:p>
            <a:pPr indent="0" marL="0">
              <a:buNone/>
            </a:pPr>
            <a:r>
              <a:rPr lang="en-US" sz="1650" i="1" dirty="0">
                <a:solidFill>
                  <a:srgbClr val="13293D"/>
                </a:solidFill>
                <a:latin typeface="Inter" pitchFamily="34" charset="0"/>
                <a:ea typeface="Inter" pitchFamily="34" charset="-122"/>
                <a:cs typeface="Inter" pitchFamily="34" charset="-120"/>
              </a:rPr>
              <a:t>“Here are the three most common patterns in my students’ persuasive essays: claims with no evidence, evidence with no explanation, conclusions that introduce new arguments. For each, draft a 2–3 sentence feedback comment: name something the writer did well, name the pattern plainly, give one concrete next step. Warm, specific, readable by a 7th grader. I’ll personalize every comment before a student sees it.”</a:t>
            </a:r>
            <a:endParaRPr lang="en-US" sz="1650" dirty="0"/>
          </a:p>
        </p:txBody>
      </p:sp>
      <p:sp>
        <p:nvSpPr>
          <p:cNvPr id="16" name="Text 13"/>
          <p:cNvSpPr/>
          <p:nvPr/>
        </p:nvSpPr>
        <p:spPr>
          <a:xfrm>
            <a:off x="640080" y="4434840"/>
            <a:ext cx="10908792" cy="137160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No student work needed at all: you already know your patterns by heart</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Starters, not stamps: you add the sentence only you can write, then you deliver it</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lines: AI never grades, never sees names, never decides.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IN WRITING, SO NOBODY GUESSES</a:t>
            </a:r>
            <a:endParaRPr lang="en-US" sz="1200" dirty="0"/>
          </a:p>
        </p:txBody>
      </p:sp>
      <p:sp>
        <p:nvSpPr>
          <p:cNvPr id="13" name="Text 10"/>
          <p:cNvSpPr/>
          <p:nvPr/>
        </p:nvSpPr>
        <p:spPr>
          <a:xfrm>
            <a:off x="640080" y="1097280"/>
            <a:ext cx="1097280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red lines</a:t>
            </a:r>
            <a:endParaRPr lang="en-US" sz="4000" dirty="0"/>
          </a:p>
        </p:txBody>
      </p:sp>
      <p:sp>
        <p:nvSpPr>
          <p:cNvPr id="14" name="Shape 11"/>
          <p:cNvSpPr/>
          <p:nvPr/>
        </p:nvSpPr>
        <p:spPr>
          <a:xfrm>
            <a:off x="822960" y="2194560"/>
            <a:ext cx="658368" cy="658368"/>
          </a:xfrm>
          <a:prstGeom prst="ellipse">
            <a:avLst/>
          </a:prstGeom>
          <a:solidFill>
            <a:srgbClr val="F4A825"/>
          </a:solidFill>
          <a:ln w="12700">
            <a:solidFill>
              <a:srgbClr val="F4A825"/>
            </a:solidFill>
            <a:prstDash val="solid"/>
          </a:ln>
        </p:spPr>
      </p:sp>
      <p:sp>
        <p:nvSpPr>
          <p:cNvPr id="15" name="Text 12"/>
          <p:cNvSpPr/>
          <p:nvPr/>
        </p:nvSpPr>
        <p:spPr>
          <a:xfrm>
            <a:off x="822960" y="219456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1</a:t>
            </a:r>
            <a:endParaRPr lang="en-US" sz="2400" dirty="0"/>
          </a:p>
        </p:txBody>
      </p:sp>
      <p:sp>
        <p:nvSpPr>
          <p:cNvPr id="16" name="Text 13"/>
          <p:cNvSpPr/>
          <p:nvPr/>
        </p:nvSpPr>
        <p:spPr>
          <a:xfrm>
            <a:off x="1691640" y="208483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AI never grades. No score or decision about a student ever comes from a machine.</a:t>
            </a:r>
            <a:endParaRPr lang="en-US" sz="2000" dirty="0"/>
          </a:p>
        </p:txBody>
      </p:sp>
      <p:sp>
        <p:nvSpPr>
          <p:cNvPr id="17" name="Shape 14"/>
          <p:cNvSpPr/>
          <p:nvPr/>
        </p:nvSpPr>
        <p:spPr>
          <a:xfrm>
            <a:off x="822960" y="3246120"/>
            <a:ext cx="658368" cy="658368"/>
          </a:xfrm>
          <a:prstGeom prst="ellipse">
            <a:avLst/>
          </a:prstGeom>
          <a:solidFill>
            <a:srgbClr val="F4A825"/>
          </a:solidFill>
          <a:ln w="12700">
            <a:solidFill>
              <a:srgbClr val="F4A825"/>
            </a:solidFill>
            <a:prstDash val="solid"/>
          </a:ln>
        </p:spPr>
      </p:sp>
      <p:sp>
        <p:nvSpPr>
          <p:cNvPr id="18" name="Text 15"/>
          <p:cNvSpPr/>
          <p:nvPr/>
        </p:nvSpPr>
        <p:spPr>
          <a:xfrm>
            <a:off x="822960" y="324612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2</a:t>
            </a:r>
            <a:endParaRPr lang="en-US" sz="2400" dirty="0"/>
          </a:p>
        </p:txBody>
      </p:sp>
      <p:sp>
        <p:nvSpPr>
          <p:cNvPr id="19" name="Text 16"/>
          <p:cNvSpPr/>
          <p:nvPr/>
        </p:nvSpPr>
        <p:spPr>
          <a:xfrm>
            <a:off x="1691640" y="313639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names, and no identifying student work, in public AI tools. Ever.</a:t>
            </a:r>
            <a:endParaRPr lang="en-US" sz="2000" dirty="0"/>
          </a:p>
        </p:txBody>
      </p:sp>
      <p:sp>
        <p:nvSpPr>
          <p:cNvPr id="20" name="Shape 17"/>
          <p:cNvSpPr/>
          <p:nvPr/>
        </p:nvSpPr>
        <p:spPr>
          <a:xfrm>
            <a:off x="822960" y="4297680"/>
            <a:ext cx="658368" cy="658368"/>
          </a:xfrm>
          <a:prstGeom prst="ellipse">
            <a:avLst/>
          </a:prstGeom>
          <a:solidFill>
            <a:srgbClr val="F4A825"/>
          </a:solidFill>
          <a:ln w="12700">
            <a:solidFill>
              <a:srgbClr val="F4A825"/>
            </a:solidFill>
            <a:prstDash val="solid"/>
          </a:ln>
        </p:spPr>
      </p:sp>
      <p:sp>
        <p:nvSpPr>
          <p:cNvPr id="21" name="Text 18"/>
          <p:cNvSpPr/>
          <p:nvPr/>
        </p:nvSpPr>
        <p:spPr>
          <a:xfrm>
            <a:off x="822960" y="4297680"/>
            <a:ext cx="658368" cy="658368"/>
          </a:xfrm>
          <a:prstGeom prst="rect">
            <a:avLst/>
          </a:prstGeom>
          <a:noFill/>
          <a:ln/>
        </p:spPr>
        <p:txBody>
          <a:bodyPr wrap="square" lIns="0" tIns="0" rIns="0" bIns="0" rtlCol="0" anchor="ctr"/>
          <a:lstStyle/>
          <a:p>
            <a:pPr algn="ctr" indent="0" marL="0">
              <a:buNone/>
            </a:pPr>
            <a:r>
              <a:rPr lang="en-US" sz="2400" b="1" dirty="0">
                <a:solidFill>
                  <a:srgbClr val="13293D"/>
                </a:solidFill>
                <a:latin typeface="Inter" pitchFamily="34" charset="0"/>
                <a:ea typeface="Inter" pitchFamily="34" charset="-122"/>
                <a:cs typeface="Inter" pitchFamily="34" charset="-120"/>
              </a:rPr>
              <a:t>3</a:t>
            </a:r>
            <a:endParaRPr lang="en-US" sz="2400" dirty="0"/>
          </a:p>
        </p:txBody>
      </p:sp>
      <p:sp>
        <p:nvSpPr>
          <p:cNvPr id="22" name="Text 19"/>
          <p:cNvSpPr/>
          <p:nvPr/>
        </p:nvSpPr>
        <p:spPr>
          <a:xfrm>
            <a:off x="1691640" y="4187952"/>
            <a:ext cx="9784080" cy="877824"/>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Feedback that reaches a student always passes through you. Your eyes, your edits, then delivery.</a:t>
            </a:r>
            <a:endParaRPr lang="en-US" sz="2000" dirty="0"/>
          </a:p>
        </p:txBody>
      </p:sp>
      <p:sp>
        <p:nvSpPr>
          <p:cNvPr id="23" name="Text 20"/>
          <p:cNvSpPr/>
          <p:nvPr/>
        </p:nvSpPr>
        <p:spPr>
          <a:xfrm>
            <a:off x="640080" y="5623560"/>
            <a:ext cx="10972800" cy="45720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Not opinions about the technology. Promises about our students.</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excerpt rule: anonymous or described, never pasted with identity.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QUESTION YOU’RE ALREADY FORMING</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Can I ever paste student work in?</a:t>
            </a:r>
            <a:endParaRPr lang="en-US" sz="3200" dirty="0"/>
          </a:p>
        </p:txBody>
      </p:sp>
      <p:sp>
        <p:nvSpPr>
          <p:cNvPr id="14" name="Shape 11"/>
          <p:cNvSpPr/>
          <p:nvPr/>
        </p:nvSpPr>
        <p:spPr>
          <a:xfrm>
            <a:off x="640080" y="1554480"/>
            <a:ext cx="539496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960120" y="1828800"/>
            <a:ext cx="4754880" cy="457200"/>
          </a:xfrm>
          <a:prstGeom prst="rect">
            <a:avLst/>
          </a:prstGeom>
          <a:noFill/>
          <a:ln/>
        </p:spPr>
        <p:txBody>
          <a:bodyPr wrap="square" lIns="0" tIns="0" rIns="0" bIns="0" rtlCol="0" anchor="ctr"/>
          <a:lstStyle/>
          <a:p>
            <a:pPr indent="0" marL="0">
              <a:buNone/>
            </a:pPr>
            <a:r>
              <a:rPr lang="en-US" sz="1900" b="1" dirty="0">
                <a:solidFill>
                  <a:srgbClr val="13293D"/>
                </a:solidFill>
                <a:latin typeface="Inter" pitchFamily="34" charset="0"/>
                <a:ea typeface="Inter" pitchFamily="34" charset="-122"/>
                <a:cs typeface="Inter" pitchFamily="34" charset="-120"/>
              </a:rPr>
              <a:t>Only an anonymous excerpt</a:t>
            </a:r>
            <a:endParaRPr lang="en-US" sz="1900" dirty="0"/>
          </a:p>
        </p:txBody>
      </p:sp>
      <p:sp>
        <p:nvSpPr>
          <p:cNvPr id="16" name="Text 13"/>
          <p:cNvSpPr/>
          <p:nvPr/>
        </p:nvSpPr>
        <p:spPr>
          <a:xfrm>
            <a:off x="96012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Zero identifying details, judged by Kit 1’s test: no names, no classmates, no teacher names, no story a neighbor could recognize.</a:t>
            </a:r>
            <a:endParaRPr lang="en-US" sz="1650" dirty="0"/>
          </a:p>
        </p:txBody>
      </p:sp>
      <p:sp>
        <p:nvSpPr>
          <p:cNvPr id="17" name="Shape 14"/>
          <p:cNvSpPr/>
          <p:nvPr/>
        </p:nvSpPr>
        <p:spPr>
          <a:xfrm>
            <a:off x="6263640" y="1554480"/>
            <a:ext cx="5394960" cy="3291840"/>
          </a:xfrm>
          <a:prstGeom prst="roundRect">
            <a:avLst>
              <a:gd name="adj" fmla="val 2500"/>
            </a:avLst>
          </a:prstGeom>
          <a:solidFill>
            <a:srgbClr val="EAF5F3"/>
          </a:solidFill>
          <a:ln w="12700">
            <a:solidFill>
              <a:srgbClr val="EAF5F3"/>
            </a:solidFill>
            <a:prstDash val="solid"/>
          </a:ln>
        </p:spPr>
      </p:sp>
      <p:sp>
        <p:nvSpPr>
          <p:cNvPr id="18" name="Text 15"/>
          <p:cNvSpPr/>
          <p:nvPr/>
        </p:nvSpPr>
        <p:spPr>
          <a:xfrm>
            <a:off x="6583680" y="1828800"/>
            <a:ext cx="4754880" cy="457200"/>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When unsure: describe the pattern</a:t>
            </a:r>
            <a:endParaRPr lang="en-US" sz="1900" dirty="0"/>
          </a:p>
        </p:txBody>
      </p:sp>
      <p:sp>
        <p:nvSpPr>
          <p:cNvPr id="19" name="Text 16"/>
          <p:cNvSpPr/>
          <p:nvPr/>
        </p:nvSpPr>
        <p:spPr>
          <a:xfrm>
            <a:off x="6583680" y="2377440"/>
            <a:ext cx="4754880" cy="2194560"/>
          </a:xfrm>
          <a:prstGeom prst="rect">
            <a:avLst/>
          </a:prstGeom>
          <a:noFill/>
          <a:ln/>
        </p:spPr>
        <p:txBody>
          <a:bodyPr wrap="square" lIns="0" tIns="0" rIns="0" bIns="0" rtlCol="0" anchor="t"/>
          <a:lstStyle/>
          <a:p>
            <a:pPr indent="0" marL="0">
              <a:buNone/>
            </a:pPr>
            <a:r>
              <a:rPr lang="en-US" sz="1650" dirty="0">
                <a:solidFill>
                  <a:srgbClr val="1B1F24"/>
                </a:solidFill>
                <a:latin typeface="Inter" pitchFamily="34" charset="0"/>
                <a:ea typeface="Inter" pitchFamily="34" charset="-122"/>
                <a:cs typeface="Inter" pitchFamily="34" charset="-120"/>
              </a:rPr>
              <a:t>“Students keep confusing X with Y.” “This writer repeats the claim instead of explaining the evidence.” Always safe, and it usually works as well.</a:t>
            </a:r>
            <a:endParaRPr lang="en-US" sz="1650" dirty="0"/>
          </a:p>
        </p:txBody>
      </p:sp>
      <p:sp>
        <p:nvSpPr>
          <p:cNvPr id="20" name="Text 17"/>
          <p:cNvSpPr/>
          <p:nvPr/>
        </p:nvSpPr>
        <p:spPr>
          <a:xfrm>
            <a:off x="640080" y="5120640"/>
            <a:ext cx="10972800" cy="50292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When in doubt: describe, don’t paste.</a:t>
            </a:r>
            <a:endParaRPr lang="en-US" sz="2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red lines, adopted out loud, with the presenter's own.</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WE BUILD</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honest limits</a:t>
            </a:r>
            <a:endParaRPr lang="en-US" sz="3200" dirty="0"/>
          </a:p>
        </p:txBody>
      </p:sp>
      <p:sp>
        <p:nvSpPr>
          <p:cNvPr id="14" name="Shape 11"/>
          <p:cNvSpPr/>
          <p:nvPr/>
        </p:nvSpPr>
        <p:spPr>
          <a:xfrm>
            <a:off x="640080" y="1554480"/>
            <a:ext cx="352044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Can’t know intent</a:t>
            </a:r>
            <a:endParaRPr lang="en-US" sz="1900" dirty="0"/>
          </a:p>
        </p:txBody>
      </p:sp>
      <p:sp>
        <p:nvSpPr>
          <p:cNvPr id="16" name="Text 13"/>
          <p:cNvSpPr/>
          <p:nvPr/>
        </p:nvSpPr>
        <p:spPr>
          <a:xfrm>
            <a:off x="896112"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It sees the page. You saw the six weeks. Half of good feedback speaks to the attempt.</a:t>
            </a:r>
            <a:endParaRPr lang="en-US" sz="1500" dirty="0"/>
          </a:p>
        </p:txBody>
      </p:sp>
      <p:sp>
        <p:nvSpPr>
          <p:cNvPr id="17" name="Shape 14"/>
          <p:cNvSpPr/>
          <p:nvPr/>
        </p:nvSpPr>
        <p:spPr>
          <a:xfrm>
            <a:off x="4407408" y="1554480"/>
            <a:ext cx="3520440" cy="3291840"/>
          </a:xfrm>
          <a:prstGeom prst="roundRect">
            <a:avLst>
              <a:gd name="adj" fmla="val 2500"/>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Goes generic</a:t>
            </a:r>
            <a:endParaRPr lang="en-US" sz="1900" dirty="0"/>
          </a:p>
        </p:txBody>
      </p:sp>
      <p:sp>
        <p:nvSpPr>
          <p:cNvPr id="19" name="Text 16"/>
          <p:cNvSpPr/>
          <p:nvPr/>
        </p:nvSpPr>
        <p:spPr>
          <a:xfrm>
            <a:off x="4663440"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Rubric language drifts to fog. Fix: your assignment’s specifics, by name.</a:t>
            </a:r>
            <a:endParaRPr lang="en-US" sz="1500" dirty="0"/>
          </a:p>
        </p:txBody>
      </p:sp>
      <p:sp>
        <p:nvSpPr>
          <p:cNvPr id="20" name="Shape 17"/>
          <p:cNvSpPr/>
          <p:nvPr/>
        </p:nvSpPr>
        <p:spPr>
          <a:xfrm>
            <a:off x="8174736" y="1554480"/>
            <a:ext cx="3520440" cy="3291840"/>
          </a:xfrm>
          <a:prstGeom prst="roundRect">
            <a:avLst>
              <a:gd name="adj" fmla="val 2500"/>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Contains errors</a:t>
            </a:r>
            <a:endParaRPr lang="en-US" sz="1900" dirty="0"/>
          </a:p>
        </p:txBody>
      </p:sp>
      <p:sp>
        <p:nvSpPr>
          <p:cNvPr id="22" name="Text 19"/>
          <p:cNvSpPr/>
          <p:nvPr/>
        </p:nvSpPr>
        <p:spPr>
          <a:xfrm>
            <a:off x="8430768" y="2651760"/>
            <a:ext cx="3017520" cy="201168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57% of AI-using teachers say AI improves their grading and feedback quality (Gallup, 2025). The ones it helps are the ones who verify.</a:t>
            </a:r>
            <a:endParaRPr lang="en-US" sz="1500" dirty="0"/>
          </a:p>
        </p:txBody>
      </p:sp>
      <p:sp>
        <p:nvSpPr>
          <p:cNvPr id="23" name="Text 20"/>
          <p:cNvSpPr/>
          <p:nvPr/>
        </p:nvSpPr>
        <p:spPr>
          <a:xfrm>
            <a:off x="640080" y="516636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The tool improves the work of people who check it. It embarrasses the people who don’t.</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assessment through every step: her persuasive essay.</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~19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200" b="1" dirty="0">
                <a:solidFill>
                  <a:srgbClr val="FFFFFF"/>
                </a:solidFill>
                <a:latin typeface="Inter" pitchFamily="34" charset="0"/>
                <a:ea typeface="Inter" pitchFamily="34" charset="-122"/>
                <a:cs typeface="Inter" pitchFamily="34" charset="-120"/>
              </a:rPr>
              <a:t>Lab: your next real assessment.</a:t>
            </a:r>
            <a:endParaRPr lang="en-US" sz="42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something actually coming in the next month: a unit test, an essay, a project, a shop practical. Grab your notes on what good work looks like.</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of any kind; we draft materials only</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Rubric first, then questions, then feedback starters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You catch and cut at least one weak question before the lab ends</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rubric, on screen big: messy notes in, four readable levels out.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Notes → rubric, then iterate</a:t>
            </a:r>
            <a:endParaRPr lang="en-US" sz="3200" dirty="0"/>
          </a:p>
        </p:txBody>
      </p:sp>
      <p:sp>
        <p:nvSpPr>
          <p:cNvPr id="14" name="Text 11"/>
          <p:cNvSpPr/>
          <p:nvPr/>
        </p:nvSpPr>
        <p:spPr>
          <a:xfrm>
            <a:off x="640080" y="1554480"/>
            <a:ext cx="5394960" cy="35661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Run the rubric prompt with your grade, subject, criteria, and pasted notes</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Content round: are these the right criteria? Is anything you actually grade for missing?</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Voice round: the hand-it-to-a-student test, on every descriptor</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Details round: table format, level names, point values if you use them</a:t>
            </a:r>
            <a:endParaRPr lang="en-US" sz="1600" dirty="0"/>
          </a:p>
        </p:txBody>
      </p:sp>
      <p:sp>
        <p:nvSpPr>
          <p:cNvPr id="15" name="Shape 12"/>
          <p:cNvSpPr/>
          <p:nvPr/>
        </p:nvSpPr>
        <p:spPr>
          <a:xfrm>
            <a:off x="6263640" y="1554480"/>
            <a:ext cx="5394960" cy="3566160"/>
          </a:xfrm>
          <a:prstGeom prst="roundRect">
            <a:avLst>
              <a:gd name="adj" fmla="val 2308"/>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1 · HER RUBRIC</a:t>
            </a:r>
            <a:endParaRPr lang="en-US" sz="1250" dirty="0"/>
          </a:p>
        </p:txBody>
      </p:sp>
      <p:sp>
        <p:nvSpPr>
          <p:cNvPr id="17" name="Text 14"/>
          <p:cNvSpPr/>
          <p:nvPr/>
        </p:nvSpPr>
        <p:spPr>
          <a:xfrm>
            <a:off x="6537960" y="2148840"/>
            <a:ext cx="4892040" cy="2834640"/>
          </a:xfrm>
          <a:prstGeom prst="rect">
            <a:avLst/>
          </a:prstGeom>
          <a:noFill/>
          <a:ln/>
        </p:spPr>
        <p:txBody>
          <a:bodyPr wrap="square" lIns="0" tIns="0" rIns="0" bIns="0" rtlCol="0" anchor="t"/>
          <a:lstStyle/>
          <a:p>
            <a:pPr indent="0" marL="0">
              <a:lnSpc>
                <a:spcPct val="120000"/>
              </a:lnSpc>
              <a:buNone/>
            </a:pPr>
            <a:r>
              <a:rPr lang="en-US" sz="1600" b="1" dirty="0">
                <a:solidFill>
                  <a:srgbClr val="13293D"/>
                </a:solidFill>
                <a:latin typeface="Inter" pitchFamily="34" charset="0"/>
                <a:ea typeface="Inter" pitchFamily="34" charset="-122"/>
                <a:cs typeface="Inter" pitchFamily="34" charset="-120"/>
              </a:rPr>
              <a:t>Her note: </a:t>
            </a:r>
            <a:pPr indent="0" marL="0">
              <a:lnSpc>
                <a:spcPct val="120000"/>
              </a:lnSpc>
              <a:buNone/>
            </a:pPr>
            <a:r>
              <a:rPr lang="en-US" sz="1600" i="1" dirty="0">
                <a:solidFill>
                  <a:srgbClr val="1B1F24"/>
                </a:solidFill>
                <a:latin typeface="Inter" pitchFamily="34" charset="0"/>
                <a:ea typeface="Inter" pitchFamily="34" charset="-122"/>
                <a:cs typeface="Inter" pitchFamily="34" charset="-120"/>
              </a:rPr>
              <a:t>"an A backs every claim and says why the evidence matters."
</a:t>
            </a:r>
            <a:pPr indent="0" marL="0">
              <a:lnSpc>
                <a:spcPct val="120000"/>
              </a:lnSpc>
              <a:buNone/>
            </a:pPr>
            <a:r>
              <a:rPr lang="en-US" sz="1600" b="1" dirty="0">
                <a:solidFill>
                  <a:srgbClr val="13293D"/>
                </a:solidFill>
                <a:latin typeface="Inter" pitchFamily="34" charset="0"/>
                <a:ea typeface="Inter" pitchFamily="34" charset="-122"/>
                <a:cs typeface="Inter" pitchFamily="34" charset="-120"/>
              </a:rPr>
              <a:t>Level 4 · Evidence: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"Every claim has a quote or fact behind it, and you explain why it proves your point."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Passed the hand-it-to-a-student test on round two.</a:t>
            </a:r>
            <a:endParaRPr lang="en-US" sz="1600" dirty="0"/>
          </a:p>
        </p:txBody>
      </p:sp>
      <p:sp>
        <p:nvSpPr>
          <p:cNvPr id="18" name="Text 15"/>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45-min cut: run the voice round only; it’s the one that matters most.</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on screen: the claim-repeat confusion built into a distractor.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Build the 10-question bank</a:t>
            </a:r>
            <a:endParaRPr lang="en-US" sz="3200" dirty="0"/>
          </a:p>
        </p:txBody>
      </p:sp>
      <p:sp>
        <p:nvSpPr>
          <p:cNvPr id="14" name="Text 11"/>
          <p:cNvSpPr/>
          <p:nvPr/>
        </p:nvSpPr>
        <p:spPr>
          <a:xfrm>
            <a:off x="640080" y="1554480"/>
            <a:ext cx="5394960" cy="35661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Same assessment: 10 questions, mixed format, full answer key, distractor rationale</a:t>
            </a:r>
            <a:endParaRPr lang="en-US" sz="1600" dirty="0"/>
          </a:p>
          <a:p>
            <a:pPr marL="342900" indent="-342900">
              <a:spcAft>
                <a:spcPts val="1000"/>
              </a:spcAft>
              <a:buSzPct val="100000"/>
              <a:buChar char="•"/>
            </a:pPr>
            <a:r>
              <a:rPr lang="en-US" sz="1600" b="1" dirty="0">
                <a:solidFill>
                  <a:srgbClr val="13293D"/>
                </a:solidFill>
                <a:latin typeface="Inter" pitchFamily="34" charset="0"/>
                <a:ea typeface="Inter" pitchFamily="34" charset="-122"/>
                <a:cs typeface="Inter" pitchFamily="34" charset="-120"/>
              </a:rPr>
              <a:t>First, finish this sentence: “My students keep confusing X with Y.”</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Put that sentence in the prompt and make the misconception a distractor</a:t>
            </a:r>
            <a:endParaRPr lang="en-US" sz="1600" dirty="0"/>
          </a:p>
        </p:txBody>
      </p:sp>
      <p:sp>
        <p:nvSpPr>
          <p:cNvPr id="15" name="Shape 12"/>
          <p:cNvSpPr/>
          <p:nvPr/>
        </p:nvSpPr>
        <p:spPr>
          <a:xfrm>
            <a:off x="6263640" y="1554480"/>
            <a:ext cx="5394960" cy="3566160"/>
          </a:xfrm>
          <a:prstGeom prst="roundRect">
            <a:avLst>
              <a:gd name="adj" fmla="val 2308"/>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2 · HER BANK</a:t>
            </a:r>
            <a:endParaRPr lang="en-US" sz="1250" dirty="0"/>
          </a:p>
        </p:txBody>
      </p:sp>
      <p:sp>
        <p:nvSpPr>
          <p:cNvPr id="17" name="Text 14"/>
          <p:cNvSpPr/>
          <p:nvPr/>
        </p:nvSpPr>
        <p:spPr>
          <a:xfrm>
            <a:off x="6537960" y="2148840"/>
            <a:ext cx="4892040" cy="2834640"/>
          </a:xfrm>
          <a:prstGeom prst="rect">
            <a:avLst/>
          </a:prstGeom>
          <a:noFill/>
          <a:ln/>
        </p:spPr>
        <p:txBody>
          <a:bodyPr wrap="square" lIns="0" tIns="0" rIns="0" bIns="0" rtlCol="0" anchor="t"/>
          <a:lstStyle/>
          <a:p>
            <a:pPr indent="0" marL="0">
              <a:lnSpc>
                <a:spcPct val="120000"/>
              </a:lnSpc>
              <a:buNone/>
            </a:pPr>
            <a:r>
              <a:rPr lang="en-US" sz="1600" b="1" dirty="0">
                <a:solidFill>
                  <a:srgbClr val="13293D"/>
                </a:solidFill>
                <a:latin typeface="Inter" pitchFamily="34" charset="0"/>
                <a:ea typeface="Inter" pitchFamily="34" charset="-122"/>
                <a:cs typeface="Inter" pitchFamily="34" charset="-120"/>
              </a:rPr>
              <a:t>Her sentence: </a:t>
            </a:r>
            <a:pPr indent="0" marL="0">
              <a:lnSpc>
                <a:spcPct val="120000"/>
              </a:lnSpc>
              <a:buNone/>
            </a:pPr>
            <a:r>
              <a:rPr lang="en-US" sz="1600" i="1" dirty="0">
                <a:solidFill>
                  <a:srgbClr val="1B1F24"/>
                </a:solidFill>
                <a:latin typeface="Inter" pitchFamily="34" charset="0"/>
                <a:ea typeface="Inter" pitchFamily="34" charset="-122"/>
                <a:cs typeface="Inter" pitchFamily="34" charset="-120"/>
              </a:rPr>
              <a:t>"My students keep confusing restating the claim with giving evidence."
</a:t>
            </a:r>
            <a:pPr indent="0" marL="0">
              <a:lnSpc>
                <a:spcPct val="120000"/>
              </a:lnSpc>
              <a:buNone/>
            </a:pPr>
            <a:r>
              <a:rPr lang="en-US" sz="1600" b="1" dirty="0">
                <a:solidFill>
                  <a:srgbClr val="13293D"/>
                </a:solidFill>
                <a:latin typeface="Inter" pitchFamily="34" charset="0"/>
                <a:ea typeface="Inter" pitchFamily="34" charset="-122"/>
                <a:cs typeface="Inter" pitchFamily="34" charset="-120"/>
              </a:rPr>
              <a:t>Q4: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"Which sentence gives evidence for the claim?" Distractor C restates the claim, louder.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That distractor finds exactly who holds the mix-up.</a:t>
            </a:r>
            <a:endParaRPr lang="en-US" sz="1600" dirty="0"/>
          </a:p>
        </p:txBody>
      </p:sp>
      <p:sp>
        <p:nvSpPr>
          <p:cNvPr id="18" name="Shape 15"/>
          <p:cNvSpPr/>
          <p:nvPr/>
        </p:nvSpPr>
        <p:spPr>
          <a:xfrm>
            <a:off x="640080" y="5257800"/>
            <a:ext cx="10972800" cy="777240"/>
          </a:xfrm>
          <a:prstGeom prst="roundRect">
            <a:avLst>
              <a:gd name="adj" fmla="val 10588"/>
            </a:avLst>
          </a:prstGeom>
          <a:solidFill>
            <a:srgbClr val="EAF5F3"/>
          </a:solidFill>
          <a:ln w="12700">
            <a:solidFill>
              <a:srgbClr val="EAF5F3"/>
            </a:solidFill>
            <a:prstDash val="solid"/>
          </a:ln>
        </p:spPr>
      </p:sp>
      <p:sp>
        <p:nvSpPr>
          <p:cNvPr id="19" name="Text 16"/>
          <p:cNvSpPr/>
          <p:nvPr/>
        </p:nvSpPr>
        <p:spPr>
          <a:xfrm>
            <a:off x="960120" y="5257800"/>
            <a:ext cx="10332720" cy="77724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The misconception is the one ingredient only you can supply.</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bank, vetted: question 7 had two fair answers. Caught and cut.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STILL STEP 2 · 2 MINUTES · EVERYONE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vetting rep: find the weak one</a:t>
            </a:r>
            <a:endParaRPr lang="en-US" sz="2800" dirty="0"/>
          </a:p>
        </p:txBody>
      </p:sp>
      <p:sp>
        <p:nvSpPr>
          <p:cNvPr id="14" name="Text 11"/>
          <p:cNvSpPr/>
          <p:nvPr/>
        </p:nvSpPr>
        <p:spPr>
          <a:xfrm>
            <a:off x="640080" y="1554480"/>
            <a:ext cx="5394960" cy="35661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Answer key checked against your own professional knowledge</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Every distractor checked for accidental truth</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Reading level right? Exactly one fair answer per question?</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Weakest question: fix it by hand, or delete it and write its replacement yourself</a:t>
            </a:r>
            <a:endParaRPr lang="en-US" sz="1600" dirty="0"/>
          </a:p>
        </p:txBody>
      </p:sp>
      <p:sp>
        <p:nvSpPr>
          <p:cNvPr id="15" name="Shape 12"/>
          <p:cNvSpPr/>
          <p:nvPr/>
        </p:nvSpPr>
        <p:spPr>
          <a:xfrm>
            <a:off x="6263640" y="1554480"/>
            <a:ext cx="5394960" cy="3566160"/>
          </a:xfrm>
          <a:prstGeom prst="roundRect">
            <a:avLst>
              <a:gd name="adj" fmla="val 2308"/>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2 · HER CATCH</a:t>
            </a:r>
            <a:endParaRPr lang="en-US" sz="1250" dirty="0"/>
          </a:p>
        </p:txBody>
      </p:sp>
      <p:sp>
        <p:nvSpPr>
          <p:cNvPr id="17" name="Text 14"/>
          <p:cNvSpPr/>
          <p:nvPr/>
        </p:nvSpPr>
        <p:spPr>
          <a:xfrm>
            <a:off x="6537960" y="2148840"/>
            <a:ext cx="4892040" cy="2834640"/>
          </a:xfrm>
          <a:prstGeom prst="rect">
            <a:avLst/>
          </a:prstGeom>
          <a:noFill/>
          <a:ln/>
        </p:spPr>
        <p:txBody>
          <a:bodyPr wrap="square" lIns="0" tIns="0" rIns="0" bIns="0" rtlCol="0" anchor="t"/>
          <a:lstStyle/>
          <a:p>
            <a:pPr indent="0" marL="0">
              <a:lnSpc>
                <a:spcPct val="125000"/>
              </a:lnSpc>
              <a:buNone/>
            </a:pPr>
            <a:r>
              <a:rPr lang="en-US" sz="1700" b="1" dirty="0">
                <a:solidFill>
                  <a:srgbClr val="13293D"/>
                </a:solidFill>
                <a:latin typeface="Inter" pitchFamily="34" charset="0"/>
                <a:ea typeface="Inter" pitchFamily="34" charset="-122"/>
                <a:cs typeface="Inter" pitchFamily="34" charset="-120"/>
              </a:rPr>
              <a:t>The catch: </a:t>
            </a:r>
            <a:pPr indent="0" marL="0">
              <a:lnSpc>
                <a:spcPct val="125000"/>
              </a:lnSpc>
              <a:buNone/>
            </a:pPr>
            <a:r>
              <a:rPr lang="en-US" sz="1700" dirty="0">
                <a:solidFill>
                  <a:srgbClr val="1B1F24"/>
                </a:solidFill>
                <a:latin typeface="Inter" pitchFamily="34" charset="0"/>
                <a:ea typeface="Inter" pitchFamily="34" charset="-122"/>
                <a:cs typeface="Inter" pitchFamily="34" charset="-120"/>
              </a:rPr>
              <a:t>question 7's "wrong" answer was defensible too. Two fair answers, one question.
</a:t>
            </a:r>
            <a:pPr indent="0" marL="0">
              <a:lnSpc>
                <a:spcPct val="125000"/>
              </a:lnSpc>
              <a:buNone/>
            </a:pPr>
            <a:r>
              <a:rPr lang="en-US" sz="1700" b="1" dirty="0">
                <a:solidFill>
                  <a:srgbClr val="13293D"/>
                </a:solidFill>
                <a:latin typeface="Inter" pitchFamily="34" charset="0"/>
                <a:ea typeface="Inter" pitchFamily="34" charset="-122"/>
                <a:cs typeface="Inter" pitchFamily="34" charset="-120"/>
              </a:rPr>
              <a:t>The fix: </a:t>
            </a:r>
            <a:pPr indent="0" marL="0">
              <a:lnSpc>
                <a:spcPct val="125000"/>
              </a:lnSpc>
              <a:buNone/>
            </a:pPr>
            <a:r>
              <a:rPr lang="en-US" sz="1700" dirty="0">
                <a:solidFill>
                  <a:srgbClr val="1B1F24"/>
                </a:solidFill>
                <a:latin typeface="Inter" pitchFamily="34" charset="0"/>
                <a:ea typeface="Inter" pitchFamily="34" charset="-122"/>
                <a:cs typeface="Inter" pitchFamily="34" charset="-120"/>
              </a:rPr>
              <a:t>she cut it and wrote the replacement herself.
</a:t>
            </a:r>
            <a:pPr indent="0" marL="0">
              <a:lnSpc>
                <a:spcPct val="125000"/>
              </a:lnSpc>
              <a:buNone/>
            </a:pPr>
            <a:r>
              <a:rPr lang="en-US" sz="1700" b="1" i="1" dirty="0">
                <a:solidFill>
                  <a:srgbClr val="13293D"/>
                </a:solidFill>
                <a:latin typeface="Inter" pitchFamily="34" charset="0"/>
                <a:ea typeface="Inter" pitchFamily="34" charset="-122"/>
                <a:cs typeface="Inter" pitchFamily="34" charset="-120"/>
              </a:rPr>
              <a:t>"Got one."</a:t>
            </a:r>
            <a:endParaRPr lang="en-US" sz="1700" dirty="0"/>
          </a:p>
        </p:txBody>
      </p:sp>
      <p:sp>
        <p:nvSpPr>
          <p:cNvPr id="18" name="Text 15"/>
          <p:cNvSpPr/>
          <p:nvPr/>
        </p:nvSpPr>
        <p:spPr>
          <a:xfrm>
            <a:off x="640080" y="534924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When you find it, say “got one” out loud. Drafts are cheap; vetting is sacred.</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starters, on screen: three patterns from her essay stacks, drafted once.</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3–4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reusable feedback starters</a:t>
            </a:r>
            <a:endParaRPr lang="en-US" sz="3200" dirty="0"/>
          </a:p>
        </p:txBody>
      </p:sp>
      <p:sp>
        <p:nvSpPr>
          <p:cNvPr id="14" name="Text 11"/>
          <p:cNvSpPr/>
          <p:nvPr/>
        </p:nvSpPr>
        <p:spPr>
          <a:xfrm>
            <a:off x="640080" y="1554480"/>
            <a:ext cx="5394960" cy="3566160"/>
          </a:xfrm>
          <a:prstGeom prst="rect">
            <a:avLst/>
          </a:prstGeom>
          <a:noFill/>
          <a:ln/>
        </p:spPr>
        <p:txBody>
          <a:bodyPr wrap="square" rtlCol="0" anchor="t"/>
          <a:lstStyle/>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Name your three most common student patterns for this kind of work</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Run the pattern prompt: strength, pattern, next step, in plain student language</a:t>
            </a:r>
            <a:endParaRPr lang="en-US" sz="1600" dirty="0"/>
          </a:p>
          <a:p>
            <a:pPr marL="342900" indent="-342900">
              <a:spcAft>
                <a:spcPts val="1000"/>
              </a:spcAft>
              <a:buSzPct val="100000"/>
              <a:buChar char="•"/>
            </a:pPr>
            <a:r>
              <a:rPr lang="en-US" sz="1600" dirty="0">
                <a:solidFill>
                  <a:srgbClr val="1B1F24"/>
                </a:solidFill>
                <a:latin typeface="Inter" pitchFamily="34" charset="0"/>
                <a:ea typeface="Inter" pitchFamily="34" charset="-122"/>
                <a:cs typeface="Inter" pitchFamily="34" charset="-120"/>
              </a:rPr>
              <a:t>Save all three where you grade; paste your best one into the staff doc’s Assessment section</a:t>
            </a:r>
            <a:endParaRPr lang="en-US" sz="1600" dirty="0"/>
          </a:p>
        </p:txBody>
      </p:sp>
      <p:sp>
        <p:nvSpPr>
          <p:cNvPr id="15" name="Shape 12"/>
          <p:cNvSpPr/>
          <p:nvPr/>
        </p:nvSpPr>
        <p:spPr>
          <a:xfrm>
            <a:off x="6263640" y="1554480"/>
            <a:ext cx="5394960" cy="3566160"/>
          </a:xfrm>
          <a:prstGeom prst="roundRect">
            <a:avLst>
              <a:gd name="adj" fmla="val 2308"/>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3 · HER STARTERS</a:t>
            </a:r>
            <a:endParaRPr lang="en-US" sz="1250" dirty="0"/>
          </a:p>
        </p:txBody>
      </p:sp>
      <p:sp>
        <p:nvSpPr>
          <p:cNvPr id="17" name="Text 14"/>
          <p:cNvSpPr/>
          <p:nvPr/>
        </p:nvSpPr>
        <p:spPr>
          <a:xfrm>
            <a:off x="6537960" y="2148840"/>
            <a:ext cx="4892040" cy="2834640"/>
          </a:xfrm>
          <a:prstGeom prst="rect">
            <a:avLst/>
          </a:prstGeom>
          <a:noFill/>
          <a:ln/>
        </p:spPr>
        <p:txBody>
          <a:bodyPr wrap="square" lIns="0" tIns="0" rIns="0" bIns="0" rtlCol="0" anchor="t"/>
          <a:lstStyle/>
          <a:p>
            <a:pPr indent="0" marL="0">
              <a:lnSpc>
                <a:spcPct val="120000"/>
              </a:lnSpc>
              <a:buNone/>
            </a:pPr>
            <a:r>
              <a:rPr lang="en-US" sz="1550" b="1" dirty="0">
                <a:solidFill>
                  <a:srgbClr val="13293D"/>
                </a:solidFill>
                <a:latin typeface="Inter" pitchFamily="34" charset="0"/>
                <a:ea typeface="Inter" pitchFamily="34" charset="-122"/>
                <a:cs typeface="Inter" pitchFamily="34" charset="-120"/>
              </a:rPr>
              <a:t>Her pattern: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claims with no evidence.
</a:t>
            </a:r>
            <a:pPr indent="0" marL="0">
              <a:lnSpc>
                <a:spcPct val="120000"/>
              </a:lnSpc>
              <a:buNone/>
            </a:pPr>
            <a:r>
              <a:rPr lang="en-US" sz="1550" i="1" dirty="0">
                <a:solidFill>
                  <a:srgbClr val="1B1F24"/>
                </a:solidFill>
                <a:latin typeface="Inter" pitchFamily="34" charset="0"/>
                <a:ea typeface="Inter" pitchFamily="34" charset="-122"/>
                <a:cs typeface="Inter" pitchFamily="34" charset="-120"/>
              </a:rPr>
              <a:t>"Your claim is clear and confident. Right now the essay repeats it instead of backing it up. Pick your strongest fact and add one sentence on why it proves your point."
</a:t>
            </a:r>
            <a:pPr indent="0" marL="0">
              <a:lnSpc>
                <a:spcPct val="120000"/>
              </a:lnSpc>
              <a:buNone/>
            </a:pPr>
            <a:r>
              <a:rPr lang="en-US" sz="1550" i="1" dirty="0">
                <a:solidFill>
                  <a:srgbClr val="5B6B7A"/>
                </a:solidFill>
                <a:latin typeface="Inter" pitchFamily="34" charset="0"/>
                <a:ea typeface="Inter" pitchFamily="34" charset="-122"/>
                <a:cs typeface="Inter" pitchFamily="34" charset="-120"/>
              </a:rPr>
              <a:t>Personalized before any student sees it.</a:t>
            </a:r>
            <a:endParaRPr lang="en-US" sz="1550" dirty="0"/>
          </a:p>
        </p:txBody>
      </p:sp>
      <p:sp>
        <p:nvSpPr>
          <p:cNvPr id="18" name="Shape 15"/>
          <p:cNvSpPr/>
          <p:nvPr/>
        </p:nvSpPr>
        <p:spPr>
          <a:xfrm>
            <a:off x="640080" y="5257800"/>
            <a:ext cx="10972800" cy="777240"/>
          </a:xfrm>
          <a:prstGeom prst="roundRect">
            <a:avLst>
              <a:gd name="adj" fmla="val 10588"/>
            </a:avLst>
          </a:prstGeom>
          <a:solidFill>
            <a:srgbClr val="EAF5F3"/>
          </a:solidFill>
          <a:ln w="12700">
            <a:solidFill>
              <a:srgbClr val="EAF5F3"/>
            </a:solidFill>
            <a:prstDash val="solid"/>
          </a:ln>
        </p:spPr>
      </p:sp>
      <p:sp>
        <p:nvSpPr>
          <p:cNvPr id="19" name="Text 16"/>
          <p:cNvSpPr/>
          <p:nvPr/>
        </p:nvSpPr>
        <p:spPr>
          <a:xfrm>
            <a:off x="960120" y="5257800"/>
            <a:ext cx="1033272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Starters, not stamps: in real grading you’ll personalize every one before it reaches a kid.</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the catch from her essay bank goes first.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Catches first</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Who caught a weak question, and what was wrong with it? Those stories go first.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rubric descriptor that passes the hand-it-to-a-student test</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Read one feedback starter you’ll actually use this week</a:t>
            </a:r>
            <a:endParaRPr lang="en-US" sz="2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inventory: rubric, vetted bank, three starters, one catch.</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four-level rubric a student can read. A vetted question bank with a checked answer key. Three feedback starters for the comments you write most. One weak question caught and cut as proof the reflex works.
</a:t>
            </a:r>
            <a:pPr indent="0" marL="0">
              <a:buNone/>
            </a:pPr>
            <a:r>
              <a:rPr lang="en-US" sz="2000" b="1" dirty="0">
                <a:solidFill>
                  <a:srgbClr val="13293D"/>
                </a:solidFill>
                <a:latin typeface="Inter" pitchFamily="34" charset="0"/>
                <a:ea typeface="Inter" pitchFamily="34" charset="-122"/>
                <a:cs typeface="Inter" pitchFamily="34" charset="-120"/>
              </a:rPr>
              <a:t>That set used to be a weekend. The judgment in it is all yours; only the typing got faster.</a:t>
            </a:r>
            <a:endParaRPr lang="en-US" sz="2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templates: filed in the staff doc's Assessment section.</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MAKING IT STICK · PART ONE</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staff doc grows an Assessment section</a:t>
            </a:r>
            <a:endParaRPr lang="en-US" sz="3200" dirty="0"/>
          </a:p>
        </p:txBody>
      </p:sp>
      <p:sp>
        <p:nvSpPr>
          <p:cNvPr id="14" name="Text 11"/>
          <p:cNvSpPr/>
          <p:nvPr/>
        </p:nvSpPr>
        <p:spPr>
          <a:xfrm>
            <a:off x="640080" y="1463040"/>
            <a:ext cx="10908792" cy="256032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Rubric prompt, question-bank prompt, starter prompt: templated, with blanks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ELA’s rubric template travels to science; the shop’s safety-quiz prompt travels to health</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Same commitment as Kit 2: when a prompt works, it goes in the doc. Nobody solves the same problem twice.</a:t>
            </a:r>
            <a:endParaRPr lang="en-US" sz="2100" dirty="0"/>
          </a:p>
        </p:txBody>
      </p:sp>
      <p:sp>
        <p:nvSpPr>
          <p:cNvPr id="15" name="Shape 12"/>
          <p:cNvSpPr/>
          <p:nvPr/>
        </p:nvSpPr>
        <p:spPr>
          <a:xfrm>
            <a:off x="640080" y="4206240"/>
            <a:ext cx="10972800" cy="1371600"/>
          </a:xfrm>
          <a:prstGeom prst="roundRect">
            <a:avLst>
              <a:gd name="adj" fmla="val 6000"/>
            </a:avLst>
          </a:prstGeom>
          <a:solidFill>
            <a:srgbClr val="EAF5F3"/>
          </a:solidFill>
          <a:ln w="12700">
            <a:solidFill>
              <a:srgbClr val="EAF5F3"/>
            </a:solidFill>
            <a:prstDash val="solid"/>
          </a:ln>
        </p:spPr>
      </p:sp>
      <p:sp>
        <p:nvSpPr>
          <p:cNvPr id="16" name="Text 13"/>
          <p:cNvSpPr/>
          <p:nvPr/>
        </p:nvSpPr>
        <p:spPr>
          <a:xfrm>
            <a:off x="960120" y="4389120"/>
            <a:ext cx="10332720" cy="1005840"/>
          </a:xfrm>
          <a:prstGeom prst="rect">
            <a:avLst/>
          </a:prstGeom>
          <a:noFill/>
          <a:ln/>
        </p:spPr>
        <p:txBody>
          <a:bodyPr wrap="square" lIns="0" tIns="0" rIns="0" bIns="0" rtlCol="0" anchor="ctr"/>
          <a:lstStyle/>
          <a:p>
            <a:pPr indent="0" marL="0">
              <a:buNone/>
            </a:pPr>
            <a:r>
              <a:rPr lang="en-US" sz="2100" b="1" dirty="0">
                <a:solidFill>
                  <a:srgbClr val="13293D"/>
                </a:solidFill>
                <a:latin typeface="Inter" pitchFamily="34" charset="0"/>
                <a:ea typeface="Inter" pitchFamily="34" charset="-122"/>
                <a:cs typeface="Inter" pitchFamily="34" charset="-120"/>
              </a:rPr>
              <a:t>Templates are the compounding asset. The doc gets smarter every week you use it.</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26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five hours: the drafting share just moved to a faster tool.</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VISION, STATED CAREFULLY</a:t>
            </a:r>
            <a:endParaRPr lang="en-US" sz="1200" dirty="0"/>
          </a:p>
        </p:txBody>
      </p:sp>
      <p:sp>
        <p:nvSpPr>
          <p:cNvPr id="13" name="Text 10"/>
          <p:cNvSpPr/>
          <p:nvPr/>
        </p:nvSpPr>
        <p:spPr>
          <a:xfrm>
            <a:off x="640080" y="1554480"/>
            <a:ext cx="10972800" cy="822960"/>
          </a:xfrm>
          <a:prstGeom prst="rect">
            <a:avLst/>
          </a:prstGeom>
          <a:noFill/>
          <a:ln/>
        </p:spPr>
        <p:txBody>
          <a:bodyPr wrap="square" lIns="0" tIns="0" rIns="0" bIns="0" rtlCol="0" anchor="ctr"/>
          <a:lstStyle/>
          <a:p>
            <a:pPr indent="0" marL="0">
              <a:buNone/>
            </a:pPr>
            <a:r>
              <a:rPr lang="en-US" sz="3400" b="1" dirty="0">
                <a:solidFill>
                  <a:srgbClr val="FFFFFF"/>
                </a:solidFill>
                <a:latin typeface="Inter" pitchFamily="34" charset="0"/>
                <a:ea typeface="Inter" pitchFamily="34" charset="-122"/>
                <a:cs typeface="Inter" pitchFamily="34" charset="-120"/>
              </a:rPr>
              <a:t>Five hours a week on grading and feedback.</a:t>
            </a:r>
            <a:endParaRPr lang="en-US" sz="3400" dirty="0"/>
          </a:p>
        </p:txBody>
      </p:sp>
      <p:sp>
        <p:nvSpPr>
          <p:cNvPr id="14" name="Text 11"/>
          <p:cNvSpPr/>
          <p:nvPr/>
        </p:nvSpPr>
        <p:spPr>
          <a:xfrm>
            <a:off x="640080" y="2560320"/>
            <a:ext cx="10972800" cy="822960"/>
          </a:xfrm>
          <a:prstGeom prst="rect">
            <a:avLst/>
          </a:prstGeom>
          <a:noFill/>
          <a:ln/>
        </p:spPr>
        <p:txBody>
          <a:bodyPr wrap="square" lIns="0" tIns="0" rIns="0" bIns="0" rtlCol="0" anchor="ctr"/>
          <a:lstStyle/>
          <a:p>
            <a:pPr indent="0" marL="0">
              <a:buNone/>
            </a:pPr>
            <a:r>
              <a:rPr lang="en-US" sz="2100" dirty="0">
                <a:solidFill>
                  <a:srgbClr val="C9D4DE"/>
                </a:solidFill>
                <a:latin typeface="Inter" pitchFamily="34" charset="0"/>
                <a:ea typeface="Inter" pitchFamily="34" charset="-122"/>
                <a:cs typeface="Inter" pitchFamily="34" charset="-120"/>
              </a:rPr>
              <a:t>We’re not promising them all back. Grading still means reading real work and making real calls, and it should.</a:t>
            </a:r>
            <a:endParaRPr lang="en-US" sz="2100" dirty="0"/>
          </a:p>
        </p:txBody>
      </p:sp>
      <p:sp>
        <p:nvSpPr>
          <p:cNvPr id="15" name="Text 12"/>
          <p:cNvSpPr/>
          <p:nvPr/>
        </p:nvSpPr>
        <p:spPr>
          <a:xfrm>
            <a:off x="640080" y="3566160"/>
            <a:ext cx="10972800" cy="13716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But a real share of those hours was never judgment. It was drafting: the rubric at 9 p.m., the quiz typed from scratch, the same comment keyed forty times. That share moves to a machine that drafts and a teacher who decides.</a:t>
            </a:r>
            <a:endParaRPr lang="en-US" sz="2100" dirty="0"/>
          </a:p>
        </p:txBody>
      </p:sp>
      <p:sp>
        <p:nvSpPr>
          <p:cNvPr id="16" name="Text 13"/>
          <p:cNvSpPr/>
          <p:nvPr/>
        </p:nvSpPr>
        <p:spPr>
          <a:xfrm>
            <a:off x="640080" y="5212080"/>
            <a:ext cx="10972800" cy="548640"/>
          </a:xfrm>
          <a:prstGeom prst="rect">
            <a:avLst/>
          </a:prstGeom>
          <a:noFill/>
          <a:ln/>
        </p:spPr>
        <p:txBody>
          <a:bodyPr wrap="square" lIns="0" tIns="0" rIns="0" bIns="0" rtlCol="0" anchor="ctr"/>
          <a:lstStyle/>
          <a:p>
            <a:pPr indent="0" marL="0">
              <a:buNone/>
            </a:pPr>
            <a:r>
              <a:rPr lang="en-US" sz="1900" i="1" dirty="0">
                <a:solidFill>
                  <a:srgbClr val="9FB2C2"/>
                </a:solidFill>
                <a:latin typeface="Inter" pitchFamily="34" charset="0"/>
                <a:ea typeface="Inter" pitchFamily="34" charset="-122"/>
                <a:cs typeface="Inter" pitchFamily="34" charset="-120"/>
              </a:rPr>
              <a:t>Spend what comes back on the part only you can do, or on your own life. Both are wins.</a:t>
            </a:r>
            <a:endParaRPr lang="en-US" sz="1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the student side. Integrity and clear expectations.</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4 OF 8 · TRACK A</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EAF5F3"/>
          </a:solidFill>
          <a:ln w="12700">
            <a:solidFill>
              <a:srgbClr val="EAF5F3"/>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4 · Assessment  ✔</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650" b="1" dirty="0">
                <a:solidFill>
                  <a:srgbClr val="FFFFFF"/>
                </a:solidFill>
                <a:latin typeface="Inter" pitchFamily="34" charset="0"/>
                <a:ea typeface="Inter" pitchFamily="34" charset="-122"/>
                <a:cs typeface="Inter" pitchFamily="34" charset="-120"/>
              </a:rPr>
              <a:t>Next: Kit 5, Academic Integrity. </a:t>
            </a:r>
            <a:pPr indent="0" marL="0">
              <a:buNone/>
            </a:pPr>
            <a:r>
              <a:rPr lang="en-US" sz="1650" dirty="0">
                <a:solidFill>
                  <a:srgbClr val="C9D4DE"/>
                </a:solidFill>
                <a:latin typeface="Inter" pitchFamily="34" charset="0"/>
                <a:ea typeface="Inter" pitchFamily="34" charset="-122"/>
                <a:cs typeface="Inter" pitchFamily="34" charset="-120"/>
              </a:rPr>
              <a:t>The student side of assessment: what honesty and original work look like when every student has these tools too. Your rubric from today comes along; clear success criteria are one of the best integrity tools we have.</a:t>
            </a:r>
            <a:endParaRPr lang="en-US" sz="16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rubric out with the assignment, finish vetting, use one starter.</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Your first 48 hours: three small things</a:t>
            </a:r>
            <a:endParaRPr lang="en-US" sz="32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Hand the rubric to students</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One last student-test pass, then out with the real assignment</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Finish the vetting pass</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Every question against the key; fix or delete; file the bank</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~15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Use one starter for real</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On your next stack, personalized every time; post your best to the staff doc</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4 · AI for Assessment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what she built, the weak question she caught.</a:t>
            </a:r>
            <a:endParaRPr lang="en-US" sz="1000" dirty="0"/>
          </a:p>
        </p:txBody>
      </p:sp>
      <p:sp>
        <p:nvSpPr>
          <p:cNvPr id="12" name="Text 9"/>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assessment you built for, and what you’ll actually use</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weak question you caught, and what was wrong with it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assessment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Yes, we’re asking about the catch. It’s the answer we’re proudest of.</a:t>
            </a:r>
            <a:endParaRPr lang="en-US" sz="1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4 · AI for Assessment   |   30</a:t>
            </a:r>
            <a:endParaRPr lang="en-US" sz="900" dirty="0"/>
          </a:p>
        </p:txBody>
      </p:sp>
      <p:sp>
        <p:nvSpPr>
          <p:cNvPr id="5" name="Text 2"/>
          <p:cNvSpPr/>
          <p:nvPr/>
        </p:nvSpPr>
        <p:spPr>
          <a:xfrm>
            <a:off x="640080" y="1828800"/>
            <a:ext cx="10972800" cy="1645920"/>
          </a:xfrm>
          <a:prstGeom prst="rect">
            <a:avLst/>
          </a:prstGeom>
          <a:noFill/>
          <a:ln/>
        </p:spPr>
        <p:txBody>
          <a:bodyPr wrap="square" lIns="0" tIns="0" rIns="0" bIns="0" rtlCol="0" anchor="ctr"/>
          <a:lstStyle/>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rubric is paper.</a:t>
            </a:r>
            <a:endParaRPr lang="en-US" sz="3600" dirty="0"/>
          </a:p>
          <a:p>
            <a:pPr algn="ctr" indent="0" marL="0">
              <a:lnSpc>
                <a:spcPct val="120000"/>
              </a:lnSpc>
              <a:buNone/>
            </a:pPr>
            <a:r>
              <a:rPr lang="en-US" sz="3600" b="1" dirty="0">
                <a:solidFill>
                  <a:srgbClr val="FFFFFF"/>
                </a:solidFill>
                <a:latin typeface="Inter" pitchFamily="34" charset="0"/>
                <a:ea typeface="Inter" pitchFamily="34" charset="-122"/>
                <a:cs typeface="Inter" pitchFamily="34" charset="-120"/>
              </a:rPr>
              <a:t>The questions are paper.</a:t>
            </a:r>
            <a:endParaRPr lang="en-US" sz="3600" dirty="0"/>
          </a:p>
        </p:txBody>
      </p:sp>
      <p:sp>
        <p:nvSpPr>
          <p:cNvPr id="6" name="Text 3"/>
          <p:cNvSpPr/>
          <p:nvPr/>
        </p:nvSpPr>
        <p:spPr>
          <a:xfrm>
            <a:off x="640080" y="3840480"/>
            <a:ext cx="10972800" cy="118872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Knowing what a ten-year-old meant to say, and what</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they need to hear next: that was never paper. That’s you.</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4: AI for Assessment: Rubrics, Feedback, and Question Banks</dc:title>
  <dc:subject>PptxGenJS Presentation</dc:subject>
  <dc:creator>Adam &amp; Katelyn Spinozzi</dc:creator>
  <cp:lastModifiedBy>Adam &amp; Katelyn Spinozzi</cp:lastModifiedBy>
  <cp:revision>1</cp:revision>
  <dcterms:created xsi:type="dcterms:W3CDTF">2026-08-12T22:18:05Z</dcterms:created>
  <dcterms:modified xsi:type="dcterms:W3CDTF">2026-08-12T22:18:05Z</dcterms:modified>
</cp:coreProperties>
</file>