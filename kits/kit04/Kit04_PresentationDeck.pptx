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define the number before you use it. An effect size is just a way to compare practices that are otherwise hard to compare, on one scale. Across everything schools try, the average is around 0.40. Feedback comes in at 0.79, about double, which puts it among the most powerful things we do. Say the same review is clear the impact swings widely with how feedback is given. RAND: assessment writing is the least-tapped use among AI-using teachers. That gap is why this hour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ingredient is the misconception: you know what your students mix up, the model doesn’t until you say so. Feed it the confusion and the distractors start doing diagnostic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for ONE assessment across all three steps: her 7th grade persuasive essay, the same one from workshop 1. Her exemplar appears large on every step slide; anyone lost can copy her structure.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rubrics are usually missing the teacher’s notes; nudge with "what do you actually look for when you grade this? Type that." The big card is Ms. Rivera's persuasive-essay rubric mid-build, the same assessment she carries through all three steps: her messy note went in, a readable level-4 descriptor came out. Anyone stuck can copy that shape with their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six questions instead of ten. Listen for the misconception sentences; they’re the best writing that happens all day. The big card is Ms. Rivera's bank for the same persuasive essay: her misconception sentence went into the prompt, and one distractor now restates the claim, exactly the mix-up her students make. Mimic her sentence with your own X and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 is a requirement, not a suggestion: it installs the habit that makes the whole workflow safe. The big card shows Ms. Rivera's catch in her own essay bank: a question with two defensible answers, cut and rewritten by hand. Celebrate every catch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starts pasting a student’s work, redirect gently: describe the pattern instead; excerpts only if fully anonymous by Kit 1’s test. The big card is one of Ms. Rivera's three starters for the same persuasive essay: strength, pattern, next step, in words a 7th grader can read. Copy its shape for your own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BARELY TOUCHED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most powerful lever, the least-tapped use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063240"/>
            <a:ext cx="4709160" cy="68580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(Hattie &amp; Timperley, 2007)</a:t>
            </a:r>
            <a:endParaRPr lang="en-US" sz="1600" dirty="0"/>
          </a:p>
        </p:txBody>
      </p:sp>
      <p:sp>
        <p:nvSpPr>
          <p:cNvPr id="18" name="Text 15"/>
          <p:cNvSpPr/>
          <p:nvPr/>
        </p:nvSpPr>
        <p:spPr>
          <a:xfrm>
            <a:off x="914400" y="3794760"/>
            <a:ext cx="4709160" cy="1051560"/>
          </a:xfrm>
          <a:prstGeom prst="rect">
            <a:avLst/>
          </a:prstGeom>
          <a:noFill/>
          <a:ln/>
        </p:spPr>
        <p:txBody>
          <a:bodyPr wrap="square" lIns="0" tIns="0" rIns="0" bIns="0" rtlCol="0" anchor="ctr"/>
          <a:lstStyle/>
          <a:p>
            <a:pPr algn="ctr" indent="0" marL="0">
              <a:buNone/>
            </a:pPr>
            <a:r>
              <a:rPr lang="en-US" sz="1300" dirty="0">
                <a:solidFill>
                  <a:srgbClr val="5B6B7A"/>
                </a:solidFill>
                <a:latin typeface="Inter" pitchFamily="34" charset="0"/>
                <a:ea typeface="Inter" pitchFamily="34" charset="-122"/>
                <a:cs typeface="Inter" pitchFamily="34" charset="-120"/>
              </a:rPr>
              <a:t>“Effect size” is how researchers put very different practices on one scale, so they can be compared. Most things schools try land near 0.40. Feedback runs about double that.</a:t>
            </a:r>
            <a:endParaRPr lang="en-US" sz="1300" dirty="0"/>
          </a:p>
        </p:txBody>
      </p:sp>
      <p:sp>
        <p:nvSpPr>
          <p:cNvPr id="19" name="Shape 16"/>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20" name="Text 17"/>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HOW MANY TEACHERS TAP IT WITH AI</a:t>
            </a:r>
            <a:endParaRPr lang="en-US" sz="1300" dirty="0"/>
          </a:p>
        </p:txBody>
      </p:sp>
      <p:sp>
        <p:nvSpPr>
          <p:cNvPr id="21" name="Text 18"/>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a:t>
            </a:r>
            <a:endParaRPr lang="en-US" sz="5200" dirty="0"/>
          </a:p>
        </p:txBody>
      </p:sp>
      <p:sp>
        <p:nvSpPr>
          <p:cNvPr id="22" name="Text 19"/>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who already used AI in 2023–24, 15% or fewer used it for writing assessments: the least-tapped use, sitting under the highest-leverage work. (RAND, 2025)</a:t>
            </a:r>
            <a:endParaRPr lang="en-US" sz="1600" dirty="0"/>
          </a:p>
        </p:txBody>
      </p:sp>
      <p:sp>
        <p:nvSpPr>
          <p:cNvPr id="23" name="Text 2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Feedback’s power varies with how it’s given. That skill is yours; the drafting is delegable.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positive, moderate effect on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finding for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Question quality beats question quantity</a:t>
            </a:r>
            <a:endParaRPr lang="en-US" sz="28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prompt: topic plus the confusion her students actually have.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ten quiz questions about photosynthesis.”</a:t>
            </a:r>
            <a:endParaRPr lang="en-US" sz="1800" dirty="0"/>
          </a:p>
        </p:txBody>
      </p:sp>
      <p:sp>
        <p:nvSpPr>
          <p:cNvPr id="17" name="Shape 14"/>
          <p:cNvSpPr/>
          <p:nvPr/>
        </p:nvSpPr>
        <p:spPr>
          <a:xfrm>
            <a:off x="640080" y="3017520"/>
            <a:ext cx="10972800" cy="2834640"/>
          </a:xfrm>
          <a:prstGeom prst="roundRect">
            <a:avLst>
              <a:gd name="adj" fmla="val 29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28600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Build a 10-question bank on photosynthesis for 7th graders who commonly confuse it with respiration. Mix: 6 multiple choice, 2 short answer, 2 extended response. In each multiple-choice question, make one distractor the respiration confusion. Include a full answer key, then explain in one line why each distractor is wrong. Label each question with the skill it checks.”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Good, and not good enough to skip you</a:t>
            </a:r>
            <a:endParaRPr lang="en-US" sz="28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honest evidence on AI feedback</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starters: drafted for patterns, personalized before any student sees one.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WORKFLOW: DESCRIBE THE PATTERN, NOT THE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Feedback starters for common patterns</a:t>
            </a:r>
            <a:endParaRPr lang="en-US" sz="2800" dirty="0"/>
          </a:p>
        </p:txBody>
      </p:sp>
      <p:sp>
        <p:nvSpPr>
          <p:cNvPr id="14" name="Shape 11"/>
          <p:cNvSpPr/>
          <p:nvPr/>
        </p:nvSpPr>
        <p:spPr>
          <a:xfrm>
            <a:off x="640080" y="1508760"/>
            <a:ext cx="10972800" cy="2651760"/>
          </a:xfrm>
          <a:prstGeom prst="roundRect">
            <a:avLst>
              <a:gd name="adj" fmla="val 3103"/>
            </a:avLst>
          </a:prstGeom>
          <a:solidFill>
            <a:srgbClr val="EAF5F3"/>
          </a:solidFill>
          <a:ln w="12700">
            <a:solidFill>
              <a:srgbClr val="EAF5F3"/>
            </a:solidFill>
            <a:prstDash val="solid"/>
          </a:ln>
        </p:spPr>
      </p:sp>
      <p:sp>
        <p:nvSpPr>
          <p:cNvPr id="15" name="Text 12"/>
          <p:cNvSpPr/>
          <p:nvPr/>
        </p:nvSpPr>
        <p:spPr>
          <a:xfrm>
            <a:off x="960120" y="1737360"/>
            <a:ext cx="10332720" cy="2194560"/>
          </a:xfrm>
          <a:prstGeom prst="rect">
            <a:avLst/>
          </a:prstGeom>
          <a:noFill/>
          <a:ln/>
        </p:spPr>
        <p:txBody>
          <a:bodyPr wrap="square" lIns="0" tIns="0" rIns="0" bIns="0" rtlCol="0" anchor="ctr"/>
          <a:lstStyle/>
          <a:p>
            <a:pPr indent="0" marL="0">
              <a:buNone/>
            </a:pPr>
            <a:r>
              <a:rPr lang="en-US" sz="1650" i="1" dirty="0">
                <a:solidFill>
                  <a:srgbClr val="13293D"/>
                </a:solidFill>
                <a:latin typeface="Inter" pitchFamily="34" charset="0"/>
                <a:ea typeface="Inter" pitchFamily="34" charset="-122"/>
                <a:cs typeface="Inter" pitchFamily="34" charset="-120"/>
              </a:rPr>
              <a:t>“Here are the three most common patterns in my students’ persuasive essays: claims with no evidence, evidence with no explanation, conclusions that introduce new arguments. For each, draft a 2–3 sentence feedback comment: name something the writer did well, name the pattern plainly, give one concrete next step. Warm, specific, readable by a 7th grader. I’ll personalize every comment before a student sees it.”</a:t>
            </a:r>
            <a:endParaRPr lang="en-US" sz="1650" dirty="0"/>
          </a:p>
        </p:txBody>
      </p:sp>
      <p:sp>
        <p:nvSpPr>
          <p:cNvPr id="16" name="Text 13"/>
          <p:cNvSpPr/>
          <p:nvPr/>
        </p:nvSpPr>
        <p:spPr>
          <a:xfrm>
            <a:off x="640080" y="4434840"/>
            <a:ext cx="10908792" cy="137160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 student work needed at all: you already know your patterns by heart</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Starters, not stamps: you add the sentence only you can write, then you deliver it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Can I ever paste student work in?</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assessment through every step: her persuasive essay.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rubric, on screen big: messy notes in, four readable levels out.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Run the rubric prompt with your grade, subject, criteria, and pasted notes</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Content round: are these the right criteria? Is anything you actually grade for missing?</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Voice round: the hand-it-to-a-student test, on every descriptor</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1 · HER RUBRIC</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600" b="1" dirty="0">
                <a:solidFill>
                  <a:srgbClr val="13293D"/>
                </a:solidFill>
                <a:latin typeface="Inter" pitchFamily="34" charset="0"/>
                <a:ea typeface="Inter" pitchFamily="34" charset="-122"/>
                <a:cs typeface="Inter" pitchFamily="34" charset="-120"/>
              </a:rPr>
              <a:t>Her note: </a:t>
            </a:r>
            <a:pPr indent="0" marL="0">
              <a:lnSpc>
                <a:spcPct val="120000"/>
              </a:lnSpc>
              <a:buNone/>
            </a:pPr>
            <a:r>
              <a:rPr lang="en-US" sz="1600" i="1" dirty="0">
                <a:solidFill>
                  <a:srgbClr val="1B1F24"/>
                </a:solidFill>
                <a:latin typeface="Inter" pitchFamily="34" charset="0"/>
                <a:ea typeface="Inter" pitchFamily="34" charset="-122"/>
                <a:cs typeface="Inter" pitchFamily="34" charset="-120"/>
              </a:rPr>
              <a:t>"an A backs every claim and says why the evidence matters."
</a:t>
            </a:r>
            <a:pPr indent="0" marL="0">
              <a:lnSpc>
                <a:spcPct val="120000"/>
              </a:lnSpc>
              <a:buNone/>
            </a:pPr>
            <a:r>
              <a:rPr lang="en-US" sz="1600" b="1" dirty="0">
                <a:solidFill>
                  <a:srgbClr val="13293D"/>
                </a:solidFill>
                <a:latin typeface="Inter" pitchFamily="34" charset="0"/>
                <a:ea typeface="Inter" pitchFamily="34" charset="-122"/>
                <a:cs typeface="Inter" pitchFamily="34" charset="-120"/>
              </a:rPr>
              <a:t>Level 4 · Evidence: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"Every claim has a quote or fact behind it, and you explain why it proves your point."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Passed the hand-it-to-a-student test on round two.</a:t>
            </a:r>
            <a:endParaRPr lang="en-US" sz="1600" dirty="0"/>
          </a:p>
        </p:txBody>
      </p:sp>
      <p:sp>
        <p:nvSpPr>
          <p:cNvPr id="18" name="Text 15"/>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45-min cut: run the voice round only; it’s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on screen: the claim-repeat confusion built into a distractor.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1600" dirty="0"/>
          </a:p>
          <a:p>
            <a:pPr marL="342900" indent="-342900">
              <a:spcAft>
                <a:spcPts val="1000"/>
              </a:spcAft>
              <a:buSzPct val="100000"/>
              <a:buChar char="•"/>
            </a:pPr>
            <a:r>
              <a:rPr lang="en-US" sz="16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BANK</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600" b="1" dirty="0">
                <a:solidFill>
                  <a:srgbClr val="13293D"/>
                </a:solidFill>
                <a:latin typeface="Inter" pitchFamily="34" charset="0"/>
                <a:ea typeface="Inter" pitchFamily="34" charset="-122"/>
                <a:cs typeface="Inter" pitchFamily="34" charset="-120"/>
              </a:rPr>
              <a:t>Her sentence: </a:t>
            </a:r>
            <a:pPr indent="0" marL="0">
              <a:lnSpc>
                <a:spcPct val="120000"/>
              </a:lnSpc>
              <a:buNone/>
            </a:pPr>
            <a:r>
              <a:rPr lang="en-US" sz="1600" i="1" dirty="0">
                <a:solidFill>
                  <a:srgbClr val="1B1F24"/>
                </a:solidFill>
                <a:latin typeface="Inter" pitchFamily="34" charset="0"/>
                <a:ea typeface="Inter" pitchFamily="34" charset="-122"/>
                <a:cs typeface="Inter" pitchFamily="34" charset="-120"/>
              </a:rPr>
              <a:t>"My students keep confusing restating the claim with giving evidence."
</a:t>
            </a:r>
            <a:pPr indent="0" marL="0">
              <a:lnSpc>
                <a:spcPct val="120000"/>
              </a:lnSpc>
              <a:buNone/>
            </a:pPr>
            <a:r>
              <a:rPr lang="en-US" sz="1600" b="1" dirty="0">
                <a:solidFill>
                  <a:srgbClr val="13293D"/>
                </a:solidFill>
                <a:latin typeface="Inter" pitchFamily="34" charset="0"/>
                <a:ea typeface="Inter" pitchFamily="34" charset="-122"/>
                <a:cs typeface="Inter" pitchFamily="34" charset="-120"/>
              </a:rPr>
              <a:t>Q4: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"Which sentence gives evidence for the claim?" Distractor C restates the claim, louder.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That distractor finds exactly who holds the mix-up.</a:t>
            </a:r>
            <a:endParaRPr lang="en-US" sz="1600" dirty="0"/>
          </a:p>
        </p:txBody>
      </p:sp>
      <p:sp>
        <p:nvSpPr>
          <p:cNvPr id="18" name="Shape 15"/>
          <p:cNvSpPr/>
          <p:nvPr/>
        </p:nvSpPr>
        <p:spPr>
          <a:xfrm>
            <a:off x="640080" y="5257800"/>
            <a:ext cx="10972800" cy="777240"/>
          </a:xfrm>
          <a:prstGeom prst="roundRect">
            <a:avLst>
              <a:gd name="adj" fmla="val 10588"/>
            </a:avLst>
          </a:prstGeom>
          <a:solidFill>
            <a:srgbClr val="EAF5F3"/>
          </a:solidFill>
          <a:ln w="12700">
            <a:solidFill>
              <a:srgbClr val="EAF5F3"/>
            </a:solidFill>
            <a:prstDash val="solid"/>
          </a:ln>
        </p:spPr>
      </p:sp>
      <p:sp>
        <p:nvSpPr>
          <p:cNvPr id="19" name="Text 16"/>
          <p:cNvSpPr/>
          <p:nvPr/>
        </p:nvSpPr>
        <p:spPr>
          <a:xfrm>
            <a:off x="960120" y="5257800"/>
            <a:ext cx="10332720" cy="77724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vetted: question 7 had two fair answers. Caught and cut.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vetting rep: find the weak one</a:t>
            </a:r>
            <a:endParaRPr lang="en-US" sz="28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Answer key checked against your own professional knowledge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Every distractor checked for accidental truth</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Reading level right? Exactly one fair answer per question?</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Weakest question: fix it by hand, or delete it and write its replacement yourself</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CATCH</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5000"/>
              </a:lnSpc>
              <a:buNone/>
            </a:pPr>
            <a:r>
              <a:rPr lang="en-US" sz="1700" b="1" dirty="0">
                <a:solidFill>
                  <a:srgbClr val="13293D"/>
                </a:solidFill>
                <a:latin typeface="Inter" pitchFamily="34" charset="0"/>
                <a:ea typeface="Inter" pitchFamily="34" charset="-122"/>
                <a:cs typeface="Inter" pitchFamily="34" charset="-120"/>
              </a:rPr>
              <a:t>The catch: </a:t>
            </a:r>
            <a:pPr indent="0" marL="0">
              <a:lnSpc>
                <a:spcPct val="125000"/>
              </a:lnSpc>
              <a:buNone/>
            </a:pPr>
            <a:r>
              <a:rPr lang="en-US" sz="1700" dirty="0">
                <a:solidFill>
                  <a:srgbClr val="1B1F24"/>
                </a:solidFill>
                <a:latin typeface="Inter" pitchFamily="34" charset="0"/>
                <a:ea typeface="Inter" pitchFamily="34" charset="-122"/>
                <a:cs typeface="Inter" pitchFamily="34" charset="-120"/>
              </a:rPr>
              <a:t>question 7's "wrong" answer was defensible too. Two fair answers, one question.
</a:t>
            </a:r>
            <a:pPr indent="0" marL="0">
              <a:lnSpc>
                <a:spcPct val="125000"/>
              </a:lnSpc>
              <a:buNone/>
            </a:pPr>
            <a:r>
              <a:rPr lang="en-US" sz="1700" b="1" dirty="0">
                <a:solidFill>
                  <a:srgbClr val="13293D"/>
                </a:solidFill>
                <a:latin typeface="Inter" pitchFamily="34" charset="0"/>
                <a:ea typeface="Inter" pitchFamily="34" charset="-122"/>
                <a:cs typeface="Inter" pitchFamily="34" charset="-120"/>
              </a:rPr>
              <a:t>The fix: </a:t>
            </a:r>
            <a:pPr indent="0" marL="0">
              <a:lnSpc>
                <a:spcPct val="125000"/>
              </a:lnSpc>
              <a:buNone/>
            </a:pPr>
            <a:r>
              <a:rPr lang="en-US" sz="1700" dirty="0">
                <a:solidFill>
                  <a:srgbClr val="1B1F24"/>
                </a:solidFill>
                <a:latin typeface="Inter" pitchFamily="34" charset="0"/>
                <a:ea typeface="Inter" pitchFamily="34" charset="-122"/>
                <a:cs typeface="Inter" pitchFamily="34" charset="-120"/>
              </a:rPr>
              <a:t>she cut it and wrote the replacement herself.
</a:t>
            </a:r>
            <a:pPr indent="0" marL="0">
              <a:lnSpc>
                <a:spcPct val="125000"/>
              </a:lnSpc>
              <a:buNone/>
            </a:pPr>
            <a:r>
              <a:rPr lang="en-US" sz="1700" b="1" i="1" dirty="0">
                <a:solidFill>
                  <a:srgbClr val="13293D"/>
                </a:solidFill>
                <a:latin typeface="Inter" pitchFamily="34" charset="0"/>
                <a:ea typeface="Inter" pitchFamily="34" charset="-122"/>
                <a:cs typeface="Inter" pitchFamily="34" charset="-120"/>
              </a:rPr>
              <a:t>"Got one."</a:t>
            </a:r>
            <a:endParaRPr lang="en-US" sz="1700" dirty="0"/>
          </a:p>
        </p:txBody>
      </p:sp>
      <p:sp>
        <p:nvSpPr>
          <p:cNvPr id="18" name="Text 15"/>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starters, on screen: three patterns from her essay stacks, drafted once.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reusable feedback starters</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Save all three where you grade; paste your best one into the staff doc’s Assessment section</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3 · HER STARTERS</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550" b="1" dirty="0">
                <a:solidFill>
                  <a:srgbClr val="13293D"/>
                </a:solidFill>
                <a:latin typeface="Inter" pitchFamily="34" charset="0"/>
                <a:ea typeface="Inter" pitchFamily="34" charset="-122"/>
                <a:cs typeface="Inter" pitchFamily="34" charset="-120"/>
              </a:rPr>
              <a:t>Her pattern: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claims with no evidence.
</a:t>
            </a:r>
            <a:pPr indent="0" marL="0">
              <a:lnSpc>
                <a:spcPct val="120000"/>
              </a:lnSpc>
              <a:buNone/>
            </a:pPr>
            <a:r>
              <a:rPr lang="en-US" sz="1550" i="1" dirty="0">
                <a:solidFill>
                  <a:srgbClr val="1B1F24"/>
                </a:solidFill>
                <a:latin typeface="Inter" pitchFamily="34" charset="0"/>
                <a:ea typeface="Inter" pitchFamily="34" charset="-122"/>
                <a:cs typeface="Inter" pitchFamily="34" charset="-120"/>
              </a:rPr>
              <a:t>"Your claim is clear and confident. Right now the essay repeats it instead of backing it up. Pick your strongest fact and add one sentence on why it proves your point."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Personalized before any student sees it.</a:t>
            </a:r>
            <a:endParaRPr lang="en-US" sz="1550" dirty="0"/>
          </a:p>
        </p:txBody>
      </p:sp>
      <p:sp>
        <p:nvSpPr>
          <p:cNvPr id="18" name="Shape 15"/>
          <p:cNvSpPr/>
          <p:nvPr/>
        </p:nvSpPr>
        <p:spPr>
          <a:xfrm>
            <a:off x="640080" y="5257800"/>
            <a:ext cx="10972800" cy="777240"/>
          </a:xfrm>
          <a:prstGeom prst="roundRect">
            <a:avLst>
              <a:gd name="adj" fmla="val 10588"/>
            </a:avLst>
          </a:prstGeom>
          <a:solidFill>
            <a:srgbClr val="EAF5F3"/>
          </a:solidFill>
          <a:ln w="12700">
            <a:solidFill>
              <a:srgbClr val="EAF5F3"/>
            </a:solidFill>
            <a:prstDash val="solid"/>
          </a:ln>
        </p:spPr>
      </p:sp>
      <p:sp>
        <p:nvSpPr>
          <p:cNvPr id="19" name="Text 16"/>
          <p:cNvSpPr/>
          <p:nvPr/>
        </p:nvSpPr>
        <p:spPr>
          <a:xfrm>
            <a:off x="960120" y="525780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Starters, not stamps: in real grading you’ll personalize every one before it reaches a kid.</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from her essay bank goes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inventory: rubric, vetted bank, three starters, one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staff doc grows an Assessment section</a:t>
            </a:r>
            <a:endParaRPr lang="en-US" sz="28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30</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2026-08-14T17:00:04Z</dcterms:created>
  <dcterms:modified xsi:type="dcterms:W3CDTF">2026-08-14T17:00:04Z</dcterms:modified>
</cp:coreProperties>
</file>