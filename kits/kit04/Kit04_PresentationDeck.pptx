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notesMasterIdLst>
    <p:notesMasterId r:id="rId32"/>
  </p:notesMasterIdLst>
  <p:sldSz cx="12188952" cy="6858000"/>
  <p:notesSz cx="6858000" cy="12188952"/>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up as people arrive. Start on time. Open with the bright line: AI never grades your students. It drafts materials; the teacher makes every call about every kid.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have your own grading-night story, sixty seconds on it lands here: what the stack was, how long it took, what it cost.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Hattie &amp; Timperley: 0.79 average, roughly double the typical intervention, but impact swings widely with feedback type and delivery. RAND: assessment writing is the least-tapped use among AI-using teachers. That gap is why this hour exists.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five stops this hour: what makes assessment materials work, three prompt workshops (rubrics, question banks, feedback starters), the red lines in writing, a lab where you build for an assessment already on your calendar, and how it sticks. The promise line matters: real materials for a real assessment, built today. Keep this quick.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of the most solid findings in education research. Frame the workload catch honestly: good formative practice multiplies the materials you need.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"if students can read it" clause sets up the hand-it-to-a-student test on slide 10. Writing a readable rubric takes real time: materials problem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one is professional judgment, not a citation; say so if asked. The misconception-distractor idea returns in workshop 2 and the lab.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minute AI saves on drafting can move to judgment. This is the frame for all three workshops.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workshop one, on Ms. Rivera's screen, our running composite example. Her messy grading notes are the context; that is Kit 2's formula doing assessment work: role teal, task navy, context amber, format green. The "ask me up to three questions" line is the escape hatch from Kit 2's spice rack. In the lab you'll mimic this shape with your own notes.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rubric research only pays off if students can read the thing. This test is the voice round of Kit 2’s iteration system, aimed at rubrics.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special ingredient is the misconception: you know what your students mix up, the model doesn’t until you say so. Feed it the confusion and the distractors start doing diagnostic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lab, everyone will catch and fix or delete at least one weak question by hand, on purpose. That rep is the habit.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asked "doesn’t the no-difference finding mean AI could just do it?": the meta-analysis measured pooled learning outcomes, not trust or relationships, and the red line hangs on responsibility for students, which isn’t delegable.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personal beat fits here if you have one: a piece of feedback that only worked because you knew the kid and what they were attempting.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Slow down here; this is the one slide nobody may leave without. If a parent asks "is AI grading my kid?", everyone in the room can now say no, and say what we do instead.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comment you need is about the pattern anyway, which is why describing usually works as well as pasting. This rule gets policed gently in the lab.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chose to share the founders’ note, their personal line on AI and assessment lands well here. Your own line lands even better; staff trust red lines more when the presenter shows theirs.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Pairs, devices out inside two minutes, announce the tool. If you grade with a rubric of your own, show it here; one real rubric from a real room tells the lab what "done" looks like.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Circulate. Weak rubrics are usually missing the teacher’s notes; nudge with "what do you actually look for when you grade this? Type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45-min cut: six questions instead of ten. Listen for the misconception sentences; they’re the best writing that happens all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rep is a requirement, not a suggestion: it installs the habit that makes the whole workflow safe. Celebrate every catch audibly.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someone starts pasting a student’s work, redirect gently: describe the pattern instead; excerpts only if fully anonymous by Kit 1’s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Celebrate every catch; that’s the habit we’re building. Keep each voice to a minute. 45-min cut: two voices.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Land this plainly. The asset is materials plus the vetting habit, not speed for its own sake.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Project the staff doc’s new Assessment section; watching entries appear live is the proof.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Median 5 hrs/week is Merrimack/EdWeek 2022. Keep the framing honest: no promised hour counts, just the drafting share moving to a faster tool.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Completing all eight kits earns the AI-Ready Educator Certificate of Completion; check with your district or state whether it qualifies for local credit.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Hold up the First 48 Hours sheet. Tomorrow morning, coffee in hand, pick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Distribute tickets; collect at the door. They double as the school’s PD documentation.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Thanks, everyone. Collect the exit tickets at the door.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3293D"/>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77240" y="731520"/>
            <a:ext cx="1051560" cy="969264"/>
          </a:xfrm>
          <a:prstGeom prst="rect">
            <a:avLst/>
          </a:prstGeom>
        </p:spPr>
      </p:pic>
      <p:sp>
        <p:nvSpPr>
          <p:cNvPr id="3" name="Text 0"/>
          <p:cNvSpPr/>
          <p:nvPr/>
        </p:nvSpPr>
        <p:spPr>
          <a:xfrm>
            <a:off x="1965960" y="960120"/>
            <a:ext cx="3657600" cy="548640"/>
          </a:xfrm>
          <a:prstGeom prst="rect">
            <a:avLst/>
          </a:prstGeom>
          <a:noFill/>
          <a:ln/>
        </p:spPr>
        <p:txBody>
          <a:bodyPr wrap="square" lIns="0" tIns="0" rIns="0" bIns="0" rtlCol="0" anchor="ctr"/>
          <a:lstStyle/>
          <a:p>
            <a:pPr indent="0" marL="0">
              <a:buNone/>
            </a:pPr>
            <a:r>
              <a:rPr lang="en-US" sz="2600" b="1" dirty="0">
                <a:solidFill>
                  <a:srgbClr val="2A9D8F"/>
                </a:solidFill>
                <a:latin typeface="Inter" pitchFamily="34" charset="0"/>
                <a:ea typeface="Inter" pitchFamily="34" charset="-122"/>
                <a:cs typeface="Inter" pitchFamily="34" charset="-120"/>
              </a:rPr>
              <a:t>AI-Ready</a:t>
            </a:r>
            <a:pPr indent="0" marL="0">
              <a:buNone/>
            </a:pPr>
            <a:r>
              <a:rPr lang="en-US" sz="2600" b="1" dirty="0">
                <a:solidFill>
                  <a:srgbClr val="FFFFFF"/>
                </a:solidFill>
                <a:latin typeface="Inter" pitchFamily="34" charset="0"/>
                <a:ea typeface="Inter" pitchFamily="34" charset="-122"/>
                <a:cs typeface="Inter" pitchFamily="34" charset="-120"/>
              </a:rPr>
              <a:t> School</a:t>
            </a:r>
            <a:endParaRPr lang="en-US" sz="2600" dirty="0"/>
          </a:p>
        </p:txBody>
      </p:sp>
      <p:sp>
        <p:nvSpPr>
          <p:cNvPr id="4" name="Text 1"/>
          <p:cNvSpPr/>
          <p:nvPr/>
        </p:nvSpPr>
        <p:spPr>
          <a:xfrm>
            <a:off x="822960" y="2743200"/>
            <a:ext cx="8229600" cy="365760"/>
          </a:xfrm>
          <a:prstGeom prst="rect">
            <a:avLst/>
          </a:prstGeom>
          <a:noFill/>
          <a:ln/>
        </p:spPr>
        <p:txBody>
          <a:bodyPr wrap="square" lIns="0" tIns="0" rIns="0" bIns="0" rtlCol="0" anchor="ctr"/>
          <a:lstStyle/>
          <a:p>
            <a:pPr indent="0" marL="0">
              <a:buNone/>
            </a:pPr>
            <a:r>
              <a:rPr lang="en-US" sz="1500" b="1" spc="300" kern="0" dirty="0">
                <a:solidFill>
                  <a:srgbClr val="F4A825"/>
                </a:solidFill>
                <a:latin typeface="Inter" pitchFamily="34" charset="0"/>
                <a:ea typeface="Inter" pitchFamily="34" charset="-122"/>
                <a:cs typeface="Inter" pitchFamily="34" charset="-120"/>
              </a:rPr>
              <a:t>TRACK A · AI FOUNDATIONS · KIT 4 OF 20</a:t>
            </a:r>
            <a:endParaRPr lang="en-US" sz="1500" dirty="0"/>
          </a:p>
        </p:txBody>
      </p:sp>
      <p:sp>
        <p:nvSpPr>
          <p:cNvPr id="5" name="Text 2"/>
          <p:cNvSpPr/>
          <p:nvPr/>
        </p:nvSpPr>
        <p:spPr>
          <a:xfrm>
            <a:off x="777240" y="3063240"/>
            <a:ext cx="10789920" cy="1828800"/>
          </a:xfrm>
          <a:prstGeom prst="rect">
            <a:avLst/>
          </a:prstGeom>
          <a:noFill/>
          <a:ln/>
        </p:spPr>
        <p:txBody>
          <a:bodyPr wrap="square" lIns="0" tIns="0" rIns="0" bIns="0" rtlCol="0" anchor="ctr"/>
          <a:lstStyle/>
          <a:p>
            <a:pPr indent="0" marL="0">
              <a:lnSpc>
                <a:spcPct val="105000"/>
              </a:lnSpc>
              <a:buNone/>
            </a:pPr>
            <a:r>
              <a:rPr lang="en-US" sz="4000" b="1" dirty="0">
                <a:solidFill>
                  <a:srgbClr val="FFFFFF"/>
                </a:solidFill>
                <a:latin typeface="Inter" pitchFamily="34" charset="0"/>
                <a:ea typeface="Inter" pitchFamily="34" charset="-122"/>
                <a:cs typeface="Inter" pitchFamily="34" charset="-120"/>
              </a:rPr>
              <a:t>AI for Assessment:</a:t>
            </a:r>
            <a:endParaRPr lang="en-US" sz="4000" dirty="0"/>
          </a:p>
          <a:p>
            <a:pPr indent="0" marL="0">
              <a:lnSpc>
                <a:spcPct val="105000"/>
              </a:lnSpc>
              <a:buNone/>
            </a:pPr>
            <a:r>
              <a:rPr lang="en-US" sz="4000" b="1" dirty="0">
                <a:solidFill>
                  <a:srgbClr val="FFFFFF"/>
                </a:solidFill>
                <a:latin typeface="Inter" pitchFamily="34" charset="0"/>
                <a:ea typeface="Inter" pitchFamily="34" charset="-122"/>
                <a:cs typeface="Inter" pitchFamily="34" charset="-120"/>
              </a:rPr>
              <a:t>Rubrics, Feedback, and Question Banks</a:t>
            </a:r>
            <a:endParaRPr lang="en-US" sz="4000" dirty="0"/>
          </a:p>
        </p:txBody>
      </p:sp>
      <p:sp>
        <p:nvSpPr>
          <p:cNvPr id="6" name="Text 3"/>
          <p:cNvSpPr/>
          <p:nvPr/>
        </p:nvSpPr>
        <p:spPr>
          <a:xfrm>
            <a:off x="822960" y="4983480"/>
            <a:ext cx="10241280" cy="457200"/>
          </a:xfrm>
          <a:prstGeom prst="rect">
            <a:avLst/>
          </a:prstGeom>
          <a:noFill/>
          <a:ln/>
        </p:spPr>
        <p:txBody>
          <a:bodyPr wrap="square" lIns="0" tIns="0" rIns="0" bIns="0" rtlCol="0" anchor="ctr"/>
          <a:lstStyle/>
          <a:p>
            <a:pPr indent="0" marL="0">
              <a:buNone/>
            </a:pPr>
            <a:r>
              <a:rPr lang="en-US" sz="1800" dirty="0">
                <a:solidFill>
                  <a:srgbClr val="C9D4DE"/>
                </a:solidFill>
                <a:latin typeface="Inter" pitchFamily="34" charset="0"/>
                <a:ea typeface="Inter" pitchFamily="34" charset="-122"/>
                <a:cs typeface="Inter" pitchFamily="34" charset="-120"/>
              </a:rPr>
              <a:t>A 45–60 minute working session. You leave with a rubric and a question bank for a real upcoming assessment.</a:t>
            </a:r>
            <a:endParaRPr lang="en-US" sz="1800" dirty="0"/>
          </a:p>
        </p:txBody>
      </p:sp>
      <p:sp>
        <p:nvSpPr>
          <p:cNvPr id="7" name="Text 4"/>
          <p:cNvSpPr/>
          <p:nvPr/>
        </p:nvSpPr>
        <p:spPr>
          <a:xfrm>
            <a:off x="822960" y="6035040"/>
            <a:ext cx="10515600" cy="365760"/>
          </a:xfrm>
          <a:prstGeom prst="rect">
            <a:avLst/>
          </a:prstGeom>
          <a:noFill/>
          <a:ln/>
        </p:spPr>
        <p:txBody>
          <a:bodyPr wrap="square" lIns="0" tIns="0" rIns="0" bIns="0" rtlCol="0" anchor="ctr"/>
          <a:lstStyle/>
          <a:p>
            <a:pPr indent="0" marL="0">
              <a:buNone/>
            </a:pPr>
            <a:r>
              <a:rPr lang="en-US" sz="1200" dirty="0">
                <a:solidFill>
                  <a:srgbClr val="9FB2C2"/>
                </a:solidFill>
                <a:latin typeface="Inter" pitchFamily="34" charset="0"/>
                <a:ea typeface="Inter" pitchFamily="34" charset="-122"/>
                <a:cs typeface="Inter" pitchFamily="34" charset="-120"/>
              </a:rPr>
              <a:t>Built by Adam &amp; Katelyn Spinozzi · certified educators · 20+ combined years in the classroom</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11480" y="6473952"/>
            <a:ext cx="237744" cy="219456"/>
          </a:xfrm>
          <a:prstGeom prst="rect">
            <a:avLst/>
          </a:prstGeom>
        </p:spPr>
      </p:pic>
      <p:sp>
        <p:nvSpPr>
          <p:cNvPr id="3" name="Text 0"/>
          <p:cNvSpPr/>
          <p:nvPr/>
        </p:nvSpPr>
        <p:spPr>
          <a:xfrm>
            <a:off x="685800" y="6428232"/>
            <a:ext cx="2011680" cy="292608"/>
          </a:xfrm>
          <a:prstGeom prst="rect">
            <a:avLst/>
          </a:prstGeom>
          <a:noFill/>
          <a:ln/>
        </p:spPr>
        <p:txBody>
          <a:bodyPr wrap="square" lIns="0" tIns="0" rIns="0" bIns="0" rtlCol="0" anchor="ctr"/>
          <a:lstStyle/>
          <a:p>
            <a:pPr indent="0" marL="0">
              <a:buNone/>
            </a:pPr>
            <a:r>
              <a:rPr lang="en-US" sz="1000" b="1" dirty="0">
                <a:solidFill>
                  <a:srgbClr val="2A9D8F"/>
                </a:solidFill>
                <a:latin typeface="Inter" pitchFamily="34" charset="0"/>
                <a:ea typeface="Inter" pitchFamily="34" charset="-122"/>
                <a:cs typeface="Inter" pitchFamily="34" charset="-120"/>
              </a:rPr>
              <a:t>AI-Ready</a:t>
            </a:r>
            <a:pPr indent="0" marL="0">
              <a:buNone/>
            </a:pPr>
            <a:r>
              <a:rPr lang="en-US" sz="1000" b="1" dirty="0">
                <a:solidFill>
                  <a:srgbClr val="13293D"/>
                </a:solidFill>
                <a:latin typeface="Inter" pitchFamily="34" charset="0"/>
                <a:ea typeface="Inter" pitchFamily="34" charset="-122"/>
                <a:cs typeface="Inter" pitchFamily="34" charset="-120"/>
              </a:rPr>
              <a:t> School</a:t>
            </a:r>
            <a:endParaRPr lang="en-US" sz="1000" dirty="0"/>
          </a:p>
        </p:txBody>
      </p:sp>
      <p:sp>
        <p:nvSpPr>
          <p:cNvPr id="4" name="Text 1"/>
          <p:cNvSpPr/>
          <p:nvPr/>
        </p:nvSpPr>
        <p:spPr>
          <a:xfrm>
            <a:off x="8897112" y="6428232"/>
            <a:ext cx="2880360" cy="292608"/>
          </a:xfrm>
          <a:prstGeom prst="rect">
            <a:avLst/>
          </a:prstGeom>
          <a:noFill/>
          <a:ln/>
        </p:spPr>
        <p:txBody>
          <a:bodyPr wrap="square" lIns="0" tIns="0" rIns="0" bIns="0" rtlCol="0" anchor="ctr"/>
          <a:lstStyle/>
          <a:p>
            <a:pPr algn="r" indent="0" marL="0">
              <a:buNone/>
            </a:pPr>
            <a:r>
              <a:rPr lang="en-US" sz="900" dirty="0">
                <a:solidFill>
                  <a:srgbClr val="5B6B7A"/>
                </a:solidFill>
                <a:latin typeface="Inter" pitchFamily="34" charset="0"/>
                <a:ea typeface="Inter" pitchFamily="34" charset="-122"/>
                <a:cs typeface="Inter" pitchFamily="34" charset="-120"/>
              </a:rPr>
              <a:t>Kit 4 · AI for Assessment   |   2</a:t>
            </a:r>
            <a:endParaRPr lang="en-US" sz="900" dirty="0"/>
          </a:p>
        </p:txBody>
      </p:sp>
      <p:sp>
        <p:nvSpPr>
          <p:cNvPr id="5" name="Text 2"/>
          <p:cNvSpPr/>
          <p:nvPr/>
        </p:nvSpPr>
        <p:spPr>
          <a:xfrm>
            <a:off x="566928" y="128016"/>
            <a:ext cx="11055096" cy="274320"/>
          </a:xfrm>
          <a:prstGeom prst="rect">
            <a:avLst/>
          </a:prstGeom>
          <a:noFill/>
          <a:ln/>
        </p:spPr>
        <p:txBody>
          <a:bodyPr wrap="square" lIns="0" tIns="0" rIns="0" bIns="0" rtlCol="0" anchor="ctr"/>
          <a:lstStyle/>
          <a:p>
            <a:pPr indent="0" marL="0">
              <a:buNone/>
            </a:pPr>
            <a:r>
              <a:rPr lang="en-US" sz="1200" b="1" spc="200" kern="0" dirty="0">
                <a:solidFill>
                  <a:srgbClr val="2A9D8F"/>
                </a:solidFill>
                <a:latin typeface="Inter" pitchFamily="34" charset="0"/>
                <a:ea typeface="Inter" pitchFamily="34" charset="-122"/>
                <a:cs typeface="Inter" pitchFamily="34" charset="-120"/>
              </a:rPr>
              <a:t>HOW TEACHERS ACTUALLY SPEND THE WEEK</a:t>
            </a:r>
            <a:endParaRPr lang="en-US" sz="1200" dirty="0"/>
          </a:p>
        </p:txBody>
      </p:sp>
      <p:sp>
        <p:nvSpPr>
          <p:cNvPr id="6" name="Text 3"/>
          <p:cNvSpPr/>
          <p:nvPr/>
        </p:nvSpPr>
        <p:spPr>
          <a:xfrm>
            <a:off x="548640" y="384048"/>
            <a:ext cx="11091672" cy="777240"/>
          </a:xfrm>
          <a:prstGeom prst="rect">
            <a:avLst/>
          </a:prstGeom>
          <a:noFill/>
          <a:ln/>
        </p:spPr>
        <p:txBody>
          <a:bodyPr wrap="square" lIns="0" tIns="0" rIns="0" bIns="0" rtlCol="0" anchor="ctr"/>
          <a:lstStyle/>
          <a:p>
            <a:pPr indent="0" marL="0">
              <a:buNone/>
            </a:pPr>
            <a:r>
              <a:rPr lang="en-US" sz="3200" b="1" dirty="0">
                <a:solidFill>
                  <a:srgbClr val="13293D"/>
                </a:solidFill>
                <a:latin typeface="Inter" pitchFamily="34" charset="0"/>
                <a:ea typeface="Inter" pitchFamily="34" charset="-122"/>
                <a:cs typeface="Inter" pitchFamily="34" charset="-120"/>
              </a:rPr>
              <a:t>The grading mountain</a:t>
            </a:r>
            <a:endParaRPr lang="en-US" sz="3200" dirty="0"/>
          </a:p>
        </p:txBody>
      </p:sp>
      <p:sp>
        <p:nvSpPr>
          <p:cNvPr id="7" name="Shape 4"/>
          <p:cNvSpPr/>
          <p:nvPr/>
        </p:nvSpPr>
        <p:spPr>
          <a:xfrm>
            <a:off x="640080" y="1600200"/>
            <a:ext cx="5257800" cy="3383280"/>
          </a:xfrm>
          <a:prstGeom prst="roundRect">
            <a:avLst>
              <a:gd name="adj" fmla="val 2432"/>
            </a:avLst>
          </a:prstGeom>
          <a:solidFill>
            <a:srgbClr val="F7F5F0"/>
          </a:solidFill>
          <a:ln w="12700">
            <a:solidFill>
              <a:srgbClr val="F7F5F0"/>
            </a:solidFill>
            <a:prstDash val="solid"/>
          </a:ln>
        </p:spPr>
      </p:sp>
      <p:sp>
        <p:nvSpPr>
          <p:cNvPr id="8" name="Text 5"/>
          <p:cNvSpPr/>
          <p:nvPr/>
        </p:nvSpPr>
        <p:spPr>
          <a:xfrm>
            <a:off x="640080" y="1920240"/>
            <a:ext cx="5257800" cy="1097280"/>
          </a:xfrm>
          <a:prstGeom prst="rect">
            <a:avLst/>
          </a:prstGeom>
          <a:noFill/>
          <a:ln/>
        </p:spPr>
        <p:txBody>
          <a:bodyPr wrap="square" lIns="0" tIns="0" rIns="0" bIns="0" rtlCol="0" anchor="ctr"/>
          <a:lstStyle/>
          <a:p>
            <a:pPr algn="ctr" indent="0" marL="0">
              <a:buNone/>
            </a:pPr>
            <a:r>
              <a:rPr lang="en-US" sz="5800" b="1" dirty="0">
                <a:solidFill>
                  <a:srgbClr val="13293D"/>
                </a:solidFill>
                <a:latin typeface="Inter" pitchFamily="34" charset="0"/>
                <a:ea typeface="Inter" pitchFamily="34" charset="-122"/>
                <a:cs typeface="Inter" pitchFamily="34" charset="-120"/>
              </a:rPr>
              <a:t>~54 hrs</a:t>
            </a:r>
            <a:endParaRPr lang="en-US" sz="5800" dirty="0"/>
          </a:p>
        </p:txBody>
      </p:sp>
      <p:sp>
        <p:nvSpPr>
          <p:cNvPr id="9" name="Text 6"/>
          <p:cNvSpPr/>
          <p:nvPr/>
        </p:nvSpPr>
        <p:spPr>
          <a:xfrm>
            <a:off x="914400" y="3108960"/>
            <a:ext cx="4709160" cy="1645920"/>
          </a:xfrm>
          <a:prstGeom prst="rect">
            <a:avLst/>
          </a:prstGeom>
          <a:noFill/>
          <a:ln/>
        </p:spPr>
        <p:txBody>
          <a:bodyPr wrap="square" lIns="0" tIns="0" rIns="0" bIns="0" rtlCol="0" anchor="ctr"/>
          <a:lstStyle/>
          <a:p>
            <a:pPr algn="ctr" indent="0" marL="0">
              <a:buNone/>
            </a:pPr>
            <a:r>
              <a:rPr lang="en-US" sz="1600" dirty="0">
                <a:solidFill>
                  <a:srgbClr val="1B1F24"/>
                </a:solidFill>
                <a:latin typeface="Inter" pitchFamily="34" charset="0"/>
                <a:ea typeface="Inter" pitchFamily="34" charset="-122"/>
                <a:cs typeface="Inter" pitchFamily="34" charset="-120"/>
              </a:rPr>
              <a:t>the teacher work week,</a:t>
            </a:r>
            <a:endParaRPr lang="en-US" sz="1600" dirty="0"/>
          </a:p>
          <a:p>
            <a:pPr algn="ctr" indent="0" marL="0">
              <a:buNone/>
            </a:pPr>
            <a:r>
              <a:rPr lang="en-US" sz="1600" dirty="0">
                <a:solidFill>
                  <a:srgbClr val="1B1F24"/>
                </a:solidFill>
                <a:latin typeface="Inter" pitchFamily="34" charset="0"/>
                <a:ea typeface="Inter" pitchFamily="34" charset="-122"/>
                <a:cs typeface="Inter" pitchFamily="34" charset="-120"/>
              </a:rPr>
              <a:t>less than half spent teaching</a:t>
            </a:r>
            <a:endParaRPr lang="en-US" sz="1600" dirty="0"/>
          </a:p>
          <a:p>
            <a:pPr algn="ctr" indent="0" marL="0">
              <a:buNone/>
            </a:pPr>
            <a:r>
              <a:rPr lang="en-US" sz="1600" dirty="0">
                <a:solidFill>
                  <a:srgbClr val="1B1F24"/>
                </a:solidFill>
                <a:latin typeface="Inter" pitchFamily="34" charset="0"/>
                <a:ea typeface="Inter" pitchFamily="34" charset="-122"/>
                <a:cs typeface="Inter" pitchFamily="34" charset="-120"/>
              </a:rPr>
              <a:t>(Merrimack College/EdWeek, 2022)</a:t>
            </a:r>
            <a:endParaRPr lang="en-US" sz="1600" dirty="0"/>
          </a:p>
        </p:txBody>
      </p:sp>
      <p:sp>
        <p:nvSpPr>
          <p:cNvPr id="10" name="Shape 7"/>
          <p:cNvSpPr/>
          <p:nvPr/>
        </p:nvSpPr>
        <p:spPr>
          <a:xfrm>
            <a:off x="6263640" y="1600200"/>
            <a:ext cx="5257800" cy="3383280"/>
          </a:xfrm>
          <a:prstGeom prst="roundRect">
            <a:avLst>
              <a:gd name="adj" fmla="val 2432"/>
            </a:avLst>
          </a:prstGeom>
          <a:solidFill>
            <a:srgbClr val="F7F5F0"/>
          </a:solidFill>
          <a:ln w="12700">
            <a:solidFill>
              <a:srgbClr val="F7F5F0"/>
            </a:solidFill>
            <a:prstDash val="solid"/>
          </a:ln>
        </p:spPr>
      </p:sp>
      <p:sp>
        <p:nvSpPr>
          <p:cNvPr id="11" name="Text 8"/>
          <p:cNvSpPr/>
          <p:nvPr/>
        </p:nvSpPr>
        <p:spPr>
          <a:xfrm>
            <a:off x="6263640" y="1920240"/>
            <a:ext cx="5257800" cy="1097280"/>
          </a:xfrm>
          <a:prstGeom prst="rect">
            <a:avLst/>
          </a:prstGeom>
          <a:noFill/>
          <a:ln/>
        </p:spPr>
        <p:txBody>
          <a:bodyPr wrap="square" lIns="0" tIns="0" rIns="0" bIns="0" rtlCol="0" anchor="ctr"/>
          <a:lstStyle/>
          <a:p>
            <a:pPr algn="ctr" indent="0" marL="0">
              <a:buNone/>
            </a:pPr>
            <a:r>
              <a:rPr lang="en-US" sz="5800" b="1" dirty="0">
                <a:solidFill>
                  <a:srgbClr val="2A9D8F"/>
                </a:solidFill>
                <a:latin typeface="Inter" pitchFamily="34" charset="0"/>
                <a:ea typeface="Inter" pitchFamily="34" charset="-122"/>
                <a:cs typeface="Inter" pitchFamily="34" charset="-120"/>
              </a:rPr>
              <a:t>5 hrs</a:t>
            </a:r>
            <a:endParaRPr lang="en-US" sz="5800" dirty="0"/>
          </a:p>
        </p:txBody>
      </p:sp>
      <p:sp>
        <p:nvSpPr>
          <p:cNvPr id="12" name="Text 9"/>
          <p:cNvSpPr/>
          <p:nvPr/>
        </p:nvSpPr>
        <p:spPr>
          <a:xfrm>
            <a:off x="6537960" y="3108960"/>
            <a:ext cx="4709160" cy="1645920"/>
          </a:xfrm>
          <a:prstGeom prst="rect">
            <a:avLst/>
          </a:prstGeom>
          <a:noFill/>
          <a:ln/>
        </p:spPr>
        <p:txBody>
          <a:bodyPr wrap="square" lIns="0" tIns="0" rIns="0" bIns="0" rtlCol="0" anchor="ctr"/>
          <a:lstStyle/>
          <a:p>
            <a:pPr algn="ctr" indent="0" marL="0">
              <a:buNone/>
            </a:pPr>
            <a:r>
              <a:rPr lang="en-US" sz="1600" dirty="0">
                <a:solidFill>
                  <a:srgbClr val="1B1F24"/>
                </a:solidFill>
                <a:latin typeface="Inter" pitchFamily="34" charset="0"/>
                <a:ea typeface="Inter" pitchFamily="34" charset="-122"/>
                <a:cs typeface="Inter" pitchFamily="34" charset="-120"/>
              </a:rPr>
              <a:t>median weekly time on</a:t>
            </a:r>
            <a:endParaRPr lang="en-US" sz="1600" dirty="0"/>
          </a:p>
          <a:p>
            <a:pPr algn="ctr" indent="0" marL="0">
              <a:buNone/>
            </a:pPr>
            <a:r>
              <a:rPr lang="en-US" sz="1600" dirty="0">
                <a:solidFill>
                  <a:srgbClr val="1B1F24"/>
                </a:solidFill>
                <a:latin typeface="Inter" pitchFamily="34" charset="0"/>
                <a:ea typeface="Inter" pitchFamily="34" charset="-122"/>
                <a:cs typeface="Inter" pitchFamily="34" charset="-120"/>
              </a:rPr>
              <a:t>grading and feedback</a:t>
            </a:r>
            <a:endParaRPr lang="en-US" sz="1600" dirty="0"/>
          </a:p>
          <a:p>
            <a:pPr algn="ctr" indent="0" marL="0">
              <a:buNone/>
            </a:pPr>
            <a:r>
              <a:rPr lang="en-US" sz="1600" dirty="0">
                <a:solidFill>
                  <a:srgbClr val="1B1F24"/>
                </a:solidFill>
                <a:latin typeface="Inter" pitchFamily="34" charset="0"/>
                <a:ea typeface="Inter" pitchFamily="34" charset="-122"/>
                <a:cs typeface="Inter" pitchFamily="34" charset="-120"/>
              </a:rPr>
              <a:t>(same survey)</a:t>
            </a:r>
            <a:endParaRPr lang="en-US" sz="1600" dirty="0"/>
          </a:p>
        </p:txBody>
      </p:sp>
      <p:sp>
        <p:nvSpPr>
          <p:cNvPr id="13" name="Text 10"/>
          <p:cNvSpPr/>
          <p:nvPr/>
        </p:nvSpPr>
        <p:spPr>
          <a:xfrm>
            <a:off x="640080" y="5349240"/>
            <a:ext cx="10972800" cy="502920"/>
          </a:xfrm>
          <a:prstGeom prst="rect">
            <a:avLst/>
          </a:prstGeom>
          <a:noFill/>
          <a:ln/>
        </p:spPr>
        <p:txBody>
          <a:bodyPr wrap="square" lIns="0" tIns="0" rIns="0" bIns="0" rtlCol="0" anchor="ctr"/>
          <a:lstStyle/>
          <a:p>
            <a:pPr algn="ctr" indent="0" marL="0">
              <a:buNone/>
            </a:pPr>
            <a:r>
              <a:rPr lang="en-US" sz="2100" b="1" dirty="0">
                <a:solidFill>
                  <a:srgbClr val="13293D"/>
                </a:solidFill>
                <a:latin typeface="Inter" pitchFamily="34" charset="0"/>
                <a:ea typeface="Inter" pitchFamily="34" charset="-122"/>
                <a:cs typeface="Inter" pitchFamily="34" charset="-120"/>
              </a:rPr>
              <a:t>This session doesn’t grade for you. It makes the materials around grading fast to build.</a:t>
            </a:r>
            <a:endParaRPr lang="en-US" sz="2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11480" y="6473952"/>
            <a:ext cx="237744" cy="219456"/>
          </a:xfrm>
          <a:prstGeom prst="rect">
            <a:avLst/>
          </a:prstGeom>
        </p:spPr>
      </p:pic>
      <p:sp>
        <p:nvSpPr>
          <p:cNvPr id="3" name="Text 0"/>
          <p:cNvSpPr/>
          <p:nvPr/>
        </p:nvSpPr>
        <p:spPr>
          <a:xfrm>
            <a:off x="685800" y="6428232"/>
            <a:ext cx="2011680" cy="292608"/>
          </a:xfrm>
          <a:prstGeom prst="rect">
            <a:avLst/>
          </a:prstGeom>
          <a:noFill/>
          <a:ln/>
        </p:spPr>
        <p:txBody>
          <a:bodyPr wrap="square" lIns="0" tIns="0" rIns="0" bIns="0" rtlCol="0" anchor="ctr"/>
          <a:lstStyle/>
          <a:p>
            <a:pPr indent="0" marL="0">
              <a:buNone/>
            </a:pPr>
            <a:r>
              <a:rPr lang="en-US" sz="1000" b="1" dirty="0">
                <a:solidFill>
                  <a:srgbClr val="2A9D8F"/>
                </a:solidFill>
                <a:latin typeface="Inter" pitchFamily="34" charset="0"/>
                <a:ea typeface="Inter" pitchFamily="34" charset="-122"/>
                <a:cs typeface="Inter" pitchFamily="34" charset="-120"/>
              </a:rPr>
              <a:t>AI-Ready</a:t>
            </a:r>
            <a:pPr indent="0" marL="0">
              <a:buNone/>
            </a:pPr>
            <a:r>
              <a:rPr lang="en-US" sz="1000" b="1" dirty="0">
                <a:solidFill>
                  <a:srgbClr val="13293D"/>
                </a:solidFill>
                <a:latin typeface="Inter" pitchFamily="34" charset="0"/>
                <a:ea typeface="Inter" pitchFamily="34" charset="-122"/>
                <a:cs typeface="Inter" pitchFamily="34" charset="-120"/>
              </a:rPr>
              <a:t> School</a:t>
            </a:r>
            <a:endParaRPr lang="en-US" sz="1000" dirty="0"/>
          </a:p>
        </p:txBody>
      </p:sp>
      <p:sp>
        <p:nvSpPr>
          <p:cNvPr id="4" name="Text 1"/>
          <p:cNvSpPr/>
          <p:nvPr/>
        </p:nvSpPr>
        <p:spPr>
          <a:xfrm>
            <a:off x="8897112" y="6428232"/>
            <a:ext cx="2880360" cy="292608"/>
          </a:xfrm>
          <a:prstGeom prst="rect">
            <a:avLst/>
          </a:prstGeom>
          <a:noFill/>
          <a:ln/>
        </p:spPr>
        <p:txBody>
          <a:bodyPr wrap="square" lIns="0" tIns="0" rIns="0" bIns="0" rtlCol="0" anchor="ctr"/>
          <a:lstStyle/>
          <a:p>
            <a:pPr algn="r" indent="0" marL="0">
              <a:buNone/>
            </a:pPr>
            <a:r>
              <a:rPr lang="en-US" sz="900" dirty="0">
                <a:solidFill>
                  <a:srgbClr val="5B6B7A"/>
                </a:solidFill>
                <a:latin typeface="Inter" pitchFamily="34" charset="0"/>
                <a:ea typeface="Inter" pitchFamily="34" charset="-122"/>
                <a:cs typeface="Inter" pitchFamily="34" charset="-120"/>
              </a:rPr>
              <a:t>Kit 4 · AI for Assessment   |   3</a:t>
            </a:r>
            <a:endParaRPr lang="en-US" sz="900" dirty="0"/>
          </a:p>
        </p:txBody>
      </p:sp>
      <p:sp>
        <p:nvSpPr>
          <p:cNvPr id="5" name="Text 2"/>
          <p:cNvSpPr/>
          <p:nvPr/>
        </p:nvSpPr>
        <p:spPr>
          <a:xfrm>
            <a:off x="566928" y="128016"/>
            <a:ext cx="11055096" cy="274320"/>
          </a:xfrm>
          <a:prstGeom prst="rect">
            <a:avLst/>
          </a:prstGeom>
          <a:noFill/>
          <a:ln/>
        </p:spPr>
        <p:txBody>
          <a:bodyPr wrap="square" lIns="0" tIns="0" rIns="0" bIns="0" rtlCol="0" anchor="ctr"/>
          <a:lstStyle/>
          <a:p>
            <a:pPr indent="0" marL="0">
              <a:buNone/>
            </a:pPr>
            <a:r>
              <a:rPr lang="en-US" sz="1200" b="1" spc="200" kern="0" dirty="0">
                <a:solidFill>
                  <a:srgbClr val="2A9D8F"/>
                </a:solidFill>
                <a:latin typeface="Inter" pitchFamily="34" charset="0"/>
                <a:ea typeface="Inter" pitchFamily="34" charset="-122"/>
                <a:cs typeface="Inter" pitchFamily="34" charset="-120"/>
              </a:rPr>
              <a:t>HIGH LEVERAGE, BARELY TOUCHED</a:t>
            </a:r>
            <a:endParaRPr lang="en-US" sz="1200" dirty="0"/>
          </a:p>
        </p:txBody>
      </p:sp>
      <p:sp>
        <p:nvSpPr>
          <p:cNvPr id="6" name="Text 3"/>
          <p:cNvSpPr/>
          <p:nvPr/>
        </p:nvSpPr>
        <p:spPr>
          <a:xfrm>
            <a:off x="548640" y="384048"/>
            <a:ext cx="11091672" cy="777240"/>
          </a:xfrm>
          <a:prstGeom prst="rect">
            <a:avLst/>
          </a:prstGeom>
          <a:noFill/>
          <a:ln/>
        </p:spPr>
        <p:txBody>
          <a:bodyPr wrap="square" lIns="0" tIns="0" rIns="0" bIns="0" rtlCol="0" anchor="ctr"/>
          <a:lstStyle/>
          <a:p>
            <a:pPr indent="0" marL="0">
              <a:buNone/>
            </a:pPr>
            <a:r>
              <a:rPr lang="en-US" sz="3200" b="1" dirty="0">
                <a:solidFill>
                  <a:srgbClr val="13293D"/>
                </a:solidFill>
                <a:latin typeface="Inter" pitchFamily="34" charset="0"/>
                <a:ea typeface="Inter" pitchFamily="34" charset="-122"/>
                <a:cs typeface="Inter" pitchFamily="34" charset="-120"/>
              </a:rPr>
              <a:t>The most powerful lever, the least-tapped use</a:t>
            </a:r>
            <a:endParaRPr lang="en-US" sz="3200" dirty="0"/>
          </a:p>
        </p:txBody>
      </p:sp>
      <p:sp>
        <p:nvSpPr>
          <p:cNvPr id="7" name="Shape 4"/>
          <p:cNvSpPr/>
          <p:nvPr/>
        </p:nvSpPr>
        <p:spPr>
          <a:xfrm>
            <a:off x="640080" y="1600200"/>
            <a:ext cx="5257800" cy="3383280"/>
          </a:xfrm>
          <a:prstGeom prst="roundRect">
            <a:avLst>
              <a:gd name="adj" fmla="val 2432"/>
            </a:avLst>
          </a:prstGeom>
          <a:solidFill>
            <a:srgbClr val="EAF5F3"/>
          </a:solidFill>
          <a:ln w="12700">
            <a:solidFill>
              <a:srgbClr val="EAF5F3"/>
            </a:solidFill>
            <a:prstDash val="solid"/>
          </a:ln>
        </p:spPr>
      </p:sp>
      <p:sp>
        <p:nvSpPr>
          <p:cNvPr id="8" name="Text 5"/>
          <p:cNvSpPr/>
          <p:nvPr/>
        </p:nvSpPr>
        <p:spPr>
          <a:xfrm>
            <a:off x="640080" y="1783080"/>
            <a:ext cx="5257800" cy="320040"/>
          </a:xfrm>
          <a:prstGeom prst="rect">
            <a:avLst/>
          </a:prstGeom>
          <a:noFill/>
          <a:ln/>
        </p:spPr>
        <p:txBody>
          <a:bodyPr wrap="square" lIns="0" tIns="0" rIns="0" bIns="0" rtlCol="0" anchor="ctr"/>
          <a:lstStyle/>
          <a:p>
            <a:pPr algn="ctr" indent="0" marL="0">
              <a:buNone/>
            </a:pPr>
            <a:r>
              <a:rPr lang="en-US" sz="1300" b="1" spc="200" kern="0" dirty="0">
                <a:solidFill>
                  <a:srgbClr val="2A9D8F"/>
                </a:solidFill>
                <a:latin typeface="Inter" pitchFamily="34" charset="0"/>
                <a:ea typeface="Inter" pitchFamily="34" charset="-122"/>
                <a:cs typeface="Inter" pitchFamily="34" charset="-120"/>
              </a:rPr>
              <a:t>THE POWER OF FEEDBACK</a:t>
            </a:r>
            <a:endParaRPr lang="en-US" sz="1300" dirty="0"/>
          </a:p>
        </p:txBody>
      </p:sp>
      <p:sp>
        <p:nvSpPr>
          <p:cNvPr id="9" name="Text 6"/>
          <p:cNvSpPr/>
          <p:nvPr/>
        </p:nvSpPr>
        <p:spPr>
          <a:xfrm>
            <a:off x="640080" y="2103120"/>
            <a:ext cx="5257800" cy="960120"/>
          </a:xfrm>
          <a:prstGeom prst="rect">
            <a:avLst/>
          </a:prstGeom>
          <a:noFill/>
          <a:ln/>
        </p:spPr>
        <p:txBody>
          <a:bodyPr wrap="square" lIns="0" tIns="0" rIns="0" bIns="0" rtlCol="0" anchor="ctr"/>
          <a:lstStyle/>
          <a:p>
            <a:pPr algn="ctr" indent="0" marL="0">
              <a:buNone/>
            </a:pPr>
            <a:r>
              <a:rPr lang="en-US" sz="5200" b="1" dirty="0">
                <a:solidFill>
                  <a:srgbClr val="2A9D8F"/>
                </a:solidFill>
                <a:latin typeface="Inter" pitchFamily="34" charset="0"/>
                <a:ea typeface="Inter" pitchFamily="34" charset="-122"/>
                <a:cs typeface="Inter" pitchFamily="34" charset="-120"/>
              </a:rPr>
              <a:t>0.79</a:t>
            </a:r>
            <a:endParaRPr lang="en-US" sz="5200" dirty="0"/>
          </a:p>
        </p:txBody>
      </p:sp>
      <p:sp>
        <p:nvSpPr>
          <p:cNvPr id="10" name="Text 7"/>
          <p:cNvSpPr/>
          <p:nvPr/>
        </p:nvSpPr>
        <p:spPr>
          <a:xfrm>
            <a:off x="914400" y="3108960"/>
            <a:ext cx="4709160" cy="1737360"/>
          </a:xfrm>
          <a:prstGeom prst="rect">
            <a:avLst/>
          </a:prstGeom>
          <a:noFill/>
          <a:ln/>
        </p:spPr>
        <p:txBody>
          <a:bodyPr wrap="square" lIns="0" tIns="0" rIns="0" bIns="0" rtlCol="0" anchor="ctr"/>
          <a:lstStyle/>
          <a:p>
            <a:pPr algn="ctr" indent="0" marL="0">
              <a:buNone/>
            </a:pPr>
            <a:r>
              <a:rPr lang="en-US" sz="1600" dirty="0">
                <a:solidFill>
                  <a:srgbClr val="1B1F24"/>
                </a:solidFill>
                <a:latin typeface="Inter" pitchFamily="34" charset="0"/>
                <a:ea typeface="Inter" pitchFamily="34" charset="-122"/>
                <a:cs typeface="Inter" pitchFamily="34" charset="-120"/>
              </a:rPr>
              <a:t>Feedback’s average “effect size” on student achievement: roughly double the impact of the typical educational intervention. (Hattie &amp; Timperley, 2007)</a:t>
            </a:r>
            <a:endParaRPr lang="en-US" sz="1600" dirty="0"/>
          </a:p>
        </p:txBody>
      </p:sp>
      <p:sp>
        <p:nvSpPr>
          <p:cNvPr id="11" name="Shape 8"/>
          <p:cNvSpPr/>
          <p:nvPr/>
        </p:nvSpPr>
        <p:spPr>
          <a:xfrm>
            <a:off x="6263640" y="1600200"/>
            <a:ext cx="5257800" cy="3383280"/>
          </a:xfrm>
          <a:prstGeom prst="roundRect">
            <a:avLst>
              <a:gd name="adj" fmla="val 2432"/>
            </a:avLst>
          </a:prstGeom>
          <a:solidFill>
            <a:srgbClr val="F7F5F0"/>
          </a:solidFill>
          <a:ln w="12700">
            <a:solidFill>
              <a:srgbClr val="F7F5F0"/>
            </a:solidFill>
            <a:prstDash val="solid"/>
          </a:ln>
        </p:spPr>
      </p:sp>
      <p:sp>
        <p:nvSpPr>
          <p:cNvPr id="12" name="Text 9"/>
          <p:cNvSpPr/>
          <p:nvPr/>
        </p:nvSpPr>
        <p:spPr>
          <a:xfrm>
            <a:off x="6263640" y="1783080"/>
            <a:ext cx="5257800" cy="320040"/>
          </a:xfrm>
          <a:prstGeom prst="rect">
            <a:avLst/>
          </a:prstGeom>
          <a:noFill/>
          <a:ln/>
        </p:spPr>
        <p:txBody>
          <a:bodyPr wrap="square" lIns="0" tIns="0" rIns="0" bIns="0" rtlCol="0" anchor="ctr"/>
          <a:lstStyle/>
          <a:p>
            <a:pPr algn="ctr" indent="0" marL="0">
              <a:buNone/>
            </a:pPr>
            <a:r>
              <a:rPr lang="en-US" sz="1300" b="1" spc="200" kern="0" dirty="0">
                <a:solidFill>
                  <a:srgbClr val="5B6B7A"/>
                </a:solidFill>
                <a:latin typeface="Inter" pitchFamily="34" charset="0"/>
                <a:ea typeface="Inter" pitchFamily="34" charset="-122"/>
                <a:cs typeface="Inter" pitchFamily="34" charset="-120"/>
              </a:rPr>
              <a:t>HOW MANY TEACHERS TAP IT WITH AI</a:t>
            </a:r>
            <a:endParaRPr lang="en-US" sz="1300" dirty="0"/>
          </a:p>
        </p:txBody>
      </p:sp>
      <p:sp>
        <p:nvSpPr>
          <p:cNvPr id="13" name="Text 10"/>
          <p:cNvSpPr/>
          <p:nvPr/>
        </p:nvSpPr>
        <p:spPr>
          <a:xfrm>
            <a:off x="6263640" y="2103120"/>
            <a:ext cx="5257800" cy="960120"/>
          </a:xfrm>
          <a:prstGeom prst="rect">
            <a:avLst/>
          </a:prstGeom>
          <a:noFill/>
          <a:ln/>
        </p:spPr>
        <p:txBody>
          <a:bodyPr wrap="square" lIns="0" tIns="0" rIns="0" bIns="0" rtlCol="0" anchor="ctr"/>
          <a:lstStyle/>
          <a:p>
            <a:pPr algn="ctr" indent="0" marL="0">
              <a:buNone/>
            </a:pPr>
            <a:r>
              <a:rPr lang="en-US" sz="5200" b="1" dirty="0">
                <a:solidFill>
                  <a:srgbClr val="5B6B7A"/>
                </a:solidFill>
                <a:latin typeface="Inter" pitchFamily="34" charset="0"/>
                <a:ea typeface="Inter" pitchFamily="34" charset="-122"/>
                <a:cs typeface="Inter" pitchFamily="34" charset="-120"/>
              </a:rPr>
              <a:t>≤15%</a:t>
            </a:r>
            <a:endParaRPr lang="en-US" sz="5200" dirty="0"/>
          </a:p>
        </p:txBody>
      </p:sp>
      <p:sp>
        <p:nvSpPr>
          <p:cNvPr id="14" name="Text 11"/>
          <p:cNvSpPr/>
          <p:nvPr/>
        </p:nvSpPr>
        <p:spPr>
          <a:xfrm>
            <a:off x="6537960" y="3108960"/>
            <a:ext cx="4709160" cy="1737360"/>
          </a:xfrm>
          <a:prstGeom prst="rect">
            <a:avLst/>
          </a:prstGeom>
          <a:noFill/>
          <a:ln/>
        </p:spPr>
        <p:txBody>
          <a:bodyPr wrap="square" lIns="0" tIns="0" rIns="0" bIns="0" rtlCol="0" anchor="ctr"/>
          <a:lstStyle/>
          <a:p>
            <a:pPr algn="ctr" indent="0" marL="0">
              <a:buNone/>
            </a:pPr>
            <a:r>
              <a:rPr lang="en-US" sz="1600" dirty="0">
                <a:solidFill>
                  <a:srgbClr val="1B1F24"/>
                </a:solidFill>
                <a:latin typeface="Inter" pitchFamily="34" charset="0"/>
                <a:ea typeface="Inter" pitchFamily="34" charset="-122"/>
                <a:cs typeface="Inter" pitchFamily="34" charset="-120"/>
              </a:rPr>
              <a:t>Of teachers who already used AI in 2023–24, 15% or fewer used it for writing assessments: the least-tapped use, sitting under the highest-leverage work. (RAND, 2025)</a:t>
            </a:r>
            <a:endParaRPr lang="en-US" sz="1600" dirty="0"/>
          </a:p>
        </p:txBody>
      </p:sp>
      <p:sp>
        <p:nvSpPr>
          <p:cNvPr id="15" name="Text 12"/>
          <p:cNvSpPr/>
          <p:nvPr/>
        </p:nvSpPr>
        <p:spPr>
          <a:xfrm>
            <a:off x="640080" y="5349240"/>
            <a:ext cx="10972800" cy="502920"/>
          </a:xfrm>
          <a:prstGeom prst="rect">
            <a:avLst/>
          </a:prstGeom>
          <a:noFill/>
          <a:ln/>
        </p:spPr>
        <p:txBody>
          <a:bodyPr wrap="square" lIns="0" tIns="0" rIns="0" bIns="0" rtlCol="0" anchor="ctr"/>
          <a:lstStyle/>
          <a:p>
            <a:pPr algn="ctr" indent="0" marL="0">
              <a:buNone/>
            </a:pPr>
            <a:r>
              <a:rPr lang="en-US" sz="2000" b="1" dirty="0">
                <a:solidFill>
                  <a:srgbClr val="13293D"/>
                </a:solidFill>
                <a:latin typeface="Inter" pitchFamily="34" charset="0"/>
                <a:ea typeface="Inter" pitchFamily="34" charset="-122"/>
                <a:cs typeface="Inter" pitchFamily="34" charset="-120"/>
              </a:rPr>
              <a:t>Feedback’s power varies with how it’s given. That skill is yours; the drafting is delegable.</a:t>
            </a:r>
            <a:endParaRPr lang="en-US" sz="2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11480" y="6473952"/>
            <a:ext cx="237744" cy="219456"/>
          </a:xfrm>
          <a:prstGeom prst="rect">
            <a:avLst/>
          </a:prstGeom>
        </p:spPr>
      </p:pic>
      <p:sp>
        <p:nvSpPr>
          <p:cNvPr id="3" name="Text 0"/>
          <p:cNvSpPr/>
          <p:nvPr/>
        </p:nvSpPr>
        <p:spPr>
          <a:xfrm>
            <a:off x="685800" y="6428232"/>
            <a:ext cx="2011680" cy="292608"/>
          </a:xfrm>
          <a:prstGeom prst="rect">
            <a:avLst/>
          </a:prstGeom>
          <a:noFill/>
          <a:ln/>
        </p:spPr>
        <p:txBody>
          <a:bodyPr wrap="square" lIns="0" tIns="0" rIns="0" bIns="0" rtlCol="0" anchor="ctr"/>
          <a:lstStyle/>
          <a:p>
            <a:pPr indent="0" marL="0">
              <a:buNone/>
            </a:pPr>
            <a:r>
              <a:rPr lang="en-US" sz="1000" b="1" dirty="0">
                <a:solidFill>
                  <a:srgbClr val="2A9D8F"/>
                </a:solidFill>
                <a:latin typeface="Inter" pitchFamily="34" charset="0"/>
                <a:ea typeface="Inter" pitchFamily="34" charset="-122"/>
                <a:cs typeface="Inter" pitchFamily="34" charset="-120"/>
              </a:rPr>
              <a:t>AI-Ready</a:t>
            </a:r>
            <a:pPr indent="0" marL="0">
              <a:buNone/>
            </a:pPr>
            <a:r>
              <a:rPr lang="en-US" sz="1000" b="1" dirty="0">
                <a:solidFill>
                  <a:srgbClr val="13293D"/>
                </a:solidFill>
                <a:latin typeface="Inter" pitchFamily="34" charset="0"/>
                <a:ea typeface="Inter" pitchFamily="34" charset="-122"/>
                <a:cs typeface="Inter" pitchFamily="34" charset="-120"/>
              </a:rPr>
              <a:t> School</a:t>
            </a:r>
            <a:endParaRPr lang="en-US" sz="1000" dirty="0"/>
          </a:p>
        </p:txBody>
      </p:sp>
      <p:sp>
        <p:nvSpPr>
          <p:cNvPr id="4" name="Text 1"/>
          <p:cNvSpPr/>
          <p:nvPr/>
        </p:nvSpPr>
        <p:spPr>
          <a:xfrm>
            <a:off x="8897112" y="6428232"/>
            <a:ext cx="2880360" cy="292608"/>
          </a:xfrm>
          <a:prstGeom prst="rect">
            <a:avLst/>
          </a:prstGeom>
          <a:noFill/>
          <a:ln/>
        </p:spPr>
        <p:txBody>
          <a:bodyPr wrap="square" lIns="0" tIns="0" rIns="0" bIns="0" rtlCol="0" anchor="ctr"/>
          <a:lstStyle/>
          <a:p>
            <a:pPr algn="r" indent="0" marL="0">
              <a:buNone/>
            </a:pPr>
            <a:r>
              <a:rPr lang="en-US" sz="900" dirty="0">
                <a:solidFill>
                  <a:srgbClr val="5B6B7A"/>
                </a:solidFill>
                <a:latin typeface="Inter" pitchFamily="34" charset="0"/>
                <a:ea typeface="Inter" pitchFamily="34" charset="-122"/>
                <a:cs typeface="Inter" pitchFamily="34" charset="-120"/>
              </a:rPr>
              <a:t>Kit 4 · AI for Assessment   |   4</a:t>
            </a:r>
            <a:endParaRPr lang="en-US" sz="900" dirty="0"/>
          </a:p>
        </p:txBody>
      </p:sp>
      <p:sp>
        <p:nvSpPr>
          <p:cNvPr id="5" name="Text 2"/>
          <p:cNvSpPr/>
          <p:nvPr/>
        </p:nvSpPr>
        <p:spPr>
          <a:xfrm>
            <a:off x="566928" y="128016"/>
            <a:ext cx="11055096" cy="274320"/>
          </a:xfrm>
          <a:prstGeom prst="rect">
            <a:avLst/>
          </a:prstGeom>
          <a:noFill/>
          <a:ln/>
        </p:spPr>
        <p:txBody>
          <a:bodyPr wrap="square" lIns="0" tIns="0" rIns="0" bIns="0" rtlCol="0" anchor="ctr"/>
          <a:lstStyle/>
          <a:p>
            <a:pPr indent="0" marL="0">
              <a:buNone/>
            </a:pPr>
            <a:r>
              <a:rPr lang="en-US" sz="1200" b="1" spc="200" kern="0" dirty="0">
                <a:solidFill>
                  <a:srgbClr val="2A9D8F"/>
                </a:solidFill>
                <a:latin typeface="Inter" pitchFamily="34" charset="0"/>
                <a:ea typeface="Inter" pitchFamily="34" charset="-122"/>
                <a:cs typeface="Inter" pitchFamily="34" charset="-120"/>
              </a:rPr>
              <a:t>THE HOUR AHEAD</a:t>
            </a:r>
            <a:endParaRPr lang="en-US" sz="1200" dirty="0"/>
          </a:p>
        </p:txBody>
      </p:sp>
      <p:sp>
        <p:nvSpPr>
          <p:cNvPr id="6" name="Text 3"/>
          <p:cNvSpPr/>
          <p:nvPr/>
        </p:nvSpPr>
        <p:spPr>
          <a:xfrm>
            <a:off x="548640" y="384048"/>
            <a:ext cx="11091672" cy="777240"/>
          </a:xfrm>
          <a:prstGeom prst="rect">
            <a:avLst/>
          </a:prstGeom>
          <a:noFill/>
          <a:ln/>
        </p:spPr>
        <p:txBody>
          <a:bodyPr wrap="square" lIns="0" tIns="0" rIns="0" bIns="0" rtlCol="0" anchor="ctr"/>
          <a:lstStyle/>
          <a:p>
            <a:pPr indent="0" marL="0">
              <a:buNone/>
            </a:pPr>
            <a:r>
              <a:rPr lang="en-US" sz="3200" b="1" dirty="0">
                <a:solidFill>
                  <a:srgbClr val="13293D"/>
                </a:solidFill>
                <a:latin typeface="Inter" pitchFamily="34" charset="0"/>
                <a:ea typeface="Inter" pitchFamily="34" charset="-122"/>
                <a:cs typeface="Inter" pitchFamily="34" charset="-120"/>
              </a:rPr>
              <a:t>Agenda, and one promise</a:t>
            </a:r>
            <a:endParaRPr lang="en-US" sz="3200" dirty="0"/>
          </a:p>
        </p:txBody>
      </p:sp>
      <p:sp>
        <p:nvSpPr>
          <p:cNvPr id="7" name="Text 4"/>
          <p:cNvSpPr/>
          <p:nvPr/>
        </p:nvSpPr>
        <p:spPr>
          <a:xfrm>
            <a:off x="822960" y="1463040"/>
            <a:ext cx="1005840" cy="548640"/>
          </a:xfrm>
          <a:prstGeom prst="rect">
            <a:avLst/>
          </a:prstGeom>
          <a:noFill/>
          <a:ln/>
        </p:spPr>
        <p:txBody>
          <a:bodyPr wrap="square" lIns="0" tIns="0" rIns="0" bIns="0" rtlCol="0" anchor="ctr"/>
          <a:lstStyle/>
          <a:p>
            <a:pPr indent="0" marL="0">
              <a:buNone/>
            </a:pPr>
            <a:r>
              <a:rPr lang="en-US" sz="2000" b="1" dirty="0">
                <a:solidFill>
                  <a:srgbClr val="2A9D8F"/>
                </a:solidFill>
                <a:latin typeface="Inter" pitchFamily="34" charset="0"/>
                <a:ea typeface="Inter" pitchFamily="34" charset="-122"/>
                <a:cs typeface="Inter" pitchFamily="34" charset="-120"/>
              </a:rPr>
              <a:t>0:05</a:t>
            </a:r>
            <a:endParaRPr lang="en-US" sz="2000" dirty="0"/>
          </a:p>
        </p:txBody>
      </p:sp>
      <p:sp>
        <p:nvSpPr>
          <p:cNvPr id="8" name="Text 5"/>
          <p:cNvSpPr/>
          <p:nvPr/>
        </p:nvSpPr>
        <p:spPr>
          <a:xfrm>
            <a:off x="1920240" y="1463040"/>
            <a:ext cx="6766560" cy="548640"/>
          </a:xfrm>
          <a:prstGeom prst="rect">
            <a:avLst/>
          </a:prstGeom>
          <a:noFill/>
          <a:ln/>
        </p:spPr>
        <p:txBody>
          <a:bodyPr wrap="square" lIns="0" tIns="0" rIns="0" bIns="0" rtlCol="0" anchor="ctr"/>
          <a:lstStyle/>
          <a:p>
            <a:pPr indent="0" marL="0">
              <a:buNone/>
            </a:pPr>
            <a:r>
              <a:rPr lang="en-US" sz="2000" dirty="0">
                <a:solidFill>
                  <a:srgbClr val="1B1F24"/>
                </a:solidFill>
                <a:latin typeface="Inter" pitchFamily="34" charset="0"/>
                <a:ea typeface="Inter" pitchFamily="34" charset="-122"/>
                <a:cs typeface="Inter" pitchFamily="34" charset="-120"/>
              </a:rPr>
              <a:t>What makes assessment materials work</a:t>
            </a:r>
            <a:endParaRPr lang="en-US" sz="2000" dirty="0"/>
          </a:p>
        </p:txBody>
      </p:sp>
      <p:sp>
        <p:nvSpPr>
          <p:cNvPr id="9" name="Text 6"/>
          <p:cNvSpPr/>
          <p:nvPr/>
        </p:nvSpPr>
        <p:spPr>
          <a:xfrm>
            <a:off x="822960" y="2194560"/>
            <a:ext cx="1005840" cy="548640"/>
          </a:xfrm>
          <a:prstGeom prst="rect">
            <a:avLst/>
          </a:prstGeom>
          <a:noFill/>
          <a:ln/>
        </p:spPr>
        <p:txBody>
          <a:bodyPr wrap="square" lIns="0" tIns="0" rIns="0" bIns="0" rtlCol="0" anchor="ctr"/>
          <a:lstStyle/>
          <a:p>
            <a:pPr indent="0" marL="0">
              <a:buNone/>
            </a:pPr>
            <a:r>
              <a:rPr lang="en-US" sz="2000" b="1" dirty="0">
                <a:solidFill>
                  <a:srgbClr val="2A9D8F"/>
                </a:solidFill>
                <a:latin typeface="Inter" pitchFamily="34" charset="0"/>
                <a:ea typeface="Inter" pitchFamily="34" charset="-122"/>
                <a:cs typeface="Inter" pitchFamily="34" charset="-120"/>
              </a:rPr>
              <a:t>0:12</a:t>
            </a:r>
            <a:endParaRPr lang="en-US" sz="2000" dirty="0"/>
          </a:p>
        </p:txBody>
      </p:sp>
      <p:sp>
        <p:nvSpPr>
          <p:cNvPr id="10" name="Text 7"/>
          <p:cNvSpPr/>
          <p:nvPr/>
        </p:nvSpPr>
        <p:spPr>
          <a:xfrm>
            <a:off x="1920240" y="2194560"/>
            <a:ext cx="6766560" cy="548640"/>
          </a:xfrm>
          <a:prstGeom prst="rect">
            <a:avLst/>
          </a:prstGeom>
          <a:noFill/>
          <a:ln/>
        </p:spPr>
        <p:txBody>
          <a:bodyPr wrap="square" lIns="0" tIns="0" rIns="0" bIns="0" rtlCol="0" anchor="ctr"/>
          <a:lstStyle/>
          <a:p>
            <a:pPr indent="0" marL="0">
              <a:buNone/>
            </a:pPr>
            <a:r>
              <a:rPr lang="en-US" sz="2000" dirty="0">
                <a:solidFill>
                  <a:srgbClr val="1B1F24"/>
                </a:solidFill>
                <a:latin typeface="Inter" pitchFamily="34" charset="0"/>
                <a:ea typeface="Inter" pitchFamily="34" charset="-122"/>
                <a:cs typeface="Inter" pitchFamily="34" charset="-120"/>
              </a:rPr>
              <a:t>Three workshops: rubrics, questions, feedback</a:t>
            </a:r>
            <a:endParaRPr lang="en-US" sz="2000" dirty="0"/>
          </a:p>
        </p:txBody>
      </p:sp>
      <p:sp>
        <p:nvSpPr>
          <p:cNvPr id="11" name="Text 8"/>
          <p:cNvSpPr/>
          <p:nvPr/>
        </p:nvSpPr>
        <p:spPr>
          <a:xfrm>
            <a:off x="822960" y="2926080"/>
            <a:ext cx="1005840" cy="548640"/>
          </a:xfrm>
          <a:prstGeom prst="rect">
            <a:avLst/>
          </a:prstGeom>
          <a:noFill/>
          <a:ln/>
        </p:spPr>
        <p:txBody>
          <a:bodyPr wrap="square" lIns="0" tIns="0" rIns="0" bIns="0" rtlCol="0" anchor="ctr"/>
          <a:lstStyle/>
          <a:p>
            <a:pPr indent="0" marL="0">
              <a:buNone/>
            </a:pPr>
            <a:r>
              <a:rPr lang="en-US" sz="2000" b="1" dirty="0">
                <a:solidFill>
                  <a:srgbClr val="2A9D8F"/>
                </a:solidFill>
                <a:latin typeface="Inter" pitchFamily="34" charset="0"/>
                <a:ea typeface="Inter" pitchFamily="34" charset="-122"/>
                <a:cs typeface="Inter" pitchFamily="34" charset="-120"/>
              </a:rPr>
              <a:t>0:24</a:t>
            </a:r>
            <a:endParaRPr lang="en-US" sz="2000" dirty="0"/>
          </a:p>
        </p:txBody>
      </p:sp>
      <p:sp>
        <p:nvSpPr>
          <p:cNvPr id="12" name="Text 9"/>
          <p:cNvSpPr/>
          <p:nvPr/>
        </p:nvSpPr>
        <p:spPr>
          <a:xfrm>
            <a:off x="1920240" y="2926080"/>
            <a:ext cx="6766560" cy="548640"/>
          </a:xfrm>
          <a:prstGeom prst="rect">
            <a:avLst/>
          </a:prstGeom>
          <a:noFill/>
          <a:ln/>
        </p:spPr>
        <p:txBody>
          <a:bodyPr wrap="square" lIns="0" tIns="0" rIns="0" bIns="0" rtlCol="0" anchor="ctr"/>
          <a:lstStyle/>
          <a:p>
            <a:pPr indent="0" marL="0">
              <a:buNone/>
            </a:pPr>
            <a:r>
              <a:rPr lang="en-US" sz="2000" dirty="0">
                <a:solidFill>
                  <a:srgbClr val="1B1F24"/>
                </a:solidFill>
                <a:latin typeface="Inter" pitchFamily="34" charset="0"/>
                <a:ea typeface="Inter" pitchFamily="34" charset="-122"/>
                <a:cs typeface="Inter" pitchFamily="34" charset="-120"/>
              </a:rPr>
              <a:t>The red lines, in writing</a:t>
            </a:r>
            <a:endParaRPr lang="en-US" sz="2000" dirty="0"/>
          </a:p>
        </p:txBody>
      </p:sp>
      <p:sp>
        <p:nvSpPr>
          <p:cNvPr id="13" name="Text 10"/>
          <p:cNvSpPr/>
          <p:nvPr/>
        </p:nvSpPr>
        <p:spPr>
          <a:xfrm>
            <a:off x="822960" y="3657600"/>
            <a:ext cx="1005840" cy="548640"/>
          </a:xfrm>
          <a:prstGeom prst="rect">
            <a:avLst/>
          </a:prstGeom>
          <a:noFill/>
          <a:ln/>
        </p:spPr>
        <p:txBody>
          <a:bodyPr wrap="square" lIns="0" tIns="0" rIns="0" bIns="0" rtlCol="0" anchor="ctr"/>
          <a:lstStyle/>
          <a:p>
            <a:pPr indent="0" marL="0">
              <a:buNone/>
            </a:pPr>
            <a:r>
              <a:rPr lang="en-US" sz="2000" b="1" dirty="0">
                <a:solidFill>
                  <a:srgbClr val="2A9D8F"/>
                </a:solidFill>
                <a:latin typeface="Inter" pitchFamily="34" charset="0"/>
                <a:ea typeface="Inter" pitchFamily="34" charset="-122"/>
                <a:cs typeface="Inter" pitchFamily="34" charset="-120"/>
              </a:rPr>
              <a:t>0:30</a:t>
            </a:r>
            <a:endParaRPr lang="en-US" sz="2000" dirty="0"/>
          </a:p>
        </p:txBody>
      </p:sp>
      <p:sp>
        <p:nvSpPr>
          <p:cNvPr id="14" name="Text 11"/>
          <p:cNvSpPr/>
          <p:nvPr/>
        </p:nvSpPr>
        <p:spPr>
          <a:xfrm>
            <a:off x="1920240" y="3657600"/>
            <a:ext cx="6766560" cy="548640"/>
          </a:xfrm>
          <a:prstGeom prst="rect">
            <a:avLst/>
          </a:prstGeom>
          <a:noFill/>
          <a:ln/>
        </p:spPr>
        <p:txBody>
          <a:bodyPr wrap="square" lIns="0" tIns="0" rIns="0" bIns="0" rtlCol="0" anchor="ctr"/>
          <a:lstStyle/>
          <a:p>
            <a:pPr indent="0" marL="0">
              <a:buNone/>
            </a:pPr>
            <a:r>
              <a:rPr lang="en-US" sz="2000" dirty="0">
                <a:solidFill>
                  <a:srgbClr val="1B1F24"/>
                </a:solidFill>
                <a:latin typeface="Inter" pitchFamily="34" charset="0"/>
                <a:ea typeface="Inter" pitchFamily="34" charset="-122"/>
                <a:cs typeface="Inter" pitchFamily="34" charset="-120"/>
              </a:rPr>
              <a:t>Lab: build for a real upcoming assessment</a:t>
            </a:r>
            <a:endParaRPr lang="en-US" sz="2000" dirty="0"/>
          </a:p>
        </p:txBody>
      </p:sp>
      <p:sp>
        <p:nvSpPr>
          <p:cNvPr id="15" name="Text 12"/>
          <p:cNvSpPr/>
          <p:nvPr/>
        </p:nvSpPr>
        <p:spPr>
          <a:xfrm>
            <a:off x="822960" y="4389120"/>
            <a:ext cx="1005840" cy="548640"/>
          </a:xfrm>
          <a:prstGeom prst="rect">
            <a:avLst/>
          </a:prstGeom>
          <a:noFill/>
          <a:ln/>
        </p:spPr>
        <p:txBody>
          <a:bodyPr wrap="square" lIns="0" tIns="0" rIns="0" bIns="0" rtlCol="0" anchor="ctr"/>
          <a:lstStyle/>
          <a:p>
            <a:pPr indent="0" marL="0">
              <a:buNone/>
            </a:pPr>
            <a:r>
              <a:rPr lang="en-US" sz="2000" b="1" dirty="0">
                <a:solidFill>
                  <a:srgbClr val="2A9D8F"/>
                </a:solidFill>
                <a:latin typeface="Inter" pitchFamily="34" charset="0"/>
                <a:ea typeface="Inter" pitchFamily="34" charset="-122"/>
                <a:cs typeface="Inter" pitchFamily="34" charset="-120"/>
              </a:rPr>
              <a:t>0:49</a:t>
            </a:r>
            <a:endParaRPr lang="en-US" sz="2000" dirty="0"/>
          </a:p>
        </p:txBody>
      </p:sp>
      <p:sp>
        <p:nvSpPr>
          <p:cNvPr id="16" name="Text 13"/>
          <p:cNvSpPr/>
          <p:nvPr/>
        </p:nvSpPr>
        <p:spPr>
          <a:xfrm>
            <a:off x="1920240" y="4389120"/>
            <a:ext cx="6766560" cy="548640"/>
          </a:xfrm>
          <a:prstGeom prst="rect">
            <a:avLst/>
          </a:prstGeom>
          <a:noFill/>
          <a:ln/>
        </p:spPr>
        <p:txBody>
          <a:bodyPr wrap="square" lIns="0" tIns="0" rIns="0" bIns="0" rtlCol="0" anchor="ctr"/>
          <a:lstStyle/>
          <a:p>
            <a:pPr indent="0" marL="0">
              <a:buNone/>
            </a:pPr>
            <a:r>
              <a:rPr lang="en-US" sz="2000" dirty="0">
                <a:solidFill>
                  <a:srgbClr val="1B1F24"/>
                </a:solidFill>
                <a:latin typeface="Inter" pitchFamily="34" charset="0"/>
                <a:ea typeface="Inter" pitchFamily="34" charset="-122"/>
                <a:cs typeface="Inter" pitchFamily="34" charset="-120"/>
              </a:rPr>
              <a:t>Making it stick + first 48 hours</a:t>
            </a:r>
            <a:endParaRPr lang="en-US" sz="2000" dirty="0"/>
          </a:p>
        </p:txBody>
      </p:sp>
      <p:sp>
        <p:nvSpPr>
          <p:cNvPr id="17" name="Shape 14"/>
          <p:cNvSpPr/>
          <p:nvPr/>
        </p:nvSpPr>
        <p:spPr>
          <a:xfrm>
            <a:off x="9052560" y="1920240"/>
            <a:ext cx="2606040" cy="2926080"/>
          </a:xfrm>
          <a:prstGeom prst="roundRect">
            <a:avLst>
              <a:gd name="adj" fmla="val 3158"/>
            </a:avLst>
          </a:prstGeom>
          <a:solidFill>
            <a:srgbClr val="13293D"/>
          </a:solidFill>
          <a:ln w="12700">
            <a:solidFill>
              <a:srgbClr val="13293D"/>
            </a:solidFill>
            <a:prstDash val="solid"/>
          </a:ln>
        </p:spPr>
      </p:sp>
      <p:sp>
        <p:nvSpPr>
          <p:cNvPr id="18" name="Text 15"/>
          <p:cNvSpPr/>
          <p:nvPr/>
        </p:nvSpPr>
        <p:spPr>
          <a:xfrm>
            <a:off x="9281160" y="2148840"/>
            <a:ext cx="2148840" cy="365760"/>
          </a:xfrm>
          <a:prstGeom prst="rect">
            <a:avLst/>
          </a:prstGeom>
          <a:noFill/>
          <a:ln/>
        </p:spPr>
        <p:txBody>
          <a:bodyPr wrap="square" lIns="0" tIns="0" rIns="0" bIns="0" rtlCol="0" anchor="ctr"/>
          <a:lstStyle/>
          <a:p>
            <a:pPr indent="0" marL="0">
              <a:buNone/>
            </a:pPr>
            <a:r>
              <a:rPr lang="en-US" sz="1600" b="1" dirty="0">
                <a:solidFill>
                  <a:srgbClr val="F4A825"/>
                </a:solidFill>
                <a:latin typeface="Inter" pitchFamily="34" charset="0"/>
                <a:ea typeface="Inter" pitchFamily="34" charset="-122"/>
                <a:cs typeface="Inter" pitchFamily="34" charset="-120"/>
              </a:rPr>
              <a:t>One promise</a:t>
            </a:r>
            <a:endParaRPr lang="en-US" sz="1600" dirty="0"/>
          </a:p>
        </p:txBody>
      </p:sp>
      <p:sp>
        <p:nvSpPr>
          <p:cNvPr id="19" name="Text 16"/>
          <p:cNvSpPr/>
          <p:nvPr/>
        </p:nvSpPr>
        <p:spPr>
          <a:xfrm>
            <a:off x="9281160" y="2560320"/>
            <a:ext cx="2148840" cy="2103120"/>
          </a:xfrm>
          <a:prstGeom prst="rect">
            <a:avLst/>
          </a:prstGeom>
          <a:noFill/>
          <a:ln/>
        </p:spPr>
        <p:txBody>
          <a:bodyPr wrap="square" lIns="0" tIns="0" rIns="0" bIns="0" rtlCol="0" anchor="t"/>
          <a:lstStyle/>
          <a:p>
            <a:pPr indent="0" marL="0">
              <a:buNone/>
            </a:pPr>
            <a:r>
              <a:rPr lang="en-US" sz="1400" dirty="0">
                <a:solidFill>
                  <a:srgbClr val="FFFFFF"/>
                </a:solidFill>
                <a:latin typeface="Inter" pitchFamily="34" charset="0"/>
                <a:ea typeface="Inter" pitchFamily="34" charset="-122"/>
                <a:cs typeface="Inter" pitchFamily="34" charset="-120"/>
              </a:rPr>
              <a:t>You leave with a rubric and a question bank for an assessment already on your calendar. Not samples. Inventory.</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11480" y="6473952"/>
            <a:ext cx="237744" cy="219456"/>
          </a:xfrm>
          <a:prstGeom prst="rect">
            <a:avLst/>
          </a:prstGeom>
        </p:spPr>
      </p:pic>
      <p:sp>
        <p:nvSpPr>
          <p:cNvPr id="3" name="Text 0"/>
          <p:cNvSpPr/>
          <p:nvPr/>
        </p:nvSpPr>
        <p:spPr>
          <a:xfrm>
            <a:off x="685800" y="6428232"/>
            <a:ext cx="2011680" cy="292608"/>
          </a:xfrm>
          <a:prstGeom prst="rect">
            <a:avLst/>
          </a:prstGeom>
          <a:noFill/>
          <a:ln/>
        </p:spPr>
        <p:txBody>
          <a:bodyPr wrap="square" lIns="0" tIns="0" rIns="0" bIns="0" rtlCol="0" anchor="ctr"/>
          <a:lstStyle/>
          <a:p>
            <a:pPr indent="0" marL="0">
              <a:buNone/>
            </a:pPr>
            <a:r>
              <a:rPr lang="en-US" sz="1000" b="1" dirty="0">
                <a:solidFill>
                  <a:srgbClr val="2A9D8F"/>
                </a:solidFill>
                <a:latin typeface="Inter" pitchFamily="34" charset="0"/>
                <a:ea typeface="Inter" pitchFamily="34" charset="-122"/>
                <a:cs typeface="Inter" pitchFamily="34" charset="-120"/>
              </a:rPr>
              <a:t>AI-Ready</a:t>
            </a:r>
            <a:pPr indent="0" marL="0">
              <a:buNone/>
            </a:pPr>
            <a:r>
              <a:rPr lang="en-US" sz="1000" b="1" dirty="0">
                <a:solidFill>
                  <a:srgbClr val="13293D"/>
                </a:solidFill>
                <a:latin typeface="Inter" pitchFamily="34" charset="0"/>
                <a:ea typeface="Inter" pitchFamily="34" charset="-122"/>
                <a:cs typeface="Inter" pitchFamily="34" charset="-120"/>
              </a:rPr>
              <a:t> School</a:t>
            </a:r>
            <a:endParaRPr lang="en-US" sz="1000" dirty="0"/>
          </a:p>
        </p:txBody>
      </p:sp>
      <p:sp>
        <p:nvSpPr>
          <p:cNvPr id="4" name="Text 1"/>
          <p:cNvSpPr/>
          <p:nvPr/>
        </p:nvSpPr>
        <p:spPr>
          <a:xfrm>
            <a:off x="8897112" y="6428232"/>
            <a:ext cx="2880360" cy="292608"/>
          </a:xfrm>
          <a:prstGeom prst="rect">
            <a:avLst/>
          </a:prstGeom>
          <a:noFill/>
          <a:ln/>
        </p:spPr>
        <p:txBody>
          <a:bodyPr wrap="square" lIns="0" tIns="0" rIns="0" bIns="0" rtlCol="0" anchor="ctr"/>
          <a:lstStyle/>
          <a:p>
            <a:pPr algn="r" indent="0" marL="0">
              <a:buNone/>
            </a:pPr>
            <a:r>
              <a:rPr lang="en-US" sz="900" dirty="0">
                <a:solidFill>
                  <a:srgbClr val="5B6B7A"/>
                </a:solidFill>
                <a:latin typeface="Inter" pitchFamily="34" charset="0"/>
                <a:ea typeface="Inter" pitchFamily="34" charset="-122"/>
                <a:cs typeface="Inter" pitchFamily="34" charset="-120"/>
              </a:rPr>
              <a:t>Kit 4 · AI for Assessment   |   5</a:t>
            </a:r>
            <a:endParaRPr lang="en-US" sz="900" dirty="0"/>
          </a:p>
        </p:txBody>
      </p:sp>
      <p:sp>
        <p:nvSpPr>
          <p:cNvPr id="5" name="Text 2"/>
          <p:cNvSpPr/>
          <p:nvPr/>
        </p:nvSpPr>
        <p:spPr>
          <a:xfrm>
            <a:off x="566928" y="128016"/>
            <a:ext cx="11055096" cy="274320"/>
          </a:xfrm>
          <a:prstGeom prst="rect">
            <a:avLst/>
          </a:prstGeom>
          <a:noFill/>
          <a:ln/>
        </p:spPr>
        <p:txBody>
          <a:bodyPr wrap="square" lIns="0" tIns="0" rIns="0" bIns="0" rtlCol="0" anchor="ctr"/>
          <a:lstStyle/>
          <a:p>
            <a:pPr indent="0" marL="0">
              <a:buNone/>
            </a:pPr>
            <a:r>
              <a:rPr lang="en-US" sz="1200" b="1" spc="200" kern="0" dirty="0">
                <a:solidFill>
                  <a:srgbClr val="2A9D8F"/>
                </a:solidFill>
                <a:latin typeface="Inter" pitchFamily="34" charset="0"/>
                <a:ea typeface="Inter" pitchFamily="34" charset="-122"/>
                <a:cs typeface="Inter" pitchFamily="34" charset="-120"/>
              </a:rPr>
              <a:t>EVIDENCE PIECE ONE</a:t>
            </a:r>
            <a:endParaRPr lang="en-US" sz="1200" dirty="0"/>
          </a:p>
        </p:txBody>
      </p:sp>
      <p:sp>
        <p:nvSpPr>
          <p:cNvPr id="6" name="Text 3"/>
          <p:cNvSpPr/>
          <p:nvPr/>
        </p:nvSpPr>
        <p:spPr>
          <a:xfrm>
            <a:off x="548640" y="384048"/>
            <a:ext cx="11091672" cy="777240"/>
          </a:xfrm>
          <a:prstGeom prst="rect">
            <a:avLst/>
          </a:prstGeom>
          <a:noFill/>
          <a:ln/>
        </p:spPr>
        <p:txBody>
          <a:bodyPr wrap="square" lIns="0" tIns="0" rIns="0" bIns="0" rtlCol="0" anchor="ctr"/>
          <a:lstStyle/>
          <a:p>
            <a:pPr indent="0" marL="0">
              <a:buNone/>
            </a:pPr>
            <a:r>
              <a:rPr lang="en-US" sz="3200" b="1" dirty="0">
                <a:solidFill>
                  <a:srgbClr val="13293D"/>
                </a:solidFill>
                <a:latin typeface="Inter" pitchFamily="34" charset="0"/>
                <a:ea typeface="Inter" pitchFamily="34" charset="-122"/>
                <a:cs typeface="Inter" pitchFamily="34" charset="-120"/>
              </a:rPr>
              <a:t>Formative assessment works</a:t>
            </a:r>
            <a:endParaRPr lang="en-US" sz="3200" dirty="0"/>
          </a:p>
        </p:txBody>
      </p:sp>
      <p:sp>
        <p:nvSpPr>
          <p:cNvPr id="7" name="Shape 4"/>
          <p:cNvSpPr/>
          <p:nvPr/>
        </p:nvSpPr>
        <p:spPr>
          <a:xfrm>
            <a:off x="640080" y="1645920"/>
            <a:ext cx="10972800" cy="2194560"/>
          </a:xfrm>
          <a:prstGeom prst="roundRect">
            <a:avLst>
              <a:gd name="adj" fmla="val 3750"/>
            </a:avLst>
          </a:prstGeom>
          <a:solidFill>
            <a:srgbClr val="F7F5F0"/>
          </a:solidFill>
          <a:ln w="12700">
            <a:solidFill>
              <a:srgbClr val="F7F5F0"/>
            </a:solidFill>
            <a:prstDash val="solid"/>
          </a:ln>
        </p:spPr>
      </p:sp>
      <p:sp>
        <p:nvSpPr>
          <p:cNvPr id="8" name="Text 5"/>
          <p:cNvSpPr/>
          <p:nvPr/>
        </p:nvSpPr>
        <p:spPr>
          <a:xfrm>
            <a:off x="640080" y="1828800"/>
            <a:ext cx="10972800" cy="914400"/>
          </a:xfrm>
          <a:prstGeom prst="rect">
            <a:avLst/>
          </a:prstGeom>
          <a:noFill/>
          <a:ln/>
        </p:spPr>
        <p:txBody>
          <a:bodyPr wrap="square" lIns="0" tIns="0" rIns="0" bIns="0" rtlCol="0" anchor="ctr"/>
          <a:lstStyle/>
          <a:p>
            <a:pPr algn="ctr" indent="0" marL="0">
              <a:buNone/>
            </a:pPr>
            <a:r>
              <a:rPr lang="en-US" sz="4800" b="1" dirty="0">
                <a:solidFill>
                  <a:srgbClr val="2A9D8F"/>
                </a:solidFill>
                <a:latin typeface="Inter" pitchFamily="34" charset="0"/>
                <a:ea typeface="Inter" pitchFamily="34" charset="-122"/>
                <a:cs typeface="Inter" pitchFamily="34" charset="-120"/>
              </a:rPr>
              <a:t>~250 studies</a:t>
            </a:r>
            <a:endParaRPr lang="en-US" sz="4800" dirty="0"/>
          </a:p>
        </p:txBody>
      </p:sp>
      <p:sp>
        <p:nvSpPr>
          <p:cNvPr id="9" name="Text 6"/>
          <p:cNvSpPr/>
          <p:nvPr/>
        </p:nvSpPr>
        <p:spPr>
          <a:xfrm>
            <a:off x="1280160" y="2834640"/>
            <a:ext cx="9601200" cy="822960"/>
          </a:xfrm>
          <a:prstGeom prst="rect">
            <a:avLst/>
          </a:prstGeom>
          <a:noFill/>
          <a:ln/>
        </p:spPr>
        <p:txBody>
          <a:bodyPr wrap="square" lIns="0" tIns="0" rIns="0" bIns="0" rtlCol="0" anchor="ctr"/>
          <a:lstStyle/>
          <a:p>
            <a:pPr algn="ctr" indent="0" marL="0">
              <a:buNone/>
            </a:pPr>
            <a:r>
              <a:rPr lang="en-US" sz="1700" dirty="0">
                <a:solidFill>
                  <a:srgbClr val="1B1F24"/>
                </a:solidFill>
                <a:latin typeface="Inter" pitchFamily="34" charset="0"/>
                <a:ea typeface="Inter" pitchFamily="34" charset="-122"/>
                <a:cs typeface="Inter" pitchFamily="34" charset="-120"/>
              </a:rPr>
              <a:t>behind Black &amp; Wiliam’s “Inside the Black Box”: checking understanding as you go, and adapting, raises achievement.</a:t>
            </a:r>
            <a:endParaRPr lang="en-US" sz="1700" dirty="0"/>
          </a:p>
        </p:txBody>
      </p:sp>
      <p:sp>
        <p:nvSpPr>
          <p:cNvPr id="10" name="Text 7"/>
          <p:cNvSpPr/>
          <p:nvPr/>
        </p:nvSpPr>
        <p:spPr>
          <a:xfrm>
            <a:off x="640080" y="4114800"/>
            <a:ext cx="10908792" cy="1645920"/>
          </a:xfrm>
          <a:prstGeom prst="rect">
            <a:avLst/>
          </a:prstGeom>
          <a:noFill/>
          <a:ln/>
        </p:spPr>
        <p:txBody>
          <a:bodyPr wrap="square" rtlCol="0" anchor="t"/>
          <a:lstStyle/>
          <a:p>
            <a:pPr marL="342900" indent="-342900">
              <a:spcAft>
                <a:spcPts val="1000"/>
              </a:spcAft>
              <a:buSzPct val="100000"/>
              <a:buChar char="•"/>
            </a:pPr>
            <a:r>
              <a:rPr lang="en-US" sz="2000" dirty="0">
                <a:solidFill>
                  <a:srgbClr val="1B1F24"/>
                </a:solidFill>
                <a:latin typeface="Inter" pitchFamily="34" charset="0"/>
                <a:ea typeface="Inter" pitchFamily="34" charset="-122"/>
                <a:cs typeface="Inter" pitchFamily="34" charset="-120"/>
              </a:rPr>
              <a:t>The catch for your workload: day-by-day checks need more questions, more often</a:t>
            </a:r>
            <a:endParaRPr lang="en-US" sz="2000" dirty="0"/>
          </a:p>
          <a:p>
            <a:pPr marL="342900" indent="-342900">
              <a:spcAft>
                <a:spcPts val="1000"/>
              </a:spcAft>
              <a:buSzPct val="100000"/>
              <a:buChar char="•"/>
            </a:pPr>
            <a:r>
              <a:rPr lang="en-US" sz="2000" b="1" dirty="0">
                <a:solidFill>
                  <a:srgbClr val="13293D"/>
                </a:solidFill>
                <a:latin typeface="Inter" pitchFamily="34" charset="0"/>
                <a:ea typeface="Inter" pitchFamily="34" charset="-122"/>
                <a:cs typeface="Inter" pitchFamily="34" charset="-120"/>
              </a:rPr>
              <a:t>Formative assessment is partly a materials problem, and drafting materials is what AI is fast at</a:t>
            </a:r>
            <a:endParaRPr lang="en-US" sz="2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11480" y="6473952"/>
            <a:ext cx="237744" cy="219456"/>
          </a:xfrm>
          <a:prstGeom prst="rect">
            <a:avLst/>
          </a:prstGeom>
        </p:spPr>
      </p:pic>
      <p:sp>
        <p:nvSpPr>
          <p:cNvPr id="3" name="Text 0"/>
          <p:cNvSpPr/>
          <p:nvPr/>
        </p:nvSpPr>
        <p:spPr>
          <a:xfrm>
            <a:off x="685800" y="6428232"/>
            <a:ext cx="2011680" cy="292608"/>
          </a:xfrm>
          <a:prstGeom prst="rect">
            <a:avLst/>
          </a:prstGeom>
          <a:noFill/>
          <a:ln/>
        </p:spPr>
        <p:txBody>
          <a:bodyPr wrap="square" lIns="0" tIns="0" rIns="0" bIns="0" rtlCol="0" anchor="ctr"/>
          <a:lstStyle/>
          <a:p>
            <a:pPr indent="0" marL="0">
              <a:buNone/>
            </a:pPr>
            <a:r>
              <a:rPr lang="en-US" sz="1000" b="1" dirty="0">
                <a:solidFill>
                  <a:srgbClr val="2A9D8F"/>
                </a:solidFill>
                <a:latin typeface="Inter" pitchFamily="34" charset="0"/>
                <a:ea typeface="Inter" pitchFamily="34" charset="-122"/>
                <a:cs typeface="Inter" pitchFamily="34" charset="-120"/>
              </a:rPr>
              <a:t>AI-Ready</a:t>
            </a:r>
            <a:pPr indent="0" marL="0">
              <a:buNone/>
            </a:pPr>
            <a:r>
              <a:rPr lang="en-US" sz="1000" b="1" dirty="0">
                <a:solidFill>
                  <a:srgbClr val="13293D"/>
                </a:solidFill>
                <a:latin typeface="Inter" pitchFamily="34" charset="0"/>
                <a:ea typeface="Inter" pitchFamily="34" charset="-122"/>
                <a:cs typeface="Inter" pitchFamily="34" charset="-120"/>
              </a:rPr>
              <a:t> School</a:t>
            </a:r>
            <a:endParaRPr lang="en-US" sz="1000" dirty="0"/>
          </a:p>
        </p:txBody>
      </p:sp>
      <p:sp>
        <p:nvSpPr>
          <p:cNvPr id="4" name="Text 1"/>
          <p:cNvSpPr/>
          <p:nvPr/>
        </p:nvSpPr>
        <p:spPr>
          <a:xfrm>
            <a:off x="8897112" y="6428232"/>
            <a:ext cx="2880360" cy="292608"/>
          </a:xfrm>
          <a:prstGeom prst="rect">
            <a:avLst/>
          </a:prstGeom>
          <a:noFill/>
          <a:ln/>
        </p:spPr>
        <p:txBody>
          <a:bodyPr wrap="square" lIns="0" tIns="0" rIns="0" bIns="0" rtlCol="0" anchor="ctr"/>
          <a:lstStyle/>
          <a:p>
            <a:pPr algn="r" indent="0" marL="0">
              <a:buNone/>
            </a:pPr>
            <a:r>
              <a:rPr lang="en-US" sz="900" dirty="0">
                <a:solidFill>
                  <a:srgbClr val="5B6B7A"/>
                </a:solidFill>
                <a:latin typeface="Inter" pitchFamily="34" charset="0"/>
                <a:ea typeface="Inter" pitchFamily="34" charset="-122"/>
                <a:cs typeface="Inter" pitchFamily="34" charset="-120"/>
              </a:rPr>
              <a:t>Kit 4 · AI for Assessment   |   6</a:t>
            </a:r>
            <a:endParaRPr lang="en-US" sz="900" dirty="0"/>
          </a:p>
        </p:txBody>
      </p:sp>
      <p:sp>
        <p:nvSpPr>
          <p:cNvPr id="5" name="Text 2"/>
          <p:cNvSpPr/>
          <p:nvPr/>
        </p:nvSpPr>
        <p:spPr>
          <a:xfrm>
            <a:off x="566928" y="128016"/>
            <a:ext cx="11055096" cy="274320"/>
          </a:xfrm>
          <a:prstGeom prst="rect">
            <a:avLst/>
          </a:prstGeom>
          <a:noFill/>
          <a:ln/>
        </p:spPr>
        <p:txBody>
          <a:bodyPr wrap="square" lIns="0" tIns="0" rIns="0" bIns="0" rtlCol="0" anchor="ctr"/>
          <a:lstStyle/>
          <a:p>
            <a:pPr indent="0" marL="0">
              <a:buNone/>
            </a:pPr>
            <a:r>
              <a:rPr lang="en-US" sz="1200" b="1" spc="200" kern="0" dirty="0">
                <a:solidFill>
                  <a:srgbClr val="2A9D8F"/>
                </a:solidFill>
                <a:latin typeface="Inter" pitchFamily="34" charset="0"/>
                <a:ea typeface="Inter" pitchFamily="34" charset="-122"/>
                <a:cs typeface="Inter" pitchFamily="34" charset="-120"/>
              </a:rPr>
              <a:t>EVIDENCE PIECE TWO</a:t>
            </a:r>
            <a:endParaRPr lang="en-US" sz="1200" dirty="0"/>
          </a:p>
        </p:txBody>
      </p:sp>
      <p:sp>
        <p:nvSpPr>
          <p:cNvPr id="6" name="Text 3"/>
          <p:cNvSpPr/>
          <p:nvPr/>
        </p:nvSpPr>
        <p:spPr>
          <a:xfrm>
            <a:off x="548640" y="384048"/>
            <a:ext cx="11091672" cy="777240"/>
          </a:xfrm>
          <a:prstGeom prst="rect">
            <a:avLst/>
          </a:prstGeom>
          <a:noFill/>
          <a:ln/>
        </p:spPr>
        <p:txBody>
          <a:bodyPr wrap="square" lIns="0" tIns="0" rIns="0" bIns="0" rtlCol="0" anchor="ctr"/>
          <a:lstStyle/>
          <a:p>
            <a:pPr indent="0" marL="0">
              <a:buNone/>
            </a:pPr>
            <a:r>
              <a:rPr lang="en-US" sz="3200" b="1" dirty="0">
                <a:solidFill>
                  <a:srgbClr val="13293D"/>
                </a:solidFill>
                <a:latin typeface="Inter" pitchFamily="34" charset="0"/>
                <a:ea typeface="Inter" pitchFamily="34" charset="-122"/>
                <a:cs typeface="Inter" pitchFamily="34" charset="-120"/>
              </a:rPr>
              <a:t>Rubrics aren’t paperwork</a:t>
            </a:r>
            <a:endParaRPr lang="en-US" sz="3200" dirty="0"/>
          </a:p>
        </p:txBody>
      </p:sp>
      <p:sp>
        <p:nvSpPr>
          <p:cNvPr id="7" name="Text 4"/>
          <p:cNvSpPr/>
          <p:nvPr/>
        </p:nvSpPr>
        <p:spPr>
          <a:xfrm>
            <a:off x="640080" y="1463040"/>
            <a:ext cx="10908792" cy="2468880"/>
          </a:xfrm>
          <a:prstGeom prst="rect">
            <a:avLst/>
          </a:prstGeom>
          <a:noFill/>
          <a:ln/>
        </p:spPr>
        <p:txBody>
          <a:bodyPr wrap="square" rtlCol="0" anchor="t"/>
          <a:lstStyle/>
          <a:p>
            <a:pPr marL="342900" indent="-342900">
              <a:spcAft>
                <a:spcPts val="1000"/>
              </a:spcAft>
              <a:buSzPct val="100000"/>
              <a:buChar char="•"/>
            </a:pPr>
            <a:r>
              <a:rPr lang="en-US" sz="2100" dirty="0">
                <a:solidFill>
                  <a:srgbClr val="1B1F24"/>
                </a:solidFill>
                <a:latin typeface="Inter" pitchFamily="34" charset="0"/>
                <a:ea typeface="Inter" pitchFamily="34" charset="-122"/>
                <a:cs typeface="Inter" pitchFamily="34" charset="-120"/>
              </a:rPr>
              <a:t>2023 meta-analysis (Panadero et al.): rubric use has a positive, moderate effect on performance</a:t>
            </a:r>
            <a:endParaRPr lang="en-US" sz="2100" dirty="0"/>
          </a:p>
          <a:p>
            <a:pPr marL="342900" indent="-342900">
              <a:spcAft>
                <a:spcPts val="1000"/>
              </a:spcAft>
              <a:buSzPct val="100000"/>
              <a:buChar char="•"/>
            </a:pPr>
            <a:r>
              <a:rPr lang="en-US" sz="2100" dirty="0">
                <a:solidFill>
                  <a:srgbClr val="1B1F24"/>
                </a:solidFill>
                <a:latin typeface="Inter" pitchFamily="34" charset="0"/>
                <a:ea typeface="Inter" pitchFamily="34" charset="-122"/>
                <a:cs typeface="Inter" pitchFamily="34" charset="-120"/>
              </a:rPr>
              <a:t>Same finding for self-regulated learning and self-efficacy</a:t>
            </a:r>
            <a:endParaRPr lang="en-US" sz="2100" dirty="0"/>
          </a:p>
          <a:p>
            <a:pPr marL="342900" indent="-342900">
              <a:spcAft>
                <a:spcPts val="1000"/>
              </a:spcAft>
              <a:buSzPct val="100000"/>
              <a:buChar char="•"/>
            </a:pPr>
            <a:r>
              <a:rPr lang="en-US" sz="2100" dirty="0">
                <a:solidFill>
                  <a:srgbClr val="1B1F24"/>
                </a:solidFill>
                <a:latin typeface="Inter" pitchFamily="34" charset="0"/>
                <a:ea typeface="Inter" pitchFamily="34" charset="-122"/>
                <a:cs typeface="Inter" pitchFamily="34" charset="-120"/>
              </a:rPr>
              <a:t>When students can see the target, they aim at it, and start coaching themselves toward it</a:t>
            </a:r>
            <a:endParaRPr lang="en-US" sz="2100" dirty="0"/>
          </a:p>
        </p:txBody>
      </p:sp>
      <p:sp>
        <p:nvSpPr>
          <p:cNvPr id="8" name="Shape 5"/>
          <p:cNvSpPr/>
          <p:nvPr/>
        </p:nvSpPr>
        <p:spPr>
          <a:xfrm>
            <a:off x="640080" y="4114800"/>
            <a:ext cx="10972800" cy="1463040"/>
          </a:xfrm>
          <a:prstGeom prst="roundRect">
            <a:avLst>
              <a:gd name="adj" fmla="val 5625"/>
            </a:avLst>
          </a:prstGeom>
          <a:solidFill>
            <a:srgbClr val="EAF5F3"/>
          </a:solidFill>
          <a:ln w="12700">
            <a:solidFill>
              <a:srgbClr val="EAF5F3"/>
            </a:solidFill>
            <a:prstDash val="solid"/>
          </a:ln>
        </p:spPr>
      </p:sp>
      <p:sp>
        <p:nvSpPr>
          <p:cNvPr id="9" name="Text 6"/>
          <p:cNvSpPr/>
          <p:nvPr/>
        </p:nvSpPr>
        <p:spPr>
          <a:xfrm>
            <a:off x="960120" y="4297680"/>
            <a:ext cx="10332720" cy="1097280"/>
          </a:xfrm>
          <a:prstGeom prst="rect">
            <a:avLst/>
          </a:prstGeom>
          <a:noFill/>
          <a:ln/>
        </p:spPr>
        <p:txBody>
          <a:bodyPr wrap="square" lIns="0" tIns="0" rIns="0" bIns="0" rtlCol="0" anchor="ctr"/>
          <a:lstStyle/>
          <a:p>
            <a:pPr indent="0" marL="0">
              <a:buNone/>
            </a:pPr>
            <a:r>
              <a:rPr lang="en-US" sz="2400" b="1" dirty="0">
                <a:solidFill>
                  <a:srgbClr val="13293D"/>
                </a:solidFill>
                <a:latin typeface="Inter" pitchFamily="34" charset="0"/>
                <a:ea typeface="Inter" pitchFamily="34" charset="-122"/>
                <a:cs typeface="Inter" pitchFamily="34" charset="-120"/>
              </a:rPr>
              <a:t>A good rubric quietly does some of your teaching for you, if students can read it.</a:t>
            </a:r>
            <a:endParaRPr lang="en-US" sz="2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11480" y="6473952"/>
            <a:ext cx="237744" cy="219456"/>
          </a:xfrm>
          <a:prstGeom prst="rect">
            <a:avLst/>
          </a:prstGeom>
        </p:spPr>
      </p:pic>
      <p:sp>
        <p:nvSpPr>
          <p:cNvPr id="3" name="Text 0"/>
          <p:cNvSpPr/>
          <p:nvPr/>
        </p:nvSpPr>
        <p:spPr>
          <a:xfrm>
            <a:off x="685800" y="6428232"/>
            <a:ext cx="2011680" cy="292608"/>
          </a:xfrm>
          <a:prstGeom prst="rect">
            <a:avLst/>
          </a:prstGeom>
          <a:noFill/>
          <a:ln/>
        </p:spPr>
        <p:txBody>
          <a:bodyPr wrap="square" lIns="0" tIns="0" rIns="0" bIns="0" rtlCol="0" anchor="ctr"/>
          <a:lstStyle/>
          <a:p>
            <a:pPr indent="0" marL="0">
              <a:buNone/>
            </a:pPr>
            <a:r>
              <a:rPr lang="en-US" sz="1000" b="1" dirty="0">
                <a:solidFill>
                  <a:srgbClr val="2A9D8F"/>
                </a:solidFill>
                <a:latin typeface="Inter" pitchFamily="34" charset="0"/>
                <a:ea typeface="Inter" pitchFamily="34" charset="-122"/>
                <a:cs typeface="Inter" pitchFamily="34" charset="-120"/>
              </a:rPr>
              <a:t>AI-Ready</a:t>
            </a:r>
            <a:pPr indent="0" marL="0">
              <a:buNone/>
            </a:pPr>
            <a:r>
              <a:rPr lang="en-US" sz="1000" b="1" dirty="0">
                <a:solidFill>
                  <a:srgbClr val="13293D"/>
                </a:solidFill>
                <a:latin typeface="Inter" pitchFamily="34" charset="0"/>
                <a:ea typeface="Inter" pitchFamily="34" charset="-122"/>
                <a:cs typeface="Inter" pitchFamily="34" charset="-120"/>
              </a:rPr>
              <a:t> School</a:t>
            </a:r>
            <a:endParaRPr lang="en-US" sz="1000" dirty="0"/>
          </a:p>
        </p:txBody>
      </p:sp>
      <p:sp>
        <p:nvSpPr>
          <p:cNvPr id="4" name="Text 1"/>
          <p:cNvSpPr/>
          <p:nvPr/>
        </p:nvSpPr>
        <p:spPr>
          <a:xfrm>
            <a:off x="8897112" y="6428232"/>
            <a:ext cx="2880360" cy="292608"/>
          </a:xfrm>
          <a:prstGeom prst="rect">
            <a:avLst/>
          </a:prstGeom>
          <a:noFill/>
          <a:ln/>
        </p:spPr>
        <p:txBody>
          <a:bodyPr wrap="square" lIns="0" tIns="0" rIns="0" bIns="0" rtlCol="0" anchor="ctr"/>
          <a:lstStyle/>
          <a:p>
            <a:pPr algn="r" indent="0" marL="0">
              <a:buNone/>
            </a:pPr>
            <a:r>
              <a:rPr lang="en-US" sz="900" dirty="0">
                <a:solidFill>
                  <a:srgbClr val="5B6B7A"/>
                </a:solidFill>
                <a:latin typeface="Inter" pitchFamily="34" charset="0"/>
                <a:ea typeface="Inter" pitchFamily="34" charset="-122"/>
                <a:cs typeface="Inter" pitchFamily="34" charset="-120"/>
              </a:rPr>
              <a:t>Kit 4 · AI for Assessment   |   7</a:t>
            </a:r>
            <a:endParaRPr lang="en-US" sz="900" dirty="0"/>
          </a:p>
        </p:txBody>
      </p:sp>
      <p:sp>
        <p:nvSpPr>
          <p:cNvPr id="5" name="Text 2"/>
          <p:cNvSpPr/>
          <p:nvPr/>
        </p:nvSpPr>
        <p:spPr>
          <a:xfrm>
            <a:off x="566928" y="128016"/>
            <a:ext cx="11055096" cy="274320"/>
          </a:xfrm>
          <a:prstGeom prst="rect">
            <a:avLst/>
          </a:prstGeom>
          <a:noFill/>
          <a:ln/>
        </p:spPr>
        <p:txBody>
          <a:bodyPr wrap="square" lIns="0" tIns="0" rIns="0" bIns="0" rtlCol="0" anchor="ctr"/>
          <a:lstStyle/>
          <a:p>
            <a:pPr indent="0" marL="0">
              <a:buNone/>
            </a:pPr>
            <a:r>
              <a:rPr lang="en-US" sz="1200" b="1" spc="200" kern="0" dirty="0">
                <a:solidFill>
                  <a:srgbClr val="2A9D8F"/>
                </a:solidFill>
                <a:latin typeface="Inter" pitchFamily="34" charset="0"/>
                <a:ea typeface="Inter" pitchFamily="34" charset="-122"/>
                <a:cs typeface="Inter" pitchFamily="34" charset="-120"/>
              </a:rPr>
              <a:t>EVIDENCE PIECE THREE · PROFESSIONAL JUDGMENT</a:t>
            </a:r>
            <a:endParaRPr lang="en-US" sz="1200" dirty="0"/>
          </a:p>
        </p:txBody>
      </p:sp>
      <p:sp>
        <p:nvSpPr>
          <p:cNvPr id="6" name="Text 3"/>
          <p:cNvSpPr/>
          <p:nvPr/>
        </p:nvSpPr>
        <p:spPr>
          <a:xfrm>
            <a:off x="548640" y="384048"/>
            <a:ext cx="11091672" cy="777240"/>
          </a:xfrm>
          <a:prstGeom prst="rect">
            <a:avLst/>
          </a:prstGeom>
          <a:noFill/>
          <a:ln/>
        </p:spPr>
        <p:txBody>
          <a:bodyPr wrap="square" lIns="0" tIns="0" rIns="0" bIns="0" rtlCol="0" anchor="ctr"/>
          <a:lstStyle/>
          <a:p>
            <a:pPr indent="0" marL="0">
              <a:buNone/>
            </a:pPr>
            <a:r>
              <a:rPr lang="en-US" sz="3200" b="1" dirty="0">
                <a:solidFill>
                  <a:srgbClr val="13293D"/>
                </a:solidFill>
                <a:latin typeface="Inter" pitchFamily="34" charset="0"/>
                <a:ea typeface="Inter" pitchFamily="34" charset="-122"/>
                <a:cs typeface="Inter" pitchFamily="34" charset="-120"/>
              </a:rPr>
              <a:t>Question quality beats question quantity</a:t>
            </a:r>
            <a:endParaRPr lang="en-US" sz="3200" dirty="0"/>
          </a:p>
        </p:txBody>
      </p:sp>
      <p:sp>
        <p:nvSpPr>
          <p:cNvPr id="7" name="Text 4"/>
          <p:cNvSpPr/>
          <p:nvPr/>
        </p:nvSpPr>
        <p:spPr>
          <a:xfrm>
            <a:off x="640080" y="1463040"/>
            <a:ext cx="10908792" cy="2468880"/>
          </a:xfrm>
          <a:prstGeom prst="rect">
            <a:avLst/>
          </a:prstGeom>
          <a:noFill/>
          <a:ln/>
        </p:spPr>
        <p:txBody>
          <a:bodyPr wrap="square" rtlCol="0" anchor="t"/>
          <a:lstStyle/>
          <a:p>
            <a:pPr marL="342900" indent="-342900">
              <a:spcAft>
                <a:spcPts val="1000"/>
              </a:spcAft>
              <a:buSzPct val="100000"/>
              <a:buChar char="•"/>
            </a:pPr>
            <a:r>
              <a:rPr lang="en-US" sz="2100" dirty="0">
                <a:solidFill>
                  <a:srgbClr val="1B1F24"/>
                </a:solidFill>
                <a:latin typeface="Inter" pitchFamily="34" charset="0"/>
                <a:ea typeface="Inter" pitchFamily="34" charset="-122"/>
                <a:cs typeface="Inter" pitchFamily="34" charset="-120"/>
              </a:rPr>
              <a:t>A sharp question does diagnostic work</a:t>
            </a:r>
            <a:endParaRPr lang="en-US" sz="2100" dirty="0"/>
          </a:p>
          <a:p>
            <a:pPr marL="342900" indent="-342900">
              <a:spcAft>
                <a:spcPts val="1000"/>
              </a:spcAft>
              <a:buSzPct val="100000"/>
              <a:buChar char="•"/>
            </a:pPr>
            <a:r>
              <a:rPr lang="en-US" sz="2100" dirty="0">
                <a:solidFill>
                  <a:srgbClr val="1B1F24"/>
                </a:solidFill>
                <a:latin typeface="Inter" pitchFamily="34" charset="0"/>
                <a:ea typeface="Inter" pitchFamily="34" charset="-122"/>
                <a:cs typeface="Inter" pitchFamily="34" charset="-120"/>
              </a:rPr>
              <a:t>A distractor built from a real misconception tells you exactly who holds it</a:t>
            </a:r>
            <a:endParaRPr lang="en-US" sz="2100" dirty="0"/>
          </a:p>
          <a:p>
            <a:pPr marL="342900" indent="-342900">
              <a:spcAft>
                <a:spcPts val="1000"/>
              </a:spcAft>
              <a:buSzPct val="100000"/>
              <a:buChar char="•"/>
            </a:pPr>
            <a:r>
              <a:rPr lang="en-US" sz="2100" dirty="0">
                <a:solidFill>
                  <a:srgbClr val="1B1F24"/>
                </a:solidFill>
                <a:latin typeface="Inter" pitchFamily="34" charset="0"/>
                <a:ea typeface="Inter" pitchFamily="34" charset="-122"/>
                <a:cs typeface="Inter" pitchFamily="34" charset="-120"/>
              </a:rPr>
              <a:t>Five sharp questions beat twenty fillers; we settle for filler because writing sharp is slow</a:t>
            </a:r>
            <a:endParaRPr lang="en-US" sz="2100" dirty="0"/>
          </a:p>
        </p:txBody>
      </p:sp>
      <p:sp>
        <p:nvSpPr>
          <p:cNvPr id="8" name="Shape 5"/>
          <p:cNvSpPr/>
          <p:nvPr/>
        </p:nvSpPr>
        <p:spPr>
          <a:xfrm>
            <a:off x="640080" y="4114800"/>
            <a:ext cx="10972800" cy="1463040"/>
          </a:xfrm>
          <a:prstGeom prst="roundRect">
            <a:avLst>
              <a:gd name="adj" fmla="val 5625"/>
            </a:avLst>
          </a:prstGeom>
          <a:solidFill>
            <a:srgbClr val="F7F5F0"/>
          </a:solidFill>
          <a:ln w="12700">
            <a:solidFill>
              <a:srgbClr val="F7F5F0"/>
            </a:solidFill>
            <a:prstDash val="solid"/>
          </a:ln>
        </p:spPr>
      </p:sp>
      <p:sp>
        <p:nvSpPr>
          <p:cNvPr id="9" name="Text 6"/>
          <p:cNvSpPr/>
          <p:nvPr/>
        </p:nvSpPr>
        <p:spPr>
          <a:xfrm>
            <a:off x="960120" y="4297680"/>
            <a:ext cx="10332720" cy="1097280"/>
          </a:xfrm>
          <a:prstGeom prst="rect">
            <a:avLst/>
          </a:prstGeom>
          <a:noFill/>
          <a:ln/>
        </p:spPr>
        <p:txBody>
          <a:bodyPr wrap="square" lIns="0" tIns="0" rIns="0" bIns="0" rtlCol="0" anchor="ctr"/>
          <a:lstStyle/>
          <a:p>
            <a:pPr indent="0" marL="0">
              <a:buNone/>
            </a:pPr>
            <a:r>
              <a:rPr lang="en-US" sz="2600" b="1" dirty="0">
                <a:solidFill>
                  <a:srgbClr val="13293D"/>
                </a:solidFill>
                <a:latin typeface="Inter" pitchFamily="34" charset="0"/>
                <a:ea typeface="Inter" pitchFamily="34" charset="-122"/>
                <a:cs typeface="Inter" pitchFamily="34" charset="-120"/>
              </a:rPr>
              <a:t>Drafting speed is what makes quality affordable.</a:t>
            </a:r>
            <a:endParaRPr lang="en-US" sz="2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11480" y="6473952"/>
            <a:ext cx="237744" cy="219456"/>
          </a:xfrm>
          <a:prstGeom prst="rect">
            <a:avLst/>
          </a:prstGeom>
        </p:spPr>
      </p:pic>
      <p:sp>
        <p:nvSpPr>
          <p:cNvPr id="3" name="Text 0"/>
          <p:cNvSpPr/>
          <p:nvPr/>
        </p:nvSpPr>
        <p:spPr>
          <a:xfrm>
            <a:off x="685800" y="6428232"/>
            <a:ext cx="2011680" cy="292608"/>
          </a:xfrm>
          <a:prstGeom prst="rect">
            <a:avLst/>
          </a:prstGeom>
          <a:noFill/>
          <a:ln/>
        </p:spPr>
        <p:txBody>
          <a:bodyPr wrap="square" lIns="0" tIns="0" rIns="0" bIns="0" rtlCol="0" anchor="ctr"/>
          <a:lstStyle/>
          <a:p>
            <a:pPr indent="0" marL="0">
              <a:buNone/>
            </a:pPr>
            <a:r>
              <a:rPr lang="en-US" sz="1000" b="1" dirty="0">
                <a:solidFill>
                  <a:srgbClr val="2A9D8F"/>
                </a:solidFill>
                <a:latin typeface="Inter" pitchFamily="34" charset="0"/>
                <a:ea typeface="Inter" pitchFamily="34" charset="-122"/>
                <a:cs typeface="Inter" pitchFamily="34" charset="-120"/>
              </a:rPr>
              <a:t>AI-Ready</a:t>
            </a:r>
            <a:pPr indent="0" marL="0">
              <a:buNone/>
            </a:pPr>
            <a:r>
              <a:rPr lang="en-US" sz="1000" b="1" dirty="0">
                <a:solidFill>
                  <a:srgbClr val="13293D"/>
                </a:solidFill>
                <a:latin typeface="Inter" pitchFamily="34" charset="0"/>
                <a:ea typeface="Inter" pitchFamily="34" charset="-122"/>
                <a:cs typeface="Inter" pitchFamily="34" charset="-120"/>
              </a:rPr>
              <a:t> School</a:t>
            </a:r>
            <a:endParaRPr lang="en-US" sz="1000" dirty="0"/>
          </a:p>
        </p:txBody>
      </p:sp>
      <p:sp>
        <p:nvSpPr>
          <p:cNvPr id="4" name="Text 1"/>
          <p:cNvSpPr/>
          <p:nvPr/>
        </p:nvSpPr>
        <p:spPr>
          <a:xfrm>
            <a:off x="8897112" y="6428232"/>
            <a:ext cx="2880360" cy="292608"/>
          </a:xfrm>
          <a:prstGeom prst="rect">
            <a:avLst/>
          </a:prstGeom>
          <a:noFill/>
          <a:ln/>
        </p:spPr>
        <p:txBody>
          <a:bodyPr wrap="square" lIns="0" tIns="0" rIns="0" bIns="0" rtlCol="0" anchor="ctr"/>
          <a:lstStyle/>
          <a:p>
            <a:pPr algn="r" indent="0" marL="0">
              <a:buNone/>
            </a:pPr>
            <a:r>
              <a:rPr lang="en-US" sz="900" dirty="0">
                <a:solidFill>
                  <a:srgbClr val="5B6B7A"/>
                </a:solidFill>
                <a:latin typeface="Inter" pitchFamily="34" charset="0"/>
                <a:ea typeface="Inter" pitchFamily="34" charset="-122"/>
                <a:cs typeface="Inter" pitchFamily="34" charset="-120"/>
              </a:rPr>
              <a:t>Kit 4 · AI for Assessment   |   8</a:t>
            </a:r>
            <a:endParaRPr lang="en-US" sz="900" dirty="0"/>
          </a:p>
        </p:txBody>
      </p:sp>
      <p:sp>
        <p:nvSpPr>
          <p:cNvPr id="5" name="Text 2"/>
          <p:cNvSpPr/>
          <p:nvPr/>
        </p:nvSpPr>
        <p:spPr>
          <a:xfrm>
            <a:off x="566928" y="128016"/>
            <a:ext cx="11055096" cy="274320"/>
          </a:xfrm>
          <a:prstGeom prst="rect">
            <a:avLst/>
          </a:prstGeom>
          <a:noFill/>
          <a:ln/>
        </p:spPr>
        <p:txBody>
          <a:bodyPr wrap="square" lIns="0" tIns="0" rIns="0" bIns="0" rtlCol="0" anchor="ctr"/>
          <a:lstStyle/>
          <a:p>
            <a:pPr indent="0" marL="0">
              <a:buNone/>
            </a:pPr>
            <a:r>
              <a:rPr lang="en-US" sz="1200" b="1" spc="200" kern="0" dirty="0">
                <a:solidFill>
                  <a:srgbClr val="2A9D8F"/>
                </a:solidFill>
                <a:latin typeface="Inter" pitchFamily="34" charset="0"/>
                <a:ea typeface="Inter" pitchFamily="34" charset="-122"/>
                <a:cs typeface="Inter" pitchFamily="34" charset="-120"/>
              </a:rPr>
              <a:t>TODAY’S WORKING AGREEMENT</a:t>
            </a:r>
            <a:endParaRPr lang="en-US" sz="1200" dirty="0"/>
          </a:p>
        </p:txBody>
      </p:sp>
      <p:sp>
        <p:nvSpPr>
          <p:cNvPr id="6" name="Text 3"/>
          <p:cNvSpPr/>
          <p:nvPr/>
        </p:nvSpPr>
        <p:spPr>
          <a:xfrm>
            <a:off x="548640" y="384048"/>
            <a:ext cx="11091672" cy="777240"/>
          </a:xfrm>
          <a:prstGeom prst="rect">
            <a:avLst/>
          </a:prstGeom>
          <a:noFill/>
          <a:ln/>
        </p:spPr>
        <p:txBody>
          <a:bodyPr wrap="square" lIns="0" tIns="0" rIns="0" bIns="0" rtlCol="0" anchor="ctr"/>
          <a:lstStyle/>
          <a:p>
            <a:pPr indent="0" marL="0">
              <a:buNone/>
            </a:pPr>
            <a:r>
              <a:rPr lang="en-US" sz="3200" b="1" dirty="0">
                <a:solidFill>
                  <a:srgbClr val="13293D"/>
                </a:solidFill>
                <a:latin typeface="Inter" pitchFamily="34" charset="0"/>
                <a:ea typeface="Inter" pitchFamily="34" charset="-122"/>
                <a:cs typeface="Inter" pitchFamily="34" charset="-120"/>
              </a:rPr>
              <a:t>The division of labor</a:t>
            </a:r>
            <a:endParaRPr lang="en-US" sz="3200" dirty="0"/>
          </a:p>
        </p:txBody>
      </p:sp>
      <p:sp>
        <p:nvSpPr>
          <p:cNvPr id="7" name="Shape 4"/>
          <p:cNvSpPr/>
          <p:nvPr/>
        </p:nvSpPr>
        <p:spPr>
          <a:xfrm>
            <a:off x="640080" y="1554480"/>
            <a:ext cx="5394960" cy="3840480"/>
          </a:xfrm>
          <a:prstGeom prst="roundRect">
            <a:avLst>
              <a:gd name="adj" fmla="val 2143"/>
            </a:avLst>
          </a:prstGeom>
          <a:solidFill>
            <a:srgbClr val="EAF5F3"/>
          </a:solidFill>
          <a:ln w="12700">
            <a:solidFill>
              <a:srgbClr val="EAF5F3"/>
            </a:solidFill>
            <a:prstDash val="solid"/>
          </a:ln>
        </p:spPr>
      </p:sp>
      <p:sp>
        <p:nvSpPr>
          <p:cNvPr id="8" name="Text 5"/>
          <p:cNvSpPr/>
          <p:nvPr/>
        </p:nvSpPr>
        <p:spPr>
          <a:xfrm>
            <a:off x="960120" y="1828800"/>
            <a:ext cx="4754880" cy="457200"/>
          </a:xfrm>
          <a:prstGeom prst="rect">
            <a:avLst/>
          </a:prstGeom>
          <a:noFill/>
          <a:ln/>
        </p:spPr>
        <p:txBody>
          <a:bodyPr wrap="square" lIns="0" tIns="0" rIns="0" bIns="0" rtlCol="0" anchor="ctr"/>
          <a:lstStyle/>
          <a:p>
            <a:pPr indent="0" marL="0">
              <a:buNone/>
            </a:pPr>
            <a:r>
              <a:rPr lang="en-US" sz="2100" b="1" dirty="0">
                <a:solidFill>
                  <a:srgbClr val="2E7D5B"/>
                </a:solidFill>
                <a:latin typeface="Inter" pitchFamily="34" charset="0"/>
                <a:ea typeface="Inter" pitchFamily="34" charset="-122"/>
                <a:cs typeface="Inter" pitchFamily="34" charset="-120"/>
              </a:rPr>
              <a:t>AI is fast at…</a:t>
            </a:r>
            <a:endParaRPr lang="en-US" sz="2100" dirty="0"/>
          </a:p>
        </p:txBody>
      </p:sp>
      <p:sp>
        <p:nvSpPr>
          <p:cNvPr id="9" name="Text 6"/>
          <p:cNvSpPr/>
          <p:nvPr/>
        </p:nvSpPr>
        <p:spPr>
          <a:xfrm>
            <a:off x="960120" y="2377440"/>
            <a:ext cx="4754880" cy="2651760"/>
          </a:xfrm>
          <a:prstGeom prst="rect">
            <a:avLst/>
          </a:prstGeom>
          <a:noFill/>
          <a:ln/>
        </p:spPr>
        <p:txBody>
          <a:bodyPr wrap="square" lIns="0" tIns="0" rIns="0" bIns="0" rtlCol="0" anchor="t"/>
          <a:lstStyle/>
          <a:p>
            <a:pPr indent="0" marL="0">
              <a:buNone/>
            </a:pPr>
            <a:r>
              <a:rPr lang="en-US" sz="1800" dirty="0">
                <a:solidFill>
                  <a:srgbClr val="1B1F24"/>
                </a:solidFill>
                <a:latin typeface="Inter" pitchFamily="34" charset="0"/>
                <a:ea typeface="Inter" pitchFamily="34" charset="-122"/>
                <a:cs typeface="Inter" pitchFamily="34" charset="-120"/>
              </a:rPr>
              <a:t>pattern work: rubric descriptors, question stems, distractors, feedback phrasing. Drafts in seconds.</a:t>
            </a:r>
            <a:endParaRPr lang="en-US" sz="1800" dirty="0"/>
          </a:p>
        </p:txBody>
      </p:sp>
      <p:sp>
        <p:nvSpPr>
          <p:cNvPr id="10" name="Shape 7"/>
          <p:cNvSpPr/>
          <p:nvPr/>
        </p:nvSpPr>
        <p:spPr>
          <a:xfrm>
            <a:off x="6263640" y="1554480"/>
            <a:ext cx="5394960" cy="3840480"/>
          </a:xfrm>
          <a:prstGeom prst="roundRect">
            <a:avLst>
              <a:gd name="adj" fmla="val 2143"/>
            </a:avLst>
          </a:prstGeom>
          <a:solidFill>
            <a:srgbClr val="F7F5F0"/>
          </a:solidFill>
          <a:ln w="12700">
            <a:solidFill>
              <a:srgbClr val="F7F5F0"/>
            </a:solidFill>
            <a:prstDash val="solid"/>
          </a:ln>
        </p:spPr>
      </p:sp>
      <p:sp>
        <p:nvSpPr>
          <p:cNvPr id="11" name="Text 8"/>
          <p:cNvSpPr/>
          <p:nvPr/>
        </p:nvSpPr>
        <p:spPr>
          <a:xfrm>
            <a:off x="6583680" y="1828800"/>
            <a:ext cx="4754880" cy="457200"/>
          </a:xfrm>
          <a:prstGeom prst="rect">
            <a:avLst/>
          </a:prstGeom>
          <a:noFill/>
          <a:ln/>
        </p:spPr>
        <p:txBody>
          <a:bodyPr wrap="square" lIns="0" tIns="0" rIns="0" bIns="0" rtlCol="0" anchor="ctr"/>
          <a:lstStyle/>
          <a:p>
            <a:pPr indent="0" marL="0">
              <a:buNone/>
            </a:pPr>
            <a:r>
              <a:rPr lang="en-US" sz="2100" b="1" dirty="0">
                <a:solidFill>
                  <a:srgbClr val="13293D"/>
                </a:solidFill>
                <a:latin typeface="Inter" pitchFamily="34" charset="0"/>
                <a:ea typeface="Inter" pitchFamily="34" charset="-122"/>
                <a:cs typeface="Inter" pitchFamily="34" charset="-120"/>
              </a:rPr>
              <a:t>You are unreplaceable at…</a:t>
            </a:r>
            <a:endParaRPr lang="en-US" sz="2100" dirty="0"/>
          </a:p>
        </p:txBody>
      </p:sp>
      <p:sp>
        <p:nvSpPr>
          <p:cNvPr id="12" name="Text 9"/>
          <p:cNvSpPr/>
          <p:nvPr/>
        </p:nvSpPr>
        <p:spPr>
          <a:xfrm>
            <a:off x="6583680" y="2377440"/>
            <a:ext cx="4754880" cy="2651760"/>
          </a:xfrm>
          <a:prstGeom prst="rect">
            <a:avLst/>
          </a:prstGeom>
          <a:noFill/>
          <a:ln/>
        </p:spPr>
        <p:txBody>
          <a:bodyPr wrap="square" lIns="0" tIns="0" rIns="0" bIns="0" rtlCol="0" anchor="t"/>
          <a:lstStyle/>
          <a:p>
            <a:pPr indent="0" marL="0">
              <a:buNone/>
            </a:pPr>
            <a:r>
              <a:rPr lang="en-US" sz="1800" dirty="0">
                <a:solidFill>
                  <a:srgbClr val="1B1F24"/>
                </a:solidFill>
                <a:latin typeface="Inter" pitchFamily="34" charset="0"/>
                <a:ea typeface="Inter" pitchFamily="34" charset="-122"/>
                <a:cs typeface="Inter" pitchFamily="34" charset="-120"/>
              </a:rPr>
              <a:t>judgment: what proficient means in your room, whether a question is fair to your kids, what this student needs to hear next.</a:t>
            </a:r>
            <a:endParaRPr lang="en-US" sz="1800" dirty="0"/>
          </a:p>
        </p:txBody>
      </p:sp>
      <p:sp>
        <p:nvSpPr>
          <p:cNvPr id="13" name="Text 10"/>
          <p:cNvSpPr/>
          <p:nvPr/>
        </p:nvSpPr>
        <p:spPr>
          <a:xfrm>
            <a:off x="640080" y="5623560"/>
            <a:ext cx="10972800" cy="457200"/>
          </a:xfrm>
          <a:prstGeom prst="rect">
            <a:avLst/>
          </a:prstGeom>
          <a:noFill/>
          <a:ln/>
        </p:spPr>
        <p:txBody>
          <a:bodyPr wrap="square" lIns="0" tIns="0" rIns="0" bIns="0" rtlCol="0" anchor="ctr"/>
          <a:lstStyle/>
          <a:p>
            <a:pPr algn="ctr" indent="0" marL="0">
              <a:buNone/>
            </a:pPr>
            <a:r>
              <a:rPr lang="en-US" sz="1800" b="1" dirty="0">
                <a:solidFill>
                  <a:srgbClr val="13293D"/>
                </a:solidFill>
                <a:latin typeface="Inter" pitchFamily="34" charset="0"/>
                <a:ea typeface="Inter" pitchFamily="34" charset="-122"/>
                <a:cs typeface="Inter" pitchFamily="34" charset="-120"/>
              </a:rPr>
              <a:t>AI drafts, the teacher decides. In assessment, those five words carry the most weight they’ll ever carry.</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11480" y="6473952"/>
            <a:ext cx="237744" cy="219456"/>
          </a:xfrm>
          <a:prstGeom prst="rect">
            <a:avLst/>
          </a:prstGeom>
        </p:spPr>
      </p:pic>
      <p:sp>
        <p:nvSpPr>
          <p:cNvPr id="3" name="Text 0"/>
          <p:cNvSpPr/>
          <p:nvPr/>
        </p:nvSpPr>
        <p:spPr>
          <a:xfrm>
            <a:off x="685800" y="6428232"/>
            <a:ext cx="2011680" cy="292608"/>
          </a:xfrm>
          <a:prstGeom prst="rect">
            <a:avLst/>
          </a:prstGeom>
          <a:noFill/>
          <a:ln/>
        </p:spPr>
        <p:txBody>
          <a:bodyPr wrap="square" lIns="0" tIns="0" rIns="0" bIns="0" rtlCol="0" anchor="ctr"/>
          <a:lstStyle/>
          <a:p>
            <a:pPr indent="0" marL="0">
              <a:buNone/>
            </a:pPr>
            <a:r>
              <a:rPr lang="en-US" sz="1000" b="1" dirty="0">
                <a:solidFill>
                  <a:srgbClr val="2A9D8F"/>
                </a:solidFill>
                <a:latin typeface="Inter" pitchFamily="34" charset="0"/>
                <a:ea typeface="Inter" pitchFamily="34" charset="-122"/>
                <a:cs typeface="Inter" pitchFamily="34" charset="-120"/>
              </a:rPr>
              <a:t>AI-Ready</a:t>
            </a:r>
            <a:pPr indent="0" marL="0">
              <a:buNone/>
            </a:pPr>
            <a:r>
              <a:rPr lang="en-US" sz="1000" b="1" dirty="0">
                <a:solidFill>
                  <a:srgbClr val="13293D"/>
                </a:solidFill>
                <a:latin typeface="Inter" pitchFamily="34" charset="0"/>
                <a:ea typeface="Inter" pitchFamily="34" charset="-122"/>
                <a:cs typeface="Inter" pitchFamily="34" charset="-120"/>
              </a:rPr>
              <a:t> School</a:t>
            </a:r>
            <a:endParaRPr lang="en-US" sz="1000" dirty="0"/>
          </a:p>
        </p:txBody>
      </p:sp>
      <p:sp>
        <p:nvSpPr>
          <p:cNvPr id="4" name="Text 1"/>
          <p:cNvSpPr/>
          <p:nvPr/>
        </p:nvSpPr>
        <p:spPr>
          <a:xfrm>
            <a:off x="8897112" y="6428232"/>
            <a:ext cx="2880360" cy="292608"/>
          </a:xfrm>
          <a:prstGeom prst="rect">
            <a:avLst/>
          </a:prstGeom>
          <a:noFill/>
          <a:ln/>
        </p:spPr>
        <p:txBody>
          <a:bodyPr wrap="square" lIns="0" tIns="0" rIns="0" bIns="0" rtlCol="0" anchor="ctr"/>
          <a:lstStyle/>
          <a:p>
            <a:pPr algn="r" indent="0" marL="0">
              <a:buNone/>
            </a:pPr>
            <a:r>
              <a:rPr lang="en-US" sz="900" dirty="0">
                <a:solidFill>
                  <a:srgbClr val="5B6B7A"/>
                </a:solidFill>
                <a:latin typeface="Inter" pitchFamily="34" charset="0"/>
                <a:ea typeface="Inter" pitchFamily="34" charset="-122"/>
                <a:cs typeface="Inter" pitchFamily="34" charset="-120"/>
              </a:rPr>
              <a:t>Kit 4 · AI for Assessment   |   9</a:t>
            </a:r>
            <a:endParaRPr lang="en-US" sz="900" dirty="0"/>
          </a:p>
        </p:txBody>
      </p:sp>
      <p:sp>
        <p:nvSpPr>
          <p:cNvPr id="5" name="Text 2"/>
          <p:cNvSpPr/>
          <p:nvPr/>
        </p:nvSpPr>
        <p:spPr>
          <a:xfrm>
            <a:off x="566928" y="128016"/>
            <a:ext cx="11055096" cy="274320"/>
          </a:xfrm>
          <a:prstGeom prst="rect">
            <a:avLst/>
          </a:prstGeom>
          <a:noFill/>
          <a:ln/>
        </p:spPr>
        <p:txBody>
          <a:bodyPr wrap="square" lIns="0" tIns="0" rIns="0" bIns="0" rtlCol="0" anchor="ctr"/>
          <a:lstStyle/>
          <a:p>
            <a:pPr indent="0" marL="0">
              <a:buNone/>
            </a:pPr>
            <a:r>
              <a:rPr lang="en-US" sz="1200" b="1" spc="200" kern="0" dirty="0">
                <a:solidFill>
                  <a:srgbClr val="2A9D8F"/>
                </a:solidFill>
                <a:latin typeface="Inter" pitchFamily="34" charset="0"/>
                <a:ea typeface="Inter" pitchFamily="34" charset="-122"/>
                <a:cs typeface="Inter" pitchFamily="34" charset="-120"/>
              </a:rPr>
              <a:t>WORKSHOP #1 · RUBRICS · ON MS. RIVERA'S SCREEN</a:t>
            </a:r>
            <a:endParaRPr lang="en-US" sz="1200" dirty="0"/>
          </a:p>
        </p:txBody>
      </p:sp>
      <p:sp>
        <p:nvSpPr>
          <p:cNvPr id="6" name="Text 3"/>
          <p:cNvSpPr/>
          <p:nvPr/>
        </p:nvSpPr>
        <p:spPr>
          <a:xfrm>
            <a:off x="548640" y="384048"/>
            <a:ext cx="11091672" cy="777240"/>
          </a:xfrm>
          <a:prstGeom prst="rect">
            <a:avLst/>
          </a:prstGeom>
          <a:noFill/>
          <a:ln/>
        </p:spPr>
        <p:txBody>
          <a:bodyPr wrap="square" lIns="0" tIns="0" rIns="0" bIns="0" rtlCol="0" anchor="ctr"/>
          <a:lstStyle/>
          <a:p>
            <a:pPr indent="0" marL="0">
              <a:buNone/>
            </a:pPr>
            <a:r>
              <a:rPr lang="en-US" sz="3200" b="1" dirty="0">
                <a:solidFill>
                  <a:srgbClr val="13293D"/>
                </a:solidFill>
                <a:latin typeface="Inter" pitchFamily="34" charset="0"/>
                <a:ea typeface="Inter" pitchFamily="34" charset="-122"/>
                <a:cs typeface="Inter" pitchFamily="34" charset="-120"/>
              </a:rPr>
              <a:t>Notes → rubric</a:t>
            </a:r>
            <a:endParaRPr lang="en-US" sz="3200" dirty="0"/>
          </a:p>
        </p:txBody>
      </p:sp>
      <p:sp>
        <p:nvSpPr>
          <p:cNvPr id="7" name="Text 4"/>
          <p:cNvSpPr/>
          <p:nvPr/>
        </p:nvSpPr>
        <p:spPr>
          <a:xfrm>
            <a:off x="640080" y="1298448"/>
            <a:ext cx="10972800" cy="365760"/>
          </a:xfrm>
          <a:prstGeom prst="rect">
            <a:avLst/>
          </a:prstGeom>
          <a:noFill/>
          <a:ln/>
        </p:spPr>
        <p:txBody>
          <a:bodyPr wrap="square" lIns="0" tIns="0" rIns="0" bIns="0" rtlCol="0" anchor="ctr"/>
          <a:lstStyle/>
          <a:p>
            <a:pPr indent="0" marL="0">
              <a:buNone/>
            </a:pPr>
            <a:r>
              <a:rPr lang="en-US" sz="1600" b="1" dirty="0">
                <a:solidFill>
                  <a:srgbClr val="B4453A"/>
                </a:solidFill>
                <a:latin typeface="Inter" pitchFamily="34" charset="0"/>
                <a:ea typeface="Inter" pitchFamily="34" charset="-122"/>
                <a:cs typeface="Inter" pitchFamily="34" charset="-120"/>
              </a:rPr>
              <a:t>BEFORE   </a:t>
            </a:r>
            <a:pPr indent="0" marL="0">
              <a:buNone/>
            </a:pPr>
            <a:r>
              <a:rPr lang="en-US" sz="1600" i="1" dirty="0">
                <a:solidFill>
                  <a:srgbClr val="5B6B7A"/>
                </a:solidFill>
                <a:latin typeface="Inter" pitchFamily="34" charset="0"/>
                <a:ea typeface="Inter" pitchFamily="34" charset="-122"/>
                <a:cs typeface="Inter" pitchFamily="34" charset="-120"/>
              </a:rPr>
              <a:t>“Make a rubric for my essay assignment.”</a:t>
            </a:r>
            <a:endParaRPr lang="en-US" sz="1600" dirty="0"/>
          </a:p>
        </p:txBody>
      </p:sp>
      <p:sp>
        <p:nvSpPr>
          <p:cNvPr id="8" name="Shape 5"/>
          <p:cNvSpPr/>
          <p:nvPr/>
        </p:nvSpPr>
        <p:spPr>
          <a:xfrm>
            <a:off x="640080" y="1783080"/>
            <a:ext cx="10972800" cy="3520440"/>
          </a:xfrm>
          <a:prstGeom prst="roundRect">
            <a:avLst>
              <a:gd name="adj" fmla="val 2597"/>
            </a:avLst>
          </a:prstGeom>
          <a:solidFill>
            <a:srgbClr val="FFFFFF"/>
          </a:solidFill>
          <a:ln w="19050">
            <a:solidFill>
              <a:srgbClr val="DCE3EA"/>
            </a:solidFill>
            <a:prstDash val="solid"/>
          </a:ln>
        </p:spPr>
      </p:sp>
      <p:sp>
        <p:nvSpPr>
          <p:cNvPr id="9" name="Shape 6"/>
          <p:cNvSpPr/>
          <p:nvPr/>
        </p:nvSpPr>
        <p:spPr>
          <a:xfrm>
            <a:off x="640080" y="1783080"/>
            <a:ext cx="10972800" cy="384048"/>
          </a:xfrm>
          <a:prstGeom prst="roundRect">
            <a:avLst>
              <a:gd name="adj" fmla="val 23810"/>
            </a:avLst>
          </a:prstGeom>
          <a:solidFill>
            <a:srgbClr val="13293D"/>
          </a:solidFill>
          <a:ln w="12700">
            <a:solidFill>
              <a:srgbClr val="13293D"/>
            </a:solidFill>
            <a:prstDash val="solid"/>
          </a:ln>
        </p:spPr>
      </p:sp>
      <p:sp>
        <p:nvSpPr>
          <p:cNvPr id="10" name="Shape 7"/>
          <p:cNvSpPr/>
          <p:nvPr/>
        </p:nvSpPr>
        <p:spPr>
          <a:xfrm>
            <a:off x="868680" y="1901952"/>
            <a:ext cx="146304" cy="146304"/>
          </a:xfrm>
          <a:prstGeom prst="ellipse">
            <a:avLst/>
          </a:prstGeom>
          <a:solidFill>
            <a:srgbClr val="E8837A"/>
          </a:solidFill>
          <a:ln w="12700">
            <a:solidFill>
              <a:srgbClr val="E8837A"/>
            </a:solidFill>
            <a:prstDash val="solid"/>
          </a:ln>
        </p:spPr>
      </p:sp>
      <p:sp>
        <p:nvSpPr>
          <p:cNvPr id="11" name="Shape 8"/>
          <p:cNvSpPr/>
          <p:nvPr/>
        </p:nvSpPr>
        <p:spPr>
          <a:xfrm>
            <a:off x="1115568" y="1901952"/>
            <a:ext cx="146304" cy="146304"/>
          </a:xfrm>
          <a:prstGeom prst="ellipse">
            <a:avLst/>
          </a:prstGeom>
          <a:solidFill>
            <a:srgbClr val="F4A825"/>
          </a:solidFill>
          <a:ln w="12700">
            <a:solidFill>
              <a:srgbClr val="F4A825"/>
            </a:solidFill>
            <a:prstDash val="solid"/>
          </a:ln>
        </p:spPr>
      </p:sp>
      <p:sp>
        <p:nvSpPr>
          <p:cNvPr id="12" name="Shape 9"/>
          <p:cNvSpPr/>
          <p:nvPr/>
        </p:nvSpPr>
        <p:spPr>
          <a:xfrm>
            <a:off x="1362456" y="1901952"/>
            <a:ext cx="146304" cy="146304"/>
          </a:xfrm>
          <a:prstGeom prst="ellipse">
            <a:avLst/>
          </a:prstGeom>
          <a:solidFill>
            <a:srgbClr val="2E7D5B"/>
          </a:solidFill>
          <a:ln w="12700">
            <a:solidFill>
              <a:srgbClr val="2E7D5B"/>
            </a:solidFill>
            <a:prstDash val="solid"/>
          </a:ln>
        </p:spPr>
      </p:sp>
      <p:sp>
        <p:nvSpPr>
          <p:cNvPr id="13" name="Text 10"/>
          <p:cNvSpPr/>
          <p:nvPr/>
        </p:nvSpPr>
        <p:spPr>
          <a:xfrm>
            <a:off x="1783080" y="1783080"/>
            <a:ext cx="9692640" cy="384048"/>
          </a:xfrm>
          <a:prstGeom prst="rect">
            <a:avLst/>
          </a:prstGeom>
          <a:noFill/>
          <a:ln/>
        </p:spPr>
        <p:txBody>
          <a:bodyPr wrap="square" lIns="0" tIns="0" rIns="0" bIns="0" rtlCol="0" anchor="ctr"/>
          <a:lstStyle/>
          <a:p>
            <a:pPr indent="0" marL="0">
              <a:buNone/>
            </a:pPr>
            <a:r>
              <a:rPr lang="en-US" sz="1100" dirty="0">
                <a:solidFill>
                  <a:srgbClr val="9FB2C2"/>
                </a:solidFill>
                <a:latin typeface="Inter" pitchFamily="34" charset="0"/>
                <a:ea typeface="Inter" pitchFamily="34" charset="-122"/>
                <a:cs typeface="Inter" pitchFamily="34" charset="-120"/>
              </a:rPr>
              <a:t>AI chat tool (any of them) · Ms. Rivera, our running example teacher (a composite, not a real person)</a:t>
            </a:r>
            <a:endParaRPr lang="en-US" sz="1100" dirty="0"/>
          </a:p>
        </p:txBody>
      </p:sp>
      <p:sp>
        <p:nvSpPr>
          <p:cNvPr id="14" name="Shape 11"/>
          <p:cNvSpPr/>
          <p:nvPr/>
        </p:nvSpPr>
        <p:spPr>
          <a:xfrm>
            <a:off x="1554480" y="2377440"/>
            <a:ext cx="9646920" cy="2697480"/>
          </a:xfrm>
          <a:prstGeom prst="roundRect">
            <a:avLst>
              <a:gd name="adj" fmla="val 4068"/>
            </a:avLst>
          </a:prstGeom>
          <a:solidFill>
            <a:srgbClr val="F7F5F0"/>
          </a:solidFill>
          <a:ln w="12700">
            <a:solidFill>
              <a:srgbClr val="F7F5F0"/>
            </a:solidFill>
            <a:prstDash val="solid"/>
          </a:ln>
        </p:spPr>
      </p:sp>
      <p:sp>
        <p:nvSpPr>
          <p:cNvPr id="15" name="Text 12"/>
          <p:cNvSpPr/>
          <p:nvPr/>
        </p:nvSpPr>
        <p:spPr>
          <a:xfrm>
            <a:off x="1783080" y="2487168"/>
            <a:ext cx="9189720" cy="2514600"/>
          </a:xfrm>
          <a:prstGeom prst="rect">
            <a:avLst/>
          </a:prstGeom>
          <a:noFill/>
          <a:ln/>
        </p:spPr>
        <p:txBody>
          <a:bodyPr wrap="square" lIns="0" tIns="0" rIns="0" bIns="0" rtlCol="0" anchor="t"/>
          <a:lstStyle/>
          <a:p>
            <a:pPr indent="0" marL="0">
              <a:lnSpc>
                <a:spcPct val="110000"/>
              </a:lnSpc>
              <a:buNone/>
            </a:pPr>
            <a:r>
              <a:rPr lang="en-US" sz="1600" b="1" dirty="0">
                <a:solidFill>
                  <a:srgbClr val="2A9D8F"/>
                </a:solidFill>
                <a:latin typeface="Inter" pitchFamily="34" charset="0"/>
                <a:ea typeface="Inter" pitchFamily="34" charset="-122"/>
                <a:cs typeface="Inter" pitchFamily="34" charset="-120"/>
              </a:rPr>
              <a:t>“You are an experienced 7th grade ELA teacher. </a:t>
            </a:r>
            <a:pPr indent="0" marL="0">
              <a:lnSpc>
                <a:spcPct val="110000"/>
              </a:lnSpc>
              <a:buNone/>
            </a:pPr>
            <a:r>
              <a:rPr lang="en-US" sz="1600" b="1" dirty="0">
                <a:solidFill>
                  <a:srgbClr val="13293D"/>
                </a:solidFill>
                <a:latin typeface="Inter" pitchFamily="34" charset="0"/>
                <a:ea typeface="Inter" pitchFamily="34" charset="-122"/>
                <a:cs typeface="Inter" pitchFamily="34" charset="-120"/>
              </a:rPr>
              <a:t>Turn my notes into a 4-level analytic rubric (Beginning · Developing · Proficient · Advanced) for a persuasive essay. </a:t>
            </a:r>
            <a:pPr indent="0" marL="0">
              <a:lnSpc>
                <a:spcPct val="110000"/>
              </a:lnSpc>
              <a:buNone/>
            </a:pPr>
            <a:r>
              <a:rPr lang="en-US" sz="1600" b="1" dirty="0">
                <a:solidFill>
                  <a:srgbClr val="B07914"/>
                </a:solidFill>
                <a:latin typeface="Inter" pitchFamily="34" charset="0"/>
                <a:ea typeface="Inter" pitchFamily="34" charset="-122"/>
                <a:cs typeface="Inter" pitchFamily="34" charset="-120"/>
              </a:rPr>
              <a:t>Criteria: claim, evidence, organization, conventions. Write every descriptor in language a 7th grader can read, and make each level describe what the work does, not what it lacks. </a:t>
            </a:r>
            <a:pPr indent="0" marL="0">
              <a:lnSpc>
                <a:spcPct val="110000"/>
              </a:lnSpc>
              <a:buNone/>
            </a:pPr>
            <a:r>
              <a:rPr lang="en-US" sz="1600" b="1" dirty="0">
                <a:solidFill>
                  <a:srgbClr val="2E7D5B"/>
                </a:solidFill>
                <a:latin typeface="Inter" pitchFamily="34" charset="0"/>
                <a:ea typeface="Inter" pitchFamily="34" charset="-122"/>
                <a:cs typeface="Inter" pitchFamily="34" charset="-120"/>
              </a:rPr>
              <a:t>Format: a table with criteria down the side. Then ask me up to three questions about anything unclear in my notes.”  [paste your notes]</a:t>
            </a:r>
            <a:endParaRPr lang="en-US" sz="1600" dirty="0"/>
          </a:p>
        </p:txBody>
      </p:sp>
      <p:sp>
        <p:nvSpPr>
          <p:cNvPr id="16" name="Shape 13"/>
          <p:cNvSpPr/>
          <p:nvPr/>
        </p:nvSpPr>
        <p:spPr>
          <a:xfrm>
            <a:off x="640080" y="5532120"/>
            <a:ext cx="2606040" cy="457200"/>
          </a:xfrm>
          <a:prstGeom prst="roundRect">
            <a:avLst>
              <a:gd name="adj" fmla="val 50000"/>
            </a:avLst>
          </a:prstGeom>
          <a:solidFill>
            <a:srgbClr val="2A9D8F"/>
          </a:solidFill>
          <a:ln w="12700">
            <a:solidFill>
              <a:srgbClr val="2A9D8F"/>
            </a:solidFill>
            <a:prstDash val="solid"/>
          </a:ln>
        </p:spPr>
      </p:sp>
      <p:sp>
        <p:nvSpPr>
          <p:cNvPr id="17" name="Text 14"/>
          <p:cNvSpPr/>
          <p:nvPr/>
        </p:nvSpPr>
        <p:spPr>
          <a:xfrm>
            <a:off x="640080" y="5532120"/>
            <a:ext cx="2606040" cy="457200"/>
          </a:xfrm>
          <a:prstGeom prst="rect">
            <a:avLst/>
          </a:prstGeom>
          <a:noFill/>
          <a:ln/>
        </p:spPr>
        <p:txBody>
          <a:bodyPr wrap="square" lIns="0" tIns="0" rIns="0" bIns="0" rtlCol="0" anchor="ctr"/>
          <a:lstStyle/>
          <a:p>
            <a:pPr algn="ctr" indent="0" marL="0">
              <a:buNone/>
            </a:pPr>
            <a:r>
              <a:rPr lang="en-US" sz="1400" b="1" spc="200" kern="0" dirty="0">
                <a:solidFill>
                  <a:srgbClr val="FFFFFF"/>
                </a:solidFill>
                <a:latin typeface="Inter" pitchFamily="34" charset="0"/>
                <a:ea typeface="Inter" pitchFamily="34" charset="-122"/>
                <a:cs typeface="Inter" pitchFamily="34" charset="-120"/>
              </a:rPr>
              <a:t>ROLE</a:t>
            </a:r>
            <a:endParaRPr lang="en-US" sz="1400" dirty="0"/>
          </a:p>
        </p:txBody>
      </p:sp>
      <p:sp>
        <p:nvSpPr>
          <p:cNvPr id="18" name="Shape 15"/>
          <p:cNvSpPr/>
          <p:nvPr/>
        </p:nvSpPr>
        <p:spPr>
          <a:xfrm>
            <a:off x="3456432" y="5532120"/>
            <a:ext cx="2606040" cy="457200"/>
          </a:xfrm>
          <a:prstGeom prst="roundRect">
            <a:avLst>
              <a:gd name="adj" fmla="val 50000"/>
            </a:avLst>
          </a:prstGeom>
          <a:solidFill>
            <a:srgbClr val="13293D"/>
          </a:solidFill>
          <a:ln w="12700">
            <a:solidFill>
              <a:srgbClr val="13293D"/>
            </a:solidFill>
            <a:prstDash val="solid"/>
          </a:ln>
        </p:spPr>
      </p:sp>
      <p:sp>
        <p:nvSpPr>
          <p:cNvPr id="19" name="Text 16"/>
          <p:cNvSpPr/>
          <p:nvPr/>
        </p:nvSpPr>
        <p:spPr>
          <a:xfrm>
            <a:off x="3456432" y="5532120"/>
            <a:ext cx="2606040" cy="457200"/>
          </a:xfrm>
          <a:prstGeom prst="rect">
            <a:avLst/>
          </a:prstGeom>
          <a:noFill/>
          <a:ln/>
        </p:spPr>
        <p:txBody>
          <a:bodyPr wrap="square" lIns="0" tIns="0" rIns="0" bIns="0" rtlCol="0" anchor="ctr"/>
          <a:lstStyle/>
          <a:p>
            <a:pPr algn="ctr" indent="0" marL="0">
              <a:buNone/>
            </a:pPr>
            <a:r>
              <a:rPr lang="en-US" sz="1400" b="1" spc="200" kern="0" dirty="0">
                <a:solidFill>
                  <a:srgbClr val="FFFFFF"/>
                </a:solidFill>
                <a:latin typeface="Inter" pitchFamily="34" charset="0"/>
                <a:ea typeface="Inter" pitchFamily="34" charset="-122"/>
                <a:cs typeface="Inter" pitchFamily="34" charset="-120"/>
              </a:rPr>
              <a:t>TASK</a:t>
            </a:r>
            <a:endParaRPr lang="en-US" sz="1400" dirty="0"/>
          </a:p>
        </p:txBody>
      </p:sp>
      <p:sp>
        <p:nvSpPr>
          <p:cNvPr id="20" name="Shape 17"/>
          <p:cNvSpPr/>
          <p:nvPr/>
        </p:nvSpPr>
        <p:spPr>
          <a:xfrm>
            <a:off x="6272784" y="5532120"/>
            <a:ext cx="2606040" cy="457200"/>
          </a:xfrm>
          <a:prstGeom prst="roundRect">
            <a:avLst>
              <a:gd name="adj" fmla="val 50000"/>
            </a:avLst>
          </a:prstGeom>
          <a:solidFill>
            <a:srgbClr val="B07914"/>
          </a:solidFill>
          <a:ln w="12700">
            <a:solidFill>
              <a:srgbClr val="B07914"/>
            </a:solidFill>
            <a:prstDash val="solid"/>
          </a:ln>
        </p:spPr>
      </p:sp>
      <p:sp>
        <p:nvSpPr>
          <p:cNvPr id="21" name="Text 18"/>
          <p:cNvSpPr/>
          <p:nvPr/>
        </p:nvSpPr>
        <p:spPr>
          <a:xfrm>
            <a:off x="6272784" y="5532120"/>
            <a:ext cx="2606040" cy="457200"/>
          </a:xfrm>
          <a:prstGeom prst="rect">
            <a:avLst/>
          </a:prstGeom>
          <a:noFill/>
          <a:ln/>
        </p:spPr>
        <p:txBody>
          <a:bodyPr wrap="square" lIns="0" tIns="0" rIns="0" bIns="0" rtlCol="0" anchor="ctr"/>
          <a:lstStyle/>
          <a:p>
            <a:pPr algn="ctr" indent="0" marL="0">
              <a:buNone/>
            </a:pPr>
            <a:r>
              <a:rPr lang="en-US" sz="1400" b="1" spc="200" kern="0" dirty="0">
                <a:solidFill>
                  <a:srgbClr val="FFFFFF"/>
                </a:solidFill>
                <a:latin typeface="Inter" pitchFamily="34" charset="0"/>
                <a:ea typeface="Inter" pitchFamily="34" charset="-122"/>
                <a:cs typeface="Inter" pitchFamily="34" charset="-120"/>
              </a:rPr>
              <a:t>CONTEXT</a:t>
            </a:r>
            <a:endParaRPr lang="en-US" sz="1400" dirty="0"/>
          </a:p>
        </p:txBody>
      </p:sp>
      <p:sp>
        <p:nvSpPr>
          <p:cNvPr id="22" name="Shape 19"/>
          <p:cNvSpPr/>
          <p:nvPr/>
        </p:nvSpPr>
        <p:spPr>
          <a:xfrm>
            <a:off x="9089136" y="5532120"/>
            <a:ext cx="2606040" cy="457200"/>
          </a:xfrm>
          <a:prstGeom prst="roundRect">
            <a:avLst>
              <a:gd name="adj" fmla="val 50000"/>
            </a:avLst>
          </a:prstGeom>
          <a:solidFill>
            <a:srgbClr val="2E7D5B"/>
          </a:solidFill>
          <a:ln w="12700">
            <a:solidFill>
              <a:srgbClr val="2E7D5B"/>
            </a:solidFill>
            <a:prstDash val="solid"/>
          </a:ln>
        </p:spPr>
      </p:sp>
      <p:sp>
        <p:nvSpPr>
          <p:cNvPr id="23" name="Text 20"/>
          <p:cNvSpPr/>
          <p:nvPr/>
        </p:nvSpPr>
        <p:spPr>
          <a:xfrm>
            <a:off x="9089136" y="5532120"/>
            <a:ext cx="2606040" cy="457200"/>
          </a:xfrm>
          <a:prstGeom prst="rect">
            <a:avLst/>
          </a:prstGeom>
          <a:noFill/>
          <a:ln/>
        </p:spPr>
        <p:txBody>
          <a:bodyPr wrap="square" lIns="0" tIns="0" rIns="0" bIns="0" rtlCol="0" anchor="ctr"/>
          <a:lstStyle/>
          <a:p>
            <a:pPr algn="ctr" indent="0" marL="0">
              <a:buNone/>
            </a:pPr>
            <a:r>
              <a:rPr lang="en-US" sz="1400" b="1" spc="200" kern="0" dirty="0">
                <a:solidFill>
                  <a:srgbClr val="FFFFFF"/>
                </a:solidFill>
                <a:latin typeface="Inter" pitchFamily="34" charset="0"/>
                <a:ea typeface="Inter" pitchFamily="34" charset="-122"/>
                <a:cs typeface="Inter" pitchFamily="34" charset="-120"/>
              </a:rPr>
              <a:t>FORMAT</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3293D"/>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11480" y="6473952"/>
            <a:ext cx="237744" cy="219456"/>
          </a:xfrm>
          <a:prstGeom prst="rect">
            <a:avLst/>
          </a:prstGeom>
        </p:spPr>
      </p:pic>
      <p:sp>
        <p:nvSpPr>
          <p:cNvPr id="3" name="Text 0"/>
          <p:cNvSpPr/>
          <p:nvPr/>
        </p:nvSpPr>
        <p:spPr>
          <a:xfrm>
            <a:off x="685800" y="6428232"/>
            <a:ext cx="2011680" cy="292608"/>
          </a:xfrm>
          <a:prstGeom prst="rect">
            <a:avLst/>
          </a:prstGeom>
          <a:noFill/>
          <a:ln/>
        </p:spPr>
        <p:txBody>
          <a:bodyPr wrap="square" lIns="0" tIns="0" rIns="0" bIns="0" rtlCol="0" anchor="ctr"/>
          <a:lstStyle/>
          <a:p>
            <a:pPr indent="0" marL="0">
              <a:buNone/>
            </a:pPr>
            <a:r>
              <a:rPr lang="en-US" sz="1000" b="1" dirty="0">
                <a:solidFill>
                  <a:srgbClr val="2A9D8F"/>
                </a:solidFill>
                <a:latin typeface="Inter" pitchFamily="34" charset="0"/>
                <a:ea typeface="Inter" pitchFamily="34" charset="-122"/>
                <a:cs typeface="Inter" pitchFamily="34" charset="-120"/>
              </a:rPr>
              <a:t>AI-Ready</a:t>
            </a:r>
            <a:pPr indent="0" marL="0">
              <a:buNone/>
            </a:pPr>
            <a:r>
              <a:rPr lang="en-US" sz="1000" b="1" dirty="0">
                <a:solidFill>
                  <a:srgbClr val="FFFFFF"/>
                </a:solidFill>
                <a:latin typeface="Inter" pitchFamily="34" charset="0"/>
                <a:ea typeface="Inter" pitchFamily="34" charset="-122"/>
                <a:cs typeface="Inter" pitchFamily="34" charset="-120"/>
              </a:rPr>
              <a:t> School</a:t>
            </a:r>
            <a:endParaRPr lang="en-US" sz="1000" dirty="0"/>
          </a:p>
        </p:txBody>
      </p:sp>
      <p:sp>
        <p:nvSpPr>
          <p:cNvPr id="4" name="Text 1"/>
          <p:cNvSpPr/>
          <p:nvPr/>
        </p:nvSpPr>
        <p:spPr>
          <a:xfrm>
            <a:off x="8897112" y="6428232"/>
            <a:ext cx="2880360" cy="292608"/>
          </a:xfrm>
          <a:prstGeom prst="rect">
            <a:avLst/>
          </a:prstGeom>
          <a:noFill/>
          <a:ln/>
        </p:spPr>
        <p:txBody>
          <a:bodyPr wrap="square" lIns="0" tIns="0" rIns="0" bIns="0" rtlCol="0" anchor="ctr"/>
          <a:lstStyle/>
          <a:p>
            <a:pPr algn="r" indent="0" marL="0">
              <a:buNone/>
            </a:pPr>
            <a:r>
              <a:rPr lang="en-US" sz="900" dirty="0">
                <a:solidFill>
                  <a:srgbClr val="9FB2C2"/>
                </a:solidFill>
                <a:latin typeface="Inter" pitchFamily="34" charset="0"/>
                <a:ea typeface="Inter" pitchFamily="34" charset="-122"/>
                <a:cs typeface="Inter" pitchFamily="34" charset="-120"/>
              </a:rPr>
              <a:t>Kit 4 · AI for Assessment   |   10</a:t>
            </a:r>
            <a:endParaRPr lang="en-US" sz="900" dirty="0"/>
          </a:p>
        </p:txBody>
      </p:sp>
      <p:sp>
        <p:nvSpPr>
          <p:cNvPr id="5" name="Text 2"/>
          <p:cNvSpPr/>
          <p:nvPr/>
        </p:nvSpPr>
        <p:spPr>
          <a:xfrm>
            <a:off x="566928" y="128016"/>
            <a:ext cx="11055096" cy="274320"/>
          </a:xfrm>
          <a:prstGeom prst="rect">
            <a:avLst/>
          </a:prstGeom>
          <a:noFill/>
          <a:ln/>
        </p:spPr>
        <p:txBody>
          <a:bodyPr wrap="square" lIns="0" tIns="0" rIns="0" bIns="0" rtlCol="0" anchor="ctr"/>
          <a:lstStyle/>
          <a:p>
            <a:pPr indent="0" marL="0">
              <a:buNone/>
            </a:pPr>
            <a:r>
              <a:rPr lang="en-US" sz="1200" b="1" spc="200" kern="0" dirty="0">
                <a:solidFill>
                  <a:srgbClr val="2A9D8F"/>
                </a:solidFill>
                <a:latin typeface="Inter" pitchFamily="34" charset="0"/>
                <a:ea typeface="Inter" pitchFamily="34" charset="-122"/>
                <a:cs typeface="Inter" pitchFamily="34" charset="-120"/>
              </a:rPr>
              <a:t>THE QUALITY BAR FOR EVERY RUBRIC</a:t>
            </a:r>
            <a:endParaRPr lang="en-US" sz="1200" dirty="0"/>
          </a:p>
        </p:txBody>
      </p:sp>
      <p:sp>
        <p:nvSpPr>
          <p:cNvPr id="6" name="Text 3"/>
          <p:cNvSpPr/>
          <p:nvPr/>
        </p:nvSpPr>
        <p:spPr>
          <a:xfrm>
            <a:off x="640080" y="1280160"/>
            <a:ext cx="10972800" cy="822960"/>
          </a:xfrm>
          <a:prstGeom prst="rect">
            <a:avLst/>
          </a:prstGeom>
          <a:noFill/>
          <a:ln/>
        </p:spPr>
        <p:txBody>
          <a:bodyPr wrap="square" lIns="0" tIns="0" rIns="0" bIns="0" rtlCol="0" anchor="ctr"/>
          <a:lstStyle/>
          <a:p>
            <a:pPr indent="0" marL="0">
              <a:buNone/>
            </a:pPr>
            <a:r>
              <a:rPr lang="en-US" sz="4000" b="1" dirty="0">
                <a:solidFill>
                  <a:srgbClr val="FFFFFF"/>
                </a:solidFill>
                <a:latin typeface="Inter" pitchFamily="34" charset="0"/>
                <a:ea typeface="Inter" pitchFamily="34" charset="-122"/>
                <a:cs typeface="Inter" pitchFamily="34" charset="-120"/>
              </a:rPr>
              <a:t>The hand-it-to-a-student test</a:t>
            </a:r>
            <a:endParaRPr lang="en-US" sz="4000" dirty="0"/>
          </a:p>
        </p:txBody>
      </p:sp>
      <p:sp>
        <p:nvSpPr>
          <p:cNvPr id="7" name="Text 4"/>
          <p:cNvSpPr/>
          <p:nvPr/>
        </p:nvSpPr>
        <p:spPr>
          <a:xfrm>
            <a:off x="640080" y="2377440"/>
            <a:ext cx="10972800" cy="1280160"/>
          </a:xfrm>
          <a:prstGeom prst="rect">
            <a:avLst/>
          </a:prstGeom>
          <a:noFill/>
          <a:ln/>
        </p:spPr>
        <p:txBody>
          <a:bodyPr wrap="square" lIns="0" tIns="0" rIns="0" bIns="0" rtlCol="0" anchor="ctr"/>
          <a:lstStyle/>
          <a:p>
            <a:pPr indent="0" marL="0">
              <a:lnSpc>
                <a:spcPct val="120000"/>
              </a:lnSpc>
              <a:buNone/>
            </a:pPr>
            <a:r>
              <a:rPr lang="en-US" sz="2600" dirty="0">
                <a:solidFill>
                  <a:srgbClr val="C9D4DE"/>
                </a:solidFill>
                <a:latin typeface="Inter" pitchFamily="34" charset="0"/>
                <a:ea typeface="Inter" pitchFamily="34" charset="-122"/>
                <a:cs typeface="Inter" pitchFamily="34" charset="-120"/>
              </a:rPr>
              <a:t>Read one descriptor aloud. Could a student tell you</a:t>
            </a:r>
            <a:endParaRPr lang="en-US" sz="2600" dirty="0"/>
          </a:p>
          <a:p>
            <a:pPr indent="0" marL="0">
              <a:lnSpc>
                <a:spcPct val="120000"/>
              </a:lnSpc>
              <a:buNone/>
            </a:pPr>
            <a:r>
              <a:rPr lang="en-US" sz="2600" dirty="0">
                <a:solidFill>
                  <a:srgbClr val="C9D4DE"/>
                </a:solidFill>
                <a:latin typeface="Inter" pitchFamily="34" charset="0"/>
                <a:ea typeface="Inter" pitchFamily="34" charset="-122"/>
                <a:cs typeface="Inter" pitchFamily="34" charset="-120"/>
              </a:rPr>
              <a:t>exactly what to do to move up one level?</a:t>
            </a:r>
            <a:endParaRPr lang="en-US" sz="2600" dirty="0"/>
          </a:p>
        </p:txBody>
      </p:sp>
      <p:sp>
        <p:nvSpPr>
          <p:cNvPr id="8" name="Text 5"/>
          <p:cNvSpPr/>
          <p:nvPr/>
        </p:nvSpPr>
        <p:spPr>
          <a:xfrm>
            <a:off x="640080" y="4114800"/>
            <a:ext cx="10972800" cy="1280160"/>
          </a:xfrm>
          <a:prstGeom prst="rect">
            <a:avLst/>
          </a:prstGeom>
          <a:noFill/>
          <a:ln/>
        </p:spPr>
        <p:txBody>
          <a:bodyPr wrap="square" lIns="0" tIns="0" rIns="0" bIns="0" rtlCol="0" anchor="ctr"/>
          <a:lstStyle/>
          <a:p>
            <a:pPr indent="0" marL="0">
              <a:buNone/>
            </a:pPr>
            <a:r>
              <a:rPr lang="en-US" sz="2000" b="1" dirty="0">
                <a:solidFill>
                  <a:srgbClr val="2A9D8F"/>
                </a:solidFill>
                <a:latin typeface="Inter" pitchFamily="34" charset="0"/>
                <a:ea typeface="Inter" pitchFamily="34" charset="-122"/>
                <a:cs typeface="Inter" pitchFamily="34" charset="-120"/>
              </a:rPr>
              <a:t>“Demonstrates limited understanding” fails: no ten-year-old ever revised an essay off the word “limited.” When it fails, iterate: “Rewrite level 2 so a student knows exactly what moving to level 3 requires.”</a:t>
            </a:r>
            <a:endParaRPr lang="en-US" sz="2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11480" y="6473952"/>
            <a:ext cx="237744" cy="219456"/>
          </a:xfrm>
          <a:prstGeom prst="rect">
            <a:avLst/>
          </a:prstGeom>
        </p:spPr>
      </p:pic>
      <p:sp>
        <p:nvSpPr>
          <p:cNvPr id="3" name="Text 0"/>
          <p:cNvSpPr/>
          <p:nvPr/>
        </p:nvSpPr>
        <p:spPr>
          <a:xfrm>
            <a:off x="685800" y="6428232"/>
            <a:ext cx="2011680" cy="292608"/>
          </a:xfrm>
          <a:prstGeom prst="rect">
            <a:avLst/>
          </a:prstGeom>
          <a:noFill/>
          <a:ln/>
        </p:spPr>
        <p:txBody>
          <a:bodyPr wrap="square" lIns="0" tIns="0" rIns="0" bIns="0" rtlCol="0" anchor="ctr"/>
          <a:lstStyle/>
          <a:p>
            <a:pPr indent="0" marL="0">
              <a:buNone/>
            </a:pPr>
            <a:r>
              <a:rPr lang="en-US" sz="1000" b="1" dirty="0">
                <a:solidFill>
                  <a:srgbClr val="2A9D8F"/>
                </a:solidFill>
                <a:latin typeface="Inter" pitchFamily="34" charset="0"/>
                <a:ea typeface="Inter" pitchFamily="34" charset="-122"/>
                <a:cs typeface="Inter" pitchFamily="34" charset="-120"/>
              </a:rPr>
              <a:t>AI-Ready</a:t>
            </a:r>
            <a:pPr indent="0" marL="0">
              <a:buNone/>
            </a:pPr>
            <a:r>
              <a:rPr lang="en-US" sz="1000" b="1" dirty="0">
                <a:solidFill>
                  <a:srgbClr val="13293D"/>
                </a:solidFill>
                <a:latin typeface="Inter" pitchFamily="34" charset="0"/>
                <a:ea typeface="Inter" pitchFamily="34" charset="-122"/>
                <a:cs typeface="Inter" pitchFamily="34" charset="-120"/>
              </a:rPr>
              <a:t> School</a:t>
            </a:r>
            <a:endParaRPr lang="en-US" sz="1000" dirty="0"/>
          </a:p>
        </p:txBody>
      </p:sp>
      <p:sp>
        <p:nvSpPr>
          <p:cNvPr id="4" name="Text 1"/>
          <p:cNvSpPr/>
          <p:nvPr/>
        </p:nvSpPr>
        <p:spPr>
          <a:xfrm>
            <a:off x="8897112" y="6428232"/>
            <a:ext cx="2880360" cy="292608"/>
          </a:xfrm>
          <a:prstGeom prst="rect">
            <a:avLst/>
          </a:prstGeom>
          <a:noFill/>
          <a:ln/>
        </p:spPr>
        <p:txBody>
          <a:bodyPr wrap="square" lIns="0" tIns="0" rIns="0" bIns="0" rtlCol="0" anchor="ctr"/>
          <a:lstStyle/>
          <a:p>
            <a:pPr algn="r" indent="0" marL="0">
              <a:buNone/>
            </a:pPr>
            <a:r>
              <a:rPr lang="en-US" sz="900" dirty="0">
                <a:solidFill>
                  <a:srgbClr val="5B6B7A"/>
                </a:solidFill>
                <a:latin typeface="Inter" pitchFamily="34" charset="0"/>
                <a:ea typeface="Inter" pitchFamily="34" charset="-122"/>
                <a:cs typeface="Inter" pitchFamily="34" charset="-120"/>
              </a:rPr>
              <a:t>Kit 4 · AI for Assessment   |   11</a:t>
            </a:r>
            <a:endParaRPr lang="en-US" sz="900" dirty="0"/>
          </a:p>
        </p:txBody>
      </p:sp>
      <p:sp>
        <p:nvSpPr>
          <p:cNvPr id="5" name="Text 2"/>
          <p:cNvSpPr/>
          <p:nvPr/>
        </p:nvSpPr>
        <p:spPr>
          <a:xfrm>
            <a:off x="566928" y="128016"/>
            <a:ext cx="11055096" cy="274320"/>
          </a:xfrm>
          <a:prstGeom prst="rect">
            <a:avLst/>
          </a:prstGeom>
          <a:noFill/>
          <a:ln/>
        </p:spPr>
        <p:txBody>
          <a:bodyPr wrap="square" lIns="0" tIns="0" rIns="0" bIns="0" rtlCol="0" anchor="ctr"/>
          <a:lstStyle/>
          <a:p>
            <a:pPr indent="0" marL="0">
              <a:buNone/>
            </a:pPr>
            <a:r>
              <a:rPr lang="en-US" sz="1200" b="1" spc="200" kern="0" dirty="0">
                <a:solidFill>
                  <a:srgbClr val="2A9D8F"/>
                </a:solidFill>
                <a:latin typeface="Inter" pitchFamily="34" charset="0"/>
                <a:ea typeface="Inter" pitchFamily="34" charset="-122"/>
                <a:cs typeface="Inter" pitchFamily="34" charset="-120"/>
              </a:rPr>
              <a:t>WORKSHOP #2 · QUESTION BANKS</a:t>
            </a:r>
            <a:endParaRPr lang="en-US" sz="1200" dirty="0"/>
          </a:p>
        </p:txBody>
      </p:sp>
      <p:sp>
        <p:nvSpPr>
          <p:cNvPr id="6" name="Text 3"/>
          <p:cNvSpPr/>
          <p:nvPr/>
        </p:nvSpPr>
        <p:spPr>
          <a:xfrm>
            <a:off x="548640" y="384048"/>
            <a:ext cx="11091672" cy="777240"/>
          </a:xfrm>
          <a:prstGeom prst="rect">
            <a:avLst/>
          </a:prstGeom>
          <a:noFill/>
          <a:ln/>
        </p:spPr>
        <p:txBody>
          <a:bodyPr wrap="square" lIns="0" tIns="0" rIns="0" bIns="0" rtlCol="0" anchor="ctr"/>
          <a:lstStyle/>
          <a:p>
            <a:pPr indent="0" marL="0">
              <a:buNone/>
            </a:pPr>
            <a:r>
              <a:rPr lang="en-US" sz="3200" b="1" dirty="0">
                <a:solidFill>
                  <a:srgbClr val="13293D"/>
                </a:solidFill>
                <a:latin typeface="Inter" pitchFamily="34" charset="0"/>
                <a:ea typeface="Inter" pitchFamily="34" charset="-122"/>
                <a:cs typeface="Inter" pitchFamily="34" charset="-120"/>
              </a:rPr>
              <a:t>Topic + misconception → bank</a:t>
            </a:r>
            <a:endParaRPr lang="en-US" sz="3200" dirty="0"/>
          </a:p>
        </p:txBody>
      </p:sp>
      <p:sp>
        <p:nvSpPr>
          <p:cNvPr id="7" name="Shape 4"/>
          <p:cNvSpPr/>
          <p:nvPr/>
        </p:nvSpPr>
        <p:spPr>
          <a:xfrm>
            <a:off x="640080" y="1417320"/>
            <a:ext cx="10972800" cy="1371600"/>
          </a:xfrm>
          <a:prstGeom prst="roundRect">
            <a:avLst>
              <a:gd name="adj" fmla="val 6000"/>
            </a:avLst>
          </a:prstGeom>
          <a:solidFill>
            <a:srgbClr val="FBEFED"/>
          </a:solidFill>
          <a:ln w="12700">
            <a:solidFill>
              <a:srgbClr val="FBEFED"/>
            </a:solidFill>
            <a:prstDash val="solid"/>
          </a:ln>
        </p:spPr>
      </p:sp>
      <p:sp>
        <p:nvSpPr>
          <p:cNvPr id="8" name="Text 5"/>
          <p:cNvSpPr/>
          <p:nvPr/>
        </p:nvSpPr>
        <p:spPr>
          <a:xfrm>
            <a:off x="914400" y="1554480"/>
            <a:ext cx="1828800" cy="320040"/>
          </a:xfrm>
          <a:prstGeom prst="rect">
            <a:avLst/>
          </a:prstGeom>
          <a:noFill/>
          <a:ln/>
        </p:spPr>
        <p:txBody>
          <a:bodyPr wrap="square" lIns="0" tIns="0" rIns="0" bIns="0" rtlCol="0" anchor="ctr"/>
          <a:lstStyle/>
          <a:p>
            <a:pPr indent="0" marL="0">
              <a:buNone/>
            </a:pPr>
            <a:r>
              <a:rPr lang="en-US" sz="1400" b="1" dirty="0">
                <a:solidFill>
                  <a:srgbClr val="B4453A"/>
                </a:solidFill>
                <a:latin typeface="Inter" pitchFamily="34" charset="0"/>
                <a:ea typeface="Inter" pitchFamily="34" charset="-122"/>
                <a:cs typeface="Inter" pitchFamily="34" charset="-120"/>
              </a:rPr>
              <a:t>BEFORE</a:t>
            </a:r>
            <a:endParaRPr lang="en-US" sz="1400" dirty="0"/>
          </a:p>
        </p:txBody>
      </p:sp>
      <p:sp>
        <p:nvSpPr>
          <p:cNvPr id="9" name="Text 6"/>
          <p:cNvSpPr/>
          <p:nvPr/>
        </p:nvSpPr>
        <p:spPr>
          <a:xfrm>
            <a:off x="914400" y="1874520"/>
            <a:ext cx="10424160" cy="822960"/>
          </a:xfrm>
          <a:prstGeom prst="rect">
            <a:avLst/>
          </a:prstGeom>
          <a:noFill/>
          <a:ln/>
        </p:spPr>
        <p:txBody>
          <a:bodyPr wrap="square" lIns="0" tIns="0" rIns="0" bIns="0" rtlCol="0" anchor="ctr"/>
          <a:lstStyle/>
          <a:p>
            <a:pPr indent="0" marL="0">
              <a:buNone/>
            </a:pPr>
            <a:r>
              <a:rPr lang="en-US" sz="1800" i="1" dirty="0">
                <a:solidFill>
                  <a:srgbClr val="1B1F24"/>
                </a:solidFill>
                <a:latin typeface="Inter" pitchFamily="34" charset="0"/>
                <a:ea typeface="Inter" pitchFamily="34" charset="-122"/>
                <a:cs typeface="Inter" pitchFamily="34" charset="-120"/>
              </a:rPr>
              <a:t>“Write ten quiz questions about photosynthesis.”</a:t>
            </a:r>
            <a:endParaRPr lang="en-US" sz="1800" dirty="0"/>
          </a:p>
        </p:txBody>
      </p:sp>
      <p:sp>
        <p:nvSpPr>
          <p:cNvPr id="10" name="Shape 7"/>
          <p:cNvSpPr/>
          <p:nvPr/>
        </p:nvSpPr>
        <p:spPr>
          <a:xfrm>
            <a:off x="640080" y="3017520"/>
            <a:ext cx="10972800" cy="2834640"/>
          </a:xfrm>
          <a:prstGeom prst="roundRect">
            <a:avLst>
              <a:gd name="adj" fmla="val 2903"/>
            </a:avLst>
          </a:prstGeom>
          <a:solidFill>
            <a:srgbClr val="EAF5F3"/>
          </a:solidFill>
          <a:ln w="12700">
            <a:solidFill>
              <a:srgbClr val="EAF5F3"/>
            </a:solidFill>
            <a:prstDash val="solid"/>
          </a:ln>
        </p:spPr>
      </p:sp>
      <p:sp>
        <p:nvSpPr>
          <p:cNvPr id="11" name="Text 8"/>
          <p:cNvSpPr/>
          <p:nvPr/>
        </p:nvSpPr>
        <p:spPr>
          <a:xfrm>
            <a:off x="914400" y="3154680"/>
            <a:ext cx="1828800" cy="320040"/>
          </a:xfrm>
          <a:prstGeom prst="rect">
            <a:avLst/>
          </a:prstGeom>
          <a:noFill/>
          <a:ln/>
        </p:spPr>
        <p:txBody>
          <a:bodyPr wrap="square" lIns="0" tIns="0" rIns="0" bIns="0" rtlCol="0" anchor="ctr"/>
          <a:lstStyle/>
          <a:p>
            <a:pPr indent="0" marL="0">
              <a:buNone/>
            </a:pPr>
            <a:r>
              <a:rPr lang="en-US" sz="1400" b="1" dirty="0">
                <a:solidFill>
                  <a:srgbClr val="2E7D5B"/>
                </a:solidFill>
                <a:latin typeface="Inter" pitchFamily="34" charset="0"/>
                <a:ea typeface="Inter" pitchFamily="34" charset="-122"/>
                <a:cs typeface="Inter" pitchFamily="34" charset="-120"/>
              </a:rPr>
              <a:t>AFTER</a:t>
            </a:r>
            <a:endParaRPr lang="en-US" sz="1400" dirty="0"/>
          </a:p>
        </p:txBody>
      </p:sp>
      <p:sp>
        <p:nvSpPr>
          <p:cNvPr id="12" name="Text 9"/>
          <p:cNvSpPr/>
          <p:nvPr/>
        </p:nvSpPr>
        <p:spPr>
          <a:xfrm>
            <a:off x="914400" y="3474720"/>
            <a:ext cx="10424160" cy="2286000"/>
          </a:xfrm>
          <a:prstGeom prst="rect">
            <a:avLst/>
          </a:prstGeom>
          <a:noFill/>
          <a:ln/>
        </p:spPr>
        <p:txBody>
          <a:bodyPr wrap="square" lIns="0" tIns="0" rIns="0" bIns="0" rtlCol="0" anchor="t"/>
          <a:lstStyle/>
          <a:p>
            <a:pPr indent="0" marL="0">
              <a:buNone/>
            </a:pPr>
            <a:r>
              <a:rPr lang="en-US" sz="1550" i="1" dirty="0">
                <a:solidFill>
                  <a:srgbClr val="1B1F24"/>
                </a:solidFill>
                <a:latin typeface="Inter" pitchFamily="34" charset="0"/>
                <a:ea typeface="Inter" pitchFamily="34" charset="-122"/>
                <a:cs typeface="Inter" pitchFamily="34" charset="-120"/>
              </a:rPr>
              <a:t>“You are a middle school science teacher. Build a 10-question bank on photosynthesis for 7th graders who commonly confuse it with respiration. Mix: 6 multiple choice, 2 short answer, 2 extended response. In each multiple-choice question, make one distractor the respiration confusion. Include a full answer key, then explain in one line why each distractor is wrong. Label each question with the skill it checks.”</a:t>
            </a:r>
            <a:endParaRPr lang="en-US" sz="15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11480" y="6473952"/>
            <a:ext cx="237744" cy="219456"/>
          </a:xfrm>
          <a:prstGeom prst="rect">
            <a:avLst/>
          </a:prstGeom>
        </p:spPr>
      </p:pic>
      <p:sp>
        <p:nvSpPr>
          <p:cNvPr id="3" name="Text 0"/>
          <p:cNvSpPr/>
          <p:nvPr/>
        </p:nvSpPr>
        <p:spPr>
          <a:xfrm>
            <a:off x="685800" y="6428232"/>
            <a:ext cx="2011680" cy="292608"/>
          </a:xfrm>
          <a:prstGeom prst="rect">
            <a:avLst/>
          </a:prstGeom>
          <a:noFill/>
          <a:ln/>
        </p:spPr>
        <p:txBody>
          <a:bodyPr wrap="square" lIns="0" tIns="0" rIns="0" bIns="0" rtlCol="0" anchor="ctr"/>
          <a:lstStyle/>
          <a:p>
            <a:pPr indent="0" marL="0">
              <a:buNone/>
            </a:pPr>
            <a:r>
              <a:rPr lang="en-US" sz="1000" b="1" dirty="0">
                <a:solidFill>
                  <a:srgbClr val="2A9D8F"/>
                </a:solidFill>
                <a:latin typeface="Inter" pitchFamily="34" charset="0"/>
                <a:ea typeface="Inter" pitchFamily="34" charset="-122"/>
                <a:cs typeface="Inter" pitchFamily="34" charset="-120"/>
              </a:rPr>
              <a:t>AI-Ready</a:t>
            </a:r>
            <a:pPr indent="0" marL="0">
              <a:buNone/>
            </a:pPr>
            <a:r>
              <a:rPr lang="en-US" sz="1000" b="1" dirty="0">
                <a:solidFill>
                  <a:srgbClr val="13293D"/>
                </a:solidFill>
                <a:latin typeface="Inter" pitchFamily="34" charset="0"/>
                <a:ea typeface="Inter" pitchFamily="34" charset="-122"/>
                <a:cs typeface="Inter" pitchFamily="34" charset="-120"/>
              </a:rPr>
              <a:t> School</a:t>
            </a:r>
            <a:endParaRPr lang="en-US" sz="1000" dirty="0"/>
          </a:p>
        </p:txBody>
      </p:sp>
      <p:sp>
        <p:nvSpPr>
          <p:cNvPr id="4" name="Text 1"/>
          <p:cNvSpPr/>
          <p:nvPr/>
        </p:nvSpPr>
        <p:spPr>
          <a:xfrm>
            <a:off x="8897112" y="6428232"/>
            <a:ext cx="2880360" cy="292608"/>
          </a:xfrm>
          <a:prstGeom prst="rect">
            <a:avLst/>
          </a:prstGeom>
          <a:noFill/>
          <a:ln/>
        </p:spPr>
        <p:txBody>
          <a:bodyPr wrap="square" lIns="0" tIns="0" rIns="0" bIns="0" rtlCol="0" anchor="ctr"/>
          <a:lstStyle/>
          <a:p>
            <a:pPr algn="r" indent="0" marL="0">
              <a:buNone/>
            </a:pPr>
            <a:r>
              <a:rPr lang="en-US" sz="900" dirty="0">
                <a:solidFill>
                  <a:srgbClr val="5B6B7A"/>
                </a:solidFill>
                <a:latin typeface="Inter" pitchFamily="34" charset="0"/>
                <a:ea typeface="Inter" pitchFamily="34" charset="-122"/>
                <a:cs typeface="Inter" pitchFamily="34" charset="-120"/>
              </a:rPr>
              <a:t>Kit 4 · AI for Assessment   |   12</a:t>
            </a:r>
            <a:endParaRPr lang="en-US" sz="900" dirty="0"/>
          </a:p>
        </p:txBody>
      </p:sp>
      <p:sp>
        <p:nvSpPr>
          <p:cNvPr id="5" name="Text 2"/>
          <p:cNvSpPr/>
          <p:nvPr/>
        </p:nvSpPr>
        <p:spPr>
          <a:xfrm>
            <a:off x="566928" y="128016"/>
            <a:ext cx="11055096" cy="274320"/>
          </a:xfrm>
          <a:prstGeom prst="rect">
            <a:avLst/>
          </a:prstGeom>
          <a:noFill/>
          <a:ln/>
        </p:spPr>
        <p:txBody>
          <a:bodyPr wrap="square" lIns="0" tIns="0" rIns="0" bIns="0" rtlCol="0" anchor="ctr"/>
          <a:lstStyle/>
          <a:p>
            <a:pPr indent="0" marL="0">
              <a:buNone/>
            </a:pPr>
            <a:r>
              <a:rPr lang="en-US" sz="1200" b="1" spc="200" kern="0" dirty="0">
                <a:solidFill>
                  <a:srgbClr val="2A9D8F"/>
                </a:solidFill>
                <a:latin typeface="Inter" pitchFamily="34" charset="0"/>
                <a:ea typeface="Inter" pitchFamily="34" charset="-122"/>
                <a:cs typeface="Inter" pitchFamily="34" charset="-120"/>
              </a:rPr>
              <a:t>HOW GOOD ARE THE DRAFTS? HONEST ANSWER</a:t>
            </a:r>
            <a:endParaRPr lang="en-US" sz="1200" dirty="0"/>
          </a:p>
        </p:txBody>
      </p:sp>
      <p:sp>
        <p:nvSpPr>
          <p:cNvPr id="6" name="Text 3"/>
          <p:cNvSpPr/>
          <p:nvPr/>
        </p:nvSpPr>
        <p:spPr>
          <a:xfrm>
            <a:off x="548640" y="384048"/>
            <a:ext cx="11091672" cy="777240"/>
          </a:xfrm>
          <a:prstGeom prst="rect">
            <a:avLst/>
          </a:prstGeom>
          <a:noFill/>
          <a:ln/>
        </p:spPr>
        <p:txBody>
          <a:bodyPr wrap="square" lIns="0" tIns="0" rIns="0" bIns="0" rtlCol="0" anchor="ctr"/>
          <a:lstStyle/>
          <a:p>
            <a:pPr indent="0" marL="0">
              <a:buNone/>
            </a:pPr>
            <a:r>
              <a:rPr lang="en-US" sz="3200" b="1" dirty="0">
                <a:solidFill>
                  <a:srgbClr val="13293D"/>
                </a:solidFill>
                <a:latin typeface="Inter" pitchFamily="34" charset="0"/>
                <a:ea typeface="Inter" pitchFamily="34" charset="-122"/>
                <a:cs typeface="Inter" pitchFamily="34" charset="-120"/>
              </a:rPr>
              <a:t>Good, and not good enough to skip you</a:t>
            </a:r>
            <a:endParaRPr lang="en-US" sz="3200" dirty="0"/>
          </a:p>
        </p:txBody>
      </p:sp>
      <p:sp>
        <p:nvSpPr>
          <p:cNvPr id="7" name="Shape 4"/>
          <p:cNvSpPr/>
          <p:nvPr/>
        </p:nvSpPr>
        <p:spPr>
          <a:xfrm>
            <a:off x="640080" y="1600200"/>
            <a:ext cx="5257800" cy="2926080"/>
          </a:xfrm>
          <a:prstGeom prst="roundRect">
            <a:avLst>
              <a:gd name="adj" fmla="val 2813"/>
            </a:avLst>
          </a:prstGeom>
          <a:solidFill>
            <a:srgbClr val="EAF5F3"/>
          </a:solidFill>
          <a:ln w="12700">
            <a:solidFill>
              <a:srgbClr val="EAF5F3"/>
            </a:solidFill>
            <a:prstDash val="solid"/>
          </a:ln>
        </p:spPr>
      </p:sp>
      <p:sp>
        <p:nvSpPr>
          <p:cNvPr id="8" name="Text 5"/>
          <p:cNvSpPr/>
          <p:nvPr/>
        </p:nvSpPr>
        <p:spPr>
          <a:xfrm>
            <a:off x="640080" y="1737360"/>
            <a:ext cx="5257800" cy="292608"/>
          </a:xfrm>
          <a:prstGeom prst="rect">
            <a:avLst/>
          </a:prstGeom>
          <a:noFill/>
          <a:ln/>
        </p:spPr>
        <p:txBody>
          <a:bodyPr wrap="square" lIns="0" tIns="0" rIns="0" bIns="0" rtlCol="0" anchor="ctr"/>
          <a:lstStyle/>
          <a:p>
            <a:pPr algn="ctr" indent="0" marL="0">
              <a:buNone/>
            </a:pPr>
            <a:r>
              <a:rPr lang="en-US" sz="1300" b="1" spc="200" kern="0" dirty="0">
                <a:solidFill>
                  <a:srgbClr val="2A9D8F"/>
                </a:solidFill>
                <a:latin typeface="Inter" pitchFamily="34" charset="0"/>
                <a:ea typeface="Inter" pitchFamily="34" charset="-122"/>
                <a:cs typeface="Inter" pitchFamily="34" charset="-120"/>
              </a:rPr>
              <a:t>HOW OFTEN DRAFTS ARE ON-TOPIC</a:t>
            </a:r>
            <a:endParaRPr lang="en-US" sz="1300" dirty="0"/>
          </a:p>
        </p:txBody>
      </p:sp>
      <p:sp>
        <p:nvSpPr>
          <p:cNvPr id="9" name="Text 6"/>
          <p:cNvSpPr/>
          <p:nvPr/>
        </p:nvSpPr>
        <p:spPr>
          <a:xfrm>
            <a:off x="640080" y="2029968"/>
            <a:ext cx="5257800" cy="868680"/>
          </a:xfrm>
          <a:prstGeom prst="rect">
            <a:avLst/>
          </a:prstGeom>
          <a:noFill/>
          <a:ln/>
        </p:spPr>
        <p:txBody>
          <a:bodyPr wrap="square" lIns="0" tIns="0" rIns="0" bIns="0" rtlCol="0" anchor="ctr"/>
          <a:lstStyle/>
          <a:p>
            <a:pPr algn="ctr" indent="0" marL="0">
              <a:buNone/>
            </a:pPr>
            <a:r>
              <a:rPr lang="en-US" sz="4800" b="1" dirty="0">
                <a:solidFill>
                  <a:srgbClr val="2A9D8F"/>
                </a:solidFill>
                <a:latin typeface="Inter" pitchFamily="34" charset="0"/>
                <a:ea typeface="Inter" pitchFamily="34" charset="-122"/>
                <a:cs typeface="Inter" pitchFamily="34" charset="-120"/>
              </a:rPr>
              <a:t>97%</a:t>
            </a:r>
            <a:endParaRPr lang="en-US" sz="4800" dirty="0"/>
          </a:p>
        </p:txBody>
      </p:sp>
      <p:sp>
        <p:nvSpPr>
          <p:cNvPr id="10" name="Text 7"/>
          <p:cNvSpPr/>
          <p:nvPr/>
        </p:nvSpPr>
        <p:spPr>
          <a:xfrm>
            <a:off x="914400" y="2971800"/>
            <a:ext cx="4709160" cy="1463040"/>
          </a:xfrm>
          <a:prstGeom prst="rect">
            <a:avLst/>
          </a:prstGeom>
          <a:noFill/>
          <a:ln/>
        </p:spPr>
        <p:txBody>
          <a:bodyPr wrap="square" lIns="0" tIns="0" rIns="0" bIns="0" rtlCol="0" anchor="ctr"/>
          <a:lstStyle/>
          <a:p>
            <a:pPr algn="ctr" indent="0" marL="0">
              <a:buNone/>
            </a:pPr>
            <a:r>
              <a:rPr lang="en-US" sz="1600" dirty="0">
                <a:solidFill>
                  <a:srgbClr val="1B1F24"/>
                </a:solidFill>
                <a:latin typeface="Inter" pitchFamily="34" charset="0"/>
                <a:ea typeface="Inter" pitchFamily="34" charset="-122"/>
                <a:cs typeface="Inter" pitchFamily="34" charset="-120"/>
              </a:rPr>
              <a:t>When teachers rated quiz questions drafted by AI, 97 in 100 were judged relevant to the topic they asked for. (Elkins et al., 2023)</a:t>
            </a:r>
            <a:endParaRPr lang="en-US" sz="1600" dirty="0"/>
          </a:p>
        </p:txBody>
      </p:sp>
      <p:sp>
        <p:nvSpPr>
          <p:cNvPr id="11" name="Shape 8"/>
          <p:cNvSpPr/>
          <p:nvPr/>
        </p:nvSpPr>
        <p:spPr>
          <a:xfrm>
            <a:off x="6263640" y="1600200"/>
            <a:ext cx="5257800" cy="2926080"/>
          </a:xfrm>
          <a:prstGeom prst="roundRect">
            <a:avLst>
              <a:gd name="adj" fmla="val 2813"/>
            </a:avLst>
          </a:prstGeom>
          <a:solidFill>
            <a:srgbClr val="EAF5F3"/>
          </a:solidFill>
          <a:ln w="12700">
            <a:solidFill>
              <a:srgbClr val="EAF5F3"/>
            </a:solidFill>
            <a:prstDash val="solid"/>
          </a:ln>
        </p:spPr>
      </p:sp>
      <p:sp>
        <p:nvSpPr>
          <p:cNvPr id="12" name="Text 9"/>
          <p:cNvSpPr/>
          <p:nvPr/>
        </p:nvSpPr>
        <p:spPr>
          <a:xfrm>
            <a:off x="6263640" y="1737360"/>
            <a:ext cx="5257800" cy="292608"/>
          </a:xfrm>
          <a:prstGeom prst="rect">
            <a:avLst/>
          </a:prstGeom>
          <a:noFill/>
          <a:ln/>
        </p:spPr>
        <p:txBody>
          <a:bodyPr wrap="square" lIns="0" tIns="0" rIns="0" bIns="0" rtlCol="0" anchor="ctr"/>
          <a:lstStyle/>
          <a:p>
            <a:pPr algn="ctr" indent="0" marL="0">
              <a:buNone/>
            </a:pPr>
            <a:r>
              <a:rPr lang="en-US" sz="1300" b="1" spc="200" kern="0" dirty="0">
                <a:solidFill>
                  <a:srgbClr val="2A9D8F"/>
                </a:solidFill>
                <a:latin typeface="Inter" pitchFamily="34" charset="0"/>
                <a:ea typeface="Inter" pitchFamily="34" charset="-122"/>
                <a:cs typeface="Inter" pitchFamily="34" charset="-120"/>
              </a:rPr>
              <a:t>HOW USEFUL TEACHERS FOUND THEM</a:t>
            </a:r>
            <a:endParaRPr lang="en-US" sz="1300" dirty="0"/>
          </a:p>
        </p:txBody>
      </p:sp>
      <p:sp>
        <p:nvSpPr>
          <p:cNvPr id="13" name="Text 10"/>
          <p:cNvSpPr/>
          <p:nvPr/>
        </p:nvSpPr>
        <p:spPr>
          <a:xfrm>
            <a:off x="6263640" y="2029968"/>
            <a:ext cx="5257800" cy="868680"/>
          </a:xfrm>
          <a:prstGeom prst="rect">
            <a:avLst/>
          </a:prstGeom>
          <a:noFill/>
          <a:ln/>
        </p:spPr>
        <p:txBody>
          <a:bodyPr wrap="square" lIns="0" tIns="0" rIns="0" bIns="0" rtlCol="0" anchor="ctr"/>
          <a:lstStyle/>
          <a:p>
            <a:pPr algn="ctr" indent="0" marL="0">
              <a:buNone/>
            </a:pPr>
            <a:r>
              <a:rPr lang="en-US" sz="4800" b="1" dirty="0">
                <a:solidFill>
                  <a:srgbClr val="2A9D8F"/>
                </a:solidFill>
                <a:latin typeface="Inter" pitchFamily="34" charset="0"/>
                <a:ea typeface="Inter" pitchFamily="34" charset="-122"/>
                <a:cs typeface="Inter" pitchFamily="34" charset="-120"/>
              </a:rPr>
              <a:t>3.6 / 4</a:t>
            </a:r>
            <a:endParaRPr lang="en-US" sz="4800" dirty="0"/>
          </a:p>
        </p:txBody>
      </p:sp>
      <p:sp>
        <p:nvSpPr>
          <p:cNvPr id="14" name="Text 11"/>
          <p:cNvSpPr/>
          <p:nvPr/>
        </p:nvSpPr>
        <p:spPr>
          <a:xfrm>
            <a:off x="6537960" y="2971800"/>
            <a:ext cx="4709160" cy="1463040"/>
          </a:xfrm>
          <a:prstGeom prst="rect">
            <a:avLst/>
          </a:prstGeom>
          <a:noFill/>
          <a:ln/>
        </p:spPr>
        <p:txBody>
          <a:bodyPr wrap="square" lIns="0" tIns="0" rIns="0" bIns="0" rtlCol="0" anchor="ctr"/>
          <a:lstStyle/>
          <a:p>
            <a:pPr algn="ctr" indent="0" marL="0">
              <a:buNone/>
            </a:pPr>
            <a:r>
              <a:rPr lang="en-US" sz="1600" dirty="0">
                <a:solidFill>
                  <a:srgbClr val="1B1F24"/>
                </a:solidFill>
                <a:latin typeface="Inter" pitchFamily="34" charset="0"/>
                <a:ea typeface="Inter" pitchFamily="34" charset="-122"/>
                <a:cs typeface="Inter" pitchFamily="34" charset="-120"/>
              </a:rPr>
              <a:t>The same teachers scored the questions’ usefulness 3.6 out of 4, and the study treats teacher vetting as integral, not optional. (same study)</a:t>
            </a:r>
            <a:endParaRPr lang="en-US" sz="1600" dirty="0"/>
          </a:p>
        </p:txBody>
      </p:sp>
      <p:sp>
        <p:nvSpPr>
          <p:cNvPr id="15" name="Text 12"/>
          <p:cNvSpPr/>
          <p:nvPr/>
        </p:nvSpPr>
        <p:spPr>
          <a:xfrm>
            <a:off x="640080" y="4892040"/>
            <a:ext cx="10972800" cy="822960"/>
          </a:xfrm>
          <a:prstGeom prst="rect">
            <a:avLst/>
          </a:prstGeom>
          <a:noFill/>
          <a:ln/>
        </p:spPr>
        <p:txBody>
          <a:bodyPr wrap="square" lIns="0" tIns="0" rIns="0" bIns="0" rtlCol="0" anchor="ctr"/>
          <a:lstStyle/>
          <a:p>
            <a:pPr algn="ctr" indent="0" marL="0">
              <a:buNone/>
            </a:pPr>
            <a:r>
              <a:rPr lang="en-US" sz="1900" b="1" dirty="0">
                <a:solidFill>
                  <a:srgbClr val="13293D"/>
                </a:solidFill>
                <a:latin typeface="Inter" pitchFamily="34" charset="0"/>
                <a:ea typeface="Inter" pitchFamily="34" charset="-122"/>
                <a:cs typeface="Inter" pitchFamily="34" charset="-120"/>
              </a:rPr>
              <a:t>Those numbers are why drafting works. The gap is why vetting isn’t optional. Every bank gets a vetting pass; every answer key gets checked.</a:t>
            </a:r>
            <a:endParaRPr lang="en-US" sz="1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11480" y="6473952"/>
            <a:ext cx="237744" cy="219456"/>
          </a:xfrm>
          <a:prstGeom prst="rect">
            <a:avLst/>
          </a:prstGeom>
        </p:spPr>
      </p:pic>
      <p:sp>
        <p:nvSpPr>
          <p:cNvPr id="3" name="Text 0"/>
          <p:cNvSpPr/>
          <p:nvPr/>
        </p:nvSpPr>
        <p:spPr>
          <a:xfrm>
            <a:off x="685800" y="6428232"/>
            <a:ext cx="2011680" cy="292608"/>
          </a:xfrm>
          <a:prstGeom prst="rect">
            <a:avLst/>
          </a:prstGeom>
          <a:noFill/>
          <a:ln/>
        </p:spPr>
        <p:txBody>
          <a:bodyPr wrap="square" lIns="0" tIns="0" rIns="0" bIns="0" rtlCol="0" anchor="ctr"/>
          <a:lstStyle/>
          <a:p>
            <a:pPr indent="0" marL="0">
              <a:buNone/>
            </a:pPr>
            <a:r>
              <a:rPr lang="en-US" sz="1000" b="1" dirty="0">
                <a:solidFill>
                  <a:srgbClr val="2A9D8F"/>
                </a:solidFill>
                <a:latin typeface="Inter" pitchFamily="34" charset="0"/>
                <a:ea typeface="Inter" pitchFamily="34" charset="-122"/>
                <a:cs typeface="Inter" pitchFamily="34" charset="-120"/>
              </a:rPr>
              <a:t>AI-Ready</a:t>
            </a:r>
            <a:pPr indent="0" marL="0">
              <a:buNone/>
            </a:pPr>
            <a:r>
              <a:rPr lang="en-US" sz="1000" b="1" dirty="0">
                <a:solidFill>
                  <a:srgbClr val="13293D"/>
                </a:solidFill>
                <a:latin typeface="Inter" pitchFamily="34" charset="0"/>
                <a:ea typeface="Inter" pitchFamily="34" charset="-122"/>
                <a:cs typeface="Inter" pitchFamily="34" charset="-120"/>
              </a:rPr>
              <a:t> School</a:t>
            </a:r>
            <a:endParaRPr lang="en-US" sz="1000" dirty="0"/>
          </a:p>
        </p:txBody>
      </p:sp>
      <p:sp>
        <p:nvSpPr>
          <p:cNvPr id="4" name="Text 1"/>
          <p:cNvSpPr/>
          <p:nvPr/>
        </p:nvSpPr>
        <p:spPr>
          <a:xfrm>
            <a:off x="8897112" y="6428232"/>
            <a:ext cx="2880360" cy="292608"/>
          </a:xfrm>
          <a:prstGeom prst="rect">
            <a:avLst/>
          </a:prstGeom>
          <a:noFill/>
          <a:ln/>
        </p:spPr>
        <p:txBody>
          <a:bodyPr wrap="square" lIns="0" tIns="0" rIns="0" bIns="0" rtlCol="0" anchor="ctr"/>
          <a:lstStyle/>
          <a:p>
            <a:pPr algn="r" indent="0" marL="0">
              <a:buNone/>
            </a:pPr>
            <a:r>
              <a:rPr lang="en-US" sz="900" dirty="0">
                <a:solidFill>
                  <a:srgbClr val="5B6B7A"/>
                </a:solidFill>
                <a:latin typeface="Inter" pitchFamily="34" charset="0"/>
                <a:ea typeface="Inter" pitchFamily="34" charset="-122"/>
                <a:cs typeface="Inter" pitchFamily="34" charset="-120"/>
              </a:rPr>
              <a:t>Kit 4 · AI for Assessment   |   13</a:t>
            </a:r>
            <a:endParaRPr lang="en-US" sz="900" dirty="0"/>
          </a:p>
        </p:txBody>
      </p:sp>
      <p:sp>
        <p:nvSpPr>
          <p:cNvPr id="5" name="Text 2"/>
          <p:cNvSpPr/>
          <p:nvPr/>
        </p:nvSpPr>
        <p:spPr>
          <a:xfrm>
            <a:off x="566928" y="128016"/>
            <a:ext cx="11055096" cy="274320"/>
          </a:xfrm>
          <a:prstGeom prst="rect">
            <a:avLst/>
          </a:prstGeom>
          <a:noFill/>
          <a:ln/>
        </p:spPr>
        <p:txBody>
          <a:bodyPr wrap="square" lIns="0" tIns="0" rIns="0" bIns="0" rtlCol="0" anchor="ctr"/>
          <a:lstStyle/>
          <a:p>
            <a:pPr indent="0" marL="0">
              <a:buNone/>
            </a:pPr>
            <a:r>
              <a:rPr lang="en-US" sz="1200" b="1" spc="200" kern="0" dirty="0">
                <a:solidFill>
                  <a:srgbClr val="2A9D8F"/>
                </a:solidFill>
                <a:latin typeface="Inter" pitchFamily="34" charset="0"/>
                <a:ea typeface="Inter" pitchFamily="34" charset="-122"/>
                <a:cs typeface="Inter" pitchFamily="34" charset="-120"/>
              </a:rPr>
              <a:t>WORKSHOP #3 · FEEDBACK · BOTH HALVES OF THE EVIDENCE</a:t>
            </a:r>
            <a:endParaRPr lang="en-US" sz="1200" dirty="0"/>
          </a:p>
        </p:txBody>
      </p:sp>
      <p:sp>
        <p:nvSpPr>
          <p:cNvPr id="6" name="Text 3"/>
          <p:cNvSpPr/>
          <p:nvPr/>
        </p:nvSpPr>
        <p:spPr>
          <a:xfrm>
            <a:off x="548640" y="384048"/>
            <a:ext cx="11091672" cy="777240"/>
          </a:xfrm>
          <a:prstGeom prst="rect">
            <a:avLst/>
          </a:prstGeom>
          <a:noFill/>
          <a:ln/>
        </p:spPr>
        <p:txBody>
          <a:bodyPr wrap="square" lIns="0" tIns="0" rIns="0" bIns="0" rtlCol="0" anchor="ctr"/>
          <a:lstStyle/>
          <a:p>
            <a:pPr indent="0" marL="0">
              <a:buNone/>
            </a:pPr>
            <a:r>
              <a:rPr lang="en-US" sz="3200" b="1" dirty="0">
                <a:solidFill>
                  <a:srgbClr val="13293D"/>
                </a:solidFill>
                <a:latin typeface="Inter" pitchFamily="34" charset="0"/>
                <a:ea typeface="Inter" pitchFamily="34" charset="-122"/>
                <a:cs typeface="Inter" pitchFamily="34" charset="-120"/>
              </a:rPr>
              <a:t>The honest evidence on AI feedback</a:t>
            </a:r>
            <a:endParaRPr lang="en-US" sz="3200" dirty="0"/>
          </a:p>
        </p:txBody>
      </p:sp>
      <p:sp>
        <p:nvSpPr>
          <p:cNvPr id="7" name="Shape 4"/>
          <p:cNvSpPr/>
          <p:nvPr/>
        </p:nvSpPr>
        <p:spPr>
          <a:xfrm>
            <a:off x="640080" y="1554480"/>
            <a:ext cx="5394960" cy="3291840"/>
          </a:xfrm>
          <a:prstGeom prst="roundRect">
            <a:avLst>
              <a:gd name="adj" fmla="val 2500"/>
            </a:avLst>
          </a:prstGeom>
          <a:solidFill>
            <a:srgbClr val="F7F5F0"/>
          </a:solidFill>
          <a:ln w="12700">
            <a:solidFill>
              <a:srgbClr val="F7F5F0"/>
            </a:solidFill>
            <a:prstDash val="solid"/>
          </a:ln>
        </p:spPr>
      </p:sp>
      <p:sp>
        <p:nvSpPr>
          <p:cNvPr id="8" name="Text 5"/>
          <p:cNvSpPr/>
          <p:nvPr/>
        </p:nvSpPr>
        <p:spPr>
          <a:xfrm>
            <a:off x="960120" y="1828800"/>
            <a:ext cx="4754880" cy="457200"/>
          </a:xfrm>
          <a:prstGeom prst="rect">
            <a:avLst/>
          </a:prstGeom>
          <a:noFill/>
          <a:ln/>
        </p:spPr>
        <p:txBody>
          <a:bodyPr wrap="square" lIns="0" tIns="0" rIns="0" bIns="0" rtlCol="0" anchor="ctr"/>
          <a:lstStyle/>
          <a:p>
            <a:pPr indent="0" marL="0">
              <a:buNone/>
            </a:pPr>
            <a:r>
              <a:rPr lang="en-US" sz="2000" b="1" dirty="0">
                <a:solidFill>
                  <a:srgbClr val="13293D"/>
                </a:solidFill>
                <a:latin typeface="Inter" pitchFamily="34" charset="0"/>
                <a:ea typeface="Inter" pitchFamily="34" charset="-122"/>
                <a:cs typeface="Inter" pitchFamily="34" charset="-120"/>
              </a:rPr>
              <a:t>Trained humans win</a:t>
            </a:r>
            <a:endParaRPr lang="en-US" sz="2000" dirty="0"/>
          </a:p>
        </p:txBody>
      </p:sp>
      <p:sp>
        <p:nvSpPr>
          <p:cNvPr id="9" name="Text 6"/>
          <p:cNvSpPr/>
          <p:nvPr/>
        </p:nvSpPr>
        <p:spPr>
          <a:xfrm>
            <a:off x="960120" y="2377440"/>
            <a:ext cx="4754880" cy="2194560"/>
          </a:xfrm>
          <a:prstGeom prst="rect">
            <a:avLst/>
          </a:prstGeom>
          <a:noFill/>
          <a:ln/>
        </p:spPr>
        <p:txBody>
          <a:bodyPr wrap="square" lIns="0" tIns="0" rIns="0" bIns="0" rtlCol="0" anchor="t"/>
          <a:lstStyle/>
          <a:p>
            <a:pPr indent="0" marL="0">
              <a:buNone/>
            </a:pPr>
            <a:r>
              <a:rPr lang="en-US" sz="1650" dirty="0">
                <a:solidFill>
                  <a:srgbClr val="1B1F24"/>
                </a:solidFill>
                <a:latin typeface="Inter" pitchFamily="34" charset="0"/>
                <a:ea typeface="Inter" pitchFamily="34" charset="-122"/>
                <a:cs typeface="Inter" pitchFamily="34" charset="-120"/>
              </a:rPr>
              <a:t>Well-trained humans beat ChatGPT on nearly every dimension of feedback quality on student writing. (Steiss et al., 2024)</a:t>
            </a:r>
            <a:endParaRPr lang="en-US" sz="1650" dirty="0"/>
          </a:p>
        </p:txBody>
      </p:sp>
      <p:sp>
        <p:nvSpPr>
          <p:cNvPr id="10" name="Shape 7"/>
          <p:cNvSpPr/>
          <p:nvPr/>
        </p:nvSpPr>
        <p:spPr>
          <a:xfrm>
            <a:off x="6263640" y="1554480"/>
            <a:ext cx="5394960" cy="3291840"/>
          </a:xfrm>
          <a:prstGeom prst="roundRect">
            <a:avLst>
              <a:gd name="adj" fmla="val 2500"/>
            </a:avLst>
          </a:prstGeom>
          <a:solidFill>
            <a:srgbClr val="F7F5F0"/>
          </a:solidFill>
          <a:ln w="12700">
            <a:solidFill>
              <a:srgbClr val="F7F5F0"/>
            </a:solidFill>
            <a:prstDash val="solid"/>
          </a:ln>
        </p:spPr>
      </p:sp>
      <p:sp>
        <p:nvSpPr>
          <p:cNvPr id="11" name="Text 8"/>
          <p:cNvSpPr/>
          <p:nvPr/>
        </p:nvSpPr>
        <p:spPr>
          <a:xfrm>
            <a:off x="6583680" y="1828800"/>
            <a:ext cx="4754880" cy="457200"/>
          </a:xfrm>
          <a:prstGeom prst="rect">
            <a:avLst/>
          </a:prstGeom>
          <a:noFill/>
          <a:ln/>
        </p:spPr>
        <p:txBody>
          <a:bodyPr wrap="square" lIns="0" tIns="0" rIns="0" bIns="0" rtlCol="0" anchor="ctr"/>
          <a:lstStyle/>
          <a:p>
            <a:pPr indent="0" marL="0">
              <a:buNone/>
            </a:pPr>
            <a:r>
              <a:rPr lang="en-US" sz="2000" b="1" dirty="0">
                <a:solidFill>
                  <a:srgbClr val="13293D"/>
                </a:solidFill>
                <a:latin typeface="Inter" pitchFamily="34" charset="0"/>
                <a:ea typeface="Inter" pitchFamily="34" charset="-122"/>
                <a:cs typeface="Inter" pitchFamily="34" charset="-120"/>
              </a:rPr>
              <a:t>Outcomes look similar</a:t>
            </a:r>
            <a:endParaRPr lang="en-US" sz="2000" dirty="0"/>
          </a:p>
        </p:txBody>
      </p:sp>
      <p:sp>
        <p:nvSpPr>
          <p:cNvPr id="12" name="Text 9"/>
          <p:cNvSpPr/>
          <p:nvPr/>
        </p:nvSpPr>
        <p:spPr>
          <a:xfrm>
            <a:off x="6583680" y="2377440"/>
            <a:ext cx="4754880" cy="2194560"/>
          </a:xfrm>
          <a:prstGeom prst="rect">
            <a:avLst/>
          </a:prstGeom>
          <a:noFill/>
          <a:ln/>
        </p:spPr>
        <p:txBody>
          <a:bodyPr wrap="square" lIns="0" tIns="0" rIns="0" bIns="0" rtlCol="0" anchor="t"/>
          <a:lstStyle/>
          <a:p>
            <a:pPr indent="0" marL="0">
              <a:buNone/>
            </a:pPr>
            <a:r>
              <a:rPr lang="en-US" sz="1650" dirty="0">
                <a:solidFill>
                  <a:srgbClr val="1B1F24"/>
                </a:solidFill>
                <a:latin typeface="Inter" pitchFamily="34" charset="0"/>
                <a:ea typeface="Inter" pitchFamily="34" charset="-122"/>
                <a:cs typeface="Inter" pitchFamily="34" charset="-120"/>
              </a:rPr>
              <a:t>Across 41 studies (4,813 students), no statistically significant difference in learning between AI and human feedback. (Kaliisa et al., 2025)</a:t>
            </a:r>
            <a:endParaRPr lang="en-US" sz="1650" dirty="0"/>
          </a:p>
        </p:txBody>
      </p:sp>
      <p:sp>
        <p:nvSpPr>
          <p:cNvPr id="13" name="Text 10"/>
          <p:cNvSpPr/>
          <p:nvPr/>
        </p:nvSpPr>
        <p:spPr>
          <a:xfrm>
            <a:off x="640080" y="5120640"/>
            <a:ext cx="10972800" cy="502920"/>
          </a:xfrm>
          <a:prstGeom prst="rect">
            <a:avLst/>
          </a:prstGeom>
          <a:noFill/>
          <a:ln/>
        </p:spPr>
        <p:txBody>
          <a:bodyPr wrap="square" lIns="0" tIns="0" rIns="0" bIns="0" rtlCol="0" anchor="ctr"/>
          <a:lstStyle/>
          <a:p>
            <a:pPr algn="ctr" indent="0" marL="0">
              <a:buNone/>
            </a:pPr>
            <a:r>
              <a:rPr lang="en-US" sz="2000" b="1" dirty="0">
                <a:solidFill>
                  <a:srgbClr val="13293D"/>
                </a:solidFill>
                <a:latin typeface="Inter" pitchFamily="34" charset="0"/>
                <a:ea typeface="Inter" pitchFamily="34" charset="-122"/>
                <a:cs typeface="Inter" pitchFamily="34" charset="-120"/>
              </a:rPr>
              <a:t>Both are true. AI feedback language is a floor and a fast draft. You are the ceiling.</a:t>
            </a:r>
            <a:endParaRPr lang="en-US" sz="2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11480" y="6473952"/>
            <a:ext cx="237744" cy="219456"/>
          </a:xfrm>
          <a:prstGeom prst="rect">
            <a:avLst/>
          </a:prstGeom>
        </p:spPr>
      </p:pic>
      <p:sp>
        <p:nvSpPr>
          <p:cNvPr id="3" name="Text 0"/>
          <p:cNvSpPr/>
          <p:nvPr/>
        </p:nvSpPr>
        <p:spPr>
          <a:xfrm>
            <a:off x="685800" y="6428232"/>
            <a:ext cx="2011680" cy="292608"/>
          </a:xfrm>
          <a:prstGeom prst="rect">
            <a:avLst/>
          </a:prstGeom>
          <a:noFill/>
          <a:ln/>
        </p:spPr>
        <p:txBody>
          <a:bodyPr wrap="square" lIns="0" tIns="0" rIns="0" bIns="0" rtlCol="0" anchor="ctr"/>
          <a:lstStyle/>
          <a:p>
            <a:pPr indent="0" marL="0">
              <a:buNone/>
            </a:pPr>
            <a:r>
              <a:rPr lang="en-US" sz="1000" b="1" dirty="0">
                <a:solidFill>
                  <a:srgbClr val="2A9D8F"/>
                </a:solidFill>
                <a:latin typeface="Inter" pitchFamily="34" charset="0"/>
                <a:ea typeface="Inter" pitchFamily="34" charset="-122"/>
                <a:cs typeface="Inter" pitchFamily="34" charset="-120"/>
              </a:rPr>
              <a:t>AI-Ready</a:t>
            </a:r>
            <a:pPr indent="0" marL="0">
              <a:buNone/>
            </a:pPr>
            <a:r>
              <a:rPr lang="en-US" sz="1000" b="1" dirty="0">
                <a:solidFill>
                  <a:srgbClr val="13293D"/>
                </a:solidFill>
                <a:latin typeface="Inter" pitchFamily="34" charset="0"/>
                <a:ea typeface="Inter" pitchFamily="34" charset="-122"/>
                <a:cs typeface="Inter" pitchFamily="34" charset="-120"/>
              </a:rPr>
              <a:t> School</a:t>
            </a:r>
            <a:endParaRPr lang="en-US" sz="1000" dirty="0"/>
          </a:p>
        </p:txBody>
      </p:sp>
      <p:sp>
        <p:nvSpPr>
          <p:cNvPr id="4" name="Text 1"/>
          <p:cNvSpPr/>
          <p:nvPr/>
        </p:nvSpPr>
        <p:spPr>
          <a:xfrm>
            <a:off x="8897112" y="6428232"/>
            <a:ext cx="2880360" cy="292608"/>
          </a:xfrm>
          <a:prstGeom prst="rect">
            <a:avLst/>
          </a:prstGeom>
          <a:noFill/>
          <a:ln/>
        </p:spPr>
        <p:txBody>
          <a:bodyPr wrap="square" lIns="0" tIns="0" rIns="0" bIns="0" rtlCol="0" anchor="ctr"/>
          <a:lstStyle/>
          <a:p>
            <a:pPr algn="r" indent="0" marL="0">
              <a:buNone/>
            </a:pPr>
            <a:r>
              <a:rPr lang="en-US" sz="900" dirty="0">
                <a:solidFill>
                  <a:srgbClr val="5B6B7A"/>
                </a:solidFill>
                <a:latin typeface="Inter" pitchFamily="34" charset="0"/>
                <a:ea typeface="Inter" pitchFamily="34" charset="-122"/>
                <a:cs typeface="Inter" pitchFamily="34" charset="-120"/>
              </a:rPr>
              <a:t>Kit 4 · AI for Assessment   |   14</a:t>
            </a:r>
            <a:endParaRPr lang="en-US" sz="900" dirty="0"/>
          </a:p>
        </p:txBody>
      </p:sp>
      <p:sp>
        <p:nvSpPr>
          <p:cNvPr id="5" name="Text 2"/>
          <p:cNvSpPr/>
          <p:nvPr/>
        </p:nvSpPr>
        <p:spPr>
          <a:xfrm>
            <a:off x="566928" y="128016"/>
            <a:ext cx="11055096" cy="274320"/>
          </a:xfrm>
          <a:prstGeom prst="rect">
            <a:avLst/>
          </a:prstGeom>
          <a:noFill/>
          <a:ln/>
        </p:spPr>
        <p:txBody>
          <a:bodyPr wrap="square" lIns="0" tIns="0" rIns="0" bIns="0" rtlCol="0" anchor="ctr"/>
          <a:lstStyle/>
          <a:p>
            <a:pPr indent="0" marL="0">
              <a:buNone/>
            </a:pPr>
            <a:r>
              <a:rPr lang="en-US" sz="1200" b="1" spc="200" kern="0" dirty="0">
                <a:solidFill>
                  <a:srgbClr val="2A9D8F"/>
                </a:solidFill>
                <a:latin typeface="Inter" pitchFamily="34" charset="0"/>
                <a:ea typeface="Inter" pitchFamily="34" charset="-122"/>
                <a:cs typeface="Inter" pitchFamily="34" charset="-120"/>
              </a:rPr>
              <a:t>THE WORKFLOW: DESCRIBE THE PATTERN, NOT THE STUDENT</a:t>
            </a:r>
            <a:endParaRPr lang="en-US" sz="1200" dirty="0"/>
          </a:p>
        </p:txBody>
      </p:sp>
      <p:sp>
        <p:nvSpPr>
          <p:cNvPr id="6" name="Text 3"/>
          <p:cNvSpPr/>
          <p:nvPr/>
        </p:nvSpPr>
        <p:spPr>
          <a:xfrm>
            <a:off x="548640" y="384048"/>
            <a:ext cx="11091672" cy="777240"/>
          </a:xfrm>
          <a:prstGeom prst="rect">
            <a:avLst/>
          </a:prstGeom>
          <a:noFill/>
          <a:ln/>
        </p:spPr>
        <p:txBody>
          <a:bodyPr wrap="square" lIns="0" tIns="0" rIns="0" bIns="0" rtlCol="0" anchor="ctr"/>
          <a:lstStyle/>
          <a:p>
            <a:pPr indent="0" marL="0">
              <a:buNone/>
            </a:pPr>
            <a:r>
              <a:rPr lang="en-US" sz="3200" b="1" dirty="0">
                <a:solidFill>
                  <a:srgbClr val="13293D"/>
                </a:solidFill>
                <a:latin typeface="Inter" pitchFamily="34" charset="0"/>
                <a:ea typeface="Inter" pitchFamily="34" charset="-122"/>
                <a:cs typeface="Inter" pitchFamily="34" charset="-120"/>
              </a:rPr>
              <a:t>Feedback starters for common patterns</a:t>
            </a:r>
            <a:endParaRPr lang="en-US" sz="3200" dirty="0"/>
          </a:p>
        </p:txBody>
      </p:sp>
      <p:sp>
        <p:nvSpPr>
          <p:cNvPr id="7" name="Shape 4"/>
          <p:cNvSpPr/>
          <p:nvPr/>
        </p:nvSpPr>
        <p:spPr>
          <a:xfrm>
            <a:off x="640080" y="1508760"/>
            <a:ext cx="10972800" cy="2651760"/>
          </a:xfrm>
          <a:prstGeom prst="roundRect">
            <a:avLst>
              <a:gd name="adj" fmla="val 3103"/>
            </a:avLst>
          </a:prstGeom>
          <a:solidFill>
            <a:srgbClr val="EAF5F3"/>
          </a:solidFill>
          <a:ln w="12700">
            <a:solidFill>
              <a:srgbClr val="EAF5F3"/>
            </a:solidFill>
            <a:prstDash val="solid"/>
          </a:ln>
        </p:spPr>
      </p:sp>
      <p:sp>
        <p:nvSpPr>
          <p:cNvPr id="8" name="Text 5"/>
          <p:cNvSpPr/>
          <p:nvPr/>
        </p:nvSpPr>
        <p:spPr>
          <a:xfrm>
            <a:off x="960120" y="1737360"/>
            <a:ext cx="10332720" cy="2194560"/>
          </a:xfrm>
          <a:prstGeom prst="rect">
            <a:avLst/>
          </a:prstGeom>
          <a:noFill/>
          <a:ln/>
        </p:spPr>
        <p:txBody>
          <a:bodyPr wrap="square" lIns="0" tIns="0" rIns="0" bIns="0" rtlCol="0" anchor="ctr"/>
          <a:lstStyle/>
          <a:p>
            <a:pPr indent="0" marL="0">
              <a:buNone/>
            </a:pPr>
            <a:r>
              <a:rPr lang="en-US" sz="1650" i="1" dirty="0">
                <a:solidFill>
                  <a:srgbClr val="13293D"/>
                </a:solidFill>
                <a:latin typeface="Inter" pitchFamily="34" charset="0"/>
                <a:ea typeface="Inter" pitchFamily="34" charset="-122"/>
                <a:cs typeface="Inter" pitchFamily="34" charset="-120"/>
              </a:rPr>
              <a:t>“Here are the three most common patterns in my students’ persuasive essays: claims with no evidence, evidence with no explanation, conclusions that introduce new arguments. For each, draft a 2–3 sentence feedback comment: name something the writer did well, name the pattern plainly, give one concrete next step. Warm, specific, readable by a 7th grader. I’ll personalize every comment before a student sees it.”</a:t>
            </a:r>
            <a:endParaRPr lang="en-US" sz="1650" dirty="0"/>
          </a:p>
        </p:txBody>
      </p:sp>
      <p:sp>
        <p:nvSpPr>
          <p:cNvPr id="9" name="Text 6"/>
          <p:cNvSpPr/>
          <p:nvPr/>
        </p:nvSpPr>
        <p:spPr>
          <a:xfrm>
            <a:off x="640080" y="4434840"/>
            <a:ext cx="10908792" cy="1371600"/>
          </a:xfrm>
          <a:prstGeom prst="rect">
            <a:avLst/>
          </a:prstGeom>
          <a:noFill/>
          <a:ln/>
        </p:spPr>
        <p:txBody>
          <a:bodyPr wrap="square" rtlCol="0" anchor="t"/>
          <a:lstStyle/>
          <a:p>
            <a:pPr marL="342900" indent="-342900">
              <a:spcAft>
                <a:spcPts val="1000"/>
              </a:spcAft>
              <a:buSzPct val="100000"/>
              <a:buChar char="•"/>
            </a:pPr>
            <a:r>
              <a:rPr lang="en-US" sz="2000" dirty="0">
                <a:solidFill>
                  <a:srgbClr val="1B1F24"/>
                </a:solidFill>
                <a:latin typeface="Inter" pitchFamily="34" charset="0"/>
                <a:ea typeface="Inter" pitchFamily="34" charset="-122"/>
                <a:cs typeface="Inter" pitchFamily="34" charset="-120"/>
              </a:rPr>
              <a:t>No student work needed at all: you already know your patterns by heart</a:t>
            </a:r>
            <a:endParaRPr lang="en-US" sz="2000" dirty="0"/>
          </a:p>
          <a:p>
            <a:pPr marL="342900" indent="-342900">
              <a:spcAft>
                <a:spcPts val="1000"/>
              </a:spcAft>
              <a:buSzPct val="100000"/>
              <a:buChar char="•"/>
            </a:pPr>
            <a:r>
              <a:rPr lang="en-US" sz="2000" b="1" dirty="0">
                <a:solidFill>
                  <a:srgbClr val="13293D"/>
                </a:solidFill>
                <a:latin typeface="Inter" pitchFamily="34" charset="0"/>
                <a:ea typeface="Inter" pitchFamily="34" charset="-122"/>
                <a:cs typeface="Inter" pitchFamily="34" charset="-120"/>
              </a:rPr>
              <a:t>Starters, not stamps: you add the sentence only you can write, then you deliver it</a:t>
            </a:r>
            <a:endParaRPr lang="en-US" sz="2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3293D"/>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11480" y="6473952"/>
            <a:ext cx="237744" cy="219456"/>
          </a:xfrm>
          <a:prstGeom prst="rect">
            <a:avLst/>
          </a:prstGeom>
        </p:spPr>
      </p:pic>
      <p:sp>
        <p:nvSpPr>
          <p:cNvPr id="3" name="Text 0"/>
          <p:cNvSpPr/>
          <p:nvPr/>
        </p:nvSpPr>
        <p:spPr>
          <a:xfrm>
            <a:off x="685800" y="6428232"/>
            <a:ext cx="2011680" cy="292608"/>
          </a:xfrm>
          <a:prstGeom prst="rect">
            <a:avLst/>
          </a:prstGeom>
          <a:noFill/>
          <a:ln/>
        </p:spPr>
        <p:txBody>
          <a:bodyPr wrap="square" lIns="0" tIns="0" rIns="0" bIns="0" rtlCol="0" anchor="ctr"/>
          <a:lstStyle/>
          <a:p>
            <a:pPr indent="0" marL="0">
              <a:buNone/>
            </a:pPr>
            <a:r>
              <a:rPr lang="en-US" sz="1000" b="1" dirty="0">
                <a:solidFill>
                  <a:srgbClr val="2A9D8F"/>
                </a:solidFill>
                <a:latin typeface="Inter" pitchFamily="34" charset="0"/>
                <a:ea typeface="Inter" pitchFamily="34" charset="-122"/>
                <a:cs typeface="Inter" pitchFamily="34" charset="-120"/>
              </a:rPr>
              <a:t>AI-Ready</a:t>
            </a:r>
            <a:pPr indent="0" marL="0">
              <a:buNone/>
            </a:pPr>
            <a:r>
              <a:rPr lang="en-US" sz="1000" b="1" dirty="0">
                <a:solidFill>
                  <a:srgbClr val="FFFFFF"/>
                </a:solidFill>
                <a:latin typeface="Inter" pitchFamily="34" charset="0"/>
                <a:ea typeface="Inter" pitchFamily="34" charset="-122"/>
                <a:cs typeface="Inter" pitchFamily="34" charset="-120"/>
              </a:rPr>
              <a:t> School</a:t>
            </a:r>
            <a:endParaRPr lang="en-US" sz="1000" dirty="0"/>
          </a:p>
        </p:txBody>
      </p:sp>
      <p:sp>
        <p:nvSpPr>
          <p:cNvPr id="4" name="Text 1"/>
          <p:cNvSpPr/>
          <p:nvPr/>
        </p:nvSpPr>
        <p:spPr>
          <a:xfrm>
            <a:off x="8897112" y="6428232"/>
            <a:ext cx="2880360" cy="292608"/>
          </a:xfrm>
          <a:prstGeom prst="rect">
            <a:avLst/>
          </a:prstGeom>
          <a:noFill/>
          <a:ln/>
        </p:spPr>
        <p:txBody>
          <a:bodyPr wrap="square" lIns="0" tIns="0" rIns="0" bIns="0" rtlCol="0" anchor="ctr"/>
          <a:lstStyle/>
          <a:p>
            <a:pPr algn="r" indent="0" marL="0">
              <a:buNone/>
            </a:pPr>
            <a:r>
              <a:rPr lang="en-US" sz="900" dirty="0">
                <a:solidFill>
                  <a:srgbClr val="9FB2C2"/>
                </a:solidFill>
                <a:latin typeface="Inter" pitchFamily="34" charset="0"/>
                <a:ea typeface="Inter" pitchFamily="34" charset="-122"/>
                <a:cs typeface="Inter" pitchFamily="34" charset="-120"/>
              </a:rPr>
              <a:t>Kit 4 · AI for Assessment   |   15</a:t>
            </a:r>
            <a:endParaRPr lang="en-US" sz="900" dirty="0"/>
          </a:p>
        </p:txBody>
      </p:sp>
      <p:sp>
        <p:nvSpPr>
          <p:cNvPr id="5" name="Text 2"/>
          <p:cNvSpPr/>
          <p:nvPr/>
        </p:nvSpPr>
        <p:spPr>
          <a:xfrm>
            <a:off x="566928" y="128016"/>
            <a:ext cx="11055096" cy="274320"/>
          </a:xfrm>
          <a:prstGeom prst="rect">
            <a:avLst/>
          </a:prstGeom>
          <a:noFill/>
          <a:ln/>
        </p:spPr>
        <p:txBody>
          <a:bodyPr wrap="square" lIns="0" tIns="0" rIns="0" bIns="0" rtlCol="0" anchor="ctr"/>
          <a:lstStyle/>
          <a:p>
            <a:pPr indent="0" marL="0">
              <a:buNone/>
            </a:pPr>
            <a:r>
              <a:rPr lang="en-US" sz="1200" b="1" spc="200" kern="0" dirty="0">
                <a:solidFill>
                  <a:srgbClr val="F4A825"/>
                </a:solidFill>
                <a:latin typeface="Inter" pitchFamily="34" charset="0"/>
                <a:ea typeface="Inter" pitchFamily="34" charset="-122"/>
                <a:cs typeface="Inter" pitchFamily="34" charset="-120"/>
              </a:rPr>
              <a:t>IN WRITING, SO NOBODY GUESSES</a:t>
            </a:r>
            <a:endParaRPr lang="en-US" sz="1200" dirty="0"/>
          </a:p>
        </p:txBody>
      </p:sp>
      <p:sp>
        <p:nvSpPr>
          <p:cNvPr id="6" name="Text 3"/>
          <p:cNvSpPr/>
          <p:nvPr/>
        </p:nvSpPr>
        <p:spPr>
          <a:xfrm>
            <a:off x="640080" y="1097280"/>
            <a:ext cx="10972800" cy="731520"/>
          </a:xfrm>
          <a:prstGeom prst="rect">
            <a:avLst/>
          </a:prstGeom>
          <a:noFill/>
          <a:ln/>
        </p:spPr>
        <p:txBody>
          <a:bodyPr wrap="square" lIns="0" tIns="0" rIns="0" bIns="0" rtlCol="0" anchor="ctr"/>
          <a:lstStyle/>
          <a:p>
            <a:pPr indent="0" marL="0">
              <a:buNone/>
            </a:pPr>
            <a:r>
              <a:rPr lang="en-US" sz="4000" b="1" dirty="0">
                <a:solidFill>
                  <a:srgbClr val="FFFFFF"/>
                </a:solidFill>
                <a:latin typeface="Inter" pitchFamily="34" charset="0"/>
                <a:ea typeface="Inter" pitchFamily="34" charset="-122"/>
                <a:cs typeface="Inter" pitchFamily="34" charset="-120"/>
              </a:rPr>
              <a:t>The red lines</a:t>
            </a:r>
            <a:endParaRPr lang="en-US" sz="4000" dirty="0"/>
          </a:p>
        </p:txBody>
      </p:sp>
      <p:sp>
        <p:nvSpPr>
          <p:cNvPr id="7" name="Shape 4"/>
          <p:cNvSpPr/>
          <p:nvPr/>
        </p:nvSpPr>
        <p:spPr>
          <a:xfrm>
            <a:off x="822960" y="2194560"/>
            <a:ext cx="658368" cy="658368"/>
          </a:xfrm>
          <a:prstGeom prst="ellipse">
            <a:avLst/>
          </a:prstGeom>
          <a:solidFill>
            <a:srgbClr val="F4A825"/>
          </a:solidFill>
          <a:ln w="12700">
            <a:solidFill>
              <a:srgbClr val="F4A825"/>
            </a:solidFill>
            <a:prstDash val="solid"/>
          </a:ln>
        </p:spPr>
      </p:sp>
      <p:sp>
        <p:nvSpPr>
          <p:cNvPr id="8" name="Text 5"/>
          <p:cNvSpPr/>
          <p:nvPr/>
        </p:nvSpPr>
        <p:spPr>
          <a:xfrm>
            <a:off x="822960" y="2194560"/>
            <a:ext cx="658368" cy="658368"/>
          </a:xfrm>
          <a:prstGeom prst="rect">
            <a:avLst/>
          </a:prstGeom>
          <a:noFill/>
          <a:ln/>
        </p:spPr>
        <p:txBody>
          <a:bodyPr wrap="square" lIns="0" tIns="0" rIns="0" bIns="0" rtlCol="0" anchor="ctr"/>
          <a:lstStyle/>
          <a:p>
            <a:pPr algn="ctr" indent="0" marL="0">
              <a:buNone/>
            </a:pPr>
            <a:r>
              <a:rPr lang="en-US" sz="2400" b="1" dirty="0">
                <a:solidFill>
                  <a:srgbClr val="13293D"/>
                </a:solidFill>
                <a:latin typeface="Inter" pitchFamily="34" charset="0"/>
                <a:ea typeface="Inter" pitchFamily="34" charset="-122"/>
                <a:cs typeface="Inter" pitchFamily="34" charset="-120"/>
              </a:rPr>
              <a:t>1</a:t>
            </a:r>
            <a:endParaRPr lang="en-US" sz="2400" dirty="0"/>
          </a:p>
        </p:txBody>
      </p:sp>
      <p:sp>
        <p:nvSpPr>
          <p:cNvPr id="9" name="Text 6"/>
          <p:cNvSpPr/>
          <p:nvPr/>
        </p:nvSpPr>
        <p:spPr>
          <a:xfrm>
            <a:off x="1691640" y="2084832"/>
            <a:ext cx="9784080" cy="877824"/>
          </a:xfrm>
          <a:prstGeom prst="rect">
            <a:avLst/>
          </a:prstGeom>
          <a:noFill/>
          <a:ln/>
        </p:spPr>
        <p:txBody>
          <a:bodyPr wrap="square" lIns="0" tIns="0" rIns="0" bIns="0" rtlCol="0" anchor="ctr"/>
          <a:lstStyle/>
          <a:p>
            <a:pPr indent="0" marL="0">
              <a:buNone/>
            </a:pPr>
            <a:r>
              <a:rPr lang="en-US" sz="2000" dirty="0">
                <a:solidFill>
                  <a:srgbClr val="FFFFFF"/>
                </a:solidFill>
                <a:latin typeface="Inter" pitchFamily="34" charset="0"/>
                <a:ea typeface="Inter" pitchFamily="34" charset="-122"/>
                <a:cs typeface="Inter" pitchFamily="34" charset="-120"/>
              </a:rPr>
              <a:t>AI never grades. No score or decision about a student ever comes from a machine.</a:t>
            </a:r>
            <a:endParaRPr lang="en-US" sz="2000" dirty="0"/>
          </a:p>
        </p:txBody>
      </p:sp>
      <p:sp>
        <p:nvSpPr>
          <p:cNvPr id="10" name="Shape 7"/>
          <p:cNvSpPr/>
          <p:nvPr/>
        </p:nvSpPr>
        <p:spPr>
          <a:xfrm>
            <a:off x="822960" y="3246120"/>
            <a:ext cx="658368" cy="658368"/>
          </a:xfrm>
          <a:prstGeom prst="ellipse">
            <a:avLst/>
          </a:prstGeom>
          <a:solidFill>
            <a:srgbClr val="F4A825"/>
          </a:solidFill>
          <a:ln w="12700">
            <a:solidFill>
              <a:srgbClr val="F4A825"/>
            </a:solidFill>
            <a:prstDash val="solid"/>
          </a:ln>
        </p:spPr>
      </p:sp>
      <p:sp>
        <p:nvSpPr>
          <p:cNvPr id="11" name="Text 8"/>
          <p:cNvSpPr/>
          <p:nvPr/>
        </p:nvSpPr>
        <p:spPr>
          <a:xfrm>
            <a:off x="822960" y="3246120"/>
            <a:ext cx="658368" cy="658368"/>
          </a:xfrm>
          <a:prstGeom prst="rect">
            <a:avLst/>
          </a:prstGeom>
          <a:noFill/>
          <a:ln/>
        </p:spPr>
        <p:txBody>
          <a:bodyPr wrap="square" lIns="0" tIns="0" rIns="0" bIns="0" rtlCol="0" anchor="ctr"/>
          <a:lstStyle/>
          <a:p>
            <a:pPr algn="ctr" indent="0" marL="0">
              <a:buNone/>
            </a:pPr>
            <a:r>
              <a:rPr lang="en-US" sz="2400" b="1" dirty="0">
                <a:solidFill>
                  <a:srgbClr val="13293D"/>
                </a:solidFill>
                <a:latin typeface="Inter" pitchFamily="34" charset="0"/>
                <a:ea typeface="Inter" pitchFamily="34" charset="-122"/>
                <a:cs typeface="Inter" pitchFamily="34" charset="-120"/>
              </a:rPr>
              <a:t>2</a:t>
            </a:r>
            <a:endParaRPr lang="en-US" sz="2400" dirty="0"/>
          </a:p>
        </p:txBody>
      </p:sp>
      <p:sp>
        <p:nvSpPr>
          <p:cNvPr id="12" name="Text 9"/>
          <p:cNvSpPr/>
          <p:nvPr/>
        </p:nvSpPr>
        <p:spPr>
          <a:xfrm>
            <a:off x="1691640" y="3136392"/>
            <a:ext cx="9784080" cy="877824"/>
          </a:xfrm>
          <a:prstGeom prst="rect">
            <a:avLst/>
          </a:prstGeom>
          <a:noFill/>
          <a:ln/>
        </p:spPr>
        <p:txBody>
          <a:bodyPr wrap="square" lIns="0" tIns="0" rIns="0" bIns="0" rtlCol="0" anchor="ctr"/>
          <a:lstStyle/>
          <a:p>
            <a:pPr indent="0" marL="0">
              <a:buNone/>
            </a:pPr>
            <a:r>
              <a:rPr lang="en-US" sz="2000" dirty="0">
                <a:solidFill>
                  <a:srgbClr val="FFFFFF"/>
                </a:solidFill>
                <a:latin typeface="Inter" pitchFamily="34" charset="0"/>
                <a:ea typeface="Inter" pitchFamily="34" charset="-122"/>
                <a:cs typeface="Inter" pitchFamily="34" charset="-120"/>
              </a:rPr>
              <a:t>No student names, and no identifying student work, in public AI tools. Ever.</a:t>
            </a:r>
            <a:endParaRPr lang="en-US" sz="2000" dirty="0"/>
          </a:p>
        </p:txBody>
      </p:sp>
      <p:sp>
        <p:nvSpPr>
          <p:cNvPr id="13" name="Shape 10"/>
          <p:cNvSpPr/>
          <p:nvPr/>
        </p:nvSpPr>
        <p:spPr>
          <a:xfrm>
            <a:off x="822960" y="4297680"/>
            <a:ext cx="658368" cy="658368"/>
          </a:xfrm>
          <a:prstGeom prst="ellipse">
            <a:avLst/>
          </a:prstGeom>
          <a:solidFill>
            <a:srgbClr val="F4A825"/>
          </a:solidFill>
          <a:ln w="12700">
            <a:solidFill>
              <a:srgbClr val="F4A825"/>
            </a:solidFill>
            <a:prstDash val="solid"/>
          </a:ln>
        </p:spPr>
      </p:sp>
      <p:sp>
        <p:nvSpPr>
          <p:cNvPr id="14" name="Text 11"/>
          <p:cNvSpPr/>
          <p:nvPr/>
        </p:nvSpPr>
        <p:spPr>
          <a:xfrm>
            <a:off x="822960" y="4297680"/>
            <a:ext cx="658368" cy="658368"/>
          </a:xfrm>
          <a:prstGeom prst="rect">
            <a:avLst/>
          </a:prstGeom>
          <a:noFill/>
          <a:ln/>
        </p:spPr>
        <p:txBody>
          <a:bodyPr wrap="square" lIns="0" tIns="0" rIns="0" bIns="0" rtlCol="0" anchor="ctr"/>
          <a:lstStyle/>
          <a:p>
            <a:pPr algn="ctr" indent="0" marL="0">
              <a:buNone/>
            </a:pPr>
            <a:r>
              <a:rPr lang="en-US" sz="2400" b="1" dirty="0">
                <a:solidFill>
                  <a:srgbClr val="13293D"/>
                </a:solidFill>
                <a:latin typeface="Inter" pitchFamily="34" charset="0"/>
                <a:ea typeface="Inter" pitchFamily="34" charset="-122"/>
                <a:cs typeface="Inter" pitchFamily="34" charset="-120"/>
              </a:rPr>
              <a:t>3</a:t>
            </a:r>
            <a:endParaRPr lang="en-US" sz="2400" dirty="0"/>
          </a:p>
        </p:txBody>
      </p:sp>
      <p:sp>
        <p:nvSpPr>
          <p:cNvPr id="15" name="Text 12"/>
          <p:cNvSpPr/>
          <p:nvPr/>
        </p:nvSpPr>
        <p:spPr>
          <a:xfrm>
            <a:off x="1691640" y="4187952"/>
            <a:ext cx="9784080" cy="877824"/>
          </a:xfrm>
          <a:prstGeom prst="rect">
            <a:avLst/>
          </a:prstGeom>
          <a:noFill/>
          <a:ln/>
        </p:spPr>
        <p:txBody>
          <a:bodyPr wrap="square" lIns="0" tIns="0" rIns="0" bIns="0" rtlCol="0" anchor="ctr"/>
          <a:lstStyle/>
          <a:p>
            <a:pPr indent="0" marL="0">
              <a:buNone/>
            </a:pPr>
            <a:r>
              <a:rPr lang="en-US" sz="2000" dirty="0">
                <a:solidFill>
                  <a:srgbClr val="FFFFFF"/>
                </a:solidFill>
                <a:latin typeface="Inter" pitchFamily="34" charset="0"/>
                <a:ea typeface="Inter" pitchFamily="34" charset="-122"/>
                <a:cs typeface="Inter" pitchFamily="34" charset="-120"/>
              </a:rPr>
              <a:t>Feedback that reaches a student always passes through you. Your eyes, your edits, then delivery.</a:t>
            </a:r>
            <a:endParaRPr lang="en-US" sz="2000" dirty="0"/>
          </a:p>
        </p:txBody>
      </p:sp>
      <p:sp>
        <p:nvSpPr>
          <p:cNvPr id="16" name="Text 13"/>
          <p:cNvSpPr/>
          <p:nvPr/>
        </p:nvSpPr>
        <p:spPr>
          <a:xfrm>
            <a:off x="640080" y="5623560"/>
            <a:ext cx="10972800" cy="457200"/>
          </a:xfrm>
          <a:prstGeom prst="rect">
            <a:avLst/>
          </a:prstGeom>
          <a:noFill/>
          <a:ln/>
        </p:spPr>
        <p:txBody>
          <a:bodyPr wrap="square" lIns="0" tIns="0" rIns="0" bIns="0" rtlCol="0" anchor="ctr"/>
          <a:lstStyle/>
          <a:p>
            <a:pPr indent="0" marL="0">
              <a:buNone/>
            </a:pPr>
            <a:r>
              <a:rPr lang="en-US" sz="1900" i="1" dirty="0">
                <a:solidFill>
                  <a:srgbClr val="9FB2C2"/>
                </a:solidFill>
                <a:latin typeface="Inter" pitchFamily="34" charset="0"/>
                <a:ea typeface="Inter" pitchFamily="34" charset="-122"/>
                <a:cs typeface="Inter" pitchFamily="34" charset="-120"/>
              </a:rPr>
              <a:t>Not opinions about the technology. Promises about our students.</a:t>
            </a:r>
            <a:endParaRPr lang="en-US" sz="1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11480" y="6473952"/>
            <a:ext cx="237744" cy="219456"/>
          </a:xfrm>
          <a:prstGeom prst="rect">
            <a:avLst/>
          </a:prstGeom>
        </p:spPr>
      </p:pic>
      <p:sp>
        <p:nvSpPr>
          <p:cNvPr id="3" name="Text 0"/>
          <p:cNvSpPr/>
          <p:nvPr/>
        </p:nvSpPr>
        <p:spPr>
          <a:xfrm>
            <a:off x="685800" y="6428232"/>
            <a:ext cx="2011680" cy="292608"/>
          </a:xfrm>
          <a:prstGeom prst="rect">
            <a:avLst/>
          </a:prstGeom>
          <a:noFill/>
          <a:ln/>
        </p:spPr>
        <p:txBody>
          <a:bodyPr wrap="square" lIns="0" tIns="0" rIns="0" bIns="0" rtlCol="0" anchor="ctr"/>
          <a:lstStyle/>
          <a:p>
            <a:pPr indent="0" marL="0">
              <a:buNone/>
            </a:pPr>
            <a:r>
              <a:rPr lang="en-US" sz="1000" b="1" dirty="0">
                <a:solidFill>
                  <a:srgbClr val="2A9D8F"/>
                </a:solidFill>
                <a:latin typeface="Inter" pitchFamily="34" charset="0"/>
                <a:ea typeface="Inter" pitchFamily="34" charset="-122"/>
                <a:cs typeface="Inter" pitchFamily="34" charset="-120"/>
              </a:rPr>
              <a:t>AI-Ready</a:t>
            </a:r>
            <a:pPr indent="0" marL="0">
              <a:buNone/>
            </a:pPr>
            <a:r>
              <a:rPr lang="en-US" sz="1000" b="1" dirty="0">
                <a:solidFill>
                  <a:srgbClr val="13293D"/>
                </a:solidFill>
                <a:latin typeface="Inter" pitchFamily="34" charset="0"/>
                <a:ea typeface="Inter" pitchFamily="34" charset="-122"/>
                <a:cs typeface="Inter" pitchFamily="34" charset="-120"/>
              </a:rPr>
              <a:t> School</a:t>
            </a:r>
            <a:endParaRPr lang="en-US" sz="1000" dirty="0"/>
          </a:p>
        </p:txBody>
      </p:sp>
      <p:sp>
        <p:nvSpPr>
          <p:cNvPr id="4" name="Text 1"/>
          <p:cNvSpPr/>
          <p:nvPr/>
        </p:nvSpPr>
        <p:spPr>
          <a:xfrm>
            <a:off x="8897112" y="6428232"/>
            <a:ext cx="2880360" cy="292608"/>
          </a:xfrm>
          <a:prstGeom prst="rect">
            <a:avLst/>
          </a:prstGeom>
          <a:noFill/>
          <a:ln/>
        </p:spPr>
        <p:txBody>
          <a:bodyPr wrap="square" lIns="0" tIns="0" rIns="0" bIns="0" rtlCol="0" anchor="ctr"/>
          <a:lstStyle/>
          <a:p>
            <a:pPr algn="r" indent="0" marL="0">
              <a:buNone/>
            </a:pPr>
            <a:r>
              <a:rPr lang="en-US" sz="900" dirty="0">
                <a:solidFill>
                  <a:srgbClr val="5B6B7A"/>
                </a:solidFill>
                <a:latin typeface="Inter" pitchFamily="34" charset="0"/>
                <a:ea typeface="Inter" pitchFamily="34" charset="-122"/>
                <a:cs typeface="Inter" pitchFamily="34" charset="-120"/>
              </a:rPr>
              <a:t>Kit 4 · AI for Assessment   |   16</a:t>
            </a:r>
            <a:endParaRPr lang="en-US" sz="900" dirty="0"/>
          </a:p>
        </p:txBody>
      </p:sp>
      <p:sp>
        <p:nvSpPr>
          <p:cNvPr id="5" name="Text 2"/>
          <p:cNvSpPr/>
          <p:nvPr/>
        </p:nvSpPr>
        <p:spPr>
          <a:xfrm>
            <a:off x="566928" y="128016"/>
            <a:ext cx="11055096" cy="274320"/>
          </a:xfrm>
          <a:prstGeom prst="rect">
            <a:avLst/>
          </a:prstGeom>
          <a:noFill/>
          <a:ln/>
        </p:spPr>
        <p:txBody>
          <a:bodyPr wrap="square" lIns="0" tIns="0" rIns="0" bIns="0" rtlCol="0" anchor="ctr"/>
          <a:lstStyle/>
          <a:p>
            <a:pPr indent="0" marL="0">
              <a:buNone/>
            </a:pPr>
            <a:r>
              <a:rPr lang="en-US" sz="1200" b="1" spc="200" kern="0" dirty="0">
                <a:solidFill>
                  <a:srgbClr val="2A9D8F"/>
                </a:solidFill>
                <a:latin typeface="Inter" pitchFamily="34" charset="0"/>
                <a:ea typeface="Inter" pitchFamily="34" charset="-122"/>
                <a:cs typeface="Inter" pitchFamily="34" charset="-120"/>
              </a:rPr>
              <a:t>THE QUESTION YOU’RE ALREADY FORMING</a:t>
            </a:r>
            <a:endParaRPr lang="en-US" sz="1200" dirty="0"/>
          </a:p>
        </p:txBody>
      </p:sp>
      <p:sp>
        <p:nvSpPr>
          <p:cNvPr id="6" name="Text 3"/>
          <p:cNvSpPr/>
          <p:nvPr/>
        </p:nvSpPr>
        <p:spPr>
          <a:xfrm>
            <a:off x="548640" y="384048"/>
            <a:ext cx="11091672" cy="777240"/>
          </a:xfrm>
          <a:prstGeom prst="rect">
            <a:avLst/>
          </a:prstGeom>
          <a:noFill/>
          <a:ln/>
        </p:spPr>
        <p:txBody>
          <a:bodyPr wrap="square" lIns="0" tIns="0" rIns="0" bIns="0" rtlCol="0" anchor="ctr"/>
          <a:lstStyle/>
          <a:p>
            <a:pPr indent="0" marL="0">
              <a:buNone/>
            </a:pPr>
            <a:r>
              <a:rPr lang="en-US" sz="3200" b="1" dirty="0">
                <a:solidFill>
                  <a:srgbClr val="13293D"/>
                </a:solidFill>
                <a:latin typeface="Inter" pitchFamily="34" charset="0"/>
                <a:ea typeface="Inter" pitchFamily="34" charset="-122"/>
                <a:cs typeface="Inter" pitchFamily="34" charset="-120"/>
              </a:rPr>
              <a:t>Can I ever paste student work in?</a:t>
            </a:r>
            <a:endParaRPr lang="en-US" sz="3200" dirty="0"/>
          </a:p>
        </p:txBody>
      </p:sp>
      <p:sp>
        <p:nvSpPr>
          <p:cNvPr id="7" name="Shape 4"/>
          <p:cNvSpPr/>
          <p:nvPr/>
        </p:nvSpPr>
        <p:spPr>
          <a:xfrm>
            <a:off x="640080" y="1554480"/>
            <a:ext cx="5394960" cy="3291840"/>
          </a:xfrm>
          <a:prstGeom prst="roundRect">
            <a:avLst>
              <a:gd name="adj" fmla="val 2500"/>
            </a:avLst>
          </a:prstGeom>
          <a:solidFill>
            <a:srgbClr val="F7F5F0"/>
          </a:solidFill>
          <a:ln w="12700">
            <a:solidFill>
              <a:srgbClr val="F7F5F0"/>
            </a:solidFill>
            <a:prstDash val="solid"/>
          </a:ln>
        </p:spPr>
      </p:sp>
      <p:sp>
        <p:nvSpPr>
          <p:cNvPr id="8" name="Text 5"/>
          <p:cNvSpPr/>
          <p:nvPr/>
        </p:nvSpPr>
        <p:spPr>
          <a:xfrm>
            <a:off x="960120" y="1828800"/>
            <a:ext cx="4754880" cy="457200"/>
          </a:xfrm>
          <a:prstGeom prst="rect">
            <a:avLst/>
          </a:prstGeom>
          <a:noFill/>
          <a:ln/>
        </p:spPr>
        <p:txBody>
          <a:bodyPr wrap="square" lIns="0" tIns="0" rIns="0" bIns="0" rtlCol="0" anchor="ctr"/>
          <a:lstStyle/>
          <a:p>
            <a:pPr indent="0" marL="0">
              <a:buNone/>
            </a:pPr>
            <a:r>
              <a:rPr lang="en-US" sz="1900" b="1" dirty="0">
                <a:solidFill>
                  <a:srgbClr val="13293D"/>
                </a:solidFill>
                <a:latin typeface="Inter" pitchFamily="34" charset="0"/>
                <a:ea typeface="Inter" pitchFamily="34" charset="-122"/>
                <a:cs typeface="Inter" pitchFamily="34" charset="-120"/>
              </a:rPr>
              <a:t>Only an anonymous excerpt</a:t>
            </a:r>
            <a:endParaRPr lang="en-US" sz="1900" dirty="0"/>
          </a:p>
        </p:txBody>
      </p:sp>
      <p:sp>
        <p:nvSpPr>
          <p:cNvPr id="9" name="Text 6"/>
          <p:cNvSpPr/>
          <p:nvPr/>
        </p:nvSpPr>
        <p:spPr>
          <a:xfrm>
            <a:off x="960120" y="2377440"/>
            <a:ext cx="4754880" cy="2194560"/>
          </a:xfrm>
          <a:prstGeom prst="rect">
            <a:avLst/>
          </a:prstGeom>
          <a:noFill/>
          <a:ln/>
        </p:spPr>
        <p:txBody>
          <a:bodyPr wrap="square" lIns="0" tIns="0" rIns="0" bIns="0" rtlCol="0" anchor="t"/>
          <a:lstStyle/>
          <a:p>
            <a:pPr indent="0" marL="0">
              <a:buNone/>
            </a:pPr>
            <a:r>
              <a:rPr lang="en-US" sz="1650" dirty="0">
                <a:solidFill>
                  <a:srgbClr val="1B1F24"/>
                </a:solidFill>
                <a:latin typeface="Inter" pitchFamily="34" charset="0"/>
                <a:ea typeface="Inter" pitchFamily="34" charset="-122"/>
                <a:cs typeface="Inter" pitchFamily="34" charset="-120"/>
              </a:rPr>
              <a:t>Zero identifying details, judged by Kit 1’s test: no names, no classmates, no teacher names, no story a neighbor could recognize.</a:t>
            </a:r>
            <a:endParaRPr lang="en-US" sz="1650" dirty="0"/>
          </a:p>
        </p:txBody>
      </p:sp>
      <p:sp>
        <p:nvSpPr>
          <p:cNvPr id="10" name="Shape 7"/>
          <p:cNvSpPr/>
          <p:nvPr/>
        </p:nvSpPr>
        <p:spPr>
          <a:xfrm>
            <a:off x="6263640" y="1554480"/>
            <a:ext cx="5394960" cy="3291840"/>
          </a:xfrm>
          <a:prstGeom prst="roundRect">
            <a:avLst>
              <a:gd name="adj" fmla="val 2500"/>
            </a:avLst>
          </a:prstGeom>
          <a:solidFill>
            <a:srgbClr val="EAF5F3"/>
          </a:solidFill>
          <a:ln w="12700">
            <a:solidFill>
              <a:srgbClr val="EAF5F3"/>
            </a:solidFill>
            <a:prstDash val="solid"/>
          </a:ln>
        </p:spPr>
      </p:sp>
      <p:sp>
        <p:nvSpPr>
          <p:cNvPr id="11" name="Text 8"/>
          <p:cNvSpPr/>
          <p:nvPr/>
        </p:nvSpPr>
        <p:spPr>
          <a:xfrm>
            <a:off x="6583680" y="1828800"/>
            <a:ext cx="4754880" cy="457200"/>
          </a:xfrm>
          <a:prstGeom prst="rect">
            <a:avLst/>
          </a:prstGeom>
          <a:noFill/>
          <a:ln/>
        </p:spPr>
        <p:txBody>
          <a:bodyPr wrap="square" lIns="0" tIns="0" rIns="0" bIns="0" rtlCol="0" anchor="ctr"/>
          <a:lstStyle/>
          <a:p>
            <a:pPr indent="0" marL="0">
              <a:buNone/>
            </a:pPr>
            <a:r>
              <a:rPr lang="en-US" sz="1900" b="1" dirty="0">
                <a:solidFill>
                  <a:srgbClr val="2E7D5B"/>
                </a:solidFill>
                <a:latin typeface="Inter" pitchFamily="34" charset="0"/>
                <a:ea typeface="Inter" pitchFamily="34" charset="-122"/>
                <a:cs typeface="Inter" pitchFamily="34" charset="-120"/>
              </a:rPr>
              <a:t>When unsure: describe the pattern</a:t>
            </a:r>
            <a:endParaRPr lang="en-US" sz="1900" dirty="0"/>
          </a:p>
        </p:txBody>
      </p:sp>
      <p:sp>
        <p:nvSpPr>
          <p:cNvPr id="12" name="Text 9"/>
          <p:cNvSpPr/>
          <p:nvPr/>
        </p:nvSpPr>
        <p:spPr>
          <a:xfrm>
            <a:off x="6583680" y="2377440"/>
            <a:ext cx="4754880" cy="2194560"/>
          </a:xfrm>
          <a:prstGeom prst="rect">
            <a:avLst/>
          </a:prstGeom>
          <a:noFill/>
          <a:ln/>
        </p:spPr>
        <p:txBody>
          <a:bodyPr wrap="square" lIns="0" tIns="0" rIns="0" bIns="0" rtlCol="0" anchor="t"/>
          <a:lstStyle/>
          <a:p>
            <a:pPr indent="0" marL="0">
              <a:buNone/>
            </a:pPr>
            <a:r>
              <a:rPr lang="en-US" sz="1650" dirty="0">
                <a:solidFill>
                  <a:srgbClr val="1B1F24"/>
                </a:solidFill>
                <a:latin typeface="Inter" pitchFamily="34" charset="0"/>
                <a:ea typeface="Inter" pitchFamily="34" charset="-122"/>
                <a:cs typeface="Inter" pitchFamily="34" charset="-120"/>
              </a:rPr>
              <a:t>“Students keep confusing X with Y.” “This writer repeats the claim instead of explaining the evidence.” Always safe, and it usually works as well.</a:t>
            </a:r>
            <a:endParaRPr lang="en-US" sz="1650" dirty="0"/>
          </a:p>
        </p:txBody>
      </p:sp>
      <p:sp>
        <p:nvSpPr>
          <p:cNvPr id="13" name="Text 10"/>
          <p:cNvSpPr/>
          <p:nvPr/>
        </p:nvSpPr>
        <p:spPr>
          <a:xfrm>
            <a:off x="640080" y="5120640"/>
            <a:ext cx="10972800" cy="502920"/>
          </a:xfrm>
          <a:prstGeom prst="rect">
            <a:avLst/>
          </a:prstGeom>
          <a:noFill/>
          <a:ln/>
        </p:spPr>
        <p:txBody>
          <a:bodyPr wrap="square" lIns="0" tIns="0" rIns="0" bIns="0" rtlCol="0" anchor="ctr"/>
          <a:lstStyle/>
          <a:p>
            <a:pPr algn="ctr" indent="0" marL="0">
              <a:buNone/>
            </a:pPr>
            <a:r>
              <a:rPr lang="en-US" sz="2200" b="1" dirty="0">
                <a:solidFill>
                  <a:srgbClr val="13293D"/>
                </a:solidFill>
                <a:latin typeface="Inter" pitchFamily="34" charset="0"/>
                <a:ea typeface="Inter" pitchFamily="34" charset="-122"/>
                <a:cs typeface="Inter" pitchFamily="34" charset="-120"/>
              </a:rPr>
              <a:t>When in doubt: describe, don’t paste.</a:t>
            </a:r>
            <a:endParaRPr lang="en-US" sz="2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11480" y="6473952"/>
            <a:ext cx="237744" cy="219456"/>
          </a:xfrm>
          <a:prstGeom prst="rect">
            <a:avLst/>
          </a:prstGeom>
        </p:spPr>
      </p:pic>
      <p:sp>
        <p:nvSpPr>
          <p:cNvPr id="3" name="Text 0"/>
          <p:cNvSpPr/>
          <p:nvPr/>
        </p:nvSpPr>
        <p:spPr>
          <a:xfrm>
            <a:off x="685800" y="6428232"/>
            <a:ext cx="2011680" cy="292608"/>
          </a:xfrm>
          <a:prstGeom prst="rect">
            <a:avLst/>
          </a:prstGeom>
          <a:noFill/>
          <a:ln/>
        </p:spPr>
        <p:txBody>
          <a:bodyPr wrap="square" lIns="0" tIns="0" rIns="0" bIns="0" rtlCol="0" anchor="ctr"/>
          <a:lstStyle/>
          <a:p>
            <a:pPr indent="0" marL="0">
              <a:buNone/>
            </a:pPr>
            <a:r>
              <a:rPr lang="en-US" sz="1000" b="1" dirty="0">
                <a:solidFill>
                  <a:srgbClr val="2A9D8F"/>
                </a:solidFill>
                <a:latin typeface="Inter" pitchFamily="34" charset="0"/>
                <a:ea typeface="Inter" pitchFamily="34" charset="-122"/>
                <a:cs typeface="Inter" pitchFamily="34" charset="-120"/>
              </a:rPr>
              <a:t>AI-Ready</a:t>
            </a:r>
            <a:pPr indent="0" marL="0">
              <a:buNone/>
            </a:pPr>
            <a:r>
              <a:rPr lang="en-US" sz="1000" b="1" dirty="0">
                <a:solidFill>
                  <a:srgbClr val="13293D"/>
                </a:solidFill>
                <a:latin typeface="Inter" pitchFamily="34" charset="0"/>
                <a:ea typeface="Inter" pitchFamily="34" charset="-122"/>
                <a:cs typeface="Inter" pitchFamily="34" charset="-120"/>
              </a:rPr>
              <a:t> School</a:t>
            </a:r>
            <a:endParaRPr lang="en-US" sz="1000" dirty="0"/>
          </a:p>
        </p:txBody>
      </p:sp>
      <p:sp>
        <p:nvSpPr>
          <p:cNvPr id="4" name="Text 1"/>
          <p:cNvSpPr/>
          <p:nvPr/>
        </p:nvSpPr>
        <p:spPr>
          <a:xfrm>
            <a:off x="8897112" y="6428232"/>
            <a:ext cx="2880360" cy="292608"/>
          </a:xfrm>
          <a:prstGeom prst="rect">
            <a:avLst/>
          </a:prstGeom>
          <a:noFill/>
          <a:ln/>
        </p:spPr>
        <p:txBody>
          <a:bodyPr wrap="square" lIns="0" tIns="0" rIns="0" bIns="0" rtlCol="0" anchor="ctr"/>
          <a:lstStyle/>
          <a:p>
            <a:pPr algn="r" indent="0" marL="0">
              <a:buNone/>
            </a:pPr>
            <a:r>
              <a:rPr lang="en-US" sz="900" dirty="0">
                <a:solidFill>
                  <a:srgbClr val="5B6B7A"/>
                </a:solidFill>
                <a:latin typeface="Inter" pitchFamily="34" charset="0"/>
                <a:ea typeface="Inter" pitchFamily="34" charset="-122"/>
                <a:cs typeface="Inter" pitchFamily="34" charset="-120"/>
              </a:rPr>
              <a:t>Kit 4 · AI for Assessment   |   17</a:t>
            </a:r>
            <a:endParaRPr lang="en-US" sz="900" dirty="0"/>
          </a:p>
        </p:txBody>
      </p:sp>
      <p:sp>
        <p:nvSpPr>
          <p:cNvPr id="5" name="Text 2"/>
          <p:cNvSpPr/>
          <p:nvPr/>
        </p:nvSpPr>
        <p:spPr>
          <a:xfrm>
            <a:off x="566928" y="128016"/>
            <a:ext cx="11055096" cy="274320"/>
          </a:xfrm>
          <a:prstGeom prst="rect">
            <a:avLst/>
          </a:prstGeom>
          <a:noFill/>
          <a:ln/>
        </p:spPr>
        <p:txBody>
          <a:bodyPr wrap="square" lIns="0" tIns="0" rIns="0" bIns="0" rtlCol="0" anchor="ctr"/>
          <a:lstStyle/>
          <a:p>
            <a:pPr indent="0" marL="0">
              <a:buNone/>
            </a:pPr>
            <a:r>
              <a:rPr lang="en-US" sz="1200" b="1" spc="200" kern="0" dirty="0">
                <a:solidFill>
                  <a:srgbClr val="2A9D8F"/>
                </a:solidFill>
                <a:latin typeface="Inter" pitchFamily="34" charset="0"/>
                <a:ea typeface="Inter" pitchFamily="34" charset="-122"/>
                <a:cs typeface="Inter" pitchFamily="34" charset="-120"/>
              </a:rPr>
              <a:t>BEFORE WE BUILD</a:t>
            </a:r>
            <a:endParaRPr lang="en-US" sz="1200" dirty="0"/>
          </a:p>
        </p:txBody>
      </p:sp>
      <p:sp>
        <p:nvSpPr>
          <p:cNvPr id="6" name="Text 3"/>
          <p:cNvSpPr/>
          <p:nvPr/>
        </p:nvSpPr>
        <p:spPr>
          <a:xfrm>
            <a:off x="548640" y="384048"/>
            <a:ext cx="11091672" cy="777240"/>
          </a:xfrm>
          <a:prstGeom prst="rect">
            <a:avLst/>
          </a:prstGeom>
          <a:noFill/>
          <a:ln/>
        </p:spPr>
        <p:txBody>
          <a:bodyPr wrap="square" lIns="0" tIns="0" rIns="0" bIns="0" rtlCol="0" anchor="ctr"/>
          <a:lstStyle/>
          <a:p>
            <a:pPr indent="0" marL="0">
              <a:buNone/>
            </a:pPr>
            <a:r>
              <a:rPr lang="en-US" sz="3200" b="1" dirty="0">
                <a:solidFill>
                  <a:srgbClr val="13293D"/>
                </a:solidFill>
                <a:latin typeface="Inter" pitchFamily="34" charset="0"/>
                <a:ea typeface="Inter" pitchFamily="34" charset="-122"/>
                <a:cs typeface="Inter" pitchFamily="34" charset="-120"/>
              </a:rPr>
              <a:t>Three honest limits</a:t>
            </a:r>
            <a:endParaRPr lang="en-US" sz="3200" dirty="0"/>
          </a:p>
        </p:txBody>
      </p:sp>
      <p:sp>
        <p:nvSpPr>
          <p:cNvPr id="7" name="Shape 4"/>
          <p:cNvSpPr/>
          <p:nvPr/>
        </p:nvSpPr>
        <p:spPr>
          <a:xfrm>
            <a:off x="640080" y="1554480"/>
            <a:ext cx="3520440" cy="3291840"/>
          </a:xfrm>
          <a:prstGeom prst="roundRect">
            <a:avLst>
              <a:gd name="adj" fmla="val 2500"/>
            </a:avLst>
          </a:prstGeom>
          <a:solidFill>
            <a:srgbClr val="F7F5F0"/>
          </a:solidFill>
          <a:ln w="12700">
            <a:solidFill>
              <a:srgbClr val="F7F5F0"/>
            </a:solidFill>
            <a:prstDash val="solid"/>
          </a:ln>
        </p:spPr>
      </p:sp>
      <p:sp>
        <p:nvSpPr>
          <p:cNvPr id="8" name="Text 5"/>
          <p:cNvSpPr/>
          <p:nvPr/>
        </p:nvSpPr>
        <p:spPr>
          <a:xfrm>
            <a:off x="896112" y="1828800"/>
            <a:ext cx="3017520" cy="822960"/>
          </a:xfrm>
          <a:prstGeom prst="rect">
            <a:avLst/>
          </a:prstGeom>
          <a:noFill/>
          <a:ln/>
        </p:spPr>
        <p:txBody>
          <a:bodyPr wrap="square" lIns="0" tIns="0" rIns="0" bIns="0" rtlCol="0" anchor="ctr"/>
          <a:lstStyle/>
          <a:p>
            <a:pPr indent="0" marL="0">
              <a:buNone/>
            </a:pPr>
            <a:r>
              <a:rPr lang="en-US" sz="1900" b="1" dirty="0">
                <a:solidFill>
                  <a:srgbClr val="B4453A"/>
                </a:solidFill>
                <a:latin typeface="Inter" pitchFamily="34" charset="0"/>
                <a:ea typeface="Inter" pitchFamily="34" charset="-122"/>
                <a:cs typeface="Inter" pitchFamily="34" charset="-120"/>
              </a:rPr>
              <a:t>Can’t know intent</a:t>
            </a:r>
            <a:endParaRPr lang="en-US" sz="1900" dirty="0"/>
          </a:p>
        </p:txBody>
      </p:sp>
      <p:sp>
        <p:nvSpPr>
          <p:cNvPr id="9" name="Text 6"/>
          <p:cNvSpPr/>
          <p:nvPr/>
        </p:nvSpPr>
        <p:spPr>
          <a:xfrm>
            <a:off x="896112" y="2651760"/>
            <a:ext cx="3017520" cy="2011680"/>
          </a:xfrm>
          <a:prstGeom prst="rect">
            <a:avLst/>
          </a:prstGeom>
          <a:noFill/>
          <a:ln/>
        </p:spPr>
        <p:txBody>
          <a:bodyPr wrap="square" lIns="0" tIns="0" rIns="0" bIns="0" rtlCol="0" anchor="t"/>
          <a:lstStyle/>
          <a:p>
            <a:pPr indent="0" marL="0">
              <a:buNone/>
            </a:pPr>
            <a:r>
              <a:rPr lang="en-US" sz="1500" dirty="0">
                <a:solidFill>
                  <a:srgbClr val="1B1F24"/>
                </a:solidFill>
                <a:latin typeface="Inter" pitchFamily="34" charset="0"/>
                <a:ea typeface="Inter" pitchFamily="34" charset="-122"/>
                <a:cs typeface="Inter" pitchFamily="34" charset="-120"/>
              </a:rPr>
              <a:t>It sees the page. You saw the six weeks. Half of good feedback speaks to the attempt.</a:t>
            </a:r>
            <a:endParaRPr lang="en-US" sz="1500" dirty="0"/>
          </a:p>
        </p:txBody>
      </p:sp>
      <p:sp>
        <p:nvSpPr>
          <p:cNvPr id="10" name="Shape 7"/>
          <p:cNvSpPr/>
          <p:nvPr/>
        </p:nvSpPr>
        <p:spPr>
          <a:xfrm>
            <a:off x="4407408" y="1554480"/>
            <a:ext cx="3520440" cy="3291840"/>
          </a:xfrm>
          <a:prstGeom prst="roundRect">
            <a:avLst>
              <a:gd name="adj" fmla="val 2500"/>
            </a:avLst>
          </a:prstGeom>
          <a:solidFill>
            <a:srgbClr val="F7F5F0"/>
          </a:solidFill>
          <a:ln w="12700">
            <a:solidFill>
              <a:srgbClr val="F7F5F0"/>
            </a:solidFill>
            <a:prstDash val="solid"/>
          </a:ln>
        </p:spPr>
      </p:sp>
      <p:sp>
        <p:nvSpPr>
          <p:cNvPr id="11" name="Text 8"/>
          <p:cNvSpPr/>
          <p:nvPr/>
        </p:nvSpPr>
        <p:spPr>
          <a:xfrm>
            <a:off x="4663440" y="1828800"/>
            <a:ext cx="3017520" cy="822960"/>
          </a:xfrm>
          <a:prstGeom prst="rect">
            <a:avLst/>
          </a:prstGeom>
          <a:noFill/>
          <a:ln/>
        </p:spPr>
        <p:txBody>
          <a:bodyPr wrap="square" lIns="0" tIns="0" rIns="0" bIns="0" rtlCol="0" anchor="ctr"/>
          <a:lstStyle/>
          <a:p>
            <a:pPr indent="0" marL="0">
              <a:buNone/>
            </a:pPr>
            <a:r>
              <a:rPr lang="en-US" sz="1900" b="1" dirty="0">
                <a:solidFill>
                  <a:srgbClr val="B4453A"/>
                </a:solidFill>
                <a:latin typeface="Inter" pitchFamily="34" charset="0"/>
                <a:ea typeface="Inter" pitchFamily="34" charset="-122"/>
                <a:cs typeface="Inter" pitchFamily="34" charset="-120"/>
              </a:rPr>
              <a:t>Goes generic</a:t>
            </a:r>
            <a:endParaRPr lang="en-US" sz="1900" dirty="0"/>
          </a:p>
        </p:txBody>
      </p:sp>
      <p:sp>
        <p:nvSpPr>
          <p:cNvPr id="12" name="Text 9"/>
          <p:cNvSpPr/>
          <p:nvPr/>
        </p:nvSpPr>
        <p:spPr>
          <a:xfrm>
            <a:off x="4663440" y="2651760"/>
            <a:ext cx="3017520" cy="2011680"/>
          </a:xfrm>
          <a:prstGeom prst="rect">
            <a:avLst/>
          </a:prstGeom>
          <a:noFill/>
          <a:ln/>
        </p:spPr>
        <p:txBody>
          <a:bodyPr wrap="square" lIns="0" tIns="0" rIns="0" bIns="0" rtlCol="0" anchor="t"/>
          <a:lstStyle/>
          <a:p>
            <a:pPr indent="0" marL="0">
              <a:buNone/>
            </a:pPr>
            <a:r>
              <a:rPr lang="en-US" sz="1500" dirty="0">
                <a:solidFill>
                  <a:srgbClr val="1B1F24"/>
                </a:solidFill>
                <a:latin typeface="Inter" pitchFamily="34" charset="0"/>
                <a:ea typeface="Inter" pitchFamily="34" charset="-122"/>
                <a:cs typeface="Inter" pitchFamily="34" charset="-120"/>
              </a:rPr>
              <a:t>Rubric language drifts to fog. Fix: your assignment’s specifics, by name.</a:t>
            </a:r>
            <a:endParaRPr lang="en-US" sz="1500" dirty="0"/>
          </a:p>
        </p:txBody>
      </p:sp>
      <p:sp>
        <p:nvSpPr>
          <p:cNvPr id="13" name="Shape 10"/>
          <p:cNvSpPr/>
          <p:nvPr/>
        </p:nvSpPr>
        <p:spPr>
          <a:xfrm>
            <a:off x="8174736" y="1554480"/>
            <a:ext cx="3520440" cy="3291840"/>
          </a:xfrm>
          <a:prstGeom prst="roundRect">
            <a:avLst>
              <a:gd name="adj" fmla="val 2500"/>
            </a:avLst>
          </a:prstGeom>
          <a:solidFill>
            <a:srgbClr val="F7F5F0"/>
          </a:solidFill>
          <a:ln w="12700">
            <a:solidFill>
              <a:srgbClr val="F7F5F0"/>
            </a:solidFill>
            <a:prstDash val="solid"/>
          </a:ln>
        </p:spPr>
      </p:sp>
      <p:sp>
        <p:nvSpPr>
          <p:cNvPr id="14" name="Text 11"/>
          <p:cNvSpPr/>
          <p:nvPr/>
        </p:nvSpPr>
        <p:spPr>
          <a:xfrm>
            <a:off x="8430768" y="1828800"/>
            <a:ext cx="3017520" cy="822960"/>
          </a:xfrm>
          <a:prstGeom prst="rect">
            <a:avLst/>
          </a:prstGeom>
          <a:noFill/>
          <a:ln/>
        </p:spPr>
        <p:txBody>
          <a:bodyPr wrap="square" lIns="0" tIns="0" rIns="0" bIns="0" rtlCol="0" anchor="ctr"/>
          <a:lstStyle/>
          <a:p>
            <a:pPr indent="0" marL="0">
              <a:buNone/>
            </a:pPr>
            <a:r>
              <a:rPr lang="en-US" sz="1900" b="1" dirty="0">
                <a:solidFill>
                  <a:srgbClr val="B4453A"/>
                </a:solidFill>
                <a:latin typeface="Inter" pitchFamily="34" charset="0"/>
                <a:ea typeface="Inter" pitchFamily="34" charset="-122"/>
                <a:cs typeface="Inter" pitchFamily="34" charset="-120"/>
              </a:rPr>
              <a:t>Contains errors</a:t>
            </a:r>
            <a:endParaRPr lang="en-US" sz="1900" dirty="0"/>
          </a:p>
        </p:txBody>
      </p:sp>
      <p:sp>
        <p:nvSpPr>
          <p:cNvPr id="15" name="Text 12"/>
          <p:cNvSpPr/>
          <p:nvPr/>
        </p:nvSpPr>
        <p:spPr>
          <a:xfrm>
            <a:off x="8430768" y="2651760"/>
            <a:ext cx="3017520" cy="2011680"/>
          </a:xfrm>
          <a:prstGeom prst="rect">
            <a:avLst/>
          </a:prstGeom>
          <a:noFill/>
          <a:ln/>
        </p:spPr>
        <p:txBody>
          <a:bodyPr wrap="square" lIns="0" tIns="0" rIns="0" bIns="0" rtlCol="0" anchor="t"/>
          <a:lstStyle/>
          <a:p>
            <a:pPr indent="0" marL="0">
              <a:buNone/>
            </a:pPr>
            <a:r>
              <a:rPr lang="en-US" sz="1500" dirty="0">
                <a:solidFill>
                  <a:srgbClr val="1B1F24"/>
                </a:solidFill>
                <a:latin typeface="Inter" pitchFamily="34" charset="0"/>
                <a:ea typeface="Inter" pitchFamily="34" charset="-122"/>
                <a:cs typeface="Inter" pitchFamily="34" charset="-120"/>
              </a:rPr>
              <a:t>57% of AI-using teachers say AI improves their grading and feedback quality (Gallup, 2025). The ones it helps are the ones who verify.</a:t>
            </a:r>
            <a:endParaRPr lang="en-US" sz="1500" dirty="0"/>
          </a:p>
        </p:txBody>
      </p:sp>
      <p:sp>
        <p:nvSpPr>
          <p:cNvPr id="16" name="Text 13"/>
          <p:cNvSpPr/>
          <p:nvPr/>
        </p:nvSpPr>
        <p:spPr>
          <a:xfrm>
            <a:off x="640080" y="5166360"/>
            <a:ext cx="10972800" cy="457200"/>
          </a:xfrm>
          <a:prstGeom prst="rect">
            <a:avLst/>
          </a:prstGeom>
          <a:noFill/>
          <a:ln/>
        </p:spPr>
        <p:txBody>
          <a:bodyPr wrap="square" lIns="0" tIns="0" rIns="0" bIns="0" rtlCol="0" anchor="ctr"/>
          <a:lstStyle/>
          <a:p>
            <a:pPr algn="ctr" indent="0" marL="0">
              <a:buNone/>
            </a:pPr>
            <a:r>
              <a:rPr lang="en-US" sz="1800" b="1" dirty="0">
                <a:solidFill>
                  <a:srgbClr val="13293D"/>
                </a:solidFill>
                <a:latin typeface="Inter" pitchFamily="34" charset="0"/>
                <a:ea typeface="Inter" pitchFamily="34" charset="-122"/>
                <a:cs typeface="Inter" pitchFamily="34" charset="-120"/>
              </a:rPr>
              <a:t>The tool improves the work of people who check it. It embarrasses the people who don’t.</a:t>
            </a:r>
            <a:endParaRPr lang="en-US" sz="1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3293D"/>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11480" y="6473952"/>
            <a:ext cx="237744" cy="219456"/>
          </a:xfrm>
          <a:prstGeom prst="rect">
            <a:avLst/>
          </a:prstGeom>
        </p:spPr>
      </p:pic>
      <p:sp>
        <p:nvSpPr>
          <p:cNvPr id="3" name="Text 0"/>
          <p:cNvSpPr/>
          <p:nvPr/>
        </p:nvSpPr>
        <p:spPr>
          <a:xfrm>
            <a:off x="685800" y="6428232"/>
            <a:ext cx="2011680" cy="292608"/>
          </a:xfrm>
          <a:prstGeom prst="rect">
            <a:avLst/>
          </a:prstGeom>
          <a:noFill/>
          <a:ln/>
        </p:spPr>
        <p:txBody>
          <a:bodyPr wrap="square" lIns="0" tIns="0" rIns="0" bIns="0" rtlCol="0" anchor="ctr"/>
          <a:lstStyle/>
          <a:p>
            <a:pPr indent="0" marL="0">
              <a:buNone/>
            </a:pPr>
            <a:r>
              <a:rPr lang="en-US" sz="1000" b="1" dirty="0">
                <a:solidFill>
                  <a:srgbClr val="2A9D8F"/>
                </a:solidFill>
                <a:latin typeface="Inter" pitchFamily="34" charset="0"/>
                <a:ea typeface="Inter" pitchFamily="34" charset="-122"/>
                <a:cs typeface="Inter" pitchFamily="34" charset="-120"/>
              </a:rPr>
              <a:t>AI-Ready</a:t>
            </a:r>
            <a:pPr indent="0" marL="0">
              <a:buNone/>
            </a:pPr>
            <a:r>
              <a:rPr lang="en-US" sz="1000" b="1" dirty="0">
                <a:solidFill>
                  <a:srgbClr val="FFFFFF"/>
                </a:solidFill>
                <a:latin typeface="Inter" pitchFamily="34" charset="0"/>
                <a:ea typeface="Inter" pitchFamily="34" charset="-122"/>
                <a:cs typeface="Inter" pitchFamily="34" charset="-120"/>
              </a:rPr>
              <a:t> School</a:t>
            </a:r>
            <a:endParaRPr lang="en-US" sz="1000" dirty="0"/>
          </a:p>
        </p:txBody>
      </p:sp>
      <p:sp>
        <p:nvSpPr>
          <p:cNvPr id="4" name="Text 1"/>
          <p:cNvSpPr/>
          <p:nvPr/>
        </p:nvSpPr>
        <p:spPr>
          <a:xfrm>
            <a:off x="8897112" y="6428232"/>
            <a:ext cx="2880360" cy="292608"/>
          </a:xfrm>
          <a:prstGeom prst="rect">
            <a:avLst/>
          </a:prstGeom>
          <a:noFill/>
          <a:ln/>
        </p:spPr>
        <p:txBody>
          <a:bodyPr wrap="square" lIns="0" tIns="0" rIns="0" bIns="0" rtlCol="0" anchor="ctr"/>
          <a:lstStyle/>
          <a:p>
            <a:pPr algn="r" indent="0" marL="0">
              <a:buNone/>
            </a:pPr>
            <a:r>
              <a:rPr lang="en-US" sz="900" dirty="0">
                <a:solidFill>
                  <a:srgbClr val="9FB2C2"/>
                </a:solidFill>
                <a:latin typeface="Inter" pitchFamily="34" charset="0"/>
                <a:ea typeface="Inter" pitchFamily="34" charset="-122"/>
                <a:cs typeface="Inter" pitchFamily="34" charset="-120"/>
              </a:rPr>
              <a:t>Kit 4 · AI for Assessment   |   18</a:t>
            </a:r>
            <a:endParaRPr lang="en-US" sz="900" dirty="0"/>
          </a:p>
        </p:txBody>
      </p:sp>
      <p:sp>
        <p:nvSpPr>
          <p:cNvPr id="5" name="Text 2"/>
          <p:cNvSpPr/>
          <p:nvPr/>
        </p:nvSpPr>
        <p:spPr>
          <a:xfrm>
            <a:off x="566928" y="128016"/>
            <a:ext cx="11055096" cy="274320"/>
          </a:xfrm>
          <a:prstGeom prst="rect">
            <a:avLst/>
          </a:prstGeom>
          <a:noFill/>
          <a:ln/>
        </p:spPr>
        <p:txBody>
          <a:bodyPr wrap="square" lIns="0" tIns="0" rIns="0" bIns="0" rtlCol="0" anchor="ctr"/>
          <a:lstStyle/>
          <a:p>
            <a:pPr indent="0" marL="0">
              <a:buNone/>
            </a:pPr>
            <a:r>
              <a:rPr lang="en-US" sz="1200" b="1" spc="200" kern="0" dirty="0">
                <a:solidFill>
                  <a:srgbClr val="F4A825"/>
                </a:solidFill>
                <a:latin typeface="Inter" pitchFamily="34" charset="0"/>
                <a:ea typeface="Inter" pitchFamily="34" charset="-122"/>
                <a:cs typeface="Inter" pitchFamily="34" charset="-120"/>
              </a:rPr>
              <a:t>HANDS-ON · ~19 MINUTES</a:t>
            </a:r>
            <a:endParaRPr lang="en-US" sz="1200" dirty="0"/>
          </a:p>
        </p:txBody>
      </p:sp>
      <p:sp>
        <p:nvSpPr>
          <p:cNvPr id="6" name="Text 3"/>
          <p:cNvSpPr/>
          <p:nvPr/>
        </p:nvSpPr>
        <p:spPr>
          <a:xfrm>
            <a:off x="640080" y="1371600"/>
            <a:ext cx="10972800" cy="914400"/>
          </a:xfrm>
          <a:prstGeom prst="rect">
            <a:avLst/>
          </a:prstGeom>
          <a:noFill/>
          <a:ln/>
        </p:spPr>
        <p:txBody>
          <a:bodyPr wrap="square" lIns="0" tIns="0" rIns="0" bIns="0" rtlCol="0" anchor="ctr"/>
          <a:lstStyle/>
          <a:p>
            <a:pPr indent="0" marL="0">
              <a:buNone/>
            </a:pPr>
            <a:r>
              <a:rPr lang="en-US" sz="4200" b="1" dirty="0">
                <a:solidFill>
                  <a:srgbClr val="FFFFFF"/>
                </a:solidFill>
                <a:latin typeface="Inter" pitchFamily="34" charset="0"/>
                <a:ea typeface="Inter" pitchFamily="34" charset="-122"/>
                <a:cs typeface="Inter" pitchFamily="34" charset="-120"/>
              </a:rPr>
              <a:t>Lab: your next real assessment.</a:t>
            </a:r>
            <a:endParaRPr lang="en-US" sz="4200" dirty="0"/>
          </a:p>
        </p:txBody>
      </p:sp>
      <p:sp>
        <p:nvSpPr>
          <p:cNvPr id="7" name="Text 4"/>
          <p:cNvSpPr/>
          <p:nvPr/>
        </p:nvSpPr>
        <p:spPr>
          <a:xfrm>
            <a:off x="640080" y="2377440"/>
            <a:ext cx="10972800" cy="822960"/>
          </a:xfrm>
          <a:prstGeom prst="rect">
            <a:avLst/>
          </a:prstGeom>
          <a:noFill/>
          <a:ln/>
        </p:spPr>
        <p:txBody>
          <a:bodyPr wrap="square" lIns="0" tIns="0" rIns="0" bIns="0" rtlCol="0" anchor="ctr"/>
          <a:lstStyle/>
          <a:p>
            <a:pPr indent="0" marL="0">
              <a:buNone/>
            </a:pPr>
            <a:r>
              <a:rPr lang="en-US" sz="2000" dirty="0">
                <a:solidFill>
                  <a:srgbClr val="C9D4DE"/>
                </a:solidFill>
                <a:latin typeface="Inter" pitchFamily="34" charset="0"/>
                <a:ea typeface="Inter" pitchFamily="34" charset="-122"/>
                <a:cs typeface="Inter" pitchFamily="34" charset="-120"/>
              </a:rPr>
              <a:t>Pick something actually coming in the next month: a unit test, an essay, a project, a shop practical. Grab your notes on what good work looks like.</a:t>
            </a:r>
            <a:endParaRPr lang="en-US" sz="2000" dirty="0"/>
          </a:p>
        </p:txBody>
      </p:sp>
      <p:sp>
        <p:nvSpPr>
          <p:cNvPr id="8" name="Shape 5"/>
          <p:cNvSpPr/>
          <p:nvPr/>
        </p:nvSpPr>
        <p:spPr>
          <a:xfrm>
            <a:off x="822960" y="3474720"/>
            <a:ext cx="566928" cy="566928"/>
          </a:xfrm>
          <a:prstGeom prst="ellipse">
            <a:avLst/>
          </a:prstGeom>
          <a:solidFill>
            <a:srgbClr val="2A9D8F"/>
          </a:solidFill>
          <a:ln w="12700">
            <a:solidFill>
              <a:srgbClr val="2A9D8F"/>
            </a:solidFill>
            <a:prstDash val="solid"/>
          </a:ln>
        </p:spPr>
      </p:sp>
      <p:sp>
        <p:nvSpPr>
          <p:cNvPr id="9" name="Text 6"/>
          <p:cNvSpPr/>
          <p:nvPr/>
        </p:nvSpPr>
        <p:spPr>
          <a:xfrm>
            <a:off x="822960" y="347472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nter" pitchFamily="34" charset="0"/>
                <a:ea typeface="Inter" pitchFamily="34" charset="-122"/>
                <a:cs typeface="Inter" pitchFamily="34" charset="-120"/>
              </a:rPr>
              <a:t>1</a:t>
            </a:r>
            <a:endParaRPr lang="en-US" sz="2000" dirty="0"/>
          </a:p>
        </p:txBody>
      </p:sp>
      <p:sp>
        <p:nvSpPr>
          <p:cNvPr id="10" name="Text 7"/>
          <p:cNvSpPr/>
          <p:nvPr/>
        </p:nvSpPr>
        <p:spPr>
          <a:xfrm>
            <a:off x="1600200" y="3429000"/>
            <a:ext cx="9875520" cy="658368"/>
          </a:xfrm>
          <a:prstGeom prst="rect">
            <a:avLst/>
          </a:prstGeom>
          <a:noFill/>
          <a:ln/>
        </p:spPr>
        <p:txBody>
          <a:bodyPr wrap="square" lIns="0" tIns="0" rIns="0" bIns="0" rtlCol="0" anchor="ctr"/>
          <a:lstStyle/>
          <a:p>
            <a:pPr indent="0" marL="0">
              <a:buNone/>
            </a:pPr>
            <a:r>
              <a:rPr lang="en-US" sz="2000" dirty="0">
                <a:solidFill>
                  <a:srgbClr val="FFFFFF"/>
                </a:solidFill>
                <a:latin typeface="Inter" pitchFamily="34" charset="0"/>
                <a:ea typeface="Inter" pitchFamily="34" charset="-122"/>
                <a:cs typeface="Inter" pitchFamily="34" charset="-120"/>
              </a:rPr>
              <a:t>No student information of any kind; we draft materials only</a:t>
            </a:r>
            <a:endParaRPr lang="en-US" sz="2000" dirty="0"/>
          </a:p>
        </p:txBody>
      </p:sp>
      <p:sp>
        <p:nvSpPr>
          <p:cNvPr id="11" name="Shape 8"/>
          <p:cNvSpPr/>
          <p:nvPr/>
        </p:nvSpPr>
        <p:spPr>
          <a:xfrm>
            <a:off x="822960" y="4297680"/>
            <a:ext cx="566928" cy="566928"/>
          </a:xfrm>
          <a:prstGeom prst="ellipse">
            <a:avLst/>
          </a:prstGeom>
          <a:solidFill>
            <a:srgbClr val="2A9D8F"/>
          </a:solidFill>
          <a:ln w="12700">
            <a:solidFill>
              <a:srgbClr val="2A9D8F"/>
            </a:solidFill>
            <a:prstDash val="solid"/>
          </a:ln>
        </p:spPr>
      </p:sp>
      <p:sp>
        <p:nvSpPr>
          <p:cNvPr id="12" name="Text 9"/>
          <p:cNvSpPr/>
          <p:nvPr/>
        </p:nvSpPr>
        <p:spPr>
          <a:xfrm>
            <a:off x="822960" y="429768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nter" pitchFamily="34" charset="0"/>
                <a:ea typeface="Inter" pitchFamily="34" charset="-122"/>
                <a:cs typeface="Inter" pitchFamily="34" charset="-120"/>
              </a:rPr>
              <a:t>2</a:t>
            </a:r>
            <a:endParaRPr lang="en-US" sz="2000" dirty="0"/>
          </a:p>
        </p:txBody>
      </p:sp>
      <p:sp>
        <p:nvSpPr>
          <p:cNvPr id="13" name="Text 10"/>
          <p:cNvSpPr/>
          <p:nvPr/>
        </p:nvSpPr>
        <p:spPr>
          <a:xfrm>
            <a:off x="1600200" y="4251960"/>
            <a:ext cx="9875520" cy="658368"/>
          </a:xfrm>
          <a:prstGeom prst="rect">
            <a:avLst/>
          </a:prstGeom>
          <a:noFill/>
          <a:ln/>
        </p:spPr>
        <p:txBody>
          <a:bodyPr wrap="square" lIns="0" tIns="0" rIns="0" bIns="0" rtlCol="0" anchor="ctr"/>
          <a:lstStyle/>
          <a:p>
            <a:pPr indent="0" marL="0">
              <a:buNone/>
            </a:pPr>
            <a:r>
              <a:rPr lang="en-US" sz="2000" dirty="0">
                <a:solidFill>
                  <a:srgbClr val="FFFFFF"/>
                </a:solidFill>
                <a:latin typeface="Inter" pitchFamily="34" charset="0"/>
                <a:ea typeface="Inter" pitchFamily="34" charset="-122"/>
                <a:cs typeface="Inter" pitchFamily="34" charset="-120"/>
              </a:rPr>
              <a:t>Rubric first, then questions, then feedback starters</a:t>
            </a:r>
            <a:endParaRPr lang="en-US" sz="2000" dirty="0"/>
          </a:p>
        </p:txBody>
      </p:sp>
      <p:sp>
        <p:nvSpPr>
          <p:cNvPr id="14" name="Shape 11"/>
          <p:cNvSpPr/>
          <p:nvPr/>
        </p:nvSpPr>
        <p:spPr>
          <a:xfrm>
            <a:off x="822960" y="5120640"/>
            <a:ext cx="566928" cy="566928"/>
          </a:xfrm>
          <a:prstGeom prst="ellipse">
            <a:avLst/>
          </a:prstGeom>
          <a:solidFill>
            <a:srgbClr val="2A9D8F"/>
          </a:solidFill>
          <a:ln w="12700">
            <a:solidFill>
              <a:srgbClr val="2A9D8F"/>
            </a:solidFill>
            <a:prstDash val="solid"/>
          </a:ln>
        </p:spPr>
      </p:sp>
      <p:sp>
        <p:nvSpPr>
          <p:cNvPr id="15" name="Text 12"/>
          <p:cNvSpPr/>
          <p:nvPr/>
        </p:nvSpPr>
        <p:spPr>
          <a:xfrm>
            <a:off x="822960" y="512064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nter" pitchFamily="34" charset="0"/>
                <a:ea typeface="Inter" pitchFamily="34" charset="-122"/>
                <a:cs typeface="Inter" pitchFamily="34" charset="-120"/>
              </a:rPr>
              <a:t>3</a:t>
            </a:r>
            <a:endParaRPr lang="en-US" sz="2000" dirty="0"/>
          </a:p>
        </p:txBody>
      </p:sp>
      <p:sp>
        <p:nvSpPr>
          <p:cNvPr id="16" name="Text 13"/>
          <p:cNvSpPr/>
          <p:nvPr/>
        </p:nvSpPr>
        <p:spPr>
          <a:xfrm>
            <a:off x="1600200" y="5074920"/>
            <a:ext cx="9875520" cy="658368"/>
          </a:xfrm>
          <a:prstGeom prst="rect">
            <a:avLst/>
          </a:prstGeom>
          <a:noFill/>
          <a:ln/>
        </p:spPr>
        <p:txBody>
          <a:bodyPr wrap="square" lIns="0" tIns="0" rIns="0" bIns="0" rtlCol="0" anchor="ctr"/>
          <a:lstStyle/>
          <a:p>
            <a:pPr indent="0" marL="0">
              <a:buNone/>
            </a:pPr>
            <a:r>
              <a:rPr lang="en-US" sz="2000" dirty="0">
                <a:solidFill>
                  <a:srgbClr val="FFFFFF"/>
                </a:solidFill>
                <a:latin typeface="Inter" pitchFamily="34" charset="0"/>
                <a:ea typeface="Inter" pitchFamily="34" charset="-122"/>
                <a:cs typeface="Inter" pitchFamily="34" charset="-120"/>
              </a:rPr>
              <a:t>You catch and cut at least one weak question before the lab ends</a:t>
            </a:r>
            <a:endParaRPr lang="en-US" sz="2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11480" y="6473952"/>
            <a:ext cx="237744" cy="219456"/>
          </a:xfrm>
          <a:prstGeom prst="rect">
            <a:avLst/>
          </a:prstGeom>
        </p:spPr>
      </p:pic>
      <p:sp>
        <p:nvSpPr>
          <p:cNvPr id="3" name="Text 0"/>
          <p:cNvSpPr/>
          <p:nvPr/>
        </p:nvSpPr>
        <p:spPr>
          <a:xfrm>
            <a:off x="685800" y="6428232"/>
            <a:ext cx="2011680" cy="292608"/>
          </a:xfrm>
          <a:prstGeom prst="rect">
            <a:avLst/>
          </a:prstGeom>
          <a:noFill/>
          <a:ln/>
        </p:spPr>
        <p:txBody>
          <a:bodyPr wrap="square" lIns="0" tIns="0" rIns="0" bIns="0" rtlCol="0" anchor="ctr"/>
          <a:lstStyle/>
          <a:p>
            <a:pPr indent="0" marL="0">
              <a:buNone/>
            </a:pPr>
            <a:r>
              <a:rPr lang="en-US" sz="1000" b="1" dirty="0">
                <a:solidFill>
                  <a:srgbClr val="2A9D8F"/>
                </a:solidFill>
                <a:latin typeface="Inter" pitchFamily="34" charset="0"/>
                <a:ea typeface="Inter" pitchFamily="34" charset="-122"/>
                <a:cs typeface="Inter" pitchFamily="34" charset="-120"/>
              </a:rPr>
              <a:t>AI-Ready</a:t>
            </a:r>
            <a:pPr indent="0" marL="0">
              <a:buNone/>
            </a:pPr>
            <a:r>
              <a:rPr lang="en-US" sz="1000" b="1" dirty="0">
                <a:solidFill>
                  <a:srgbClr val="13293D"/>
                </a:solidFill>
                <a:latin typeface="Inter" pitchFamily="34" charset="0"/>
                <a:ea typeface="Inter" pitchFamily="34" charset="-122"/>
                <a:cs typeface="Inter" pitchFamily="34" charset="-120"/>
              </a:rPr>
              <a:t> School</a:t>
            </a:r>
            <a:endParaRPr lang="en-US" sz="1000" dirty="0"/>
          </a:p>
        </p:txBody>
      </p:sp>
      <p:sp>
        <p:nvSpPr>
          <p:cNvPr id="4" name="Text 1"/>
          <p:cNvSpPr/>
          <p:nvPr/>
        </p:nvSpPr>
        <p:spPr>
          <a:xfrm>
            <a:off x="8897112" y="6428232"/>
            <a:ext cx="2880360" cy="292608"/>
          </a:xfrm>
          <a:prstGeom prst="rect">
            <a:avLst/>
          </a:prstGeom>
          <a:noFill/>
          <a:ln/>
        </p:spPr>
        <p:txBody>
          <a:bodyPr wrap="square" lIns="0" tIns="0" rIns="0" bIns="0" rtlCol="0" anchor="ctr"/>
          <a:lstStyle/>
          <a:p>
            <a:pPr algn="r" indent="0" marL="0">
              <a:buNone/>
            </a:pPr>
            <a:r>
              <a:rPr lang="en-US" sz="900" dirty="0">
                <a:solidFill>
                  <a:srgbClr val="5B6B7A"/>
                </a:solidFill>
                <a:latin typeface="Inter" pitchFamily="34" charset="0"/>
                <a:ea typeface="Inter" pitchFamily="34" charset="-122"/>
                <a:cs typeface="Inter" pitchFamily="34" charset="-120"/>
              </a:rPr>
              <a:t>Kit 4 · AI for Assessment   |   19</a:t>
            </a:r>
            <a:endParaRPr lang="en-US" sz="900" dirty="0"/>
          </a:p>
        </p:txBody>
      </p:sp>
      <p:sp>
        <p:nvSpPr>
          <p:cNvPr id="5" name="Text 2"/>
          <p:cNvSpPr/>
          <p:nvPr/>
        </p:nvSpPr>
        <p:spPr>
          <a:xfrm>
            <a:off x="566928" y="128016"/>
            <a:ext cx="11055096" cy="274320"/>
          </a:xfrm>
          <a:prstGeom prst="rect">
            <a:avLst/>
          </a:prstGeom>
          <a:noFill/>
          <a:ln/>
        </p:spPr>
        <p:txBody>
          <a:bodyPr wrap="square" lIns="0" tIns="0" rIns="0" bIns="0" rtlCol="0" anchor="ctr"/>
          <a:lstStyle/>
          <a:p>
            <a:pPr indent="0" marL="0">
              <a:buNone/>
            </a:pPr>
            <a:r>
              <a:rPr lang="en-US" sz="1200" b="1" spc="200" kern="0" dirty="0">
                <a:solidFill>
                  <a:srgbClr val="2A9D8F"/>
                </a:solidFill>
                <a:latin typeface="Inter" pitchFamily="34" charset="0"/>
                <a:ea typeface="Inter" pitchFamily="34" charset="-122"/>
                <a:cs typeface="Inter" pitchFamily="34" charset="-120"/>
              </a:rPr>
              <a:t>LAB · STEP 1 OF 3 · 6 MINUTES</a:t>
            </a:r>
            <a:endParaRPr lang="en-US" sz="1200" dirty="0"/>
          </a:p>
        </p:txBody>
      </p:sp>
      <p:sp>
        <p:nvSpPr>
          <p:cNvPr id="6" name="Text 3"/>
          <p:cNvSpPr/>
          <p:nvPr/>
        </p:nvSpPr>
        <p:spPr>
          <a:xfrm>
            <a:off x="548640" y="384048"/>
            <a:ext cx="11091672" cy="777240"/>
          </a:xfrm>
          <a:prstGeom prst="rect">
            <a:avLst/>
          </a:prstGeom>
          <a:noFill/>
          <a:ln/>
        </p:spPr>
        <p:txBody>
          <a:bodyPr wrap="square" lIns="0" tIns="0" rIns="0" bIns="0" rtlCol="0" anchor="ctr"/>
          <a:lstStyle/>
          <a:p>
            <a:pPr indent="0" marL="0">
              <a:buNone/>
            </a:pPr>
            <a:r>
              <a:rPr lang="en-US" sz="3200" b="1" dirty="0">
                <a:solidFill>
                  <a:srgbClr val="13293D"/>
                </a:solidFill>
                <a:latin typeface="Inter" pitchFamily="34" charset="0"/>
                <a:ea typeface="Inter" pitchFamily="34" charset="-122"/>
                <a:cs typeface="Inter" pitchFamily="34" charset="-120"/>
              </a:rPr>
              <a:t>Notes → rubric, then iterate</a:t>
            </a:r>
            <a:endParaRPr lang="en-US" sz="3200" dirty="0"/>
          </a:p>
        </p:txBody>
      </p:sp>
      <p:sp>
        <p:nvSpPr>
          <p:cNvPr id="7" name="Shape 4"/>
          <p:cNvSpPr/>
          <p:nvPr/>
        </p:nvSpPr>
        <p:spPr>
          <a:xfrm>
            <a:off x="640080" y="1508760"/>
            <a:ext cx="10972800" cy="731520"/>
          </a:xfrm>
          <a:prstGeom prst="roundRect">
            <a:avLst>
              <a:gd name="adj" fmla="val 11250"/>
            </a:avLst>
          </a:prstGeom>
          <a:solidFill>
            <a:srgbClr val="F7F5F0"/>
          </a:solidFill>
          <a:ln w="12700">
            <a:solidFill>
              <a:srgbClr val="F7F5F0"/>
            </a:solidFill>
            <a:prstDash val="solid"/>
          </a:ln>
        </p:spPr>
      </p:sp>
      <p:sp>
        <p:nvSpPr>
          <p:cNvPr id="8" name="Text 5"/>
          <p:cNvSpPr/>
          <p:nvPr/>
        </p:nvSpPr>
        <p:spPr>
          <a:xfrm>
            <a:off x="960120" y="1563624"/>
            <a:ext cx="10332720" cy="621792"/>
          </a:xfrm>
          <a:prstGeom prst="rect">
            <a:avLst/>
          </a:prstGeom>
          <a:noFill/>
          <a:ln/>
        </p:spPr>
        <p:txBody>
          <a:bodyPr wrap="square" lIns="0" tIns="0" rIns="0" bIns="0" rtlCol="0" anchor="ctr"/>
          <a:lstStyle/>
          <a:p>
            <a:pPr indent="0" marL="0">
              <a:buNone/>
            </a:pPr>
            <a:r>
              <a:rPr lang="en-US" sz="1800" dirty="0">
                <a:solidFill>
                  <a:srgbClr val="1B1F24"/>
                </a:solidFill>
                <a:latin typeface="Inter" pitchFamily="34" charset="0"/>
                <a:ea typeface="Inter" pitchFamily="34" charset="-122"/>
                <a:cs typeface="Inter" pitchFamily="34" charset="-120"/>
              </a:rPr>
              <a:t>Run the rubric prompt with your grade, subject, criteria, and pasted notes</a:t>
            </a:r>
            <a:endParaRPr lang="en-US" sz="1800" dirty="0"/>
          </a:p>
        </p:txBody>
      </p:sp>
      <p:sp>
        <p:nvSpPr>
          <p:cNvPr id="9" name="Shape 6"/>
          <p:cNvSpPr/>
          <p:nvPr/>
        </p:nvSpPr>
        <p:spPr>
          <a:xfrm>
            <a:off x="640080" y="2377440"/>
            <a:ext cx="10972800" cy="731520"/>
          </a:xfrm>
          <a:prstGeom prst="roundRect">
            <a:avLst>
              <a:gd name="adj" fmla="val 11250"/>
            </a:avLst>
          </a:prstGeom>
          <a:solidFill>
            <a:srgbClr val="F7F5F0"/>
          </a:solidFill>
          <a:ln w="12700">
            <a:solidFill>
              <a:srgbClr val="F7F5F0"/>
            </a:solidFill>
            <a:prstDash val="solid"/>
          </a:ln>
        </p:spPr>
      </p:sp>
      <p:sp>
        <p:nvSpPr>
          <p:cNvPr id="10" name="Text 7"/>
          <p:cNvSpPr/>
          <p:nvPr/>
        </p:nvSpPr>
        <p:spPr>
          <a:xfrm>
            <a:off x="960120" y="2432304"/>
            <a:ext cx="10332720" cy="621792"/>
          </a:xfrm>
          <a:prstGeom prst="rect">
            <a:avLst/>
          </a:prstGeom>
          <a:noFill/>
          <a:ln/>
        </p:spPr>
        <p:txBody>
          <a:bodyPr wrap="square" lIns="0" tIns="0" rIns="0" bIns="0" rtlCol="0" anchor="ctr"/>
          <a:lstStyle/>
          <a:p>
            <a:pPr indent="0" marL="0">
              <a:buNone/>
            </a:pPr>
            <a:r>
              <a:rPr lang="en-US" sz="1800" dirty="0">
                <a:solidFill>
                  <a:srgbClr val="1B1F24"/>
                </a:solidFill>
                <a:latin typeface="Inter" pitchFamily="34" charset="0"/>
                <a:ea typeface="Inter" pitchFamily="34" charset="-122"/>
                <a:cs typeface="Inter" pitchFamily="34" charset="-120"/>
              </a:rPr>
              <a:t>Content round: are these the right criteria? Is anything you actually grade for missing?</a:t>
            </a:r>
            <a:endParaRPr lang="en-US" sz="1800" dirty="0"/>
          </a:p>
        </p:txBody>
      </p:sp>
      <p:sp>
        <p:nvSpPr>
          <p:cNvPr id="11" name="Shape 8"/>
          <p:cNvSpPr/>
          <p:nvPr/>
        </p:nvSpPr>
        <p:spPr>
          <a:xfrm>
            <a:off x="640080" y="3246120"/>
            <a:ext cx="10972800" cy="731520"/>
          </a:xfrm>
          <a:prstGeom prst="roundRect">
            <a:avLst>
              <a:gd name="adj" fmla="val 11250"/>
            </a:avLst>
          </a:prstGeom>
          <a:solidFill>
            <a:srgbClr val="F7F5F0"/>
          </a:solidFill>
          <a:ln w="12700">
            <a:solidFill>
              <a:srgbClr val="F7F5F0"/>
            </a:solidFill>
            <a:prstDash val="solid"/>
          </a:ln>
        </p:spPr>
      </p:sp>
      <p:sp>
        <p:nvSpPr>
          <p:cNvPr id="12" name="Text 9"/>
          <p:cNvSpPr/>
          <p:nvPr/>
        </p:nvSpPr>
        <p:spPr>
          <a:xfrm>
            <a:off x="960120" y="3300984"/>
            <a:ext cx="10332720" cy="621792"/>
          </a:xfrm>
          <a:prstGeom prst="rect">
            <a:avLst/>
          </a:prstGeom>
          <a:noFill/>
          <a:ln/>
        </p:spPr>
        <p:txBody>
          <a:bodyPr wrap="square" lIns="0" tIns="0" rIns="0" bIns="0" rtlCol="0" anchor="ctr"/>
          <a:lstStyle/>
          <a:p>
            <a:pPr indent="0" marL="0">
              <a:buNone/>
            </a:pPr>
            <a:r>
              <a:rPr lang="en-US" sz="1800" dirty="0">
                <a:solidFill>
                  <a:srgbClr val="1B1F24"/>
                </a:solidFill>
                <a:latin typeface="Inter" pitchFamily="34" charset="0"/>
                <a:ea typeface="Inter" pitchFamily="34" charset="-122"/>
                <a:cs typeface="Inter" pitchFamily="34" charset="-120"/>
              </a:rPr>
              <a:t>Voice round: the hand-it-to-a-student test, on every descriptor</a:t>
            </a:r>
            <a:endParaRPr lang="en-US" sz="1800" dirty="0"/>
          </a:p>
        </p:txBody>
      </p:sp>
      <p:sp>
        <p:nvSpPr>
          <p:cNvPr id="13" name="Shape 10"/>
          <p:cNvSpPr/>
          <p:nvPr/>
        </p:nvSpPr>
        <p:spPr>
          <a:xfrm>
            <a:off x="640080" y="4114800"/>
            <a:ext cx="10972800" cy="731520"/>
          </a:xfrm>
          <a:prstGeom prst="roundRect">
            <a:avLst>
              <a:gd name="adj" fmla="val 11250"/>
            </a:avLst>
          </a:prstGeom>
          <a:solidFill>
            <a:srgbClr val="F7F5F0"/>
          </a:solidFill>
          <a:ln w="12700">
            <a:solidFill>
              <a:srgbClr val="F7F5F0"/>
            </a:solidFill>
            <a:prstDash val="solid"/>
          </a:ln>
        </p:spPr>
      </p:sp>
      <p:sp>
        <p:nvSpPr>
          <p:cNvPr id="14" name="Text 11"/>
          <p:cNvSpPr/>
          <p:nvPr/>
        </p:nvSpPr>
        <p:spPr>
          <a:xfrm>
            <a:off x="960120" y="4169664"/>
            <a:ext cx="10332720" cy="621792"/>
          </a:xfrm>
          <a:prstGeom prst="rect">
            <a:avLst/>
          </a:prstGeom>
          <a:noFill/>
          <a:ln/>
        </p:spPr>
        <p:txBody>
          <a:bodyPr wrap="square" lIns="0" tIns="0" rIns="0" bIns="0" rtlCol="0" anchor="ctr"/>
          <a:lstStyle/>
          <a:p>
            <a:pPr indent="0" marL="0">
              <a:buNone/>
            </a:pPr>
            <a:r>
              <a:rPr lang="en-US" sz="1800" dirty="0">
                <a:solidFill>
                  <a:srgbClr val="1B1F24"/>
                </a:solidFill>
                <a:latin typeface="Inter" pitchFamily="34" charset="0"/>
                <a:ea typeface="Inter" pitchFamily="34" charset="-122"/>
                <a:cs typeface="Inter" pitchFamily="34" charset="-120"/>
              </a:rPr>
              <a:t>Details round: table format, level names, point values if you use them</a:t>
            </a:r>
            <a:endParaRPr lang="en-US" sz="1800" dirty="0"/>
          </a:p>
        </p:txBody>
      </p:sp>
      <p:sp>
        <p:nvSpPr>
          <p:cNvPr id="15" name="Text 12"/>
          <p:cNvSpPr/>
          <p:nvPr/>
        </p:nvSpPr>
        <p:spPr>
          <a:xfrm>
            <a:off x="640080" y="5212080"/>
            <a:ext cx="10972800" cy="457200"/>
          </a:xfrm>
          <a:prstGeom prst="rect">
            <a:avLst/>
          </a:prstGeom>
          <a:noFill/>
          <a:ln/>
        </p:spPr>
        <p:txBody>
          <a:bodyPr wrap="square" lIns="0" tIns="0" rIns="0" bIns="0" rtlCol="0" anchor="ctr"/>
          <a:lstStyle/>
          <a:p>
            <a:pPr algn="ctr" indent="0" marL="0">
              <a:buNone/>
            </a:pPr>
            <a:r>
              <a:rPr lang="en-US" sz="1800" i="1" dirty="0">
                <a:solidFill>
                  <a:srgbClr val="5B6B7A"/>
                </a:solidFill>
                <a:latin typeface="Inter" pitchFamily="34" charset="0"/>
                <a:ea typeface="Inter" pitchFamily="34" charset="-122"/>
                <a:cs typeface="Inter" pitchFamily="34" charset="-120"/>
              </a:rPr>
              <a:t>45-min cut: run the voice round only; it’s the one that matters most.</a:t>
            </a:r>
            <a:endParaRPr lang="en-US" sz="1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11480" y="6473952"/>
            <a:ext cx="237744" cy="219456"/>
          </a:xfrm>
          <a:prstGeom prst="rect">
            <a:avLst/>
          </a:prstGeom>
        </p:spPr>
      </p:pic>
      <p:sp>
        <p:nvSpPr>
          <p:cNvPr id="3" name="Text 0"/>
          <p:cNvSpPr/>
          <p:nvPr/>
        </p:nvSpPr>
        <p:spPr>
          <a:xfrm>
            <a:off x="685800" y="6428232"/>
            <a:ext cx="2011680" cy="292608"/>
          </a:xfrm>
          <a:prstGeom prst="rect">
            <a:avLst/>
          </a:prstGeom>
          <a:noFill/>
          <a:ln/>
        </p:spPr>
        <p:txBody>
          <a:bodyPr wrap="square" lIns="0" tIns="0" rIns="0" bIns="0" rtlCol="0" anchor="ctr"/>
          <a:lstStyle/>
          <a:p>
            <a:pPr indent="0" marL="0">
              <a:buNone/>
            </a:pPr>
            <a:r>
              <a:rPr lang="en-US" sz="1000" b="1" dirty="0">
                <a:solidFill>
                  <a:srgbClr val="2A9D8F"/>
                </a:solidFill>
                <a:latin typeface="Inter" pitchFamily="34" charset="0"/>
                <a:ea typeface="Inter" pitchFamily="34" charset="-122"/>
                <a:cs typeface="Inter" pitchFamily="34" charset="-120"/>
              </a:rPr>
              <a:t>AI-Ready</a:t>
            </a:r>
            <a:pPr indent="0" marL="0">
              <a:buNone/>
            </a:pPr>
            <a:r>
              <a:rPr lang="en-US" sz="1000" b="1" dirty="0">
                <a:solidFill>
                  <a:srgbClr val="13293D"/>
                </a:solidFill>
                <a:latin typeface="Inter" pitchFamily="34" charset="0"/>
                <a:ea typeface="Inter" pitchFamily="34" charset="-122"/>
                <a:cs typeface="Inter" pitchFamily="34" charset="-120"/>
              </a:rPr>
              <a:t> School</a:t>
            </a:r>
            <a:endParaRPr lang="en-US" sz="1000" dirty="0"/>
          </a:p>
        </p:txBody>
      </p:sp>
      <p:sp>
        <p:nvSpPr>
          <p:cNvPr id="4" name="Text 1"/>
          <p:cNvSpPr/>
          <p:nvPr/>
        </p:nvSpPr>
        <p:spPr>
          <a:xfrm>
            <a:off x="8897112" y="6428232"/>
            <a:ext cx="2880360" cy="292608"/>
          </a:xfrm>
          <a:prstGeom prst="rect">
            <a:avLst/>
          </a:prstGeom>
          <a:noFill/>
          <a:ln/>
        </p:spPr>
        <p:txBody>
          <a:bodyPr wrap="square" lIns="0" tIns="0" rIns="0" bIns="0" rtlCol="0" anchor="ctr"/>
          <a:lstStyle/>
          <a:p>
            <a:pPr algn="r" indent="0" marL="0">
              <a:buNone/>
            </a:pPr>
            <a:r>
              <a:rPr lang="en-US" sz="900" dirty="0">
                <a:solidFill>
                  <a:srgbClr val="5B6B7A"/>
                </a:solidFill>
                <a:latin typeface="Inter" pitchFamily="34" charset="0"/>
                <a:ea typeface="Inter" pitchFamily="34" charset="-122"/>
                <a:cs typeface="Inter" pitchFamily="34" charset="-120"/>
              </a:rPr>
              <a:t>Kit 4 · AI for Assessment   |   20</a:t>
            </a:r>
            <a:endParaRPr lang="en-US" sz="900" dirty="0"/>
          </a:p>
        </p:txBody>
      </p:sp>
      <p:sp>
        <p:nvSpPr>
          <p:cNvPr id="5" name="Text 2"/>
          <p:cNvSpPr/>
          <p:nvPr/>
        </p:nvSpPr>
        <p:spPr>
          <a:xfrm>
            <a:off x="566928" y="128016"/>
            <a:ext cx="11055096" cy="274320"/>
          </a:xfrm>
          <a:prstGeom prst="rect">
            <a:avLst/>
          </a:prstGeom>
          <a:noFill/>
          <a:ln/>
        </p:spPr>
        <p:txBody>
          <a:bodyPr wrap="square" lIns="0" tIns="0" rIns="0" bIns="0" rtlCol="0" anchor="ctr"/>
          <a:lstStyle/>
          <a:p>
            <a:pPr indent="0" marL="0">
              <a:buNone/>
            </a:pPr>
            <a:r>
              <a:rPr lang="en-US" sz="1200" b="1" spc="200" kern="0" dirty="0">
                <a:solidFill>
                  <a:srgbClr val="2A9D8F"/>
                </a:solidFill>
                <a:latin typeface="Inter" pitchFamily="34" charset="0"/>
                <a:ea typeface="Inter" pitchFamily="34" charset="-122"/>
                <a:cs typeface="Inter" pitchFamily="34" charset="-120"/>
              </a:rPr>
              <a:t>LAB · STEP 2 OF 3 · 5 MINUTES</a:t>
            </a:r>
            <a:endParaRPr lang="en-US" sz="1200" dirty="0"/>
          </a:p>
        </p:txBody>
      </p:sp>
      <p:sp>
        <p:nvSpPr>
          <p:cNvPr id="6" name="Text 3"/>
          <p:cNvSpPr/>
          <p:nvPr/>
        </p:nvSpPr>
        <p:spPr>
          <a:xfrm>
            <a:off x="548640" y="384048"/>
            <a:ext cx="11091672" cy="777240"/>
          </a:xfrm>
          <a:prstGeom prst="rect">
            <a:avLst/>
          </a:prstGeom>
          <a:noFill/>
          <a:ln/>
        </p:spPr>
        <p:txBody>
          <a:bodyPr wrap="square" lIns="0" tIns="0" rIns="0" bIns="0" rtlCol="0" anchor="ctr"/>
          <a:lstStyle/>
          <a:p>
            <a:pPr indent="0" marL="0">
              <a:buNone/>
            </a:pPr>
            <a:r>
              <a:rPr lang="en-US" sz="3200" b="1" dirty="0">
                <a:solidFill>
                  <a:srgbClr val="13293D"/>
                </a:solidFill>
                <a:latin typeface="Inter" pitchFamily="34" charset="0"/>
                <a:ea typeface="Inter" pitchFamily="34" charset="-122"/>
                <a:cs typeface="Inter" pitchFamily="34" charset="-120"/>
              </a:rPr>
              <a:t>Build the 10-question bank</a:t>
            </a:r>
            <a:endParaRPr lang="en-US" sz="3200" dirty="0"/>
          </a:p>
        </p:txBody>
      </p:sp>
      <p:sp>
        <p:nvSpPr>
          <p:cNvPr id="7" name="Text 4"/>
          <p:cNvSpPr/>
          <p:nvPr/>
        </p:nvSpPr>
        <p:spPr>
          <a:xfrm>
            <a:off x="640080" y="1463040"/>
            <a:ext cx="10908792" cy="2377440"/>
          </a:xfrm>
          <a:prstGeom prst="rect">
            <a:avLst/>
          </a:prstGeom>
          <a:noFill/>
          <a:ln/>
        </p:spPr>
        <p:txBody>
          <a:bodyPr wrap="square" rtlCol="0" anchor="t"/>
          <a:lstStyle/>
          <a:p>
            <a:pPr marL="342900" indent="-342900">
              <a:spcAft>
                <a:spcPts val="1000"/>
              </a:spcAft>
              <a:buSzPct val="100000"/>
              <a:buChar char="•"/>
            </a:pPr>
            <a:r>
              <a:rPr lang="en-US" sz="2100" dirty="0">
                <a:solidFill>
                  <a:srgbClr val="1B1F24"/>
                </a:solidFill>
                <a:latin typeface="Inter" pitchFamily="34" charset="0"/>
                <a:ea typeface="Inter" pitchFamily="34" charset="-122"/>
                <a:cs typeface="Inter" pitchFamily="34" charset="-120"/>
              </a:rPr>
              <a:t>Same assessment: 10 questions, mixed format, full answer key, distractor rationale</a:t>
            </a:r>
            <a:endParaRPr lang="en-US" sz="2100" dirty="0"/>
          </a:p>
          <a:p>
            <a:pPr marL="342900" indent="-342900">
              <a:spcAft>
                <a:spcPts val="1000"/>
              </a:spcAft>
              <a:buSzPct val="100000"/>
              <a:buChar char="•"/>
            </a:pPr>
            <a:r>
              <a:rPr lang="en-US" sz="2100" b="1" dirty="0">
                <a:solidFill>
                  <a:srgbClr val="13293D"/>
                </a:solidFill>
                <a:latin typeface="Inter" pitchFamily="34" charset="0"/>
                <a:ea typeface="Inter" pitchFamily="34" charset="-122"/>
                <a:cs typeface="Inter" pitchFamily="34" charset="-120"/>
              </a:rPr>
              <a:t>First, finish this sentence: “My students keep confusing X with Y.”</a:t>
            </a:r>
            <a:endParaRPr lang="en-US" sz="2100" dirty="0"/>
          </a:p>
          <a:p>
            <a:pPr marL="342900" indent="-342900">
              <a:spcAft>
                <a:spcPts val="1000"/>
              </a:spcAft>
              <a:buSzPct val="100000"/>
              <a:buChar char="•"/>
            </a:pPr>
            <a:r>
              <a:rPr lang="en-US" sz="2100" dirty="0">
                <a:solidFill>
                  <a:srgbClr val="1B1F24"/>
                </a:solidFill>
                <a:latin typeface="Inter" pitchFamily="34" charset="0"/>
                <a:ea typeface="Inter" pitchFamily="34" charset="-122"/>
                <a:cs typeface="Inter" pitchFamily="34" charset="-120"/>
              </a:rPr>
              <a:t>Put that sentence in the prompt and make the misconception a distractor</a:t>
            </a:r>
            <a:endParaRPr lang="en-US" sz="2100" dirty="0"/>
          </a:p>
        </p:txBody>
      </p:sp>
      <p:sp>
        <p:nvSpPr>
          <p:cNvPr id="8" name="Shape 5"/>
          <p:cNvSpPr/>
          <p:nvPr/>
        </p:nvSpPr>
        <p:spPr>
          <a:xfrm>
            <a:off x="640080" y="4023360"/>
            <a:ext cx="10972800" cy="1554480"/>
          </a:xfrm>
          <a:prstGeom prst="roundRect">
            <a:avLst>
              <a:gd name="adj" fmla="val 5294"/>
            </a:avLst>
          </a:prstGeom>
          <a:solidFill>
            <a:srgbClr val="EAF5F3"/>
          </a:solidFill>
          <a:ln w="12700">
            <a:solidFill>
              <a:srgbClr val="EAF5F3"/>
            </a:solidFill>
            <a:prstDash val="solid"/>
          </a:ln>
        </p:spPr>
      </p:sp>
      <p:sp>
        <p:nvSpPr>
          <p:cNvPr id="9" name="Text 6"/>
          <p:cNvSpPr/>
          <p:nvPr/>
        </p:nvSpPr>
        <p:spPr>
          <a:xfrm>
            <a:off x="960120" y="4251960"/>
            <a:ext cx="10332720" cy="1097280"/>
          </a:xfrm>
          <a:prstGeom prst="rect">
            <a:avLst/>
          </a:prstGeom>
          <a:noFill/>
          <a:ln/>
        </p:spPr>
        <p:txBody>
          <a:bodyPr wrap="square" lIns="0" tIns="0" rIns="0" bIns="0" rtlCol="0" anchor="ctr"/>
          <a:lstStyle/>
          <a:p>
            <a:pPr indent="0" marL="0">
              <a:buNone/>
            </a:pPr>
            <a:r>
              <a:rPr lang="en-US" sz="2400" b="1" dirty="0">
                <a:solidFill>
                  <a:srgbClr val="13293D"/>
                </a:solidFill>
                <a:latin typeface="Inter" pitchFamily="34" charset="0"/>
                <a:ea typeface="Inter" pitchFamily="34" charset="-122"/>
                <a:cs typeface="Inter" pitchFamily="34" charset="-120"/>
              </a:rPr>
              <a:t>The misconception is the one ingredient only you can supply.</a:t>
            </a:r>
            <a:endParaRPr lang="en-US" sz="2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11480" y="6473952"/>
            <a:ext cx="237744" cy="219456"/>
          </a:xfrm>
          <a:prstGeom prst="rect">
            <a:avLst/>
          </a:prstGeom>
        </p:spPr>
      </p:pic>
      <p:sp>
        <p:nvSpPr>
          <p:cNvPr id="3" name="Text 0"/>
          <p:cNvSpPr/>
          <p:nvPr/>
        </p:nvSpPr>
        <p:spPr>
          <a:xfrm>
            <a:off x="685800" y="6428232"/>
            <a:ext cx="2011680" cy="292608"/>
          </a:xfrm>
          <a:prstGeom prst="rect">
            <a:avLst/>
          </a:prstGeom>
          <a:noFill/>
          <a:ln/>
        </p:spPr>
        <p:txBody>
          <a:bodyPr wrap="square" lIns="0" tIns="0" rIns="0" bIns="0" rtlCol="0" anchor="ctr"/>
          <a:lstStyle/>
          <a:p>
            <a:pPr indent="0" marL="0">
              <a:buNone/>
            </a:pPr>
            <a:r>
              <a:rPr lang="en-US" sz="1000" b="1" dirty="0">
                <a:solidFill>
                  <a:srgbClr val="2A9D8F"/>
                </a:solidFill>
                <a:latin typeface="Inter" pitchFamily="34" charset="0"/>
                <a:ea typeface="Inter" pitchFamily="34" charset="-122"/>
                <a:cs typeface="Inter" pitchFamily="34" charset="-120"/>
              </a:rPr>
              <a:t>AI-Ready</a:t>
            </a:r>
            <a:pPr indent="0" marL="0">
              <a:buNone/>
            </a:pPr>
            <a:r>
              <a:rPr lang="en-US" sz="1000" b="1" dirty="0">
                <a:solidFill>
                  <a:srgbClr val="13293D"/>
                </a:solidFill>
                <a:latin typeface="Inter" pitchFamily="34" charset="0"/>
                <a:ea typeface="Inter" pitchFamily="34" charset="-122"/>
                <a:cs typeface="Inter" pitchFamily="34" charset="-120"/>
              </a:rPr>
              <a:t> School</a:t>
            </a:r>
            <a:endParaRPr lang="en-US" sz="1000" dirty="0"/>
          </a:p>
        </p:txBody>
      </p:sp>
      <p:sp>
        <p:nvSpPr>
          <p:cNvPr id="4" name="Text 1"/>
          <p:cNvSpPr/>
          <p:nvPr/>
        </p:nvSpPr>
        <p:spPr>
          <a:xfrm>
            <a:off x="8897112" y="6428232"/>
            <a:ext cx="2880360" cy="292608"/>
          </a:xfrm>
          <a:prstGeom prst="rect">
            <a:avLst/>
          </a:prstGeom>
          <a:noFill/>
          <a:ln/>
        </p:spPr>
        <p:txBody>
          <a:bodyPr wrap="square" lIns="0" tIns="0" rIns="0" bIns="0" rtlCol="0" anchor="ctr"/>
          <a:lstStyle/>
          <a:p>
            <a:pPr algn="r" indent="0" marL="0">
              <a:buNone/>
            </a:pPr>
            <a:r>
              <a:rPr lang="en-US" sz="900" dirty="0">
                <a:solidFill>
                  <a:srgbClr val="5B6B7A"/>
                </a:solidFill>
                <a:latin typeface="Inter" pitchFamily="34" charset="0"/>
                <a:ea typeface="Inter" pitchFamily="34" charset="-122"/>
                <a:cs typeface="Inter" pitchFamily="34" charset="-120"/>
              </a:rPr>
              <a:t>Kit 4 · AI for Assessment   |   21</a:t>
            </a:r>
            <a:endParaRPr lang="en-US" sz="900" dirty="0"/>
          </a:p>
        </p:txBody>
      </p:sp>
      <p:sp>
        <p:nvSpPr>
          <p:cNvPr id="5" name="Text 2"/>
          <p:cNvSpPr/>
          <p:nvPr/>
        </p:nvSpPr>
        <p:spPr>
          <a:xfrm>
            <a:off x="566928" y="128016"/>
            <a:ext cx="11055096" cy="274320"/>
          </a:xfrm>
          <a:prstGeom prst="rect">
            <a:avLst/>
          </a:prstGeom>
          <a:noFill/>
          <a:ln/>
        </p:spPr>
        <p:txBody>
          <a:bodyPr wrap="square" lIns="0" tIns="0" rIns="0" bIns="0" rtlCol="0" anchor="ctr"/>
          <a:lstStyle/>
          <a:p>
            <a:pPr indent="0" marL="0">
              <a:buNone/>
            </a:pPr>
            <a:r>
              <a:rPr lang="en-US" sz="1200" b="1" spc="200" kern="0" dirty="0">
                <a:solidFill>
                  <a:srgbClr val="2A9D8F"/>
                </a:solidFill>
                <a:latin typeface="Inter" pitchFamily="34" charset="0"/>
                <a:ea typeface="Inter" pitchFamily="34" charset="-122"/>
                <a:cs typeface="Inter" pitchFamily="34" charset="-120"/>
              </a:rPr>
              <a:t>LAB · STILL STEP 2 · 2 MINUTES · EVERYONE</a:t>
            </a:r>
            <a:endParaRPr lang="en-US" sz="1200" dirty="0"/>
          </a:p>
        </p:txBody>
      </p:sp>
      <p:sp>
        <p:nvSpPr>
          <p:cNvPr id="6" name="Text 3"/>
          <p:cNvSpPr/>
          <p:nvPr/>
        </p:nvSpPr>
        <p:spPr>
          <a:xfrm>
            <a:off x="548640" y="384048"/>
            <a:ext cx="11091672" cy="777240"/>
          </a:xfrm>
          <a:prstGeom prst="rect">
            <a:avLst/>
          </a:prstGeom>
          <a:noFill/>
          <a:ln/>
        </p:spPr>
        <p:txBody>
          <a:bodyPr wrap="square" lIns="0" tIns="0" rIns="0" bIns="0" rtlCol="0" anchor="ctr"/>
          <a:lstStyle/>
          <a:p>
            <a:pPr indent="0" marL="0">
              <a:buNone/>
            </a:pPr>
            <a:r>
              <a:rPr lang="en-US" sz="3200" b="1" dirty="0">
                <a:solidFill>
                  <a:srgbClr val="13293D"/>
                </a:solidFill>
                <a:latin typeface="Inter" pitchFamily="34" charset="0"/>
                <a:ea typeface="Inter" pitchFamily="34" charset="-122"/>
                <a:cs typeface="Inter" pitchFamily="34" charset="-120"/>
              </a:rPr>
              <a:t>The vetting rep: find the weak one</a:t>
            </a:r>
            <a:endParaRPr lang="en-US" sz="3200" dirty="0"/>
          </a:p>
        </p:txBody>
      </p:sp>
      <p:sp>
        <p:nvSpPr>
          <p:cNvPr id="7" name="Shape 4"/>
          <p:cNvSpPr/>
          <p:nvPr/>
        </p:nvSpPr>
        <p:spPr>
          <a:xfrm>
            <a:off x="640080" y="1508760"/>
            <a:ext cx="10972800" cy="731520"/>
          </a:xfrm>
          <a:prstGeom prst="roundRect">
            <a:avLst>
              <a:gd name="adj" fmla="val 11250"/>
            </a:avLst>
          </a:prstGeom>
          <a:solidFill>
            <a:srgbClr val="F7F5F0"/>
          </a:solidFill>
          <a:ln w="12700">
            <a:solidFill>
              <a:srgbClr val="F7F5F0"/>
            </a:solidFill>
            <a:prstDash val="solid"/>
          </a:ln>
        </p:spPr>
      </p:sp>
      <p:sp>
        <p:nvSpPr>
          <p:cNvPr id="8" name="Text 5"/>
          <p:cNvSpPr/>
          <p:nvPr/>
        </p:nvSpPr>
        <p:spPr>
          <a:xfrm>
            <a:off x="960120" y="1563624"/>
            <a:ext cx="10332720" cy="621792"/>
          </a:xfrm>
          <a:prstGeom prst="rect">
            <a:avLst/>
          </a:prstGeom>
          <a:noFill/>
          <a:ln/>
        </p:spPr>
        <p:txBody>
          <a:bodyPr wrap="square" lIns="0" tIns="0" rIns="0" bIns="0" rtlCol="0" anchor="ctr"/>
          <a:lstStyle/>
          <a:p>
            <a:pPr indent="0" marL="0">
              <a:buNone/>
            </a:pPr>
            <a:r>
              <a:rPr lang="en-US" sz="1800" dirty="0">
                <a:solidFill>
                  <a:srgbClr val="1B1F24"/>
                </a:solidFill>
                <a:latin typeface="Inter" pitchFamily="34" charset="0"/>
                <a:ea typeface="Inter" pitchFamily="34" charset="-122"/>
                <a:cs typeface="Inter" pitchFamily="34" charset="-120"/>
              </a:rPr>
              <a:t>Answer key checked against your own professional knowledge</a:t>
            </a:r>
            <a:endParaRPr lang="en-US" sz="1800" dirty="0"/>
          </a:p>
        </p:txBody>
      </p:sp>
      <p:sp>
        <p:nvSpPr>
          <p:cNvPr id="9" name="Shape 6"/>
          <p:cNvSpPr/>
          <p:nvPr/>
        </p:nvSpPr>
        <p:spPr>
          <a:xfrm>
            <a:off x="640080" y="2377440"/>
            <a:ext cx="10972800" cy="731520"/>
          </a:xfrm>
          <a:prstGeom prst="roundRect">
            <a:avLst>
              <a:gd name="adj" fmla="val 11250"/>
            </a:avLst>
          </a:prstGeom>
          <a:solidFill>
            <a:srgbClr val="F7F5F0"/>
          </a:solidFill>
          <a:ln w="12700">
            <a:solidFill>
              <a:srgbClr val="F7F5F0"/>
            </a:solidFill>
            <a:prstDash val="solid"/>
          </a:ln>
        </p:spPr>
      </p:sp>
      <p:sp>
        <p:nvSpPr>
          <p:cNvPr id="10" name="Text 7"/>
          <p:cNvSpPr/>
          <p:nvPr/>
        </p:nvSpPr>
        <p:spPr>
          <a:xfrm>
            <a:off x="960120" y="2432304"/>
            <a:ext cx="10332720" cy="621792"/>
          </a:xfrm>
          <a:prstGeom prst="rect">
            <a:avLst/>
          </a:prstGeom>
          <a:noFill/>
          <a:ln/>
        </p:spPr>
        <p:txBody>
          <a:bodyPr wrap="square" lIns="0" tIns="0" rIns="0" bIns="0" rtlCol="0" anchor="ctr"/>
          <a:lstStyle/>
          <a:p>
            <a:pPr indent="0" marL="0">
              <a:buNone/>
            </a:pPr>
            <a:r>
              <a:rPr lang="en-US" sz="1800" dirty="0">
                <a:solidFill>
                  <a:srgbClr val="1B1F24"/>
                </a:solidFill>
                <a:latin typeface="Inter" pitchFamily="34" charset="0"/>
                <a:ea typeface="Inter" pitchFamily="34" charset="-122"/>
                <a:cs typeface="Inter" pitchFamily="34" charset="-120"/>
              </a:rPr>
              <a:t>Every distractor checked for accidental truth</a:t>
            </a:r>
            <a:endParaRPr lang="en-US" sz="1800" dirty="0"/>
          </a:p>
        </p:txBody>
      </p:sp>
      <p:sp>
        <p:nvSpPr>
          <p:cNvPr id="11" name="Shape 8"/>
          <p:cNvSpPr/>
          <p:nvPr/>
        </p:nvSpPr>
        <p:spPr>
          <a:xfrm>
            <a:off x="640080" y="3246120"/>
            <a:ext cx="10972800" cy="731520"/>
          </a:xfrm>
          <a:prstGeom prst="roundRect">
            <a:avLst>
              <a:gd name="adj" fmla="val 11250"/>
            </a:avLst>
          </a:prstGeom>
          <a:solidFill>
            <a:srgbClr val="F7F5F0"/>
          </a:solidFill>
          <a:ln w="12700">
            <a:solidFill>
              <a:srgbClr val="F7F5F0"/>
            </a:solidFill>
            <a:prstDash val="solid"/>
          </a:ln>
        </p:spPr>
      </p:sp>
      <p:sp>
        <p:nvSpPr>
          <p:cNvPr id="12" name="Text 9"/>
          <p:cNvSpPr/>
          <p:nvPr/>
        </p:nvSpPr>
        <p:spPr>
          <a:xfrm>
            <a:off x="960120" y="3300984"/>
            <a:ext cx="10332720" cy="621792"/>
          </a:xfrm>
          <a:prstGeom prst="rect">
            <a:avLst/>
          </a:prstGeom>
          <a:noFill/>
          <a:ln/>
        </p:spPr>
        <p:txBody>
          <a:bodyPr wrap="square" lIns="0" tIns="0" rIns="0" bIns="0" rtlCol="0" anchor="ctr"/>
          <a:lstStyle/>
          <a:p>
            <a:pPr indent="0" marL="0">
              <a:buNone/>
            </a:pPr>
            <a:r>
              <a:rPr lang="en-US" sz="1800" dirty="0">
                <a:solidFill>
                  <a:srgbClr val="1B1F24"/>
                </a:solidFill>
                <a:latin typeface="Inter" pitchFamily="34" charset="0"/>
                <a:ea typeface="Inter" pitchFamily="34" charset="-122"/>
                <a:cs typeface="Inter" pitchFamily="34" charset="-120"/>
              </a:rPr>
              <a:t>Reading level right? Exactly one fair answer per question?</a:t>
            </a:r>
            <a:endParaRPr lang="en-US" sz="1800" dirty="0"/>
          </a:p>
        </p:txBody>
      </p:sp>
      <p:sp>
        <p:nvSpPr>
          <p:cNvPr id="13" name="Shape 10"/>
          <p:cNvSpPr/>
          <p:nvPr/>
        </p:nvSpPr>
        <p:spPr>
          <a:xfrm>
            <a:off x="640080" y="4114800"/>
            <a:ext cx="10972800" cy="731520"/>
          </a:xfrm>
          <a:prstGeom prst="roundRect">
            <a:avLst>
              <a:gd name="adj" fmla="val 11250"/>
            </a:avLst>
          </a:prstGeom>
          <a:solidFill>
            <a:srgbClr val="F7F5F0"/>
          </a:solidFill>
          <a:ln w="12700">
            <a:solidFill>
              <a:srgbClr val="F7F5F0"/>
            </a:solidFill>
            <a:prstDash val="solid"/>
          </a:ln>
        </p:spPr>
      </p:sp>
      <p:sp>
        <p:nvSpPr>
          <p:cNvPr id="14" name="Text 11"/>
          <p:cNvSpPr/>
          <p:nvPr/>
        </p:nvSpPr>
        <p:spPr>
          <a:xfrm>
            <a:off x="960120" y="4169664"/>
            <a:ext cx="10332720" cy="621792"/>
          </a:xfrm>
          <a:prstGeom prst="rect">
            <a:avLst/>
          </a:prstGeom>
          <a:noFill/>
          <a:ln/>
        </p:spPr>
        <p:txBody>
          <a:bodyPr wrap="square" lIns="0" tIns="0" rIns="0" bIns="0" rtlCol="0" anchor="ctr"/>
          <a:lstStyle/>
          <a:p>
            <a:pPr indent="0" marL="0">
              <a:buNone/>
            </a:pPr>
            <a:r>
              <a:rPr lang="en-US" sz="1800" dirty="0">
                <a:solidFill>
                  <a:srgbClr val="1B1F24"/>
                </a:solidFill>
                <a:latin typeface="Inter" pitchFamily="34" charset="0"/>
                <a:ea typeface="Inter" pitchFamily="34" charset="-122"/>
                <a:cs typeface="Inter" pitchFamily="34" charset="-120"/>
              </a:rPr>
              <a:t>Weakest question: fix it by hand, or delete it and write its replacement yourself</a:t>
            </a:r>
            <a:endParaRPr lang="en-US" sz="1800" dirty="0"/>
          </a:p>
        </p:txBody>
      </p:sp>
      <p:sp>
        <p:nvSpPr>
          <p:cNvPr id="15" name="Text 12"/>
          <p:cNvSpPr/>
          <p:nvPr/>
        </p:nvSpPr>
        <p:spPr>
          <a:xfrm>
            <a:off x="640080" y="5212080"/>
            <a:ext cx="10972800" cy="457200"/>
          </a:xfrm>
          <a:prstGeom prst="rect">
            <a:avLst/>
          </a:prstGeom>
          <a:noFill/>
          <a:ln/>
        </p:spPr>
        <p:txBody>
          <a:bodyPr wrap="square" lIns="0" tIns="0" rIns="0" bIns="0" rtlCol="0" anchor="ctr"/>
          <a:lstStyle/>
          <a:p>
            <a:pPr algn="ctr" indent="0" marL="0">
              <a:buNone/>
            </a:pPr>
            <a:r>
              <a:rPr lang="en-US" sz="1900" b="1" dirty="0">
                <a:solidFill>
                  <a:srgbClr val="13293D"/>
                </a:solidFill>
                <a:latin typeface="Inter" pitchFamily="34" charset="0"/>
                <a:ea typeface="Inter" pitchFamily="34" charset="-122"/>
                <a:cs typeface="Inter" pitchFamily="34" charset="-120"/>
              </a:rPr>
              <a:t>When you find it, say “got one” out loud. Drafts are cheap; vetting is sacred.</a:t>
            </a:r>
            <a:endParaRPr lang="en-US" sz="1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11480" y="6473952"/>
            <a:ext cx="237744" cy="219456"/>
          </a:xfrm>
          <a:prstGeom prst="rect">
            <a:avLst/>
          </a:prstGeom>
        </p:spPr>
      </p:pic>
      <p:sp>
        <p:nvSpPr>
          <p:cNvPr id="3" name="Text 0"/>
          <p:cNvSpPr/>
          <p:nvPr/>
        </p:nvSpPr>
        <p:spPr>
          <a:xfrm>
            <a:off x="685800" y="6428232"/>
            <a:ext cx="2011680" cy="292608"/>
          </a:xfrm>
          <a:prstGeom prst="rect">
            <a:avLst/>
          </a:prstGeom>
          <a:noFill/>
          <a:ln/>
        </p:spPr>
        <p:txBody>
          <a:bodyPr wrap="square" lIns="0" tIns="0" rIns="0" bIns="0" rtlCol="0" anchor="ctr"/>
          <a:lstStyle/>
          <a:p>
            <a:pPr indent="0" marL="0">
              <a:buNone/>
            </a:pPr>
            <a:r>
              <a:rPr lang="en-US" sz="1000" b="1" dirty="0">
                <a:solidFill>
                  <a:srgbClr val="2A9D8F"/>
                </a:solidFill>
                <a:latin typeface="Inter" pitchFamily="34" charset="0"/>
                <a:ea typeface="Inter" pitchFamily="34" charset="-122"/>
                <a:cs typeface="Inter" pitchFamily="34" charset="-120"/>
              </a:rPr>
              <a:t>AI-Ready</a:t>
            </a:r>
            <a:pPr indent="0" marL="0">
              <a:buNone/>
            </a:pPr>
            <a:r>
              <a:rPr lang="en-US" sz="1000" b="1" dirty="0">
                <a:solidFill>
                  <a:srgbClr val="13293D"/>
                </a:solidFill>
                <a:latin typeface="Inter" pitchFamily="34" charset="0"/>
                <a:ea typeface="Inter" pitchFamily="34" charset="-122"/>
                <a:cs typeface="Inter" pitchFamily="34" charset="-120"/>
              </a:rPr>
              <a:t> School</a:t>
            </a:r>
            <a:endParaRPr lang="en-US" sz="1000" dirty="0"/>
          </a:p>
        </p:txBody>
      </p:sp>
      <p:sp>
        <p:nvSpPr>
          <p:cNvPr id="4" name="Text 1"/>
          <p:cNvSpPr/>
          <p:nvPr/>
        </p:nvSpPr>
        <p:spPr>
          <a:xfrm>
            <a:off x="8897112" y="6428232"/>
            <a:ext cx="2880360" cy="292608"/>
          </a:xfrm>
          <a:prstGeom prst="rect">
            <a:avLst/>
          </a:prstGeom>
          <a:noFill/>
          <a:ln/>
        </p:spPr>
        <p:txBody>
          <a:bodyPr wrap="square" lIns="0" tIns="0" rIns="0" bIns="0" rtlCol="0" anchor="ctr"/>
          <a:lstStyle/>
          <a:p>
            <a:pPr algn="r" indent="0" marL="0">
              <a:buNone/>
            </a:pPr>
            <a:r>
              <a:rPr lang="en-US" sz="900" dirty="0">
                <a:solidFill>
                  <a:srgbClr val="5B6B7A"/>
                </a:solidFill>
                <a:latin typeface="Inter" pitchFamily="34" charset="0"/>
                <a:ea typeface="Inter" pitchFamily="34" charset="-122"/>
                <a:cs typeface="Inter" pitchFamily="34" charset="-120"/>
              </a:rPr>
              <a:t>Kit 4 · AI for Assessment   |   22</a:t>
            </a:r>
            <a:endParaRPr lang="en-US" sz="900" dirty="0"/>
          </a:p>
        </p:txBody>
      </p:sp>
      <p:sp>
        <p:nvSpPr>
          <p:cNvPr id="5" name="Text 2"/>
          <p:cNvSpPr/>
          <p:nvPr/>
        </p:nvSpPr>
        <p:spPr>
          <a:xfrm>
            <a:off x="566928" y="128016"/>
            <a:ext cx="11055096" cy="274320"/>
          </a:xfrm>
          <a:prstGeom prst="rect">
            <a:avLst/>
          </a:prstGeom>
          <a:noFill/>
          <a:ln/>
        </p:spPr>
        <p:txBody>
          <a:bodyPr wrap="square" lIns="0" tIns="0" rIns="0" bIns="0" rtlCol="0" anchor="ctr"/>
          <a:lstStyle/>
          <a:p>
            <a:pPr indent="0" marL="0">
              <a:buNone/>
            </a:pPr>
            <a:r>
              <a:rPr lang="en-US" sz="1200" b="1" spc="200" kern="0" dirty="0">
                <a:solidFill>
                  <a:srgbClr val="2A9D8F"/>
                </a:solidFill>
                <a:latin typeface="Inter" pitchFamily="34" charset="0"/>
                <a:ea typeface="Inter" pitchFamily="34" charset="-122"/>
                <a:cs typeface="Inter" pitchFamily="34" charset="-120"/>
              </a:rPr>
              <a:t>LAB · STEP 3 OF 3 · 3–4 MINUTES</a:t>
            </a:r>
            <a:endParaRPr lang="en-US" sz="1200" dirty="0"/>
          </a:p>
        </p:txBody>
      </p:sp>
      <p:sp>
        <p:nvSpPr>
          <p:cNvPr id="6" name="Text 3"/>
          <p:cNvSpPr/>
          <p:nvPr/>
        </p:nvSpPr>
        <p:spPr>
          <a:xfrm>
            <a:off x="548640" y="384048"/>
            <a:ext cx="11091672" cy="777240"/>
          </a:xfrm>
          <a:prstGeom prst="rect">
            <a:avLst/>
          </a:prstGeom>
          <a:noFill/>
          <a:ln/>
        </p:spPr>
        <p:txBody>
          <a:bodyPr wrap="square" lIns="0" tIns="0" rIns="0" bIns="0" rtlCol="0" anchor="ctr"/>
          <a:lstStyle/>
          <a:p>
            <a:pPr indent="0" marL="0">
              <a:buNone/>
            </a:pPr>
            <a:r>
              <a:rPr lang="en-US" sz="3200" b="1" dirty="0">
                <a:solidFill>
                  <a:srgbClr val="13293D"/>
                </a:solidFill>
                <a:latin typeface="Inter" pitchFamily="34" charset="0"/>
                <a:ea typeface="Inter" pitchFamily="34" charset="-122"/>
                <a:cs typeface="Inter" pitchFamily="34" charset="-120"/>
              </a:rPr>
              <a:t>Three reusable feedback starters</a:t>
            </a:r>
            <a:endParaRPr lang="en-US" sz="3200" dirty="0"/>
          </a:p>
        </p:txBody>
      </p:sp>
      <p:sp>
        <p:nvSpPr>
          <p:cNvPr id="7" name="Text 4"/>
          <p:cNvSpPr/>
          <p:nvPr/>
        </p:nvSpPr>
        <p:spPr>
          <a:xfrm>
            <a:off x="640080" y="1463040"/>
            <a:ext cx="10908792" cy="2286000"/>
          </a:xfrm>
          <a:prstGeom prst="rect">
            <a:avLst/>
          </a:prstGeom>
          <a:noFill/>
          <a:ln/>
        </p:spPr>
        <p:txBody>
          <a:bodyPr wrap="square" rtlCol="0" anchor="t"/>
          <a:lstStyle/>
          <a:p>
            <a:pPr marL="342900" indent="-342900">
              <a:spcAft>
                <a:spcPts val="1000"/>
              </a:spcAft>
              <a:buSzPct val="100000"/>
              <a:buChar char="•"/>
            </a:pPr>
            <a:r>
              <a:rPr lang="en-US" sz="2100" dirty="0">
                <a:solidFill>
                  <a:srgbClr val="1B1F24"/>
                </a:solidFill>
                <a:latin typeface="Inter" pitchFamily="34" charset="0"/>
                <a:ea typeface="Inter" pitchFamily="34" charset="-122"/>
                <a:cs typeface="Inter" pitchFamily="34" charset="-120"/>
              </a:rPr>
              <a:t>Name your three most common student patterns for this kind of work</a:t>
            </a:r>
            <a:endParaRPr lang="en-US" sz="2100" dirty="0"/>
          </a:p>
          <a:p>
            <a:pPr marL="342900" indent="-342900">
              <a:spcAft>
                <a:spcPts val="1000"/>
              </a:spcAft>
              <a:buSzPct val="100000"/>
              <a:buChar char="•"/>
            </a:pPr>
            <a:r>
              <a:rPr lang="en-US" sz="2100" dirty="0">
                <a:solidFill>
                  <a:srgbClr val="1B1F24"/>
                </a:solidFill>
                <a:latin typeface="Inter" pitchFamily="34" charset="0"/>
                <a:ea typeface="Inter" pitchFamily="34" charset="-122"/>
                <a:cs typeface="Inter" pitchFamily="34" charset="-120"/>
              </a:rPr>
              <a:t>Run the pattern prompt: strength, pattern, next step, in plain student language</a:t>
            </a:r>
            <a:endParaRPr lang="en-US" sz="2100" dirty="0"/>
          </a:p>
          <a:p>
            <a:pPr marL="342900" indent="-342900">
              <a:spcAft>
                <a:spcPts val="1000"/>
              </a:spcAft>
              <a:buSzPct val="100000"/>
              <a:buChar char="•"/>
            </a:pPr>
            <a:r>
              <a:rPr lang="en-US" sz="2100" dirty="0">
                <a:solidFill>
                  <a:srgbClr val="1B1F24"/>
                </a:solidFill>
                <a:latin typeface="Inter" pitchFamily="34" charset="0"/>
                <a:ea typeface="Inter" pitchFamily="34" charset="-122"/>
                <a:cs typeface="Inter" pitchFamily="34" charset="-120"/>
              </a:rPr>
              <a:t>Save all three where you grade; paste your best one into the staff doc’s Assessment section</a:t>
            </a:r>
            <a:endParaRPr lang="en-US" sz="2100" dirty="0"/>
          </a:p>
        </p:txBody>
      </p:sp>
      <p:sp>
        <p:nvSpPr>
          <p:cNvPr id="8" name="Shape 5"/>
          <p:cNvSpPr/>
          <p:nvPr/>
        </p:nvSpPr>
        <p:spPr>
          <a:xfrm>
            <a:off x="640080" y="3931920"/>
            <a:ext cx="10972800" cy="1737360"/>
          </a:xfrm>
          <a:prstGeom prst="roundRect">
            <a:avLst>
              <a:gd name="adj" fmla="val 4737"/>
            </a:avLst>
          </a:prstGeom>
          <a:solidFill>
            <a:srgbClr val="EAF5F3"/>
          </a:solidFill>
          <a:ln w="12700">
            <a:solidFill>
              <a:srgbClr val="EAF5F3"/>
            </a:solidFill>
            <a:prstDash val="solid"/>
          </a:ln>
        </p:spPr>
      </p:sp>
      <p:sp>
        <p:nvSpPr>
          <p:cNvPr id="9" name="Text 6"/>
          <p:cNvSpPr/>
          <p:nvPr/>
        </p:nvSpPr>
        <p:spPr>
          <a:xfrm>
            <a:off x="960120" y="4160520"/>
            <a:ext cx="10332720" cy="1280160"/>
          </a:xfrm>
          <a:prstGeom prst="rect">
            <a:avLst/>
          </a:prstGeom>
          <a:noFill/>
          <a:ln/>
        </p:spPr>
        <p:txBody>
          <a:bodyPr wrap="square" lIns="0" tIns="0" rIns="0" bIns="0" rtlCol="0" anchor="ctr"/>
          <a:lstStyle/>
          <a:p>
            <a:pPr indent="0" marL="0">
              <a:buNone/>
            </a:pPr>
            <a:r>
              <a:rPr lang="en-US" sz="2100" b="1" dirty="0">
                <a:solidFill>
                  <a:srgbClr val="13293D"/>
                </a:solidFill>
                <a:latin typeface="Inter" pitchFamily="34" charset="0"/>
                <a:ea typeface="Inter" pitchFamily="34" charset="-122"/>
                <a:cs typeface="Inter" pitchFamily="34" charset="-120"/>
              </a:rPr>
              <a:t>Starters, not stamps: in real grading you’ll personalize every one before it reaches a kid.</a:t>
            </a:r>
            <a:endParaRPr lang="en-US" sz="2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11480" y="6473952"/>
            <a:ext cx="237744" cy="219456"/>
          </a:xfrm>
          <a:prstGeom prst="rect">
            <a:avLst/>
          </a:prstGeom>
        </p:spPr>
      </p:pic>
      <p:sp>
        <p:nvSpPr>
          <p:cNvPr id="3" name="Text 0"/>
          <p:cNvSpPr/>
          <p:nvPr/>
        </p:nvSpPr>
        <p:spPr>
          <a:xfrm>
            <a:off x="685800" y="6428232"/>
            <a:ext cx="2011680" cy="292608"/>
          </a:xfrm>
          <a:prstGeom prst="rect">
            <a:avLst/>
          </a:prstGeom>
          <a:noFill/>
          <a:ln/>
        </p:spPr>
        <p:txBody>
          <a:bodyPr wrap="square" lIns="0" tIns="0" rIns="0" bIns="0" rtlCol="0" anchor="ctr"/>
          <a:lstStyle/>
          <a:p>
            <a:pPr indent="0" marL="0">
              <a:buNone/>
            </a:pPr>
            <a:r>
              <a:rPr lang="en-US" sz="1000" b="1" dirty="0">
                <a:solidFill>
                  <a:srgbClr val="2A9D8F"/>
                </a:solidFill>
                <a:latin typeface="Inter" pitchFamily="34" charset="0"/>
                <a:ea typeface="Inter" pitchFamily="34" charset="-122"/>
                <a:cs typeface="Inter" pitchFamily="34" charset="-120"/>
              </a:rPr>
              <a:t>AI-Ready</a:t>
            </a:r>
            <a:pPr indent="0" marL="0">
              <a:buNone/>
            </a:pPr>
            <a:r>
              <a:rPr lang="en-US" sz="1000" b="1" dirty="0">
                <a:solidFill>
                  <a:srgbClr val="13293D"/>
                </a:solidFill>
                <a:latin typeface="Inter" pitchFamily="34" charset="0"/>
                <a:ea typeface="Inter" pitchFamily="34" charset="-122"/>
                <a:cs typeface="Inter" pitchFamily="34" charset="-120"/>
              </a:rPr>
              <a:t> School</a:t>
            </a:r>
            <a:endParaRPr lang="en-US" sz="1000" dirty="0"/>
          </a:p>
        </p:txBody>
      </p:sp>
      <p:sp>
        <p:nvSpPr>
          <p:cNvPr id="4" name="Text 1"/>
          <p:cNvSpPr/>
          <p:nvPr/>
        </p:nvSpPr>
        <p:spPr>
          <a:xfrm>
            <a:off x="8897112" y="6428232"/>
            <a:ext cx="2880360" cy="292608"/>
          </a:xfrm>
          <a:prstGeom prst="rect">
            <a:avLst/>
          </a:prstGeom>
          <a:noFill/>
          <a:ln/>
        </p:spPr>
        <p:txBody>
          <a:bodyPr wrap="square" lIns="0" tIns="0" rIns="0" bIns="0" rtlCol="0" anchor="ctr"/>
          <a:lstStyle/>
          <a:p>
            <a:pPr algn="r" indent="0" marL="0">
              <a:buNone/>
            </a:pPr>
            <a:r>
              <a:rPr lang="en-US" sz="900" dirty="0">
                <a:solidFill>
                  <a:srgbClr val="5B6B7A"/>
                </a:solidFill>
                <a:latin typeface="Inter" pitchFamily="34" charset="0"/>
                <a:ea typeface="Inter" pitchFamily="34" charset="-122"/>
                <a:cs typeface="Inter" pitchFamily="34" charset="-120"/>
              </a:rPr>
              <a:t>Kit 4 · AI for Assessment   |   23</a:t>
            </a:r>
            <a:endParaRPr lang="en-US" sz="900" dirty="0"/>
          </a:p>
        </p:txBody>
      </p:sp>
      <p:sp>
        <p:nvSpPr>
          <p:cNvPr id="5" name="Text 2"/>
          <p:cNvSpPr/>
          <p:nvPr/>
        </p:nvSpPr>
        <p:spPr>
          <a:xfrm>
            <a:off x="566928" y="128016"/>
            <a:ext cx="11055096" cy="274320"/>
          </a:xfrm>
          <a:prstGeom prst="rect">
            <a:avLst/>
          </a:prstGeom>
          <a:noFill/>
          <a:ln/>
        </p:spPr>
        <p:txBody>
          <a:bodyPr wrap="square" lIns="0" tIns="0" rIns="0" bIns="0" rtlCol="0" anchor="ctr"/>
          <a:lstStyle/>
          <a:p>
            <a:pPr indent="0" marL="0">
              <a:buNone/>
            </a:pPr>
            <a:r>
              <a:rPr lang="en-US" sz="1200" b="1" spc="200" kern="0" dirty="0">
                <a:solidFill>
                  <a:srgbClr val="2A9D8F"/>
                </a:solidFill>
                <a:latin typeface="Inter" pitchFamily="34" charset="0"/>
                <a:ea typeface="Inter" pitchFamily="34" charset="-122"/>
                <a:cs typeface="Inter" pitchFamily="34" charset="-120"/>
              </a:rPr>
              <a:t>SHARE-OUT · 3–4 VOICES</a:t>
            </a:r>
            <a:endParaRPr lang="en-US" sz="1200" dirty="0"/>
          </a:p>
        </p:txBody>
      </p:sp>
      <p:sp>
        <p:nvSpPr>
          <p:cNvPr id="6" name="Text 3"/>
          <p:cNvSpPr/>
          <p:nvPr/>
        </p:nvSpPr>
        <p:spPr>
          <a:xfrm>
            <a:off x="548640" y="384048"/>
            <a:ext cx="11091672" cy="777240"/>
          </a:xfrm>
          <a:prstGeom prst="rect">
            <a:avLst/>
          </a:prstGeom>
          <a:noFill/>
          <a:ln/>
        </p:spPr>
        <p:txBody>
          <a:bodyPr wrap="square" lIns="0" tIns="0" rIns="0" bIns="0" rtlCol="0" anchor="ctr"/>
          <a:lstStyle/>
          <a:p>
            <a:pPr indent="0" marL="0">
              <a:buNone/>
            </a:pPr>
            <a:r>
              <a:rPr lang="en-US" sz="3200" b="1" dirty="0">
                <a:solidFill>
                  <a:srgbClr val="13293D"/>
                </a:solidFill>
                <a:latin typeface="Inter" pitchFamily="34" charset="0"/>
                <a:ea typeface="Inter" pitchFamily="34" charset="-122"/>
                <a:cs typeface="Inter" pitchFamily="34" charset="-120"/>
              </a:rPr>
              <a:t>Catches first</a:t>
            </a:r>
            <a:endParaRPr lang="en-US" sz="3200" dirty="0"/>
          </a:p>
        </p:txBody>
      </p:sp>
      <p:sp>
        <p:nvSpPr>
          <p:cNvPr id="7" name="Text 4"/>
          <p:cNvSpPr/>
          <p:nvPr/>
        </p:nvSpPr>
        <p:spPr>
          <a:xfrm>
            <a:off x="640080" y="1554480"/>
            <a:ext cx="10908792" cy="2560320"/>
          </a:xfrm>
          <a:prstGeom prst="rect">
            <a:avLst/>
          </a:prstGeom>
          <a:noFill/>
          <a:ln/>
        </p:spPr>
        <p:txBody>
          <a:bodyPr wrap="square" rtlCol="0" anchor="t"/>
          <a:lstStyle/>
          <a:p>
            <a:pPr marL="342900" indent="-342900">
              <a:spcAft>
                <a:spcPts val="1000"/>
              </a:spcAft>
              <a:buSzPct val="100000"/>
              <a:buChar char="•"/>
            </a:pPr>
            <a:r>
              <a:rPr lang="en-US" sz="2200" b="1" dirty="0">
                <a:solidFill>
                  <a:srgbClr val="13293D"/>
                </a:solidFill>
                <a:latin typeface="Inter" pitchFamily="34" charset="0"/>
                <a:ea typeface="Inter" pitchFamily="34" charset="-122"/>
                <a:cs typeface="Inter" pitchFamily="34" charset="-120"/>
              </a:rPr>
              <a:t>Who caught a weak question, and what was wrong with it? Those stories go first.</a:t>
            </a:r>
            <a:endParaRPr lang="en-US" sz="2200" dirty="0"/>
          </a:p>
          <a:p>
            <a:pPr marL="342900" indent="-342900">
              <a:spcAft>
                <a:spcPts val="1000"/>
              </a:spcAft>
              <a:buSzPct val="100000"/>
              <a:buChar char="•"/>
            </a:pPr>
            <a:r>
              <a:rPr lang="en-US" sz="2200" dirty="0">
                <a:solidFill>
                  <a:srgbClr val="1B1F24"/>
                </a:solidFill>
                <a:latin typeface="Inter" pitchFamily="34" charset="0"/>
                <a:ea typeface="Inter" pitchFamily="34" charset="-122"/>
                <a:cs typeface="Inter" pitchFamily="34" charset="-120"/>
              </a:rPr>
              <a:t>Read one rubric descriptor that passes the hand-it-to-a-student test</a:t>
            </a:r>
            <a:endParaRPr lang="en-US" sz="2200" dirty="0"/>
          </a:p>
          <a:p>
            <a:pPr marL="342900" indent="-342900">
              <a:spcAft>
                <a:spcPts val="1000"/>
              </a:spcAft>
              <a:buSzPct val="100000"/>
              <a:buChar char="•"/>
            </a:pPr>
            <a:r>
              <a:rPr lang="en-US" sz="2200" dirty="0">
                <a:solidFill>
                  <a:srgbClr val="1B1F24"/>
                </a:solidFill>
                <a:latin typeface="Inter" pitchFamily="34" charset="0"/>
                <a:ea typeface="Inter" pitchFamily="34" charset="-122"/>
                <a:cs typeface="Inter" pitchFamily="34" charset="-120"/>
              </a:rPr>
              <a:t>Read one feedback starter you’ll actually use this week</a:t>
            </a:r>
            <a:endParaRPr lang="en-US" sz="2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11480" y="6473952"/>
            <a:ext cx="237744" cy="219456"/>
          </a:xfrm>
          <a:prstGeom prst="rect">
            <a:avLst/>
          </a:prstGeom>
        </p:spPr>
      </p:pic>
      <p:sp>
        <p:nvSpPr>
          <p:cNvPr id="3" name="Text 0"/>
          <p:cNvSpPr/>
          <p:nvPr/>
        </p:nvSpPr>
        <p:spPr>
          <a:xfrm>
            <a:off x="685800" y="6428232"/>
            <a:ext cx="2011680" cy="292608"/>
          </a:xfrm>
          <a:prstGeom prst="rect">
            <a:avLst/>
          </a:prstGeom>
          <a:noFill/>
          <a:ln/>
        </p:spPr>
        <p:txBody>
          <a:bodyPr wrap="square" lIns="0" tIns="0" rIns="0" bIns="0" rtlCol="0" anchor="ctr"/>
          <a:lstStyle/>
          <a:p>
            <a:pPr indent="0" marL="0">
              <a:buNone/>
            </a:pPr>
            <a:r>
              <a:rPr lang="en-US" sz="1000" b="1" dirty="0">
                <a:solidFill>
                  <a:srgbClr val="2A9D8F"/>
                </a:solidFill>
                <a:latin typeface="Inter" pitchFamily="34" charset="0"/>
                <a:ea typeface="Inter" pitchFamily="34" charset="-122"/>
                <a:cs typeface="Inter" pitchFamily="34" charset="-120"/>
              </a:rPr>
              <a:t>AI-Ready</a:t>
            </a:r>
            <a:pPr indent="0" marL="0">
              <a:buNone/>
            </a:pPr>
            <a:r>
              <a:rPr lang="en-US" sz="1000" b="1" dirty="0">
                <a:solidFill>
                  <a:srgbClr val="13293D"/>
                </a:solidFill>
                <a:latin typeface="Inter" pitchFamily="34" charset="0"/>
                <a:ea typeface="Inter" pitchFamily="34" charset="-122"/>
                <a:cs typeface="Inter" pitchFamily="34" charset="-120"/>
              </a:rPr>
              <a:t> School</a:t>
            </a:r>
            <a:endParaRPr lang="en-US" sz="1000" dirty="0"/>
          </a:p>
        </p:txBody>
      </p:sp>
      <p:sp>
        <p:nvSpPr>
          <p:cNvPr id="4" name="Text 1"/>
          <p:cNvSpPr/>
          <p:nvPr/>
        </p:nvSpPr>
        <p:spPr>
          <a:xfrm>
            <a:off x="8897112" y="6428232"/>
            <a:ext cx="2880360" cy="292608"/>
          </a:xfrm>
          <a:prstGeom prst="rect">
            <a:avLst/>
          </a:prstGeom>
          <a:noFill/>
          <a:ln/>
        </p:spPr>
        <p:txBody>
          <a:bodyPr wrap="square" lIns="0" tIns="0" rIns="0" bIns="0" rtlCol="0" anchor="ctr"/>
          <a:lstStyle/>
          <a:p>
            <a:pPr algn="r" indent="0" marL="0">
              <a:buNone/>
            </a:pPr>
            <a:r>
              <a:rPr lang="en-US" sz="900" dirty="0">
                <a:solidFill>
                  <a:srgbClr val="5B6B7A"/>
                </a:solidFill>
                <a:latin typeface="Inter" pitchFamily="34" charset="0"/>
                <a:ea typeface="Inter" pitchFamily="34" charset="-122"/>
                <a:cs typeface="Inter" pitchFamily="34" charset="-120"/>
              </a:rPr>
              <a:t>Kit 4 · AI for Assessment   |   24</a:t>
            </a:r>
            <a:endParaRPr lang="en-US" sz="900" dirty="0"/>
          </a:p>
        </p:txBody>
      </p:sp>
      <p:sp>
        <p:nvSpPr>
          <p:cNvPr id="5" name="Text 2"/>
          <p:cNvSpPr/>
          <p:nvPr/>
        </p:nvSpPr>
        <p:spPr>
          <a:xfrm>
            <a:off x="566928" y="128016"/>
            <a:ext cx="11055096" cy="274320"/>
          </a:xfrm>
          <a:prstGeom prst="rect">
            <a:avLst/>
          </a:prstGeom>
          <a:noFill/>
          <a:ln/>
        </p:spPr>
        <p:txBody>
          <a:bodyPr wrap="square" lIns="0" tIns="0" rIns="0" bIns="0" rtlCol="0" anchor="ctr"/>
          <a:lstStyle/>
          <a:p>
            <a:pPr indent="0" marL="0">
              <a:buNone/>
            </a:pPr>
            <a:r>
              <a:rPr lang="en-US" sz="1200" b="1" spc="200" kern="0" dirty="0">
                <a:solidFill>
                  <a:srgbClr val="2A9D8F"/>
                </a:solidFill>
                <a:latin typeface="Inter" pitchFamily="34" charset="0"/>
                <a:ea typeface="Inter" pitchFamily="34" charset="-122"/>
                <a:cs typeface="Inter" pitchFamily="34" charset="-120"/>
              </a:rPr>
              <a:t>NINETEEN MINUTES AGO THIS DIDN’T EXIST</a:t>
            </a:r>
            <a:endParaRPr lang="en-US" sz="1200" dirty="0"/>
          </a:p>
        </p:txBody>
      </p:sp>
      <p:sp>
        <p:nvSpPr>
          <p:cNvPr id="6" name="Text 3"/>
          <p:cNvSpPr/>
          <p:nvPr/>
        </p:nvSpPr>
        <p:spPr>
          <a:xfrm>
            <a:off x="548640" y="384048"/>
            <a:ext cx="11091672" cy="777240"/>
          </a:xfrm>
          <a:prstGeom prst="rect">
            <a:avLst/>
          </a:prstGeom>
          <a:noFill/>
          <a:ln/>
        </p:spPr>
        <p:txBody>
          <a:bodyPr wrap="square" lIns="0" tIns="0" rIns="0" bIns="0" rtlCol="0" anchor="ctr"/>
          <a:lstStyle/>
          <a:p>
            <a:pPr indent="0" marL="0">
              <a:buNone/>
            </a:pPr>
            <a:r>
              <a:rPr lang="en-US" sz="3200" b="1" dirty="0">
                <a:solidFill>
                  <a:srgbClr val="13293D"/>
                </a:solidFill>
                <a:latin typeface="Inter" pitchFamily="34" charset="0"/>
                <a:ea typeface="Inter" pitchFamily="34" charset="-122"/>
                <a:cs typeface="Inter" pitchFamily="34" charset="-120"/>
              </a:rPr>
              <a:t>The inventory</a:t>
            </a:r>
            <a:endParaRPr lang="en-US" sz="3200" dirty="0"/>
          </a:p>
        </p:txBody>
      </p:sp>
      <p:sp>
        <p:nvSpPr>
          <p:cNvPr id="7" name="Shape 4"/>
          <p:cNvSpPr/>
          <p:nvPr/>
        </p:nvSpPr>
        <p:spPr>
          <a:xfrm>
            <a:off x="640080" y="1645920"/>
            <a:ext cx="10972800" cy="3291840"/>
          </a:xfrm>
          <a:prstGeom prst="roundRect">
            <a:avLst>
              <a:gd name="adj" fmla="val 2500"/>
            </a:avLst>
          </a:prstGeom>
          <a:solidFill>
            <a:srgbClr val="F7F5F0"/>
          </a:solidFill>
          <a:ln w="12700">
            <a:solidFill>
              <a:srgbClr val="F7F5F0"/>
            </a:solidFill>
            <a:prstDash val="solid"/>
          </a:ln>
        </p:spPr>
      </p:sp>
      <p:sp>
        <p:nvSpPr>
          <p:cNvPr id="8" name="Text 5"/>
          <p:cNvSpPr/>
          <p:nvPr/>
        </p:nvSpPr>
        <p:spPr>
          <a:xfrm>
            <a:off x="1005840" y="1920240"/>
            <a:ext cx="10241280" cy="2743200"/>
          </a:xfrm>
          <a:prstGeom prst="rect">
            <a:avLst/>
          </a:prstGeom>
          <a:noFill/>
          <a:ln/>
        </p:spPr>
        <p:txBody>
          <a:bodyPr wrap="square" lIns="0" tIns="0" rIns="0" bIns="0" rtlCol="0" anchor="ctr"/>
          <a:lstStyle/>
          <a:p>
            <a:pPr indent="0" marL="0">
              <a:buNone/>
            </a:pPr>
            <a:r>
              <a:rPr lang="en-US" sz="2000" dirty="0">
                <a:solidFill>
                  <a:srgbClr val="1B1F24"/>
                </a:solidFill>
                <a:latin typeface="Inter" pitchFamily="34" charset="0"/>
                <a:ea typeface="Inter" pitchFamily="34" charset="-122"/>
                <a:cs typeface="Inter" pitchFamily="34" charset="-120"/>
              </a:rPr>
              <a:t>A four-level rubric a student can read. A vetted question bank with a checked answer key. Three feedback starters for the comments you write most. One weak question caught and cut as proof the reflex works.
</a:t>
            </a:r>
            <a:pPr indent="0" marL="0">
              <a:buNone/>
            </a:pPr>
            <a:r>
              <a:rPr lang="en-US" sz="2000" b="1" dirty="0">
                <a:solidFill>
                  <a:srgbClr val="13293D"/>
                </a:solidFill>
                <a:latin typeface="Inter" pitchFamily="34" charset="0"/>
                <a:ea typeface="Inter" pitchFamily="34" charset="-122"/>
                <a:cs typeface="Inter" pitchFamily="34" charset="-120"/>
              </a:rPr>
              <a:t>That set used to be a weekend. The judgment in it is all yours; only the typing got faster.</a:t>
            </a:r>
            <a:endParaRPr lang="en-US" sz="2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11480" y="6473952"/>
            <a:ext cx="237744" cy="219456"/>
          </a:xfrm>
          <a:prstGeom prst="rect">
            <a:avLst/>
          </a:prstGeom>
        </p:spPr>
      </p:pic>
      <p:sp>
        <p:nvSpPr>
          <p:cNvPr id="3" name="Text 0"/>
          <p:cNvSpPr/>
          <p:nvPr/>
        </p:nvSpPr>
        <p:spPr>
          <a:xfrm>
            <a:off x="685800" y="6428232"/>
            <a:ext cx="2011680" cy="292608"/>
          </a:xfrm>
          <a:prstGeom prst="rect">
            <a:avLst/>
          </a:prstGeom>
          <a:noFill/>
          <a:ln/>
        </p:spPr>
        <p:txBody>
          <a:bodyPr wrap="square" lIns="0" tIns="0" rIns="0" bIns="0" rtlCol="0" anchor="ctr"/>
          <a:lstStyle/>
          <a:p>
            <a:pPr indent="0" marL="0">
              <a:buNone/>
            </a:pPr>
            <a:r>
              <a:rPr lang="en-US" sz="1000" b="1" dirty="0">
                <a:solidFill>
                  <a:srgbClr val="2A9D8F"/>
                </a:solidFill>
                <a:latin typeface="Inter" pitchFamily="34" charset="0"/>
                <a:ea typeface="Inter" pitchFamily="34" charset="-122"/>
                <a:cs typeface="Inter" pitchFamily="34" charset="-120"/>
              </a:rPr>
              <a:t>AI-Ready</a:t>
            </a:r>
            <a:pPr indent="0" marL="0">
              <a:buNone/>
            </a:pPr>
            <a:r>
              <a:rPr lang="en-US" sz="1000" b="1" dirty="0">
                <a:solidFill>
                  <a:srgbClr val="13293D"/>
                </a:solidFill>
                <a:latin typeface="Inter" pitchFamily="34" charset="0"/>
                <a:ea typeface="Inter" pitchFamily="34" charset="-122"/>
                <a:cs typeface="Inter" pitchFamily="34" charset="-120"/>
              </a:rPr>
              <a:t> School</a:t>
            </a:r>
            <a:endParaRPr lang="en-US" sz="1000" dirty="0"/>
          </a:p>
        </p:txBody>
      </p:sp>
      <p:sp>
        <p:nvSpPr>
          <p:cNvPr id="4" name="Text 1"/>
          <p:cNvSpPr/>
          <p:nvPr/>
        </p:nvSpPr>
        <p:spPr>
          <a:xfrm>
            <a:off x="8897112" y="6428232"/>
            <a:ext cx="2880360" cy="292608"/>
          </a:xfrm>
          <a:prstGeom prst="rect">
            <a:avLst/>
          </a:prstGeom>
          <a:noFill/>
          <a:ln/>
        </p:spPr>
        <p:txBody>
          <a:bodyPr wrap="square" lIns="0" tIns="0" rIns="0" bIns="0" rtlCol="0" anchor="ctr"/>
          <a:lstStyle/>
          <a:p>
            <a:pPr algn="r" indent="0" marL="0">
              <a:buNone/>
            </a:pPr>
            <a:r>
              <a:rPr lang="en-US" sz="900" dirty="0">
                <a:solidFill>
                  <a:srgbClr val="5B6B7A"/>
                </a:solidFill>
                <a:latin typeface="Inter" pitchFamily="34" charset="0"/>
                <a:ea typeface="Inter" pitchFamily="34" charset="-122"/>
                <a:cs typeface="Inter" pitchFamily="34" charset="-120"/>
              </a:rPr>
              <a:t>Kit 4 · AI for Assessment   |   25</a:t>
            </a:r>
            <a:endParaRPr lang="en-US" sz="900" dirty="0"/>
          </a:p>
        </p:txBody>
      </p:sp>
      <p:sp>
        <p:nvSpPr>
          <p:cNvPr id="5" name="Text 2"/>
          <p:cNvSpPr/>
          <p:nvPr/>
        </p:nvSpPr>
        <p:spPr>
          <a:xfrm>
            <a:off x="566928" y="128016"/>
            <a:ext cx="11055096" cy="274320"/>
          </a:xfrm>
          <a:prstGeom prst="rect">
            <a:avLst/>
          </a:prstGeom>
          <a:noFill/>
          <a:ln/>
        </p:spPr>
        <p:txBody>
          <a:bodyPr wrap="square" lIns="0" tIns="0" rIns="0" bIns="0" rtlCol="0" anchor="ctr"/>
          <a:lstStyle/>
          <a:p>
            <a:pPr indent="0" marL="0">
              <a:buNone/>
            </a:pPr>
            <a:r>
              <a:rPr lang="en-US" sz="1200" b="1" spc="200" kern="0" dirty="0">
                <a:solidFill>
                  <a:srgbClr val="2A9D8F"/>
                </a:solidFill>
                <a:latin typeface="Inter" pitchFamily="34" charset="0"/>
                <a:ea typeface="Inter" pitchFamily="34" charset="-122"/>
                <a:cs typeface="Inter" pitchFamily="34" charset="-120"/>
              </a:rPr>
              <a:t>MAKING IT STICK · PART ONE</a:t>
            </a:r>
            <a:endParaRPr lang="en-US" sz="1200" dirty="0"/>
          </a:p>
        </p:txBody>
      </p:sp>
      <p:sp>
        <p:nvSpPr>
          <p:cNvPr id="6" name="Text 3"/>
          <p:cNvSpPr/>
          <p:nvPr/>
        </p:nvSpPr>
        <p:spPr>
          <a:xfrm>
            <a:off x="548640" y="384048"/>
            <a:ext cx="11091672" cy="777240"/>
          </a:xfrm>
          <a:prstGeom prst="rect">
            <a:avLst/>
          </a:prstGeom>
          <a:noFill/>
          <a:ln/>
        </p:spPr>
        <p:txBody>
          <a:bodyPr wrap="square" lIns="0" tIns="0" rIns="0" bIns="0" rtlCol="0" anchor="ctr"/>
          <a:lstStyle/>
          <a:p>
            <a:pPr indent="0" marL="0">
              <a:buNone/>
            </a:pPr>
            <a:r>
              <a:rPr lang="en-US" sz="3200" b="1" dirty="0">
                <a:solidFill>
                  <a:srgbClr val="13293D"/>
                </a:solidFill>
                <a:latin typeface="Inter" pitchFamily="34" charset="0"/>
                <a:ea typeface="Inter" pitchFamily="34" charset="-122"/>
                <a:cs typeface="Inter" pitchFamily="34" charset="-120"/>
              </a:rPr>
              <a:t>The staff doc grows an Assessment section</a:t>
            </a:r>
            <a:endParaRPr lang="en-US" sz="3200" dirty="0"/>
          </a:p>
        </p:txBody>
      </p:sp>
      <p:sp>
        <p:nvSpPr>
          <p:cNvPr id="7" name="Text 4"/>
          <p:cNvSpPr/>
          <p:nvPr/>
        </p:nvSpPr>
        <p:spPr>
          <a:xfrm>
            <a:off x="640080" y="1463040"/>
            <a:ext cx="10908792" cy="2560320"/>
          </a:xfrm>
          <a:prstGeom prst="rect">
            <a:avLst/>
          </a:prstGeom>
          <a:noFill/>
          <a:ln/>
        </p:spPr>
        <p:txBody>
          <a:bodyPr wrap="square" rtlCol="0" anchor="t"/>
          <a:lstStyle/>
          <a:p>
            <a:pPr marL="342900" indent="-342900">
              <a:spcAft>
                <a:spcPts val="1000"/>
              </a:spcAft>
              <a:buSzPct val="100000"/>
              <a:buChar char="•"/>
            </a:pPr>
            <a:r>
              <a:rPr lang="en-US" sz="2100" dirty="0">
                <a:solidFill>
                  <a:srgbClr val="1B1F24"/>
                </a:solidFill>
                <a:latin typeface="Inter" pitchFamily="34" charset="0"/>
                <a:ea typeface="Inter" pitchFamily="34" charset="-122"/>
                <a:cs typeface="Inter" pitchFamily="34" charset="-120"/>
              </a:rPr>
              <a:t>Rubric prompt, question-bank prompt, starter prompt: templated, with blanks</a:t>
            </a:r>
            <a:endParaRPr lang="en-US" sz="2100" dirty="0"/>
          </a:p>
          <a:p>
            <a:pPr marL="342900" indent="-342900">
              <a:spcAft>
                <a:spcPts val="1000"/>
              </a:spcAft>
              <a:buSzPct val="100000"/>
              <a:buChar char="•"/>
            </a:pPr>
            <a:r>
              <a:rPr lang="en-US" sz="2100" dirty="0">
                <a:solidFill>
                  <a:srgbClr val="1B1F24"/>
                </a:solidFill>
                <a:latin typeface="Inter" pitchFamily="34" charset="0"/>
                <a:ea typeface="Inter" pitchFamily="34" charset="-122"/>
                <a:cs typeface="Inter" pitchFamily="34" charset="-120"/>
              </a:rPr>
              <a:t>ELA’s rubric template travels to science; the shop’s safety-quiz prompt travels to health</a:t>
            </a:r>
            <a:endParaRPr lang="en-US" sz="2100" dirty="0"/>
          </a:p>
          <a:p>
            <a:pPr marL="342900" indent="-342900">
              <a:spcAft>
                <a:spcPts val="1000"/>
              </a:spcAft>
              <a:buSzPct val="100000"/>
              <a:buChar char="•"/>
            </a:pPr>
            <a:r>
              <a:rPr lang="en-US" sz="2100" b="1" dirty="0">
                <a:solidFill>
                  <a:srgbClr val="13293D"/>
                </a:solidFill>
                <a:latin typeface="Inter" pitchFamily="34" charset="0"/>
                <a:ea typeface="Inter" pitchFamily="34" charset="-122"/>
                <a:cs typeface="Inter" pitchFamily="34" charset="-120"/>
              </a:rPr>
              <a:t>Same commitment as Kit 2: when a prompt works, it goes in the doc. Nobody solves the same problem twice.</a:t>
            </a:r>
            <a:endParaRPr lang="en-US" sz="2100" dirty="0"/>
          </a:p>
        </p:txBody>
      </p:sp>
      <p:sp>
        <p:nvSpPr>
          <p:cNvPr id="8" name="Shape 5"/>
          <p:cNvSpPr/>
          <p:nvPr/>
        </p:nvSpPr>
        <p:spPr>
          <a:xfrm>
            <a:off x="640080" y="4206240"/>
            <a:ext cx="10972800" cy="1371600"/>
          </a:xfrm>
          <a:prstGeom prst="roundRect">
            <a:avLst>
              <a:gd name="adj" fmla="val 6000"/>
            </a:avLst>
          </a:prstGeom>
          <a:solidFill>
            <a:srgbClr val="EAF5F3"/>
          </a:solidFill>
          <a:ln w="12700">
            <a:solidFill>
              <a:srgbClr val="EAF5F3"/>
            </a:solidFill>
            <a:prstDash val="solid"/>
          </a:ln>
        </p:spPr>
      </p:sp>
      <p:sp>
        <p:nvSpPr>
          <p:cNvPr id="9" name="Text 6"/>
          <p:cNvSpPr/>
          <p:nvPr/>
        </p:nvSpPr>
        <p:spPr>
          <a:xfrm>
            <a:off x="960120" y="4389120"/>
            <a:ext cx="10332720" cy="1005840"/>
          </a:xfrm>
          <a:prstGeom prst="rect">
            <a:avLst/>
          </a:prstGeom>
          <a:noFill/>
          <a:ln/>
        </p:spPr>
        <p:txBody>
          <a:bodyPr wrap="square" lIns="0" tIns="0" rIns="0" bIns="0" rtlCol="0" anchor="ctr"/>
          <a:lstStyle/>
          <a:p>
            <a:pPr indent="0" marL="0">
              <a:buNone/>
            </a:pPr>
            <a:r>
              <a:rPr lang="en-US" sz="2100" b="1" dirty="0">
                <a:solidFill>
                  <a:srgbClr val="13293D"/>
                </a:solidFill>
                <a:latin typeface="Inter" pitchFamily="34" charset="0"/>
                <a:ea typeface="Inter" pitchFamily="34" charset="-122"/>
                <a:cs typeface="Inter" pitchFamily="34" charset="-120"/>
              </a:rPr>
              <a:t>Templates are the compounding asset. The doc gets smarter every week you use it.</a:t>
            </a:r>
            <a:endParaRPr lang="en-US" sz="2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3293D"/>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11480" y="6473952"/>
            <a:ext cx="237744" cy="219456"/>
          </a:xfrm>
          <a:prstGeom prst="rect">
            <a:avLst/>
          </a:prstGeom>
        </p:spPr>
      </p:pic>
      <p:sp>
        <p:nvSpPr>
          <p:cNvPr id="3" name="Text 0"/>
          <p:cNvSpPr/>
          <p:nvPr/>
        </p:nvSpPr>
        <p:spPr>
          <a:xfrm>
            <a:off x="685800" y="6428232"/>
            <a:ext cx="2011680" cy="292608"/>
          </a:xfrm>
          <a:prstGeom prst="rect">
            <a:avLst/>
          </a:prstGeom>
          <a:noFill/>
          <a:ln/>
        </p:spPr>
        <p:txBody>
          <a:bodyPr wrap="square" lIns="0" tIns="0" rIns="0" bIns="0" rtlCol="0" anchor="ctr"/>
          <a:lstStyle/>
          <a:p>
            <a:pPr indent="0" marL="0">
              <a:buNone/>
            </a:pPr>
            <a:r>
              <a:rPr lang="en-US" sz="1000" b="1" dirty="0">
                <a:solidFill>
                  <a:srgbClr val="2A9D8F"/>
                </a:solidFill>
                <a:latin typeface="Inter" pitchFamily="34" charset="0"/>
                <a:ea typeface="Inter" pitchFamily="34" charset="-122"/>
                <a:cs typeface="Inter" pitchFamily="34" charset="-120"/>
              </a:rPr>
              <a:t>AI-Ready</a:t>
            </a:r>
            <a:pPr indent="0" marL="0">
              <a:buNone/>
            </a:pPr>
            <a:r>
              <a:rPr lang="en-US" sz="1000" b="1" dirty="0">
                <a:solidFill>
                  <a:srgbClr val="FFFFFF"/>
                </a:solidFill>
                <a:latin typeface="Inter" pitchFamily="34" charset="0"/>
                <a:ea typeface="Inter" pitchFamily="34" charset="-122"/>
                <a:cs typeface="Inter" pitchFamily="34" charset="-120"/>
              </a:rPr>
              <a:t> School</a:t>
            </a:r>
            <a:endParaRPr lang="en-US" sz="1000" dirty="0"/>
          </a:p>
        </p:txBody>
      </p:sp>
      <p:sp>
        <p:nvSpPr>
          <p:cNvPr id="4" name="Text 1"/>
          <p:cNvSpPr/>
          <p:nvPr/>
        </p:nvSpPr>
        <p:spPr>
          <a:xfrm>
            <a:off x="8897112" y="6428232"/>
            <a:ext cx="2880360" cy="292608"/>
          </a:xfrm>
          <a:prstGeom prst="rect">
            <a:avLst/>
          </a:prstGeom>
          <a:noFill/>
          <a:ln/>
        </p:spPr>
        <p:txBody>
          <a:bodyPr wrap="square" lIns="0" tIns="0" rIns="0" bIns="0" rtlCol="0" anchor="ctr"/>
          <a:lstStyle/>
          <a:p>
            <a:pPr algn="r" indent="0" marL="0">
              <a:buNone/>
            </a:pPr>
            <a:r>
              <a:rPr lang="en-US" sz="900" dirty="0">
                <a:solidFill>
                  <a:srgbClr val="9FB2C2"/>
                </a:solidFill>
                <a:latin typeface="Inter" pitchFamily="34" charset="0"/>
                <a:ea typeface="Inter" pitchFamily="34" charset="-122"/>
                <a:cs typeface="Inter" pitchFamily="34" charset="-120"/>
              </a:rPr>
              <a:t>Kit 4 · AI for Assessment   |   26</a:t>
            </a:r>
            <a:endParaRPr lang="en-US" sz="900" dirty="0"/>
          </a:p>
        </p:txBody>
      </p:sp>
      <p:sp>
        <p:nvSpPr>
          <p:cNvPr id="5" name="Text 2"/>
          <p:cNvSpPr/>
          <p:nvPr/>
        </p:nvSpPr>
        <p:spPr>
          <a:xfrm>
            <a:off x="566928" y="128016"/>
            <a:ext cx="11055096" cy="274320"/>
          </a:xfrm>
          <a:prstGeom prst="rect">
            <a:avLst/>
          </a:prstGeom>
          <a:noFill/>
          <a:ln/>
        </p:spPr>
        <p:txBody>
          <a:bodyPr wrap="square" lIns="0" tIns="0" rIns="0" bIns="0" rtlCol="0" anchor="ctr"/>
          <a:lstStyle/>
          <a:p>
            <a:pPr indent="0" marL="0">
              <a:buNone/>
            </a:pPr>
            <a:r>
              <a:rPr lang="en-US" sz="1200" b="1" spc="200" kern="0" dirty="0">
                <a:solidFill>
                  <a:srgbClr val="F4A825"/>
                </a:solidFill>
                <a:latin typeface="Inter" pitchFamily="34" charset="0"/>
                <a:ea typeface="Inter" pitchFamily="34" charset="-122"/>
                <a:cs typeface="Inter" pitchFamily="34" charset="-120"/>
              </a:rPr>
              <a:t>THE VISION, STATED CAREFULLY</a:t>
            </a:r>
            <a:endParaRPr lang="en-US" sz="1200" dirty="0"/>
          </a:p>
        </p:txBody>
      </p:sp>
      <p:sp>
        <p:nvSpPr>
          <p:cNvPr id="6" name="Text 3"/>
          <p:cNvSpPr/>
          <p:nvPr/>
        </p:nvSpPr>
        <p:spPr>
          <a:xfrm>
            <a:off x="640080" y="1554480"/>
            <a:ext cx="10972800" cy="822960"/>
          </a:xfrm>
          <a:prstGeom prst="rect">
            <a:avLst/>
          </a:prstGeom>
          <a:noFill/>
          <a:ln/>
        </p:spPr>
        <p:txBody>
          <a:bodyPr wrap="square" lIns="0" tIns="0" rIns="0" bIns="0" rtlCol="0" anchor="ctr"/>
          <a:lstStyle/>
          <a:p>
            <a:pPr indent="0" marL="0">
              <a:buNone/>
            </a:pPr>
            <a:r>
              <a:rPr lang="en-US" sz="3400" b="1" dirty="0">
                <a:solidFill>
                  <a:srgbClr val="FFFFFF"/>
                </a:solidFill>
                <a:latin typeface="Inter" pitchFamily="34" charset="0"/>
                <a:ea typeface="Inter" pitchFamily="34" charset="-122"/>
                <a:cs typeface="Inter" pitchFamily="34" charset="-120"/>
              </a:rPr>
              <a:t>Five hours a week on grading and feedback.</a:t>
            </a:r>
            <a:endParaRPr lang="en-US" sz="3400" dirty="0"/>
          </a:p>
        </p:txBody>
      </p:sp>
      <p:sp>
        <p:nvSpPr>
          <p:cNvPr id="7" name="Text 4"/>
          <p:cNvSpPr/>
          <p:nvPr/>
        </p:nvSpPr>
        <p:spPr>
          <a:xfrm>
            <a:off x="640080" y="2560320"/>
            <a:ext cx="10972800" cy="822960"/>
          </a:xfrm>
          <a:prstGeom prst="rect">
            <a:avLst/>
          </a:prstGeom>
          <a:noFill/>
          <a:ln/>
        </p:spPr>
        <p:txBody>
          <a:bodyPr wrap="square" lIns="0" tIns="0" rIns="0" bIns="0" rtlCol="0" anchor="ctr"/>
          <a:lstStyle/>
          <a:p>
            <a:pPr indent="0" marL="0">
              <a:buNone/>
            </a:pPr>
            <a:r>
              <a:rPr lang="en-US" sz="2100" dirty="0">
                <a:solidFill>
                  <a:srgbClr val="C9D4DE"/>
                </a:solidFill>
                <a:latin typeface="Inter" pitchFamily="34" charset="0"/>
                <a:ea typeface="Inter" pitchFamily="34" charset="-122"/>
                <a:cs typeface="Inter" pitchFamily="34" charset="-120"/>
              </a:rPr>
              <a:t>We’re not promising them all back. Grading still means reading real work and making real calls, and it should.</a:t>
            </a:r>
            <a:endParaRPr lang="en-US" sz="2100" dirty="0"/>
          </a:p>
        </p:txBody>
      </p:sp>
      <p:sp>
        <p:nvSpPr>
          <p:cNvPr id="8" name="Text 5"/>
          <p:cNvSpPr/>
          <p:nvPr/>
        </p:nvSpPr>
        <p:spPr>
          <a:xfrm>
            <a:off x="640080" y="3566160"/>
            <a:ext cx="10972800" cy="1371600"/>
          </a:xfrm>
          <a:prstGeom prst="rect">
            <a:avLst/>
          </a:prstGeom>
          <a:noFill/>
          <a:ln/>
        </p:spPr>
        <p:txBody>
          <a:bodyPr wrap="square" lIns="0" tIns="0" rIns="0" bIns="0" rtlCol="0" anchor="ctr"/>
          <a:lstStyle/>
          <a:p>
            <a:pPr indent="0" marL="0">
              <a:buNone/>
            </a:pPr>
            <a:r>
              <a:rPr lang="en-US" sz="2100" b="1" dirty="0">
                <a:solidFill>
                  <a:srgbClr val="2A9D8F"/>
                </a:solidFill>
                <a:latin typeface="Inter" pitchFamily="34" charset="0"/>
                <a:ea typeface="Inter" pitchFamily="34" charset="-122"/>
                <a:cs typeface="Inter" pitchFamily="34" charset="-120"/>
              </a:rPr>
              <a:t>But a real share of those hours was never judgment. It was drafting: the rubric at 9 p.m., the quiz typed from scratch, the same comment keyed forty times. That share moves to a machine that drafts and a teacher who decides.</a:t>
            </a:r>
            <a:endParaRPr lang="en-US" sz="2100" dirty="0"/>
          </a:p>
        </p:txBody>
      </p:sp>
      <p:sp>
        <p:nvSpPr>
          <p:cNvPr id="9" name="Text 6"/>
          <p:cNvSpPr/>
          <p:nvPr/>
        </p:nvSpPr>
        <p:spPr>
          <a:xfrm>
            <a:off x="640080" y="5212080"/>
            <a:ext cx="10972800" cy="548640"/>
          </a:xfrm>
          <a:prstGeom prst="rect">
            <a:avLst/>
          </a:prstGeom>
          <a:noFill/>
          <a:ln/>
        </p:spPr>
        <p:txBody>
          <a:bodyPr wrap="square" lIns="0" tIns="0" rIns="0" bIns="0" rtlCol="0" anchor="ctr"/>
          <a:lstStyle/>
          <a:p>
            <a:pPr indent="0" marL="0">
              <a:buNone/>
            </a:pPr>
            <a:r>
              <a:rPr lang="en-US" sz="1900" i="1" dirty="0">
                <a:solidFill>
                  <a:srgbClr val="9FB2C2"/>
                </a:solidFill>
                <a:latin typeface="Inter" pitchFamily="34" charset="0"/>
                <a:ea typeface="Inter" pitchFamily="34" charset="-122"/>
                <a:cs typeface="Inter" pitchFamily="34" charset="-120"/>
              </a:rPr>
              <a:t>Spend what comes back on the part only you can do, or on your own life. Both are wins.</a:t>
            </a:r>
            <a:endParaRPr lang="en-US" sz="1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11480" y="6473952"/>
            <a:ext cx="237744" cy="219456"/>
          </a:xfrm>
          <a:prstGeom prst="rect">
            <a:avLst/>
          </a:prstGeom>
        </p:spPr>
      </p:pic>
      <p:sp>
        <p:nvSpPr>
          <p:cNvPr id="3" name="Text 0"/>
          <p:cNvSpPr/>
          <p:nvPr/>
        </p:nvSpPr>
        <p:spPr>
          <a:xfrm>
            <a:off x="685800" y="6428232"/>
            <a:ext cx="2011680" cy="292608"/>
          </a:xfrm>
          <a:prstGeom prst="rect">
            <a:avLst/>
          </a:prstGeom>
          <a:noFill/>
          <a:ln/>
        </p:spPr>
        <p:txBody>
          <a:bodyPr wrap="square" lIns="0" tIns="0" rIns="0" bIns="0" rtlCol="0" anchor="ctr"/>
          <a:lstStyle/>
          <a:p>
            <a:pPr indent="0" marL="0">
              <a:buNone/>
            </a:pPr>
            <a:r>
              <a:rPr lang="en-US" sz="1000" b="1" dirty="0">
                <a:solidFill>
                  <a:srgbClr val="2A9D8F"/>
                </a:solidFill>
                <a:latin typeface="Inter" pitchFamily="34" charset="0"/>
                <a:ea typeface="Inter" pitchFamily="34" charset="-122"/>
                <a:cs typeface="Inter" pitchFamily="34" charset="-120"/>
              </a:rPr>
              <a:t>AI-Ready</a:t>
            </a:r>
            <a:pPr indent="0" marL="0">
              <a:buNone/>
            </a:pPr>
            <a:r>
              <a:rPr lang="en-US" sz="1000" b="1" dirty="0">
                <a:solidFill>
                  <a:srgbClr val="13293D"/>
                </a:solidFill>
                <a:latin typeface="Inter" pitchFamily="34" charset="0"/>
                <a:ea typeface="Inter" pitchFamily="34" charset="-122"/>
                <a:cs typeface="Inter" pitchFamily="34" charset="-120"/>
              </a:rPr>
              <a:t> School</a:t>
            </a:r>
            <a:endParaRPr lang="en-US" sz="1000" dirty="0"/>
          </a:p>
        </p:txBody>
      </p:sp>
      <p:sp>
        <p:nvSpPr>
          <p:cNvPr id="4" name="Text 1"/>
          <p:cNvSpPr/>
          <p:nvPr/>
        </p:nvSpPr>
        <p:spPr>
          <a:xfrm>
            <a:off x="8897112" y="6428232"/>
            <a:ext cx="2880360" cy="292608"/>
          </a:xfrm>
          <a:prstGeom prst="rect">
            <a:avLst/>
          </a:prstGeom>
          <a:noFill/>
          <a:ln/>
        </p:spPr>
        <p:txBody>
          <a:bodyPr wrap="square" lIns="0" tIns="0" rIns="0" bIns="0" rtlCol="0" anchor="ctr"/>
          <a:lstStyle/>
          <a:p>
            <a:pPr algn="r" indent="0" marL="0">
              <a:buNone/>
            </a:pPr>
            <a:r>
              <a:rPr lang="en-US" sz="900" dirty="0">
                <a:solidFill>
                  <a:srgbClr val="5B6B7A"/>
                </a:solidFill>
                <a:latin typeface="Inter" pitchFamily="34" charset="0"/>
                <a:ea typeface="Inter" pitchFamily="34" charset="-122"/>
                <a:cs typeface="Inter" pitchFamily="34" charset="-120"/>
              </a:rPr>
              <a:t>Kit 4 · AI for Assessment   |   27</a:t>
            </a:r>
            <a:endParaRPr lang="en-US" sz="900" dirty="0"/>
          </a:p>
        </p:txBody>
      </p:sp>
      <p:sp>
        <p:nvSpPr>
          <p:cNvPr id="5" name="Text 2"/>
          <p:cNvSpPr/>
          <p:nvPr/>
        </p:nvSpPr>
        <p:spPr>
          <a:xfrm>
            <a:off x="566928" y="128016"/>
            <a:ext cx="11055096" cy="274320"/>
          </a:xfrm>
          <a:prstGeom prst="rect">
            <a:avLst/>
          </a:prstGeom>
          <a:noFill/>
          <a:ln/>
        </p:spPr>
        <p:txBody>
          <a:bodyPr wrap="square" lIns="0" tIns="0" rIns="0" bIns="0" rtlCol="0" anchor="ctr"/>
          <a:lstStyle/>
          <a:p>
            <a:pPr indent="0" marL="0">
              <a:buNone/>
            </a:pPr>
            <a:r>
              <a:rPr lang="en-US" sz="1200" b="1" spc="200" kern="0" dirty="0">
                <a:solidFill>
                  <a:srgbClr val="2A9D8F"/>
                </a:solidFill>
                <a:latin typeface="Inter" pitchFamily="34" charset="0"/>
                <a:ea typeface="Inter" pitchFamily="34" charset="-122"/>
                <a:cs typeface="Inter" pitchFamily="34" charset="-120"/>
              </a:rPr>
              <a:t>KIT 4 OF 8 · TRACK A</a:t>
            </a:r>
            <a:endParaRPr lang="en-US" sz="1200" dirty="0"/>
          </a:p>
        </p:txBody>
      </p:sp>
      <p:sp>
        <p:nvSpPr>
          <p:cNvPr id="6" name="Text 3"/>
          <p:cNvSpPr/>
          <p:nvPr/>
        </p:nvSpPr>
        <p:spPr>
          <a:xfrm>
            <a:off x="548640" y="384048"/>
            <a:ext cx="11091672" cy="777240"/>
          </a:xfrm>
          <a:prstGeom prst="rect">
            <a:avLst/>
          </a:prstGeom>
          <a:noFill/>
          <a:ln/>
        </p:spPr>
        <p:txBody>
          <a:bodyPr wrap="square" lIns="0" tIns="0" rIns="0" bIns="0" rtlCol="0" anchor="ctr"/>
          <a:lstStyle/>
          <a:p>
            <a:pPr indent="0" marL="0">
              <a:buNone/>
            </a:pPr>
            <a:r>
              <a:rPr lang="en-US" sz="3200" b="1" dirty="0">
                <a:solidFill>
                  <a:srgbClr val="13293D"/>
                </a:solidFill>
                <a:latin typeface="Inter" pitchFamily="34" charset="0"/>
                <a:ea typeface="Inter" pitchFamily="34" charset="-122"/>
                <a:cs typeface="Inter" pitchFamily="34" charset="-120"/>
              </a:rPr>
              <a:t>Where this series goes next</a:t>
            </a:r>
            <a:endParaRPr lang="en-US" sz="3200" dirty="0"/>
          </a:p>
        </p:txBody>
      </p:sp>
      <p:sp>
        <p:nvSpPr>
          <p:cNvPr id="7" name="Shape 4"/>
          <p:cNvSpPr/>
          <p:nvPr/>
        </p:nvSpPr>
        <p:spPr>
          <a:xfrm>
            <a:off x="640080" y="1554480"/>
            <a:ext cx="2651760" cy="1005840"/>
          </a:xfrm>
          <a:prstGeom prst="roundRect">
            <a:avLst>
              <a:gd name="adj" fmla="val 8182"/>
            </a:avLst>
          </a:prstGeom>
          <a:solidFill>
            <a:srgbClr val="EAF5F3"/>
          </a:solidFill>
          <a:ln w="12700">
            <a:solidFill>
              <a:srgbClr val="EAF5F3"/>
            </a:solidFill>
            <a:prstDash val="solid"/>
          </a:ln>
        </p:spPr>
      </p:sp>
      <p:sp>
        <p:nvSpPr>
          <p:cNvPr id="8" name="Text 5"/>
          <p:cNvSpPr/>
          <p:nvPr/>
        </p:nvSpPr>
        <p:spPr>
          <a:xfrm>
            <a:off x="822960" y="1645920"/>
            <a:ext cx="2286000" cy="822960"/>
          </a:xfrm>
          <a:prstGeom prst="rect">
            <a:avLst/>
          </a:prstGeom>
          <a:noFill/>
          <a:ln/>
        </p:spPr>
        <p:txBody>
          <a:bodyPr wrap="square" lIns="0" tIns="0" rIns="0" bIns="0" rtlCol="0" anchor="ctr"/>
          <a:lstStyle/>
          <a:p>
            <a:pPr indent="0" marL="0">
              <a:buNone/>
            </a:pPr>
            <a:r>
              <a:rPr lang="en-US" sz="1450" b="1" dirty="0">
                <a:solidFill>
                  <a:srgbClr val="13293D"/>
                </a:solidFill>
                <a:latin typeface="Inter" pitchFamily="34" charset="0"/>
                <a:ea typeface="Inter" pitchFamily="34" charset="-122"/>
                <a:cs typeface="Inter" pitchFamily="34" charset="-120"/>
              </a:rPr>
              <a:t>1 · Foundations &amp; Safety  ✔</a:t>
            </a:r>
            <a:endParaRPr lang="en-US" sz="1450" dirty="0"/>
          </a:p>
        </p:txBody>
      </p:sp>
      <p:sp>
        <p:nvSpPr>
          <p:cNvPr id="9" name="Shape 6"/>
          <p:cNvSpPr/>
          <p:nvPr/>
        </p:nvSpPr>
        <p:spPr>
          <a:xfrm>
            <a:off x="3474720" y="1554480"/>
            <a:ext cx="2651760" cy="1005840"/>
          </a:xfrm>
          <a:prstGeom prst="roundRect">
            <a:avLst>
              <a:gd name="adj" fmla="val 8182"/>
            </a:avLst>
          </a:prstGeom>
          <a:solidFill>
            <a:srgbClr val="EAF5F3"/>
          </a:solidFill>
          <a:ln w="12700">
            <a:solidFill>
              <a:srgbClr val="EAF5F3"/>
            </a:solidFill>
            <a:prstDash val="solid"/>
          </a:ln>
        </p:spPr>
      </p:sp>
      <p:sp>
        <p:nvSpPr>
          <p:cNvPr id="10" name="Text 7"/>
          <p:cNvSpPr/>
          <p:nvPr/>
        </p:nvSpPr>
        <p:spPr>
          <a:xfrm>
            <a:off x="3657600" y="1645920"/>
            <a:ext cx="2286000" cy="822960"/>
          </a:xfrm>
          <a:prstGeom prst="rect">
            <a:avLst/>
          </a:prstGeom>
          <a:noFill/>
          <a:ln/>
        </p:spPr>
        <p:txBody>
          <a:bodyPr wrap="square" lIns="0" tIns="0" rIns="0" bIns="0" rtlCol="0" anchor="ctr"/>
          <a:lstStyle/>
          <a:p>
            <a:pPr indent="0" marL="0">
              <a:buNone/>
            </a:pPr>
            <a:r>
              <a:rPr lang="en-US" sz="1450" b="1" dirty="0">
                <a:solidFill>
                  <a:srgbClr val="13293D"/>
                </a:solidFill>
                <a:latin typeface="Inter" pitchFamily="34" charset="0"/>
                <a:ea typeface="Inter" pitchFamily="34" charset="-122"/>
                <a:cs typeface="Inter" pitchFamily="34" charset="-120"/>
              </a:rPr>
              <a:t>2 · Prompting Basics  ✔</a:t>
            </a:r>
            <a:endParaRPr lang="en-US" sz="1450" dirty="0"/>
          </a:p>
        </p:txBody>
      </p:sp>
      <p:sp>
        <p:nvSpPr>
          <p:cNvPr id="11" name="Shape 8"/>
          <p:cNvSpPr/>
          <p:nvPr/>
        </p:nvSpPr>
        <p:spPr>
          <a:xfrm>
            <a:off x="6309360" y="1554480"/>
            <a:ext cx="2651760" cy="1005840"/>
          </a:xfrm>
          <a:prstGeom prst="roundRect">
            <a:avLst>
              <a:gd name="adj" fmla="val 8182"/>
            </a:avLst>
          </a:prstGeom>
          <a:solidFill>
            <a:srgbClr val="EAF5F3"/>
          </a:solidFill>
          <a:ln w="12700">
            <a:solidFill>
              <a:srgbClr val="EAF5F3"/>
            </a:solidFill>
            <a:prstDash val="solid"/>
          </a:ln>
        </p:spPr>
      </p:sp>
      <p:sp>
        <p:nvSpPr>
          <p:cNvPr id="12" name="Text 9"/>
          <p:cNvSpPr/>
          <p:nvPr/>
        </p:nvSpPr>
        <p:spPr>
          <a:xfrm>
            <a:off x="6492240" y="1645920"/>
            <a:ext cx="2286000" cy="822960"/>
          </a:xfrm>
          <a:prstGeom prst="rect">
            <a:avLst/>
          </a:prstGeom>
          <a:noFill/>
          <a:ln/>
        </p:spPr>
        <p:txBody>
          <a:bodyPr wrap="square" lIns="0" tIns="0" rIns="0" bIns="0" rtlCol="0" anchor="ctr"/>
          <a:lstStyle/>
          <a:p>
            <a:pPr indent="0" marL="0">
              <a:buNone/>
            </a:pPr>
            <a:r>
              <a:rPr lang="en-US" sz="1450" b="1" dirty="0">
                <a:solidFill>
                  <a:srgbClr val="13293D"/>
                </a:solidFill>
                <a:latin typeface="Inter" pitchFamily="34" charset="0"/>
                <a:ea typeface="Inter" pitchFamily="34" charset="-122"/>
                <a:cs typeface="Inter" pitchFamily="34" charset="-120"/>
              </a:rPr>
              <a:t>3 · Planning &amp; Differentiation  ✔</a:t>
            </a:r>
            <a:endParaRPr lang="en-US" sz="1450" dirty="0"/>
          </a:p>
        </p:txBody>
      </p:sp>
      <p:sp>
        <p:nvSpPr>
          <p:cNvPr id="13" name="Shape 10"/>
          <p:cNvSpPr/>
          <p:nvPr/>
        </p:nvSpPr>
        <p:spPr>
          <a:xfrm>
            <a:off x="9144000" y="1554480"/>
            <a:ext cx="2651760" cy="1005840"/>
          </a:xfrm>
          <a:prstGeom prst="roundRect">
            <a:avLst>
              <a:gd name="adj" fmla="val 8182"/>
            </a:avLst>
          </a:prstGeom>
          <a:solidFill>
            <a:srgbClr val="EAF5F3"/>
          </a:solidFill>
          <a:ln w="12700">
            <a:solidFill>
              <a:srgbClr val="EAF5F3"/>
            </a:solidFill>
            <a:prstDash val="solid"/>
          </a:ln>
        </p:spPr>
      </p:sp>
      <p:sp>
        <p:nvSpPr>
          <p:cNvPr id="14" name="Text 11"/>
          <p:cNvSpPr/>
          <p:nvPr/>
        </p:nvSpPr>
        <p:spPr>
          <a:xfrm>
            <a:off x="9326880" y="1645920"/>
            <a:ext cx="2286000" cy="822960"/>
          </a:xfrm>
          <a:prstGeom prst="rect">
            <a:avLst/>
          </a:prstGeom>
          <a:noFill/>
          <a:ln/>
        </p:spPr>
        <p:txBody>
          <a:bodyPr wrap="square" lIns="0" tIns="0" rIns="0" bIns="0" rtlCol="0" anchor="ctr"/>
          <a:lstStyle/>
          <a:p>
            <a:pPr indent="0" marL="0">
              <a:buNone/>
            </a:pPr>
            <a:r>
              <a:rPr lang="en-US" sz="1450" b="1" dirty="0">
                <a:solidFill>
                  <a:srgbClr val="13293D"/>
                </a:solidFill>
                <a:latin typeface="Inter" pitchFamily="34" charset="0"/>
                <a:ea typeface="Inter" pitchFamily="34" charset="-122"/>
                <a:cs typeface="Inter" pitchFamily="34" charset="-120"/>
              </a:rPr>
              <a:t>4 · Assessment  ✔</a:t>
            </a:r>
            <a:endParaRPr lang="en-US" sz="1450" dirty="0"/>
          </a:p>
        </p:txBody>
      </p:sp>
      <p:sp>
        <p:nvSpPr>
          <p:cNvPr id="15" name="Shape 12"/>
          <p:cNvSpPr/>
          <p:nvPr/>
        </p:nvSpPr>
        <p:spPr>
          <a:xfrm>
            <a:off x="640080" y="2743200"/>
            <a:ext cx="2651760" cy="1005840"/>
          </a:xfrm>
          <a:prstGeom prst="roundRect">
            <a:avLst>
              <a:gd name="adj" fmla="val 8182"/>
            </a:avLst>
          </a:prstGeom>
          <a:solidFill>
            <a:srgbClr val="F7F5F0"/>
          </a:solidFill>
          <a:ln w="12700">
            <a:solidFill>
              <a:srgbClr val="F7F5F0"/>
            </a:solidFill>
            <a:prstDash val="solid"/>
          </a:ln>
        </p:spPr>
      </p:sp>
      <p:sp>
        <p:nvSpPr>
          <p:cNvPr id="16" name="Text 13"/>
          <p:cNvSpPr/>
          <p:nvPr/>
        </p:nvSpPr>
        <p:spPr>
          <a:xfrm>
            <a:off x="822960" y="2834640"/>
            <a:ext cx="2286000" cy="822960"/>
          </a:xfrm>
          <a:prstGeom prst="rect">
            <a:avLst/>
          </a:prstGeom>
          <a:noFill/>
          <a:ln/>
        </p:spPr>
        <p:txBody>
          <a:bodyPr wrap="square" lIns="0" tIns="0" rIns="0" bIns="0" rtlCol="0" anchor="ctr"/>
          <a:lstStyle/>
          <a:p>
            <a:pPr indent="0" marL="0">
              <a:buNone/>
            </a:pPr>
            <a:r>
              <a:rPr lang="en-US" sz="1450" dirty="0">
                <a:solidFill>
                  <a:srgbClr val="13293D"/>
                </a:solidFill>
                <a:latin typeface="Inter" pitchFamily="34" charset="0"/>
                <a:ea typeface="Inter" pitchFamily="34" charset="-122"/>
                <a:cs typeface="Inter" pitchFamily="34" charset="-120"/>
              </a:rPr>
              <a:t>5 · Academic Integrity</a:t>
            </a:r>
            <a:endParaRPr lang="en-US" sz="1450" dirty="0"/>
          </a:p>
        </p:txBody>
      </p:sp>
      <p:sp>
        <p:nvSpPr>
          <p:cNvPr id="17" name="Shape 14"/>
          <p:cNvSpPr/>
          <p:nvPr/>
        </p:nvSpPr>
        <p:spPr>
          <a:xfrm>
            <a:off x="3474720" y="2743200"/>
            <a:ext cx="2651760" cy="1005840"/>
          </a:xfrm>
          <a:prstGeom prst="roundRect">
            <a:avLst>
              <a:gd name="adj" fmla="val 8182"/>
            </a:avLst>
          </a:prstGeom>
          <a:solidFill>
            <a:srgbClr val="F7F5F0"/>
          </a:solidFill>
          <a:ln w="12700">
            <a:solidFill>
              <a:srgbClr val="F7F5F0"/>
            </a:solidFill>
            <a:prstDash val="solid"/>
          </a:ln>
        </p:spPr>
      </p:sp>
      <p:sp>
        <p:nvSpPr>
          <p:cNvPr id="18" name="Text 15"/>
          <p:cNvSpPr/>
          <p:nvPr/>
        </p:nvSpPr>
        <p:spPr>
          <a:xfrm>
            <a:off x="3657600" y="2834640"/>
            <a:ext cx="2286000" cy="822960"/>
          </a:xfrm>
          <a:prstGeom prst="rect">
            <a:avLst/>
          </a:prstGeom>
          <a:noFill/>
          <a:ln/>
        </p:spPr>
        <p:txBody>
          <a:bodyPr wrap="square" lIns="0" tIns="0" rIns="0" bIns="0" rtlCol="0" anchor="ctr"/>
          <a:lstStyle/>
          <a:p>
            <a:pPr indent="0" marL="0">
              <a:buNone/>
            </a:pPr>
            <a:r>
              <a:rPr lang="en-US" sz="1450" dirty="0">
                <a:solidFill>
                  <a:srgbClr val="13293D"/>
                </a:solidFill>
                <a:latin typeface="Inter" pitchFamily="34" charset="0"/>
                <a:ea typeface="Inter" pitchFamily="34" charset="-122"/>
                <a:cs typeface="Inter" pitchFamily="34" charset="-120"/>
              </a:rPr>
              <a:t>6 · Communication</a:t>
            </a:r>
            <a:endParaRPr lang="en-US" sz="1450" dirty="0"/>
          </a:p>
        </p:txBody>
      </p:sp>
      <p:sp>
        <p:nvSpPr>
          <p:cNvPr id="19" name="Shape 16"/>
          <p:cNvSpPr/>
          <p:nvPr/>
        </p:nvSpPr>
        <p:spPr>
          <a:xfrm>
            <a:off x="6309360" y="2743200"/>
            <a:ext cx="2651760" cy="1005840"/>
          </a:xfrm>
          <a:prstGeom prst="roundRect">
            <a:avLst>
              <a:gd name="adj" fmla="val 8182"/>
            </a:avLst>
          </a:prstGeom>
          <a:solidFill>
            <a:srgbClr val="F7F5F0"/>
          </a:solidFill>
          <a:ln w="12700">
            <a:solidFill>
              <a:srgbClr val="F7F5F0"/>
            </a:solidFill>
            <a:prstDash val="solid"/>
          </a:ln>
        </p:spPr>
      </p:sp>
      <p:sp>
        <p:nvSpPr>
          <p:cNvPr id="20" name="Text 17"/>
          <p:cNvSpPr/>
          <p:nvPr/>
        </p:nvSpPr>
        <p:spPr>
          <a:xfrm>
            <a:off x="6492240" y="2834640"/>
            <a:ext cx="2286000" cy="822960"/>
          </a:xfrm>
          <a:prstGeom prst="rect">
            <a:avLst/>
          </a:prstGeom>
          <a:noFill/>
          <a:ln/>
        </p:spPr>
        <p:txBody>
          <a:bodyPr wrap="square" lIns="0" tIns="0" rIns="0" bIns="0" rtlCol="0" anchor="ctr"/>
          <a:lstStyle/>
          <a:p>
            <a:pPr indent="0" marL="0">
              <a:buNone/>
            </a:pPr>
            <a:r>
              <a:rPr lang="en-US" sz="1450" dirty="0">
                <a:solidFill>
                  <a:srgbClr val="13293D"/>
                </a:solidFill>
                <a:latin typeface="Inter" pitchFamily="34" charset="0"/>
                <a:ea typeface="Inter" pitchFamily="34" charset="-122"/>
                <a:cs typeface="Inter" pitchFamily="34" charset="-120"/>
              </a:rPr>
              <a:t>7 · Workload</a:t>
            </a:r>
            <a:endParaRPr lang="en-US" sz="1450" dirty="0"/>
          </a:p>
        </p:txBody>
      </p:sp>
      <p:sp>
        <p:nvSpPr>
          <p:cNvPr id="21" name="Shape 18"/>
          <p:cNvSpPr/>
          <p:nvPr/>
        </p:nvSpPr>
        <p:spPr>
          <a:xfrm>
            <a:off x="9144000" y="2743200"/>
            <a:ext cx="2651760" cy="1005840"/>
          </a:xfrm>
          <a:prstGeom prst="roundRect">
            <a:avLst>
              <a:gd name="adj" fmla="val 8182"/>
            </a:avLst>
          </a:prstGeom>
          <a:solidFill>
            <a:srgbClr val="F7F5F0"/>
          </a:solidFill>
          <a:ln w="12700">
            <a:solidFill>
              <a:srgbClr val="F7F5F0"/>
            </a:solidFill>
            <a:prstDash val="solid"/>
          </a:ln>
        </p:spPr>
      </p:sp>
      <p:sp>
        <p:nvSpPr>
          <p:cNvPr id="22" name="Text 19"/>
          <p:cNvSpPr/>
          <p:nvPr/>
        </p:nvSpPr>
        <p:spPr>
          <a:xfrm>
            <a:off x="9326880" y="2834640"/>
            <a:ext cx="2286000" cy="822960"/>
          </a:xfrm>
          <a:prstGeom prst="rect">
            <a:avLst/>
          </a:prstGeom>
          <a:noFill/>
          <a:ln/>
        </p:spPr>
        <p:txBody>
          <a:bodyPr wrap="square" lIns="0" tIns="0" rIns="0" bIns="0" rtlCol="0" anchor="ctr"/>
          <a:lstStyle/>
          <a:p>
            <a:pPr indent="0" marL="0">
              <a:buNone/>
            </a:pPr>
            <a:r>
              <a:rPr lang="en-US" sz="1450" dirty="0">
                <a:solidFill>
                  <a:srgbClr val="13293D"/>
                </a:solidFill>
                <a:latin typeface="Inter" pitchFamily="34" charset="0"/>
                <a:ea typeface="Inter" pitchFamily="34" charset="-122"/>
                <a:cs typeface="Inter" pitchFamily="34" charset="-120"/>
              </a:rPr>
              <a:t>8 · Your School’s AI Culture</a:t>
            </a:r>
            <a:endParaRPr lang="en-US" sz="1450" dirty="0"/>
          </a:p>
        </p:txBody>
      </p:sp>
      <p:sp>
        <p:nvSpPr>
          <p:cNvPr id="23" name="Shape 20"/>
          <p:cNvSpPr/>
          <p:nvPr/>
        </p:nvSpPr>
        <p:spPr>
          <a:xfrm>
            <a:off x="640080" y="4206240"/>
            <a:ext cx="10972800" cy="1463040"/>
          </a:xfrm>
          <a:prstGeom prst="roundRect">
            <a:avLst>
              <a:gd name="adj" fmla="val 5625"/>
            </a:avLst>
          </a:prstGeom>
          <a:solidFill>
            <a:srgbClr val="13293D"/>
          </a:solidFill>
          <a:ln w="12700">
            <a:solidFill>
              <a:srgbClr val="13293D"/>
            </a:solidFill>
            <a:prstDash val="solid"/>
          </a:ln>
        </p:spPr>
      </p:sp>
      <p:sp>
        <p:nvSpPr>
          <p:cNvPr id="24" name="Text 21"/>
          <p:cNvSpPr/>
          <p:nvPr/>
        </p:nvSpPr>
        <p:spPr>
          <a:xfrm>
            <a:off x="960120" y="4389120"/>
            <a:ext cx="10332720" cy="1097280"/>
          </a:xfrm>
          <a:prstGeom prst="rect">
            <a:avLst/>
          </a:prstGeom>
          <a:noFill/>
          <a:ln/>
        </p:spPr>
        <p:txBody>
          <a:bodyPr wrap="square" lIns="0" tIns="0" rIns="0" bIns="0" rtlCol="0" anchor="ctr"/>
          <a:lstStyle/>
          <a:p>
            <a:pPr indent="0" marL="0">
              <a:buNone/>
            </a:pPr>
            <a:r>
              <a:rPr lang="en-US" sz="1650" b="1" dirty="0">
                <a:solidFill>
                  <a:srgbClr val="FFFFFF"/>
                </a:solidFill>
                <a:latin typeface="Inter" pitchFamily="34" charset="0"/>
                <a:ea typeface="Inter" pitchFamily="34" charset="-122"/>
                <a:cs typeface="Inter" pitchFamily="34" charset="-120"/>
              </a:rPr>
              <a:t>Next: Kit 5, Academic Integrity. </a:t>
            </a:r>
            <a:pPr indent="0" marL="0">
              <a:buNone/>
            </a:pPr>
            <a:r>
              <a:rPr lang="en-US" sz="1650" dirty="0">
                <a:solidFill>
                  <a:srgbClr val="C9D4DE"/>
                </a:solidFill>
                <a:latin typeface="Inter" pitchFamily="34" charset="0"/>
                <a:ea typeface="Inter" pitchFamily="34" charset="-122"/>
                <a:cs typeface="Inter" pitchFamily="34" charset="-120"/>
              </a:rPr>
              <a:t>The student side of assessment: what honesty and original work look like when every student has these tools too. Your rubric from today comes along; clear success criteria are one of the best integrity tools we have.</a:t>
            </a:r>
            <a:endParaRPr lang="en-US" sz="16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11480" y="6473952"/>
            <a:ext cx="237744" cy="219456"/>
          </a:xfrm>
          <a:prstGeom prst="rect">
            <a:avLst/>
          </a:prstGeom>
        </p:spPr>
      </p:pic>
      <p:sp>
        <p:nvSpPr>
          <p:cNvPr id="3" name="Text 0"/>
          <p:cNvSpPr/>
          <p:nvPr/>
        </p:nvSpPr>
        <p:spPr>
          <a:xfrm>
            <a:off x="685800" y="6428232"/>
            <a:ext cx="2011680" cy="292608"/>
          </a:xfrm>
          <a:prstGeom prst="rect">
            <a:avLst/>
          </a:prstGeom>
          <a:noFill/>
          <a:ln/>
        </p:spPr>
        <p:txBody>
          <a:bodyPr wrap="square" lIns="0" tIns="0" rIns="0" bIns="0" rtlCol="0" anchor="ctr"/>
          <a:lstStyle/>
          <a:p>
            <a:pPr indent="0" marL="0">
              <a:buNone/>
            </a:pPr>
            <a:r>
              <a:rPr lang="en-US" sz="1000" b="1" dirty="0">
                <a:solidFill>
                  <a:srgbClr val="2A9D8F"/>
                </a:solidFill>
                <a:latin typeface="Inter" pitchFamily="34" charset="0"/>
                <a:ea typeface="Inter" pitchFamily="34" charset="-122"/>
                <a:cs typeface="Inter" pitchFamily="34" charset="-120"/>
              </a:rPr>
              <a:t>AI-Ready</a:t>
            </a:r>
            <a:pPr indent="0" marL="0">
              <a:buNone/>
            </a:pPr>
            <a:r>
              <a:rPr lang="en-US" sz="1000" b="1" dirty="0">
                <a:solidFill>
                  <a:srgbClr val="13293D"/>
                </a:solidFill>
                <a:latin typeface="Inter" pitchFamily="34" charset="0"/>
                <a:ea typeface="Inter" pitchFamily="34" charset="-122"/>
                <a:cs typeface="Inter" pitchFamily="34" charset="-120"/>
              </a:rPr>
              <a:t> School</a:t>
            </a:r>
            <a:endParaRPr lang="en-US" sz="1000" dirty="0"/>
          </a:p>
        </p:txBody>
      </p:sp>
      <p:sp>
        <p:nvSpPr>
          <p:cNvPr id="4" name="Text 1"/>
          <p:cNvSpPr/>
          <p:nvPr/>
        </p:nvSpPr>
        <p:spPr>
          <a:xfrm>
            <a:off x="8897112" y="6428232"/>
            <a:ext cx="2880360" cy="292608"/>
          </a:xfrm>
          <a:prstGeom prst="rect">
            <a:avLst/>
          </a:prstGeom>
          <a:noFill/>
          <a:ln/>
        </p:spPr>
        <p:txBody>
          <a:bodyPr wrap="square" lIns="0" tIns="0" rIns="0" bIns="0" rtlCol="0" anchor="ctr"/>
          <a:lstStyle/>
          <a:p>
            <a:pPr algn="r" indent="0" marL="0">
              <a:buNone/>
            </a:pPr>
            <a:r>
              <a:rPr lang="en-US" sz="900" dirty="0">
                <a:solidFill>
                  <a:srgbClr val="5B6B7A"/>
                </a:solidFill>
                <a:latin typeface="Inter" pitchFamily="34" charset="0"/>
                <a:ea typeface="Inter" pitchFamily="34" charset="-122"/>
                <a:cs typeface="Inter" pitchFamily="34" charset="-120"/>
              </a:rPr>
              <a:t>Kit 4 · AI for Assessment   |   28</a:t>
            </a:r>
            <a:endParaRPr lang="en-US" sz="900" dirty="0"/>
          </a:p>
        </p:txBody>
      </p:sp>
      <p:sp>
        <p:nvSpPr>
          <p:cNvPr id="5" name="Text 2"/>
          <p:cNvSpPr/>
          <p:nvPr/>
        </p:nvSpPr>
        <p:spPr>
          <a:xfrm>
            <a:off x="566928" y="128016"/>
            <a:ext cx="11055096" cy="274320"/>
          </a:xfrm>
          <a:prstGeom prst="rect">
            <a:avLst/>
          </a:prstGeom>
          <a:noFill/>
          <a:ln/>
        </p:spPr>
        <p:txBody>
          <a:bodyPr wrap="square" lIns="0" tIns="0" rIns="0" bIns="0" rtlCol="0" anchor="ctr"/>
          <a:lstStyle/>
          <a:p>
            <a:pPr indent="0" marL="0">
              <a:buNone/>
            </a:pPr>
            <a:r>
              <a:rPr lang="en-US" sz="1200" b="1" spc="200" kern="0" dirty="0">
                <a:solidFill>
                  <a:srgbClr val="2A9D8F"/>
                </a:solidFill>
                <a:latin typeface="Inter" pitchFamily="34" charset="0"/>
                <a:ea typeface="Inter" pitchFamily="34" charset="-122"/>
                <a:cs typeface="Inter" pitchFamily="34" charset="-120"/>
              </a:rPr>
              <a:t>BEFORE FRIDAY BECOMES A MEMORY</a:t>
            </a:r>
            <a:endParaRPr lang="en-US" sz="1200" dirty="0"/>
          </a:p>
        </p:txBody>
      </p:sp>
      <p:sp>
        <p:nvSpPr>
          <p:cNvPr id="6" name="Text 3"/>
          <p:cNvSpPr/>
          <p:nvPr/>
        </p:nvSpPr>
        <p:spPr>
          <a:xfrm>
            <a:off x="548640" y="384048"/>
            <a:ext cx="11091672" cy="777240"/>
          </a:xfrm>
          <a:prstGeom prst="rect">
            <a:avLst/>
          </a:prstGeom>
          <a:noFill/>
          <a:ln/>
        </p:spPr>
        <p:txBody>
          <a:bodyPr wrap="square" lIns="0" tIns="0" rIns="0" bIns="0" rtlCol="0" anchor="ctr"/>
          <a:lstStyle/>
          <a:p>
            <a:pPr indent="0" marL="0">
              <a:buNone/>
            </a:pPr>
            <a:r>
              <a:rPr lang="en-US" sz="3200" b="1" dirty="0">
                <a:solidFill>
                  <a:srgbClr val="13293D"/>
                </a:solidFill>
                <a:latin typeface="Inter" pitchFamily="34" charset="0"/>
                <a:ea typeface="Inter" pitchFamily="34" charset="-122"/>
                <a:cs typeface="Inter" pitchFamily="34" charset="-120"/>
              </a:rPr>
              <a:t>Your first 48 hours: three small things</a:t>
            </a:r>
            <a:endParaRPr lang="en-US" sz="3200" dirty="0"/>
          </a:p>
        </p:txBody>
      </p:sp>
      <p:sp>
        <p:nvSpPr>
          <p:cNvPr id="7" name="Shape 4"/>
          <p:cNvSpPr/>
          <p:nvPr/>
        </p:nvSpPr>
        <p:spPr>
          <a:xfrm>
            <a:off x="640080" y="1463040"/>
            <a:ext cx="10972800" cy="1234440"/>
          </a:xfrm>
          <a:prstGeom prst="roundRect">
            <a:avLst>
              <a:gd name="adj" fmla="val 6667"/>
            </a:avLst>
          </a:prstGeom>
          <a:solidFill>
            <a:srgbClr val="F7F5F0"/>
          </a:solidFill>
          <a:ln w="12700">
            <a:solidFill>
              <a:srgbClr val="F7F5F0"/>
            </a:solidFill>
            <a:prstDash val="solid"/>
          </a:ln>
        </p:spPr>
      </p:sp>
      <p:sp>
        <p:nvSpPr>
          <p:cNvPr id="8" name="Text 5"/>
          <p:cNvSpPr/>
          <p:nvPr/>
        </p:nvSpPr>
        <p:spPr>
          <a:xfrm>
            <a:off x="914400" y="1847088"/>
            <a:ext cx="1371600" cy="457200"/>
          </a:xfrm>
          <a:prstGeom prst="rect">
            <a:avLst/>
          </a:prstGeom>
          <a:noFill/>
          <a:ln/>
        </p:spPr>
        <p:txBody>
          <a:bodyPr wrap="square" lIns="0" tIns="0" rIns="0" bIns="0" rtlCol="0" anchor="ctr"/>
          <a:lstStyle/>
          <a:p>
            <a:pPr indent="0" marL="0">
              <a:buNone/>
            </a:pPr>
            <a:r>
              <a:rPr lang="en-US" sz="1700" b="1" dirty="0">
                <a:solidFill>
                  <a:srgbClr val="2A9D8F"/>
                </a:solidFill>
                <a:latin typeface="Inter" pitchFamily="34" charset="0"/>
                <a:ea typeface="Inter" pitchFamily="34" charset="-122"/>
                <a:cs typeface="Inter" pitchFamily="34" charset="-120"/>
              </a:rPr>
              <a:t>~15 min</a:t>
            </a:r>
            <a:endParaRPr lang="en-US" sz="1700" dirty="0"/>
          </a:p>
        </p:txBody>
      </p:sp>
      <p:sp>
        <p:nvSpPr>
          <p:cNvPr id="9" name="Text 6"/>
          <p:cNvSpPr/>
          <p:nvPr/>
        </p:nvSpPr>
        <p:spPr>
          <a:xfrm>
            <a:off x="2377440" y="1609344"/>
            <a:ext cx="9052560" cy="457200"/>
          </a:xfrm>
          <a:prstGeom prst="rect">
            <a:avLst/>
          </a:prstGeom>
          <a:noFill/>
          <a:ln/>
        </p:spPr>
        <p:txBody>
          <a:bodyPr wrap="square" lIns="0" tIns="0" rIns="0" bIns="0" rtlCol="0" anchor="ctr"/>
          <a:lstStyle/>
          <a:p>
            <a:pPr indent="0" marL="0">
              <a:buNone/>
            </a:pPr>
            <a:r>
              <a:rPr lang="en-US" sz="2000" b="1" dirty="0">
                <a:solidFill>
                  <a:srgbClr val="13293D"/>
                </a:solidFill>
                <a:latin typeface="Inter" pitchFamily="34" charset="0"/>
                <a:ea typeface="Inter" pitchFamily="34" charset="-122"/>
                <a:cs typeface="Inter" pitchFamily="34" charset="-120"/>
              </a:rPr>
              <a:t>Hand the rubric to students</a:t>
            </a:r>
            <a:endParaRPr lang="en-US" sz="2000" dirty="0"/>
          </a:p>
        </p:txBody>
      </p:sp>
      <p:sp>
        <p:nvSpPr>
          <p:cNvPr id="10" name="Text 7"/>
          <p:cNvSpPr/>
          <p:nvPr/>
        </p:nvSpPr>
        <p:spPr>
          <a:xfrm>
            <a:off x="2377440" y="2084832"/>
            <a:ext cx="9052560" cy="548640"/>
          </a:xfrm>
          <a:prstGeom prst="rect">
            <a:avLst/>
          </a:prstGeom>
          <a:noFill/>
          <a:ln/>
        </p:spPr>
        <p:txBody>
          <a:bodyPr wrap="square" lIns="0" tIns="0" rIns="0" bIns="0" rtlCol="0" anchor="ctr"/>
          <a:lstStyle/>
          <a:p>
            <a:pPr indent="0" marL="0">
              <a:buNone/>
            </a:pPr>
            <a:r>
              <a:rPr lang="en-US" sz="1600" dirty="0">
                <a:solidFill>
                  <a:srgbClr val="1B1F24"/>
                </a:solidFill>
                <a:latin typeface="Inter" pitchFamily="34" charset="0"/>
                <a:ea typeface="Inter" pitchFamily="34" charset="-122"/>
                <a:cs typeface="Inter" pitchFamily="34" charset="-120"/>
              </a:rPr>
              <a:t>One last student-test pass, then out with the real assignment</a:t>
            </a:r>
            <a:endParaRPr lang="en-US" sz="1600" dirty="0"/>
          </a:p>
        </p:txBody>
      </p:sp>
      <p:sp>
        <p:nvSpPr>
          <p:cNvPr id="11" name="Shape 8"/>
          <p:cNvSpPr/>
          <p:nvPr/>
        </p:nvSpPr>
        <p:spPr>
          <a:xfrm>
            <a:off x="640080" y="2880360"/>
            <a:ext cx="10972800" cy="1234440"/>
          </a:xfrm>
          <a:prstGeom prst="roundRect">
            <a:avLst>
              <a:gd name="adj" fmla="val 6667"/>
            </a:avLst>
          </a:prstGeom>
          <a:solidFill>
            <a:srgbClr val="F7F5F0"/>
          </a:solidFill>
          <a:ln w="12700">
            <a:solidFill>
              <a:srgbClr val="F7F5F0"/>
            </a:solidFill>
            <a:prstDash val="solid"/>
          </a:ln>
        </p:spPr>
      </p:sp>
      <p:sp>
        <p:nvSpPr>
          <p:cNvPr id="12" name="Text 9"/>
          <p:cNvSpPr/>
          <p:nvPr/>
        </p:nvSpPr>
        <p:spPr>
          <a:xfrm>
            <a:off x="914400" y="3264408"/>
            <a:ext cx="1371600" cy="457200"/>
          </a:xfrm>
          <a:prstGeom prst="rect">
            <a:avLst/>
          </a:prstGeom>
          <a:noFill/>
          <a:ln/>
        </p:spPr>
        <p:txBody>
          <a:bodyPr wrap="square" lIns="0" tIns="0" rIns="0" bIns="0" rtlCol="0" anchor="ctr"/>
          <a:lstStyle/>
          <a:p>
            <a:pPr indent="0" marL="0">
              <a:buNone/>
            </a:pPr>
            <a:r>
              <a:rPr lang="en-US" sz="1700" b="1" dirty="0">
                <a:solidFill>
                  <a:srgbClr val="2A9D8F"/>
                </a:solidFill>
                <a:latin typeface="Inter" pitchFamily="34" charset="0"/>
                <a:ea typeface="Inter" pitchFamily="34" charset="-122"/>
                <a:cs typeface="Inter" pitchFamily="34" charset="-120"/>
              </a:rPr>
              <a:t>~10 min</a:t>
            </a:r>
            <a:endParaRPr lang="en-US" sz="1700" dirty="0"/>
          </a:p>
        </p:txBody>
      </p:sp>
      <p:sp>
        <p:nvSpPr>
          <p:cNvPr id="13" name="Text 10"/>
          <p:cNvSpPr/>
          <p:nvPr/>
        </p:nvSpPr>
        <p:spPr>
          <a:xfrm>
            <a:off x="2377440" y="3026664"/>
            <a:ext cx="9052560" cy="457200"/>
          </a:xfrm>
          <a:prstGeom prst="rect">
            <a:avLst/>
          </a:prstGeom>
          <a:noFill/>
          <a:ln/>
        </p:spPr>
        <p:txBody>
          <a:bodyPr wrap="square" lIns="0" tIns="0" rIns="0" bIns="0" rtlCol="0" anchor="ctr"/>
          <a:lstStyle/>
          <a:p>
            <a:pPr indent="0" marL="0">
              <a:buNone/>
            </a:pPr>
            <a:r>
              <a:rPr lang="en-US" sz="2000" b="1" dirty="0">
                <a:solidFill>
                  <a:srgbClr val="13293D"/>
                </a:solidFill>
                <a:latin typeface="Inter" pitchFamily="34" charset="0"/>
                <a:ea typeface="Inter" pitchFamily="34" charset="-122"/>
                <a:cs typeface="Inter" pitchFamily="34" charset="-120"/>
              </a:rPr>
              <a:t>Finish the vetting pass</a:t>
            </a:r>
            <a:endParaRPr lang="en-US" sz="2000" dirty="0"/>
          </a:p>
        </p:txBody>
      </p:sp>
      <p:sp>
        <p:nvSpPr>
          <p:cNvPr id="14" name="Text 11"/>
          <p:cNvSpPr/>
          <p:nvPr/>
        </p:nvSpPr>
        <p:spPr>
          <a:xfrm>
            <a:off x="2377440" y="3502152"/>
            <a:ext cx="9052560" cy="548640"/>
          </a:xfrm>
          <a:prstGeom prst="rect">
            <a:avLst/>
          </a:prstGeom>
          <a:noFill/>
          <a:ln/>
        </p:spPr>
        <p:txBody>
          <a:bodyPr wrap="square" lIns="0" tIns="0" rIns="0" bIns="0" rtlCol="0" anchor="ctr"/>
          <a:lstStyle/>
          <a:p>
            <a:pPr indent="0" marL="0">
              <a:buNone/>
            </a:pPr>
            <a:r>
              <a:rPr lang="en-US" sz="1600" dirty="0">
                <a:solidFill>
                  <a:srgbClr val="1B1F24"/>
                </a:solidFill>
                <a:latin typeface="Inter" pitchFamily="34" charset="0"/>
                <a:ea typeface="Inter" pitchFamily="34" charset="-122"/>
                <a:cs typeface="Inter" pitchFamily="34" charset="-120"/>
              </a:rPr>
              <a:t>Every question against the key; fix or delete; file the bank</a:t>
            </a:r>
            <a:endParaRPr lang="en-US" sz="1600" dirty="0"/>
          </a:p>
        </p:txBody>
      </p:sp>
      <p:sp>
        <p:nvSpPr>
          <p:cNvPr id="15" name="Shape 12"/>
          <p:cNvSpPr/>
          <p:nvPr/>
        </p:nvSpPr>
        <p:spPr>
          <a:xfrm>
            <a:off x="640080" y="4297680"/>
            <a:ext cx="10972800" cy="1234440"/>
          </a:xfrm>
          <a:prstGeom prst="roundRect">
            <a:avLst>
              <a:gd name="adj" fmla="val 6667"/>
            </a:avLst>
          </a:prstGeom>
          <a:solidFill>
            <a:srgbClr val="F7F5F0"/>
          </a:solidFill>
          <a:ln w="12700">
            <a:solidFill>
              <a:srgbClr val="F7F5F0"/>
            </a:solidFill>
            <a:prstDash val="solid"/>
          </a:ln>
        </p:spPr>
      </p:sp>
      <p:sp>
        <p:nvSpPr>
          <p:cNvPr id="16" name="Text 13"/>
          <p:cNvSpPr/>
          <p:nvPr/>
        </p:nvSpPr>
        <p:spPr>
          <a:xfrm>
            <a:off x="914400" y="4681728"/>
            <a:ext cx="1371600" cy="457200"/>
          </a:xfrm>
          <a:prstGeom prst="rect">
            <a:avLst/>
          </a:prstGeom>
          <a:noFill/>
          <a:ln/>
        </p:spPr>
        <p:txBody>
          <a:bodyPr wrap="square" lIns="0" tIns="0" rIns="0" bIns="0" rtlCol="0" anchor="ctr"/>
          <a:lstStyle/>
          <a:p>
            <a:pPr indent="0" marL="0">
              <a:buNone/>
            </a:pPr>
            <a:r>
              <a:rPr lang="en-US" sz="1700" b="1" dirty="0">
                <a:solidFill>
                  <a:srgbClr val="2A9D8F"/>
                </a:solidFill>
                <a:latin typeface="Inter" pitchFamily="34" charset="0"/>
                <a:ea typeface="Inter" pitchFamily="34" charset="-122"/>
                <a:cs typeface="Inter" pitchFamily="34" charset="-120"/>
              </a:rPr>
              <a:t>~15 min</a:t>
            </a:r>
            <a:endParaRPr lang="en-US" sz="1700" dirty="0"/>
          </a:p>
        </p:txBody>
      </p:sp>
      <p:sp>
        <p:nvSpPr>
          <p:cNvPr id="17" name="Text 14"/>
          <p:cNvSpPr/>
          <p:nvPr/>
        </p:nvSpPr>
        <p:spPr>
          <a:xfrm>
            <a:off x="2377440" y="4443984"/>
            <a:ext cx="9052560" cy="457200"/>
          </a:xfrm>
          <a:prstGeom prst="rect">
            <a:avLst/>
          </a:prstGeom>
          <a:noFill/>
          <a:ln/>
        </p:spPr>
        <p:txBody>
          <a:bodyPr wrap="square" lIns="0" tIns="0" rIns="0" bIns="0" rtlCol="0" anchor="ctr"/>
          <a:lstStyle/>
          <a:p>
            <a:pPr indent="0" marL="0">
              <a:buNone/>
            </a:pPr>
            <a:r>
              <a:rPr lang="en-US" sz="2000" b="1" dirty="0">
                <a:solidFill>
                  <a:srgbClr val="13293D"/>
                </a:solidFill>
                <a:latin typeface="Inter" pitchFamily="34" charset="0"/>
                <a:ea typeface="Inter" pitchFamily="34" charset="-122"/>
                <a:cs typeface="Inter" pitchFamily="34" charset="-120"/>
              </a:rPr>
              <a:t>Use one starter for real</a:t>
            </a:r>
            <a:endParaRPr lang="en-US" sz="2000" dirty="0"/>
          </a:p>
        </p:txBody>
      </p:sp>
      <p:sp>
        <p:nvSpPr>
          <p:cNvPr id="18" name="Text 15"/>
          <p:cNvSpPr/>
          <p:nvPr/>
        </p:nvSpPr>
        <p:spPr>
          <a:xfrm>
            <a:off x="2377440" y="4919472"/>
            <a:ext cx="9052560" cy="548640"/>
          </a:xfrm>
          <a:prstGeom prst="rect">
            <a:avLst/>
          </a:prstGeom>
          <a:noFill/>
          <a:ln/>
        </p:spPr>
        <p:txBody>
          <a:bodyPr wrap="square" lIns="0" tIns="0" rIns="0" bIns="0" rtlCol="0" anchor="ctr"/>
          <a:lstStyle/>
          <a:p>
            <a:pPr indent="0" marL="0">
              <a:buNone/>
            </a:pPr>
            <a:r>
              <a:rPr lang="en-US" sz="1600" dirty="0">
                <a:solidFill>
                  <a:srgbClr val="1B1F24"/>
                </a:solidFill>
                <a:latin typeface="Inter" pitchFamily="34" charset="0"/>
                <a:ea typeface="Inter" pitchFamily="34" charset="-122"/>
                <a:cs typeface="Inter" pitchFamily="34" charset="-120"/>
              </a:rPr>
              <a:t>On your next stack, personalized every time; post your best to the staff doc</a:t>
            </a:r>
            <a:endParaRPr lang="en-US" sz="16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11480" y="6473952"/>
            <a:ext cx="237744" cy="219456"/>
          </a:xfrm>
          <a:prstGeom prst="rect">
            <a:avLst/>
          </a:prstGeom>
        </p:spPr>
      </p:pic>
      <p:sp>
        <p:nvSpPr>
          <p:cNvPr id="3" name="Text 0"/>
          <p:cNvSpPr/>
          <p:nvPr/>
        </p:nvSpPr>
        <p:spPr>
          <a:xfrm>
            <a:off x="685800" y="6428232"/>
            <a:ext cx="2011680" cy="292608"/>
          </a:xfrm>
          <a:prstGeom prst="rect">
            <a:avLst/>
          </a:prstGeom>
          <a:noFill/>
          <a:ln/>
        </p:spPr>
        <p:txBody>
          <a:bodyPr wrap="square" lIns="0" tIns="0" rIns="0" bIns="0" rtlCol="0" anchor="ctr"/>
          <a:lstStyle/>
          <a:p>
            <a:pPr indent="0" marL="0">
              <a:buNone/>
            </a:pPr>
            <a:r>
              <a:rPr lang="en-US" sz="1000" b="1" dirty="0">
                <a:solidFill>
                  <a:srgbClr val="2A9D8F"/>
                </a:solidFill>
                <a:latin typeface="Inter" pitchFamily="34" charset="0"/>
                <a:ea typeface="Inter" pitchFamily="34" charset="-122"/>
                <a:cs typeface="Inter" pitchFamily="34" charset="-120"/>
              </a:rPr>
              <a:t>AI-Ready</a:t>
            </a:r>
            <a:pPr indent="0" marL="0">
              <a:buNone/>
            </a:pPr>
            <a:r>
              <a:rPr lang="en-US" sz="1000" b="1" dirty="0">
                <a:solidFill>
                  <a:srgbClr val="13293D"/>
                </a:solidFill>
                <a:latin typeface="Inter" pitchFamily="34" charset="0"/>
                <a:ea typeface="Inter" pitchFamily="34" charset="-122"/>
                <a:cs typeface="Inter" pitchFamily="34" charset="-120"/>
              </a:rPr>
              <a:t> School</a:t>
            </a:r>
            <a:endParaRPr lang="en-US" sz="1000" dirty="0"/>
          </a:p>
        </p:txBody>
      </p:sp>
      <p:sp>
        <p:nvSpPr>
          <p:cNvPr id="4" name="Text 1"/>
          <p:cNvSpPr/>
          <p:nvPr/>
        </p:nvSpPr>
        <p:spPr>
          <a:xfrm>
            <a:off x="8897112" y="6428232"/>
            <a:ext cx="2880360" cy="292608"/>
          </a:xfrm>
          <a:prstGeom prst="rect">
            <a:avLst/>
          </a:prstGeom>
          <a:noFill/>
          <a:ln/>
        </p:spPr>
        <p:txBody>
          <a:bodyPr wrap="square" lIns="0" tIns="0" rIns="0" bIns="0" rtlCol="0" anchor="ctr"/>
          <a:lstStyle/>
          <a:p>
            <a:pPr algn="r" indent="0" marL="0">
              <a:buNone/>
            </a:pPr>
            <a:r>
              <a:rPr lang="en-US" sz="900" dirty="0">
                <a:solidFill>
                  <a:srgbClr val="5B6B7A"/>
                </a:solidFill>
                <a:latin typeface="Inter" pitchFamily="34" charset="0"/>
                <a:ea typeface="Inter" pitchFamily="34" charset="-122"/>
                <a:cs typeface="Inter" pitchFamily="34" charset="-120"/>
              </a:rPr>
              <a:t>Kit 4 · AI for Assessment   |   29</a:t>
            </a:r>
            <a:endParaRPr lang="en-US" sz="900" dirty="0"/>
          </a:p>
        </p:txBody>
      </p:sp>
      <p:sp>
        <p:nvSpPr>
          <p:cNvPr id="5" name="Text 2"/>
          <p:cNvSpPr/>
          <p:nvPr/>
        </p:nvSpPr>
        <p:spPr>
          <a:xfrm>
            <a:off x="566928" y="128016"/>
            <a:ext cx="11055096" cy="274320"/>
          </a:xfrm>
          <a:prstGeom prst="rect">
            <a:avLst/>
          </a:prstGeom>
          <a:noFill/>
          <a:ln/>
        </p:spPr>
        <p:txBody>
          <a:bodyPr wrap="square" lIns="0" tIns="0" rIns="0" bIns="0" rtlCol="0" anchor="ctr"/>
          <a:lstStyle/>
          <a:p>
            <a:pPr indent="0" marL="0">
              <a:buNone/>
            </a:pPr>
            <a:r>
              <a:rPr lang="en-US" sz="1200" b="1" spc="200" kern="0" dirty="0">
                <a:solidFill>
                  <a:srgbClr val="2A9D8F"/>
                </a:solidFill>
                <a:latin typeface="Inter" pitchFamily="34" charset="0"/>
                <a:ea typeface="Inter" pitchFamily="34" charset="-122"/>
                <a:cs typeface="Inter" pitchFamily="34" charset="-120"/>
              </a:rPr>
              <a:t>TWO MINUTES</a:t>
            </a:r>
            <a:endParaRPr lang="en-US" sz="1200" dirty="0"/>
          </a:p>
        </p:txBody>
      </p:sp>
      <p:sp>
        <p:nvSpPr>
          <p:cNvPr id="6" name="Text 3"/>
          <p:cNvSpPr/>
          <p:nvPr/>
        </p:nvSpPr>
        <p:spPr>
          <a:xfrm>
            <a:off x="548640" y="384048"/>
            <a:ext cx="11091672" cy="777240"/>
          </a:xfrm>
          <a:prstGeom prst="rect">
            <a:avLst/>
          </a:prstGeom>
          <a:noFill/>
          <a:ln/>
        </p:spPr>
        <p:txBody>
          <a:bodyPr wrap="square" lIns="0" tIns="0" rIns="0" bIns="0" rtlCol="0" anchor="ctr"/>
          <a:lstStyle/>
          <a:p>
            <a:pPr indent="0" marL="0">
              <a:buNone/>
            </a:pPr>
            <a:r>
              <a:rPr lang="en-US" sz="3200" b="1" dirty="0">
                <a:solidFill>
                  <a:srgbClr val="13293D"/>
                </a:solidFill>
                <a:latin typeface="Inter" pitchFamily="34" charset="0"/>
                <a:ea typeface="Inter" pitchFamily="34" charset="-122"/>
                <a:cs typeface="Inter" pitchFamily="34" charset="-120"/>
              </a:rPr>
              <a:t>Exit ticket</a:t>
            </a:r>
            <a:endParaRPr lang="en-US" sz="3200" dirty="0"/>
          </a:p>
        </p:txBody>
      </p:sp>
      <p:sp>
        <p:nvSpPr>
          <p:cNvPr id="7" name="Text 4"/>
          <p:cNvSpPr/>
          <p:nvPr/>
        </p:nvSpPr>
        <p:spPr>
          <a:xfrm>
            <a:off x="640080" y="1554480"/>
            <a:ext cx="10908792" cy="2377440"/>
          </a:xfrm>
          <a:prstGeom prst="rect">
            <a:avLst/>
          </a:prstGeom>
          <a:noFill/>
          <a:ln/>
        </p:spPr>
        <p:txBody>
          <a:bodyPr wrap="square" rtlCol="0" anchor="t"/>
          <a:lstStyle/>
          <a:p>
            <a:pPr marL="342900" indent="-342900">
              <a:spcAft>
                <a:spcPts val="1000"/>
              </a:spcAft>
              <a:buSzPct val="100000"/>
              <a:buChar char="•"/>
            </a:pPr>
            <a:r>
              <a:rPr lang="en-US" sz="2400" dirty="0">
                <a:solidFill>
                  <a:srgbClr val="1B1F24"/>
                </a:solidFill>
                <a:latin typeface="Inter" pitchFamily="34" charset="0"/>
                <a:ea typeface="Inter" pitchFamily="34" charset="-122"/>
                <a:cs typeface="Inter" pitchFamily="34" charset="-120"/>
              </a:rPr>
              <a:t>The assessment you built for, and what you’ll actually use</a:t>
            </a:r>
            <a:endParaRPr lang="en-US" sz="2400" dirty="0"/>
          </a:p>
          <a:p>
            <a:pPr marL="342900" indent="-342900">
              <a:spcAft>
                <a:spcPts val="1000"/>
              </a:spcAft>
              <a:buSzPct val="100000"/>
              <a:buChar char="•"/>
            </a:pPr>
            <a:r>
              <a:rPr lang="en-US" sz="2400" dirty="0">
                <a:solidFill>
                  <a:srgbClr val="1B1F24"/>
                </a:solidFill>
                <a:latin typeface="Inter" pitchFamily="34" charset="0"/>
                <a:ea typeface="Inter" pitchFamily="34" charset="-122"/>
                <a:cs typeface="Inter" pitchFamily="34" charset="-120"/>
              </a:rPr>
              <a:t>The weak question you caught, and what was wrong with it</a:t>
            </a:r>
            <a:endParaRPr lang="en-US" sz="2400" dirty="0"/>
          </a:p>
          <a:p>
            <a:pPr marL="342900" indent="-342900">
              <a:spcAft>
                <a:spcPts val="1000"/>
              </a:spcAft>
              <a:buSzPct val="100000"/>
              <a:buChar char="•"/>
            </a:pPr>
            <a:r>
              <a:rPr lang="en-US" sz="2400" dirty="0">
                <a:solidFill>
                  <a:srgbClr val="1B1F24"/>
                </a:solidFill>
                <a:latin typeface="Inter" pitchFamily="34" charset="0"/>
                <a:ea typeface="Inter" pitchFamily="34" charset="-122"/>
                <a:cs typeface="Inter" pitchFamily="34" charset="-120"/>
              </a:rPr>
              <a:t>One assessment task you still want help with</a:t>
            </a:r>
            <a:endParaRPr lang="en-US" sz="2400" dirty="0"/>
          </a:p>
        </p:txBody>
      </p:sp>
      <p:sp>
        <p:nvSpPr>
          <p:cNvPr id="8" name="Text 5"/>
          <p:cNvSpPr/>
          <p:nvPr/>
        </p:nvSpPr>
        <p:spPr>
          <a:xfrm>
            <a:off x="640080" y="4297680"/>
            <a:ext cx="10972800" cy="457200"/>
          </a:xfrm>
          <a:prstGeom prst="rect">
            <a:avLst/>
          </a:prstGeom>
          <a:noFill/>
          <a:ln/>
        </p:spPr>
        <p:txBody>
          <a:bodyPr wrap="square" lIns="0" tIns="0" rIns="0" bIns="0" rtlCol="0" anchor="ctr"/>
          <a:lstStyle/>
          <a:p>
            <a:pPr indent="0" marL="0">
              <a:buNone/>
            </a:pPr>
            <a:r>
              <a:rPr lang="en-US" sz="1900" i="1" dirty="0">
                <a:solidFill>
                  <a:srgbClr val="5B6B7A"/>
                </a:solidFill>
                <a:latin typeface="Inter" pitchFamily="34" charset="0"/>
                <a:ea typeface="Inter" pitchFamily="34" charset="-122"/>
                <a:cs typeface="Inter" pitchFamily="34" charset="-120"/>
              </a:rPr>
              <a:t>Yes, we’re asking about the catch. It’s the answer we’re proudest of.</a:t>
            </a:r>
            <a:endParaRPr lang="en-US" sz="1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13293D"/>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11480" y="6473952"/>
            <a:ext cx="237744" cy="219456"/>
          </a:xfrm>
          <a:prstGeom prst="rect">
            <a:avLst/>
          </a:prstGeom>
        </p:spPr>
      </p:pic>
      <p:sp>
        <p:nvSpPr>
          <p:cNvPr id="3" name="Text 0"/>
          <p:cNvSpPr/>
          <p:nvPr/>
        </p:nvSpPr>
        <p:spPr>
          <a:xfrm>
            <a:off x="685800" y="6428232"/>
            <a:ext cx="2011680" cy="292608"/>
          </a:xfrm>
          <a:prstGeom prst="rect">
            <a:avLst/>
          </a:prstGeom>
          <a:noFill/>
          <a:ln/>
        </p:spPr>
        <p:txBody>
          <a:bodyPr wrap="square" lIns="0" tIns="0" rIns="0" bIns="0" rtlCol="0" anchor="ctr"/>
          <a:lstStyle/>
          <a:p>
            <a:pPr indent="0" marL="0">
              <a:buNone/>
            </a:pPr>
            <a:r>
              <a:rPr lang="en-US" sz="1000" b="1" dirty="0">
                <a:solidFill>
                  <a:srgbClr val="2A9D8F"/>
                </a:solidFill>
                <a:latin typeface="Inter" pitchFamily="34" charset="0"/>
                <a:ea typeface="Inter" pitchFamily="34" charset="-122"/>
                <a:cs typeface="Inter" pitchFamily="34" charset="-120"/>
              </a:rPr>
              <a:t>AI-Ready</a:t>
            </a:r>
            <a:pPr indent="0" marL="0">
              <a:buNone/>
            </a:pPr>
            <a:r>
              <a:rPr lang="en-US" sz="1000" b="1" dirty="0">
                <a:solidFill>
                  <a:srgbClr val="FFFFFF"/>
                </a:solidFill>
                <a:latin typeface="Inter" pitchFamily="34" charset="0"/>
                <a:ea typeface="Inter" pitchFamily="34" charset="-122"/>
                <a:cs typeface="Inter" pitchFamily="34" charset="-120"/>
              </a:rPr>
              <a:t> School</a:t>
            </a:r>
            <a:endParaRPr lang="en-US" sz="1000" dirty="0"/>
          </a:p>
        </p:txBody>
      </p:sp>
      <p:sp>
        <p:nvSpPr>
          <p:cNvPr id="4" name="Text 1"/>
          <p:cNvSpPr/>
          <p:nvPr/>
        </p:nvSpPr>
        <p:spPr>
          <a:xfrm>
            <a:off x="8897112" y="6428232"/>
            <a:ext cx="2880360" cy="292608"/>
          </a:xfrm>
          <a:prstGeom prst="rect">
            <a:avLst/>
          </a:prstGeom>
          <a:noFill/>
          <a:ln/>
        </p:spPr>
        <p:txBody>
          <a:bodyPr wrap="square" lIns="0" tIns="0" rIns="0" bIns="0" rtlCol="0" anchor="ctr"/>
          <a:lstStyle/>
          <a:p>
            <a:pPr algn="r" indent="0" marL="0">
              <a:buNone/>
            </a:pPr>
            <a:r>
              <a:rPr lang="en-US" sz="900" dirty="0">
                <a:solidFill>
                  <a:srgbClr val="9FB2C2"/>
                </a:solidFill>
                <a:latin typeface="Inter" pitchFamily="34" charset="0"/>
                <a:ea typeface="Inter" pitchFamily="34" charset="-122"/>
                <a:cs typeface="Inter" pitchFamily="34" charset="-120"/>
              </a:rPr>
              <a:t>Kit 4 · AI for Assessment   |   30</a:t>
            </a:r>
            <a:endParaRPr lang="en-US" sz="900" dirty="0"/>
          </a:p>
        </p:txBody>
      </p:sp>
      <p:sp>
        <p:nvSpPr>
          <p:cNvPr id="5" name="Text 2"/>
          <p:cNvSpPr/>
          <p:nvPr/>
        </p:nvSpPr>
        <p:spPr>
          <a:xfrm>
            <a:off x="640080" y="1828800"/>
            <a:ext cx="10972800" cy="1645920"/>
          </a:xfrm>
          <a:prstGeom prst="rect">
            <a:avLst/>
          </a:prstGeom>
          <a:noFill/>
          <a:ln/>
        </p:spPr>
        <p:txBody>
          <a:bodyPr wrap="square" lIns="0" tIns="0" rIns="0" bIns="0" rtlCol="0" anchor="ctr"/>
          <a:lstStyle/>
          <a:p>
            <a:pPr algn="ctr" indent="0" marL="0">
              <a:lnSpc>
                <a:spcPct val="120000"/>
              </a:lnSpc>
              <a:buNone/>
            </a:pPr>
            <a:r>
              <a:rPr lang="en-US" sz="3600" b="1" dirty="0">
                <a:solidFill>
                  <a:srgbClr val="FFFFFF"/>
                </a:solidFill>
                <a:latin typeface="Inter" pitchFamily="34" charset="0"/>
                <a:ea typeface="Inter" pitchFamily="34" charset="-122"/>
                <a:cs typeface="Inter" pitchFamily="34" charset="-120"/>
              </a:rPr>
              <a:t>The rubric is paper.</a:t>
            </a:r>
            <a:endParaRPr lang="en-US" sz="3600" dirty="0"/>
          </a:p>
          <a:p>
            <a:pPr algn="ctr" indent="0" marL="0">
              <a:lnSpc>
                <a:spcPct val="120000"/>
              </a:lnSpc>
              <a:buNone/>
            </a:pPr>
            <a:r>
              <a:rPr lang="en-US" sz="3600" b="1" dirty="0">
                <a:solidFill>
                  <a:srgbClr val="FFFFFF"/>
                </a:solidFill>
                <a:latin typeface="Inter" pitchFamily="34" charset="0"/>
                <a:ea typeface="Inter" pitchFamily="34" charset="-122"/>
                <a:cs typeface="Inter" pitchFamily="34" charset="-120"/>
              </a:rPr>
              <a:t>The questions are paper.</a:t>
            </a:r>
            <a:endParaRPr lang="en-US" sz="3600" dirty="0"/>
          </a:p>
        </p:txBody>
      </p:sp>
      <p:sp>
        <p:nvSpPr>
          <p:cNvPr id="6" name="Text 3"/>
          <p:cNvSpPr/>
          <p:nvPr/>
        </p:nvSpPr>
        <p:spPr>
          <a:xfrm>
            <a:off x="640080" y="3840480"/>
            <a:ext cx="10972800" cy="1188720"/>
          </a:xfrm>
          <a:prstGeom prst="rect">
            <a:avLst/>
          </a:prstGeom>
          <a:noFill/>
          <a:ln/>
        </p:spPr>
        <p:txBody>
          <a:bodyPr wrap="square" lIns="0" tIns="0" rIns="0" bIns="0" rtlCol="0" anchor="ctr"/>
          <a:lstStyle/>
          <a:p>
            <a:pPr algn="ctr" indent="0" marL="0">
              <a:lnSpc>
                <a:spcPct val="125000"/>
              </a:lnSpc>
              <a:buNone/>
            </a:pPr>
            <a:r>
              <a:rPr lang="en-US" sz="2400" b="1" dirty="0">
                <a:solidFill>
                  <a:srgbClr val="2A9D8F"/>
                </a:solidFill>
                <a:latin typeface="Inter" pitchFamily="34" charset="0"/>
                <a:ea typeface="Inter" pitchFamily="34" charset="-122"/>
                <a:cs typeface="Inter" pitchFamily="34" charset="-120"/>
              </a:rPr>
              <a:t>Knowing what a ten-year-old meant to say, and what</a:t>
            </a:r>
            <a:endParaRPr lang="en-US" sz="2400" dirty="0"/>
          </a:p>
          <a:p>
            <a:pPr algn="ctr" indent="0" marL="0">
              <a:lnSpc>
                <a:spcPct val="125000"/>
              </a:lnSpc>
              <a:buNone/>
            </a:pPr>
            <a:r>
              <a:rPr lang="en-US" sz="2400" b="1" dirty="0">
                <a:solidFill>
                  <a:srgbClr val="2A9D8F"/>
                </a:solidFill>
                <a:latin typeface="Inter" pitchFamily="34" charset="0"/>
                <a:ea typeface="Inter" pitchFamily="34" charset="-122"/>
                <a:cs typeface="Inter" pitchFamily="34" charset="-120"/>
              </a:rPr>
              <a:t>they need to hear next: that was never paper. That’s you.</a:t>
            </a:r>
            <a:endParaRPr lang="en-US" sz="2400" dirty="0"/>
          </a:p>
        </p:txBody>
      </p:sp>
      <p:sp>
        <p:nvSpPr>
          <p:cNvPr id="7" name="Text 4"/>
          <p:cNvSpPr/>
          <p:nvPr/>
        </p:nvSpPr>
        <p:spPr>
          <a:xfrm>
            <a:off x="640080" y="5852160"/>
            <a:ext cx="10972800" cy="365760"/>
          </a:xfrm>
          <a:prstGeom prst="rect">
            <a:avLst/>
          </a:prstGeom>
          <a:noFill/>
          <a:ln/>
        </p:spPr>
        <p:txBody>
          <a:bodyPr wrap="square" lIns="0" tIns="0" rIns="0" bIns="0" rtlCol="0" anchor="ctr"/>
          <a:lstStyle/>
          <a:p>
            <a:pPr algn="ctr" indent="0" marL="0">
              <a:buNone/>
            </a:pPr>
            <a:r>
              <a:rPr lang="en-US" sz="1300" spc="200" kern="0" dirty="0">
                <a:solidFill>
                  <a:srgbClr val="9FB2C2"/>
                </a:solidFill>
                <a:latin typeface="Inter" pitchFamily="34" charset="0"/>
                <a:ea typeface="Inter" pitchFamily="34" charset="-122"/>
                <a:cs typeface="Inter" pitchFamily="34" charset="-120"/>
              </a:rPr>
              <a:t>Human teaching. Life-changing tools.</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AI-Ready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Kit 4: AI for Assessment: Rubrics, Feedback, and Question Banks</dc:title>
  <dc:subject>PptxGenJS Presentation</dc:subject>
  <dc:creator>Adam &amp; Katelyn Spinozzi</dc:creator>
  <cp:lastModifiedBy>Adam &amp; Katelyn Spinozzi</cp:lastModifiedBy>
  <cp:revision>1</cp:revision>
  <dcterms:created xsi:type="dcterms:W3CDTF">2026-08-10T10:53:23Z</dcterms:created>
  <dcterms:modified xsi:type="dcterms:W3CDTF">2026-08-10T10:53:23Z</dcterms:modified>
</cp:coreProperties>
</file>