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 1: the One Hard Rule and the review-everything rule are in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Gallup-Walton 2025, 2,232 teachers. The gap between weekly users and non-users is the skill this session teaches.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"is prompting a fad until AI gets smarter?": tools get better at guessing intent, but no tool can guess what only you know: your grade, your students, your constraints, your taste.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stops this hour: the anatomy of a prompt that works, live makeovers of real prompts, learning to iterate instead of settling, and a lab where you build a reusable prompt for a task you do every week. The promise line matters: staff leave with a tool, not notes.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Anthropic’s own documentation ("golden rule of clear prompting"). This is the pre-flight check for every prompt staff ever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OpenAI, Google, Anthropic, and state DOE frameworks (NC’s CRAFT, AI for Education’s Five-S) converge on these same elements. If asked "all four every time?": no; but when output disappoints, the missing part is almost always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 study: 26 prompt-design principles improved GPT-4 response quality by 57.7% on average (accuracy by 36.4%) on the authors' own ATLAS benchmark. Say the scope out loud: this is a benchmark result on one model family, not a measured effect for ordinary classroom prompting. Labeled a preprint in the References. Keep it one beat; don't oversell.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honestly: even a well-iterated, careful prompt can produce a confident factual error that only subject expertise catches. Expertise is the safety net; never lend yours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watch the same request go from beige to usable on our example teacher's screen. Ms. Rivera appears in every kit; she's a composite, not a real teacher, and her screen is the thing to mimic in the lab. Count the four color-coded parts out loud: role in teal, task in navy, context in amber, format in green. Same request, completely different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same screen, same four colors, a completely different job. Point out the Kit 1 rule working alongside the formula: zero student names, and none needed. The situation, not the child. Note the context block is the longest part again; that is the pattern all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leveling spec, part by part: grade level named, key ideas and headings kept, sentence length capped, vocabulary box specified. That is the whole difference between "easier" and a specification. This one saves the most weekly time. Kit 3 goes deep on differentiation; today it’s a formula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escape hatch is the crowd favorite: one line turns a guessing machine into an interviewer. Nothing communicates taste like a pasted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Brisk;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Researchers call these "prompt patterns" (White et al., 2023): documented, reusable solutions. We call it the staff prompt doc.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formalizes Kit 1’s "push back twice" into a system. Content, then voice, then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Knowing when to quit a thread is itself a skill: one round of deciding, not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authors’ shared take from the script: voice matters most in personal communication with parents and students; academic language has its place, but empathetic personal messages should be in the teacher’s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Ms. Rivera builds ONE artifact across all three steps: her weekly review-questions prompt, first draft to saved template. Every step is two slides: the how-to, then her actual screen. Leave her screen up while the room works; anyone lost can copy her structure and still finish. The script’s worked example under slide 20 is a real reusable prompt from a working carpentry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write your prompt with all four parts, and be generous with context. Circulate. Weak prompts usually lack context; nudge with "what would a substitute need to know to do this right?" The next slide is Ms. Rivera's actual screen at this step; leave it up while the room drafts.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one artifact Ms. Rivera carries through all three lab steps, her weekly review questions, on her actual screen. Her first instinct is at the top; what she actually typed is below it, all four parts color-coded. Anyone stuck copies this shape with their own task. Then read the real carpentry CNC table-leg prompt from the script as the worked example (three stacked roles, one task, SVG-for-CNC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two, three rounds in order. Content, then voice, then details. The order matters: fixing wording before content wastes a round. The next slide shows what Ms. Rivera typed in each round; leave it up while the room iterates.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three pushback lines, in order, exactly as she typed them into the same thread. Nothing clever; specific, kind, unafraid. 45-min cut: one round instead of three, then straight to step 3. Lost participants copy her rhythm with their own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three, turn what worked into a template. Replace the specifics with blanks, then paste the final version into the staff prompt doc with your name and a one-line note about what it is for. Confirm there are no student names in it, which is Kit 1's rule still with us. The next slide is her entry in the doc.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same prompt you watched her draft and iterate, with the weekly specifics swapped for blanks and pasted under her name. The four colors survive the swap, which is the point: the structure is the reusable part. Project the staff prompt doc; watching entries appear live is the session’s proudest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person reading their before AND after lets the room hear the delta. Keep each voice to a minute. If the room is shy, read Ms. Rivera's delta yourself: her step 1 draft against her step 3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plainly. The asset is the library plus the habit, not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handout’s spine too. Read it as a rhythm, not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Steady, honest close to the teaching. The next two slides are commitments and what’s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visible nod, same as Kit 1.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rest of the series is available whenever this staff is ready for it. The exit ticket doubles as documentation of this hour; check with your district or state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2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Prompting Basics:</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Getting Useful Results Every Time</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a reusable prompt you built yourself.</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gap: same tools as the weekly savers. The skill is what differs.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HOUR EXISTS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Same tools. Very different results.</a:t>
            </a:r>
            <a:endParaRPr lang="en-US" sz="28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~3 in 10</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teachers use AI weekly,</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saving ~5.9 hours a week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5B6B7A"/>
                </a:solidFill>
                <a:latin typeface="Inter" pitchFamily="34" charset="0"/>
                <a:ea typeface="Inter" pitchFamily="34" charset="-122"/>
                <a:cs typeface="Inter" pitchFamily="34" charset="-120"/>
              </a:rPr>
              <a:t>4 in 10</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don’t use AI at all,</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tools, same access</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survey)</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difference isn’t the technology. It’s a skill: knowing how to ask.</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lesson learned: vague in, beige out. The model only has what she gives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FLASHBACK: PREDICTION MACHINES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Why “just ask” gets beige answers</a:t>
            </a:r>
            <a:endParaRPr lang="en-US" sz="28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model predicts the most likely continuation of your words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vague prompt → the most average answer on the internet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“Write a lesson on fractions” gets you the world’s most generic fractions lesson. Not wrong. Beige.</a:t>
            </a:r>
            <a:endParaRPr lang="en-US" sz="2100" dirty="0"/>
          </a:p>
        </p:txBody>
      </p:sp>
      <p:sp>
        <p:nvSpPr>
          <p:cNvPr id="15" name="Shape 12"/>
          <p:cNvSpPr/>
          <p:nvPr/>
        </p:nvSpPr>
        <p:spPr>
          <a:xfrm>
            <a:off x="640080" y="4023360"/>
            <a:ext cx="10972800" cy="1645920"/>
          </a:xfrm>
          <a:prstGeom prst="roundRect">
            <a:avLst>
              <a:gd name="adj" fmla="val 5000"/>
            </a:avLst>
          </a:prstGeom>
          <a:solidFill>
            <a:srgbClr val="EAF5F3"/>
          </a:solidFill>
          <a:ln w="12700">
            <a:solidFill>
              <a:srgbClr val="EAF5F3"/>
            </a:solidFill>
            <a:prstDash val="solid"/>
          </a:ln>
        </p:spPr>
      </p:sp>
      <p:sp>
        <p:nvSpPr>
          <p:cNvPr id="16" name="Text 13"/>
          <p:cNvSpPr/>
          <p:nvPr/>
        </p:nvSpPr>
        <p:spPr>
          <a:xfrm>
            <a:off x="960120" y="4251960"/>
            <a:ext cx="10332720" cy="118872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The fix isn’t magic words. The fix is information: the model can only use what you give it.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leave owning one reusable prompt for a weekly task.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Anatomy of a prompt that works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Live makeovers: real prompts, fixed</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Iterate, don’t settle</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build your reusable prompt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owning a reusable prompt for a task you do every week. Not theory. Inventory.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pre-flight: would a colleague with zero context get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TEST PREDICTS EVERYTHING</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colleague test</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600" dirty="0">
                <a:solidFill>
                  <a:srgbClr val="C9D4DE"/>
                </a:solidFill>
                <a:latin typeface="Inter" pitchFamily="34" charset="0"/>
                <a:ea typeface="Inter" pitchFamily="34" charset="-122"/>
                <a:cs typeface="Inter" pitchFamily="34" charset="-120"/>
              </a:rPr>
              <a:t>Show your prompt to a colleague with zero context.</a:t>
            </a:r>
            <a:endParaRPr lang="en-US" sz="2600" dirty="0"/>
          </a:p>
          <a:p>
            <a:pPr indent="0" marL="0">
              <a:lnSpc>
                <a:spcPct val="120000"/>
              </a:lnSpc>
              <a:buNone/>
            </a:pPr>
            <a:r>
              <a:rPr lang="en-US" sz="2600" dirty="0">
                <a:solidFill>
                  <a:srgbClr val="C9D4DE"/>
                </a:solidFill>
                <a:latin typeface="Inter" pitchFamily="34" charset="0"/>
                <a:ea typeface="Inter" pitchFamily="34" charset="-122"/>
                <a:cs typeface="Inter" pitchFamily="34" charset="-120"/>
              </a:rPr>
              <a:t>If they’d be confused, the model will be too.</a:t>
            </a:r>
            <a:endParaRPr lang="en-US" sz="2600" dirty="0"/>
          </a:p>
        </p:txBody>
      </p:sp>
      <p:sp>
        <p:nvSpPr>
          <p:cNvPr id="15" name="Text 12"/>
          <p:cNvSpPr/>
          <p:nvPr/>
        </p:nvSpPr>
        <p:spPr>
          <a:xfrm>
            <a:off x="640080" y="4114800"/>
            <a:ext cx="10972800" cy="109728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Treat the AI like a brilliant new hire on day one: enormously capable, knows nothing about your classroom. Write for that new hire.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formula, from now on: Role, Task, Context, Format.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EVERY OFFICIAL GUIDE CONVERGES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Four parts, every time</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Role</a:t>
            </a:r>
            <a:endParaRPr lang="en-US" sz="2200" dirty="0"/>
          </a:p>
        </p:txBody>
      </p:sp>
      <p:sp>
        <p:nvSpPr>
          <p:cNvPr id="16" name="Text 13"/>
          <p:cNvSpPr/>
          <p:nvPr/>
        </p:nvSpPr>
        <p:spPr>
          <a:xfrm>
            <a:off x="91440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Who should the AI be?</a:t>
            </a:r>
            <a:endParaRPr lang="en-US" sz="1600" dirty="0"/>
          </a:p>
        </p:txBody>
      </p:sp>
      <p:sp>
        <p:nvSpPr>
          <p:cNvPr id="17" name="Text 14"/>
          <p:cNvSpPr/>
          <p:nvPr/>
        </p:nvSpPr>
        <p:spPr>
          <a:xfrm>
            <a:off x="91440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“You are an experienced 4th grade teacher.”</a:t>
            </a:r>
            <a:endParaRPr lang="en-US" sz="1450" dirty="0"/>
          </a:p>
        </p:txBody>
      </p:sp>
      <p:sp>
        <p:nvSpPr>
          <p:cNvPr id="18" name="Shape 15"/>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9" name="Text 16"/>
          <p:cNvSpPr/>
          <p:nvPr/>
        </p:nvSpPr>
        <p:spPr>
          <a:xfrm>
            <a:off x="653796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Task</a:t>
            </a:r>
            <a:endParaRPr lang="en-US" sz="2200" dirty="0"/>
          </a:p>
        </p:txBody>
      </p:sp>
      <p:sp>
        <p:nvSpPr>
          <p:cNvPr id="20" name="Text 17"/>
          <p:cNvSpPr/>
          <p:nvPr/>
        </p:nvSpPr>
        <p:spPr>
          <a:xfrm>
            <a:off x="653796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exactly do you want? One clear verb.</a:t>
            </a:r>
            <a:endParaRPr lang="en-US" sz="1600" dirty="0"/>
          </a:p>
        </p:txBody>
      </p:sp>
      <p:sp>
        <p:nvSpPr>
          <p:cNvPr id="21" name="Text 18"/>
          <p:cNvSpPr/>
          <p:nvPr/>
        </p:nvSpPr>
        <p:spPr>
          <a:xfrm>
            <a:off x="653796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“Draft a 45-minute intro lesson…”</a:t>
            </a:r>
            <a:endParaRPr lang="en-US" sz="1450" dirty="0"/>
          </a:p>
        </p:txBody>
      </p:sp>
      <p:sp>
        <p:nvSpPr>
          <p:cNvPr id="22" name="Shape 19"/>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3" name="Text 20"/>
          <p:cNvSpPr/>
          <p:nvPr/>
        </p:nvSpPr>
        <p:spPr>
          <a:xfrm>
            <a:off x="91440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Context</a:t>
            </a:r>
            <a:endParaRPr lang="en-US" sz="2200" dirty="0"/>
          </a:p>
        </p:txBody>
      </p:sp>
      <p:sp>
        <p:nvSpPr>
          <p:cNvPr id="24" name="Text 21"/>
          <p:cNvSpPr/>
          <p:nvPr/>
        </p:nvSpPr>
        <p:spPr>
          <a:xfrm>
            <a:off x="91440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would a substitute need to know?</a:t>
            </a:r>
            <a:endParaRPr lang="en-US" sz="1600" dirty="0"/>
          </a:p>
        </p:txBody>
      </p:sp>
      <p:sp>
        <p:nvSpPr>
          <p:cNvPr id="25" name="Text 22"/>
          <p:cNvSpPr/>
          <p:nvPr/>
        </p:nvSpPr>
        <p:spPr>
          <a:xfrm>
            <a:off x="91440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“They confuse numerator and denominator…”</a:t>
            </a:r>
            <a:endParaRPr lang="en-US" sz="1450" dirty="0"/>
          </a:p>
        </p:txBody>
      </p:sp>
      <p:sp>
        <p:nvSpPr>
          <p:cNvPr id="26" name="Shape 23"/>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7" name="Text 24"/>
          <p:cNvSpPr/>
          <p:nvPr/>
        </p:nvSpPr>
        <p:spPr>
          <a:xfrm>
            <a:off x="653796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Format</a:t>
            </a:r>
            <a:endParaRPr lang="en-US" sz="2200" dirty="0"/>
          </a:p>
        </p:txBody>
      </p:sp>
      <p:sp>
        <p:nvSpPr>
          <p:cNvPr id="28" name="Text 25"/>
          <p:cNvSpPr/>
          <p:nvPr/>
        </p:nvSpPr>
        <p:spPr>
          <a:xfrm>
            <a:off x="653796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should the output look like?</a:t>
            </a:r>
            <a:endParaRPr lang="en-US" sz="1600" dirty="0"/>
          </a:p>
        </p:txBody>
      </p:sp>
      <p:sp>
        <p:nvSpPr>
          <p:cNvPr id="29" name="Text 26"/>
          <p:cNvSpPr/>
          <p:nvPr/>
        </p:nvSpPr>
        <p:spPr>
          <a:xfrm>
            <a:off x="653796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“A table with timings + 3-question exit check.”</a:t>
            </a:r>
            <a:endParaRPr lang="en-US" sz="1450" dirty="0"/>
          </a:p>
        </p:txBody>
      </p:sp>
      <p:sp>
        <p:nvSpPr>
          <p:cNvPr id="30" name="Text 2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Role · Task · Context · Format. Everything else today is practice.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expectation, calibrated: structure buys measurably better output.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MEASURED,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Specific in, specific out</a:t>
            </a:r>
            <a:endParaRPr lang="en-US" sz="3200" dirty="0"/>
          </a:p>
        </p:txBody>
      </p:sp>
      <p:sp>
        <p:nvSpPr>
          <p:cNvPr id="14" name="Shape 11"/>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+50%</a:t>
            </a:r>
            <a:endParaRPr lang="en-US" sz="7200" dirty="0"/>
          </a:p>
        </p:txBody>
      </p:sp>
      <p:sp>
        <p:nvSpPr>
          <p:cNvPr id="16" name="Text 13"/>
          <p:cNvSpPr/>
          <p:nvPr/>
        </p:nvSpPr>
        <p:spPr>
          <a:xfrm>
            <a:off x="1280160" y="3337560"/>
            <a:ext cx="9601200" cy="1143000"/>
          </a:xfrm>
          <a:prstGeom prst="rect">
            <a:avLst/>
          </a:prstGeom>
          <a:noFill/>
          <a:ln/>
        </p:spPr>
        <p:txBody>
          <a:bodyPr wrap="square" lIns="0" tIns="0" rIns="0" bIns="0" rtlCol="0" anchor="ctr"/>
          <a:lstStyle/>
          <a:p>
            <a:pPr algn="ctr" indent="0" marL="0">
              <a:buNone/>
            </a:pPr>
            <a:r>
              <a:rPr lang="en-US" sz="1500" dirty="0">
                <a:solidFill>
                  <a:srgbClr val="1B1F24"/>
                </a:solidFill>
                <a:latin typeface="Inter" pitchFamily="34" charset="0"/>
                <a:ea typeface="Inter" pitchFamily="34" charset="-122"/>
                <a:cs typeface="Inter" pitchFamily="34" charset="-120"/>
              </a:rPr>
              <a:t>On the benchmark its authors built, a set of 26 prompt-design principles raised GPT-4 response-quality scores by about 58%. One benchmark, not a universal rule, but the direction is clear. (Bsharat et al., 2024, preprint)</a:t>
            </a:r>
            <a:endParaRPr lang="en-US" sz="1500" dirty="0"/>
          </a:p>
        </p:txBody>
      </p:sp>
      <p:sp>
        <p:nvSpPr>
          <p:cNvPr id="17" name="Text 14"/>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The formula is just a reliable way to be specific.</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caveat, permanent: no prompt turns off hallucination. She still verifies.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HONEST LIMITS, BEFORE THE MAKEOVERS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one thing prompts can’t fix</a:t>
            </a:r>
            <a:endParaRPr lang="en-US" sz="28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No prompt turns off hallucination. A beautifully structured prompt can still invent a fact, with total confidence.</a:t>
            </a:r>
            <a:endParaRPr lang="en-US" sz="2400" dirty="0"/>
          </a:p>
        </p:txBody>
      </p:sp>
      <p:sp>
        <p:nvSpPr>
          <p:cNvPr id="16" name="Text 13"/>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Prompting improves quality and fit; it does not replace verification</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Kit 1 rule rides along forever: anything factual gets checked before you rely on it</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#1 · PLANNING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lesson plan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lesson on fractions.”</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Draft a 45-minute introductory lesson on equivalent fractions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for a class that has mastered basic fraction notation but confuses numerator and denominator when simplifying. Include a 5-minute warm-up, a hands-on activity using paper folding, and a 3-question exit check.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as a table with timings.”</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AI: drafting the table…</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#2 · COMMUNICATION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family note (no names needed)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note to parents about the field trip.”</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 warm, organized elementary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Write a note to families about an upcoming museum field trip.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Context: departure 8:30 a.m., return by 2 p.m., students need a bagged lunch and a signed permission slip by Friday. Reading level: busy families skimming on a phone.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under 150 words, three action items as a bulleted list.”</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Zero student names, and none needed. Her note-home prompt is about the situation, never the child.</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#3 · DIFFERENTIATION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leveled text</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this easier.”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Rewrite this passage at a 3rd grade reading level.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Keep every key idea and the section headings; this goes to the readers in my room who are a year below grade level.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Sentence length under 12 words where possible. Then add a 5-word vocabulary box with student-friendly definitions.”  [paste your passage]</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The difference between “easier” and a specification is the difference between hoping and knowing.</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spice rack: constraints, audience, an example, 'ask me questions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SMALL INGREDIENTS, BIG UPGRADES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spice rack</a:t>
            </a:r>
            <a:endParaRPr lang="en-US" sz="3200" dirty="0"/>
          </a:p>
        </p:txBody>
      </p:sp>
      <p:sp>
        <p:nvSpPr>
          <p:cNvPr id="14" name="Shape 11"/>
          <p:cNvSpPr/>
          <p:nvPr/>
        </p:nvSpPr>
        <p:spPr>
          <a:xfrm>
            <a:off x="640080" y="1463040"/>
            <a:ext cx="5349240" cy="178308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91440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Constraints</a:t>
            </a:r>
            <a:endParaRPr lang="en-US" sz="2000" dirty="0"/>
          </a:p>
        </p:txBody>
      </p:sp>
      <p:sp>
        <p:nvSpPr>
          <p:cNvPr id="16" name="Text 13"/>
          <p:cNvSpPr/>
          <p:nvPr/>
        </p:nvSpPr>
        <p:spPr>
          <a:xfrm>
            <a:off x="91440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“Under 150 words” · “exactly five questions” · “nothing that needs a copier”</a:t>
            </a:r>
            <a:endParaRPr lang="en-US" sz="1550" dirty="0"/>
          </a:p>
        </p:txBody>
      </p:sp>
      <p:sp>
        <p:nvSpPr>
          <p:cNvPr id="17" name="Shape 14"/>
          <p:cNvSpPr/>
          <p:nvPr/>
        </p:nvSpPr>
        <p:spPr>
          <a:xfrm>
            <a:off x="6263640" y="1463040"/>
            <a:ext cx="5349240" cy="1783080"/>
          </a:xfrm>
          <a:prstGeom prst="roundRect">
            <a:avLst>
              <a:gd name="adj" fmla="val 4615"/>
            </a:avLst>
          </a:prstGeom>
          <a:solidFill>
            <a:srgbClr val="F7F5F0"/>
          </a:solidFill>
          <a:ln w="12700">
            <a:solidFill>
              <a:srgbClr val="F7F5F0"/>
            </a:solidFill>
            <a:prstDash val="solid"/>
          </a:ln>
        </p:spPr>
      </p:sp>
      <p:sp>
        <p:nvSpPr>
          <p:cNvPr id="18" name="Text 15"/>
          <p:cNvSpPr/>
          <p:nvPr/>
        </p:nvSpPr>
        <p:spPr>
          <a:xfrm>
            <a:off x="653796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Audience</a:t>
            </a:r>
            <a:endParaRPr lang="en-US" sz="2000" dirty="0"/>
          </a:p>
        </p:txBody>
      </p:sp>
      <p:sp>
        <p:nvSpPr>
          <p:cNvPr id="19" name="Text 16"/>
          <p:cNvSpPr/>
          <p:nvPr/>
        </p:nvSpPr>
        <p:spPr>
          <a:xfrm>
            <a:off x="653796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“For students who’ve never seen this word” · “for families skimming on a phone”</a:t>
            </a:r>
            <a:endParaRPr lang="en-US" sz="1550" dirty="0"/>
          </a:p>
        </p:txBody>
      </p:sp>
      <p:sp>
        <p:nvSpPr>
          <p:cNvPr id="20" name="Shape 17"/>
          <p:cNvSpPr/>
          <p:nvPr/>
        </p:nvSpPr>
        <p:spPr>
          <a:xfrm>
            <a:off x="640080" y="3429000"/>
            <a:ext cx="5349240" cy="1783080"/>
          </a:xfrm>
          <a:prstGeom prst="roundRect">
            <a:avLst>
              <a:gd name="adj" fmla="val 4615"/>
            </a:avLst>
          </a:prstGeom>
          <a:solidFill>
            <a:srgbClr val="F7F5F0"/>
          </a:solidFill>
          <a:ln w="12700">
            <a:solidFill>
              <a:srgbClr val="F7F5F0"/>
            </a:solidFill>
            <a:prstDash val="solid"/>
          </a:ln>
        </p:spPr>
      </p:sp>
      <p:sp>
        <p:nvSpPr>
          <p:cNvPr id="21" name="Text 18"/>
          <p:cNvSpPr/>
          <p:nvPr/>
        </p:nvSpPr>
        <p:spPr>
          <a:xfrm>
            <a:off x="91440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An example</a:t>
            </a:r>
            <a:endParaRPr lang="en-US" sz="2000" dirty="0"/>
          </a:p>
        </p:txBody>
      </p:sp>
      <p:sp>
        <p:nvSpPr>
          <p:cNvPr id="22" name="Text 19"/>
          <p:cNvSpPr/>
          <p:nvPr/>
        </p:nvSpPr>
        <p:spPr>
          <a:xfrm>
            <a:off x="91440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Paste one sample in the style you want: “match this style”</a:t>
            </a:r>
            <a:endParaRPr lang="en-US" sz="1550" dirty="0"/>
          </a:p>
        </p:txBody>
      </p:sp>
      <p:sp>
        <p:nvSpPr>
          <p:cNvPr id="23" name="Shape 20"/>
          <p:cNvSpPr/>
          <p:nvPr/>
        </p:nvSpPr>
        <p:spPr>
          <a:xfrm>
            <a:off x="6263640" y="3429000"/>
            <a:ext cx="5349240" cy="1783080"/>
          </a:xfrm>
          <a:prstGeom prst="roundRect">
            <a:avLst>
              <a:gd name="adj" fmla="val 4615"/>
            </a:avLst>
          </a:prstGeom>
          <a:solidFill>
            <a:srgbClr val="F7F5F0"/>
          </a:solidFill>
          <a:ln w="12700">
            <a:solidFill>
              <a:srgbClr val="F7F5F0"/>
            </a:solidFill>
            <a:prstDash val="solid"/>
          </a:ln>
        </p:spPr>
      </p:sp>
      <p:sp>
        <p:nvSpPr>
          <p:cNvPr id="24" name="Text 21"/>
          <p:cNvSpPr/>
          <p:nvPr/>
        </p:nvSpPr>
        <p:spPr>
          <a:xfrm>
            <a:off x="653796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Escape hatch</a:t>
            </a:r>
            <a:endParaRPr lang="en-US" sz="2000" dirty="0"/>
          </a:p>
        </p:txBody>
      </p:sp>
      <p:sp>
        <p:nvSpPr>
          <p:cNvPr id="25" name="Text 22"/>
          <p:cNvSpPr/>
          <p:nvPr/>
        </p:nvSpPr>
        <p:spPr>
          <a:xfrm>
            <a:off x="653796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“Ask me up to three clarifying questions before you start.”</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diagnosis eye: when output disappoints, context is usually missing.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WHAT’S MISSING?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Diagnose the prompt</a:t>
            </a:r>
            <a:endParaRPr lang="en-US" sz="3200" dirty="0"/>
          </a:p>
        </p:txBody>
      </p:sp>
      <p:sp>
        <p:nvSpPr>
          <p:cNvPr id="14" name="Shape 11"/>
          <p:cNvSpPr/>
          <p:nvPr/>
        </p:nvSpPr>
        <p:spPr>
          <a:xfrm>
            <a:off x="640080" y="1371600"/>
            <a:ext cx="685800" cy="91440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371600"/>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371600"/>
            <a:ext cx="10149840" cy="914400"/>
          </a:xfrm>
          <a:prstGeom prst="roundRect">
            <a:avLst>
              <a:gd name="adj" fmla="val 9000"/>
            </a:avLst>
          </a:prstGeom>
          <a:solidFill>
            <a:srgbClr val="F7F5F0"/>
          </a:solidFill>
          <a:ln w="12700">
            <a:solidFill>
              <a:srgbClr val="F7F5F0"/>
            </a:solidFill>
            <a:prstDash val="solid"/>
          </a:ln>
        </p:spPr>
      </p:sp>
      <p:sp>
        <p:nvSpPr>
          <p:cNvPr id="17" name="Text 14"/>
          <p:cNvSpPr/>
          <p:nvPr/>
        </p:nvSpPr>
        <p:spPr>
          <a:xfrm>
            <a:off x="1737360" y="1417320"/>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“Write a quiz about the Revolution.”</a:t>
            </a:r>
            <a:endParaRPr lang="en-US" sz="1550" dirty="0"/>
          </a:p>
        </p:txBody>
      </p:sp>
      <p:sp>
        <p:nvSpPr>
          <p:cNvPr id="18" name="Shape 15"/>
          <p:cNvSpPr/>
          <p:nvPr/>
        </p:nvSpPr>
        <p:spPr>
          <a:xfrm>
            <a:off x="640080" y="2487168"/>
            <a:ext cx="685800" cy="91440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87168"/>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87168"/>
            <a:ext cx="1014984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1737360" y="2532888"/>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“Help me with my struggling readers.”</a:t>
            </a:r>
            <a:endParaRPr lang="en-US" sz="1550" dirty="0"/>
          </a:p>
        </p:txBody>
      </p:sp>
      <p:sp>
        <p:nvSpPr>
          <p:cNvPr id="22" name="Shape 19"/>
          <p:cNvSpPr/>
          <p:nvPr/>
        </p:nvSpPr>
        <p:spPr>
          <a:xfrm>
            <a:off x="640080" y="3602736"/>
            <a:ext cx="685800" cy="91440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602736"/>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602736"/>
            <a:ext cx="10149840" cy="914400"/>
          </a:xfrm>
          <a:prstGeom prst="roundRect">
            <a:avLst>
              <a:gd name="adj" fmla="val 9000"/>
            </a:avLst>
          </a:prstGeom>
          <a:solidFill>
            <a:srgbClr val="F7F5F0"/>
          </a:solidFill>
          <a:ln w="12700">
            <a:solidFill>
              <a:srgbClr val="F7F5F0"/>
            </a:solidFill>
            <a:prstDash val="solid"/>
          </a:ln>
        </p:spPr>
      </p:sp>
      <p:sp>
        <p:nvSpPr>
          <p:cNvPr id="25" name="Text 22"/>
          <p:cNvSpPr/>
          <p:nvPr/>
        </p:nvSpPr>
        <p:spPr>
          <a:xfrm>
            <a:off x="1737360" y="3648456"/>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“Photosynthesis.”</a:t>
            </a:r>
            <a:endParaRPr lang="en-US" sz="1550" dirty="0"/>
          </a:p>
        </p:txBody>
      </p:sp>
      <p:sp>
        <p:nvSpPr>
          <p:cNvPr id="26" name="Shape 23"/>
          <p:cNvSpPr/>
          <p:nvPr/>
        </p:nvSpPr>
        <p:spPr>
          <a:xfrm>
            <a:off x="640080" y="4718304"/>
            <a:ext cx="685800" cy="91440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718304"/>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718304"/>
            <a:ext cx="10149840" cy="914400"/>
          </a:xfrm>
          <a:prstGeom prst="roundRect">
            <a:avLst>
              <a:gd name="adj" fmla="val 9000"/>
            </a:avLst>
          </a:prstGeom>
          <a:solidFill>
            <a:srgbClr val="F7F5F0"/>
          </a:solidFill>
          <a:ln w="12700">
            <a:solidFill>
              <a:srgbClr val="F7F5F0"/>
            </a:solidFill>
            <a:prstDash val="solid"/>
          </a:ln>
        </p:spPr>
      </p:sp>
      <p:sp>
        <p:nvSpPr>
          <p:cNvPr id="29" name="Text 26"/>
          <p:cNvSpPr/>
          <p:nvPr/>
        </p:nvSpPr>
        <p:spPr>
          <a:xfrm>
            <a:off x="1737360" y="4764024"/>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“You are a middle school science teacher. Create a 10-question review on photosynthesis for 7th graders who confuse it with respiration. Mix multiple choice and short answer. Include an answer key.”</a:t>
            </a:r>
            <a:endParaRPr lang="en-US" sz="1550" dirty="0"/>
          </a:p>
        </p:txBody>
      </p:sp>
      <p:sp>
        <p:nvSpPr>
          <p:cNvPr id="30" name="Text 27"/>
          <p:cNvSpPr/>
          <p:nvPr/>
        </p:nvSpPr>
        <p:spPr>
          <a:xfrm>
            <a:off x="640080" y="5870448"/>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missing context (grade? focus?) · B missing format (what should "help" look like?) · C missing the task itself · D has all four parts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template: blanks for topic, grade, count, format. Twenty seconds to reuse.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NOBODY WRITES FROM SCRATCH AT 7 A.M.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Templates beat memory</a:t>
            </a:r>
            <a:endParaRPr lang="en-US" sz="3200" dirty="0"/>
          </a:p>
        </p:txBody>
      </p:sp>
      <p:sp>
        <p:nvSpPr>
          <p:cNvPr id="14" name="Shape 11"/>
          <p:cNvSpPr/>
          <p:nvPr/>
        </p:nvSpPr>
        <p:spPr>
          <a:xfrm>
            <a:off x="640080" y="1554480"/>
            <a:ext cx="10972800" cy="2286000"/>
          </a:xfrm>
          <a:prstGeom prst="roundRect">
            <a:avLst>
              <a:gd name="adj" fmla="val 3600"/>
            </a:avLst>
          </a:prstGeom>
          <a:solidFill>
            <a:srgbClr val="EAF5F3"/>
          </a:solidFill>
          <a:ln w="12700">
            <a:solidFill>
              <a:srgbClr val="EAF5F3"/>
            </a:solidFill>
            <a:prstDash val="solid"/>
          </a:ln>
        </p:spPr>
      </p:sp>
      <p:sp>
        <p:nvSpPr>
          <p:cNvPr id="15" name="Text 12"/>
          <p:cNvSpPr/>
          <p:nvPr/>
        </p:nvSpPr>
        <p:spPr>
          <a:xfrm>
            <a:off x="1005840" y="1828800"/>
            <a:ext cx="10241280" cy="1737360"/>
          </a:xfrm>
          <a:prstGeom prst="rect">
            <a:avLst/>
          </a:prstGeom>
          <a:noFill/>
          <a:ln/>
        </p:spPr>
        <p:txBody>
          <a:bodyPr wrap="square" lIns="0" tIns="0" rIns="0" bIns="0" rtlCol="0" anchor="ctr"/>
          <a:lstStyle/>
          <a:p>
            <a:pPr indent="0" marL="0">
              <a:buNone/>
            </a:pPr>
            <a:r>
              <a:rPr lang="en-US" sz="2100" i="1" dirty="0">
                <a:solidFill>
                  <a:srgbClr val="13293D"/>
                </a:solidFill>
                <a:latin typeface="Inter" pitchFamily="34" charset="0"/>
                <a:ea typeface="Inter" pitchFamily="34" charset="-122"/>
                <a:cs typeface="Inter" pitchFamily="34" charset="-120"/>
              </a:rPr>
              <a:t>“You are a [grade/subject] teacher. Create a [number]-question review on [topic] for students who [what they struggle with]. Format: [format]. Include an answer key.”</a:t>
            </a:r>
            <a:endParaRPr lang="en-US" sz="2100" dirty="0"/>
          </a:p>
        </p:txBody>
      </p:sp>
      <p:sp>
        <p:nvSpPr>
          <p:cNvPr id="16" name="Text 13"/>
          <p:cNvSpPr/>
          <p:nvPr/>
        </p:nvSpPr>
        <p:spPr>
          <a:xfrm>
            <a:off x="640080" y="4114800"/>
            <a:ext cx="10908792" cy="17373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Four blanks, twenty seconds, done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Today’s lab builds your first one</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staff prompt doc is where they live: nobody solves the same problem twice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iteration rounds, in order: content, then voice, then details.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MINDSET SHIFT</a:t>
            </a:r>
            <a:endParaRPr lang="en-US" sz="1200" dirty="0"/>
          </a:p>
        </p:txBody>
      </p:sp>
      <p:sp>
        <p:nvSpPr>
          <p:cNvPr id="13" name="Text 10"/>
          <p:cNvSpPr/>
          <p:nvPr/>
        </p:nvSpPr>
        <p:spPr>
          <a:xfrm>
            <a:off x="640080" y="1645920"/>
            <a:ext cx="10972800" cy="1554480"/>
          </a:xfrm>
          <a:prstGeom prst="rect">
            <a:avLst/>
          </a:prstGeom>
          <a:noFill/>
          <a:ln/>
        </p:spPr>
        <p:txBody>
          <a:bodyPr wrap="square" lIns="0" tIns="0" rIns="0" bIns="0" rtlCol="0" anchor="ctr"/>
          <a:lstStyle/>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The first response is not the answer.</a:t>
            </a:r>
            <a:endParaRPr lang="en-US" sz="3800" dirty="0"/>
          </a:p>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It’s a proposal.</a:t>
            </a:r>
            <a:endParaRPr lang="en-US" sz="3800" dirty="0"/>
          </a:p>
        </p:txBody>
      </p:sp>
      <p:sp>
        <p:nvSpPr>
          <p:cNvPr id="14" name="Text 11"/>
          <p:cNvSpPr/>
          <p:nvPr/>
        </p:nvSpPr>
        <p:spPr>
          <a:xfrm>
            <a:off x="640080" y="3474720"/>
            <a:ext cx="10972800" cy="365760"/>
          </a:xfrm>
          <a:prstGeom prst="rect">
            <a:avLst/>
          </a:prstGeom>
          <a:noFill/>
          <a:ln/>
        </p:spPr>
        <p:txBody>
          <a:bodyPr wrap="square" lIns="0" tIns="0" rIns="0" bIns="0" rtlCol="0" anchor="ctr"/>
          <a:lstStyle/>
          <a:p>
            <a:pPr indent="0" marL="0">
              <a:buNone/>
            </a:pPr>
            <a:r>
              <a:rPr lang="en-US" sz="1800" dirty="0">
                <a:solidFill>
                  <a:srgbClr val="9FB2C2"/>
                </a:solidFill>
                <a:latin typeface="Inter" pitchFamily="34" charset="0"/>
                <a:ea typeface="Inter" pitchFamily="34" charset="-122"/>
                <a:cs typeface="Inter" pitchFamily="34" charset="-120"/>
              </a:rPr>
              <a:t>Three rounds, in order:</a:t>
            </a:r>
            <a:endParaRPr lang="en-US" sz="1800" dirty="0"/>
          </a:p>
        </p:txBody>
      </p:sp>
      <p:sp>
        <p:nvSpPr>
          <p:cNvPr id="15" name="Text 12"/>
          <p:cNvSpPr/>
          <p:nvPr/>
        </p:nvSpPr>
        <p:spPr>
          <a:xfrm>
            <a:off x="822960" y="3977640"/>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1 · Content</a:t>
            </a:r>
            <a:endParaRPr lang="en-US" sz="2000" dirty="0"/>
          </a:p>
        </p:txBody>
      </p:sp>
      <p:sp>
        <p:nvSpPr>
          <p:cNvPr id="16" name="Text 13"/>
          <p:cNvSpPr/>
          <p:nvPr/>
        </p:nvSpPr>
        <p:spPr>
          <a:xfrm>
            <a:off x="3017520" y="3977640"/>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“Question 4 is too hard for the start of the unit.”</a:t>
            </a:r>
            <a:endParaRPr lang="en-US" sz="1800" dirty="0"/>
          </a:p>
        </p:txBody>
      </p:sp>
      <p:sp>
        <p:nvSpPr>
          <p:cNvPr id="17" name="Text 14"/>
          <p:cNvSpPr/>
          <p:nvPr/>
        </p:nvSpPr>
        <p:spPr>
          <a:xfrm>
            <a:off x="822960" y="4690872"/>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2 · Voice</a:t>
            </a:r>
            <a:endParaRPr lang="en-US" sz="2000" dirty="0"/>
          </a:p>
        </p:txBody>
      </p:sp>
      <p:sp>
        <p:nvSpPr>
          <p:cNvPr id="18" name="Text 15"/>
          <p:cNvSpPr/>
          <p:nvPr/>
        </p:nvSpPr>
        <p:spPr>
          <a:xfrm>
            <a:off x="3017520" y="4690872"/>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“Warmer. I’d never say ‘furthermore.’”</a:t>
            </a:r>
            <a:endParaRPr lang="en-US" sz="1800" dirty="0"/>
          </a:p>
        </p:txBody>
      </p:sp>
      <p:sp>
        <p:nvSpPr>
          <p:cNvPr id="19" name="Text 16"/>
          <p:cNvSpPr/>
          <p:nvPr/>
        </p:nvSpPr>
        <p:spPr>
          <a:xfrm>
            <a:off x="822960" y="5404104"/>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3 · Details</a:t>
            </a:r>
            <a:endParaRPr lang="en-US" sz="2000" dirty="0"/>
          </a:p>
        </p:txBody>
      </p:sp>
      <p:sp>
        <p:nvSpPr>
          <p:cNvPr id="20" name="Text 17"/>
          <p:cNvSpPr/>
          <p:nvPr/>
        </p:nvSpPr>
        <p:spPr>
          <a:xfrm>
            <a:off x="3017520" y="5404104"/>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“Shorten by a third; number the directions.”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judgment call: 80% right, iterate. Wrong thing entirely, fresh prompt.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JUDGMENT CALL</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Iterate, or start over?</a:t>
            </a:r>
            <a:endParaRPr lang="en-US" sz="3200" dirty="0"/>
          </a:p>
        </p:txBody>
      </p:sp>
      <p:sp>
        <p:nvSpPr>
          <p:cNvPr id="14" name="Shape 11"/>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100" b="1" dirty="0">
                <a:solidFill>
                  <a:srgbClr val="2E7D5B"/>
                </a:solidFill>
                <a:latin typeface="Inter" pitchFamily="34" charset="0"/>
                <a:ea typeface="Inter" pitchFamily="34" charset="-122"/>
                <a:cs typeface="Inter" pitchFamily="34" charset="-120"/>
              </a:rPr>
              <a:t>Iterate when…</a:t>
            </a:r>
            <a:endParaRPr lang="en-US" sz="2100" dirty="0"/>
          </a:p>
        </p:txBody>
      </p:sp>
      <p:sp>
        <p:nvSpPr>
          <p:cNvPr id="16" name="Text 13"/>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the draft is ~80% right. Fix content, then voice, then details. Two or three rounds, done.</a:t>
            </a:r>
            <a:endParaRPr lang="en-US" sz="1800" dirty="0"/>
          </a:p>
        </p:txBody>
      </p:sp>
      <p:sp>
        <p:nvSpPr>
          <p:cNvPr id="17" name="Shape 14"/>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Start over when…</a:t>
            </a:r>
            <a:endParaRPr lang="en-US" sz="2100" dirty="0"/>
          </a:p>
        </p:txBody>
      </p:sp>
      <p:sp>
        <p:nvSpPr>
          <p:cNvPr id="19" name="Text 16"/>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it’s fundamentally the wrong thing. Don’t argue with it for ten minutes; open a fresh prompt and fold what you learned into the context.</a:t>
            </a:r>
            <a:endParaRPr lang="en-US" sz="18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 time matters more than the tool’s feelings. It doesn’t have any.</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voice check: read it aloud; if it isn't her, she says 'warmer' or 'blunter.'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LAST ROUND IS ALWAYS THE VOICE ROUND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Keep your voice</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AI output has a house style: smooth, agreeable, a little beige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If everything you send home sounds like everything everyone else sends home, families notice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Read it aloud. If it doesn’t sound like you, say so: “Blunter.” “Warmer.”</a:t>
            </a:r>
            <a:endParaRPr lang="en-US" sz="2100" dirty="0"/>
          </a:p>
        </p:txBody>
      </p:sp>
      <p:sp>
        <p:nvSpPr>
          <p:cNvPr id="15" name="Shape 12"/>
          <p:cNvSpPr/>
          <p:nvPr/>
        </p:nvSpPr>
        <p:spPr>
          <a:xfrm>
            <a:off x="640080" y="4114800"/>
            <a:ext cx="10972800" cy="1463040"/>
          </a:xfrm>
          <a:prstGeom prst="roundRect">
            <a:avLst>
              <a:gd name="adj" fmla="val 5625"/>
            </a:avLst>
          </a:prstGeom>
          <a:solidFill>
            <a:srgbClr val="EAF5F3"/>
          </a:solidFill>
          <a:ln w="12700">
            <a:solidFill>
              <a:srgbClr val="EAF5F3"/>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Your voice is a feature. Keep it.</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prompt through every step: her weekly review questions.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~19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build a tool, not a toy.</a:t>
            </a:r>
            <a:endParaRPr lang="en-US" sz="4200" dirty="0"/>
          </a:p>
        </p:txBody>
      </p:sp>
      <p:sp>
        <p:nvSpPr>
          <p:cNvPr id="14" name="Text 11"/>
          <p:cNvSpPr/>
          <p:nvPr/>
        </p:nvSpPr>
        <p:spPr>
          <a:xfrm>
            <a:off x="640080" y="2377440"/>
            <a:ext cx="10972800" cy="9144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one task you do every week: the Friday newsletter, the weekly quiz, leveling a reading, station directions. Ms. Rivera builds hers on screen the whole way: one prompt for her weekly review questions.</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we practice like we play</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with all four parts; be generous with context</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You’ll iterate three rounds, then save the template</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1: about to draft it with all four parts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with the formula</a:t>
            </a:r>
            <a:endParaRPr lang="en-US" sz="3200" dirty="0"/>
          </a:p>
        </p:txBody>
      </p:sp>
      <p:sp>
        <p:nvSpPr>
          <p:cNvPr id="14" name="Shape 11"/>
          <p:cNvSpPr/>
          <p:nvPr/>
        </p:nvSpPr>
        <p:spPr>
          <a:xfrm>
            <a:off x="640080" y="1508760"/>
            <a:ext cx="10972800" cy="822960"/>
          </a:xfrm>
          <a:prstGeom prst="roundRect">
            <a:avLst>
              <a:gd name="adj" fmla="val 10000"/>
            </a:avLst>
          </a:prstGeom>
          <a:solidFill>
            <a:srgbClr val="F7F5F0"/>
          </a:solidFill>
          <a:ln w="12700">
            <a:solidFill>
              <a:srgbClr val="F7F5F0"/>
            </a:solidFill>
            <a:prstDash val="solid"/>
          </a:ln>
        </p:spPr>
      </p:sp>
      <p:sp>
        <p:nvSpPr>
          <p:cNvPr id="15" name="Text 12"/>
          <p:cNvSpPr/>
          <p:nvPr/>
        </p:nvSpPr>
        <p:spPr>
          <a:xfrm>
            <a:off x="960120" y="150876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Role</a:t>
            </a:r>
            <a:endParaRPr lang="en-US" sz="2000" dirty="0"/>
          </a:p>
        </p:txBody>
      </p:sp>
      <p:sp>
        <p:nvSpPr>
          <p:cNvPr id="16" name="Text 13"/>
          <p:cNvSpPr/>
          <p:nvPr/>
        </p:nvSpPr>
        <p:spPr>
          <a:xfrm>
            <a:off x="2560320" y="150876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Who should the AI be? Name the expertise you want in the room.</a:t>
            </a:r>
            <a:endParaRPr lang="en-US" sz="1700" dirty="0"/>
          </a:p>
        </p:txBody>
      </p:sp>
      <p:sp>
        <p:nvSpPr>
          <p:cNvPr id="17" name="Shape 14"/>
          <p:cNvSpPr/>
          <p:nvPr/>
        </p:nvSpPr>
        <p:spPr>
          <a:xfrm>
            <a:off x="640080" y="2468880"/>
            <a:ext cx="10972800" cy="822960"/>
          </a:xfrm>
          <a:prstGeom prst="roundRect">
            <a:avLst>
              <a:gd name="adj" fmla="val 10000"/>
            </a:avLst>
          </a:prstGeom>
          <a:solidFill>
            <a:srgbClr val="F7F5F0"/>
          </a:solidFill>
          <a:ln w="12700">
            <a:solidFill>
              <a:srgbClr val="F7F5F0"/>
            </a:solidFill>
            <a:prstDash val="solid"/>
          </a:ln>
        </p:spPr>
      </p:sp>
      <p:sp>
        <p:nvSpPr>
          <p:cNvPr id="18" name="Text 15"/>
          <p:cNvSpPr/>
          <p:nvPr/>
        </p:nvSpPr>
        <p:spPr>
          <a:xfrm>
            <a:off x="960120" y="246888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Task</a:t>
            </a:r>
            <a:endParaRPr lang="en-US" sz="2000" dirty="0"/>
          </a:p>
        </p:txBody>
      </p:sp>
      <p:sp>
        <p:nvSpPr>
          <p:cNvPr id="19" name="Text 16"/>
          <p:cNvSpPr/>
          <p:nvPr/>
        </p:nvSpPr>
        <p:spPr>
          <a:xfrm>
            <a:off x="2560320" y="246888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One clear verb. What exactly do you want made?</a:t>
            </a:r>
            <a:endParaRPr lang="en-US" sz="1700" dirty="0"/>
          </a:p>
        </p:txBody>
      </p:sp>
      <p:sp>
        <p:nvSpPr>
          <p:cNvPr id="20" name="Shape 17"/>
          <p:cNvSpPr/>
          <p:nvPr/>
        </p:nvSpPr>
        <p:spPr>
          <a:xfrm>
            <a:off x="640080" y="3429000"/>
            <a:ext cx="10972800" cy="822960"/>
          </a:xfrm>
          <a:prstGeom prst="roundRect">
            <a:avLst>
              <a:gd name="adj" fmla="val 10000"/>
            </a:avLst>
          </a:prstGeom>
          <a:solidFill>
            <a:srgbClr val="F7F5F0"/>
          </a:solidFill>
          <a:ln w="12700">
            <a:solidFill>
              <a:srgbClr val="F7F5F0"/>
            </a:solidFill>
            <a:prstDash val="solid"/>
          </a:ln>
        </p:spPr>
      </p:sp>
      <p:sp>
        <p:nvSpPr>
          <p:cNvPr id="21" name="Text 18"/>
          <p:cNvSpPr/>
          <p:nvPr/>
        </p:nvSpPr>
        <p:spPr>
          <a:xfrm>
            <a:off x="960120" y="342900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Context</a:t>
            </a:r>
            <a:endParaRPr lang="en-US" sz="2000" dirty="0"/>
          </a:p>
        </p:txBody>
      </p:sp>
      <p:sp>
        <p:nvSpPr>
          <p:cNvPr id="22" name="Text 19"/>
          <p:cNvSpPr/>
          <p:nvPr/>
        </p:nvSpPr>
        <p:spPr>
          <a:xfrm>
            <a:off x="2560320" y="342900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What would a substitute need to know to do this right? Be generous here.</a:t>
            </a:r>
            <a:endParaRPr lang="en-US" sz="1700" dirty="0"/>
          </a:p>
        </p:txBody>
      </p:sp>
      <p:sp>
        <p:nvSpPr>
          <p:cNvPr id="23" name="Shape 20"/>
          <p:cNvSpPr/>
          <p:nvPr/>
        </p:nvSpPr>
        <p:spPr>
          <a:xfrm>
            <a:off x="640080" y="4389120"/>
            <a:ext cx="10972800" cy="822960"/>
          </a:xfrm>
          <a:prstGeom prst="roundRect">
            <a:avLst>
              <a:gd name="adj" fmla="val 10000"/>
            </a:avLst>
          </a:prstGeom>
          <a:solidFill>
            <a:srgbClr val="F7F5F0"/>
          </a:solidFill>
          <a:ln w="12700">
            <a:solidFill>
              <a:srgbClr val="F7F5F0"/>
            </a:solidFill>
            <a:prstDash val="solid"/>
          </a:ln>
        </p:spPr>
      </p:sp>
      <p:sp>
        <p:nvSpPr>
          <p:cNvPr id="24" name="Text 21"/>
          <p:cNvSpPr/>
          <p:nvPr/>
        </p:nvSpPr>
        <p:spPr>
          <a:xfrm>
            <a:off x="960120" y="438912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Format</a:t>
            </a:r>
            <a:endParaRPr lang="en-US" sz="2000" dirty="0"/>
          </a:p>
        </p:txBody>
      </p:sp>
      <p:sp>
        <p:nvSpPr>
          <p:cNvPr id="25" name="Text 22"/>
          <p:cNvSpPr/>
          <p:nvPr/>
        </p:nvSpPr>
        <p:spPr>
          <a:xfrm>
            <a:off x="2560320" y="438912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Exactly what the output should look like: length, layout, answer key.</a:t>
            </a:r>
            <a:endParaRPr lang="en-US" sz="1700" dirty="0"/>
          </a:p>
        </p:txBody>
      </p:sp>
      <p:sp>
        <p:nvSpPr>
          <p:cNvPr id="26" name="Shape 23"/>
          <p:cNvSpPr/>
          <p:nvPr/>
        </p:nvSpPr>
        <p:spPr>
          <a:xfrm>
            <a:off x="640080" y="5349240"/>
            <a:ext cx="10972800" cy="777240"/>
          </a:xfrm>
          <a:prstGeom prst="roundRect">
            <a:avLst>
              <a:gd name="adj" fmla="val 10588"/>
            </a:avLst>
          </a:prstGeom>
          <a:solidFill>
            <a:srgbClr val="EAF5F3"/>
          </a:solidFill>
          <a:ln w="12700">
            <a:solidFill>
              <a:srgbClr val="EAF5F3"/>
            </a:solidFill>
            <a:prstDash val="solid"/>
          </a:ln>
        </p:spPr>
      </p:sp>
      <p:sp>
        <p:nvSpPr>
          <p:cNvPr id="27" name="Text 24"/>
          <p:cNvSpPr/>
          <p:nvPr/>
        </p:nvSpPr>
        <p:spPr>
          <a:xfrm>
            <a:off x="960120" y="5349240"/>
            <a:ext cx="1033272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Ground rule: no student information. Run it once, then read the draft like an editor, not a fan.</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ON MS. RIVERA'S SCREEN · DRAFT NOW</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first draft, all four parts in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HER FIRST INSTINCT   </a:t>
            </a:r>
            <a:pPr indent="0" marL="0">
              <a:buNone/>
            </a:pPr>
            <a:r>
              <a:rPr lang="en-US" sz="1600" i="1" dirty="0">
                <a:solidFill>
                  <a:srgbClr val="5B6B7A"/>
                </a:solidFill>
                <a:latin typeface="Inter" pitchFamily="34" charset="0"/>
                <a:ea typeface="Inter" pitchFamily="34" charset="-122"/>
                <a:cs typeface="Inter" pitchFamily="34" charset="-120"/>
              </a:rPr>
              <a:t>“Make me some review questions for Friday.”</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4th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10-question Friday review on equivalent fractions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numerator and denominator when simplifying.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Same four colors as makeover #1. Copy this shape with your own weekly task, then run it.</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2: three rounds of pushback, in order.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rounds of iteration</a:t>
            </a:r>
            <a:endParaRPr lang="en-US" sz="3200" dirty="0"/>
          </a:p>
        </p:txBody>
      </p:sp>
      <p:sp>
        <p:nvSpPr>
          <p:cNvPr id="14" name="Shape 11"/>
          <p:cNvSpPr/>
          <p:nvPr/>
        </p:nvSpPr>
        <p:spPr>
          <a:xfrm>
            <a:off x="640080" y="1508760"/>
            <a:ext cx="10972800" cy="1005840"/>
          </a:xfrm>
          <a:prstGeom prst="roundRect">
            <a:avLst>
              <a:gd name="adj" fmla="val 8182"/>
            </a:avLst>
          </a:prstGeom>
          <a:solidFill>
            <a:srgbClr val="F7F5F0"/>
          </a:solidFill>
          <a:ln w="12700">
            <a:solidFill>
              <a:srgbClr val="F7F5F0"/>
            </a:solidFill>
            <a:prstDash val="solid"/>
          </a:ln>
        </p:spPr>
      </p:sp>
      <p:sp>
        <p:nvSpPr>
          <p:cNvPr id="15" name="Text 12"/>
          <p:cNvSpPr/>
          <p:nvPr/>
        </p:nvSpPr>
        <p:spPr>
          <a:xfrm>
            <a:off x="960120" y="1618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1 · Content</a:t>
            </a:r>
            <a:endParaRPr lang="en-US" sz="1900" dirty="0"/>
          </a:p>
        </p:txBody>
      </p:sp>
      <p:sp>
        <p:nvSpPr>
          <p:cNvPr id="16" name="Text 13"/>
          <p:cNvSpPr/>
          <p:nvPr/>
        </p:nvSpPr>
        <p:spPr>
          <a:xfrm>
            <a:off x="960120" y="2039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What’s wrong or missing? Fix that first, before anything else.</a:t>
            </a:r>
            <a:endParaRPr lang="en-US" sz="1650" dirty="0"/>
          </a:p>
        </p:txBody>
      </p:sp>
      <p:sp>
        <p:nvSpPr>
          <p:cNvPr id="17" name="Shape 14"/>
          <p:cNvSpPr/>
          <p:nvPr/>
        </p:nvSpPr>
        <p:spPr>
          <a:xfrm>
            <a:off x="640080" y="2651760"/>
            <a:ext cx="10972800" cy="1005840"/>
          </a:xfrm>
          <a:prstGeom prst="roundRect">
            <a:avLst>
              <a:gd name="adj" fmla="val 8182"/>
            </a:avLst>
          </a:prstGeom>
          <a:solidFill>
            <a:srgbClr val="F7F5F0"/>
          </a:solidFill>
          <a:ln w="12700">
            <a:solidFill>
              <a:srgbClr val="F7F5F0"/>
            </a:solidFill>
            <a:prstDash val="solid"/>
          </a:ln>
        </p:spPr>
      </p:sp>
      <p:sp>
        <p:nvSpPr>
          <p:cNvPr id="18" name="Text 15"/>
          <p:cNvSpPr/>
          <p:nvPr/>
        </p:nvSpPr>
        <p:spPr>
          <a:xfrm>
            <a:off x="960120" y="2761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2 · Voice</a:t>
            </a:r>
            <a:endParaRPr lang="en-US" sz="1900" dirty="0"/>
          </a:p>
        </p:txBody>
      </p:sp>
      <p:sp>
        <p:nvSpPr>
          <p:cNvPr id="19" name="Text 16"/>
          <p:cNvSpPr/>
          <p:nvPr/>
        </p:nvSpPr>
        <p:spPr>
          <a:xfrm>
            <a:off x="960120" y="3182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Does it sound like you? Read it aloud, then say “warmer” or “blunter.”</a:t>
            </a:r>
            <a:endParaRPr lang="en-US" sz="1650" dirty="0"/>
          </a:p>
        </p:txBody>
      </p:sp>
      <p:sp>
        <p:nvSpPr>
          <p:cNvPr id="20" name="Shape 17"/>
          <p:cNvSpPr/>
          <p:nvPr/>
        </p:nvSpPr>
        <p:spPr>
          <a:xfrm>
            <a:off x="640080" y="3794760"/>
            <a:ext cx="1097280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60120" y="3904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3 · Details</a:t>
            </a:r>
            <a:endParaRPr lang="en-US" sz="1900" dirty="0"/>
          </a:p>
        </p:txBody>
      </p:sp>
      <p:sp>
        <p:nvSpPr>
          <p:cNvPr id="22" name="Text 19"/>
          <p:cNvSpPr/>
          <p:nvPr/>
        </p:nvSpPr>
        <p:spPr>
          <a:xfrm>
            <a:off x="960120" y="4325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Length, level, layout, numbering: make every one of them exact.</a:t>
            </a:r>
            <a:endParaRPr lang="en-US" sz="1650" dirty="0"/>
          </a:p>
        </p:txBody>
      </p:sp>
      <p:sp>
        <p:nvSpPr>
          <p:cNvPr id="23" name="Shape 20"/>
          <p:cNvSpPr/>
          <p:nvPr/>
        </p:nvSpPr>
        <p:spPr>
          <a:xfrm>
            <a:off x="640080" y="4937760"/>
            <a:ext cx="10972800" cy="777240"/>
          </a:xfrm>
          <a:prstGeom prst="roundRect">
            <a:avLst>
              <a:gd name="adj" fmla="val 10588"/>
            </a:avLst>
          </a:prstGeom>
          <a:solidFill>
            <a:srgbClr val="EAF5F3"/>
          </a:solidFill>
          <a:ln w="12700">
            <a:solidFill>
              <a:srgbClr val="EAF5F3"/>
            </a:solidFill>
            <a:prstDash val="solid"/>
          </a:ln>
        </p:spPr>
      </p:sp>
      <p:sp>
        <p:nvSpPr>
          <p:cNvPr id="24" name="Text 21"/>
          <p:cNvSpPr/>
          <p:nvPr/>
        </p:nvSpPr>
        <p:spPr>
          <a:xfrm>
            <a:off x="960120" y="4937760"/>
            <a:ext cx="1033272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Push back like you would with a capable student teacher: specific, kind, unafraid.</a:t>
            </a:r>
            <a:endParaRPr lang="en-US" sz="1800" dirty="0"/>
          </a:p>
        </p:txBody>
      </p:sp>
      <p:sp>
        <p:nvSpPr>
          <p:cNvPr id="25" name="Text 22"/>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45-min cut: one round instead of three, then straight to step 3.</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ON MS. RIVERA'S SCREEN · ITERATE NOW</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in each round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5B6B7A"/>
                </a:solidFill>
                <a:latin typeface="Inter" pitchFamily="34" charset="0"/>
                <a:ea typeface="Inter" pitchFamily="34" charset="-122"/>
                <a:cs typeface="Inter" pitchFamily="34" charset="-120"/>
              </a:rPr>
              <a:t>WHAT CAME BACK   </a:t>
            </a:r>
            <a:pPr indent="0" marL="0">
              <a:buNone/>
            </a:pPr>
            <a:r>
              <a:rPr lang="en-US" sz="1600" i="1" dirty="0">
                <a:solidFill>
                  <a:srgbClr val="5B6B7A"/>
                </a:solidFill>
                <a:latin typeface="Inter" pitchFamily="34" charset="0"/>
                <a:ea typeface="Inter" pitchFamily="34" charset="-122"/>
                <a:cs typeface="Inter" pitchFamily="34" charset="-120"/>
              </a:rPr>
              <a:t>ten questions and an answer key, close but not hers yet.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37744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1783080" y="2514600"/>
            <a:ext cx="9189720" cy="2103120"/>
          </a:xfrm>
          <a:prstGeom prst="rect">
            <a:avLst/>
          </a:prstGeom>
          <a:noFill/>
          <a:ln/>
        </p:spPr>
        <p:txBody>
          <a:bodyPr wrap="square" lIns="0" tIns="0" rIns="0" bIns="0" rtlCol="0" anchor="t"/>
          <a:lstStyle/>
          <a:p>
            <a:pPr indent="0" marL="0">
              <a:lnSpc>
                <a:spcPct val="120000"/>
              </a:lnSpc>
              <a:buNone/>
            </a:pPr>
            <a:r>
              <a:rPr lang="en-US" sz="1300" b="1" spc="150" kern="0" dirty="0">
                <a:solidFill>
                  <a:srgbClr val="2A9D8F"/>
                </a:solidFill>
                <a:latin typeface="Inter" pitchFamily="34" charset="0"/>
                <a:ea typeface="Inter" pitchFamily="34" charset="-122"/>
                <a:cs typeface="Inter" pitchFamily="34" charset="-120"/>
              </a:rPr>
              <a:t>1 · CONTENT
</a:t>
            </a:r>
            <a:pPr indent="0" marL="0">
              <a:lnSpc>
                <a:spcPct val="120000"/>
              </a:lnSpc>
              <a:spcAft>
                <a:spcPts val="900"/>
              </a:spcAft>
              <a:buNone/>
            </a:pPr>
            <a:r>
              <a:rPr lang="en-US" sz="1700" dirty="0">
                <a:solidFill>
                  <a:srgbClr val="1B1F24"/>
                </a:solidFill>
                <a:latin typeface="Inter" pitchFamily="34" charset="0"/>
                <a:ea typeface="Inter" pitchFamily="34" charset="-122"/>
                <a:cs typeface="Inter" pitchFamily="34" charset="-120"/>
              </a:rPr>
              <a:t>“Question 3 is mixed numbers; we haven’t gotten there. Swap in a comparing-fractions item.”
</a:t>
            </a:r>
            <a:pPr indent="0" marL="0">
              <a:lnSpc>
                <a:spcPct val="120000"/>
              </a:lnSpc>
              <a:buNone/>
            </a:pPr>
            <a:r>
              <a:rPr lang="en-US" sz="1300" b="1" spc="150" kern="0" dirty="0">
                <a:solidFill>
                  <a:srgbClr val="13293D"/>
                </a:solidFill>
                <a:latin typeface="Inter" pitchFamily="34" charset="0"/>
                <a:ea typeface="Inter" pitchFamily="34" charset="-122"/>
                <a:cs typeface="Inter" pitchFamily="34" charset="-120"/>
              </a:rPr>
              <a:t>2 · VOICE
</a:t>
            </a:r>
            <a:pPr indent="0" marL="0">
              <a:lnSpc>
                <a:spcPct val="120000"/>
              </a:lnSpc>
              <a:spcAft>
                <a:spcPts val="900"/>
              </a:spcAft>
              <a:buNone/>
            </a:pPr>
            <a:r>
              <a:rPr lang="en-US" sz="1700" dirty="0">
                <a:solidFill>
                  <a:srgbClr val="1B1F24"/>
                </a:solidFill>
                <a:latin typeface="Inter" pitchFamily="34" charset="0"/>
                <a:ea typeface="Inter" pitchFamily="34" charset="-122"/>
                <a:cs typeface="Inter" pitchFamily="34" charset="-120"/>
              </a:rPr>
              <a:t>“The directions don’t sound like me. Warmer, and lose ‘utilize.’”
</a:t>
            </a:r>
            <a:pPr indent="0" marL="0">
              <a:lnSpc>
                <a:spcPct val="120000"/>
              </a:lnSpc>
              <a:buNone/>
            </a:pPr>
            <a:r>
              <a:rPr lang="en-US" sz="1300" b="1" spc="150" kern="0" dirty="0">
                <a:solidFill>
                  <a:srgbClr val="B07914"/>
                </a:solidFill>
                <a:latin typeface="Inter" pitchFamily="34" charset="0"/>
                <a:ea typeface="Inter" pitchFamily="34" charset="-122"/>
                <a:cs typeface="Inter" pitchFamily="34" charset="-120"/>
              </a:rPr>
              <a:t>3 · DETAILS
</a:t>
            </a:r>
            <a:pPr indent="0" marL="0">
              <a:lnSpc>
                <a:spcPct val="120000"/>
              </a:lnSpc>
              <a:buNone/>
            </a:pPr>
            <a:r>
              <a:rPr lang="en-US" sz="1700" dirty="0">
                <a:solidFill>
                  <a:srgbClr val="1B1F24"/>
                </a:solidFill>
                <a:latin typeface="Inter" pitchFamily="34" charset="0"/>
                <a:ea typeface="Inter" pitchFamily="34" charset="-122"/>
                <a:cs typeface="Inter" pitchFamily="34" charset="-120"/>
              </a:rPr>
              <a:t>“Exactly ten questions, numbered, answer key on its own page.”</a:t>
            </a:r>
            <a:endParaRPr lang="en-US" sz="1700" dirty="0"/>
          </a:p>
        </p:txBody>
      </p:sp>
      <p:sp>
        <p:nvSpPr>
          <p:cNvPr id="16" name="Text 13"/>
          <p:cNvSpPr/>
          <p:nvPr/>
        </p:nvSpPr>
        <p:spPr>
          <a:xfrm>
            <a:off x="1554480" y="48463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Three messages, one prompt: the same review questions from step 1, three rounds better.</a:t>
            </a:r>
            <a:endParaRPr lang="en-US" sz="1300" dirty="0"/>
          </a:p>
        </p:txBody>
      </p:sp>
      <p:sp>
        <p:nvSpPr>
          <p:cNvPr id="17" name="Shape 14"/>
          <p:cNvSpPr/>
          <p:nvPr/>
        </p:nvSpPr>
        <p:spPr>
          <a:xfrm>
            <a:off x="640080" y="5532120"/>
            <a:ext cx="3544824"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1 · CONTENT</a:t>
            </a:r>
            <a:endParaRPr lang="en-US" sz="1400" dirty="0"/>
          </a:p>
        </p:txBody>
      </p:sp>
      <p:sp>
        <p:nvSpPr>
          <p:cNvPr id="19" name="Shape 16"/>
          <p:cNvSpPr/>
          <p:nvPr/>
        </p:nvSpPr>
        <p:spPr>
          <a:xfrm>
            <a:off x="4395216" y="5532120"/>
            <a:ext cx="3544824"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4395216"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2 · VOICE</a:t>
            </a:r>
            <a:endParaRPr lang="en-US" sz="1400" dirty="0"/>
          </a:p>
        </p:txBody>
      </p:sp>
      <p:sp>
        <p:nvSpPr>
          <p:cNvPr id="21" name="Shape 18"/>
          <p:cNvSpPr/>
          <p:nvPr/>
        </p:nvSpPr>
        <p:spPr>
          <a:xfrm>
            <a:off x="8150352" y="5532120"/>
            <a:ext cx="3544824"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8150352"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3 · DETAILS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3: the specifics come out, the doc entry goes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5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Template it. Save it. Share it.</a:t>
            </a:r>
            <a:endParaRPr lang="en-US" sz="28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Replace the specifics with blanks: [topic], [grade], [number of questions]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Paste the final template into the staff prompt doc</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Add your name and one line: what it’s for</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Confirm there are no student names in it: Kit 1’s rule, still with us</a:t>
            </a:r>
            <a:endParaRPr lang="en-US" sz="2100" dirty="0"/>
          </a:p>
        </p:txBody>
      </p:sp>
      <p:sp>
        <p:nvSpPr>
          <p:cNvPr id="15" name="Shape 12"/>
          <p:cNvSpPr/>
          <p:nvPr/>
        </p:nvSpPr>
        <p:spPr>
          <a:xfrm>
            <a:off x="640080" y="3931920"/>
            <a:ext cx="10972800" cy="1280160"/>
          </a:xfrm>
          <a:prstGeom prst="roundRect">
            <a:avLst>
              <a:gd name="adj" fmla="val 6429"/>
            </a:avLst>
          </a:prstGeom>
          <a:solidFill>
            <a:srgbClr val="EAF5F3"/>
          </a:solidFill>
          <a:ln w="12700">
            <a:solidFill>
              <a:srgbClr val="EAF5F3"/>
            </a:solidFill>
            <a:prstDash val="solid"/>
          </a:ln>
        </p:spPr>
      </p:sp>
      <p:sp>
        <p:nvSpPr>
          <p:cNvPr id="16" name="Text 13"/>
          <p:cNvSpPr/>
          <p:nvPr/>
        </p:nvSpPr>
        <p:spPr>
          <a:xfrm>
            <a:off x="960120" y="3931920"/>
            <a:ext cx="10332720" cy="128016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You just wrote the first entry in your professional prompt library. Kit 18 grows it into a whole collection.</a:t>
            </a:r>
            <a:endParaRPr lang="en-US" sz="2000" dirty="0"/>
          </a:p>
        </p:txBody>
      </p:sp>
      <p:sp>
        <p:nvSpPr>
          <p:cNvPr id="17" name="Text 14"/>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Four blanks, twenty seconds, and next Friday is already half done.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 ON MS. RIVERA'S SCREEN · SAVE YOURS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template, as saved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5B6B7A"/>
                </a:solidFill>
                <a:latin typeface="Inter" pitchFamily="34" charset="0"/>
                <a:ea typeface="Inter" pitchFamily="34" charset="-122"/>
                <a:cs typeface="Inter" pitchFamily="34" charset="-120"/>
              </a:rPr>
              <a:t>THE SWAP   </a:t>
            </a:r>
            <a:pPr indent="0" marL="0">
              <a:buNone/>
            </a:pPr>
            <a:r>
              <a:rPr lang="en-US" sz="1600" i="1" dirty="0">
                <a:solidFill>
                  <a:srgbClr val="5B6B7A"/>
                </a:solidFill>
                <a:latin typeface="Inter" pitchFamily="34" charset="0"/>
                <a:ea typeface="Inter" pitchFamily="34" charset="-122"/>
                <a:cs typeface="Inter" pitchFamily="34" charset="-120"/>
              </a:rPr>
              <a:t>out come “equivalent fractions,” “4th grade,” “10”: the three things that change every week.</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[number]-question review on [topic]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[what they mix up].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In the staff doc: Ms. Rivera · “weekly review questions, any topic”</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before and after: the delta is the lesson.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Before and after</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us your before and your after</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 one change made the biggest difference?</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Anyone catch the AI being wrong mid-lab? That story goes first.</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library: one entry today, the review-questions template. It compounds.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FIFTEEN MINUTES AGO THIS DIDN’T EXIST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 went from asking to owning</a:t>
            </a:r>
            <a:endParaRPr lang="en-US" sz="28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The teachers saving six hours a week were never typing faster.
</a:t>
            </a:r>
            <a:pPr indent="0" marL="0">
              <a:buNone/>
            </a:pPr>
            <a:r>
              <a:rPr lang="en-US" sz="2100" dirty="0">
                <a:solidFill>
                  <a:srgbClr val="1B1F24"/>
                </a:solidFill>
                <a:latin typeface="Inter" pitchFamily="34" charset="0"/>
                <a:ea typeface="Inter" pitchFamily="34" charset="-122"/>
                <a:cs typeface="Inter" pitchFamily="34" charset="-120"/>
              </a:rPr>
              <a:t>They own a small library of prompts that fit their classroom, plus the reflex to push back until the output earns their name on it. As of today, so do you.</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one-slide system: formula, colleague test, three rounds, template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WHOLE SESSION</a:t>
            </a:r>
            <a:endParaRPr lang="en-US" sz="1200" dirty="0"/>
          </a:p>
        </p:txBody>
      </p:sp>
      <p:sp>
        <p:nvSpPr>
          <p:cNvPr id="13" name="Text 10"/>
          <p:cNvSpPr/>
          <p:nvPr/>
        </p:nvSpPr>
        <p:spPr>
          <a:xfrm>
            <a:off x="640080" y="868680"/>
            <a:ext cx="10972800" cy="640080"/>
          </a:xfrm>
          <a:prstGeom prst="rect">
            <a:avLst/>
          </a:prstGeom>
          <a:noFill/>
          <a:ln/>
        </p:spPr>
        <p:txBody>
          <a:bodyPr wrap="square" lIns="0" tIns="0" rIns="0" bIns="0" rtlCol="0" anchor="ctr"/>
          <a:lstStyle/>
          <a:p>
            <a:pPr indent="0" marL="0">
              <a:buNone/>
            </a:pPr>
            <a:r>
              <a:rPr lang="en-US" sz="3400" b="1" dirty="0">
                <a:solidFill>
                  <a:srgbClr val="FFFFFF"/>
                </a:solidFill>
                <a:latin typeface="Inter" pitchFamily="34" charset="0"/>
                <a:ea typeface="Inter" pitchFamily="34" charset="-122"/>
                <a:cs typeface="Inter" pitchFamily="34" charset="-120"/>
              </a:rPr>
              <a:t>The formula on one slide</a:t>
            </a:r>
            <a:endParaRPr lang="en-US" sz="3400" dirty="0"/>
          </a:p>
        </p:txBody>
      </p:sp>
      <p:sp>
        <p:nvSpPr>
          <p:cNvPr id="14" name="Text 11"/>
          <p:cNvSpPr/>
          <p:nvPr/>
        </p:nvSpPr>
        <p:spPr>
          <a:xfrm>
            <a:off x="822960" y="178308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Before you type</a:t>
            </a:r>
            <a:endParaRPr lang="en-US" sz="1900" dirty="0"/>
          </a:p>
        </p:txBody>
      </p:sp>
      <p:sp>
        <p:nvSpPr>
          <p:cNvPr id="15" name="Text 12"/>
          <p:cNvSpPr/>
          <p:nvPr/>
        </p:nvSpPr>
        <p:spPr>
          <a:xfrm>
            <a:off x="3840480" y="178308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Role · Task · Context · Format, then the colleague test</a:t>
            </a:r>
            <a:endParaRPr lang="en-US" sz="1900" dirty="0"/>
          </a:p>
        </p:txBody>
      </p:sp>
      <p:sp>
        <p:nvSpPr>
          <p:cNvPr id="16" name="Text 13"/>
          <p:cNvSpPr/>
          <p:nvPr/>
        </p:nvSpPr>
        <p:spPr>
          <a:xfrm>
            <a:off x="822960" y="283464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After it answers</a:t>
            </a:r>
            <a:endParaRPr lang="en-US" sz="1900" dirty="0"/>
          </a:p>
        </p:txBody>
      </p:sp>
      <p:sp>
        <p:nvSpPr>
          <p:cNvPr id="17" name="Text 14"/>
          <p:cNvSpPr/>
          <p:nvPr/>
        </p:nvSpPr>
        <p:spPr>
          <a:xfrm>
            <a:off x="3840480" y="283464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Three rounds: content, voice, details</a:t>
            </a:r>
            <a:endParaRPr lang="en-US" sz="1900" dirty="0"/>
          </a:p>
        </p:txBody>
      </p:sp>
      <p:sp>
        <p:nvSpPr>
          <p:cNvPr id="18" name="Text 15"/>
          <p:cNvSpPr/>
          <p:nvPr/>
        </p:nvSpPr>
        <p:spPr>
          <a:xfrm>
            <a:off x="822960" y="388620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When it works</a:t>
            </a:r>
            <a:endParaRPr lang="en-US" sz="1900" dirty="0"/>
          </a:p>
        </p:txBody>
      </p:sp>
      <p:sp>
        <p:nvSpPr>
          <p:cNvPr id="19" name="Text 16"/>
          <p:cNvSpPr/>
          <p:nvPr/>
        </p:nvSpPr>
        <p:spPr>
          <a:xfrm>
            <a:off x="3840480" y="388620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Template it, save it, share it in the staff doc</a:t>
            </a:r>
            <a:endParaRPr lang="en-US" sz="1900" dirty="0"/>
          </a:p>
        </p:txBody>
      </p:sp>
      <p:sp>
        <p:nvSpPr>
          <p:cNvPr id="20" name="Text 17"/>
          <p:cNvSpPr/>
          <p:nvPr/>
        </p:nvSpPr>
        <p:spPr>
          <a:xfrm>
            <a:off x="822960" y="493776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Always</a:t>
            </a:r>
            <a:endParaRPr lang="en-US" sz="1900" dirty="0"/>
          </a:p>
        </p:txBody>
      </p:sp>
      <p:sp>
        <p:nvSpPr>
          <p:cNvPr id="21" name="Text 18"/>
          <p:cNvSpPr/>
          <p:nvPr/>
        </p:nvSpPr>
        <p:spPr>
          <a:xfrm>
            <a:off x="3840480" y="493776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No student PII in. Nothing unreviewed out. Verify anything factual.</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limits list: can't check facts, know her kids, or pick what matters.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prompting cannot do</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check facts</a:t>
            </a:r>
            <a:endParaRPr lang="en-US" sz="1900" dirty="0"/>
          </a:p>
        </p:txBody>
      </p:sp>
      <p:sp>
        <p:nvSpPr>
          <p:cNvPr id="16" name="Text 13"/>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You still verify. Every time.</a:t>
            </a:r>
            <a:endParaRPr lang="en-US" sz="1600" dirty="0"/>
          </a:p>
        </p:txBody>
      </p:sp>
      <p:sp>
        <p:nvSpPr>
          <p:cNvPr id="17" name="Shape 14"/>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know your students</a:t>
            </a:r>
            <a:endParaRPr lang="en-US" sz="1900" dirty="0"/>
          </a:p>
        </p:txBody>
      </p:sp>
      <p:sp>
        <p:nvSpPr>
          <p:cNvPr id="19" name="Text 16"/>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Personalizing happens after the draft comes back.</a:t>
            </a:r>
            <a:endParaRPr lang="en-US" sz="1600" dirty="0"/>
          </a:p>
        </p:txBody>
      </p:sp>
      <p:sp>
        <p:nvSpPr>
          <p:cNvPr id="20" name="Shape 17"/>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decide what’s worth teaching</a:t>
            </a:r>
            <a:endParaRPr lang="en-US" sz="1900" dirty="0"/>
          </a:p>
        </p:txBody>
      </p:sp>
      <p:sp>
        <p:nvSpPr>
          <p:cNvPr id="22" name="Text 19"/>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That was never a formatting problem.</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Better prompts buy you time and quality. Judgment stays yours.</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29</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norm: working prompts go in the staff doc. Nobody solves twice.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KIT 1 GAVE US THREE; TODAY ADDS ONE</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#4</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When a prompt works, it goes in the staff doc.</a:t>
            </a:r>
            <a:endParaRPr lang="en-US" sz="2800" dirty="0"/>
          </a:p>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Nobody at this school solves the same problem twice.</a:t>
            </a:r>
            <a:endParaRPr lang="en-US" sz="28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the formula starts differentiating for her whole roster.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2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3, Planning &amp; Differentiation. </a:t>
            </a:r>
            <a:pPr indent="0" marL="0">
              <a:buNone/>
            </a:pPr>
            <a:r>
              <a:rPr lang="en-US" sz="1700" dirty="0">
                <a:solidFill>
                  <a:srgbClr val="C9D4DE"/>
                </a:solidFill>
                <a:latin typeface="Inter" pitchFamily="34" charset="0"/>
                <a:ea typeface="Inter" pitchFamily="34" charset="-122"/>
                <a:cs typeface="Inter" pitchFamily="34" charset="-120"/>
              </a:rPr>
              <a:t>Your reusable prompt comes with you; the formula starts doing heavy lifting: leveled texts, scaffolds, materials for the range of learners actually in your room.</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run the template for real, one colleague test, one post.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your reusable prompt for real</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 the actual task it was built for; iterate once; use the result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~3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colleague test once</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Catch the missing context before you hit enter</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Post to the staff doc</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template, your name, one line about what it’s for</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one technique taken, one task still wanted.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prompting technique you’re taking</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task you still want prompt help with</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thing you’ll try in the next 48 hours</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33</a:t>
            </a:r>
            <a:endParaRPr lang="en-US" sz="900" dirty="0"/>
          </a:p>
        </p:txBody>
      </p:sp>
      <p:sp>
        <p:nvSpPr>
          <p:cNvPr id="5" name="Text 2"/>
          <p:cNvSpPr/>
          <p:nvPr/>
        </p:nvSpPr>
        <p:spPr>
          <a:xfrm>
            <a:off x="640080" y="2011680"/>
            <a:ext cx="10972800" cy="1645920"/>
          </a:xfrm>
          <a:prstGeom prst="rect">
            <a:avLst/>
          </a:prstGeom>
          <a:noFill/>
          <a:ln/>
        </p:spPr>
        <p:txBody>
          <a:bodyPr wrap="square" lIns="0" tIns="0" rIns="0" bIns="0" rtlCol="0" anchor="ctr"/>
          <a:lstStyle/>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A good prompt is just clear thinking,</a:t>
            </a:r>
            <a:endParaRPr lang="en-US" sz="3600" dirty="0"/>
          </a:p>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written down.</a:t>
            </a:r>
            <a:endParaRPr lang="en-US" sz="3600" dirty="0"/>
          </a:p>
        </p:txBody>
      </p:sp>
      <p:sp>
        <p:nvSpPr>
          <p:cNvPr id="6" name="Text 3"/>
          <p:cNvSpPr/>
          <p:nvPr/>
        </p:nvSpPr>
        <p:spPr>
          <a:xfrm>
            <a:off x="640080" y="393192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You already do the hard part every day.</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Keep the thinking. Delegate the typing.</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2: Prompting Basics: Getting Useful Results Every Time</dc:title>
  <dc:subject>PptxGenJS Presentation</dc:subject>
  <dc:creator>Adam &amp; Katelyn Spinozzi</dc:creator>
  <cp:lastModifiedBy>Adam &amp; Katelyn Spinozzi</cp:lastModifiedBy>
  <cp:revision>1</cp:revision>
  <dcterms:created xsi:type="dcterms:W3CDTF">2026-08-23T14:43:30Z</dcterms:created>
  <dcterms:modified xsi:type="dcterms:W3CDTF">2026-08-23T14:43:30Z</dcterms:modified>
</cp:coreProperties>
</file>