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up as people arrive. Start on time. This session assumes Kit 1: the One Hard Rule and the review-everything rule are in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Gallup-Walton 2025, 2,232 teachers. The gap between weekly users and non-users is the skill this session teaches.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"is prompting a fad until AI gets smarter?": tools get better at guessing intent, but no tool can guess what only you know: your grade, your students, your constraints, your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stops this hour: the anatomy of a prompt that works, live makeovers of real prompts, learning to iterate instead of settling, and a lab where you build a reusable prompt for a task you do every week. The promise line matters: staff leave with a tool, not notes. Keep this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from Anthropic’s own documentation ("golden rule of clear prompting"). This is the pre-flight check for every prompt staff ever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Google, Anthropic, and state DOE frameworks (NC’s CRAFT, AI for Education’s Five-S) converge on these same elements. If asked "all four every time?": no; but when output disappoints, the missing part is almost always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 study: 26 prompt-design principles improved GPT-4 response quality by 57.7% on average (accuracy by 36.4%). Labeled a preprint in the References. Keep it one beat; don’t oversell.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honestly: even a well-iterated, careful prompt can produce a confident factual error that only subject expertise catches. Expertise is the safety net; never lend yours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watch the same request go from beige to usable on our example teacher's screen. Ms. Rivera appears in every kit; she's a composite, not a real teacher, and her screen is the thing to mimic in the lab. Count the four color-coded parts out loud: role in teal, task in navy, context in amber, format in green. Same request, completely different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Kit 1 rule working alongside the formula: zero student names, and none needed. The situation, not the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saves the most weekly time. Kit 3 goes deep on differentiation; today it’s a formula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escape hatch is the crowd favorite: one line turns a guessing machine into an interviewer. Nothing communicates taste like a pasted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call each one before you confirm with the answer line at the bottom. Brisk;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Researchers call these "prompt patterns" (White et al., 2023): documented, reusable solutions. We call it the staff prompt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formalizes Kit 1’s "push back twice" into a system. Content, then voice, then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when to quit a thread is itself a skill: one round of deciding, not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authors’ shared take from the script: voice matters most in personal communication with parents and students; academic language has its place, but empathetic personal messages should be in the teacher’s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devices out inside two minutes, announce the tool. Ms. Rivera builds ONE artifact across all three steps: her weekly review-questions prompt, first draft to saved template. Her exemplar appears large on every step slide; anyone lost can copy her structure and still finish. The script’s worked example under slide 19 is a real reusable prompt from a working carpentry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Weak prompts usually lack context; nudge with "what would a substitute need to know to do this right?" The big card is Ms. Rivera's first draft for her weekly review questions, the one artifact she carries through all three steps, color-coded like slide 9; anyone stuck can copy its shape. Then read the real carpentry CNC table-leg prompt from the script as the worked example (three stacked roles, one task, SVG-for-CNC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45-min cut: one round instead of three, then straight to step 3. The big card is Ms. Rivera's three typed pushback lines, all on the same review prompt from step 1: content, then voice, then details. Lost participants copy her rhythm with their own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the staff prompt doc link. Watching entries appear live is the session’s proudest moment. The big card is Ms. Rivera's finished template: the same review prompt from steps 1 and 2 with the specifics swapped for blanks, pasted under her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person reading their before AND after lets the room hear the delta. Keep each voice to a minute. If the room is shy, read Ms. Rivera's delta yourself: her step 1 draft against her step 3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plainly. The asset is the library plus the habit, not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handout’s spine too. Read it as a rhythm, not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Steady, honest close to the teaching. The next two slides are commitments and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visible nod, same as Kit 1. Agreement out loud is what makes it a norm.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school membership at ai-readyschool.com, completing all eight kits earns the AI-Ready Educator Certificate of Completion; check with your district or state whether it qualifies for local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First 48 Hours sheet. Tomorrow morning, coffee in hand, pick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tickets; collect at the door. They double as the school’s PD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everyone. Collect the exit tickets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 y="731520"/>
            <a:ext cx="1051560" cy="969264"/>
          </a:xfrm>
          <a:prstGeom prst="rect">
            <a:avLst/>
          </a:prstGeom>
        </p:spPr>
      </p:pic>
      <p:sp>
        <p:nvSpPr>
          <p:cNvPr id="3" name="Text 0"/>
          <p:cNvSpPr/>
          <p:nvPr/>
        </p:nvSpPr>
        <p:spPr>
          <a:xfrm>
            <a:off x="1965960" y="960120"/>
            <a:ext cx="3657600" cy="54864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AI-Ready</a:t>
            </a:r>
            <a:pPr indent="0" marL="0">
              <a:buNone/>
            </a:pPr>
            <a:r>
              <a:rPr lang="en-US" sz="2600" b="1" dirty="0">
                <a:solidFill>
                  <a:srgbClr val="FFFFFF"/>
                </a:solidFill>
                <a:latin typeface="Inter" pitchFamily="34" charset="0"/>
                <a:ea typeface="Inter" pitchFamily="34" charset="-122"/>
                <a:cs typeface="Inter" pitchFamily="34" charset="-120"/>
              </a:rPr>
              <a:t> School</a:t>
            </a:r>
            <a:endParaRPr lang="en-US" sz="2600" dirty="0"/>
          </a:p>
        </p:txBody>
      </p:sp>
      <p:sp>
        <p:nvSpPr>
          <p:cNvPr id="4" name="Text 1"/>
          <p:cNvSpPr/>
          <p:nvPr/>
        </p:nvSpPr>
        <p:spPr>
          <a:xfrm>
            <a:off x="822960" y="2743200"/>
            <a:ext cx="8229600" cy="36576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TRACK A · AI FOUNDATIONS · KIT 2 OF 20</a:t>
            </a:r>
            <a:endParaRPr lang="en-US" sz="1500" dirty="0"/>
          </a:p>
        </p:txBody>
      </p:sp>
      <p:sp>
        <p:nvSpPr>
          <p:cNvPr id="5" name="Text 2"/>
          <p:cNvSpPr/>
          <p:nvPr/>
        </p:nvSpPr>
        <p:spPr>
          <a:xfrm>
            <a:off x="777240" y="3063240"/>
            <a:ext cx="10789920" cy="18288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Inter" pitchFamily="34" charset="0"/>
                <a:ea typeface="Inter" pitchFamily="34" charset="-122"/>
                <a:cs typeface="Inter" pitchFamily="34" charset="-120"/>
              </a:rPr>
              <a:t>Prompting Basics:</a:t>
            </a:r>
            <a:endParaRPr lang="en-US" sz="4400" dirty="0"/>
          </a:p>
          <a:p>
            <a:pPr indent="0" marL="0">
              <a:lnSpc>
                <a:spcPct val="105000"/>
              </a:lnSpc>
              <a:buNone/>
            </a:pPr>
            <a:r>
              <a:rPr lang="en-US" sz="4400" b="1" dirty="0">
                <a:solidFill>
                  <a:srgbClr val="FFFFFF"/>
                </a:solidFill>
                <a:latin typeface="Inter" pitchFamily="34" charset="0"/>
                <a:ea typeface="Inter" pitchFamily="34" charset="-122"/>
                <a:cs typeface="Inter" pitchFamily="34" charset="-120"/>
              </a:rPr>
              <a:t>Getting Useful Results Every Time</a:t>
            </a:r>
            <a:endParaRPr lang="en-US" sz="4400" dirty="0"/>
          </a:p>
        </p:txBody>
      </p:sp>
      <p:sp>
        <p:nvSpPr>
          <p:cNvPr id="6" name="Text 3"/>
          <p:cNvSpPr/>
          <p:nvPr/>
        </p:nvSpPr>
        <p:spPr>
          <a:xfrm>
            <a:off x="822960" y="4983480"/>
            <a:ext cx="10241280" cy="457200"/>
          </a:xfrm>
          <a:prstGeom prst="rect">
            <a:avLst/>
          </a:prstGeom>
          <a:noFill/>
          <a:ln/>
        </p:spPr>
        <p:txBody>
          <a:bodyPr wrap="square" lIns="0" tIns="0" rIns="0" bIns="0" rtlCol="0" anchor="ctr"/>
          <a:lstStyle/>
          <a:p>
            <a:pPr indent="0" marL="0">
              <a:buNone/>
            </a:pPr>
            <a:r>
              <a:rPr lang="en-US" sz="1800" dirty="0">
                <a:solidFill>
                  <a:srgbClr val="C9D4DE"/>
                </a:solidFill>
                <a:latin typeface="Inter" pitchFamily="34" charset="0"/>
                <a:ea typeface="Inter" pitchFamily="34" charset="-122"/>
                <a:cs typeface="Inter" pitchFamily="34" charset="-120"/>
              </a:rPr>
              <a:t>A 45–60 minute working session. You leave with a reusable prompt you built yourself.</a:t>
            </a:r>
            <a:endParaRPr lang="en-US" sz="1800" dirty="0"/>
          </a:p>
        </p:txBody>
      </p:sp>
      <p:sp>
        <p:nvSpPr>
          <p:cNvPr id="7"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9FB2C2"/>
                </a:solidFill>
                <a:latin typeface="Inter" pitchFamily="34" charset="0"/>
                <a:ea typeface="Inter" pitchFamily="34" charset="-122"/>
                <a:cs typeface="Inter" pitchFamily="34" charset="-120"/>
              </a:rPr>
              <a:t>Built by Adam &amp; Katelyn Spinozzi · certified educators · 20+ combined years in the classroom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gap: same tools as the weekly savers. The skill is what differs.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WHY THIS HOUR EXISTS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2800" b="1" dirty="0">
                <a:solidFill>
                  <a:srgbClr val="13293D"/>
                </a:solidFill>
                <a:latin typeface="Inter" pitchFamily="34" charset="0"/>
                <a:ea typeface="Inter" pitchFamily="34" charset="-122"/>
                <a:cs typeface="Inter" pitchFamily="34" charset="-120"/>
              </a:rPr>
              <a:t>Same tools. Very different results.</a:t>
            </a:r>
            <a:endParaRPr lang="en-US" sz="2800" dirty="0"/>
          </a:p>
        </p:txBody>
      </p:sp>
      <p:sp>
        <p:nvSpPr>
          <p:cNvPr id="14" name="Shape 11"/>
          <p:cNvSpPr/>
          <p:nvPr/>
        </p:nvSpPr>
        <p:spPr>
          <a:xfrm>
            <a:off x="640080" y="1600200"/>
            <a:ext cx="5257800" cy="3383280"/>
          </a:xfrm>
          <a:prstGeom prst="roundRect">
            <a:avLst>
              <a:gd name="adj" fmla="val 2432"/>
            </a:avLst>
          </a:prstGeom>
          <a:solidFill>
            <a:srgbClr val="F7F5F0"/>
          </a:solidFill>
          <a:ln w="12700">
            <a:solidFill>
              <a:srgbClr val="F7F5F0"/>
            </a:solidFill>
            <a:prstDash val="solid"/>
          </a:ln>
        </p:spPr>
      </p:sp>
      <p:sp>
        <p:nvSpPr>
          <p:cNvPr id="15" name="Text 12"/>
          <p:cNvSpPr/>
          <p:nvPr/>
        </p:nvSpPr>
        <p:spPr>
          <a:xfrm>
            <a:off x="640080" y="1920240"/>
            <a:ext cx="5257800" cy="1097280"/>
          </a:xfrm>
          <a:prstGeom prst="rect">
            <a:avLst/>
          </a:prstGeom>
          <a:noFill/>
          <a:ln/>
        </p:spPr>
        <p:txBody>
          <a:bodyPr wrap="square" lIns="0" tIns="0" rIns="0" bIns="0" rtlCol="0" anchor="ctr"/>
          <a:lstStyle/>
          <a:p>
            <a:pPr algn="ctr" indent="0" marL="0">
              <a:buNone/>
            </a:pPr>
            <a:r>
              <a:rPr lang="en-US" sz="5800" b="1" dirty="0">
                <a:solidFill>
                  <a:srgbClr val="2A9D8F"/>
                </a:solidFill>
                <a:latin typeface="Inter" pitchFamily="34" charset="0"/>
                <a:ea typeface="Inter" pitchFamily="34" charset="-122"/>
                <a:cs typeface="Inter" pitchFamily="34" charset="-120"/>
              </a:rPr>
              <a:t>~3 in 10</a:t>
            </a:r>
            <a:endParaRPr lang="en-US" sz="5800" dirty="0"/>
          </a:p>
        </p:txBody>
      </p:sp>
      <p:sp>
        <p:nvSpPr>
          <p:cNvPr id="16" name="Text 13"/>
          <p:cNvSpPr/>
          <p:nvPr/>
        </p:nvSpPr>
        <p:spPr>
          <a:xfrm>
            <a:off x="914400" y="3108960"/>
            <a:ext cx="4709160" cy="164592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teachers use AI weekly,</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saving ~5.9 hours a week</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(Gallup &amp; Walton Family Fdn., 2025)</a:t>
            </a:r>
            <a:endParaRPr lang="en-US" sz="1600" dirty="0"/>
          </a:p>
        </p:txBody>
      </p:sp>
      <p:sp>
        <p:nvSpPr>
          <p:cNvPr id="17" name="Shape 14"/>
          <p:cNvSpPr/>
          <p:nvPr/>
        </p:nvSpPr>
        <p:spPr>
          <a:xfrm>
            <a:off x="6263640" y="1600200"/>
            <a:ext cx="5257800" cy="3383280"/>
          </a:xfrm>
          <a:prstGeom prst="roundRect">
            <a:avLst>
              <a:gd name="adj" fmla="val 2432"/>
            </a:avLst>
          </a:prstGeom>
          <a:solidFill>
            <a:srgbClr val="F7F5F0"/>
          </a:solidFill>
          <a:ln w="12700">
            <a:solidFill>
              <a:srgbClr val="F7F5F0"/>
            </a:solidFill>
            <a:prstDash val="solid"/>
          </a:ln>
        </p:spPr>
      </p:sp>
      <p:sp>
        <p:nvSpPr>
          <p:cNvPr id="18" name="Text 15"/>
          <p:cNvSpPr/>
          <p:nvPr/>
        </p:nvSpPr>
        <p:spPr>
          <a:xfrm>
            <a:off x="6263640" y="1920240"/>
            <a:ext cx="5257800" cy="1097280"/>
          </a:xfrm>
          <a:prstGeom prst="rect">
            <a:avLst/>
          </a:prstGeom>
          <a:noFill/>
          <a:ln/>
        </p:spPr>
        <p:txBody>
          <a:bodyPr wrap="square" lIns="0" tIns="0" rIns="0" bIns="0" rtlCol="0" anchor="ctr"/>
          <a:lstStyle/>
          <a:p>
            <a:pPr algn="ctr" indent="0" marL="0">
              <a:buNone/>
            </a:pPr>
            <a:r>
              <a:rPr lang="en-US" sz="5800" b="1" dirty="0">
                <a:solidFill>
                  <a:srgbClr val="5B6B7A"/>
                </a:solidFill>
                <a:latin typeface="Inter" pitchFamily="34" charset="0"/>
                <a:ea typeface="Inter" pitchFamily="34" charset="-122"/>
                <a:cs typeface="Inter" pitchFamily="34" charset="-120"/>
              </a:rPr>
              <a:t>4 in 10</a:t>
            </a:r>
            <a:endParaRPr lang="en-US" sz="5800" dirty="0"/>
          </a:p>
        </p:txBody>
      </p:sp>
      <p:sp>
        <p:nvSpPr>
          <p:cNvPr id="19" name="Text 16"/>
          <p:cNvSpPr/>
          <p:nvPr/>
        </p:nvSpPr>
        <p:spPr>
          <a:xfrm>
            <a:off x="6537960" y="3108960"/>
            <a:ext cx="4709160" cy="164592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don’t use AI at all,</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same tools, same access</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(same survey)</a:t>
            </a:r>
            <a:endParaRPr lang="en-US" sz="1600" dirty="0"/>
          </a:p>
        </p:txBody>
      </p:sp>
      <p:sp>
        <p:nvSpPr>
          <p:cNvPr id="20" name="Text 17"/>
          <p:cNvSpPr/>
          <p:nvPr/>
        </p:nvSpPr>
        <p:spPr>
          <a:xfrm>
            <a:off x="640080" y="5349240"/>
            <a:ext cx="10972800" cy="502920"/>
          </a:xfrm>
          <a:prstGeom prst="rect">
            <a:avLst/>
          </a:prstGeom>
          <a:noFill/>
          <a:ln/>
        </p:spPr>
        <p:txBody>
          <a:bodyPr wrap="square" lIns="0" tIns="0" rIns="0" bIns="0" rtlCol="0" anchor="ctr"/>
          <a:lstStyle/>
          <a:p>
            <a:pPr algn="ctr" indent="0" marL="0">
              <a:buNone/>
            </a:pPr>
            <a:r>
              <a:rPr lang="en-US" sz="2100" b="1" dirty="0">
                <a:solidFill>
                  <a:srgbClr val="13293D"/>
                </a:solidFill>
                <a:latin typeface="Inter" pitchFamily="34" charset="0"/>
                <a:ea typeface="Inter" pitchFamily="34" charset="-122"/>
                <a:cs typeface="Inter" pitchFamily="34" charset="-120"/>
              </a:rPr>
              <a:t>The difference isn’t the technology. It’s a skill: knowing how to ask.</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lesson learned: vague in, beige out. The model only has what she gives it.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KIT 1 FLASHBACK: PREDICTION MACHINES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Why “just ask” gets beige answers</a:t>
            </a:r>
            <a:endParaRPr lang="en-US" sz="3200" dirty="0"/>
          </a:p>
        </p:txBody>
      </p:sp>
      <p:sp>
        <p:nvSpPr>
          <p:cNvPr id="14" name="Text 11"/>
          <p:cNvSpPr/>
          <p:nvPr/>
        </p:nvSpPr>
        <p:spPr>
          <a:xfrm>
            <a:off x="640080" y="1463040"/>
            <a:ext cx="10908792" cy="237744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The model predicts the most likely continuation of your words</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A vague prompt → the most average answer on the internet</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“Write a lesson on fractions” gets you the world’s most generic fractions lesson. Not wrong. Beige.</a:t>
            </a:r>
            <a:endParaRPr lang="en-US" sz="2100" dirty="0"/>
          </a:p>
        </p:txBody>
      </p:sp>
      <p:sp>
        <p:nvSpPr>
          <p:cNvPr id="15" name="Shape 12"/>
          <p:cNvSpPr/>
          <p:nvPr/>
        </p:nvSpPr>
        <p:spPr>
          <a:xfrm>
            <a:off x="640080" y="4023360"/>
            <a:ext cx="10972800" cy="1645920"/>
          </a:xfrm>
          <a:prstGeom prst="roundRect">
            <a:avLst>
              <a:gd name="adj" fmla="val 5000"/>
            </a:avLst>
          </a:prstGeom>
          <a:solidFill>
            <a:srgbClr val="EAF5F3"/>
          </a:solidFill>
          <a:ln w="12700">
            <a:solidFill>
              <a:srgbClr val="EAF5F3"/>
            </a:solidFill>
            <a:prstDash val="solid"/>
          </a:ln>
        </p:spPr>
      </p:sp>
      <p:sp>
        <p:nvSpPr>
          <p:cNvPr id="16" name="Text 13"/>
          <p:cNvSpPr/>
          <p:nvPr/>
        </p:nvSpPr>
        <p:spPr>
          <a:xfrm>
            <a:off x="960120" y="4251960"/>
            <a:ext cx="10332720" cy="1188720"/>
          </a:xfrm>
          <a:prstGeom prst="rect">
            <a:avLst/>
          </a:prstGeom>
          <a:noFill/>
          <a:ln/>
        </p:spPr>
        <p:txBody>
          <a:bodyPr wrap="square" lIns="0" tIns="0" rIns="0" bIns="0" rtlCol="0" anchor="ctr"/>
          <a:lstStyle/>
          <a:p>
            <a:pPr indent="0" marL="0">
              <a:buNone/>
            </a:pPr>
            <a:r>
              <a:rPr lang="en-US" sz="2200" b="1" dirty="0">
                <a:solidFill>
                  <a:srgbClr val="13293D"/>
                </a:solidFill>
                <a:latin typeface="Inter" pitchFamily="34" charset="0"/>
                <a:ea typeface="Inter" pitchFamily="34" charset="-122"/>
                <a:cs typeface="Inter" pitchFamily="34" charset="-120"/>
              </a:rPr>
              <a:t>The fix isn’t magic words. The fix is information: the model can only use what you give it.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goal: leave owning one reusable prompt for a weekly task.</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HOUR AHEAD</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Agenda, and one promise</a:t>
            </a:r>
            <a:endParaRPr lang="en-US" sz="3200" dirty="0"/>
          </a:p>
        </p:txBody>
      </p:sp>
      <p:sp>
        <p:nvSpPr>
          <p:cNvPr id="14" name="Text 11"/>
          <p:cNvSpPr/>
          <p:nvPr/>
        </p:nvSpPr>
        <p:spPr>
          <a:xfrm>
            <a:off x="822960" y="146304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0:05</a:t>
            </a:r>
            <a:endParaRPr lang="en-US" sz="2000" dirty="0"/>
          </a:p>
        </p:txBody>
      </p:sp>
      <p:sp>
        <p:nvSpPr>
          <p:cNvPr id="15" name="Text 12"/>
          <p:cNvSpPr/>
          <p:nvPr/>
        </p:nvSpPr>
        <p:spPr>
          <a:xfrm>
            <a:off x="1920240" y="146304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Anatomy of a prompt that works</a:t>
            </a:r>
            <a:endParaRPr lang="en-US" sz="2000" dirty="0"/>
          </a:p>
        </p:txBody>
      </p:sp>
      <p:sp>
        <p:nvSpPr>
          <p:cNvPr id="16" name="Text 13"/>
          <p:cNvSpPr/>
          <p:nvPr/>
        </p:nvSpPr>
        <p:spPr>
          <a:xfrm>
            <a:off x="822960" y="219456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0:12</a:t>
            </a:r>
            <a:endParaRPr lang="en-US" sz="2000" dirty="0"/>
          </a:p>
        </p:txBody>
      </p:sp>
      <p:sp>
        <p:nvSpPr>
          <p:cNvPr id="17" name="Text 14"/>
          <p:cNvSpPr/>
          <p:nvPr/>
        </p:nvSpPr>
        <p:spPr>
          <a:xfrm>
            <a:off x="1920240" y="219456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Live makeovers: real prompts, fixed</a:t>
            </a:r>
            <a:endParaRPr lang="en-US" sz="2000" dirty="0"/>
          </a:p>
        </p:txBody>
      </p:sp>
      <p:sp>
        <p:nvSpPr>
          <p:cNvPr id="18" name="Text 15"/>
          <p:cNvSpPr/>
          <p:nvPr/>
        </p:nvSpPr>
        <p:spPr>
          <a:xfrm>
            <a:off x="822960" y="292608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0:24</a:t>
            </a:r>
            <a:endParaRPr lang="en-US" sz="2000" dirty="0"/>
          </a:p>
        </p:txBody>
      </p:sp>
      <p:sp>
        <p:nvSpPr>
          <p:cNvPr id="19" name="Text 16"/>
          <p:cNvSpPr/>
          <p:nvPr/>
        </p:nvSpPr>
        <p:spPr>
          <a:xfrm>
            <a:off x="1920240" y="292608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Iterate, don’t settle</a:t>
            </a:r>
            <a:endParaRPr lang="en-US" sz="2000" dirty="0"/>
          </a:p>
        </p:txBody>
      </p:sp>
      <p:sp>
        <p:nvSpPr>
          <p:cNvPr id="20" name="Text 17"/>
          <p:cNvSpPr/>
          <p:nvPr/>
        </p:nvSpPr>
        <p:spPr>
          <a:xfrm>
            <a:off x="822960" y="365760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0:30</a:t>
            </a:r>
            <a:endParaRPr lang="en-US" sz="2000" dirty="0"/>
          </a:p>
        </p:txBody>
      </p:sp>
      <p:sp>
        <p:nvSpPr>
          <p:cNvPr id="21" name="Text 18"/>
          <p:cNvSpPr/>
          <p:nvPr/>
        </p:nvSpPr>
        <p:spPr>
          <a:xfrm>
            <a:off x="1920240" y="365760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Lab: build your reusable prompt</a:t>
            </a:r>
            <a:endParaRPr lang="en-US" sz="2000" dirty="0"/>
          </a:p>
        </p:txBody>
      </p:sp>
      <p:sp>
        <p:nvSpPr>
          <p:cNvPr id="22" name="Text 19"/>
          <p:cNvSpPr/>
          <p:nvPr/>
        </p:nvSpPr>
        <p:spPr>
          <a:xfrm>
            <a:off x="822960" y="438912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0:49</a:t>
            </a:r>
            <a:endParaRPr lang="en-US" sz="2000" dirty="0"/>
          </a:p>
        </p:txBody>
      </p:sp>
      <p:sp>
        <p:nvSpPr>
          <p:cNvPr id="23" name="Text 20"/>
          <p:cNvSpPr/>
          <p:nvPr/>
        </p:nvSpPr>
        <p:spPr>
          <a:xfrm>
            <a:off x="1920240" y="438912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Making it stick + first 48 hours</a:t>
            </a:r>
            <a:endParaRPr lang="en-US" sz="2000" dirty="0"/>
          </a:p>
        </p:txBody>
      </p:sp>
      <p:sp>
        <p:nvSpPr>
          <p:cNvPr id="24" name="Shape 21"/>
          <p:cNvSpPr/>
          <p:nvPr/>
        </p:nvSpPr>
        <p:spPr>
          <a:xfrm>
            <a:off x="9052560" y="1920240"/>
            <a:ext cx="2606040" cy="2926080"/>
          </a:xfrm>
          <a:prstGeom prst="roundRect">
            <a:avLst>
              <a:gd name="adj" fmla="val 3158"/>
            </a:avLst>
          </a:prstGeom>
          <a:solidFill>
            <a:srgbClr val="13293D"/>
          </a:solidFill>
          <a:ln w="12700">
            <a:solidFill>
              <a:srgbClr val="13293D"/>
            </a:solidFill>
            <a:prstDash val="solid"/>
          </a:ln>
        </p:spPr>
      </p:sp>
      <p:sp>
        <p:nvSpPr>
          <p:cNvPr id="25" name="Text 22"/>
          <p:cNvSpPr/>
          <p:nvPr/>
        </p:nvSpPr>
        <p:spPr>
          <a:xfrm>
            <a:off x="9281160" y="2148840"/>
            <a:ext cx="2148840" cy="365760"/>
          </a:xfrm>
          <a:prstGeom prst="rect">
            <a:avLst/>
          </a:prstGeom>
          <a:noFill/>
          <a:ln/>
        </p:spPr>
        <p:txBody>
          <a:bodyPr wrap="square" lIns="0" tIns="0" rIns="0" bIns="0" rtlCol="0" anchor="ctr"/>
          <a:lstStyle/>
          <a:p>
            <a:pPr indent="0" marL="0">
              <a:buNone/>
            </a:pPr>
            <a:r>
              <a:rPr lang="en-US" sz="1600" b="1" dirty="0">
                <a:solidFill>
                  <a:srgbClr val="F4A825"/>
                </a:solidFill>
                <a:latin typeface="Inter" pitchFamily="34" charset="0"/>
                <a:ea typeface="Inter" pitchFamily="34" charset="-122"/>
                <a:cs typeface="Inter" pitchFamily="34" charset="-120"/>
              </a:rPr>
              <a:t>One promise</a:t>
            </a:r>
            <a:endParaRPr lang="en-US" sz="1600" dirty="0"/>
          </a:p>
        </p:txBody>
      </p:sp>
      <p:sp>
        <p:nvSpPr>
          <p:cNvPr id="26" name="Text 23"/>
          <p:cNvSpPr/>
          <p:nvPr/>
        </p:nvSpPr>
        <p:spPr>
          <a:xfrm>
            <a:off x="9281160" y="2560320"/>
            <a:ext cx="2148840" cy="2103120"/>
          </a:xfrm>
          <a:prstGeom prst="rect">
            <a:avLst/>
          </a:prstGeom>
          <a:noFill/>
          <a:ln/>
        </p:spPr>
        <p:txBody>
          <a:bodyPr wrap="square" lIns="0" tIns="0" rIns="0" bIns="0" rtlCol="0" anchor="t"/>
          <a:lstStyle/>
          <a:p>
            <a:pPr indent="0" marL="0">
              <a:buNone/>
            </a:pPr>
            <a:r>
              <a:rPr lang="en-US" sz="1400" dirty="0">
                <a:solidFill>
                  <a:srgbClr val="FFFFFF"/>
                </a:solidFill>
                <a:latin typeface="Inter" pitchFamily="34" charset="0"/>
                <a:ea typeface="Inter" pitchFamily="34" charset="-122"/>
                <a:cs typeface="Inter" pitchFamily="34" charset="-120"/>
              </a:rPr>
              <a:t>You leave owning a reusable prompt for a task you do every week. Not theory. Inventory.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2 · Prompting Basics   |   5</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pre-flight: would a colleague with zero context get it?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ONE TEST PREDICTS EVERYTHING</a:t>
            </a:r>
            <a:endParaRPr lang="en-US" sz="1200" dirty="0"/>
          </a:p>
        </p:txBody>
      </p:sp>
      <p:sp>
        <p:nvSpPr>
          <p:cNvPr id="13" name="Text 10"/>
          <p:cNvSpPr/>
          <p:nvPr/>
        </p:nvSpPr>
        <p:spPr>
          <a:xfrm>
            <a:off x="640080" y="128016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colleague test</a:t>
            </a:r>
            <a:endParaRPr lang="en-US" sz="4000" dirty="0"/>
          </a:p>
        </p:txBody>
      </p:sp>
      <p:sp>
        <p:nvSpPr>
          <p:cNvPr id="14" name="Text 11"/>
          <p:cNvSpPr/>
          <p:nvPr/>
        </p:nvSpPr>
        <p:spPr>
          <a:xfrm>
            <a:off x="640080" y="2377440"/>
            <a:ext cx="10972800" cy="1280160"/>
          </a:xfrm>
          <a:prstGeom prst="rect">
            <a:avLst/>
          </a:prstGeom>
          <a:noFill/>
          <a:ln/>
        </p:spPr>
        <p:txBody>
          <a:bodyPr wrap="square" lIns="0" tIns="0" rIns="0" bIns="0" rtlCol="0" anchor="ctr"/>
          <a:lstStyle/>
          <a:p>
            <a:pPr indent="0" marL="0">
              <a:lnSpc>
                <a:spcPct val="120000"/>
              </a:lnSpc>
              <a:buNone/>
            </a:pPr>
            <a:r>
              <a:rPr lang="en-US" sz="2600" dirty="0">
                <a:solidFill>
                  <a:srgbClr val="C9D4DE"/>
                </a:solidFill>
                <a:latin typeface="Inter" pitchFamily="34" charset="0"/>
                <a:ea typeface="Inter" pitchFamily="34" charset="-122"/>
                <a:cs typeface="Inter" pitchFamily="34" charset="-120"/>
              </a:rPr>
              <a:t>Show your prompt to a colleague with zero context.</a:t>
            </a:r>
            <a:endParaRPr lang="en-US" sz="2600" dirty="0"/>
          </a:p>
          <a:p>
            <a:pPr indent="0" marL="0">
              <a:lnSpc>
                <a:spcPct val="120000"/>
              </a:lnSpc>
              <a:buNone/>
            </a:pPr>
            <a:r>
              <a:rPr lang="en-US" sz="2600" dirty="0">
                <a:solidFill>
                  <a:srgbClr val="C9D4DE"/>
                </a:solidFill>
                <a:latin typeface="Inter" pitchFamily="34" charset="0"/>
                <a:ea typeface="Inter" pitchFamily="34" charset="-122"/>
                <a:cs typeface="Inter" pitchFamily="34" charset="-120"/>
              </a:rPr>
              <a:t>If they’d be confused, the model will be too.</a:t>
            </a:r>
            <a:endParaRPr lang="en-US" sz="2600" dirty="0"/>
          </a:p>
        </p:txBody>
      </p:sp>
      <p:sp>
        <p:nvSpPr>
          <p:cNvPr id="15" name="Text 12"/>
          <p:cNvSpPr/>
          <p:nvPr/>
        </p:nvSpPr>
        <p:spPr>
          <a:xfrm>
            <a:off x="640080" y="4114800"/>
            <a:ext cx="10972800" cy="109728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Treat the AI like a brilliant new hire on day one: enormously capable, knows nothing about your classroom. Write for that new hire.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formula, from now on: Role, Task, Context, Format.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WHERE EVERY OFFICIAL GUIDE CONVERGES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Four parts, every time</a:t>
            </a:r>
            <a:endParaRPr lang="en-US" sz="3200" dirty="0"/>
          </a:p>
        </p:txBody>
      </p:sp>
      <p:sp>
        <p:nvSpPr>
          <p:cNvPr id="14" name="Shape 11"/>
          <p:cNvSpPr/>
          <p:nvPr/>
        </p:nvSpPr>
        <p:spPr>
          <a:xfrm>
            <a:off x="640080" y="1417320"/>
            <a:ext cx="5349240" cy="1920240"/>
          </a:xfrm>
          <a:prstGeom prst="roundRect">
            <a:avLst>
              <a:gd name="adj" fmla="val 4286"/>
            </a:avLst>
          </a:prstGeom>
          <a:solidFill>
            <a:srgbClr val="F7F5F0"/>
          </a:solidFill>
          <a:ln w="12700">
            <a:solidFill>
              <a:srgbClr val="F7F5F0"/>
            </a:solidFill>
            <a:prstDash val="solid"/>
          </a:ln>
        </p:spPr>
      </p:sp>
      <p:sp>
        <p:nvSpPr>
          <p:cNvPr id="15" name="Text 12"/>
          <p:cNvSpPr/>
          <p:nvPr/>
        </p:nvSpPr>
        <p:spPr>
          <a:xfrm>
            <a:off x="914400" y="1581912"/>
            <a:ext cx="4800600" cy="45720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Role</a:t>
            </a:r>
            <a:endParaRPr lang="en-US" sz="2200" dirty="0"/>
          </a:p>
        </p:txBody>
      </p:sp>
      <p:sp>
        <p:nvSpPr>
          <p:cNvPr id="16" name="Text 13"/>
          <p:cNvSpPr/>
          <p:nvPr/>
        </p:nvSpPr>
        <p:spPr>
          <a:xfrm>
            <a:off x="914400" y="2075688"/>
            <a:ext cx="4800600" cy="548640"/>
          </a:xfrm>
          <a:prstGeom prst="rect">
            <a:avLst/>
          </a:prstGeom>
          <a:noFill/>
          <a:ln/>
        </p:spPr>
        <p:txBody>
          <a:bodyPr wrap="square" lIns="0" tIns="0" rIns="0" bIns="0" rtlCol="0" anchor="ctr"/>
          <a:lstStyle/>
          <a:p>
            <a:pPr indent="0" marL="0">
              <a:buNone/>
            </a:pPr>
            <a:r>
              <a:rPr lang="en-US" sz="1600" b="1" dirty="0">
                <a:solidFill>
                  <a:srgbClr val="13293D"/>
                </a:solidFill>
                <a:latin typeface="Inter" pitchFamily="34" charset="0"/>
                <a:ea typeface="Inter" pitchFamily="34" charset="-122"/>
                <a:cs typeface="Inter" pitchFamily="34" charset="-120"/>
              </a:rPr>
              <a:t>Who should the AI be?</a:t>
            </a:r>
            <a:endParaRPr lang="en-US" sz="1600" dirty="0"/>
          </a:p>
        </p:txBody>
      </p:sp>
      <p:sp>
        <p:nvSpPr>
          <p:cNvPr id="17" name="Text 14"/>
          <p:cNvSpPr/>
          <p:nvPr/>
        </p:nvSpPr>
        <p:spPr>
          <a:xfrm>
            <a:off x="914400" y="2606040"/>
            <a:ext cx="4800600" cy="640080"/>
          </a:xfrm>
          <a:prstGeom prst="rect">
            <a:avLst/>
          </a:prstGeom>
          <a:noFill/>
          <a:ln/>
        </p:spPr>
        <p:txBody>
          <a:bodyPr wrap="square" lIns="0" tIns="0" rIns="0" bIns="0" rtlCol="0" anchor="ctr"/>
          <a:lstStyle/>
          <a:p>
            <a:pPr indent="0" marL="0">
              <a:buNone/>
            </a:pPr>
            <a:r>
              <a:rPr lang="en-US" sz="1450" i="1" dirty="0">
                <a:solidFill>
                  <a:srgbClr val="1B1F24"/>
                </a:solidFill>
                <a:latin typeface="Inter" pitchFamily="34" charset="0"/>
                <a:ea typeface="Inter" pitchFamily="34" charset="-122"/>
                <a:cs typeface="Inter" pitchFamily="34" charset="-120"/>
              </a:rPr>
              <a:t>“You are an experienced 4th grade teacher.”</a:t>
            </a:r>
            <a:endParaRPr lang="en-US" sz="1450" dirty="0"/>
          </a:p>
        </p:txBody>
      </p:sp>
      <p:sp>
        <p:nvSpPr>
          <p:cNvPr id="18" name="Shape 15"/>
          <p:cNvSpPr/>
          <p:nvPr/>
        </p:nvSpPr>
        <p:spPr>
          <a:xfrm>
            <a:off x="6263640" y="1417320"/>
            <a:ext cx="5349240" cy="1920240"/>
          </a:xfrm>
          <a:prstGeom prst="roundRect">
            <a:avLst>
              <a:gd name="adj" fmla="val 4286"/>
            </a:avLst>
          </a:prstGeom>
          <a:solidFill>
            <a:srgbClr val="F7F5F0"/>
          </a:solidFill>
          <a:ln w="12700">
            <a:solidFill>
              <a:srgbClr val="F7F5F0"/>
            </a:solidFill>
            <a:prstDash val="solid"/>
          </a:ln>
        </p:spPr>
      </p:sp>
      <p:sp>
        <p:nvSpPr>
          <p:cNvPr id="19" name="Text 16"/>
          <p:cNvSpPr/>
          <p:nvPr/>
        </p:nvSpPr>
        <p:spPr>
          <a:xfrm>
            <a:off x="6537960" y="1581912"/>
            <a:ext cx="4800600" cy="45720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Task</a:t>
            </a:r>
            <a:endParaRPr lang="en-US" sz="2200" dirty="0"/>
          </a:p>
        </p:txBody>
      </p:sp>
      <p:sp>
        <p:nvSpPr>
          <p:cNvPr id="20" name="Text 17"/>
          <p:cNvSpPr/>
          <p:nvPr/>
        </p:nvSpPr>
        <p:spPr>
          <a:xfrm>
            <a:off x="6537960" y="2075688"/>
            <a:ext cx="4800600" cy="548640"/>
          </a:xfrm>
          <a:prstGeom prst="rect">
            <a:avLst/>
          </a:prstGeom>
          <a:noFill/>
          <a:ln/>
        </p:spPr>
        <p:txBody>
          <a:bodyPr wrap="square" lIns="0" tIns="0" rIns="0" bIns="0" rtlCol="0" anchor="ctr"/>
          <a:lstStyle/>
          <a:p>
            <a:pPr indent="0" marL="0">
              <a:buNone/>
            </a:pPr>
            <a:r>
              <a:rPr lang="en-US" sz="1600" b="1" dirty="0">
                <a:solidFill>
                  <a:srgbClr val="13293D"/>
                </a:solidFill>
                <a:latin typeface="Inter" pitchFamily="34" charset="0"/>
                <a:ea typeface="Inter" pitchFamily="34" charset="-122"/>
                <a:cs typeface="Inter" pitchFamily="34" charset="-120"/>
              </a:rPr>
              <a:t>What exactly do you want? One clear verb.</a:t>
            </a:r>
            <a:endParaRPr lang="en-US" sz="1600" dirty="0"/>
          </a:p>
        </p:txBody>
      </p:sp>
      <p:sp>
        <p:nvSpPr>
          <p:cNvPr id="21" name="Text 18"/>
          <p:cNvSpPr/>
          <p:nvPr/>
        </p:nvSpPr>
        <p:spPr>
          <a:xfrm>
            <a:off x="6537960" y="2606040"/>
            <a:ext cx="4800600" cy="640080"/>
          </a:xfrm>
          <a:prstGeom prst="rect">
            <a:avLst/>
          </a:prstGeom>
          <a:noFill/>
          <a:ln/>
        </p:spPr>
        <p:txBody>
          <a:bodyPr wrap="square" lIns="0" tIns="0" rIns="0" bIns="0" rtlCol="0" anchor="ctr"/>
          <a:lstStyle/>
          <a:p>
            <a:pPr indent="0" marL="0">
              <a:buNone/>
            </a:pPr>
            <a:r>
              <a:rPr lang="en-US" sz="1450" i="1" dirty="0">
                <a:solidFill>
                  <a:srgbClr val="1B1F24"/>
                </a:solidFill>
                <a:latin typeface="Inter" pitchFamily="34" charset="0"/>
                <a:ea typeface="Inter" pitchFamily="34" charset="-122"/>
                <a:cs typeface="Inter" pitchFamily="34" charset="-120"/>
              </a:rPr>
              <a:t>“Draft a 45-minute intro lesson…”</a:t>
            </a:r>
            <a:endParaRPr lang="en-US" sz="1450" dirty="0"/>
          </a:p>
        </p:txBody>
      </p:sp>
      <p:sp>
        <p:nvSpPr>
          <p:cNvPr id="22" name="Shape 19"/>
          <p:cNvSpPr/>
          <p:nvPr/>
        </p:nvSpPr>
        <p:spPr>
          <a:xfrm>
            <a:off x="640080" y="3520440"/>
            <a:ext cx="5349240" cy="1920240"/>
          </a:xfrm>
          <a:prstGeom prst="roundRect">
            <a:avLst>
              <a:gd name="adj" fmla="val 4286"/>
            </a:avLst>
          </a:prstGeom>
          <a:solidFill>
            <a:srgbClr val="F7F5F0"/>
          </a:solidFill>
          <a:ln w="12700">
            <a:solidFill>
              <a:srgbClr val="F7F5F0"/>
            </a:solidFill>
            <a:prstDash val="solid"/>
          </a:ln>
        </p:spPr>
      </p:sp>
      <p:sp>
        <p:nvSpPr>
          <p:cNvPr id="23" name="Text 20"/>
          <p:cNvSpPr/>
          <p:nvPr/>
        </p:nvSpPr>
        <p:spPr>
          <a:xfrm>
            <a:off x="914400" y="3685032"/>
            <a:ext cx="4800600" cy="45720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Context</a:t>
            </a:r>
            <a:endParaRPr lang="en-US" sz="2200" dirty="0"/>
          </a:p>
        </p:txBody>
      </p:sp>
      <p:sp>
        <p:nvSpPr>
          <p:cNvPr id="24" name="Text 21"/>
          <p:cNvSpPr/>
          <p:nvPr/>
        </p:nvSpPr>
        <p:spPr>
          <a:xfrm>
            <a:off x="914400" y="4178808"/>
            <a:ext cx="4800600" cy="548640"/>
          </a:xfrm>
          <a:prstGeom prst="rect">
            <a:avLst/>
          </a:prstGeom>
          <a:noFill/>
          <a:ln/>
        </p:spPr>
        <p:txBody>
          <a:bodyPr wrap="square" lIns="0" tIns="0" rIns="0" bIns="0" rtlCol="0" anchor="ctr"/>
          <a:lstStyle/>
          <a:p>
            <a:pPr indent="0" marL="0">
              <a:buNone/>
            </a:pPr>
            <a:r>
              <a:rPr lang="en-US" sz="1600" b="1" dirty="0">
                <a:solidFill>
                  <a:srgbClr val="13293D"/>
                </a:solidFill>
                <a:latin typeface="Inter" pitchFamily="34" charset="0"/>
                <a:ea typeface="Inter" pitchFamily="34" charset="-122"/>
                <a:cs typeface="Inter" pitchFamily="34" charset="-120"/>
              </a:rPr>
              <a:t>What would a substitute need to know?</a:t>
            </a:r>
            <a:endParaRPr lang="en-US" sz="1600" dirty="0"/>
          </a:p>
        </p:txBody>
      </p:sp>
      <p:sp>
        <p:nvSpPr>
          <p:cNvPr id="25" name="Text 22"/>
          <p:cNvSpPr/>
          <p:nvPr/>
        </p:nvSpPr>
        <p:spPr>
          <a:xfrm>
            <a:off x="914400" y="4709160"/>
            <a:ext cx="4800600" cy="640080"/>
          </a:xfrm>
          <a:prstGeom prst="rect">
            <a:avLst/>
          </a:prstGeom>
          <a:noFill/>
          <a:ln/>
        </p:spPr>
        <p:txBody>
          <a:bodyPr wrap="square" lIns="0" tIns="0" rIns="0" bIns="0" rtlCol="0" anchor="ctr"/>
          <a:lstStyle/>
          <a:p>
            <a:pPr indent="0" marL="0">
              <a:buNone/>
            </a:pPr>
            <a:r>
              <a:rPr lang="en-US" sz="1450" i="1" dirty="0">
                <a:solidFill>
                  <a:srgbClr val="1B1F24"/>
                </a:solidFill>
                <a:latin typeface="Inter" pitchFamily="34" charset="0"/>
                <a:ea typeface="Inter" pitchFamily="34" charset="-122"/>
                <a:cs typeface="Inter" pitchFamily="34" charset="-120"/>
              </a:rPr>
              <a:t>“They confuse numerator and denominator…”</a:t>
            </a:r>
            <a:endParaRPr lang="en-US" sz="1450" dirty="0"/>
          </a:p>
        </p:txBody>
      </p:sp>
      <p:sp>
        <p:nvSpPr>
          <p:cNvPr id="26" name="Shape 23"/>
          <p:cNvSpPr/>
          <p:nvPr/>
        </p:nvSpPr>
        <p:spPr>
          <a:xfrm>
            <a:off x="6263640" y="3520440"/>
            <a:ext cx="5349240" cy="1920240"/>
          </a:xfrm>
          <a:prstGeom prst="roundRect">
            <a:avLst>
              <a:gd name="adj" fmla="val 4286"/>
            </a:avLst>
          </a:prstGeom>
          <a:solidFill>
            <a:srgbClr val="F7F5F0"/>
          </a:solidFill>
          <a:ln w="12700">
            <a:solidFill>
              <a:srgbClr val="F7F5F0"/>
            </a:solidFill>
            <a:prstDash val="solid"/>
          </a:ln>
        </p:spPr>
      </p:sp>
      <p:sp>
        <p:nvSpPr>
          <p:cNvPr id="27" name="Text 24"/>
          <p:cNvSpPr/>
          <p:nvPr/>
        </p:nvSpPr>
        <p:spPr>
          <a:xfrm>
            <a:off x="6537960" y="3685032"/>
            <a:ext cx="4800600" cy="45720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Format</a:t>
            </a:r>
            <a:endParaRPr lang="en-US" sz="2200" dirty="0"/>
          </a:p>
        </p:txBody>
      </p:sp>
      <p:sp>
        <p:nvSpPr>
          <p:cNvPr id="28" name="Text 25"/>
          <p:cNvSpPr/>
          <p:nvPr/>
        </p:nvSpPr>
        <p:spPr>
          <a:xfrm>
            <a:off x="6537960" y="4178808"/>
            <a:ext cx="4800600" cy="548640"/>
          </a:xfrm>
          <a:prstGeom prst="rect">
            <a:avLst/>
          </a:prstGeom>
          <a:noFill/>
          <a:ln/>
        </p:spPr>
        <p:txBody>
          <a:bodyPr wrap="square" lIns="0" tIns="0" rIns="0" bIns="0" rtlCol="0" anchor="ctr"/>
          <a:lstStyle/>
          <a:p>
            <a:pPr indent="0" marL="0">
              <a:buNone/>
            </a:pPr>
            <a:r>
              <a:rPr lang="en-US" sz="1600" b="1" dirty="0">
                <a:solidFill>
                  <a:srgbClr val="13293D"/>
                </a:solidFill>
                <a:latin typeface="Inter" pitchFamily="34" charset="0"/>
                <a:ea typeface="Inter" pitchFamily="34" charset="-122"/>
                <a:cs typeface="Inter" pitchFamily="34" charset="-120"/>
              </a:rPr>
              <a:t>What should the output look like?</a:t>
            </a:r>
            <a:endParaRPr lang="en-US" sz="1600" dirty="0"/>
          </a:p>
        </p:txBody>
      </p:sp>
      <p:sp>
        <p:nvSpPr>
          <p:cNvPr id="29" name="Text 26"/>
          <p:cNvSpPr/>
          <p:nvPr/>
        </p:nvSpPr>
        <p:spPr>
          <a:xfrm>
            <a:off x="6537960" y="4709160"/>
            <a:ext cx="4800600" cy="640080"/>
          </a:xfrm>
          <a:prstGeom prst="rect">
            <a:avLst/>
          </a:prstGeom>
          <a:noFill/>
          <a:ln/>
        </p:spPr>
        <p:txBody>
          <a:bodyPr wrap="square" lIns="0" tIns="0" rIns="0" bIns="0" rtlCol="0" anchor="ctr"/>
          <a:lstStyle/>
          <a:p>
            <a:pPr indent="0" marL="0">
              <a:buNone/>
            </a:pPr>
            <a:r>
              <a:rPr lang="en-US" sz="1450" i="1" dirty="0">
                <a:solidFill>
                  <a:srgbClr val="1B1F24"/>
                </a:solidFill>
                <a:latin typeface="Inter" pitchFamily="34" charset="0"/>
                <a:ea typeface="Inter" pitchFamily="34" charset="-122"/>
                <a:cs typeface="Inter" pitchFamily="34" charset="-120"/>
              </a:rPr>
              <a:t>“A table with timings + 3-question exit check.”</a:t>
            </a:r>
            <a:endParaRPr lang="en-US" sz="1450" dirty="0"/>
          </a:p>
        </p:txBody>
      </p:sp>
      <p:sp>
        <p:nvSpPr>
          <p:cNvPr id="30" name="Text 27"/>
          <p:cNvSpPr/>
          <p:nvPr/>
        </p:nvSpPr>
        <p:spPr>
          <a:xfrm>
            <a:off x="640080" y="562356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Role · Task · Context · Format. Everything else today is practice.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expectation, calibrated: structure buys measurably better output.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MEASURED, NOT FOLKLORE</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Specific in, specific out</a:t>
            </a:r>
            <a:endParaRPr lang="en-US" sz="3200" dirty="0"/>
          </a:p>
        </p:txBody>
      </p:sp>
      <p:sp>
        <p:nvSpPr>
          <p:cNvPr id="14" name="Shape 11"/>
          <p:cNvSpPr/>
          <p:nvPr/>
        </p:nvSpPr>
        <p:spPr>
          <a:xfrm>
            <a:off x="640080" y="1645920"/>
            <a:ext cx="10972800" cy="2926080"/>
          </a:xfrm>
          <a:prstGeom prst="roundRect">
            <a:avLst>
              <a:gd name="adj" fmla="val 2813"/>
            </a:avLst>
          </a:prstGeom>
          <a:solidFill>
            <a:srgbClr val="F7F5F0"/>
          </a:solidFill>
          <a:ln w="12700">
            <a:solidFill>
              <a:srgbClr val="F7F5F0"/>
            </a:solidFill>
            <a:prstDash val="solid"/>
          </a:ln>
        </p:spPr>
      </p:sp>
      <p:sp>
        <p:nvSpPr>
          <p:cNvPr id="15" name="Text 12"/>
          <p:cNvSpPr/>
          <p:nvPr/>
        </p:nvSpPr>
        <p:spPr>
          <a:xfrm>
            <a:off x="640080" y="2011680"/>
            <a:ext cx="10972800" cy="1280160"/>
          </a:xfrm>
          <a:prstGeom prst="rect">
            <a:avLst/>
          </a:prstGeom>
          <a:noFill/>
          <a:ln/>
        </p:spPr>
        <p:txBody>
          <a:bodyPr wrap="square" lIns="0" tIns="0" rIns="0" bIns="0" rtlCol="0" anchor="ctr"/>
          <a:lstStyle/>
          <a:p>
            <a:pPr algn="ctr" indent="0" marL="0">
              <a:buNone/>
            </a:pPr>
            <a:r>
              <a:rPr lang="en-US" sz="7200" b="1" dirty="0">
                <a:solidFill>
                  <a:srgbClr val="2A9D8F"/>
                </a:solidFill>
                <a:latin typeface="Inter" pitchFamily="34" charset="0"/>
                <a:ea typeface="Inter" pitchFamily="34" charset="-122"/>
                <a:cs typeface="Inter" pitchFamily="34" charset="-120"/>
              </a:rPr>
              <a:t>+50%</a:t>
            </a:r>
            <a:endParaRPr lang="en-US" sz="7200" dirty="0"/>
          </a:p>
        </p:txBody>
      </p:sp>
      <p:sp>
        <p:nvSpPr>
          <p:cNvPr id="16" name="Text 13"/>
          <p:cNvSpPr/>
          <p:nvPr/>
        </p:nvSpPr>
        <p:spPr>
          <a:xfrm>
            <a:off x="1280160" y="3383280"/>
            <a:ext cx="9601200" cy="100584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Researchers testing structured, principled prompts against casual ones measured response-quality improvements of more than half on the strongest models. (Bsharat et al., 2024, preprint)</a:t>
            </a:r>
            <a:endParaRPr lang="en-US" sz="1600" dirty="0"/>
          </a:p>
        </p:txBody>
      </p:sp>
      <p:sp>
        <p:nvSpPr>
          <p:cNvPr id="17" name="Text 14"/>
          <p:cNvSpPr/>
          <p:nvPr/>
        </p:nvSpPr>
        <p:spPr>
          <a:xfrm>
            <a:off x="640080" y="5029200"/>
            <a:ext cx="10972800" cy="457200"/>
          </a:xfrm>
          <a:prstGeom prst="rect">
            <a:avLst/>
          </a:prstGeom>
          <a:noFill/>
          <a:ln/>
        </p:spPr>
        <p:txBody>
          <a:bodyPr wrap="square" lIns="0" tIns="0" rIns="0" bIns="0" rtlCol="0" anchor="ctr"/>
          <a:lstStyle/>
          <a:p>
            <a:pPr algn="ctr" indent="0" marL="0">
              <a:buNone/>
            </a:pPr>
            <a:r>
              <a:rPr lang="en-US" sz="2000" i="1" dirty="0">
                <a:solidFill>
                  <a:srgbClr val="5B6B7A"/>
                </a:solidFill>
                <a:latin typeface="Inter" pitchFamily="34" charset="0"/>
                <a:ea typeface="Inter" pitchFamily="34" charset="-122"/>
                <a:cs typeface="Inter" pitchFamily="34" charset="-120"/>
              </a:rPr>
              <a:t>The formula is just a reliable way to be specific.</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caveat, permanent: no prompt turns off hallucination. She still verifies.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HONEST LIMITS, BEFORE THE MAKEOVERS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one thing prompts can’t fix</a:t>
            </a:r>
            <a:endParaRPr lang="en-US" sz="3200" dirty="0"/>
          </a:p>
        </p:txBody>
      </p:sp>
      <p:sp>
        <p:nvSpPr>
          <p:cNvPr id="14" name="Shape 11"/>
          <p:cNvSpPr/>
          <p:nvPr/>
        </p:nvSpPr>
        <p:spPr>
          <a:xfrm>
            <a:off x="640080" y="1554480"/>
            <a:ext cx="10972800" cy="2011680"/>
          </a:xfrm>
          <a:prstGeom prst="roundRect">
            <a:avLst>
              <a:gd name="adj" fmla="val 4091"/>
            </a:avLst>
          </a:prstGeom>
          <a:solidFill>
            <a:srgbClr val="13293D"/>
          </a:solidFill>
          <a:ln w="12700">
            <a:solidFill>
              <a:srgbClr val="13293D"/>
            </a:solidFill>
            <a:prstDash val="solid"/>
          </a:ln>
        </p:spPr>
      </p:sp>
      <p:sp>
        <p:nvSpPr>
          <p:cNvPr id="15" name="Text 12"/>
          <p:cNvSpPr/>
          <p:nvPr/>
        </p:nvSpPr>
        <p:spPr>
          <a:xfrm>
            <a:off x="1005840" y="1783080"/>
            <a:ext cx="10241280" cy="1554480"/>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No prompt turns off hallucination. A beautifully structured prompt can still invent a fact, with total confidence.</a:t>
            </a:r>
            <a:endParaRPr lang="en-US" sz="2400" dirty="0"/>
          </a:p>
        </p:txBody>
      </p:sp>
      <p:sp>
        <p:nvSpPr>
          <p:cNvPr id="16" name="Text 13"/>
          <p:cNvSpPr/>
          <p:nvPr/>
        </p:nvSpPr>
        <p:spPr>
          <a:xfrm>
            <a:off x="640080" y="3840480"/>
            <a:ext cx="10908792" cy="164592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Prompting improves quality and fit; it does not replace verification</a:t>
            </a:r>
            <a:endParaRPr lang="en-US" sz="2000" dirty="0"/>
          </a:p>
          <a:p>
            <a:pPr marL="342900" indent="-342900">
              <a:spcAft>
                <a:spcPts val="1000"/>
              </a:spcAft>
              <a:buSzPct val="100000"/>
              <a:buChar char="•"/>
            </a:pPr>
            <a:r>
              <a:rPr lang="en-US" sz="2000" b="1" dirty="0">
                <a:solidFill>
                  <a:srgbClr val="13293D"/>
                </a:solidFill>
                <a:latin typeface="Inter" pitchFamily="34" charset="0"/>
                <a:ea typeface="Inter" pitchFamily="34" charset="-122"/>
                <a:cs typeface="Inter" pitchFamily="34" charset="-120"/>
              </a:rPr>
              <a:t>The Kit 1 rule rides along forever: anything factual gets checked before you rely on it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9</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MAKEOVER #1 · PLANNING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lesson plan</a:t>
            </a:r>
            <a:endParaRPr lang="en-US" sz="3200" dirty="0"/>
          </a:p>
        </p:txBody>
      </p:sp>
      <p:sp>
        <p:nvSpPr>
          <p:cNvPr id="7" name="Text 4"/>
          <p:cNvSpPr/>
          <p:nvPr/>
        </p:nvSpPr>
        <p:spPr>
          <a:xfrm>
            <a:off x="640080" y="1298448"/>
            <a:ext cx="10972800" cy="365760"/>
          </a:xfrm>
          <a:prstGeom prst="rect">
            <a:avLst/>
          </a:prstGeom>
          <a:noFill/>
          <a:ln/>
        </p:spPr>
        <p:txBody>
          <a:bodyPr wrap="square" lIns="0" tIns="0" rIns="0" bIns="0" rtlCol="0" anchor="ctr"/>
          <a:lstStyle/>
          <a:p>
            <a:pPr indent="0" marL="0">
              <a:buNone/>
            </a:pPr>
            <a:r>
              <a:rPr lang="en-US" sz="1600" b="1" dirty="0">
                <a:solidFill>
                  <a:srgbClr val="B4453A"/>
                </a:solidFill>
                <a:latin typeface="Inter" pitchFamily="34" charset="0"/>
                <a:ea typeface="Inter" pitchFamily="34" charset="-122"/>
                <a:cs typeface="Inter" pitchFamily="34" charset="-120"/>
              </a:rPr>
              <a:t>BEFORE   </a:t>
            </a:r>
            <a:pPr indent="0" marL="0">
              <a:buNone/>
            </a:pPr>
            <a:r>
              <a:rPr lang="en-US" sz="1600" i="1" dirty="0">
                <a:solidFill>
                  <a:srgbClr val="5B6B7A"/>
                </a:solidFill>
                <a:latin typeface="Inter" pitchFamily="34" charset="0"/>
                <a:ea typeface="Inter" pitchFamily="34" charset="-122"/>
                <a:cs typeface="Inter" pitchFamily="34" charset="-120"/>
              </a:rPr>
              <a:t>“Write a lesson on fractions.”</a:t>
            </a:r>
            <a:endParaRPr lang="en-US" sz="1600" dirty="0"/>
          </a:p>
        </p:txBody>
      </p:sp>
      <p:sp>
        <p:nvSpPr>
          <p:cNvPr id="8" name="Shape 5"/>
          <p:cNvSpPr/>
          <p:nvPr/>
        </p:nvSpPr>
        <p:spPr>
          <a:xfrm>
            <a:off x="640080" y="1783080"/>
            <a:ext cx="10972800" cy="3520440"/>
          </a:xfrm>
          <a:prstGeom prst="roundRect">
            <a:avLst>
              <a:gd name="adj" fmla="val 2597"/>
            </a:avLst>
          </a:prstGeom>
          <a:solidFill>
            <a:srgbClr val="FFFFFF"/>
          </a:solidFill>
          <a:ln w="19050">
            <a:solidFill>
              <a:srgbClr val="DCE3EA"/>
            </a:solidFill>
            <a:prstDash val="solid"/>
          </a:ln>
        </p:spPr>
      </p:sp>
      <p:sp>
        <p:nvSpPr>
          <p:cNvPr id="9" name="Shape 6"/>
          <p:cNvSpPr/>
          <p:nvPr/>
        </p:nvSpPr>
        <p:spPr>
          <a:xfrm>
            <a:off x="640080" y="1783080"/>
            <a:ext cx="10972800" cy="384048"/>
          </a:xfrm>
          <a:prstGeom prst="roundRect">
            <a:avLst>
              <a:gd name="adj" fmla="val 23810"/>
            </a:avLst>
          </a:prstGeom>
          <a:solidFill>
            <a:srgbClr val="13293D"/>
          </a:solidFill>
          <a:ln w="12700">
            <a:solidFill>
              <a:srgbClr val="13293D"/>
            </a:solidFill>
            <a:prstDash val="solid"/>
          </a:ln>
        </p:spPr>
      </p:sp>
      <p:sp>
        <p:nvSpPr>
          <p:cNvPr id="10" name="Shape 7"/>
          <p:cNvSpPr/>
          <p:nvPr/>
        </p:nvSpPr>
        <p:spPr>
          <a:xfrm>
            <a:off x="868680" y="1901952"/>
            <a:ext cx="146304" cy="146304"/>
          </a:xfrm>
          <a:prstGeom prst="ellipse">
            <a:avLst/>
          </a:prstGeom>
          <a:solidFill>
            <a:srgbClr val="E8837A"/>
          </a:solidFill>
          <a:ln w="12700">
            <a:solidFill>
              <a:srgbClr val="E8837A"/>
            </a:solidFill>
            <a:prstDash val="solid"/>
          </a:ln>
        </p:spPr>
      </p:sp>
      <p:sp>
        <p:nvSpPr>
          <p:cNvPr id="11" name="Shape 8"/>
          <p:cNvSpPr/>
          <p:nvPr/>
        </p:nvSpPr>
        <p:spPr>
          <a:xfrm>
            <a:off x="1115568" y="1901952"/>
            <a:ext cx="146304" cy="146304"/>
          </a:xfrm>
          <a:prstGeom prst="ellipse">
            <a:avLst/>
          </a:prstGeom>
          <a:solidFill>
            <a:srgbClr val="F4A825"/>
          </a:solidFill>
          <a:ln w="12700">
            <a:solidFill>
              <a:srgbClr val="F4A825"/>
            </a:solidFill>
            <a:prstDash val="solid"/>
          </a:ln>
        </p:spPr>
      </p:sp>
      <p:sp>
        <p:nvSpPr>
          <p:cNvPr id="12" name="Shape 9"/>
          <p:cNvSpPr/>
          <p:nvPr/>
        </p:nvSpPr>
        <p:spPr>
          <a:xfrm>
            <a:off x="1362456" y="1901952"/>
            <a:ext cx="146304" cy="146304"/>
          </a:xfrm>
          <a:prstGeom prst="ellipse">
            <a:avLst/>
          </a:prstGeom>
          <a:solidFill>
            <a:srgbClr val="2E7D5B"/>
          </a:solidFill>
          <a:ln w="12700">
            <a:solidFill>
              <a:srgbClr val="2E7D5B"/>
            </a:solidFill>
            <a:prstDash val="solid"/>
          </a:ln>
        </p:spPr>
      </p:sp>
      <p:sp>
        <p:nvSpPr>
          <p:cNvPr id="13" name="Text 10"/>
          <p:cNvSpPr/>
          <p:nvPr/>
        </p:nvSpPr>
        <p:spPr>
          <a:xfrm>
            <a:off x="1783080" y="17830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a:t>
            </a:r>
            <a:endParaRPr lang="en-US" sz="1100" dirty="0"/>
          </a:p>
        </p:txBody>
      </p:sp>
      <p:sp>
        <p:nvSpPr>
          <p:cNvPr id="14" name="Shape 11"/>
          <p:cNvSpPr/>
          <p:nvPr/>
        </p:nvSpPr>
        <p:spPr>
          <a:xfrm>
            <a:off x="1554480" y="2377440"/>
            <a:ext cx="9646920" cy="2148840"/>
          </a:xfrm>
          <a:prstGeom prst="roundRect">
            <a:avLst>
              <a:gd name="adj" fmla="val 5106"/>
            </a:avLst>
          </a:prstGeom>
          <a:solidFill>
            <a:srgbClr val="F7F5F0"/>
          </a:solidFill>
          <a:ln w="12700">
            <a:solidFill>
              <a:srgbClr val="F7F5F0"/>
            </a:solidFill>
            <a:prstDash val="solid"/>
          </a:ln>
        </p:spPr>
      </p:sp>
      <p:sp>
        <p:nvSpPr>
          <p:cNvPr id="15" name="Text 12"/>
          <p:cNvSpPr/>
          <p:nvPr/>
        </p:nvSpPr>
        <p:spPr>
          <a:xfrm>
            <a:off x="1783080" y="2514600"/>
            <a:ext cx="9189720" cy="1920240"/>
          </a:xfrm>
          <a:prstGeom prst="rect">
            <a:avLst/>
          </a:prstGeom>
          <a:noFill/>
          <a:ln/>
        </p:spPr>
        <p:txBody>
          <a:bodyPr wrap="square" lIns="0" tIns="0" rIns="0" bIns="0" rtlCol="0" anchor="t"/>
          <a:lstStyle/>
          <a:p>
            <a:pPr indent="0" marL="0">
              <a:lnSpc>
                <a:spcPct val="112000"/>
              </a:lnSpc>
              <a:buNone/>
            </a:pPr>
            <a:r>
              <a:rPr lang="en-US" sz="1600" b="1" dirty="0">
                <a:solidFill>
                  <a:srgbClr val="2A9D8F"/>
                </a:solidFill>
                <a:latin typeface="Inter" pitchFamily="34" charset="0"/>
                <a:ea typeface="Inter" pitchFamily="34" charset="-122"/>
                <a:cs typeface="Inter" pitchFamily="34" charset="-120"/>
              </a:rPr>
              <a:t>“You are an experienced 4th grade teacher. </a:t>
            </a:r>
            <a:pPr indent="0" marL="0">
              <a:lnSpc>
                <a:spcPct val="112000"/>
              </a:lnSpc>
              <a:buNone/>
            </a:pPr>
            <a:r>
              <a:rPr lang="en-US" sz="1600" b="1" dirty="0">
                <a:solidFill>
                  <a:srgbClr val="13293D"/>
                </a:solidFill>
                <a:latin typeface="Inter" pitchFamily="34" charset="0"/>
                <a:ea typeface="Inter" pitchFamily="34" charset="-122"/>
                <a:cs typeface="Inter" pitchFamily="34" charset="-120"/>
              </a:rPr>
              <a:t>Draft a 45-minute introductory lesson on equivalent fractions </a:t>
            </a:r>
            <a:pPr indent="0" marL="0">
              <a:lnSpc>
                <a:spcPct val="112000"/>
              </a:lnSpc>
              <a:buNone/>
            </a:pPr>
            <a:r>
              <a:rPr lang="en-US" sz="1600" b="1" dirty="0">
                <a:solidFill>
                  <a:srgbClr val="B07914"/>
                </a:solidFill>
                <a:latin typeface="Inter" pitchFamily="34" charset="0"/>
                <a:ea typeface="Inter" pitchFamily="34" charset="-122"/>
                <a:cs typeface="Inter" pitchFamily="34" charset="-120"/>
              </a:rPr>
              <a:t>for a class that has mastered basic fraction notation but confuses numerator and denominator when simplifying. Include a 5-minute warm-up, a hands-on activity using paper folding, and a 3-question exit check. </a:t>
            </a:r>
            <a:pPr indent="0" marL="0">
              <a:lnSpc>
                <a:spcPct val="112000"/>
              </a:lnSpc>
              <a:buNone/>
            </a:pPr>
            <a:r>
              <a:rPr lang="en-US" sz="1600" b="1" dirty="0">
                <a:solidFill>
                  <a:srgbClr val="2E7D5B"/>
                </a:solidFill>
                <a:latin typeface="Inter" pitchFamily="34" charset="0"/>
                <a:ea typeface="Inter" pitchFamily="34" charset="-122"/>
                <a:cs typeface="Inter" pitchFamily="34" charset="-120"/>
              </a:rPr>
              <a:t>Format as a table with timings.”</a:t>
            </a:r>
            <a:endParaRPr lang="en-US" sz="1600" dirty="0"/>
          </a:p>
        </p:txBody>
      </p:sp>
      <p:sp>
        <p:nvSpPr>
          <p:cNvPr id="16" name="Text 13"/>
          <p:cNvSpPr/>
          <p:nvPr/>
        </p:nvSpPr>
        <p:spPr>
          <a:xfrm>
            <a:off x="1554480" y="4617720"/>
            <a:ext cx="5486400" cy="365760"/>
          </a:xfrm>
          <a:prstGeom prst="rect">
            <a:avLst/>
          </a:prstGeom>
          <a:noFill/>
          <a:ln/>
        </p:spPr>
        <p:txBody>
          <a:bodyPr wrap="square" lIns="0" tIns="0" rIns="0" bIns="0" rtlCol="0" anchor="ctr"/>
          <a:lstStyle/>
          <a:p>
            <a:pPr indent="0" marL="0">
              <a:buNone/>
            </a:pPr>
            <a:r>
              <a:rPr lang="en-US" sz="1300" i="1" dirty="0">
                <a:solidFill>
                  <a:srgbClr val="5B6B7A"/>
                </a:solidFill>
                <a:latin typeface="Inter" pitchFamily="34" charset="0"/>
                <a:ea typeface="Inter" pitchFamily="34" charset="-122"/>
                <a:cs typeface="Inter" pitchFamily="34" charset="-120"/>
              </a:rPr>
              <a:t>AI: drafting the table…</a:t>
            </a:r>
            <a:endParaRPr lang="en-US" sz="1300" dirty="0"/>
          </a:p>
        </p:txBody>
      </p:sp>
      <p:sp>
        <p:nvSpPr>
          <p:cNvPr id="17" name="Shape 14"/>
          <p:cNvSpPr/>
          <p:nvPr/>
        </p:nvSpPr>
        <p:spPr>
          <a:xfrm>
            <a:off x="640080" y="5532120"/>
            <a:ext cx="2606040" cy="457200"/>
          </a:xfrm>
          <a:prstGeom prst="roundRect">
            <a:avLst>
              <a:gd name="adj" fmla="val 50000"/>
            </a:avLst>
          </a:prstGeom>
          <a:solidFill>
            <a:srgbClr val="2A9D8F"/>
          </a:solidFill>
          <a:ln w="12700">
            <a:solidFill>
              <a:srgbClr val="2A9D8F"/>
            </a:solidFill>
            <a:prstDash val="solid"/>
          </a:ln>
        </p:spPr>
      </p:sp>
      <p:sp>
        <p:nvSpPr>
          <p:cNvPr id="18" name="Text 15"/>
          <p:cNvSpPr/>
          <p:nvPr/>
        </p:nvSpPr>
        <p:spPr>
          <a:xfrm>
            <a:off x="640080"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ROLE</a:t>
            </a:r>
            <a:endParaRPr lang="en-US" sz="1400" dirty="0"/>
          </a:p>
        </p:txBody>
      </p:sp>
      <p:sp>
        <p:nvSpPr>
          <p:cNvPr id="19" name="Shape 16"/>
          <p:cNvSpPr/>
          <p:nvPr/>
        </p:nvSpPr>
        <p:spPr>
          <a:xfrm>
            <a:off x="3456432" y="5532120"/>
            <a:ext cx="2606040" cy="457200"/>
          </a:xfrm>
          <a:prstGeom prst="roundRect">
            <a:avLst>
              <a:gd name="adj" fmla="val 50000"/>
            </a:avLst>
          </a:prstGeom>
          <a:solidFill>
            <a:srgbClr val="13293D"/>
          </a:solidFill>
          <a:ln w="12700">
            <a:solidFill>
              <a:srgbClr val="13293D"/>
            </a:solidFill>
            <a:prstDash val="solid"/>
          </a:ln>
        </p:spPr>
      </p:sp>
      <p:sp>
        <p:nvSpPr>
          <p:cNvPr id="20" name="Text 17"/>
          <p:cNvSpPr/>
          <p:nvPr/>
        </p:nvSpPr>
        <p:spPr>
          <a:xfrm>
            <a:off x="3456432"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TASK</a:t>
            </a:r>
            <a:endParaRPr lang="en-US" sz="1400" dirty="0"/>
          </a:p>
        </p:txBody>
      </p:sp>
      <p:sp>
        <p:nvSpPr>
          <p:cNvPr id="21" name="Shape 18"/>
          <p:cNvSpPr/>
          <p:nvPr/>
        </p:nvSpPr>
        <p:spPr>
          <a:xfrm>
            <a:off x="6272784" y="5532120"/>
            <a:ext cx="2606040" cy="457200"/>
          </a:xfrm>
          <a:prstGeom prst="roundRect">
            <a:avLst>
              <a:gd name="adj" fmla="val 50000"/>
            </a:avLst>
          </a:prstGeom>
          <a:solidFill>
            <a:srgbClr val="B07914"/>
          </a:solidFill>
          <a:ln w="12700">
            <a:solidFill>
              <a:srgbClr val="B07914"/>
            </a:solidFill>
            <a:prstDash val="solid"/>
          </a:ln>
        </p:spPr>
      </p:sp>
      <p:sp>
        <p:nvSpPr>
          <p:cNvPr id="22" name="Text 19"/>
          <p:cNvSpPr/>
          <p:nvPr/>
        </p:nvSpPr>
        <p:spPr>
          <a:xfrm>
            <a:off x="6272784"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CONTEXT</a:t>
            </a:r>
            <a:endParaRPr lang="en-US" sz="1400" dirty="0"/>
          </a:p>
        </p:txBody>
      </p:sp>
      <p:sp>
        <p:nvSpPr>
          <p:cNvPr id="23" name="Shape 20"/>
          <p:cNvSpPr/>
          <p:nvPr/>
        </p:nvSpPr>
        <p:spPr>
          <a:xfrm>
            <a:off x="9089136" y="5532120"/>
            <a:ext cx="2606040" cy="457200"/>
          </a:xfrm>
          <a:prstGeom prst="roundRect">
            <a:avLst>
              <a:gd name="adj" fmla="val 50000"/>
            </a:avLst>
          </a:prstGeom>
          <a:solidFill>
            <a:srgbClr val="2E7D5B"/>
          </a:solidFill>
          <a:ln w="12700">
            <a:solidFill>
              <a:srgbClr val="2E7D5B"/>
            </a:solidFill>
            <a:prstDash val="solid"/>
          </a:ln>
        </p:spPr>
      </p:sp>
      <p:sp>
        <p:nvSpPr>
          <p:cNvPr id="24" name="Text 21"/>
          <p:cNvSpPr/>
          <p:nvPr/>
        </p:nvSpPr>
        <p:spPr>
          <a:xfrm>
            <a:off x="9089136"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FORMAT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10</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note-home prompt: the situation, never the child. Kit 1 rides along.</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MAKEOVER #2 · COMMUNICATION</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family note (no names needed)</a:t>
            </a:r>
            <a:endParaRPr lang="en-US" sz="3200" dirty="0"/>
          </a:p>
        </p:txBody>
      </p:sp>
      <p:sp>
        <p:nvSpPr>
          <p:cNvPr id="14" name="Shape 11"/>
          <p:cNvSpPr/>
          <p:nvPr/>
        </p:nvSpPr>
        <p:spPr>
          <a:xfrm>
            <a:off x="640080" y="1417320"/>
            <a:ext cx="10972800" cy="1371600"/>
          </a:xfrm>
          <a:prstGeom prst="roundRect">
            <a:avLst>
              <a:gd name="adj" fmla="val 6000"/>
            </a:avLst>
          </a:prstGeom>
          <a:solidFill>
            <a:srgbClr val="FBEFED"/>
          </a:solidFill>
          <a:ln w="12700">
            <a:solidFill>
              <a:srgbClr val="FBEFED"/>
            </a:solidFill>
            <a:prstDash val="solid"/>
          </a:ln>
        </p:spPr>
      </p:sp>
      <p:sp>
        <p:nvSpPr>
          <p:cNvPr id="15" name="Text 12"/>
          <p:cNvSpPr/>
          <p:nvPr/>
        </p:nvSpPr>
        <p:spPr>
          <a:xfrm>
            <a:off x="914400" y="1554480"/>
            <a:ext cx="1828800" cy="320040"/>
          </a:xfrm>
          <a:prstGeom prst="rect">
            <a:avLst/>
          </a:prstGeom>
          <a:noFill/>
          <a:ln/>
        </p:spPr>
        <p:txBody>
          <a:bodyPr wrap="square" lIns="0" tIns="0" rIns="0" bIns="0" rtlCol="0" anchor="ctr"/>
          <a:lstStyle/>
          <a:p>
            <a:pPr indent="0" marL="0">
              <a:buNone/>
            </a:pPr>
            <a:r>
              <a:rPr lang="en-US" sz="1400" b="1" dirty="0">
                <a:solidFill>
                  <a:srgbClr val="B4453A"/>
                </a:solidFill>
                <a:latin typeface="Inter" pitchFamily="34" charset="0"/>
                <a:ea typeface="Inter" pitchFamily="34" charset="-122"/>
                <a:cs typeface="Inter" pitchFamily="34" charset="-120"/>
              </a:rPr>
              <a:t>BEFORE</a:t>
            </a:r>
            <a:endParaRPr lang="en-US" sz="1400" dirty="0"/>
          </a:p>
        </p:txBody>
      </p:sp>
      <p:sp>
        <p:nvSpPr>
          <p:cNvPr id="16" name="Text 13"/>
          <p:cNvSpPr/>
          <p:nvPr/>
        </p:nvSpPr>
        <p:spPr>
          <a:xfrm>
            <a:off x="914400" y="1874520"/>
            <a:ext cx="10424160" cy="82296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“Write a note to parents about the field trip.”</a:t>
            </a:r>
            <a:endParaRPr lang="en-US" sz="1800" dirty="0"/>
          </a:p>
        </p:txBody>
      </p:sp>
      <p:sp>
        <p:nvSpPr>
          <p:cNvPr id="17" name="Shape 14"/>
          <p:cNvSpPr/>
          <p:nvPr/>
        </p:nvSpPr>
        <p:spPr>
          <a:xfrm>
            <a:off x="640080" y="3017520"/>
            <a:ext cx="10972800" cy="2651760"/>
          </a:xfrm>
          <a:prstGeom prst="roundRect">
            <a:avLst>
              <a:gd name="adj" fmla="val 3103"/>
            </a:avLst>
          </a:prstGeom>
          <a:solidFill>
            <a:srgbClr val="EAF5F3"/>
          </a:solidFill>
          <a:ln w="12700">
            <a:solidFill>
              <a:srgbClr val="EAF5F3"/>
            </a:solidFill>
            <a:prstDash val="solid"/>
          </a:ln>
        </p:spPr>
      </p:sp>
      <p:sp>
        <p:nvSpPr>
          <p:cNvPr id="18" name="Text 15"/>
          <p:cNvSpPr/>
          <p:nvPr/>
        </p:nvSpPr>
        <p:spPr>
          <a:xfrm>
            <a:off x="914400" y="3154680"/>
            <a:ext cx="1828800" cy="320040"/>
          </a:xfrm>
          <a:prstGeom prst="rect">
            <a:avLst/>
          </a:prstGeom>
          <a:noFill/>
          <a:ln/>
        </p:spPr>
        <p:txBody>
          <a:bodyPr wrap="square" lIns="0" tIns="0" rIns="0" bIns="0" rtlCol="0" anchor="ctr"/>
          <a:lstStyle/>
          <a:p>
            <a:pPr indent="0" marL="0">
              <a:buNone/>
            </a:pPr>
            <a:r>
              <a:rPr lang="en-US" sz="1400" b="1" dirty="0">
                <a:solidFill>
                  <a:srgbClr val="2E7D5B"/>
                </a:solidFill>
                <a:latin typeface="Inter" pitchFamily="34" charset="0"/>
                <a:ea typeface="Inter" pitchFamily="34" charset="-122"/>
                <a:cs typeface="Inter" pitchFamily="34" charset="-120"/>
              </a:rPr>
              <a:t>AFTER</a:t>
            </a:r>
            <a:endParaRPr lang="en-US" sz="1400" dirty="0"/>
          </a:p>
        </p:txBody>
      </p:sp>
      <p:sp>
        <p:nvSpPr>
          <p:cNvPr id="19" name="Text 16"/>
          <p:cNvSpPr/>
          <p:nvPr/>
        </p:nvSpPr>
        <p:spPr>
          <a:xfrm>
            <a:off x="914400" y="3474720"/>
            <a:ext cx="10424160" cy="2103120"/>
          </a:xfrm>
          <a:prstGeom prst="rect">
            <a:avLst/>
          </a:prstGeom>
          <a:noFill/>
          <a:ln/>
        </p:spPr>
        <p:txBody>
          <a:bodyPr wrap="square" lIns="0" tIns="0" rIns="0" bIns="0" rtlCol="0" anchor="t"/>
          <a:lstStyle/>
          <a:p>
            <a:pPr indent="0" marL="0">
              <a:buNone/>
            </a:pPr>
            <a:r>
              <a:rPr lang="en-US" sz="1550" i="1" dirty="0">
                <a:solidFill>
                  <a:srgbClr val="1B1F24"/>
                </a:solidFill>
                <a:latin typeface="Inter" pitchFamily="34" charset="0"/>
                <a:ea typeface="Inter" pitchFamily="34" charset="-122"/>
                <a:cs typeface="Inter" pitchFamily="34" charset="-120"/>
              </a:rPr>
              <a:t>“You are a warm, organized elementary teacher. Write a note to families about an upcoming museum field trip. Context: departure 8:30 a.m., return by 2 p.m., students need a bagged lunch and a signed permission slip by Friday. Reading level: busy families skimming on a phone. Format: under 150 words, three action items as a bulleted list.”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11</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leveling spec: grade level, keep key ideas, sentence limits, vocab box.</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MAKEOVER #3 · DIFFERENTIATION</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leveled text</a:t>
            </a:r>
            <a:endParaRPr lang="en-US" sz="3200" dirty="0"/>
          </a:p>
        </p:txBody>
      </p:sp>
      <p:sp>
        <p:nvSpPr>
          <p:cNvPr id="14" name="Shape 11"/>
          <p:cNvSpPr/>
          <p:nvPr/>
        </p:nvSpPr>
        <p:spPr>
          <a:xfrm>
            <a:off x="640080" y="1417320"/>
            <a:ext cx="10972800" cy="1371600"/>
          </a:xfrm>
          <a:prstGeom prst="roundRect">
            <a:avLst>
              <a:gd name="adj" fmla="val 6000"/>
            </a:avLst>
          </a:prstGeom>
          <a:solidFill>
            <a:srgbClr val="FBEFED"/>
          </a:solidFill>
          <a:ln w="12700">
            <a:solidFill>
              <a:srgbClr val="FBEFED"/>
            </a:solidFill>
            <a:prstDash val="solid"/>
          </a:ln>
        </p:spPr>
      </p:sp>
      <p:sp>
        <p:nvSpPr>
          <p:cNvPr id="15" name="Text 12"/>
          <p:cNvSpPr/>
          <p:nvPr/>
        </p:nvSpPr>
        <p:spPr>
          <a:xfrm>
            <a:off x="914400" y="1554480"/>
            <a:ext cx="1828800" cy="320040"/>
          </a:xfrm>
          <a:prstGeom prst="rect">
            <a:avLst/>
          </a:prstGeom>
          <a:noFill/>
          <a:ln/>
        </p:spPr>
        <p:txBody>
          <a:bodyPr wrap="square" lIns="0" tIns="0" rIns="0" bIns="0" rtlCol="0" anchor="ctr"/>
          <a:lstStyle/>
          <a:p>
            <a:pPr indent="0" marL="0">
              <a:buNone/>
            </a:pPr>
            <a:r>
              <a:rPr lang="en-US" sz="1400" b="1" dirty="0">
                <a:solidFill>
                  <a:srgbClr val="B4453A"/>
                </a:solidFill>
                <a:latin typeface="Inter" pitchFamily="34" charset="0"/>
                <a:ea typeface="Inter" pitchFamily="34" charset="-122"/>
                <a:cs typeface="Inter" pitchFamily="34" charset="-120"/>
              </a:rPr>
              <a:t>BEFORE</a:t>
            </a:r>
            <a:endParaRPr lang="en-US" sz="1400" dirty="0"/>
          </a:p>
        </p:txBody>
      </p:sp>
      <p:sp>
        <p:nvSpPr>
          <p:cNvPr id="16" name="Text 13"/>
          <p:cNvSpPr/>
          <p:nvPr/>
        </p:nvSpPr>
        <p:spPr>
          <a:xfrm>
            <a:off x="914400" y="1874520"/>
            <a:ext cx="10424160" cy="82296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“Make this easier.”</a:t>
            </a:r>
            <a:endParaRPr lang="en-US" sz="1800" dirty="0"/>
          </a:p>
        </p:txBody>
      </p:sp>
      <p:sp>
        <p:nvSpPr>
          <p:cNvPr id="17" name="Shape 14"/>
          <p:cNvSpPr/>
          <p:nvPr/>
        </p:nvSpPr>
        <p:spPr>
          <a:xfrm>
            <a:off x="640080" y="3017520"/>
            <a:ext cx="10972800" cy="2194560"/>
          </a:xfrm>
          <a:prstGeom prst="roundRect">
            <a:avLst>
              <a:gd name="adj" fmla="val 3750"/>
            </a:avLst>
          </a:prstGeom>
          <a:solidFill>
            <a:srgbClr val="EAF5F3"/>
          </a:solidFill>
          <a:ln w="12700">
            <a:solidFill>
              <a:srgbClr val="EAF5F3"/>
            </a:solidFill>
            <a:prstDash val="solid"/>
          </a:ln>
        </p:spPr>
      </p:sp>
      <p:sp>
        <p:nvSpPr>
          <p:cNvPr id="18" name="Text 15"/>
          <p:cNvSpPr/>
          <p:nvPr/>
        </p:nvSpPr>
        <p:spPr>
          <a:xfrm>
            <a:off x="914400" y="3154680"/>
            <a:ext cx="1828800" cy="320040"/>
          </a:xfrm>
          <a:prstGeom prst="rect">
            <a:avLst/>
          </a:prstGeom>
          <a:noFill/>
          <a:ln/>
        </p:spPr>
        <p:txBody>
          <a:bodyPr wrap="square" lIns="0" tIns="0" rIns="0" bIns="0" rtlCol="0" anchor="ctr"/>
          <a:lstStyle/>
          <a:p>
            <a:pPr indent="0" marL="0">
              <a:buNone/>
            </a:pPr>
            <a:r>
              <a:rPr lang="en-US" sz="1400" b="1" dirty="0">
                <a:solidFill>
                  <a:srgbClr val="2E7D5B"/>
                </a:solidFill>
                <a:latin typeface="Inter" pitchFamily="34" charset="0"/>
                <a:ea typeface="Inter" pitchFamily="34" charset="-122"/>
                <a:cs typeface="Inter" pitchFamily="34" charset="-120"/>
              </a:rPr>
              <a:t>AFTER</a:t>
            </a:r>
            <a:endParaRPr lang="en-US" sz="1400" dirty="0"/>
          </a:p>
        </p:txBody>
      </p:sp>
      <p:sp>
        <p:nvSpPr>
          <p:cNvPr id="19" name="Text 16"/>
          <p:cNvSpPr/>
          <p:nvPr/>
        </p:nvSpPr>
        <p:spPr>
          <a:xfrm>
            <a:off x="914400" y="3474720"/>
            <a:ext cx="10424160" cy="1645920"/>
          </a:xfrm>
          <a:prstGeom prst="rect">
            <a:avLst/>
          </a:prstGeom>
          <a:noFill/>
          <a:ln/>
        </p:spPr>
        <p:txBody>
          <a:bodyPr wrap="square" lIns="0" tIns="0" rIns="0" bIns="0" rtlCol="0" anchor="t"/>
          <a:lstStyle/>
          <a:p>
            <a:pPr indent="0" marL="0">
              <a:buNone/>
            </a:pPr>
            <a:r>
              <a:rPr lang="en-US" sz="1550" i="1" dirty="0">
                <a:solidFill>
                  <a:srgbClr val="1B1F24"/>
                </a:solidFill>
                <a:latin typeface="Inter" pitchFamily="34" charset="0"/>
                <a:ea typeface="Inter" pitchFamily="34" charset="-122"/>
                <a:cs typeface="Inter" pitchFamily="34" charset="-120"/>
              </a:rPr>
              <a:t>“Rewrite this passage at a 3rd grade reading level. Keep every key idea and the section headings. Sentence length under 12 words where possible. Then add a 5-word vocabulary box with student-friendly definitions.”  [paste your passage]</a:t>
            </a:r>
            <a:endParaRPr lang="en-US" sz="1550" dirty="0"/>
          </a:p>
        </p:txBody>
      </p:sp>
      <p:sp>
        <p:nvSpPr>
          <p:cNvPr id="20" name="Text 17"/>
          <p:cNvSpPr/>
          <p:nvPr/>
        </p:nvSpPr>
        <p:spPr>
          <a:xfrm>
            <a:off x="640080" y="5577840"/>
            <a:ext cx="10972800" cy="457200"/>
          </a:xfrm>
          <a:prstGeom prst="rect">
            <a:avLst/>
          </a:prstGeom>
          <a:noFill/>
          <a:ln/>
        </p:spPr>
        <p:txBody>
          <a:bodyPr wrap="square" lIns="0" tIns="0" rIns="0" bIns="0" rtlCol="0" anchor="ctr"/>
          <a:lstStyle/>
          <a:p>
            <a:pPr algn="ctr" indent="0" marL="0">
              <a:buNone/>
            </a:pPr>
            <a:r>
              <a:rPr lang="en-US" sz="1800" i="1" dirty="0">
                <a:solidFill>
                  <a:srgbClr val="5B6B7A"/>
                </a:solidFill>
                <a:latin typeface="Inter" pitchFamily="34" charset="0"/>
                <a:ea typeface="Inter" pitchFamily="34" charset="-122"/>
                <a:cs typeface="Inter" pitchFamily="34" charset="-120"/>
              </a:rPr>
              <a:t>The difference between “easier” and a specification is the difference between hoping and knowing.</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12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spice rack: constraints, audience, an example, 'ask me questions first.'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SMALL INGREDIENTS, BIG UPGRADES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spice rack</a:t>
            </a:r>
            <a:endParaRPr lang="en-US" sz="3200" dirty="0"/>
          </a:p>
        </p:txBody>
      </p:sp>
      <p:sp>
        <p:nvSpPr>
          <p:cNvPr id="14" name="Shape 11"/>
          <p:cNvSpPr/>
          <p:nvPr/>
        </p:nvSpPr>
        <p:spPr>
          <a:xfrm>
            <a:off x="640080" y="1463040"/>
            <a:ext cx="5349240" cy="1783080"/>
          </a:xfrm>
          <a:prstGeom prst="roundRect">
            <a:avLst>
              <a:gd name="adj" fmla="val 4615"/>
            </a:avLst>
          </a:prstGeom>
          <a:solidFill>
            <a:srgbClr val="F7F5F0"/>
          </a:solidFill>
          <a:ln w="12700">
            <a:solidFill>
              <a:srgbClr val="F7F5F0"/>
            </a:solidFill>
            <a:prstDash val="solid"/>
          </a:ln>
        </p:spPr>
      </p:sp>
      <p:sp>
        <p:nvSpPr>
          <p:cNvPr id="15" name="Text 12"/>
          <p:cNvSpPr/>
          <p:nvPr/>
        </p:nvSpPr>
        <p:spPr>
          <a:xfrm>
            <a:off x="914400" y="1645920"/>
            <a:ext cx="480060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Constraints</a:t>
            </a:r>
            <a:endParaRPr lang="en-US" sz="2000" dirty="0"/>
          </a:p>
        </p:txBody>
      </p:sp>
      <p:sp>
        <p:nvSpPr>
          <p:cNvPr id="16" name="Text 13"/>
          <p:cNvSpPr/>
          <p:nvPr/>
        </p:nvSpPr>
        <p:spPr>
          <a:xfrm>
            <a:off x="914400" y="2148840"/>
            <a:ext cx="4800600" cy="1005840"/>
          </a:xfrm>
          <a:prstGeom prst="rect">
            <a:avLst/>
          </a:prstGeom>
          <a:noFill/>
          <a:ln/>
        </p:spPr>
        <p:txBody>
          <a:bodyPr wrap="square" lIns="0" tIns="0" rIns="0" bIns="0" rtlCol="0" anchor="ctr"/>
          <a:lstStyle/>
          <a:p>
            <a:pPr indent="0" marL="0">
              <a:buNone/>
            </a:pPr>
            <a:r>
              <a:rPr lang="en-US" sz="1550" dirty="0">
                <a:solidFill>
                  <a:srgbClr val="1B1F24"/>
                </a:solidFill>
                <a:latin typeface="Inter" pitchFamily="34" charset="0"/>
                <a:ea typeface="Inter" pitchFamily="34" charset="-122"/>
                <a:cs typeface="Inter" pitchFamily="34" charset="-120"/>
              </a:rPr>
              <a:t>“Under 150 words” · “exactly five questions” · “nothing that needs a copier”</a:t>
            </a:r>
            <a:endParaRPr lang="en-US" sz="1550" dirty="0"/>
          </a:p>
        </p:txBody>
      </p:sp>
      <p:sp>
        <p:nvSpPr>
          <p:cNvPr id="17" name="Shape 14"/>
          <p:cNvSpPr/>
          <p:nvPr/>
        </p:nvSpPr>
        <p:spPr>
          <a:xfrm>
            <a:off x="6263640" y="1463040"/>
            <a:ext cx="5349240" cy="1783080"/>
          </a:xfrm>
          <a:prstGeom prst="roundRect">
            <a:avLst>
              <a:gd name="adj" fmla="val 4615"/>
            </a:avLst>
          </a:prstGeom>
          <a:solidFill>
            <a:srgbClr val="F7F5F0"/>
          </a:solidFill>
          <a:ln w="12700">
            <a:solidFill>
              <a:srgbClr val="F7F5F0"/>
            </a:solidFill>
            <a:prstDash val="solid"/>
          </a:ln>
        </p:spPr>
      </p:sp>
      <p:sp>
        <p:nvSpPr>
          <p:cNvPr id="18" name="Text 15"/>
          <p:cNvSpPr/>
          <p:nvPr/>
        </p:nvSpPr>
        <p:spPr>
          <a:xfrm>
            <a:off x="6537960" y="1645920"/>
            <a:ext cx="480060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Audience</a:t>
            </a:r>
            <a:endParaRPr lang="en-US" sz="2000" dirty="0"/>
          </a:p>
        </p:txBody>
      </p:sp>
      <p:sp>
        <p:nvSpPr>
          <p:cNvPr id="19" name="Text 16"/>
          <p:cNvSpPr/>
          <p:nvPr/>
        </p:nvSpPr>
        <p:spPr>
          <a:xfrm>
            <a:off x="6537960" y="2148840"/>
            <a:ext cx="4800600" cy="1005840"/>
          </a:xfrm>
          <a:prstGeom prst="rect">
            <a:avLst/>
          </a:prstGeom>
          <a:noFill/>
          <a:ln/>
        </p:spPr>
        <p:txBody>
          <a:bodyPr wrap="square" lIns="0" tIns="0" rIns="0" bIns="0" rtlCol="0" anchor="ctr"/>
          <a:lstStyle/>
          <a:p>
            <a:pPr indent="0" marL="0">
              <a:buNone/>
            </a:pPr>
            <a:r>
              <a:rPr lang="en-US" sz="1550" dirty="0">
                <a:solidFill>
                  <a:srgbClr val="1B1F24"/>
                </a:solidFill>
                <a:latin typeface="Inter" pitchFamily="34" charset="0"/>
                <a:ea typeface="Inter" pitchFamily="34" charset="-122"/>
                <a:cs typeface="Inter" pitchFamily="34" charset="-120"/>
              </a:rPr>
              <a:t>“For students who’ve never seen this word” · “for families skimming on a phone”</a:t>
            </a:r>
            <a:endParaRPr lang="en-US" sz="1550" dirty="0"/>
          </a:p>
        </p:txBody>
      </p:sp>
      <p:sp>
        <p:nvSpPr>
          <p:cNvPr id="20" name="Shape 17"/>
          <p:cNvSpPr/>
          <p:nvPr/>
        </p:nvSpPr>
        <p:spPr>
          <a:xfrm>
            <a:off x="640080" y="3429000"/>
            <a:ext cx="5349240" cy="1783080"/>
          </a:xfrm>
          <a:prstGeom prst="roundRect">
            <a:avLst>
              <a:gd name="adj" fmla="val 4615"/>
            </a:avLst>
          </a:prstGeom>
          <a:solidFill>
            <a:srgbClr val="F7F5F0"/>
          </a:solidFill>
          <a:ln w="12700">
            <a:solidFill>
              <a:srgbClr val="F7F5F0"/>
            </a:solidFill>
            <a:prstDash val="solid"/>
          </a:ln>
        </p:spPr>
      </p:sp>
      <p:sp>
        <p:nvSpPr>
          <p:cNvPr id="21" name="Text 18"/>
          <p:cNvSpPr/>
          <p:nvPr/>
        </p:nvSpPr>
        <p:spPr>
          <a:xfrm>
            <a:off x="914400" y="3611880"/>
            <a:ext cx="480060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An example</a:t>
            </a:r>
            <a:endParaRPr lang="en-US" sz="2000" dirty="0"/>
          </a:p>
        </p:txBody>
      </p:sp>
      <p:sp>
        <p:nvSpPr>
          <p:cNvPr id="22" name="Text 19"/>
          <p:cNvSpPr/>
          <p:nvPr/>
        </p:nvSpPr>
        <p:spPr>
          <a:xfrm>
            <a:off x="914400" y="4114800"/>
            <a:ext cx="4800600" cy="1005840"/>
          </a:xfrm>
          <a:prstGeom prst="rect">
            <a:avLst/>
          </a:prstGeom>
          <a:noFill/>
          <a:ln/>
        </p:spPr>
        <p:txBody>
          <a:bodyPr wrap="square" lIns="0" tIns="0" rIns="0" bIns="0" rtlCol="0" anchor="ctr"/>
          <a:lstStyle/>
          <a:p>
            <a:pPr indent="0" marL="0">
              <a:buNone/>
            </a:pPr>
            <a:r>
              <a:rPr lang="en-US" sz="1550" dirty="0">
                <a:solidFill>
                  <a:srgbClr val="1B1F24"/>
                </a:solidFill>
                <a:latin typeface="Inter" pitchFamily="34" charset="0"/>
                <a:ea typeface="Inter" pitchFamily="34" charset="-122"/>
                <a:cs typeface="Inter" pitchFamily="34" charset="-120"/>
              </a:rPr>
              <a:t>Paste one sample in the style you want: “match this style”</a:t>
            </a:r>
            <a:endParaRPr lang="en-US" sz="1550" dirty="0"/>
          </a:p>
        </p:txBody>
      </p:sp>
      <p:sp>
        <p:nvSpPr>
          <p:cNvPr id="23" name="Shape 20"/>
          <p:cNvSpPr/>
          <p:nvPr/>
        </p:nvSpPr>
        <p:spPr>
          <a:xfrm>
            <a:off x="6263640" y="3429000"/>
            <a:ext cx="5349240" cy="1783080"/>
          </a:xfrm>
          <a:prstGeom prst="roundRect">
            <a:avLst>
              <a:gd name="adj" fmla="val 4615"/>
            </a:avLst>
          </a:prstGeom>
          <a:solidFill>
            <a:srgbClr val="F7F5F0"/>
          </a:solidFill>
          <a:ln w="12700">
            <a:solidFill>
              <a:srgbClr val="F7F5F0"/>
            </a:solidFill>
            <a:prstDash val="solid"/>
          </a:ln>
        </p:spPr>
      </p:sp>
      <p:sp>
        <p:nvSpPr>
          <p:cNvPr id="24" name="Text 21"/>
          <p:cNvSpPr/>
          <p:nvPr/>
        </p:nvSpPr>
        <p:spPr>
          <a:xfrm>
            <a:off x="6537960" y="3611880"/>
            <a:ext cx="480060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Escape hatch</a:t>
            </a:r>
            <a:endParaRPr lang="en-US" sz="2000" dirty="0"/>
          </a:p>
        </p:txBody>
      </p:sp>
      <p:sp>
        <p:nvSpPr>
          <p:cNvPr id="25" name="Text 22"/>
          <p:cNvSpPr/>
          <p:nvPr/>
        </p:nvSpPr>
        <p:spPr>
          <a:xfrm>
            <a:off x="6537960" y="4114800"/>
            <a:ext cx="4800600" cy="1005840"/>
          </a:xfrm>
          <a:prstGeom prst="rect">
            <a:avLst/>
          </a:prstGeom>
          <a:noFill/>
          <a:ln/>
        </p:spPr>
        <p:txBody>
          <a:bodyPr wrap="square" lIns="0" tIns="0" rIns="0" bIns="0" rtlCol="0" anchor="ctr"/>
          <a:lstStyle/>
          <a:p>
            <a:pPr indent="0" marL="0">
              <a:buNone/>
            </a:pPr>
            <a:r>
              <a:rPr lang="en-US" sz="1550" dirty="0">
                <a:solidFill>
                  <a:srgbClr val="1B1F24"/>
                </a:solidFill>
                <a:latin typeface="Inter" pitchFamily="34" charset="0"/>
                <a:ea typeface="Inter" pitchFamily="34" charset="-122"/>
                <a:cs typeface="Inter" pitchFamily="34" charset="-120"/>
              </a:rPr>
              <a:t>“Ask me up to three clarifying questions before you start.”</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13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diagnosis eye: when output disappoints, context is usually missing.</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CALL IT OUT: WHAT’S MISSING?</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Diagnose the prompt</a:t>
            </a:r>
            <a:endParaRPr lang="en-US" sz="3200" dirty="0"/>
          </a:p>
        </p:txBody>
      </p:sp>
      <p:sp>
        <p:nvSpPr>
          <p:cNvPr id="14" name="Shape 11"/>
          <p:cNvSpPr/>
          <p:nvPr/>
        </p:nvSpPr>
        <p:spPr>
          <a:xfrm>
            <a:off x="640080" y="1371600"/>
            <a:ext cx="685800" cy="914400"/>
          </a:xfrm>
          <a:prstGeom prst="roundRect">
            <a:avLst>
              <a:gd name="adj" fmla="val 10667"/>
            </a:avLst>
          </a:prstGeom>
          <a:solidFill>
            <a:srgbClr val="13293D"/>
          </a:solidFill>
          <a:ln w="12700">
            <a:solidFill>
              <a:srgbClr val="13293D"/>
            </a:solidFill>
            <a:prstDash val="solid"/>
          </a:ln>
        </p:spPr>
      </p:sp>
      <p:sp>
        <p:nvSpPr>
          <p:cNvPr id="15" name="Text 12"/>
          <p:cNvSpPr/>
          <p:nvPr/>
        </p:nvSpPr>
        <p:spPr>
          <a:xfrm>
            <a:off x="640080" y="1371600"/>
            <a:ext cx="6858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A</a:t>
            </a:r>
            <a:endParaRPr lang="en-US" sz="2600" dirty="0"/>
          </a:p>
        </p:txBody>
      </p:sp>
      <p:sp>
        <p:nvSpPr>
          <p:cNvPr id="16" name="Shape 13"/>
          <p:cNvSpPr/>
          <p:nvPr/>
        </p:nvSpPr>
        <p:spPr>
          <a:xfrm>
            <a:off x="1463040" y="1371600"/>
            <a:ext cx="10149840" cy="914400"/>
          </a:xfrm>
          <a:prstGeom prst="roundRect">
            <a:avLst>
              <a:gd name="adj" fmla="val 9000"/>
            </a:avLst>
          </a:prstGeom>
          <a:solidFill>
            <a:srgbClr val="F7F5F0"/>
          </a:solidFill>
          <a:ln w="12700">
            <a:solidFill>
              <a:srgbClr val="F7F5F0"/>
            </a:solidFill>
            <a:prstDash val="solid"/>
          </a:ln>
        </p:spPr>
      </p:sp>
      <p:sp>
        <p:nvSpPr>
          <p:cNvPr id="17" name="Text 14"/>
          <p:cNvSpPr/>
          <p:nvPr/>
        </p:nvSpPr>
        <p:spPr>
          <a:xfrm>
            <a:off x="1737360" y="1417320"/>
            <a:ext cx="9601200" cy="822960"/>
          </a:xfrm>
          <a:prstGeom prst="rect">
            <a:avLst/>
          </a:prstGeom>
          <a:noFill/>
          <a:ln/>
        </p:spPr>
        <p:txBody>
          <a:bodyPr wrap="square" lIns="0" tIns="0" rIns="0" bIns="0" rtlCol="0" anchor="ctr"/>
          <a:lstStyle/>
          <a:p>
            <a:pPr indent="0" marL="0">
              <a:buNone/>
            </a:pPr>
            <a:r>
              <a:rPr lang="en-US" sz="1550" i="1" dirty="0">
                <a:solidFill>
                  <a:srgbClr val="1B1F24"/>
                </a:solidFill>
                <a:latin typeface="Inter" pitchFamily="34" charset="0"/>
                <a:ea typeface="Inter" pitchFamily="34" charset="-122"/>
                <a:cs typeface="Inter" pitchFamily="34" charset="-120"/>
              </a:rPr>
              <a:t>“Write a quiz about the Revolution.”</a:t>
            </a:r>
            <a:endParaRPr lang="en-US" sz="1550" dirty="0"/>
          </a:p>
        </p:txBody>
      </p:sp>
      <p:sp>
        <p:nvSpPr>
          <p:cNvPr id="18" name="Shape 15"/>
          <p:cNvSpPr/>
          <p:nvPr/>
        </p:nvSpPr>
        <p:spPr>
          <a:xfrm>
            <a:off x="640080" y="2487168"/>
            <a:ext cx="685800" cy="914400"/>
          </a:xfrm>
          <a:prstGeom prst="roundRect">
            <a:avLst>
              <a:gd name="adj" fmla="val 10667"/>
            </a:avLst>
          </a:prstGeom>
          <a:solidFill>
            <a:srgbClr val="13293D"/>
          </a:solidFill>
          <a:ln w="12700">
            <a:solidFill>
              <a:srgbClr val="13293D"/>
            </a:solidFill>
            <a:prstDash val="solid"/>
          </a:ln>
        </p:spPr>
      </p:sp>
      <p:sp>
        <p:nvSpPr>
          <p:cNvPr id="19" name="Text 16"/>
          <p:cNvSpPr/>
          <p:nvPr/>
        </p:nvSpPr>
        <p:spPr>
          <a:xfrm>
            <a:off x="640080" y="2487168"/>
            <a:ext cx="6858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B</a:t>
            </a:r>
            <a:endParaRPr lang="en-US" sz="2600" dirty="0"/>
          </a:p>
        </p:txBody>
      </p:sp>
      <p:sp>
        <p:nvSpPr>
          <p:cNvPr id="20" name="Shape 17"/>
          <p:cNvSpPr/>
          <p:nvPr/>
        </p:nvSpPr>
        <p:spPr>
          <a:xfrm>
            <a:off x="1463040" y="2487168"/>
            <a:ext cx="10149840" cy="914400"/>
          </a:xfrm>
          <a:prstGeom prst="roundRect">
            <a:avLst>
              <a:gd name="adj" fmla="val 9000"/>
            </a:avLst>
          </a:prstGeom>
          <a:solidFill>
            <a:srgbClr val="F7F5F0"/>
          </a:solidFill>
          <a:ln w="12700">
            <a:solidFill>
              <a:srgbClr val="F7F5F0"/>
            </a:solidFill>
            <a:prstDash val="solid"/>
          </a:ln>
        </p:spPr>
      </p:sp>
      <p:sp>
        <p:nvSpPr>
          <p:cNvPr id="21" name="Text 18"/>
          <p:cNvSpPr/>
          <p:nvPr/>
        </p:nvSpPr>
        <p:spPr>
          <a:xfrm>
            <a:off x="1737360" y="2532888"/>
            <a:ext cx="9601200" cy="822960"/>
          </a:xfrm>
          <a:prstGeom prst="rect">
            <a:avLst/>
          </a:prstGeom>
          <a:noFill/>
          <a:ln/>
        </p:spPr>
        <p:txBody>
          <a:bodyPr wrap="square" lIns="0" tIns="0" rIns="0" bIns="0" rtlCol="0" anchor="ctr"/>
          <a:lstStyle/>
          <a:p>
            <a:pPr indent="0" marL="0">
              <a:buNone/>
            </a:pPr>
            <a:r>
              <a:rPr lang="en-US" sz="1550" i="1" dirty="0">
                <a:solidFill>
                  <a:srgbClr val="1B1F24"/>
                </a:solidFill>
                <a:latin typeface="Inter" pitchFamily="34" charset="0"/>
                <a:ea typeface="Inter" pitchFamily="34" charset="-122"/>
                <a:cs typeface="Inter" pitchFamily="34" charset="-120"/>
              </a:rPr>
              <a:t>“Help me with my struggling readers.”</a:t>
            </a:r>
            <a:endParaRPr lang="en-US" sz="1550" dirty="0"/>
          </a:p>
        </p:txBody>
      </p:sp>
      <p:sp>
        <p:nvSpPr>
          <p:cNvPr id="22" name="Shape 19"/>
          <p:cNvSpPr/>
          <p:nvPr/>
        </p:nvSpPr>
        <p:spPr>
          <a:xfrm>
            <a:off x="640080" y="3602736"/>
            <a:ext cx="685800" cy="914400"/>
          </a:xfrm>
          <a:prstGeom prst="roundRect">
            <a:avLst>
              <a:gd name="adj" fmla="val 10667"/>
            </a:avLst>
          </a:prstGeom>
          <a:solidFill>
            <a:srgbClr val="13293D"/>
          </a:solidFill>
          <a:ln w="12700">
            <a:solidFill>
              <a:srgbClr val="13293D"/>
            </a:solidFill>
            <a:prstDash val="solid"/>
          </a:ln>
        </p:spPr>
      </p:sp>
      <p:sp>
        <p:nvSpPr>
          <p:cNvPr id="23" name="Text 20"/>
          <p:cNvSpPr/>
          <p:nvPr/>
        </p:nvSpPr>
        <p:spPr>
          <a:xfrm>
            <a:off x="640080" y="3602736"/>
            <a:ext cx="6858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C</a:t>
            </a:r>
            <a:endParaRPr lang="en-US" sz="2600" dirty="0"/>
          </a:p>
        </p:txBody>
      </p:sp>
      <p:sp>
        <p:nvSpPr>
          <p:cNvPr id="24" name="Shape 21"/>
          <p:cNvSpPr/>
          <p:nvPr/>
        </p:nvSpPr>
        <p:spPr>
          <a:xfrm>
            <a:off x="1463040" y="3602736"/>
            <a:ext cx="10149840" cy="914400"/>
          </a:xfrm>
          <a:prstGeom prst="roundRect">
            <a:avLst>
              <a:gd name="adj" fmla="val 9000"/>
            </a:avLst>
          </a:prstGeom>
          <a:solidFill>
            <a:srgbClr val="F7F5F0"/>
          </a:solidFill>
          <a:ln w="12700">
            <a:solidFill>
              <a:srgbClr val="F7F5F0"/>
            </a:solidFill>
            <a:prstDash val="solid"/>
          </a:ln>
        </p:spPr>
      </p:sp>
      <p:sp>
        <p:nvSpPr>
          <p:cNvPr id="25" name="Text 22"/>
          <p:cNvSpPr/>
          <p:nvPr/>
        </p:nvSpPr>
        <p:spPr>
          <a:xfrm>
            <a:off x="1737360" y="3648456"/>
            <a:ext cx="9601200" cy="822960"/>
          </a:xfrm>
          <a:prstGeom prst="rect">
            <a:avLst/>
          </a:prstGeom>
          <a:noFill/>
          <a:ln/>
        </p:spPr>
        <p:txBody>
          <a:bodyPr wrap="square" lIns="0" tIns="0" rIns="0" bIns="0" rtlCol="0" anchor="ctr"/>
          <a:lstStyle/>
          <a:p>
            <a:pPr indent="0" marL="0">
              <a:buNone/>
            </a:pPr>
            <a:r>
              <a:rPr lang="en-US" sz="1550" i="1" dirty="0">
                <a:solidFill>
                  <a:srgbClr val="1B1F24"/>
                </a:solidFill>
                <a:latin typeface="Inter" pitchFamily="34" charset="0"/>
                <a:ea typeface="Inter" pitchFamily="34" charset="-122"/>
                <a:cs typeface="Inter" pitchFamily="34" charset="-120"/>
              </a:rPr>
              <a:t>“Photosynthesis.”</a:t>
            </a:r>
            <a:endParaRPr lang="en-US" sz="1550" dirty="0"/>
          </a:p>
        </p:txBody>
      </p:sp>
      <p:sp>
        <p:nvSpPr>
          <p:cNvPr id="26" name="Shape 23"/>
          <p:cNvSpPr/>
          <p:nvPr/>
        </p:nvSpPr>
        <p:spPr>
          <a:xfrm>
            <a:off x="640080" y="4718304"/>
            <a:ext cx="685800" cy="914400"/>
          </a:xfrm>
          <a:prstGeom prst="roundRect">
            <a:avLst>
              <a:gd name="adj" fmla="val 10667"/>
            </a:avLst>
          </a:prstGeom>
          <a:solidFill>
            <a:srgbClr val="13293D"/>
          </a:solidFill>
          <a:ln w="12700">
            <a:solidFill>
              <a:srgbClr val="13293D"/>
            </a:solidFill>
            <a:prstDash val="solid"/>
          </a:ln>
        </p:spPr>
      </p:sp>
      <p:sp>
        <p:nvSpPr>
          <p:cNvPr id="27" name="Text 24"/>
          <p:cNvSpPr/>
          <p:nvPr/>
        </p:nvSpPr>
        <p:spPr>
          <a:xfrm>
            <a:off x="640080" y="4718304"/>
            <a:ext cx="6858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D</a:t>
            </a:r>
            <a:endParaRPr lang="en-US" sz="2600" dirty="0"/>
          </a:p>
        </p:txBody>
      </p:sp>
      <p:sp>
        <p:nvSpPr>
          <p:cNvPr id="28" name="Shape 25"/>
          <p:cNvSpPr/>
          <p:nvPr/>
        </p:nvSpPr>
        <p:spPr>
          <a:xfrm>
            <a:off x="1463040" y="4718304"/>
            <a:ext cx="10149840" cy="914400"/>
          </a:xfrm>
          <a:prstGeom prst="roundRect">
            <a:avLst>
              <a:gd name="adj" fmla="val 9000"/>
            </a:avLst>
          </a:prstGeom>
          <a:solidFill>
            <a:srgbClr val="F7F5F0"/>
          </a:solidFill>
          <a:ln w="12700">
            <a:solidFill>
              <a:srgbClr val="F7F5F0"/>
            </a:solidFill>
            <a:prstDash val="solid"/>
          </a:ln>
        </p:spPr>
      </p:sp>
      <p:sp>
        <p:nvSpPr>
          <p:cNvPr id="29" name="Text 26"/>
          <p:cNvSpPr/>
          <p:nvPr/>
        </p:nvSpPr>
        <p:spPr>
          <a:xfrm>
            <a:off x="1737360" y="4764024"/>
            <a:ext cx="9601200" cy="822960"/>
          </a:xfrm>
          <a:prstGeom prst="rect">
            <a:avLst/>
          </a:prstGeom>
          <a:noFill/>
          <a:ln/>
        </p:spPr>
        <p:txBody>
          <a:bodyPr wrap="square" lIns="0" tIns="0" rIns="0" bIns="0" rtlCol="0" anchor="ctr"/>
          <a:lstStyle/>
          <a:p>
            <a:pPr indent="0" marL="0">
              <a:buNone/>
            </a:pPr>
            <a:r>
              <a:rPr lang="en-US" sz="1550" i="1" dirty="0">
                <a:solidFill>
                  <a:srgbClr val="1B1F24"/>
                </a:solidFill>
                <a:latin typeface="Inter" pitchFamily="34" charset="0"/>
                <a:ea typeface="Inter" pitchFamily="34" charset="-122"/>
                <a:cs typeface="Inter" pitchFamily="34" charset="-120"/>
              </a:rPr>
              <a:t>“You are a middle school science teacher. Create a 10-question review on photosynthesis for 7th graders who confuse it with respiration. Mix multiple choice and short answer. Include an answer key.”</a:t>
            </a:r>
            <a:endParaRPr lang="en-US" sz="1550" dirty="0"/>
          </a:p>
        </p:txBody>
      </p:sp>
      <p:sp>
        <p:nvSpPr>
          <p:cNvPr id="30" name="Text 27"/>
          <p:cNvSpPr/>
          <p:nvPr/>
        </p:nvSpPr>
        <p:spPr>
          <a:xfrm>
            <a:off x="640080" y="5870448"/>
            <a:ext cx="10972800" cy="365760"/>
          </a:xfrm>
          <a:prstGeom prst="rect">
            <a:avLst/>
          </a:prstGeom>
          <a:noFill/>
          <a:ln/>
        </p:spPr>
        <p:txBody>
          <a:bodyPr wrap="square" lIns="0" tIns="0" rIns="0" bIns="0" rtlCol="0" anchor="ctr"/>
          <a:lstStyle/>
          <a:p>
            <a:pPr algn="ctr" indent="0" marL="0">
              <a:buNone/>
            </a:pPr>
            <a:r>
              <a:rPr lang="en-US" sz="1350" i="1" dirty="0">
                <a:solidFill>
                  <a:srgbClr val="5B6B7A"/>
                </a:solidFill>
                <a:latin typeface="Inter" pitchFamily="34" charset="0"/>
                <a:ea typeface="Inter" pitchFamily="34" charset="-122"/>
                <a:cs typeface="Inter" pitchFamily="34" charset="-120"/>
              </a:rPr>
              <a:t>Answers: A missing context (grade? focus?) · B missing format (what should "help" look like?) · C missing the task itself · D has all four parts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14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template: blanks for topic, grade, count, format. Twenty seconds to reuse.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NOBODY WRITES FROM SCRATCH AT 7 A.M.</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Templates beat memory</a:t>
            </a:r>
            <a:endParaRPr lang="en-US" sz="3200" dirty="0"/>
          </a:p>
        </p:txBody>
      </p:sp>
      <p:sp>
        <p:nvSpPr>
          <p:cNvPr id="14" name="Shape 11"/>
          <p:cNvSpPr/>
          <p:nvPr/>
        </p:nvSpPr>
        <p:spPr>
          <a:xfrm>
            <a:off x="640080" y="1554480"/>
            <a:ext cx="10972800" cy="2286000"/>
          </a:xfrm>
          <a:prstGeom prst="roundRect">
            <a:avLst>
              <a:gd name="adj" fmla="val 3600"/>
            </a:avLst>
          </a:prstGeom>
          <a:solidFill>
            <a:srgbClr val="EAF5F3"/>
          </a:solidFill>
          <a:ln w="12700">
            <a:solidFill>
              <a:srgbClr val="EAF5F3"/>
            </a:solidFill>
            <a:prstDash val="solid"/>
          </a:ln>
        </p:spPr>
      </p:sp>
      <p:sp>
        <p:nvSpPr>
          <p:cNvPr id="15" name="Text 12"/>
          <p:cNvSpPr/>
          <p:nvPr/>
        </p:nvSpPr>
        <p:spPr>
          <a:xfrm>
            <a:off x="1005840" y="1828800"/>
            <a:ext cx="10241280" cy="1737360"/>
          </a:xfrm>
          <a:prstGeom prst="rect">
            <a:avLst/>
          </a:prstGeom>
          <a:noFill/>
          <a:ln/>
        </p:spPr>
        <p:txBody>
          <a:bodyPr wrap="square" lIns="0" tIns="0" rIns="0" bIns="0" rtlCol="0" anchor="ctr"/>
          <a:lstStyle/>
          <a:p>
            <a:pPr indent="0" marL="0">
              <a:buNone/>
            </a:pPr>
            <a:r>
              <a:rPr lang="en-US" sz="2100" i="1" dirty="0">
                <a:solidFill>
                  <a:srgbClr val="13293D"/>
                </a:solidFill>
                <a:latin typeface="Inter" pitchFamily="34" charset="0"/>
                <a:ea typeface="Inter" pitchFamily="34" charset="-122"/>
                <a:cs typeface="Inter" pitchFamily="34" charset="-120"/>
              </a:rPr>
              <a:t>“You are a [grade/subject] teacher. Create a [number]-question review on [topic] for students who [what they struggle with]. Format: [format]. Include an answer key.”</a:t>
            </a:r>
            <a:endParaRPr lang="en-US" sz="2100" dirty="0"/>
          </a:p>
        </p:txBody>
      </p:sp>
      <p:sp>
        <p:nvSpPr>
          <p:cNvPr id="16" name="Text 13"/>
          <p:cNvSpPr/>
          <p:nvPr/>
        </p:nvSpPr>
        <p:spPr>
          <a:xfrm>
            <a:off x="640080" y="4114800"/>
            <a:ext cx="10908792" cy="173736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Four blanks, twenty seconds, done</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Today’s lab builds your first one</a:t>
            </a:r>
            <a:endParaRPr lang="en-US" sz="2000" dirty="0"/>
          </a:p>
          <a:p>
            <a:pPr marL="342900" indent="-342900">
              <a:spcAft>
                <a:spcPts val="1000"/>
              </a:spcAft>
              <a:buSzPct val="100000"/>
              <a:buChar char="•"/>
            </a:pPr>
            <a:r>
              <a:rPr lang="en-US" sz="2000" b="1" dirty="0">
                <a:solidFill>
                  <a:srgbClr val="13293D"/>
                </a:solidFill>
                <a:latin typeface="Inter" pitchFamily="34" charset="0"/>
                <a:ea typeface="Inter" pitchFamily="34" charset="-122"/>
                <a:cs typeface="Inter" pitchFamily="34" charset="-120"/>
              </a:rPr>
              <a:t>The staff prompt doc is where they live: nobody solves the same problem twice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2 · Prompting Basics   |   15</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iteration rounds, in order: content, then voice, then details.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MINDSET SHIFT</a:t>
            </a:r>
            <a:endParaRPr lang="en-US" sz="1200" dirty="0"/>
          </a:p>
        </p:txBody>
      </p:sp>
      <p:sp>
        <p:nvSpPr>
          <p:cNvPr id="13" name="Text 10"/>
          <p:cNvSpPr/>
          <p:nvPr/>
        </p:nvSpPr>
        <p:spPr>
          <a:xfrm>
            <a:off x="640080" y="1645920"/>
            <a:ext cx="10972800" cy="155448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latin typeface="Inter" pitchFamily="34" charset="0"/>
                <a:ea typeface="Inter" pitchFamily="34" charset="-122"/>
                <a:cs typeface="Inter" pitchFamily="34" charset="-120"/>
              </a:rPr>
              <a:t>The first response is not the answer.</a:t>
            </a:r>
            <a:endParaRPr lang="en-US" sz="3800" dirty="0"/>
          </a:p>
          <a:p>
            <a:pPr indent="0" marL="0">
              <a:lnSpc>
                <a:spcPct val="115000"/>
              </a:lnSpc>
              <a:buNone/>
            </a:pPr>
            <a:r>
              <a:rPr lang="en-US" sz="3800" b="1" dirty="0">
                <a:solidFill>
                  <a:srgbClr val="FFFFFF"/>
                </a:solidFill>
                <a:latin typeface="Inter" pitchFamily="34" charset="0"/>
                <a:ea typeface="Inter" pitchFamily="34" charset="-122"/>
                <a:cs typeface="Inter" pitchFamily="34" charset="-120"/>
              </a:rPr>
              <a:t>It’s a proposal.</a:t>
            </a:r>
            <a:endParaRPr lang="en-US" sz="3800" dirty="0"/>
          </a:p>
        </p:txBody>
      </p:sp>
      <p:sp>
        <p:nvSpPr>
          <p:cNvPr id="14" name="Text 11"/>
          <p:cNvSpPr/>
          <p:nvPr/>
        </p:nvSpPr>
        <p:spPr>
          <a:xfrm>
            <a:off x="640080" y="3474720"/>
            <a:ext cx="10972800" cy="365760"/>
          </a:xfrm>
          <a:prstGeom prst="rect">
            <a:avLst/>
          </a:prstGeom>
          <a:noFill/>
          <a:ln/>
        </p:spPr>
        <p:txBody>
          <a:bodyPr wrap="square" lIns="0" tIns="0" rIns="0" bIns="0" rtlCol="0" anchor="ctr"/>
          <a:lstStyle/>
          <a:p>
            <a:pPr indent="0" marL="0">
              <a:buNone/>
            </a:pPr>
            <a:r>
              <a:rPr lang="en-US" sz="1800" dirty="0">
                <a:solidFill>
                  <a:srgbClr val="9FB2C2"/>
                </a:solidFill>
                <a:latin typeface="Inter" pitchFamily="34" charset="0"/>
                <a:ea typeface="Inter" pitchFamily="34" charset="-122"/>
                <a:cs typeface="Inter" pitchFamily="34" charset="-120"/>
              </a:rPr>
              <a:t>Three rounds, in order:</a:t>
            </a:r>
            <a:endParaRPr lang="en-US" sz="1800" dirty="0"/>
          </a:p>
        </p:txBody>
      </p:sp>
      <p:sp>
        <p:nvSpPr>
          <p:cNvPr id="15" name="Text 12"/>
          <p:cNvSpPr/>
          <p:nvPr/>
        </p:nvSpPr>
        <p:spPr>
          <a:xfrm>
            <a:off x="822960" y="3977640"/>
            <a:ext cx="210312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1 · Content</a:t>
            </a:r>
            <a:endParaRPr lang="en-US" sz="2000" dirty="0"/>
          </a:p>
        </p:txBody>
      </p:sp>
      <p:sp>
        <p:nvSpPr>
          <p:cNvPr id="16" name="Text 13"/>
          <p:cNvSpPr/>
          <p:nvPr/>
        </p:nvSpPr>
        <p:spPr>
          <a:xfrm>
            <a:off x="3017520" y="3977640"/>
            <a:ext cx="8503920" cy="548640"/>
          </a:xfrm>
          <a:prstGeom prst="rect">
            <a:avLst/>
          </a:prstGeom>
          <a:noFill/>
          <a:ln/>
        </p:spPr>
        <p:txBody>
          <a:bodyPr wrap="square" lIns="0" tIns="0" rIns="0" bIns="0" rtlCol="0" anchor="ctr"/>
          <a:lstStyle/>
          <a:p>
            <a:pPr indent="0" marL="0">
              <a:buNone/>
            </a:pPr>
            <a:r>
              <a:rPr lang="en-US" sz="1800" i="1" dirty="0">
                <a:solidFill>
                  <a:srgbClr val="FFFFFF"/>
                </a:solidFill>
                <a:latin typeface="Inter" pitchFamily="34" charset="0"/>
                <a:ea typeface="Inter" pitchFamily="34" charset="-122"/>
                <a:cs typeface="Inter" pitchFamily="34" charset="-120"/>
              </a:rPr>
              <a:t>“Question 4 is too hard for the start of the unit.”</a:t>
            </a:r>
            <a:endParaRPr lang="en-US" sz="1800" dirty="0"/>
          </a:p>
        </p:txBody>
      </p:sp>
      <p:sp>
        <p:nvSpPr>
          <p:cNvPr id="17" name="Text 14"/>
          <p:cNvSpPr/>
          <p:nvPr/>
        </p:nvSpPr>
        <p:spPr>
          <a:xfrm>
            <a:off x="822960" y="4690872"/>
            <a:ext cx="210312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2 · Voice</a:t>
            </a:r>
            <a:endParaRPr lang="en-US" sz="2000" dirty="0"/>
          </a:p>
        </p:txBody>
      </p:sp>
      <p:sp>
        <p:nvSpPr>
          <p:cNvPr id="18" name="Text 15"/>
          <p:cNvSpPr/>
          <p:nvPr/>
        </p:nvSpPr>
        <p:spPr>
          <a:xfrm>
            <a:off x="3017520" y="4690872"/>
            <a:ext cx="8503920" cy="548640"/>
          </a:xfrm>
          <a:prstGeom prst="rect">
            <a:avLst/>
          </a:prstGeom>
          <a:noFill/>
          <a:ln/>
        </p:spPr>
        <p:txBody>
          <a:bodyPr wrap="square" lIns="0" tIns="0" rIns="0" bIns="0" rtlCol="0" anchor="ctr"/>
          <a:lstStyle/>
          <a:p>
            <a:pPr indent="0" marL="0">
              <a:buNone/>
            </a:pPr>
            <a:r>
              <a:rPr lang="en-US" sz="1800" i="1" dirty="0">
                <a:solidFill>
                  <a:srgbClr val="FFFFFF"/>
                </a:solidFill>
                <a:latin typeface="Inter" pitchFamily="34" charset="0"/>
                <a:ea typeface="Inter" pitchFamily="34" charset="-122"/>
                <a:cs typeface="Inter" pitchFamily="34" charset="-120"/>
              </a:rPr>
              <a:t>“Warmer. I’d never say ‘furthermore.’”</a:t>
            </a:r>
            <a:endParaRPr lang="en-US" sz="1800" dirty="0"/>
          </a:p>
        </p:txBody>
      </p:sp>
      <p:sp>
        <p:nvSpPr>
          <p:cNvPr id="19" name="Text 16"/>
          <p:cNvSpPr/>
          <p:nvPr/>
        </p:nvSpPr>
        <p:spPr>
          <a:xfrm>
            <a:off x="822960" y="5404104"/>
            <a:ext cx="210312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3 · Details</a:t>
            </a:r>
            <a:endParaRPr lang="en-US" sz="2000" dirty="0"/>
          </a:p>
        </p:txBody>
      </p:sp>
      <p:sp>
        <p:nvSpPr>
          <p:cNvPr id="20" name="Text 17"/>
          <p:cNvSpPr/>
          <p:nvPr/>
        </p:nvSpPr>
        <p:spPr>
          <a:xfrm>
            <a:off x="3017520" y="5404104"/>
            <a:ext cx="8503920" cy="548640"/>
          </a:xfrm>
          <a:prstGeom prst="rect">
            <a:avLst/>
          </a:prstGeom>
          <a:noFill/>
          <a:ln/>
        </p:spPr>
        <p:txBody>
          <a:bodyPr wrap="square" lIns="0" tIns="0" rIns="0" bIns="0" rtlCol="0" anchor="ctr"/>
          <a:lstStyle/>
          <a:p>
            <a:pPr indent="0" marL="0">
              <a:buNone/>
            </a:pPr>
            <a:r>
              <a:rPr lang="en-US" sz="1800" i="1" dirty="0">
                <a:solidFill>
                  <a:srgbClr val="FFFFFF"/>
                </a:solidFill>
                <a:latin typeface="Inter" pitchFamily="34" charset="0"/>
                <a:ea typeface="Inter" pitchFamily="34" charset="-122"/>
                <a:cs typeface="Inter" pitchFamily="34" charset="-120"/>
              </a:rPr>
              <a:t>“Shorten by a third; number the directions.”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16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judgment call: 80% right, iterate. Wrong thing entirely, fresh prompt.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ONE JUDGMENT CALL</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Iterate, or start over?</a:t>
            </a:r>
            <a:endParaRPr lang="en-US" sz="3200" dirty="0"/>
          </a:p>
        </p:txBody>
      </p:sp>
      <p:sp>
        <p:nvSpPr>
          <p:cNvPr id="14" name="Shape 11"/>
          <p:cNvSpPr/>
          <p:nvPr/>
        </p:nvSpPr>
        <p:spPr>
          <a:xfrm>
            <a:off x="640080" y="1554480"/>
            <a:ext cx="5394960" cy="3840480"/>
          </a:xfrm>
          <a:prstGeom prst="roundRect">
            <a:avLst>
              <a:gd name="adj" fmla="val 2143"/>
            </a:avLst>
          </a:prstGeom>
          <a:solidFill>
            <a:srgbClr val="EAF5F3"/>
          </a:solidFill>
          <a:ln w="12700">
            <a:solidFill>
              <a:srgbClr val="EAF5F3"/>
            </a:solidFill>
            <a:prstDash val="solid"/>
          </a:ln>
        </p:spPr>
      </p:sp>
      <p:sp>
        <p:nvSpPr>
          <p:cNvPr id="15" name="Text 12"/>
          <p:cNvSpPr/>
          <p:nvPr/>
        </p:nvSpPr>
        <p:spPr>
          <a:xfrm>
            <a:off x="960120" y="1828800"/>
            <a:ext cx="4754880" cy="457200"/>
          </a:xfrm>
          <a:prstGeom prst="rect">
            <a:avLst/>
          </a:prstGeom>
          <a:noFill/>
          <a:ln/>
        </p:spPr>
        <p:txBody>
          <a:bodyPr wrap="square" lIns="0" tIns="0" rIns="0" bIns="0" rtlCol="0" anchor="ctr"/>
          <a:lstStyle/>
          <a:p>
            <a:pPr indent="0" marL="0">
              <a:buNone/>
            </a:pPr>
            <a:r>
              <a:rPr lang="en-US" sz="2100" b="1" dirty="0">
                <a:solidFill>
                  <a:srgbClr val="2E7D5B"/>
                </a:solidFill>
                <a:latin typeface="Inter" pitchFamily="34" charset="0"/>
                <a:ea typeface="Inter" pitchFamily="34" charset="-122"/>
                <a:cs typeface="Inter" pitchFamily="34" charset="-120"/>
              </a:rPr>
              <a:t>Iterate when…</a:t>
            </a:r>
            <a:endParaRPr lang="en-US" sz="2100" dirty="0"/>
          </a:p>
        </p:txBody>
      </p:sp>
      <p:sp>
        <p:nvSpPr>
          <p:cNvPr id="16" name="Text 13"/>
          <p:cNvSpPr/>
          <p:nvPr/>
        </p:nvSpPr>
        <p:spPr>
          <a:xfrm>
            <a:off x="960120" y="2377440"/>
            <a:ext cx="4754880" cy="2651760"/>
          </a:xfrm>
          <a:prstGeom prst="rect">
            <a:avLst/>
          </a:prstGeom>
          <a:noFill/>
          <a:ln/>
        </p:spPr>
        <p:txBody>
          <a:bodyPr wrap="square" lIns="0" tIns="0" rIns="0" bIns="0" rtlCol="0" anchor="t"/>
          <a:lstStyle/>
          <a:p>
            <a:pPr indent="0" marL="0">
              <a:buNone/>
            </a:pPr>
            <a:r>
              <a:rPr lang="en-US" sz="1800" dirty="0">
                <a:solidFill>
                  <a:srgbClr val="1B1F24"/>
                </a:solidFill>
                <a:latin typeface="Inter" pitchFamily="34" charset="0"/>
                <a:ea typeface="Inter" pitchFamily="34" charset="-122"/>
                <a:cs typeface="Inter" pitchFamily="34" charset="-120"/>
              </a:rPr>
              <a:t>the draft is ~80% right. Fix content, then voice, then details. Two or three rounds, done.</a:t>
            </a:r>
            <a:endParaRPr lang="en-US" sz="1800" dirty="0"/>
          </a:p>
        </p:txBody>
      </p:sp>
      <p:sp>
        <p:nvSpPr>
          <p:cNvPr id="17" name="Shape 14"/>
          <p:cNvSpPr/>
          <p:nvPr/>
        </p:nvSpPr>
        <p:spPr>
          <a:xfrm>
            <a:off x="6263640" y="1554480"/>
            <a:ext cx="5394960" cy="3840480"/>
          </a:xfrm>
          <a:prstGeom prst="roundRect">
            <a:avLst>
              <a:gd name="adj" fmla="val 2143"/>
            </a:avLst>
          </a:prstGeom>
          <a:solidFill>
            <a:srgbClr val="F7F5F0"/>
          </a:solidFill>
          <a:ln w="12700">
            <a:solidFill>
              <a:srgbClr val="F7F5F0"/>
            </a:solidFill>
            <a:prstDash val="solid"/>
          </a:ln>
        </p:spPr>
      </p:sp>
      <p:sp>
        <p:nvSpPr>
          <p:cNvPr id="18" name="Text 15"/>
          <p:cNvSpPr/>
          <p:nvPr/>
        </p:nvSpPr>
        <p:spPr>
          <a:xfrm>
            <a:off x="6583680" y="1828800"/>
            <a:ext cx="4754880" cy="457200"/>
          </a:xfrm>
          <a:prstGeom prst="rect">
            <a:avLst/>
          </a:prstGeom>
          <a:noFill/>
          <a:ln/>
        </p:spPr>
        <p:txBody>
          <a:bodyPr wrap="square" lIns="0" tIns="0" rIns="0" bIns="0" rtlCol="0" anchor="ctr"/>
          <a:lstStyle/>
          <a:p>
            <a:pPr indent="0" marL="0">
              <a:buNone/>
            </a:pPr>
            <a:r>
              <a:rPr lang="en-US" sz="2100" b="1" dirty="0">
                <a:solidFill>
                  <a:srgbClr val="B4453A"/>
                </a:solidFill>
                <a:latin typeface="Inter" pitchFamily="34" charset="0"/>
                <a:ea typeface="Inter" pitchFamily="34" charset="-122"/>
                <a:cs typeface="Inter" pitchFamily="34" charset="-120"/>
              </a:rPr>
              <a:t>Start over when…</a:t>
            </a:r>
            <a:endParaRPr lang="en-US" sz="2100" dirty="0"/>
          </a:p>
        </p:txBody>
      </p:sp>
      <p:sp>
        <p:nvSpPr>
          <p:cNvPr id="19" name="Text 16"/>
          <p:cNvSpPr/>
          <p:nvPr/>
        </p:nvSpPr>
        <p:spPr>
          <a:xfrm>
            <a:off x="6583680" y="2377440"/>
            <a:ext cx="4754880" cy="2651760"/>
          </a:xfrm>
          <a:prstGeom prst="rect">
            <a:avLst/>
          </a:prstGeom>
          <a:noFill/>
          <a:ln/>
        </p:spPr>
        <p:txBody>
          <a:bodyPr wrap="square" lIns="0" tIns="0" rIns="0" bIns="0" rtlCol="0" anchor="t"/>
          <a:lstStyle/>
          <a:p>
            <a:pPr indent="0" marL="0">
              <a:buNone/>
            </a:pPr>
            <a:r>
              <a:rPr lang="en-US" sz="1800" dirty="0">
                <a:solidFill>
                  <a:srgbClr val="1B1F24"/>
                </a:solidFill>
                <a:latin typeface="Inter" pitchFamily="34" charset="0"/>
                <a:ea typeface="Inter" pitchFamily="34" charset="-122"/>
                <a:cs typeface="Inter" pitchFamily="34" charset="-120"/>
              </a:rPr>
              <a:t>it’s fundamentally the wrong thing. Don’t argue with it for ten minutes; open a fresh prompt and fold what you learned into the context.</a:t>
            </a:r>
            <a:endParaRPr lang="en-US" sz="1800" dirty="0"/>
          </a:p>
        </p:txBody>
      </p:sp>
      <p:sp>
        <p:nvSpPr>
          <p:cNvPr id="20" name="Text 17"/>
          <p:cNvSpPr/>
          <p:nvPr/>
        </p:nvSpPr>
        <p:spPr>
          <a:xfrm>
            <a:off x="640080" y="5623560"/>
            <a:ext cx="10972800" cy="457200"/>
          </a:xfrm>
          <a:prstGeom prst="rect">
            <a:avLst/>
          </a:prstGeom>
          <a:noFill/>
          <a:ln/>
        </p:spPr>
        <p:txBody>
          <a:bodyPr wrap="square" lIns="0" tIns="0" rIns="0" bIns="0" rtlCol="0" anchor="ctr"/>
          <a:lstStyle/>
          <a:p>
            <a:pPr algn="ctr" indent="0" marL="0">
              <a:buNone/>
            </a:pPr>
            <a:r>
              <a:rPr lang="en-US" sz="1800" i="1" dirty="0">
                <a:solidFill>
                  <a:srgbClr val="5B6B7A"/>
                </a:solidFill>
                <a:latin typeface="Inter" pitchFamily="34" charset="0"/>
                <a:ea typeface="Inter" pitchFamily="34" charset="-122"/>
                <a:cs typeface="Inter" pitchFamily="34" charset="-120"/>
              </a:rPr>
              <a:t>Your time matters more than the tool’s feelings. It doesn’t have any.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17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voice check: read it aloud; if it isn't her, she says 'warmer' or 'blunter.'</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LAST ROUND IS ALWAYS THE VOICE ROUND</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Keep your voice</a:t>
            </a:r>
            <a:endParaRPr lang="en-US" sz="3200" dirty="0"/>
          </a:p>
        </p:txBody>
      </p:sp>
      <p:sp>
        <p:nvSpPr>
          <p:cNvPr id="14" name="Text 11"/>
          <p:cNvSpPr/>
          <p:nvPr/>
        </p:nvSpPr>
        <p:spPr>
          <a:xfrm>
            <a:off x="640080" y="1463040"/>
            <a:ext cx="10908792" cy="246888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AI output has a house style: smooth, agreeable, a little beige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If everything you send home sounds like everything everyone else sends home, families notice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Read it aloud. If it doesn’t sound like you, say so: “Blunter.” “Warmer.”</a:t>
            </a:r>
            <a:endParaRPr lang="en-US" sz="2100" dirty="0"/>
          </a:p>
        </p:txBody>
      </p:sp>
      <p:sp>
        <p:nvSpPr>
          <p:cNvPr id="15" name="Shape 12"/>
          <p:cNvSpPr/>
          <p:nvPr/>
        </p:nvSpPr>
        <p:spPr>
          <a:xfrm>
            <a:off x="640080" y="4114800"/>
            <a:ext cx="10972800" cy="1463040"/>
          </a:xfrm>
          <a:prstGeom prst="roundRect">
            <a:avLst>
              <a:gd name="adj" fmla="val 5625"/>
            </a:avLst>
          </a:prstGeom>
          <a:solidFill>
            <a:srgbClr val="EAF5F3"/>
          </a:solidFill>
          <a:ln w="12700">
            <a:solidFill>
              <a:srgbClr val="EAF5F3"/>
            </a:solidFill>
            <a:prstDash val="solid"/>
          </a:ln>
        </p:spPr>
      </p:sp>
      <p:sp>
        <p:nvSpPr>
          <p:cNvPr id="16" name="Text 13"/>
          <p:cNvSpPr/>
          <p:nvPr/>
        </p:nvSpPr>
        <p:spPr>
          <a:xfrm>
            <a:off x="960120" y="4297680"/>
            <a:ext cx="10332720" cy="1097280"/>
          </a:xfrm>
          <a:prstGeom prst="rect">
            <a:avLst/>
          </a:prstGeom>
          <a:noFill/>
          <a:ln/>
        </p:spPr>
        <p:txBody>
          <a:bodyPr wrap="square" lIns="0" tIns="0" rIns="0" bIns="0" rtlCol="0" anchor="ctr"/>
          <a:lstStyle/>
          <a:p>
            <a:pPr indent="0" marL="0">
              <a:buNone/>
            </a:pPr>
            <a:r>
              <a:rPr lang="en-US" sz="2600" b="1" dirty="0">
                <a:solidFill>
                  <a:srgbClr val="13293D"/>
                </a:solidFill>
                <a:latin typeface="Inter" pitchFamily="34" charset="0"/>
                <a:ea typeface="Inter" pitchFamily="34" charset="-122"/>
                <a:cs typeface="Inter" pitchFamily="34" charset="-120"/>
              </a:rPr>
              <a:t>Your voice is a feature. Keep it.</a:t>
            </a:r>
            <a:endParaRPr lang="en-US"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2 · Prompting Basics   |   18</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lab pick, one prompt through every step: her weekly review questions.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HANDS-ON · ~19 MINUTES</a:t>
            </a:r>
            <a:endParaRPr lang="en-US" sz="1200" dirty="0"/>
          </a:p>
        </p:txBody>
      </p:sp>
      <p:sp>
        <p:nvSpPr>
          <p:cNvPr id="13" name="Text 10"/>
          <p:cNvSpPr/>
          <p:nvPr/>
        </p:nvSpPr>
        <p:spPr>
          <a:xfrm>
            <a:off x="640080" y="1371600"/>
            <a:ext cx="10972800" cy="914400"/>
          </a:xfrm>
          <a:prstGeom prst="rect">
            <a:avLst/>
          </a:prstGeom>
          <a:noFill/>
          <a:ln/>
        </p:spPr>
        <p:txBody>
          <a:bodyPr wrap="square" lIns="0" tIns="0" rIns="0" bIns="0" rtlCol="0" anchor="ctr"/>
          <a:lstStyle/>
          <a:p>
            <a:pPr indent="0" marL="0">
              <a:buNone/>
            </a:pPr>
            <a:r>
              <a:rPr lang="en-US" sz="4200" b="1" dirty="0">
                <a:solidFill>
                  <a:srgbClr val="FFFFFF"/>
                </a:solidFill>
                <a:latin typeface="Inter" pitchFamily="34" charset="0"/>
                <a:ea typeface="Inter" pitchFamily="34" charset="-122"/>
                <a:cs typeface="Inter" pitchFamily="34" charset="-120"/>
              </a:rPr>
              <a:t>Lab: build a tool, not a toy.</a:t>
            </a:r>
            <a:endParaRPr lang="en-US" sz="4200" dirty="0"/>
          </a:p>
        </p:txBody>
      </p:sp>
      <p:sp>
        <p:nvSpPr>
          <p:cNvPr id="14" name="Text 11"/>
          <p:cNvSpPr/>
          <p:nvPr/>
        </p:nvSpPr>
        <p:spPr>
          <a:xfrm>
            <a:off x="640080" y="2377440"/>
            <a:ext cx="10972800" cy="914400"/>
          </a:xfrm>
          <a:prstGeom prst="rect">
            <a:avLst/>
          </a:prstGeom>
          <a:noFill/>
          <a:ln/>
        </p:spPr>
        <p:txBody>
          <a:bodyPr wrap="square" lIns="0" tIns="0" rIns="0" bIns="0" rtlCol="0" anchor="ctr"/>
          <a:lstStyle/>
          <a:p>
            <a:pPr indent="0" marL="0">
              <a:buNone/>
            </a:pPr>
            <a:r>
              <a:rPr lang="en-US" sz="2000" dirty="0">
                <a:solidFill>
                  <a:srgbClr val="C9D4DE"/>
                </a:solidFill>
                <a:latin typeface="Inter" pitchFamily="34" charset="0"/>
                <a:ea typeface="Inter" pitchFamily="34" charset="-122"/>
                <a:cs typeface="Inter" pitchFamily="34" charset="-120"/>
              </a:rPr>
              <a:t>Pick one task you do every week: the Friday newsletter, the weekly quiz, leveling a reading, station directions. Ms. Rivera builds hers on screen the whole way: one prompt for her weekly review questions.</a:t>
            </a:r>
            <a:endParaRPr lang="en-US" sz="2000" dirty="0"/>
          </a:p>
        </p:txBody>
      </p:sp>
      <p:sp>
        <p:nvSpPr>
          <p:cNvPr id="15" name="Shape 12"/>
          <p:cNvSpPr/>
          <p:nvPr/>
        </p:nvSpPr>
        <p:spPr>
          <a:xfrm>
            <a:off x="822960" y="3474720"/>
            <a:ext cx="566928" cy="566928"/>
          </a:xfrm>
          <a:prstGeom prst="ellipse">
            <a:avLst/>
          </a:prstGeom>
          <a:solidFill>
            <a:srgbClr val="2A9D8F"/>
          </a:solidFill>
          <a:ln w="12700">
            <a:solidFill>
              <a:srgbClr val="2A9D8F"/>
            </a:solidFill>
            <a:prstDash val="solid"/>
          </a:ln>
        </p:spPr>
      </p:sp>
      <p:sp>
        <p:nvSpPr>
          <p:cNvPr id="16" name="Text 13"/>
          <p:cNvSpPr/>
          <p:nvPr/>
        </p:nvSpPr>
        <p:spPr>
          <a:xfrm>
            <a:off x="822960" y="34747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1</a:t>
            </a:r>
            <a:endParaRPr lang="en-US" sz="2000" dirty="0"/>
          </a:p>
        </p:txBody>
      </p:sp>
      <p:sp>
        <p:nvSpPr>
          <p:cNvPr id="17" name="Text 14"/>
          <p:cNvSpPr/>
          <p:nvPr/>
        </p:nvSpPr>
        <p:spPr>
          <a:xfrm>
            <a:off x="1600200" y="3429000"/>
            <a:ext cx="9875520" cy="658368"/>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No student information; we practice like we play</a:t>
            </a:r>
            <a:endParaRPr lang="en-US" sz="2000" dirty="0"/>
          </a:p>
        </p:txBody>
      </p:sp>
      <p:sp>
        <p:nvSpPr>
          <p:cNvPr id="18" name="Shape 15"/>
          <p:cNvSpPr/>
          <p:nvPr/>
        </p:nvSpPr>
        <p:spPr>
          <a:xfrm>
            <a:off x="822960" y="4297680"/>
            <a:ext cx="566928" cy="566928"/>
          </a:xfrm>
          <a:prstGeom prst="ellipse">
            <a:avLst/>
          </a:prstGeom>
          <a:solidFill>
            <a:srgbClr val="2A9D8F"/>
          </a:solidFill>
          <a:ln w="12700">
            <a:solidFill>
              <a:srgbClr val="2A9D8F"/>
            </a:solidFill>
            <a:prstDash val="solid"/>
          </a:ln>
        </p:spPr>
      </p:sp>
      <p:sp>
        <p:nvSpPr>
          <p:cNvPr id="19" name="Text 16"/>
          <p:cNvSpPr/>
          <p:nvPr/>
        </p:nvSpPr>
        <p:spPr>
          <a:xfrm>
            <a:off x="822960" y="42976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2</a:t>
            </a:r>
            <a:endParaRPr lang="en-US" sz="2000" dirty="0"/>
          </a:p>
        </p:txBody>
      </p:sp>
      <p:sp>
        <p:nvSpPr>
          <p:cNvPr id="20" name="Text 17"/>
          <p:cNvSpPr/>
          <p:nvPr/>
        </p:nvSpPr>
        <p:spPr>
          <a:xfrm>
            <a:off x="1600200" y="4251960"/>
            <a:ext cx="9875520" cy="658368"/>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Draft with all four parts; be generous with context</a:t>
            </a:r>
            <a:endParaRPr lang="en-US" sz="2000" dirty="0"/>
          </a:p>
        </p:txBody>
      </p:sp>
      <p:sp>
        <p:nvSpPr>
          <p:cNvPr id="21" name="Shape 18"/>
          <p:cNvSpPr/>
          <p:nvPr/>
        </p:nvSpPr>
        <p:spPr>
          <a:xfrm>
            <a:off x="822960" y="5120640"/>
            <a:ext cx="566928" cy="566928"/>
          </a:xfrm>
          <a:prstGeom prst="ellipse">
            <a:avLst/>
          </a:prstGeom>
          <a:solidFill>
            <a:srgbClr val="2A9D8F"/>
          </a:solidFill>
          <a:ln w="12700">
            <a:solidFill>
              <a:srgbClr val="2A9D8F"/>
            </a:solidFill>
            <a:prstDash val="solid"/>
          </a:ln>
        </p:spPr>
      </p:sp>
      <p:sp>
        <p:nvSpPr>
          <p:cNvPr id="22" name="Text 19"/>
          <p:cNvSpPr/>
          <p:nvPr/>
        </p:nvSpPr>
        <p:spPr>
          <a:xfrm>
            <a:off x="822960" y="51206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3</a:t>
            </a:r>
            <a:endParaRPr lang="en-US" sz="2000" dirty="0"/>
          </a:p>
        </p:txBody>
      </p:sp>
      <p:sp>
        <p:nvSpPr>
          <p:cNvPr id="23" name="Text 20"/>
          <p:cNvSpPr/>
          <p:nvPr/>
        </p:nvSpPr>
        <p:spPr>
          <a:xfrm>
            <a:off x="1600200" y="5074920"/>
            <a:ext cx="9875520" cy="658368"/>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You’ll iterate three rounds, then save the template</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19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review prompt, draft one: all four parts in, run once, read like an editor.</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1 OF 3 · 6 MINUTES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Draft with the formula</a:t>
            </a:r>
            <a:endParaRPr lang="en-US" sz="3200" dirty="0"/>
          </a:p>
        </p:txBody>
      </p:sp>
      <p:sp>
        <p:nvSpPr>
          <p:cNvPr id="14" name="Shape 11"/>
          <p:cNvSpPr/>
          <p:nvPr/>
        </p:nvSpPr>
        <p:spPr>
          <a:xfrm>
            <a:off x="640080" y="1508760"/>
            <a:ext cx="4892040" cy="731520"/>
          </a:xfrm>
          <a:prstGeom prst="roundRect">
            <a:avLst>
              <a:gd name="adj" fmla="val 11250"/>
            </a:avLst>
          </a:prstGeom>
          <a:solidFill>
            <a:srgbClr val="F7F5F0"/>
          </a:solidFill>
          <a:ln w="12700">
            <a:solidFill>
              <a:srgbClr val="F7F5F0"/>
            </a:solidFill>
            <a:prstDash val="solid"/>
          </a:ln>
        </p:spPr>
      </p:sp>
      <p:sp>
        <p:nvSpPr>
          <p:cNvPr id="15" name="Text 12"/>
          <p:cNvSpPr/>
          <p:nvPr/>
        </p:nvSpPr>
        <p:spPr>
          <a:xfrm>
            <a:off x="914400" y="1563624"/>
            <a:ext cx="4389120" cy="621792"/>
          </a:xfrm>
          <a:prstGeom prst="rect">
            <a:avLst/>
          </a:prstGeom>
          <a:noFill/>
          <a:ln/>
        </p:spPr>
        <p:txBody>
          <a:bodyPr wrap="square" lIns="0" tIns="0" rIns="0" bIns="0" rtlCol="0" anchor="ctr"/>
          <a:lstStyle/>
          <a:p>
            <a:pPr indent="0" marL="0">
              <a:buNone/>
            </a:pPr>
            <a:r>
              <a:rPr lang="en-US" sz="1550" dirty="0">
                <a:solidFill>
                  <a:srgbClr val="1B1F24"/>
                </a:solidFill>
                <a:latin typeface="Inter" pitchFamily="34" charset="0"/>
                <a:ea typeface="Inter" pitchFamily="34" charset="-122"/>
                <a:cs typeface="Inter" pitchFamily="34" charset="-120"/>
              </a:rPr>
              <a:t>Role: who should it be?</a:t>
            </a:r>
            <a:endParaRPr lang="en-US" sz="1550" dirty="0"/>
          </a:p>
        </p:txBody>
      </p:sp>
      <p:sp>
        <p:nvSpPr>
          <p:cNvPr id="16" name="Shape 13"/>
          <p:cNvSpPr/>
          <p:nvPr/>
        </p:nvSpPr>
        <p:spPr>
          <a:xfrm>
            <a:off x="640080" y="2377440"/>
            <a:ext cx="4892040" cy="731520"/>
          </a:xfrm>
          <a:prstGeom prst="roundRect">
            <a:avLst>
              <a:gd name="adj" fmla="val 11250"/>
            </a:avLst>
          </a:prstGeom>
          <a:solidFill>
            <a:srgbClr val="F7F5F0"/>
          </a:solidFill>
          <a:ln w="12700">
            <a:solidFill>
              <a:srgbClr val="F7F5F0"/>
            </a:solidFill>
            <a:prstDash val="solid"/>
          </a:ln>
        </p:spPr>
      </p:sp>
      <p:sp>
        <p:nvSpPr>
          <p:cNvPr id="17" name="Text 14"/>
          <p:cNvSpPr/>
          <p:nvPr/>
        </p:nvSpPr>
        <p:spPr>
          <a:xfrm>
            <a:off x="914400" y="2432304"/>
            <a:ext cx="4389120" cy="621792"/>
          </a:xfrm>
          <a:prstGeom prst="rect">
            <a:avLst/>
          </a:prstGeom>
          <a:noFill/>
          <a:ln/>
        </p:spPr>
        <p:txBody>
          <a:bodyPr wrap="square" lIns="0" tIns="0" rIns="0" bIns="0" rtlCol="0" anchor="ctr"/>
          <a:lstStyle/>
          <a:p>
            <a:pPr indent="0" marL="0">
              <a:buNone/>
            </a:pPr>
            <a:r>
              <a:rPr lang="en-US" sz="1550" dirty="0">
                <a:solidFill>
                  <a:srgbClr val="1B1F24"/>
                </a:solidFill>
                <a:latin typeface="Inter" pitchFamily="34" charset="0"/>
                <a:ea typeface="Inter" pitchFamily="34" charset="-122"/>
                <a:cs typeface="Inter" pitchFamily="34" charset="-120"/>
              </a:rPr>
              <a:t>Task: one clear verb</a:t>
            </a:r>
            <a:endParaRPr lang="en-US" sz="1550" dirty="0"/>
          </a:p>
        </p:txBody>
      </p:sp>
      <p:sp>
        <p:nvSpPr>
          <p:cNvPr id="18" name="Shape 15"/>
          <p:cNvSpPr/>
          <p:nvPr/>
        </p:nvSpPr>
        <p:spPr>
          <a:xfrm>
            <a:off x="640080" y="3246120"/>
            <a:ext cx="4892040" cy="731520"/>
          </a:xfrm>
          <a:prstGeom prst="roundRect">
            <a:avLst>
              <a:gd name="adj" fmla="val 11250"/>
            </a:avLst>
          </a:prstGeom>
          <a:solidFill>
            <a:srgbClr val="F7F5F0"/>
          </a:solidFill>
          <a:ln w="12700">
            <a:solidFill>
              <a:srgbClr val="F7F5F0"/>
            </a:solidFill>
            <a:prstDash val="solid"/>
          </a:ln>
        </p:spPr>
      </p:sp>
      <p:sp>
        <p:nvSpPr>
          <p:cNvPr id="19" name="Text 16"/>
          <p:cNvSpPr/>
          <p:nvPr/>
        </p:nvSpPr>
        <p:spPr>
          <a:xfrm>
            <a:off x="914400" y="3300984"/>
            <a:ext cx="4389120" cy="621792"/>
          </a:xfrm>
          <a:prstGeom prst="rect">
            <a:avLst/>
          </a:prstGeom>
          <a:noFill/>
          <a:ln/>
        </p:spPr>
        <p:txBody>
          <a:bodyPr wrap="square" lIns="0" tIns="0" rIns="0" bIns="0" rtlCol="0" anchor="ctr"/>
          <a:lstStyle/>
          <a:p>
            <a:pPr indent="0" marL="0">
              <a:buNone/>
            </a:pPr>
            <a:r>
              <a:rPr lang="en-US" sz="1550" dirty="0">
                <a:solidFill>
                  <a:srgbClr val="1B1F24"/>
                </a:solidFill>
                <a:latin typeface="Inter" pitchFamily="34" charset="0"/>
                <a:ea typeface="Inter" pitchFamily="34" charset="-122"/>
                <a:cs typeface="Inter" pitchFamily="34" charset="-120"/>
              </a:rPr>
              <a:t>Context: what would a substitute need to know?</a:t>
            </a:r>
            <a:endParaRPr lang="en-US" sz="1550" dirty="0"/>
          </a:p>
        </p:txBody>
      </p:sp>
      <p:sp>
        <p:nvSpPr>
          <p:cNvPr id="20" name="Shape 17"/>
          <p:cNvSpPr/>
          <p:nvPr/>
        </p:nvSpPr>
        <p:spPr>
          <a:xfrm>
            <a:off x="640080" y="4114800"/>
            <a:ext cx="4892040" cy="731520"/>
          </a:xfrm>
          <a:prstGeom prst="roundRect">
            <a:avLst>
              <a:gd name="adj" fmla="val 11250"/>
            </a:avLst>
          </a:prstGeom>
          <a:solidFill>
            <a:srgbClr val="F7F5F0"/>
          </a:solidFill>
          <a:ln w="12700">
            <a:solidFill>
              <a:srgbClr val="F7F5F0"/>
            </a:solidFill>
            <a:prstDash val="solid"/>
          </a:ln>
        </p:spPr>
      </p:sp>
      <p:sp>
        <p:nvSpPr>
          <p:cNvPr id="21" name="Text 18"/>
          <p:cNvSpPr/>
          <p:nvPr/>
        </p:nvSpPr>
        <p:spPr>
          <a:xfrm>
            <a:off x="914400" y="4169664"/>
            <a:ext cx="4389120" cy="621792"/>
          </a:xfrm>
          <a:prstGeom prst="rect">
            <a:avLst/>
          </a:prstGeom>
          <a:noFill/>
          <a:ln/>
        </p:spPr>
        <p:txBody>
          <a:bodyPr wrap="square" lIns="0" tIns="0" rIns="0" bIns="0" rtlCol="0" anchor="ctr"/>
          <a:lstStyle/>
          <a:p>
            <a:pPr indent="0" marL="0">
              <a:buNone/>
            </a:pPr>
            <a:r>
              <a:rPr lang="en-US" sz="1550" dirty="0">
                <a:solidFill>
                  <a:srgbClr val="1B1F24"/>
                </a:solidFill>
                <a:latin typeface="Inter" pitchFamily="34" charset="0"/>
                <a:ea typeface="Inter" pitchFamily="34" charset="-122"/>
                <a:cs typeface="Inter" pitchFamily="34" charset="-120"/>
              </a:rPr>
              <a:t>Format: exactly what the output looks like</a:t>
            </a:r>
            <a:endParaRPr lang="en-US" sz="1550" dirty="0"/>
          </a:p>
        </p:txBody>
      </p:sp>
      <p:sp>
        <p:nvSpPr>
          <p:cNvPr id="22" name="Shape 19"/>
          <p:cNvSpPr/>
          <p:nvPr/>
        </p:nvSpPr>
        <p:spPr>
          <a:xfrm>
            <a:off x="5806440" y="1508760"/>
            <a:ext cx="5806440" cy="3429000"/>
          </a:xfrm>
          <a:prstGeom prst="roundRect">
            <a:avLst>
              <a:gd name="adj" fmla="val 2400"/>
            </a:avLst>
          </a:prstGeom>
          <a:solidFill>
            <a:srgbClr val="EAF5F3"/>
          </a:solidFill>
          <a:ln w="12700">
            <a:solidFill>
              <a:srgbClr val="EAF5F3"/>
            </a:solidFill>
            <a:prstDash val="solid"/>
          </a:ln>
        </p:spPr>
      </p:sp>
      <p:sp>
        <p:nvSpPr>
          <p:cNvPr id="23" name="Text 20"/>
          <p:cNvSpPr/>
          <p:nvPr/>
        </p:nvSpPr>
        <p:spPr>
          <a:xfrm>
            <a:off x="6080760" y="1691640"/>
            <a:ext cx="5349240" cy="292608"/>
          </a:xfrm>
          <a:prstGeom prst="rect">
            <a:avLst/>
          </a:prstGeom>
          <a:noFill/>
          <a:ln/>
        </p:spPr>
        <p:txBody>
          <a:bodyPr wrap="square" lIns="0" tIns="0" rIns="0" bIns="0" rtlCol="0" anchor="ctr"/>
          <a:lstStyle/>
          <a:p>
            <a:pPr indent="0" marL="0">
              <a:buNone/>
            </a:pPr>
            <a:r>
              <a:rPr lang="en-US" sz="1250" b="1" spc="150" kern="0" dirty="0">
                <a:solidFill>
                  <a:srgbClr val="2A9D8F"/>
                </a:solidFill>
                <a:latin typeface="Inter" pitchFamily="34" charset="0"/>
                <a:ea typeface="Inter" pitchFamily="34" charset="-122"/>
                <a:cs typeface="Inter" pitchFamily="34" charset="-120"/>
              </a:rPr>
              <a:t>MS. RIVERA'S REVIEW PROMPT · STEP 1 · HER FIRST DRAFT</a:t>
            </a:r>
            <a:endParaRPr lang="en-US" sz="1250" dirty="0"/>
          </a:p>
        </p:txBody>
      </p:sp>
      <p:sp>
        <p:nvSpPr>
          <p:cNvPr id="24" name="Text 21"/>
          <p:cNvSpPr/>
          <p:nvPr/>
        </p:nvSpPr>
        <p:spPr>
          <a:xfrm>
            <a:off x="6080760" y="2103120"/>
            <a:ext cx="5257800" cy="2331720"/>
          </a:xfrm>
          <a:prstGeom prst="rect">
            <a:avLst/>
          </a:prstGeom>
          <a:noFill/>
          <a:ln/>
        </p:spPr>
        <p:txBody>
          <a:bodyPr wrap="square" lIns="0" tIns="0" rIns="0" bIns="0" rtlCol="0" anchor="t"/>
          <a:lstStyle/>
          <a:p>
            <a:pPr indent="0" marL="0">
              <a:lnSpc>
                <a:spcPct val="120000"/>
              </a:lnSpc>
              <a:buNone/>
            </a:pPr>
            <a:r>
              <a:rPr lang="en-US" sz="1700" b="1" dirty="0">
                <a:solidFill>
                  <a:srgbClr val="2A9D8F"/>
                </a:solidFill>
                <a:latin typeface="Inter" pitchFamily="34" charset="0"/>
                <a:ea typeface="Inter" pitchFamily="34" charset="-122"/>
                <a:cs typeface="Inter" pitchFamily="34" charset="-120"/>
              </a:rPr>
              <a:t>“You are an experienced 4th grade teacher. </a:t>
            </a:r>
            <a:pPr indent="0" marL="0">
              <a:lnSpc>
                <a:spcPct val="120000"/>
              </a:lnSpc>
              <a:buNone/>
            </a:pPr>
            <a:r>
              <a:rPr lang="en-US" sz="1700" b="1" dirty="0">
                <a:solidFill>
                  <a:srgbClr val="13293D"/>
                </a:solidFill>
                <a:latin typeface="Inter" pitchFamily="34" charset="0"/>
                <a:ea typeface="Inter" pitchFamily="34" charset="-122"/>
                <a:cs typeface="Inter" pitchFamily="34" charset="-120"/>
              </a:rPr>
              <a:t>Write a 10-question Friday review on equivalent fractions </a:t>
            </a:r>
            <a:pPr indent="0" marL="0">
              <a:lnSpc>
                <a:spcPct val="120000"/>
              </a:lnSpc>
              <a:buNone/>
            </a:pPr>
            <a:r>
              <a:rPr lang="en-US" sz="1700" b="1" dirty="0">
                <a:solidFill>
                  <a:srgbClr val="B07914"/>
                </a:solidFill>
                <a:latin typeface="Inter" pitchFamily="34" charset="0"/>
                <a:ea typeface="Inter" pitchFamily="34" charset="-122"/>
                <a:cs typeface="Inter" pitchFamily="34" charset="-120"/>
              </a:rPr>
              <a:t>for a class that still confuses numerator and denominator when simplifying. </a:t>
            </a:r>
            <a:pPr indent="0" marL="0">
              <a:lnSpc>
                <a:spcPct val="120000"/>
              </a:lnSpc>
              <a:buNone/>
            </a:pPr>
            <a:r>
              <a:rPr lang="en-US" sz="1700" b="1" dirty="0">
                <a:solidFill>
                  <a:srgbClr val="2E7D5B"/>
                </a:solidFill>
                <a:latin typeface="Inter" pitchFamily="34" charset="0"/>
                <a:ea typeface="Inter" pitchFamily="34" charset="-122"/>
                <a:cs typeface="Inter" pitchFamily="34" charset="-120"/>
              </a:rPr>
              <a:t>Mix multiple choice and short answer. Include an answer key.”</a:t>
            </a:r>
            <a:endParaRPr lang="en-US" sz="1700" dirty="0"/>
          </a:p>
        </p:txBody>
      </p:sp>
      <p:sp>
        <p:nvSpPr>
          <p:cNvPr id="25" name="Text 22"/>
          <p:cNvSpPr/>
          <p:nvPr/>
        </p:nvSpPr>
        <p:spPr>
          <a:xfrm>
            <a:off x="6080760" y="4480560"/>
            <a:ext cx="5257800" cy="365760"/>
          </a:xfrm>
          <a:prstGeom prst="rect">
            <a:avLst/>
          </a:prstGeom>
          <a:noFill/>
          <a:ln/>
        </p:spPr>
        <p:txBody>
          <a:bodyPr wrap="square" lIns="0" tIns="0" rIns="0" bIns="0" rtlCol="0" anchor="ctr"/>
          <a:lstStyle/>
          <a:p>
            <a:pPr indent="0" marL="0">
              <a:buNone/>
            </a:pPr>
            <a:r>
              <a:rPr lang="en-US" sz="1300" i="1" dirty="0">
                <a:solidFill>
                  <a:srgbClr val="5B6B7A"/>
                </a:solidFill>
                <a:latin typeface="Inter" pitchFamily="34" charset="0"/>
                <a:ea typeface="Inter" pitchFamily="34" charset="-122"/>
                <a:cs typeface="Inter" pitchFamily="34" charset="-120"/>
              </a:rPr>
              <a:t>Same colors as the makeover: role, task, context, format.</a:t>
            </a:r>
            <a:endParaRPr lang="en-US" sz="1300" dirty="0"/>
          </a:p>
        </p:txBody>
      </p:sp>
      <p:sp>
        <p:nvSpPr>
          <p:cNvPr id="26" name="Text 23"/>
          <p:cNvSpPr/>
          <p:nvPr/>
        </p:nvSpPr>
        <p:spPr>
          <a:xfrm>
            <a:off x="640080" y="5212080"/>
            <a:ext cx="10972800" cy="457200"/>
          </a:xfrm>
          <a:prstGeom prst="rect">
            <a:avLst/>
          </a:prstGeom>
          <a:noFill/>
          <a:ln/>
        </p:spPr>
        <p:txBody>
          <a:bodyPr wrap="square" lIns="0" tIns="0" rIns="0" bIns="0" rtlCol="0" anchor="ctr"/>
          <a:lstStyle/>
          <a:p>
            <a:pPr algn="ctr" indent="0" marL="0">
              <a:buNone/>
            </a:pPr>
            <a:r>
              <a:rPr lang="en-US" sz="2000" b="1" dirty="0">
                <a:solidFill>
                  <a:srgbClr val="13293D"/>
                </a:solidFill>
                <a:latin typeface="Inter" pitchFamily="34" charset="0"/>
                <a:ea typeface="Inter" pitchFamily="34" charset="-122"/>
                <a:cs typeface="Inter" pitchFamily="34" charset="-120"/>
              </a:rPr>
              <a:t>Run it. Then read the draft like an editor, not a fan.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20</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review prompt, three rounds in: content fixed, voice warmed, details tight.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2 OF 3 · 6 MINUTES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Three rounds of iteration</a:t>
            </a:r>
            <a:endParaRPr lang="en-US" sz="3200" dirty="0"/>
          </a:p>
        </p:txBody>
      </p:sp>
      <p:sp>
        <p:nvSpPr>
          <p:cNvPr id="14" name="Shape 11"/>
          <p:cNvSpPr/>
          <p:nvPr/>
        </p:nvSpPr>
        <p:spPr>
          <a:xfrm>
            <a:off x="640080" y="1508760"/>
            <a:ext cx="4160520" cy="1051560"/>
          </a:xfrm>
          <a:prstGeom prst="roundRect">
            <a:avLst>
              <a:gd name="adj" fmla="val 7826"/>
            </a:avLst>
          </a:prstGeom>
          <a:solidFill>
            <a:srgbClr val="F7F5F0"/>
          </a:solidFill>
          <a:ln w="12700">
            <a:solidFill>
              <a:srgbClr val="F7F5F0"/>
            </a:solidFill>
            <a:prstDash val="solid"/>
          </a:ln>
        </p:spPr>
      </p:sp>
      <p:sp>
        <p:nvSpPr>
          <p:cNvPr id="15" name="Text 12"/>
          <p:cNvSpPr/>
          <p:nvPr/>
        </p:nvSpPr>
        <p:spPr>
          <a:xfrm>
            <a:off x="914400" y="1618488"/>
            <a:ext cx="3657600" cy="365760"/>
          </a:xfrm>
          <a:prstGeom prst="rect">
            <a:avLst/>
          </a:prstGeom>
          <a:noFill/>
          <a:ln/>
        </p:spPr>
        <p:txBody>
          <a:bodyPr wrap="square" lIns="0" tIns="0" rIns="0" bIns="0" rtlCol="0" anchor="ctr"/>
          <a:lstStyle/>
          <a:p>
            <a:pPr indent="0" marL="0">
              <a:buNone/>
            </a:pPr>
            <a:r>
              <a:rPr lang="en-US" sz="1700" b="1" dirty="0">
                <a:solidFill>
                  <a:srgbClr val="13293D"/>
                </a:solidFill>
                <a:latin typeface="Inter" pitchFamily="34" charset="0"/>
                <a:ea typeface="Inter" pitchFamily="34" charset="-122"/>
                <a:cs typeface="Inter" pitchFamily="34" charset="-120"/>
              </a:rPr>
              <a:t>1 · Content</a:t>
            </a:r>
            <a:endParaRPr lang="en-US" sz="1700" dirty="0"/>
          </a:p>
        </p:txBody>
      </p:sp>
      <p:sp>
        <p:nvSpPr>
          <p:cNvPr id="16" name="Text 13"/>
          <p:cNvSpPr/>
          <p:nvPr/>
        </p:nvSpPr>
        <p:spPr>
          <a:xfrm>
            <a:off x="914400" y="1984248"/>
            <a:ext cx="3657600" cy="502920"/>
          </a:xfrm>
          <a:prstGeom prst="rect">
            <a:avLst/>
          </a:prstGeom>
          <a:noFill/>
          <a:ln/>
        </p:spPr>
        <p:txBody>
          <a:bodyPr wrap="square" lIns="0" tIns="0" rIns="0" bIns="0" rtlCol="0" anchor="ctr"/>
          <a:lstStyle/>
          <a:p>
            <a:pPr indent="0" marL="0">
              <a:buNone/>
            </a:pPr>
            <a:r>
              <a:rPr lang="en-US" sz="1350" dirty="0">
                <a:solidFill>
                  <a:srgbClr val="1B1F24"/>
                </a:solidFill>
                <a:latin typeface="Inter" pitchFamily="34" charset="0"/>
                <a:ea typeface="Inter" pitchFamily="34" charset="-122"/>
                <a:cs typeface="Inter" pitchFamily="34" charset="-120"/>
              </a:rPr>
              <a:t>What’s wrong or missing? Fix it first.</a:t>
            </a:r>
            <a:endParaRPr lang="en-US" sz="1350" dirty="0"/>
          </a:p>
        </p:txBody>
      </p:sp>
      <p:sp>
        <p:nvSpPr>
          <p:cNvPr id="17" name="Shape 14"/>
          <p:cNvSpPr/>
          <p:nvPr/>
        </p:nvSpPr>
        <p:spPr>
          <a:xfrm>
            <a:off x="640080" y="2697480"/>
            <a:ext cx="4160520" cy="1051560"/>
          </a:xfrm>
          <a:prstGeom prst="roundRect">
            <a:avLst>
              <a:gd name="adj" fmla="val 7826"/>
            </a:avLst>
          </a:prstGeom>
          <a:solidFill>
            <a:srgbClr val="F7F5F0"/>
          </a:solidFill>
          <a:ln w="12700">
            <a:solidFill>
              <a:srgbClr val="F7F5F0"/>
            </a:solidFill>
            <a:prstDash val="solid"/>
          </a:ln>
        </p:spPr>
      </p:sp>
      <p:sp>
        <p:nvSpPr>
          <p:cNvPr id="18" name="Text 15"/>
          <p:cNvSpPr/>
          <p:nvPr/>
        </p:nvSpPr>
        <p:spPr>
          <a:xfrm>
            <a:off x="914400" y="2807208"/>
            <a:ext cx="3657600" cy="365760"/>
          </a:xfrm>
          <a:prstGeom prst="rect">
            <a:avLst/>
          </a:prstGeom>
          <a:noFill/>
          <a:ln/>
        </p:spPr>
        <p:txBody>
          <a:bodyPr wrap="square" lIns="0" tIns="0" rIns="0" bIns="0" rtlCol="0" anchor="ctr"/>
          <a:lstStyle/>
          <a:p>
            <a:pPr indent="0" marL="0">
              <a:buNone/>
            </a:pPr>
            <a:r>
              <a:rPr lang="en-US" sz="1700" b="1" dirty="0">
                <a:solidFill>
                  <a:srgbClr val="13293D"/>
                </a:solidFill>
                <a:latin typeface="Inter" pitchFamily="34" charset="0"/>
                <a:ea typeface="Inter" pitchFamily="34" charset="-122"/>
                <a:cs typeface="Inter" pitchFamily="34" charset="-120"/>
              </a:rPr>
              <a:t>2 · Voice</a:t>
            </a:r>
            <a:endParaRPr lang="en-US" sz="1700" dirty="0"/>
          </a:p>
        </p:txBody>
      </p:sp>
      <p:sp>
        <p:nvSpPr>
          <p:cNvPr id="19" name="Text 16"/>
          <p:cNvSpPr/>
          <p:nvPr/>
        </p:nvSpPr>
        <p:spPr>
          <a:xfrm>
            <a:off x="914400" y="3172968"/>
            <a:ext cx="3657600" cy="502920"/>
          </a:xfrm>
          <a:prstGeom prst="rect">
            <a:avLst/>
          </a:prstGeom>
          <a:noFill/>
          <a:ln/>
        </p:spPr>
        <p:txBody>
          <a:bodyPr wrap="square" lIns="0" tIns="0" rIns="0" bIns="0" rtlCol="0" anchor="ctr"/>
          <a:lstStyle/>
          <a:p>
            <a:pPr indent="0" marL="0">
              <a:buNone/>
            </a:pPr>
            <a:r>
              <a:rPr lang="en-US" sz="1350" dirty="0">
                <a:solidFill>
                  <a:srgbClr val="1B1F24"/>
                </a:solidFill>
                <a:latin typeface="Inter" pitchFamily="34" charset="0"/>
                <a:ea typeface="Inter" pitchFamily="34" charset="-122"/>
                <a:cs typeface="Inter" pitchFamily="34" charset="-120"/>
              </a:rPr>
              <a:t>Does it sound like you? Read it aloud.</a:t>
            </a:r>
            <a:endParaRPr lang="en-US" sz="1350" dirty="0"/>
          </a:p>
        </p:txBody>
      </p:sp>
      <p:sp>
        <p:nvSpPr>
          <p:cNvPr id="20" name="Shape 17"/>
          <p:cNvSpPr/>
          <p:nvPr/>
        </p:nvSpPr>
        <p:spPr>
          <a:xfrm>
            <a:off x="640080" y="3886200"/>
            <a:ext cx="4160520" cy="1051560"/>
          </a:xfrm>
          <a:prstGeom prst="roundRect">
            <a:avLst>
              <a:gd name="adj" fmla="val 7826"/>
            </a:avLst>
          </a:prstGeom>
          <a:solidFill>
            <a:srgbClr val="F7F5F0"/>
          </a:solidFill>
          <a:ln w="12700">
            <a:solidFill>
              <a:srgbClr val="F7F5F0"/>
            </a:solidFill>
            <a:prstDash val="solid"/>
          </a:ln>
        </p:spPr>
      </p:sp>
      <p:sp>
        <p:nvSpPr>
          <p:cNvPr id="21" name="Text 18"/>
          <p:cNvSpPr/>
          <p:nvPr/>
        </p:nvSpPr>
        <p:spPr>
          <a:xfrm>
            <a:off x="914400" y="3995928"/>
            <a:ext cx="3657600" cy="365760"/>
          </a:xfrm>
          <a:prstGeom prst="rect">
            <a:avLst/>
          </a:prstGeom>
          <a:noFill/>
          <a:ln/>
        </p:spPr>
        <p:txBody>
          <a:bodyPr wrap="square" lIns="0" tIns="0" rIns="0" bIns="0" rtlCol="0" anchor="ctr"/>
          <a:lstStyle/>
          <a:p>
            <a:pPr indent="0" marL="0">
              <a:buNone/>
            </a:pPr>
            <a:r>
              <a:rPr lang="en-US" sz="1700" b="1" dirty="0">
                <a:solidFill>
                  <a:srgbClr val="13293D"/>
                </a:solidFill>
                <a:latin typeface="Inter" pitchFamily="34" charset="0"/>
                <a:ea typeface="Inter" pitchFamily="34" charset="-122"/>
                <a:cs typeface="Inter" pitchFamily="34" charset="-120"/>
              </a:rPr>
              <a:t>3 · Details</a:t>
            </a:r>
            <a:endParaRPr lang="en-US" sz="1700" dirty="0"/>
          </a:p>
        </p:txBody>
      </p:sp>
      <p:sp>
        <p:nvSpPr>
          <p:cNvPr id="22" name="Text 19"/>
          <p:cNvSpPr/>
          <p:nvPr/>
        </p:nvSpPr>
        <p:spPr>
          <a:xfrm>
            <a:off x="914400" y="4361688"/>
            <a:ext cx="3657600" cy="502920"/>
          </a:xfrm>
          <a:prstGeom prst="rect">
            <a:avLst/>
          </a:prstGeom>
          <a:noFill/>
          <a:ln/>
        </p:spPr>
        <p:txBody>
          <a:bodyPr wrap="square" lIns="0" tIns="0" rIns="0" bIns="0" rtlCol="0" anchor="ctr"/>
          <a:lstStyle/>
          <a:p>
            <a:pPr indent="0" marL="0">
              <a:buNone/>
            </a:pPr>
            <a:r>
              <a:rPr lang="en-US" sz="1350" dirty="0">
                <a:solidFill>
                  <a:srgbClr val="1B1F24"/>
                </a:solidFill>
                <a:latin typeface="Inter" pitchFamily="34" charset="0"/>
                <a:ea typeface="Inter" pitchFamily="34" charset="-122"/>
                <a:cs typeface="Inter" pitchFamily="34" charset="-120"/>
              </a:rPr>
              <a:t>Length, level, layout: make them exact.</a:t>
            </a:r>
            <a:endParaRPr lang="en-US" sz="1350" dirty="0"/>
          </a:p>
        </p:txBody>
      </p:sp>
      <p:sp>
        <p:nvSpPr>
          <p:cNvPr id="23" name="Shape 20"/>
          <p:cNvSpPr/>
          <p:nvPr/>
        </p:nvSpPr>
        <p:spPr>
          <a:xfrm>
            <a:off x="5029200" y="1508760"/>
            <a:ext cx="6629400" cy="3566160"/>
          </a:xfrm>
          <a:prstGeom prst="roundRect">
            <a:avLst>
              <a:gd name="adj" fmla="val 2308"/>
            </a:avLst>
          </a:prstGeom>
          <a:solidFill>
            <a:srgbClr val="EAF5F3"/>
          </a:solidFill>
          <a:ln w="12700">
            <a:solidFill>
              <a:srgbClr val="EAF5F3"/>
            </a:solidFill>
            <a:prstDash val="solid"/>
          </a:ln>
        </p:spPr>
      </p:sp>
      <p:sp>
        <p:nvSpPr>
          <p:cNvPr id="24" name="Text 21"/>
          <p:cNvSpPr/>
          <p:nvPr/>
        </p:nvSpPr>
        <p:spPr>
          <a:xfrm>
            <a:off x="5303520" y="1691640"/>
            <a:ext cx="6126480" cy="292608"/>
          </a:xfrm>
          <a:prstGeom prst="rect">
            <a:avLst/>
          </a:prstGeom>
          <a:noFill/>
          <a:ln/>
        </p:spPr>
        <p:txBody>
          <a:bodyPr wrap="square" lIns="0" tIns="0" rIns="0" bIns="0" rtlCol="0" anchor="ctr"/>
          <a:lstStyle/>
          <a:p>
            <a:pPr indent="0" marL="0">
              <a:buNone/>
            </a:pPr>
            <a:r>
              <a:rPr lang="en-US" sz="1250" b="1" spc="150" kern="0" dirty="0">
                <a:solidFill>
                  <a:srgbClr val="2A9D8F"/>
                </a:solidFill>
                <a:latin typeface="Inter" pitchFamily="34" charset="0"/>
                <a:ea typeface="Inter" pitchFamily="34" charset="-122"/>
                <a:cs typeface="Inter" pitchFamily="34" charset="-120"/>
              </a:rPr>
              <a:t>MS. RIVERA'S REVIEW PROMPT · STEP 2 · HER THREE ROUNDS</a:t>
            </a:r>
            <a:endParaRPr lang="en-US" sz="1250" dirty="0"/>
          </a:p>
        </p:txBody>
      </p:sp>
      <p:sp>
        <p:nvSpPr>
          <p:cNvPr id="25" name="Text 22"/>
          <p:cNvSpPr/>
          <p:nvPr/>
        </p:nvSpPr>
        <p:spPr>
          <a:xfrm>
            <a:off x="5303520" y="2103120"/>
            <a:ext cx="6080760" cy="2834640"/>
          </a:xfrm>
          <a:prstGeom prst="rect">
            <a:avLst/>
          </a:prstGeom>
          <a:noFill/>
          <a:ln/>
        </p:spPr>
        <p:txBody>
          <a:bodyPr wrap="square" lIns="0" tIns="0" rIns="0" bIns="0" rtlCol="0" anchor="t"/>
          <a:lstStyle/>
          <a:p>
            <a:pPr indent="0" marL="0">
              <a:lnSpc>
                <a:spcPct val="125000"/>
              </a:lnSpc>
              <a:buNone/>
            </a:pPr>
            <a:r>
              <a:rPr lang="en-US" sz="1650" b="1" dirty="0">
                <a:solidFill>
                  <a:srgbClr val="13293D"/>
                </a:solidFill>
                <a:latin typeface="Inter" pitchFamily="34" charset="0"/>
                <a:ea typeface="Inter" pitchFamily="34" charset="-122"/>
                <a:cs typeface="Inter" pitchFamily="34" charset="-120"/>
              </a:rPr>
              <a:t>Content  </a:t>
            </a:r>
            <a:pPr indent="0" marL="0">
              <a:lnSpc>
                <a:spcPct val="125000"/>
              </a:lnSpc>
              <a:buNone/>
            </a:pPr>
            <a:r>
              <a:rPr lang="en-US" sz="1650" i="1" dirty="0">
                <a:solidFill>
                  <a:srgbClr val="1B1F24"/>
                </a:solidFill>
                <a:latin typeface="Inter" pitchFamily="34" charset="0"/>
                <a:ea typeface="Inter" pitchFamily="34" charset="-122"/>
                <a:cs typeface="Inter" pitchFamily="34" charset="-120"/>
              </a:rPr>
              <a:t>“Question 3 is mixed numbers; we haven’t gotten there. Swap in a comparing-fractions item.”
</a:t>
            </a:r>
            <a:pPr indent="0" marL="0">
              <a:lnSpc>
                <a:spcPct val="125000"/>
              </a:lnSpc>
              <a:buNone/>
            </a:pPr>
            <a:r>
              <a:rPr lang="en-US" sz="1650" b="1" dirty="0">
                <a:solidFill>
                  <a:srgbClr val="13293D"/>
                </a:solidFill>
                <a:latin typeface="Inter" pitchFamily="34" charset="0"/>
                <a:ea typeface="Inter" pitchFamily="34" charset="-122"/>
                <a:cs typeface="Inter" pitchFamily="34" charset="-120"/>
              </a:rPr>
              <a:t>Voice  </a:t>
            </a:r>
            <a:pPr indent="0" marL="0">
              <a:lnSpc>
                <a:spcPct val="125000"/>
              </a:lnSpc>
              <a:buNone/>
            </a:pPr>
            <a:r>
              <a:rPr lang="en-US" sz="1650" i="1" dirty="0">
                <a:solidFill>
                  <a:srgbClr val="1B1F24"/>
                </a:solidFill>
                <a:latin typeface="Inter" pitchFamily="34" charset="0"/>
                <a:ea typeface="Inter" pitchFamily="34" charset="-122"/>
                <a:cs typeface="Inter" pitchFamily="34" charset="-120"/>
              </a:rPr>
              <a:t>“The directions don’t sound like me. Warmer, and lose ‘utilize.’”
</a:t>
            </a:r>
            <a:pPr indent="0" marL="0">
              <a:lnSpc>
                <a:spcPct val="125000"/>
              </a:lnSpc>
              <a:buNone/>
            </a:pPr>
            <a:r>
              <a:rPr lang="en-US" sz="1650" b="1" dirty="0">
                <a:solidFill>
                  <a:srgbClr val="13293D"/>
                </a:solidFill>
                <a:latin typeface="Inter" pitchFamily="34" charset="0"/>
                <a:ea typeface="Inter" pitchFamily="34" charset="-122"/>
                <a:cs typeface="Inter" pitchFamily="34" charset="-120"/>
              </a:rPr>
              <a:t>Details  </a:t>
            </a:r>
            <a:pPr indent="0" marL="0">
              <a:lnSpc>
                <a:spcPct val="125000"/>
              </a:lnSpc>
              <a:buNone/>
            </a:pPr>
            <a:r>
              <a:rPr lang="en-US" sz="1650" i="1" dirty="0">
                <a:solidFill>
                  <a:srgbClr val="1B1F24"/>
                </a:solidFill>
                <a:latin typeface="Inter" pitchFamily="34" charset="0"/>
                <a:ea typeface="Inter" pitchFamily="34" charset="-122"/>
                <a:cs typeface="Inter" pitchFamily="34" charset="-120"/>
              </a:rPr>
              <a:t>“Exactly ten questions, numbered, answer key on its own page.”</a:t>
            </a:r>
            <a:endParaRPr lang="en-US" sz="1650" dirty="0"/>
          </a:p>
        </p:txBody>
      </p:sp>
      <p:sp>
        <p:nvSpPr>
          <p:cNvPr id="26" name="Text 23"/>
          <p:cNvSpPr/>
          <p:nvPr/>
        </p:nvSpPr>
        <p:spPr>
          <a:xfrm>
            <a:off x="640080" y="5303520"/>
            <a:ext cx="10972800" cy="457200"/>
          </a:xfrm>
          <a:prstGeom prst="rect">
            <a:avLst/>
          </a:prstGeom>
          <a:noFill/>
          <a:ln/>
        </p:spPr>
        <p:txBody>
          <a:bodyPr wrap="square" lIns="0" tIns="0" rIns="0" bIns="0" rtlCol="0" anchor="ctr"/>
          <a:lstStyle/>
          <a:p>
            <a:pPr algn="ctr" indent="0" marL="0">
              <a:buNone/>
            </a:pPr>
            <a:r>
              <a:rPr lang="en-US" sz="1800" i="1" dirty="0">
                <a:solidFill>
                  <a:srgbClr val="5B6B7A"/>
                </a:solidFill>
                <a:latin typeface="Inter" pitchFamily="34" charset="0"/>
                <a:ea typeface="Inter" pitchFamily="34" charset="-122"/>
                <a:cs typeface="Inter" pitchFamily="34" charset="-120"/>
              </a:rPr>
              <a:t>Push back like you would with a capable student teacher: specific, kind, unafraid.</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21</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review prompt, bracketed into a template and pasted into the staff doc.</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3 OF 3 · 5 MINUTES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Template it. Save it. Share it.</a:t>
            </a:r>
            <a:endParaRPr lang="en-US" sz="3200" dirty="0"/>
          </a:p>
        </p:txBody>
      </p:sp>
      <p:sp>
        <p:nvSpPr>
          <p:cNvPr id="14" name="Text 11"/>
          <p:cNvSpPr/>
          <p:nvPr/>
        </p:nvSpPr>
        <p:spPr>
          <a:xfrm>
            <a:off x="640080" y="1508760"/>
            <a:ext cx="4846320" cy="3108960"/>
          </a:xfrm>
          <a:prstGeom prst="rect">
            <a:avLst/>
          </a:prstGeom>
          <a:noFill/>
          <a:ln/>
        </p:spPr>
        <p:txBody>
          <a:bodyPr wrap="square" rtlCol="0" anchor="t"/>
          <a:lstStyle/>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Replace the specifics with blanks: [topic], [grade], [number of questions]</a:t>
            </a:r>
            <a:endParaRPr lang="en-US" sz="1700" dirty="0"/>
          </a:p>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Paste the final template into the staff prompt doc</a:t>
            </a:r>
            <a:endParaRPr lang="en-US" sz="1700" dirty="0"/>
          </a:p>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Add your name and one line: what it’s for</a:t>
            </a:r>
            <a:endParaRPr lang="en-US" sz="1700" dirty="0"/>
          </a:p>
        </p:txBody>
      </p:sp>
      <p:sp>
        <p:nvSpPr>
          <p:cNvPr id="15" name="Shape 12"/>
          <p:cNvSpPr/>
          <p:nvPr/>
        </p:nvSpPr>
        <p:spPr>
          <a:xfrm>
            <a:off x="5806440" y="1508760"/>
            <a:ext cx="5806440" cy="3429000"/>
          </a:xfrm>
          <a:prstGeom prst="roundRect">
            <a:avLst>
              <a:gd name="adj" fmla="val 2400"/>
            </a:avLst>
          </a:prstGeom>
          <a:solidFill>
            <a:srgbClr val="EAF5F3"/>
          </a:solidFill>
          <a:ln w="12700">
            <a:solidFill>
              <a:srgbClr val="EAF5F3"/>
            </a:solidFill>
            <a:prstDash val="solid"/>
          </a:ln>
        </p:spPr>
      </p:sp>
      <p:sp>
        <p:nvSpPr>
          <p:cNvPr id="16" name="Text 13"/>
          <p:cNvSpPr/>
          <p:nvPr/>
        </p:nvSpPr>
        <p:spPr>
          <a:xfrm>
            <a:off x="6080760" y="1691640"/>
            <a:ext cx="5349240" cy="292608"/>
          </a:xfrm>
          <a:prstGeom prst="rect">
            <a:avLst/>
          </a:prstGeom>
          <a:noFill/>
          <a:ln/>
        </p:spPr>
        <p:txBody>
          <a:bodyPr wrap="square" lIns="0" tIns="0" rIns="0" bIns="0" rtlCol="0" anchor="ctr"/>
          <a:lstStyle/>
          <a:p>
            <a:pPr indent="0" marL="0">
              <a:buNone/>
            </a:pPr>
            <a:r>
              <a:rPr lang="en-US" sz="1200" b="1" spc="120" kern="0" dirty="0">
                <a:solidFill>
                  <a:srgbClr val="2A9D8F"/>
                </a:solidFill>
                <a:latin typeface="Inter" pitchFamily="34" charset="0"/>
                <a:ea typeface="Inter" pitchFamily="34" charset="-122"/>
                <a:cs typeface="Inter" pitchFamily="34" charset="-120"/>
              </a:rPr>
              <a:t>MS. RIVERA'S REVIEW PROMPT · STEP 3 · HER TEMPLATE, SAVED</a:t>
            </a:r>
            <a:endParaRPr lang="en-US" sz="1200" dirty="0"/>
          </a:p>
        </p:txBody>
      </p:sp>
      <p:sp>
        <p:nvSpPr>
          <p:cNvPr id="17" name="Text 14"/>
          <p:cNvSpPr/>
          <p:nvPr/>
        </p:nvSpPr>
        <p:spPr>
          <a:xfrm>
            <a:off x="6080760" y="2103120"/>
            <a:ext cx="5257800" cy="2103120"/>
          </a:xfrm>
          <a:prstGeom prst="rect">
            <a:avLst/>
          </a:prstGeom>
          <a:noFill/>
          <a:ln/>
        </p:spPr>
        <p:txBody>
          <a:bodyPr wrap="square" lIns="0" tIns="0" rIns="0" bIns="0" rtlCol="0" anchor="t"/>
          <a:lstStyle/>
          <a:p>
            <a:pPr indent="0" marL="0">
              <a:lnSpc>
                <a:spcPct val="120000"/>
              </a:lnSpc>
              <a:buNone/>
            </a:pPr>
            <a:r>
              <a:rPr lang="en-US" sz="1650" b="1" i="1" dirty="0">
                <a:solidFill>
                  <a:srgbClr val="13293D"/>
                </a:solidFill>
                <a:latin typeface="Inter" pitchFamily="34" charset="0"/>
                <a:ea typeface="Inter" pitchFamily="34" charset="-122"/>
                <a:cs typeface="Inter" pitchFamily="34" charset="-120"/>
              </a:rPr>
              <a:t>“You are an experienced [grade] teacher. Write a [number]-question review on [topic] for a class that still confuses [what they mix up]. Mix multiple choice and short answer. Include an answer key.”</a:t>
            </a:r>
            <a:endParaRPr lang="en-US" sz="1650" dirty="0"/>
          </a:p>
        </p:txBody>
      </p:sp>
      <p:sp>
        <p:nvSpPr>
          <p:cNvPr id="18" name="Text 15"/>
          <p:cNvSpPr/>
          <p:nvPr/>
        </p:nvSpPr>
        <p:spPr>
          <a:xfrm>
            <a:off x="6080760" y="4343400"/>
            <a:ext cx="5257800" cy="457200"/>
          </a:xfrm>
          <a:prstGeom prst="rect">
            <a:avLst/>
          </a:prstGeom>
          <a:noFill/>
          <a:ln/>
        </p:spPr>
        <p:txBody>
          <a:bodyPr wrap="square" lIns="0" tIns="0" rIns="0" bIns="0" rtlCol="0" anchor="ctr"/>
          <a:lstStyle/>
          <a:p>
            <a:pPr indent="0" marL="0">
              <a:buNone/>
            </a:pPr>
            <a:r>
              <a:rPr lang="en-US" sz="1200" dirty="0">
                <a:solidFill>
                  <a:srgbClr val="5B6B7A"/>
                </a:solidFill>
                <a:latin typeface="Inter" pitchFamily="34" charset="0"/>
                <a:ea typeface="Inter" pitchFamily="34" charset="-122"/>
                <a:cs typeface="Inter" pitchFamily="34" charset="-120"/>
              </a:rPr>
              <a:t>In the staff doc: Ms. Rivera · “weekly review questions, any topic”</a:t>
            </a:r>
            <a:endParaRPr lang="en-US" sz="1200" dirty="0"/>
          </a:p>
        </p:txBody>
      </p:sp>
      <p:sp>
        <p:nvSpPr>
          <p:cNvPr id="19" name="Shape 16"/>
          <p:cNvSpPr/>
          <p:nvPr/>
        </p:nvSpPr>
        <p:spPr>
          <a:xfrm>
            <a:off x="640080" y="5120640"/>
            <a:ext cx="10972800" cy="914400"/>
          </a:xfrm>
          <a:prstGeom prst="roundRect">
            <a:avLst>
              <a:gd name="adj" fmla="val 9000"/>
            </a:avLst>
          </a:prstGeom>
          <a:solidFill>
            <a:srgbClr val="EAF5F3"/>
          </a:solidFill>
          <a:ln w="12700">
            <a:solidFill>
              <a:srgbClr val="EAF5F3"/>
            </a:solidFill>
            <a:prstDash val="solid"/>
          </a:ln>
        </p:spPr>
      </p:sp>
      <p:sp>
        <p:nvSpPr>
          <p:cNvPr id="20" name="Text 17"/>
          <p:cNvSpPr/>
          <p:nvPr/>
        </p:nvSpPr>
        <p:spPr>
          <a:xfrm>
            <a:off x="960120" y="5212080"/>
            <a:ext cx="10332720" cy="731520"/>
          </a:xfrm>
          <a:prstGeom prst="rect">
            <a:avLst/>
          </a:prstGeom>
          <a:noFill/>
          <a:ln/>
        </p:spPr>
        <p:txBody>
          <a:bodyPr wrap="square" lIns="0" tIns="0" rIns="0" bIns="0" rtlCol="0" anchor="ctr"/>
          <a:lstStyle/>
          <a:p>
            <a:pPr indent="0" marL="0">
              <a:buNone/>
            </a:pPr>
            <a:r>
              <a:rPr lang="en-US" sz="1800" b="1" dirty="0">
                <a:solidFill>
                  <a:srgbClr val="13293D"/>
                </a:solidFill>
                <a:latin typeface="Inter" pitchFamily="34" charset="0"/>
                <a:ea typeface="Inter" pitchFamily="34" charset="-122"/>
                <a:cs typeface="Inter" pitchFamily="34" charset="-120"/>
              </a:rPr>
              <a:t>You just wrote the first entry in your professional prompt library. Kit 18 grows it into a whole collection.</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review prompt, before and after: the delta is the lesson.</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SHARE-OUT · 3–4 VOICES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Before and after</a:t>
            </a:r>
            <a:endParaRPr lang="en-US" sz="3200" dirty="0"/>
          </a:p>
        </p:txBody>
      </p:sp>
      <p:sp>
        <p:nvSpPr>
          <p:cNvPr id="14" name="Text 11"/>
          <p:cNvSpPr/>
          <p:nvPr/>
        </p:nvSpPr>
        <p:spPr>
          <a:xfrm>
            <a:off x="640080" y="1554480"/>
            <a:ext cx="10908792" cy="2560320"/>
          </a:xfrm>
          <a:prstGeom prst="rect">
            <a:avLst/>
          </a:prstGeom>
          <a:noFill/>
          <a:ln/>
        </p:spPr>
        <p:txBody>
          <a:bodyPr wrap="square" rtlCol="0" anchor="t"/>
          <a:lstStyle/>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Read us your before and your after</a:t>
            </a:r>
            <a:endParaRPr lang="en-US" sz="2200" dirty="0"/>
          </a:p>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What one change made the biggest difference?</a:t>
            </a:r>
            <a:endParaRPr lang="en-US" sz="2200" dirty="0"/>
          </a:p>
          <a:p>
            <a:pPr marL="342900" indent="-342900">
              <a:spcAft>
                <a:spcPts val="1000"/>
              </a:spcAft>
              <a:buSzPct val="100000"/>
              <a:buChar char="•"/>
            </a:pPr>
            <a:r>
              <a:rPr lang="en-US" sz="2200" b="1" dirty="0">
                <a:solidFill>
                  <a:srgbClr val="13293D"/>
                </a:solidFill>
                <a:latin typeface="Inter" pitchFamily="34" charset="0"/>
                <a:ea typeface="Inter" pitchFamily="34" charset="-122"/>
                <a:cs typeface="Inter" pitchFamily="34" charset="-120"/>
              </a:rPr>
              <a:t>Anyone catch the AI being wrong mid-lab? That story goes first.</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library: one entry today, the review-questions template. It compounds.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FIFTEEN MINUTES AGO THIS DIDN’T EXIST</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 went from asking to owning</a:t>
            </a:r>
            <a:endParaRPr lang="en-US" sz="3200" dirty="0"/>
          </a:p>
        </p:txBody>
      </p:sp>
      <p:sp>
        <p:nvSpPr>
          <p:cNvPr id="14" name="Shape 11"/>
          <p:cNvSpPr/>
          <p:nvPr/>
        </p:nvSpPr>
        <p:spPr>
          <a:xfrm>
            <a:off x="640080" y="1645920"/>
            <a:ext cx="10972800" cy="3291840"/>
          </a:xfrm>
          <a:prstGeom prst="roundRect">
            <a:avLst>
              <a:gd name="adj" fmla="val 2500"/>
            </a:avLst>
          </a:prstGeom>
          <a:solidFill>
            <a:srgbClr val="F7F5F0"/>
          </a:solidFill>
          <a:ln w="12700">
            <a:solidFill>
              <a:srgbClr val="F7F5F0"/>
            </a:solidFill>
            <a:prstDash val="solid"/>
          </a:ln>
        </p:spPr>
      </p:sp>
      <p:sp>
        <p:nvSpPr>
          <p:cNvPr id="15" name="Text 12"/>
          <p:cNvSpPr/>
          <p:nvPr/>
        </p:nvSpPr>
        <p:spPr>
          <a:xfrm>
            <a:off x="1005840" y="1920240"/>
            <a:ext cx="10241280" cy="274320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The teachers saving six hours a week were never typing faster.
</a:t>
            </a:r>
            <a:pPr indent="0" marL="0">
              <a:buNone/>
            </a:pPr>
            <a:r>
              <a:rPr lang="en-US" sz="2100" dirty="0">
                <a:solidFill>
                  <a:srgbClr val="1B1F24"/>
                </a:solidFill>
                <a:latin typeface="Inter" pitchFamily="34" charset="0"/>
                <a:ea typeface="Inter" pitchFamily="34" charset="-122"/>
                <a:cs typeface="Inter" pitchFamily="34" charset="-120"/>
              </a:rPr>
              <a:t>They own a small library of prompts that fit their classroom, plus the reflex to push back until the output earns their name on it. As of today, so do you.</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2 · Prompting Basics   |   24</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one-slide system: formula, colleague test, three rounds, template it.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THE WHOLE SESSION</a:t>
            </a:r>
            <a:endParaRPr lang="en-US" sz="1200" dirty="0"/>
          </a:p>
        </p:txBody>
      </p:sp>
      <p:sp>
        <p:nvSpPr>
          <p:cNvPr id="13" name="Text 10"/>
          <p:cNvSpPr/>
          <p:nvPr/>
        </p:nvSpPr>
        <p:spPr>
          <a:xfrm>
            <a:off x="640080" y="86868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Inter" pitchFamily="34" charset="0"/>
                <a:ea typeface="Inter" pitchFamily="34" charset="-122"/>
                <a:cs typeface="Inter" pitchFamily="34" charset="-120"/>
              </a:rPr>
              <a:t>The formula on one slide</a:t>
            </a:r>
            <a:endParaRPr lang="en-US" sz="3400" dirty="0"/>
          </a:p>
        </p:txBody>
      </p:sp>
      <p:sp>
        <p:nvSpPr>
          <p:cNvPr id="14" name="Text 11"/>
          <p:cNvSpPr/>
          <p:nvPr/>
        </p:nvSpPr>
        <p:spPr>
          <a:xfrm>
            <a:off x="822960" y="1783080"/>
            <a:ext cx="2834640" cy="822960"/>
          </a:xfrm>
          <a:prstGeom prst="rect">
            <a:avLst/>
          </a:prstGeom>
          <a:noFill/>
          <a:ln/>
        </p:spPr>
        <p:txBody>
          <a:bodyPr wrap="square" lIns="0" tIns="0" rIns="0" bIns="0" rtlCol="0" anchor="ctr"/>
          <a:lstStyle/>
          <a:p>
            <a:pPr indent="0" marL="0">
              <a:buNone/>
            </a:pPr>
            <a:r>
              <a:rPr lang="en-US" sz="1900" b="1" dirty="0">
                <a:solidFill>
                  <a:srgbClr val="2A9D8F"/>
                </a:solidFill>
                <a:latin typeface="Inter" pitchFamily="34" charset="0"/>
                <a:ea typeface="Inter" pitchFamily="34" charset="-122"/>
                <a:cs typeface="Inter" pitchFamily="34" charset="-120"/>
              </a:rPr>
              <a:t>Before you type</a:t>
            </a:r>
            <a:endParaRPr lang="en-US" sz="1900" dirty="0"/>
          </a:p>
        </p:txBody>
      </p:sp>
      <p:sp>
        <p:nvSpPr>
          <p:cNvPr id="15" name="Text 12"/>
          <p:cNvSpPr/>
          <p:nvPr/>
        </p:nvSpPr>
        <p:spPr>
          <a:xfrm>
            <a:off x="3840480" y="1783080"/>
            <a:ext cx="7680960" cy="822960"/>
          </a:xfrm>
          <a:prstGeom prst="rect">
            <a:avLst/>
          </a:prstGeom>
          <a:noFill/>
          <a:ln/>
        </p:spPr>
        <p:txBody>
          <a:bodyPr wrap="square" lIns="0" tIns="0" rIns="0" bIns="0" rtlCol="0" anchor="ctr"/>
          <a:lstStyle/>
          <a:p>
            <a:pPr indent="0" marL="0">
              <a:buNone/>
            </a:pPr>
            <a:r>
              <a:rPr lang="en-US" sz="1900" dirty="0">
                <a:solidFill>
                  <a:srgbClr val="FFFFFF"/>
                </a:solidFill>
                <a:latin typeface="Inter" pitchFamily="34" charset="0"/>
                <a:ea typeface="Inter" pitchFamily="34" charset="-122"/>
                <a:cs typeface="Inter" pitchFamily="34" charset="-120"/>
              </a:rPr>
              <a:t>Role · Task · Context · Format, then the colleague test</a:t>
            </a:r>
            <a:endParaRPr lang="en-US" sz="1900" dirty="0"/>
          </a:p>
        </p:txBody>
      </p:sp>
      <p:sp>
        <p:nvSpPr>
          <p:cNvPr id="16" name="Text 13"/>
          <p:cNvSpPr/>
          <p:nvPr/>
        </p:nvSpPr>
        <p:spPr>
          <a:xfrm>
            <a:off x="822960" y="2834640"/>
            <a:ext cx="2834640" cy="822960"/>
          </a:xfrm>
          <a:prstGeom prst="rect">
            <a:avLst/>
          </a:prstGeom>
          <a:noFill/>
          <a:ln/>
        </p:spPr>
        <p:txBody>
          <a:bodyPr wrap="square" lIns="0" tIns="0" rIns="0" bIns="0" rtlCol="0" anchor="ctr"/>
          <a:lstStyle/>
          <a:p>
            <a:pPr indent="0" marL="0">
              <a:buNone/>
            </a:pPr>
            <a:r>
              <a:rPr lang="en-US" sz="1900" b="1" dirty="0">
                <a:solidFill>
                  <a:srgbClr val="2A9D8F"/>
                </a:solidFill>
                <a:latin typeface="Inter" pitchFamily="34" charset="0"/>
                <a:ea typeface="Inter" pitchFamily="34" charset="-122"/>
                <a:cs typeface="Inter" pitchFamily="34" charset="-120"/>
              </a:rPr>
              <a:t>After it answers</a:t>
            </a:r>
            <a:endParaRPr lang="en-US" sz="1900" dirty="0"/>
          </a:p>
        </p:txBody>
      </p:sp>
      <p:sp>
        <p:nvSpPr>
          <p:cNvPr id="17" name="Text 14"/>
          <p:cNvSpPr/>
          <p:nvPr/>
        </p:nvSpPr>
        <p:spPr>
          <a:xfrm>
            <a:off x="3840480" y="2834640"/>
            <a:ext cx="7680960" cy="822960"/>
          </a:xfrm>
          <a:prstGeom prst="rect">
            <a:avLst/>
          </a:prstGeom>
          <a:noFill/>
          <a:ln/>
        </p:spPr>
        <p:txBody>
          <a:bodyPr wrap="square" lIns="0" tIns="0" rIns="0" bIns="0" rtlCol="0" anchor="ctr"/>
          <a:lstStyle/>
          <a:p>
            <a:pPr indent="0" marL="0">
              <a:buNone/>
            </a:pPr>
            <a:r>
              <a:rPr lang="en-US" sz="1900" dirty="0">
                <a:solidFill>
                  <a:srgbClr val="FFFFFF"/>
                </a:solidFill>
                <a:latin typeface="Inter" pitchFamily="34" charset="0"/>
                <a:ea typeface="Inter" pitchFamily="34" charset="-122"/>
                <a:cs typeface="Inter" pitchFamily="34" charset="-120"/>
              </a:rPr>
              <a:t>Three rounds: content, voice, details</a:t>
            </a:r>
            <a:endParaRPr lang="en-US" sz="1900" dirty="0"/>
          </a:p>
        </p:txBody>
      </p:sp>
      <p:sp>
        <p:nvSpPr>
          <p:cNvPr id="18" name="Text 15"/>
          <p:cNvSpPr/>
          <p:nvPr/>
        </p:nvSpPr>
        <p:spPr>
          <a:xfrm>
            <a:off x="822960" y="3886200"/>
            <a:ext cx="2834640" cy="822960"/>
          </a:xfrm>
          <a:prstGeom prst="rect">
            <a:avLst/>
          </a:prstGeom>
          <a:noFill/>
          <a:ln/>
        </p:spPr>
        <p:txBody>
          <a:bodyPr wrap="square" lIns="0" tIns="0" rIns="0" bIns="0" rtlCol="0" anchor="ctr"/>
          <a:lstStyle/>
          <a:p>
            <a:pPr indent="0" marL="0">
              <a:buNone/>
            </a:pPr>
            <a:r>
              <a:rPr lang="en-US" sz="1900" b="1" dirty="0">
                <a:solidFill>
                  <a:srgbClr val="2A9D8F"/>
                </a:solidFill>
                <a:latin typeface="Inter" pitchFamily="34" charset="0"/>
                <a:ea typeface="Inter" pitchFamily="34" charset="-122"/>
                <a:cs typeface="Inter" pitchFamily="34" charset="-120"/>
              </a:rPr>
              <a:t>When it works</a:t>
            </a:r>
            <a:endParaRPr lang="en-US" sz="1900" dirty="0"/>
          </a:p>
        </p:txBody>
      </p:sp>
      <p:sp>
        <p:nvSpPr>
          <p:cNvPr id="19" name="Text 16"/>
          <p:cNvSpPr/>
          <p:nvPr/>
        </p:nvSpPr>
        <p:spPr>
          <a:xfrm>
            <a:off x="3840480" y="3886200"/>
            <a:ext cx="7680960" cy="822960"/>
          </a:xfrm>
          <a:prstGeom prst="rect">
            <a:avLst/>
          </a:prstGeom>
          <a:noFill/>
          <a:ln/>
        </p:spPr>
        <p:txBody>
          <a:bodyPr wrap="square" lIns="0" tIns="0" rIns="0" bIns="0" rtlCol="0" anchor="ctr"/>
          <a:lstStyle/>
          <a:p>
            <a:pPr indent="0" marL="0">
              <a:buNone/>
            </a:pPr>
            <a:r>
              <a:rPr lang="en-US" sz="1900" dirty="0">
                <a:solidFill>
                  <a:srgbClr val="FFFFFF"/>
                </a:solidFill>
                <a:latin typeface="Inter" pitchFamily="34" charset="0"/>
                <a:ea typeface="Inter" pitchFamily="34" charset="-122"/>
                <a:cs typeface="Inter" pitchFamily="34" charset="-120"/>
              </a:rPr>
              <a:t>Template it, save it, share it in the staff doc</a:t>
            </a:r>
            <a:endParaRPr lang="en-US" sz="1900" dirty="0"/>
          </a:p>
        </p:txBody>
      </p:sp>
      <p:sp>
        <p:nvSpPr>
          <p:cNvPr id="20" name="Text 17"/>
          <p:cNvSpPr/>
          <p:nvPr/>
        </p:nvSpPr>
        <p:spPr>
          <a:xfrm>
            <a:off x="822960" y="4937760"/>
            <a:ext cx="2834640" cy="822960"/>
          </a:xfrm>
          <a:prstGeom prst="rect">
            <a:avLst/>
          </a:prstGeom>
          <a:noFill/>
          <a:ln/>
        </p:spPr>
        <p:txBody>
          <a:bodyPr wrap="square" lIns="0" tIns="0" rIns="0" bIns="0" rtlCol="0" anchor="ctr"/>
          <a:lstStyle/>
          <a:p>
            <a:pPr indent="0" marL="0">
              <a:buNone/>
            </a:pPr>
            <a:r>
              <a:rPr lang="en-US" sz="1900" b="1" dirty="0">
                <a:solidFill>
                  <a:srgbClr val="2A9D8F"/>
                </a:solidFill>
                <a:latin typeface="Inter" pitchFamily="34" charset="0"/>
                <a:ea typeface="Inter" pitchFamily="34" charset="-122"/>
                <a:cs typeface="Inter" pitchFamily="34" charset="-120"/>
              </a:rPr>
              <a:t>Always</a:t>
            </a:r>
            <a:endParaRPr lang="en-US" sz="1900" dirty="0"/>
          </a:p>
        </p:txBody>
      </p:sp>
      <p:sp>
        <p:nvSpPr>
          <p:cNvPr id="21" name="Text 18"/>
          <p:cNvSpPr/>
          <p:nvPr/>
        </p:nvSpPr>
        <p:spPr>
          <a:xfrm>
            <a:off x="3840480" y="4937760"/>
            <a:ext cx="7680960" cy="822960"/>
          </a:xfrm>
          <a:prstGeom prst="rect">
            <a:avLst/>
          </a:prstGeom>
          <a:noFill/>
          <a:ln/>
        </p:spPr>
        <p:txBody>
          <a:bodyPr wrap="square" lIns="0" tIns="0" rIns="0" bIns="0" rtlCol="0" anchor="ctr"/>
          <a:lstStyle/>
          <a:p>
            <a:pPr indent="0" marL="0">
              <a:buNone/>
            </a:pPr>
            <a:r>
              <a:rPr lang="en-US" sz="1900" dirty="0">
                <a:solidFill>
                  <a:srgbClr val="FFFFFF"/>
                </a:solidFill>
                <a:latin typeface="Inter" pitchFamily="34" charset="0"/>
                <a:ea typeface="Inter" pitchFamily="34" charset="-122"/>
                <a:cs typeface="Inter" pitchFamily="34" charset="-120"/>
              </a:rPr>
              <a:t>No student PII in. Nothing unreviewed out. Verify anything factual.</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limits list: can't check facts, know her kids, or pick what matters.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SO NOBODY OVERSELLS IT IN THE HALLWAY</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prompting cannot do</a:t>
            </a:r>
            <a:endParaRPr lang="en-US" sz="3200" dirty="0"/>
          </a:p>
        </p:txBody>
      </p:sp>
      <p:sp>
        <p:nvSpPr>
          <p:cNvPr id="14" name="Shape 11"/>
          <p:cNvSpPr/>
          <p:nvPr/>
        </p:nvSpPr>
        <p:spPr>
          <a:xfrm>
            <a:off x="640080" y="1554480"/>
            <a:ext cx="3520440" cy="2926080"/>
          </a:xfrm>
          <a:prstGeom prst="roundRect">
            <a:avLst>
              <a:gd name="adj" fmla="val 2813"/>
            </a:avLst>
          </a:prstGeom>
          <a:solidFill>
            <a:srgbClr val="F7F5F0"/>
          </a:solidFill>
          <a:ln w="12700">
            <a:solidFill>
              <a:srgbClr val="F7F5F0"/>
            </a:solidFill>
            <a:prstDash val="solid"/>
          </a:ln>
        </p:spPr>
      </p:sp>
      <p:sp>
        <p:nvSpPr>
          <p:cNvPr id="15" name="Text 12"/>
          <p:cNvSpPr/>
          <p:nvPr/>
        </p:nvSpPr>
        <p:spPr>
          <a:xfrm>
            <a:off x="896112" y="1828800"/>
            <a:ext cx="3017520" cy="82296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Can’t check facts</a:t>
            </a:r>
            <a:endParaRPr lang="en-US" sz="1900" dirty="0"/>
          </a:p>
        </p:txBody>
      </p:sp>
      <p:sp>
        <p:nvSpPr>
          <p:cNvPr id="16" name="Text 13"/>
          <p:cNvSpPr/>
          <p:nvPr/>
        </p:nvSpPr>
        <p:spPr>
          <a:xfrm>
            <a:off x="896112" y="2743200"/>
            <a:ext cx="3017520" cy="146304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You still verify. Every time.</a:t>
            </a:r>
            <a:endParaRPr lang="en-US" sz="1600" dirty="0"/>
          </a:p>
        </p:txBody>
      </p:sp>
      <p:sp>
        <p:nvSpPr>
          <p:cNvPr id="17" name="Shape 14"/>
          <p:cNvSpPr/>
          <p:nvPr/>
        </p:nvSpPr>
        <p:spPr>
          <a:xfrm>
            <a:off x="4407408" y="1554480"/>
            <a:ext cx="3520440" cy="2926080"/>
          </a:xfrm>
          <a:prstGeom prst="roundRect">
            <a:avLst>
              <a:gd name="adj" fmla="val 2813"/>
            </a:avLst>
          </a:prstGeom>
          <a:solidFill>
            <a:srgbClr val="F7F5F0"/>
          </a:solidFill>
          <a:ln w="12700">
            <a:solidFill>
              <a:srgbClr val="F7F5F0"/>
            </a:solidFill>
            <a:prstDash val="solid"/>
          </a:ln>
        </p:spPr>
      </p:sp>
      <p:sp>
        <p:nvSpPr>
          <p:cNvPr id="18" name="Text 15"/>
          <p:cNvSpPr/>
          <p:nvPr/>
        </p:nvSpPr>
        <p:spPr>
          <a:xfrm>
            <a:off x="4663440" y="1828800"/>
            <a:ext cx="3017520" cy="82296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Can’t know your students</a:t>
            </a:r>
            <a:endParaRPr lang="en-US" sz="1900" dirty="0"/>
          </a:p>
        </p:txBody>
      </p:sp>
      <p:sp>
        <p:nvSpPr>
          <p:cNvPr id="19" name="Text 16"/>
          <p:cNvSpPr/>
          <p:nvPr/>
        </p:nvSpPr>
        <p:spPr>
          <a:xfrm>
            <a:off x="4663440" y="2743200"/>
            <a:ext cx="3017520" cy="146304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Personalizing happens after the draft comes back.</a:t>
            </a:r>
            <a:endParaRPr lang="en-US" sz="1600" dirty="0"/>
          </a:p>
        </p:txBody>
      </p:sp>
      <p:sp>
        <p:nvSpPr>
          <p:cNvPr id="20" name="Shape 17"/>
          <p:cNvSpPr/>
          <p:nvPr/>
        </p:nvSpPr>
        <p:spPr>
          <a:xfrm>
            <a:off x="8174736" y="1554480"/>
            <a:ext cx="3520440" cy="2926080"/>
          </a:xfrm>
          <a:prstGeom prst="roundRect">
            <a:avLst>
              <a:gd name="adj" fmla="val 2813"/>
            </a:avLst>
          </a:prstGeom>
          <a:solidFill>
            <a:srgbClr val="F7F5F0"/>
          </a:solidFill>
          <a:ln w="12700">
            <a:solidFill>
              <a:srgbClr val="F7F5F0"/>
            </a:solidFill>
            <a:prstDash val="solid"/>
          </a:ln>
        </p:spPr>
      </p:sp>
      <p:sp>
        <p:nvSpPr>
          <p:cNvPr id="21" name="Text 18"/>
          <p:cNvSpPr/>
          <p:nvPr/>
        </p:nvSpPr>
        <p:spPr>
          <a:xfrm>
            <a:off x="8430768" y="1828800"/>
            <a:ext cx="3017520" cy="82296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Can’t decide what’s worth teaching</a:t>
            </a:r>
            <a:endParaRPr lang="en-US" sz="1900" dirty="0"/>
          </a:p>
        </p:txBody>
      </p:sp>
      <p:sp>
        <p:nvSpPr>
          <p:cNvPr id="22" name="Text 19"/>
          <p:cNvSpPr/>
          <p:nvPr/>
        </p:nvSpPr>
        <p:spPr>
          <a:xfrm>
            <a:off x="8430768" y="2743200"/>
            <a:ext cx="3017520" cy="146304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That was never a formatting problem.</a:t>
            </a:r>
            <a:endParaRPr lang="en-US" sz="1600" dirty="0"/>
          </a:p>
        </p:txBody>
      </p:sp>
      <p:sp>
        <p:nvSpPr>
          <p:cNvPr id="23" name="Text 20"/>
          <p:cNvSpPr/>
          <p:nvPr/>
        </p:nvSpPr>
        <p:spPr>
          <a:xfrm>
            <a:off x="640080" y="493776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Better prompts buy you time and quality. Judgment stays yours.</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2 · Prompting Basics   |   26</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new norm: working prompts go in the staff doc. Nobody solves twice.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KIT 1 GAVE US THREE; TODAY ADDS ONE</a:t>
            </a:r>
            <a:endParaRPr lang="en-US" sz="1200" dirty="0"/>
          </a:p>
        </p:txBody>
      </p:sp>
      <p:sp>
        <p:nvSpPr>
          <p:cNvPr id="13" name="Text 10"/>
          <p:cNvSpPr/>
          <p:nvPr/>
        </p:nvSpPr>
        <p:spPr>
          <a:xfrm>
            <a:off x="640080" y="146304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Commitment #4</a:t>
            </a:r>
            <a:endParaRPr lang="en-US" sz="3600" dirty="0"/>
          </a:p>
        </p:txBody>
      </p:sp>
      <p:sp>
        <p:nvSpPr>
          <p:cNvPr id="14" name="Text 11"/>
          <p:cNvSpPr/>
          <p:nvPr/>
        </p:nvSpPr>
        <p:spPr>
          <a:xfrm>
            <a:off x="640080" y="2468880"/>
            <a:ext cx="10972800" cy="1463040"/>
          </a:xfrm>
          <a:prstGeom prst="rect">
            <a:avLst/>
          </a:prstGeom>
          <a:noFill/>
          <a:ln/>
        </p:spPr>
        <p:txBody>
          <a:bodyPr wrap="square" lIns="0" tIns="0" rIns="0" bIns="0" rtlCol="0" anchor="ctr"/>
          <a:lstStyle/>
          <a:p>
            <a:pPr indent="0" marL="0">
              <a:lnSpc>
                <a:spcPct val="120000"/>
              </a:lnSpc>
              <a:buNone/>
            </a:pPr>
            <a:r>
              <a:rPr lang="en-US" sz="2800" b="1" dirty="0">
                <a:solidFill>
                  <a:srgbClr val="2A9D8F"/>
                </a:solidFill>
                <a:latin typeface="Inter" pitchFamily="34" charset="0"/>
                <a:ea typeface="Inter" pitchFamily="34" charset="-122"/>
                <a:cs typeface="Inter" pitchFamily="34" charset="-120"/>
              </a:rPr>
              <a:t>When a prompt works, it goes in the staff doc.</a:t>
            </a:r>
            <a:endParaRPr lang="en-US" sz="2800" dirty="0"/>
          </a:p>
          <a:p>
            <a:pPr indent="0" marL="0">
              <a:lnSpc>
                <a:spcPct val="120000"/>
              </a:lnSpc>
              <a:buNone/>
            </a:pPr>
            <a:r>
              <a:rPr lang="en-US" sz="2800" b="1" dirty="0">
                <a:solidFill>
                  <a:srgbClr val="2A9D8F"/>
                </a:solidFill>
                <a:latin typeface="Inter" pitchFamily="34" charset="0"/>
                <a:ea typeface="Inter" pitchFamily="34" charset="-122"/>
                <a:cs typeface="Inter" pitchFamily="34" charset="-120"/>
              </a:rPr>
              <a:t>Nobody at this school solves the same problem twice.</a:t>
            </a:r>
            <a:endParaRPr lang="en-US" sz="2800" dirty="0"/>
          </a:p>
        </p:txBody>
      </p:sp>
      <p:sp>
        <p:nvSpPr>
          <p:cNvPr id="15" name="Text 12"/>
          <p:cNvSpPr/>
          <p:nvPr/>
        </p:nvSpPr>
        <p:spPr>
          <a:xfrm>
            <a:off x="640080" y="4846320"/>
            <a:ext cx="10972800" cy="457200"/>
          </a:xfrm>
          <a:prstGeom prst="rect">
            <a:avLst/>
          </a:prstGeom>
          <a:noFill/>
          <a:ln/>
        </p:spPr>
        <p:txBody>
          <a:bodyPr wrap="square" lIns="0" tIns="0" rIns="0" bIns="0" rtlCol="0" anchor="ctr"/>
          <a:lstStyle/>
          <a:p>
            <a:pPr indent="0" marL="0">
              <a:buNone/>
            </a:pPr>
            <a:r>
              <a:rPr lang="en-US" sz="2000" i="1" dirty="0">
                <a:solidFill>
                  <a:srgbClr val="9FB2C2"/>
                </a:solidFill>
                <a:latin typeface="Inter" pitchFamily="34" charset="0"/>
                <a:ea typeface="Inter" pitchFamily="34" charset="-122"/>
                <a:cs typeface="Inter" pitchFamily="34" charset="-120"/>
              </a:rPr>
              <a:t>Can I get a nod on that?</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next kit: the formula starts differentiating for her whole roster.</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KIT 2 OF 8 · TRACK A</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Where this series goes next</a:t>
            </a:r>
            <a:endParaRPr lang="en-US" sz="3200" dirty="0"/>
          </a:p>
        </p:txBody>
      </p:sp>
      <p:sp>
        <p:nvSpPr>
          <p:cNvPr id="14" name="Shape 11"/>
          <p:cNvSpPr/>
          <p:nvPr/>
        </p:nvSpPr>
        <p:spPr>
          <a:xfrm>
            <a:off x="640080" y="1554480"/>
            <a:ext cx="2651760" cy="1005840"/>
          </a:xfrm>
          <a:prstGeom prst="roundRect">
            <a:avLst>
              <a:gd name="adj" fmla="val 8182"/>
            </a:avLst>
          </a:prstGeom>
          <a:solidFill>
            <a:srgbClr val="EAF5F3"/>
          </a:solidFill>
          <a:ln w="12700">
            <a:solidFill>
              <a:srgbClr val="EAF5F3"/>
            </a:solidFill>
            <a:prstDash val="solid"/>
          </a:ln>
        </p:spPr>
      </p:sp>
      <p:sp>
        <p:nvSpPr>
          <p:cNvPr id="15" name="Text 12"/>
          <p:cNvSpPr/>
          <p:nvPr/>
        </p:nvSpPr>
        <p:spPr>
          <a:xfrm>
            <a:off x="822960" y="1645920"/>
            <a:ext cx="2286000" cy="822960"/>
          </a:xfrm>
          <a:prstGeom prst="rect">
            <a:avLst/>
          </a:prstGeom>
          <a:noFill/>
          <a:ln/>
        </p:spPr>
        <p:txBody>
          <a:bodyPr wrap="square" lIns="0" tIns="0" rIns="0" bIns="0" rtlCol="0" anchor="ctr"/>
          <a:lstStyle/>
          <a:p>
            <a:pPr indent="0" marL="0">
              <a:buNone/>
            </a:pPr>
            <a:r>
              <a:rPr lang="en-US" sz="1450" b="1" dirty="0">
                <a:solidFill>
                  <a:srgbClr val="13293D"/>
                </a:solidFill>
                <a:latin typeface="Inter" pitchFamily="34" charset="0"/>
                <a:ea typeface="Inter" pitchFamily="34" charset="-122"/>
                <a:cs typeface="Inter" pitchFamily="34" charset="-120"/>
              </a:rPr>
              <a:t>1 · Foundations &amp; Safety  ✔</a:t>
            </a:r>
            <a:endParaRPr lang="en-US" sz="1450" dirty="0"/>
          </a:p>
        </p:txBody>
      </p:sp>
      <p:sp>
        <p:nvSpPr>
          <p:cNvPr id="16" name="Shape 13"/>
          <p:cNvSpPr/>
          <p:nvPr/>
        </p:nvSpPr>
        <p:spPr>
          <a:xfrm>
            <a:off x="3474720" y="1554480"/>
            <a:ext cx="2651760" cy="1005840"/>
          </a:xfrm>
          <a:prstGeom prst="roundRect">
            <a:avLst>
              <a:gd name="adj" fmla="val 8182"/>
            </a:avLst>
          </a:prstGeom>
          <a:solidFill>
            <a:srgbClr val="EAF5F3"/>
          </a:solidFill>
          <a:ln w="12700">
            <a:solidFill>
              <a:srgbClr val="EAF5F3"/>
            </a:solidFill>
            <a:prstDash val="solid"/>
          </a:ln>
        </p:spPr>
      </p:sp>
      <p:sp>
        <p:nvSpPr>
          <p:cNvPr id="17" name="Text 14"/>
          <p:cNvSpPr/>
          <p:nvPr/>
        </p:nvSpPr>
        <p:spPr>
          <a:xfrm>
            <a:off x="3657600" y="1645920"/>
            <a:ext cx="2286000" cy="822960"/>
          </a:xfrm>
          <a:prstGeom prst="rect">
            <a:avLst/>
          </a:prstGeom>
          <a:noFill/>
          <a:ln/>
        </p:spPr>
        <p:txBody>
          <a:bodyPr wrap="square" lIns="0" tIns="0" rIns="0" bIns="0" rtlCol="0" anchor="ctr"/>
          <a:lstStyle/>
          <a:p>
            <a:pPr indent="0" marL="0">
              <a:buNone/>
            </a:pPr>
            <a:r>
              <a:rPr lang="en-US" sz="1450" b="1" dirty="0">
                <a:solidFill>
                  <a:srgbClr val="13293D"/>
                </a:solidFill>
                <a:latin typeface="Inter" pitchFamily="34" charset="0"/>
                <a:ea typeface="Inter" pitchFamily="34" charset="-122"/>
                <a:cs typeface="Inter" pitchFamily="34" charset="-120"/>
              </a:rPr>
              <a:t>2 · Prompting Basics  ✔</a:t>
            </a:r>
            <a:endParaRPr lang="en-US" sz="1450" dirty="0"/>
          </a:p>
        </p:txBody>
      </p:sp>
      <p:sp>
        <p:nvSpPr>
          <p:cNvPr id="18" name="Shape 15"/>
          <p:cNvSpPr/>
          <p:nvPr/>
        </p:nvSpPr>
        <p:spPr>
          <a:xfrm>
            <a:off x="6309360" y="1554480"/>
            <a:ext cx="2651760" cy="1005840"/>
          </a:xfrm>
          <a:prstGeom prst="roundRect">
            <a:avLst>
              <a:gd name="adj" fmla="val 8182"/>
            </a:avLst>
          </a:prstGeom>
          <a:solidFill>
            <a:srgbClr val="F7F5F0"/>
          </a:solidFill>
          <a:ln w="12700">
            <a:solidFill>
              <a:srgbClr val="F7F5F0"/>
            </a:solidFill>
            <a:prstDash val="solid"/>
          </a:ln>
        </p:spPr>
      </p:sp>
      <p:sp>
        <p:nvSpPr>
          <p:cNvPr id="19" name="Text 16"/>
          <p:cNvSpPr/>
          <p:nvPr/>
        </p:nvSpPr>
        <p:spPr>
          <a:xfrm>
            <a:off x="6492240" y="164592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3 · Planning &amp; Differentiation</a:t>
            </a:r>
            <a:endParaRPr lang="en-US" sz="1450" dirty="0"/>
          </a:p>
        </p:txBody>
      </p:sp>
      <p:sp>
        <p:nvSpPr>
          <p:cNvPr id="20" name="Shape 17"/>
          <p:cNvSpPr/>
          <p:nvPr/>
        </p:nvSpPr>
        <p:spPr>
          <a:xfrm>
            <a:off x="9144000" y="1554480"/>
            <a:ext cx="2651760" cy="1005840"/>
          </a:xfrm>
          <a:prstGeom prst="roundRect">
            <a:avLst>
              <a:gd name="adj" fmla="val 8182"/>
            </a:avLst>
          </a:prstGeom>
          <a:solidFill>
            <a:srgbClr val="F7F5F0"/>
          </a:solidFill>
          <a:ln w="12700">
            <a:solidFill>
              <a:srgbClr val="F7F5F0"/>
            </a:solidFill>
            <a:prstDash val="solid"/>
          </a:ln>
        </p:spPr>
      </p:sp>
      <p:sp>
        <p:nvSpPr>
          <p:cNvPr id="21" name="Text 18"/>
          <p:cNvSpPr/>
          <p:nvPr/>
        </p:nvSpPr>
        <p:spPr>
          <a:xfrm>
            <a:off x="9326880" y="164592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4 · Assessment</a:t>
            </a:r>
            <a:endParaRPr lang="en-US" sz="1450" dirty="0"/>
          </a:p>
        </p:txBody>
      </p:sp>
      <p:sp>
        <p:nvSpPr>
          <p:cNvPr id="22" name="Shape 19"/>
          <p:cNvSpPr/>
          <p:nvPr/>
        </p:nvSpPr>
        <p:spPr>
          <a:xfrm>
            <a:off x="640080" y="2743200"/>
            <a:ext cx="2651760" cy="1005840"/>
          </a:xfrm>
          <a:prstGeom prst="roundRect">
            <a:avLst>
              <a:gd name="adj" fmla="val 8182"/>
            </a:avLst>
          </a:prstGeom>
          <a:solidFill>
            <a:srgbClr val="F7F5F0"/>
          </a:solidFill>
          <a:ln w="12700">
            <a:solidFill>
              <a:srgbClr val="F7F5F0"/>
            </a:solidFill>
            <a:prstDash val="solid"/>
          </a:ln>
        </p:spPr>
      </p:sp>
      <p:sp>
        <p:nvSpPr>
          <p:cNvPr id="23" name="Text 20"/>
          <p:cNvSpPr/>
          <p:nvPr/>
        </p:nvSpPr>
        <p:spPr>
          <a:xfrm>
            <a:off x="82296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5 · Academic Integrity</a:t>
            </a:r>
            <a:endParaRPr lang="en-US" sz="1450" dirty="0"/>
          </a:p>
        </p:txBody>
      </p:sp>
      <p:sp>
        <p:nvSpPr>
          <p:cNvPr id="24" name="Shape 21"/>
          <p:cNvSpPr/>
          <p:nvPr/>
        </p:nvSpPr>
        <p:spPr>
          <a:xfrm>
            <a:off x="3474720" y="2743200"/>
            <a:ext cx="2651760" cy="1005840"/>
          </a:xfrm>
          <a:prstGeom prst="roundRect">
            <a:avLst>
              <a:gd name="adj" fmla="val 8182"/>
            </a:avLst>
          </a:prstGeom>
          <a:solidFill>
            <a:srgbClr val="F7F5F0"/>
          </a:solidFill>
          <a:ln w="12700">
            <a:solidFill>
              <a:srgbClr val="F7F5F0"/>
            </a:solidFill>
            <a:prstDash val="solid"/>
          </a:ln>
        </p:spPr>
      </p:sp>
      <p:sp>
        <p:nvSpPr>
          <p:cNvPr id="25" name="Text 22"/>
          <p:cNvSpPr/>
          <p:nvPr/>
        </p:nvSpPr>
        <p:spPr>
          <a:xfrm>
            <a:off x="365760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6 · Communication</a:t>
            </a:r>
            <a:endParaRPr lang="en-US" sz="1450" dirty="0"/>
          </a:p>
        </p:txBody>
      </p:sp>
      <p:sp>
        <p:nvSpPr>
          <p:cNvPr id="26" name="Shape 23"/>
          <p:cNvSpPr/>
          <p:nvPr/>
        </p:nvSpPr>
        <p:spPr>
          <a:xfrm>
            <a:off x="6309360" y="2743200"/>
            <a:ext cx="2651760" cy="1005840"/>
          </a:xfrm>
          <a:prstGeom prst="roundRect">
            <a:avLst>
              <a:gd name="adj" fmla="val 8182"/>
            </a:avLst>
          </a:prstGeom>
          <a:solidFill>
            <a:srgbClr val="F7F5F0"/>
          </a:solidFill>
          <a:ln w="12700">
            <a:solidFill>
              <a:srgbClr val="F7F5F0"/>
            </a:solidFill>
            <a:prstDash val="solid"/>
          </a:ln>
        </p:spPr>
      </p:sp>
      <p:sp>
        <p:nvSpPr>
          <p:cNvPr id="27" name="Text 24"/>
          <p:cNvSpPr/>
          <p:nvPr/>
        </p:nvSpPr>
        <p:spPr>
          <a:xfrm>
            <a:off x="649224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7 · Workload</a:t>
            </a:r>
            <a:endParaRPr lang="en-US" sz="1450" dirty="0"/>
          </a:p>
        </p:txBody>
      </p:sp>
      <p:sp>
        <p:nvSpPr>
          <p:cNvPr id="28" name="Shape 25"/>
          <p:cNvSpPr/>
          <p:nvPr/>
        </p:nvSpPr>
        <p:spPr>
          <a:xfrm>
            <a:off x="9144000" y="2743200"/>
            <a:ext cx="2651760" cy="1005840"/>
          </a:xfrm>
          <a:prstGeom prst="roundRect">
            <a:avLst>
              <a:gd name="adj" fmla="val 8182"/>
            </a:avLst>
          </a:prstGeom>
          <a:solidFill>
            <a:srgbClr val="F7F5F0"/>
          </a:solidFill>
          <a:ln w="12700">
            <a:solidFill>
              <a:srgbClr val="F7F5F0"/>
            </a:solidFill>
            <a:prstDash val="solid"/>
          </a:ln>
        </p:spPr>
      </p:sp>
      <p:sp>
        <p:nvSpPr>
          <p:cNvPr id="29" name="Text 26"/>
          <p:cNvSpPr/>
          <p:nvPr/>
        </p:nvSpPr>
        <p:spPr>
          <a:xfrm>
            <a:off x="932688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8 · Your School’s AI Culture</a:t>
            </a:r>
            <a:endParaRPr lang="en-US" sz="1450" dirty="0"/>
          </a:p>
        </p:txBody>
      </p:sp>
      <p:sp>
        <p:nvSpPr>
          <p:cNvPr id="30" name="Shape 27"/>
          <p:cNvSpPr/>
          <p:nvPr/>
        </p:nvSpPr>
        <p:spPr>
          <a:xfrm>
            <a:off x="640080" y="4206240"/>
            <a:ext cx="10972800" cy="1463040"/>
          </a:xfrm>
          <a:prstGeom prst="roundRect">
            <a:avLst>
              <a:gd name="adj" fmla="val 5625"/>
            </a:avLst>
          </a:prstGeom>
          <a:solidFill>
            <a:srgbClr val="13293D"/>
          </a:solidFill>
          <a:ln w="12700">
            <a:solidFill>
              <a:srgbClr val="13293D"/>
            </a:solidFill>
            <a:prstDash val="solid"/>
          </a:ln>
        </p:spPr>
      </p:sp>
      <p:sp>
        <p:nvSpPr>
          <p:cNvPr id="31" name="Text 28"/>
          <p:cNvSpPr/>
          <p:nvPr/>
        </p:nvSpPr>
        <p:spPr>
          <a:xfrm>
            <a:off x="960120" y="4389120"/>
            <a:ext cx="10332720" cy="1097280"/>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Next: Kit 3, Planning &amp; Differentiation. </a:t>
            </a:r>
            <a:pPr indent="0" marL="0">
              <a:buNone/>
            </a:pPr>
            <a:r>
              <a:rPr lang="en-US" sz="1700" dirty="0">
                <a:solidFill>
                  <a:srgbClr val="C9D4DE"/>
                </a:solidFill>
                <a:latin typeface="Inter" pitchFamily="34" charset="0"/>
                <a:ea typeface="Inter" pitchFamily="34" charset="-122"/>
                <a:cs typeface="Inter" pitchFamily="34" charset="-120"/>
              </a:rPr>
              <a:t>Your reusable prompt comes with you; the formula starts doing heavy lifting: leveled texts, scaffolds, materials for the range of learners actually in your room.</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48 hours: run the template for real, one colleague test, one post.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BEFORE FRIDAY BECOMES A MEMORY</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2800" b="1" dirty="0">
                <a:solidFill>
                  <a:srgbClr val="13293D"/>
                </a:solidFill>
                <a:latin typeface="Inter" pitchFamily="34" charset="0"/>
                <a:ea typeface="Inter" pitchFamily="34" charset="-122"/>
                <a:cs typeface="Inter" pitchFamily="34" charset="-120"/>
              </a:rPr>
              <a:t>Your first 48 hours: three small things</a:t>
            </a:r>
            <a:endParaRPr lang="en-US" sz="2800" dirty="0"/>
          </a:p>
        </p:txBody>
      </p:sp>
      <p:sp>
        <p:nvSpPr>
          <p:cNvPr id="14" name="Shape 11"/>
          <p:cNvSpPr/>
          <p:nvPr/>
        </p:nvSpPr>
        <p:spPr>
          <a:xfrm>
            <a:off x="640080" y="1463040"/>
            <a:ext cx="10972800" cy="1234440"/>
          </a:xfrm>
          <a:prstGeom prst="roundRect">
            <a:avLst>
              <a:gd name="adj" fmla="val 6667"/>
            </a:avLst>
          </a:prstGeom>
          <a:solidFill>
            <a:srgbClr val="F7F5F0"/>
          </a:solidFill>
          <a:ln w="12700">
            <a:solidFill>
              <a:srgbClr val="F7F5F0"/>
            </a:solidFill>
            <a:prstDash val="solid"/>
          </a:ln>
        </p:spPr>
      </p:sp>
      <p:sp>
        <p:nvSpPr>
          <p:cNvPr id="15" name="Text 12"/>
          <p:cNvSpPr/>
          <p:nvPr/>
        </p:nvSpPr>
        <p:spPr>
          <a:xfrm>
            <a:off x="914400" y="184708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~10 min</a:t>
            </a:r>
            <a:endParaRPr lang="en-US" sz="1700" dirty="0"/>
          </a:p>
        </p:txBody>
      </p:sp>
      <p:sp>
        <p:nvSpPr>
          <p:cNvPr id="16" name="Text 13"/>
          <p:cNvSpPr/>
          <p:nvPr/>
        </p:nvSpPr>
        <p:spPr>
          <a:xfrm>
            <a:off x="2377440" y="160934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Run your reusable prompt for real</a:t>
            </a:r>
            <a:endParaRPr lang="en-US" sz="2000" dirty="0"/>
          </a:p>
        </p:txBody>
      </p:sp>
      <p:sp>
        <p:nvSpPr>
          <p:cNvPr id="17" name="Text 14"/>
          <p:cNvSpPr/>
          <p:nvPr/>
        </p:nvSpPr>
        <p:spPr>
          <a:xfrm>
            <a:off x="2377440" y="208483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 the actual task it was built for; iterate once; use the result</a:t>
            </a:r>
            <a:endParaRPr lang="en-US" sz="1600" dirty="0"/>
          </a:p>
        </p:txBody>
      </p:sp>
      <p:sp>
        <p:nvSpPr>
          <p:cNvPr id="18" name="Shape 15"/>
          <p:cNvSpPr/>
          <p:nvPr/>
        </p:nvSpPr>
        <p:spPr>
          <a:xfrm>
            <a:off x="640080" y="2880360"/>
            <a:ext cx="10972800" cy="1234440"/>
          </a:xfrm>
          <a:prstGeom prst="roundRect">
            <a:avLst>
              <a:gd name="adj" fmla="val 6667"/>
            </a:avLst>
          </a:prstGeom>
          <a:solidFill>
            <a:srgbClr val="F7F5F0"/>
          </a:solidFill>
          <a:ln w="12700">
            <a:solidFill>
              <a:srgbClr val="F7F5F0"/>
            </a:solidFill>
            <a:prstDash val="solid"/>
          </a:ln>
        </p:spPr>
      </p:sp>
      <p:sp>
        <p:nvSpPr>
          <p:cNvPr id="19" name="Text 16"/>
          <p:cNvSpPr/>
          <p:nvPr/>
        </p:nvSpPr>
        <p:spPr>
          <a:xfrm>
            <a:off x="914400" y="326440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~3 min</a:t>
            </a:r>
            <a:endParaRPr lang="en-US" sz="1700" dirty="0"/>
          </a:p>
        </p:txBody>
      </p:sp>
      <p:sp>
        <p:nvSpPr>
          <p:cNvPr id="20" name="Text 17"/>
          <p:cNvSpPr/>
          <p:nvPr/>
        </p:nvSpPr>
        <p:spPr>
          <a:xfrm>
            <a:off x="2377440" y="302666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Run the colleague test once</a:t>
            </a:r>
            <a:endParaRPr lang="en-US" sz="2000" dirty="0"/>
          </a:p>
        </p:txBody>
      </p:sp>
      <p:sp>
        <p:nvSpPr>
          <p:cNvPr id="21" name="Text 18"/>
          <p:cNvSpPr/>
          <p:nvPr/>
        </p:nvSpPr>
        <p:spPr>
          <a:xfrm>
            <a:off x="2377440" y="350215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Catch the missing context before you hit enter</a:t>
            </a:r>
            <a:endParaRPr lang="en-US" sz="1600" dirty="0"/>
          </a:p>
        </p:txBody>
      </p:sp>
      <p:sp>
        <p:nvSpPr>
          <p:cNvPr id="22" name="Shape 19"/>
          <p:cNvSpPr/>
          <p:nvPr/>
        </p:nvSpPr>
        <p:spPr>
          <a:xfrm>
            <a:off x="640080" y="4297680"/>
            <a:ext cx="10972800" cy="1234440"/>
          </a:xfrm>
          <a:prstGeom prst="roundRect">
            <a:avLst>
              <a:gd name="adj" fmla="val 6667"/>
            </a:avLst>
          </a:prstGeom>
          <a:solidFill>
            <a:srgbClr val="F7F5F0"/>
          </a:solidFill>
          <a:ln w="12700">
            <a:solidFill>
              <a:srgbClr val="F7F5F0"/>
            </a:solidFill>
            <a:prstDash val="solid"/>
          </a:ln>
        </p:spPr>
      </p:sp>
      <p:sp>
        <p:nvSpPr>
          <p:cNvPr id="23" name="Text 20"/>
          <p:cNvSpPr/>
          <p:nvPr/>
        </p:nvSpPr>
        <p:spPr>
          <a:xfrm>
            <a:off x="914400" y="468172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~2 min</a:t>
            </a:r>
            <a:endParaRPr lang="en-US" sz="1700" dirty="0"/>
          </a:p>
        </p:txBody>
      </p:sp>
      <p:sp>
        <p:nvSpPr>
          <p:cNvPr id="24" name="Text 21"/>
          <p:cNvSpPr/>
          <p:nvPr/>
        </p:nvSpPr>
        <p:spPr>
          <a:xfrm>
            <a:off x="2377440" y="444398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Post to the staff doc</a:t>
            </a:r>
            <a:endParaRPr lang="en-US" sz="2000" dirty="0"/>
          </a:p>
        </p:txBody>
      </p:sp>
      <p:sp>
        <p:nvSpPr>
          <p:cNvPr id="25" name="Text 22"/>
          <p:cNvSpPr/>
          <p:nvPr/>
        </p:nvSpPr>
        <p:spPr>
          <a:xfrm>
            <a:off x="2377440" y="491947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Your template, your name, one line about what it’s for</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2 · Prompting Basics   |   29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exit ticket: one technique taken, one task still wanted.</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TWO MINUTES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Exit ticket</a:t>
            </a:r>
            <a:endParaRPr lang="en-US" sz="3200" dirty="0"/>
          </a:p>
        </p:txBody>
      </p:sp>
      <p:sp>
        <p:nvSpPr>
          <p:cNvPr id="14" name="Text 11"/>
          <p:cNvSpPr/>
          <p:nvPr/>
        </p:nvSpPr>
        <p:spPr>
          <a:xfrm>
            <a:off x="640080" y="1554480"/>
            <a:ext cx="10908792" cy="2377440"/>
          </a:xfrm>
          <a:prstGeom prst="rect">
            <a:avLst/>
          </a:prstGeom>
          <a:noFill/>
          <a:ln/>
        </p:spPr>
        <p:txBody>
          <a:bodyPr wrap="square" rtlCol="0" anchor="t"/>
          <a:lstStyle/>
          <a:p>
            <a:pPr marL="342900" indent="-342900">
              <a:spcAft>
                <a:spcPts val="1000"/>
              </a:spcAft>
              <a:buSzPct val="100000"/>
              <a:buChar char="•"/>
            </a:pPr>
            <a:r>
              <a:rPr lang="en-US" sz="2400" dirty="0">
                <a:solidFill>
                  <a:srgbClr val="1B1F24"/>
                </a:solidFill>
                <a:latin typeface="Inter" pitchFamily="34" charset="0"/>
                <a:ea typeface="Inter" pitchFamily="34" charset="-122"/>
                <a:cs typeface="Inter" pitchFamily="34" charset="-120"/>
              </a:rPr>
              <a:t>One prompting technique you’re taking</a:t>
            </a:r>
            <a:endParaRPr lang="en-US" sz="2400" dirty="0"/>
          </a:p>
          <a:p>
            <a:pPr marL="342900" indent="-342900">
              <a:spcAft>
                <a:spcPts val="1000"/>
              </a:spcAft>
              <a:buSzPct val="100000"/>
              <a:buChar char="•"/>
            </a:pPr>
            <a:r>
              <a:rPr lang="en-US" sz="2400" dirty="0">
                <a:solidFill>
                  <a:srgbClr val="1B1F24"/>
                </a:solidFill>
                <a:latin typeface="Inter" pitchFamily="34" charset="0"/>
                <a:ea typeface="Inter" pitchFamily="34" charset="-122"/>
                <a:cs typeface="Inter" pitchFamily="34" charset="-120"/>
              </a:rPr>
              <a:t>One task you still want prompt help with</a:t>
            </a:r>
            <a:endParaRPr lang="en-US" sz="2400" dirty="0"/>
          </a:p>
          <a:p>
            <a:pPr marL="342900" indent="-342900">
              <a:spcAft>
                <a:spcPts val="1000"/>
              </a:spcAft>
              <a:buSzPct val="100000"/>
              <a:buChar char="•"/>
            </a:pPr>
            <a:r>
              <a:rPr lang="en-US" sz="2400" dirty="0">
                <a:solidFill>
                  <a:srgbClr val="1B1F24"/>
                </a:solidFill>
                <a:latin typeface="Inter" pitchFamily="34" charset="0"/>
                <a:ea typeface="Inter" pitchFamily="34" charset="-122"/>
                <a:cs typeface="Inter" pitchFamily="34" charset="-120"/>
              </a:rPr>
              <a:t>One thing you’ll try in the next 48 hours</a:t>
            </a:r>
            <a:endParaRPr lang="en-US" sz="2400" dirty="0"/>
          </a:p>
        </p:txBody>
      </p:sp>
      <p:sp>
        <p:nvSpPr>
          <p:cNvPr id="15" name="Text 12"/>
          <p:cNvSpPr/>
          <p:nvPr/>
        </p:nvSpPr>
        <p:spPr>
          <a:xfrm>
            <a:off x="640080" y="4297680"/>
            <a:ext cx="10972800" cy="457200"/>
          </a:xfrm>
          <a:prstGeom prst="rect">
            <a:avLst/>
          </a:prstGeom>
          <a:noFill/>
          <a:ln/>
        </p:spPr>
        <p:txBody>
          <a:bodyPr wrap="square" lIns="0" tIns="0" rIns="0" bIns="0" rtlCol="0" anchor="ctr"/>
          <a:lstStyle/>
          <a:p>
            <a:pPr indent="0" marL="0">
              <a:buNone/>
            </a:pPr>
            <a:r>
              <a:rPr lang="en-US" sz="1900" i="1" dirty="0">
                <a:solidFill>
                  <a:srgbClr val="5B6B7A"/>
                </a:solidFill>
                <a:latin typeface="Inter" pitchFamily="34" charset="0"/>
                <a:ea typeface="Inter" pitchFamily="34" charset="-122"/>
                <a:cs typeface="Inter" pitchFamily="34" charset="-120"/>
              </a:rPr>
              <a:t>Your answers steer the PLC follow-ups. Be honest.</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2 · Prompting Basics   |   30</a:t>
            </a:r>
            <a:endParaRPr lang="en-US" sz="900" dirty="0"/>
          </a:p>
        </p:txBody>
      </p:sp>
      <p:sp>
        <p:nvSpPr>
          <p:cNvPr id="5" name="Text 2"/>
          <p:cNvSpPr/>
          <p:nvPr/>
        </p:nvSpPr>
        <p:spPr>
          <a:xfrm>
            <a:off x="640080" y="2011680"/>
            <a:ext cx="10972800" cy="1645920"/>
          </a:xfrm>
          <a:prstGeom prst="rect">
            <a:avLst/>
          </a:prstGeom>
          <a:noFill/>
          <a:ln/>
        </p:spPr>
        <p:txBody>
          <a:bodyPr wrap="square" lIns="0" tIns="0" rIns="0" bIns="0" rtlCol="0" anchor="ctr"/>
          <a:lstStyle/>
          <a:p>
            <a:pPr algn="ctr" indent="0" marL="0">
              <a:lnSpc>
                <a:spcPct val="120000"/>
              </a:lnSpc>
              <a:buNone/>
            </a:pPr>
            <a:r>
              <a:rPr lang="en-US" sz="3600" b="1" dirty="0">
                <a:solidFill>
                  <a:srgbClr val="FFFFFF"/>
                </a:solidFill>
                <a:latin typeface="Inter" pitchFamily="34" charset="0"/>
                <a:ea typeface="Inter" pitchFamily="34" charset="-122"/>
                <a:cs typeface="Inter" pitchFamily="34" charset="-120"/>
              </a:rPr>
              <a:t>A good prompt is just clear thinking,</a:t>
            </a:r>
            <a:endParaRPr lang="en-US" sz="3600" dirty="0"/>
          </a:p>
          <a:p>
            <a:pPr algn="ctr" indent="0" marL="0">
              <a:lnSpc>
                <a:spcPct val="120000"/>
              </a:lnSpc>
              <a:buNone/>
            </a:pPr>
            <a:r>
              <a:rPr lang="en-US" sz="3600" b="1" dirty="0">
                <a:solidFill>
                  <a:srgbClr val="FFFFFF"/>
                </a:solidFill>
                <a:latin typeface="Inter" pitchFamily="34" charset="0"/>
                <a:ea typeface="Inter" pitchFamily="34" charset="-122"/>
                <a:cs typeface="Inter" pitchFamily="34" charset="-120"/>
              </a:rPr>
              <a:t>written down.</a:t>
            </a:r>
            <a:endParaRPr lang="en-US" sz="3600" dirty="0"/>
          </a:p>
        </p:txBody>
      </p:sp>
      <p:sp>
        <p:nvSpPr>
          <p:cNvPr id="6" name="Text 3"/>
          <p:cNvSpPr/>
          <p:nvPr/>
        </p:nvSpPr>
        <p:spPr>
          <a:xfrm>
            <a:off x="640080" y="3931920"/>
            <a:ext cx="10972800" cy="1097280"/>
          </a:xfrm>
          <a:prstGeom prst="rect">
            <a:avLst/>
          </a:prstGeom>
          <a:noFill/>
          <a:ln/>
        </p:spPr>
        <p:txBody>
          <a:bodyPr wrap="square" lIns="0" tIns="0" rIns="0" bIns="0" rtlCol="0" anchor="ctr"/>
          <a:lstStyle/>
          <a:p>
            <a:pPr algn="ctr" indent="0" marL="0">
              <a:lnSpc>
                <a:spcPct val="125000"/>
              </a:lnSpc>
              <a:buNone/>
            </a:pPr>
            <a:r>
              <a:rPr lang="en-US" sz="2400" b="1" dirty="0">
                <a:solidFill>
                  <a:srgbClr val="2A9D8F"/>
                </a:solidFill>
                <a:latin typeface="Inter" pitchFamily="34" charset="0"/>
                <a:ea typeface="Inter" pitchFamily="34" charset="-122"/>
                <a:cs typeface="Inter" pitchFamily="34" charset="-120"/>
              </a:rPr>
              <a:t>You already do the hard part every day.</a:t>
            </a:r>
            <a:endParaRPr lang="en-US" sz="2400" dirty="0"/>
          </a:p>
          <a:p>
            <a:pPr algn="ctr" indent="0" marL="0">
              <a:lnSpc>
                <a:spcPct val="125000"/>
              </a:lnSpc>
              <a:buNone/>
            </a:pPr>
            <a:r>
              <a:rPr lang="en-US" sz="2400" b="1" dirty="0">
                <a:solidFill>
                  <a:srgbClr val="2A9D8F"/>
                </a:solidFill>
                <a:latin typeface="Inter" pitchFamily="34" charset="0"/>
                <a:ea typeface="Inter" pitchFamily="34" charset="-122"/>
                <a:cs typeface="Inter" pitchFamily="34" charset="-120"/>
              </a:rPr>
              <a:t>Keep the thinking. Delegate the typing.</a:t>
            </a:r>
            <a:endParaRPr lang="en-US" sz="2400" dirty="0"/>
          </a:p>
        </p:txBody>
      </p:sp>
      <p:sp>
        <p:nvSpPr>
          <p:cNvPr id="7" name="Text 4"/>
          <p:cNvSpPr/>
          <p:nvPr/>
        </p:nvSpPr>
        <p:spPr>
          <a:xfrm>
            <a:off x="640080" y="5852160"/>
            <a:ext cx="10972800" cy="365760"/>
          </a:xfrm>
          <a:prstGeom prst="rect">
            <a:avLst/>
          </a:prstGeom>
          <a:noFill/>
          <a:ln/>
        </p:spPr>
        <p:txBody>
          <a:bodyPr wrap="square" lIns="0" tIns="0" rIns="0" bIns="0" rtlCol="0" anchor="ctr"/>
          <a:lstStyle/>
          <a:p>
            <a:pPr algn="ctr" indent="0" marL="0">
              <a:buNone/>
            </a:pPr>
            <a:r>
              <a:rPr lang="en-US" sz="1300" spc="200" kern="0" dirty="0">
                <a:solidFill>
                  <a:srgbClr val="9FB2C2"/>
                </a:solidFill>
                <a:latin typeface="Inter" pitchFamily="34" charset="0"/>
                <a:ea typeface="Inter" pitchFamily="34" charset="-122"/>
                <a:cs typeface="Inter" pitchFamily="34" charset="-120"/>
              </a:rPr>
              <a:t>Human teaching. Life-changing tools.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AI-Ready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2: Prompting Basics: Getting Useful Results Every Time</dc:title>
  <dc:subject>PptxGenJS Presentation</dc:subject>
  <dc:creator>Adam &amp; Katelyn Spinozzi</dc:creator>
  <cp:lastModifiedBy>Adam &amp; Katelyn Spinozzi</cp:lastModifiedBy>
  <cp:revision>1</cp:revision>
  <dcterms:created xsi:type="dcterms:W3CDTF">2026-08-14T16:56:09Z</dcterms:created>
  <dcterms:modified xsi:type="dcterms:W3CDTF">2026-08-14T16:56:09Z</dcterms:modified>
</cp:coreProperties>
</file>