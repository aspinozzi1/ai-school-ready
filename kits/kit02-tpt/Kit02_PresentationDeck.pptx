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on the authors' own ATLAS benchmark. Say the scope out loud: this is a benchmark result on one model family, not a measured effect for ordinary classroom prompting.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screen, same four colors, a completely different job. Point out the Kit 1 rule working alongside the formula: zero student names, and none needed. The situation, not the child. Note the context block is the longest part again; that is the pattern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leveling spec, part by part: grade level named, key ideas and headings kept, sentence length capped, vocabulary box specified. That is the whole difference between "easier" and a specification. 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staff prompt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builds on Kit 1’s lesson that the first draft is never the finished draft: in Kit 1 a first draft invented a conference that never happened. Today improving the draft becomes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Every step is two slides: the how-to, then her actual screen. Leave her screen up while the room works; anyone lost can copy her structure and still finish. The script’s worked example under slide 20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write your prompt with all four parts, and be generous with context. Circulate. Weak prompts usually lack context; nudge with "what would a substitute need to know to do this right?" The next slide is Ms. Rivera's actual screen at this step; leave it up while the room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one artifact Ms. Rivera carries through all three lab steps, her weekly review questions, on her actual screen. Her first instinct is at the top; what she actually typed is below it, all four parts color-coded. Anyone stuck copies this shape with their own task.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rounds in order. Content, then voice, then details. The order matters: fixing wording before content wastes a round. The next slide shows what Ms. Rivera typed in each round; leave it up while the room iterates.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three pushback lines, in order, exactly as she typed them into the same thread. Nothing clever; specific, kind, unafraid. 45-min cut: one round instead of three, then straight to step 3.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turn what worked into a template. Replace the specifics with blanks, then paste the final version into the staff prompt doc with your name and a one-line note about what it is for. Confirm there are no student names in it, which is Kit 1's rule still with us. The next slide is her entry in the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prompt you watched her draft and iterate, with the weekly specifics swapped for blanks and pasted under her name. The four colors survive the swap, which is the point: the structure is the reusable part. Project the staff prompt doc; watching entries appear live is the session’s proudest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rest of the series is available whenever this staff is ready for it. The exit ticket doubles as documentation of this hour;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Why “just ask” gets beige answers</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37560"/>
            <a:ext cx="9601200" cy="11430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On the benchmark its authors built, a set of 26 prompt-design principles raised GPT-4 response-quality scores by about 58%. One benchmark, not a universal rule, but the direction is clear. (Bsharat et al., 2024, preprint)</a:t>
            </a:r>
            <a:endParaRPr lang="en-US" sz="15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one thing prompts can’t fix</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note to parents about the field trip.”</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warm, organized elementary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note to families about an upcoming museum field trip.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Context: departure 8:30 a.m., return by 2 p.m., students need a bagged lunch and a signed permission slip by Friday. Reading level: busy families skimming on a phone.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under 150 words, three action items as a bulleted list.”</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Zero student names, and none needed. Her note-home prompt is about the situation, never the child.</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Rewrite this passage at a 3rd grade reading level.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Keep every key idea and the section headings; this goes to the readers in my room who are a year below grade level.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Sentence length under 12 words where possible. Then add a 5-word vocabulary box with student-friendly definitions.”  [paste your passage]</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staff prompt doc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1: about to draft it with all four parts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10972800" cy="822960"/>
          </a:xfrm>
          <a:prstGeom prst="roundRect">
            <a:avLst>
              <a:gd name="adj" fmla="val 10000"/>
            </a:avLst>
          </a:prstGeom>
          <a:solidFill>
            <a:srgbClr val="F7F5F0"/>
          </a:solidFill>
          <a:ln w="12700">
            <a:solidFill>
              <a:srgbClr val="F7F5F0"/>
            </a:solidFill>
            <a:prstDash val="solid"/>
          </a:ln>
        </p:spPr>
      </p:sp>
      <p:sp>
        <p:nvSpPr>
          <p:cNvPr id="15" name="Text 12"/>
          <p:cNvSpPr/>
          <p:nvPr/>
        </p:nvSpPr>
        <p:spPr>
          <a:xfrm>
            <a:off x="960120" y="150876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Role</a:t>
            </a:r>
            <a:endParaRPr lang="en-US" sz="2000" dirty="0"/>
          </a:p>
        </p:txBody>
      </p:sp>
      <p:sp>
        <p:nvSpPr>
          <p:cNvPr id="16" name="Text 13"/>
          <p:cNvSpPr/>
          <p:nvPr/>
        </p:nvSpPr>
        <p:spPr>
          <a:xfrm>
            <a:off x="2560320" y="150876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Who should the AI be? Name the expertise you want in the room.</a:t>
            </a:r>
            <a:endParaRPr lang="en-US" sz="1700" dirty="0"/>
          </a:p>
        </p:txBody>
      </p:sp>
      <p:sp>
        <p:nvSpPr>
          <p:cNvPr id="17" name="Shape 14"/>
          <p:cNvSpPr/>
          <p:nvPr/>
        </p:nvSpPr>
        <p:spPr>
          <a:xfrm>
            <a:off x="640080" y="2468880"/>
            <a:ext cx="10972800" cy="822960"/>
          </a:xfrm>
          <a:prstGeom prst="roundRect">
            <a:avLst>
              <a:gd name="adj" fmla="val 10000"/>
            </a:avLst>
          </a:prstGeom>
          <a:solidFill>
            <a:srgbClr val="F7F5F0"/>
          </a:solidFill>
          <a:ln w="12700">
            <a:solidFill>
              <a:srgbClr val="F7F5F0"/>
            </a:solidFill>
            <a:prstDash val="solid"/>
          </a:ln>
        </p:spPr>
      </p:sp>
      <p:sp>
        <p:nvSpPr>
          <p:cNvPr id="18" name="Text 15"/>
          <p:cNvSpPr/>
          <p:nvPr/>
        </p:nvSpPr>
        <p:spPr>
          <a:xfrm>
            <a:off x="960120" y="246888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Task</a:t>
            </a:r>
            <a:endParaRPr lang="en-US" sz="2000" dirty="0"/>
          </a:p>
        </p:txBody>
      </p:sp>
      <p:sp>
        <p:nvSpPr>
          <p:cNvPr id="19" name="Text 16"/>
          <p:cNvSpPr/>
          <p:nvPr/>
        </p:nvSpPr>
        <p:spPr>
          <a:xfrm>
            <a:off x="2560320" y="246888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clear verb. What exactly do you want made?</a:t>
            </a:r>
            <a:endParaRPr lang="en-US" sz="1700" dirty="0"/>
          </a:p>
        </p:txBody>
      </p:sp>
      <p:sp>
        <p:nvSpPr>
          <p:cNvPr id="20" name="Shape 17"/>
          <p:cNvSpPr/>
          <p:nvPr/>
        </p:nvSpPr>
        <p:spPr>
          <a:xfrm>
            <a:off x="640080" y="3429000"/>
            <a:ext cx="10972800" cy="822960"/>
          </a:xfrm>
          <a:prstGeom prst="roundRect">
            <a:avLst>
              <a:gd name="adj" fmla="val 10000"/>
            </a:avLst>
          </a:prstGeom>
          <a:solidFill>
            <a:srgbClr val="F7F5F0"/>
          </a:solidFill>
          <a:ln w="12700">
            <a:solidFill>
              <a:srgbClr val="F7F5F0"/>
            </a:solidFill>
            <a:prstDash val="solid"/>
          </a:ln>
        </p:spPr>
      </p:sp>
      <p:sp>
        <p:nvSpPr>
          <p:cNvPr id="21" name="Text 18"/>
          <p:cNvSpPr/>
          <p:nvPr/>
        </p:nvSpPr>
        <p:spPr>
          <a:xfrm>
            <a:off x="960120" y="342900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Context</a:t>
            </a:r>
            <a:endParaRPr lang="en-US" sz="2000" dirty="0"/>
          </a:p>
        </p:txBody>
      </p:sp>
      <p:sp>
        <p:nvSpPr>
          <p:cNvPr id="22" name="Text 19"/>
          <p:cNvSpPr/>
          <p:nvPr/>
        </p:nvSpPr>
        <p:spPr>
          <a:xfrm>
            <a:off x="2560320" y="342900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What would a substitute need to know to do this right? Be generous here.</a:t>
            </a:r>
            <a:endParaRPr lang="en-US" sz="1700" dirty="0"/>
          </a:p>
        </p:txBody>
      </p:sp>
      <p:sp>
        <p:nvSpPr>
          <p:cNvPr id="23" name="Shape 20"/>
          <p:cNvSpPr/>
          <p:nvPr/>
        </p:nvSpPr>
        <p:spPr>
          <a:xfrm>
            <a:off x="640080" y="4389120"/>
            <a:ext cx="10972800" cy="822960"/>
          </a:xfrm>
          <a:prstGeom prst="roundRect">
            <a:avLst>
              <a:gd name="adj" fmla="val 10000"/>
            </a:avLst>
          </a:prstGeom>
          <a:solidFill>
            <a:srgbClr val="F7F5F0"/>
          </a:solidFill>
          <a:ln w="12700">
            <a:solidFill>
              <a:srgbClr val="F7F5F0"/>
            </a:solidFill>
            <a:prstDash val="solid"/>
          </a:ln>
        </p:spPr>
      </p:sp>
      <p:sp>
        <p:nvSpPr>
          <p:cNvPr id="24" name="Text 21"/>
          <p:cNvSpPr/>
          <p:nvPr/>
        </p:nvSpPr>
        <p:spPr>
          <a:xfrm>
            <a:off x="960120" y="438912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Format</a:t>
            </a:r>
            <a:endParaRPr lang="en-US" sz="2000" dirty="0"/>
          </a:p>
        </p:txBody>
      </p:sp>
      <p:sp>
        <p:nvSpPr>
          <p:cNvPr id="25" name="Text 22"/>
          <p:cNvSpPr/>
          <p:nvPr/>
        </p:nvSpPr>
        <p:spPr>
          <a:xfrm>
            <a:off x="2560320" y="438912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Exactly what the output should look like: length, layout, answer key.</a:t>
            </a:r>
            <a:endParaRPr lang="en-US" sz="1700" dirty="0"/>
          </a:p>
        </p:txBody>
      </p:sp>
      <p:sp>
        <p:nvSpPr>
          <p:cNvPr id="26" name="Shape 23"/>
          <p:cNvSpPr/>
          <p:nvPr/>
        </p:nvSpPr>
        <p:spPr>
          <a:xfrm>
            <a:off x="640080" y="5349240"/>
            <a:ext cx="10972800" cy="777240"/>
          </a:xfrm>
          <a:prstGeom prst="roundRect">
            <a:avLst>
              <a:gd name="adj" fmla="val 10588"/>
            </a:avLst>
          </a:prstGeom>
          <a:solidFill>
            <a:srgbClr val="EAF5F3"/>
          </a:solidFill>
          <a:ln w="12700">
            <a:solidFill>
              <a:srgbClr val="EAF5F3"/>
            </a:solidFill>
            <a:prstDash val="solid"/>
          </a:ln>
        </p:spPr>
      </p:sp>
      <p:sp>
        <p:nvSpPr>
          <p:cNvPr id="27" name="Text 24"/>
          <p:cNvSpPr/>
          <p:nvPr/>
        </p:nvSpPr>
        <p:spPr>
          <a:xfrm>
            <a:off x="960120" y="534924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Run it once, then read the draft like an editor, not a fan.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 · DRAFT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first draft, all four parts 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some review questions for Friday.”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four colors as makeover #1. Copy this shape with your own weekly task, then run it.</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2: three rounds of pushback, in order.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60120" y="1618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1 · Content</a:t>
            </a:r>
            <a:endParaRPr lang="en-US" sz="1900" dirty="0"/>
          </a:p>
        </p:txBody>
      </p:sp>
      <p:sp>
        <p:nvSpPr>
          <p:cNvPr id="16" name="Text 13"/>
          <p:cNvSpPr/>
          <p:nvPr/>
        </p:nvSpPr>
        <p:spPr>
          <a:xfrm>
            <a:off x="960120" y="2039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What’s wrong or missing? Fix that first, before anything else.</a:t>
            </a:r>
            <a:endParaRPr lang="en-US" sz="1650" dirty="0"/>
          </a:p>
        </p:txBody>
      </p:sp>
      <p:sp>
        <p:nvSpPr>
          <p:cNvPr id="17" name="Shape 14"/>
          <p:cNvSpPr/>
          <p:nvPr/>
        </p:nvSpPr>
        <p:spPr>
          <a:xfrm>
            <a:off x="640080" y="265176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60120" y="2761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2 · Voice</a:t>
            </a:r>
            <a:endParaRPr lang="en-US" sz="1900" dirty="0"/>
          </a:p>
        </p:txBody>
      </p:sp>
      <p:sp>
        <p:nvSpPr>
          <p:cNvPr id="19" name="Text 16"/>
          <p:cNvSpPr/>
          <p:nvPr/>
        </p:nvSpPr>
        <p:spPr>
          <a:xfrm>
            <a:off x="960120" y="3182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Does it sound like you? Read it aloud, then say “warmer” or “blunter.”</a:t>
            </a:r>
            <a:endParaRPr lang="en-US" sz="1650" dirty="0"/>
          </a:p>
        </p:txBody>
      </p:sp>
      <p:sp>
        <p:nvSpPr>
          <p:cNvPr id="20" name="Shape 17"/>
          <p:cNvSpPr/>
          <p:nvPr/>
        </p:nvSpPr>
        <p:spPr>
          <a:xfrm>
            <a:off x="640080" y="379476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60120" y="3904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3 · Details</a:t>
            </a:r>
            <a:endParaRPr lang="en-US" sz="1900" dirty="0"/>
          </a:p>
        </p:txBody>
      </p:sp>
      <p:sp>
        <p:nvSpPr>
          <p:cNvPr id="22" name="Text 19"/>
          <p:cNvSpPr/>
          <p:nvPr/>
        </p:nvSpPr>
        <p:spPr>
          <a:xfrm>
            <a:off x="960120" y="4325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Length, level, layout, numbering: make every one of them exact.</a:t>
            </a:r>
            <a:endParaRPr lang="en-US" sz="1650" dirty="0"/>
          </a:p>
        </p:txBody>
      </p:sp>
      <p:sp>
        <p:nvSpPr>
          <p:cNvPr id="23" name="Shape 20"/>
          <p:cNvSpPr/>
          <p:nvPr/>
        </p:nvSpPr>
        <p:spPr>
          <a:xfrm>
            <a:off x="640080" y="4937760"/>
            <a:ext cx="10972800" cy="777240"/>
          </a:xfrm>
          <a:prstGeom prst="roundRect">
            <a:avLst>
              <a:gd name="adj" fmla="val 10588"/>
            </a:avLst>
          </a:prstGeom>
          <a:solidFill>
            <a:srgbClr val="EAF5F3"/>
          </a:solidFill>
          <a:ln w="12700">
            <a:solidFill>
              <a:srgbClr val="EAF5F3"/>
            </a:solidFill>
            <a:prstDash val="solid"/>
          </a:ln>
        </p:spPr>
      </p:sp>
      <p:sp>
        <p:nvSpPr>
          <p:cNvPr id="24" name="Text 21"/>
          <p:cNvSpPr/>
          <p:nvPr/>
        </p:nvSpPr>
        <p:spPr>
          <a:xfrm>
            <a:off x="960120" y="493776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
        <p:nvSpPr>
          <p:cNvPr id="25" name="Text 22"/>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45-min cut: one round instead of three, then straight to step 3.</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 · ITERATE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in each round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CAME BACK   </a:t>
            </a:r>
            <a:pPr indent="0" marL="0">
              <a:buNone/>
            </a:pPr>
            <a:r>
              <a:rPr lang="en-US" sz="1600" i="1" dirty="0">
                <a:solidFill>
                  <a:srgbClr val="5B6B7A"/>
                </a:solidFill>
                <a:latin typeface="Inter" pitchFamily="34" charset="0"/>
                <a:ea typeface="Inter" pitchFamily="34" charset="-122"/>
                <a:cs typeface="Inter" pitchFamily="34" charset="-120"/>
              </a:rPr>
              <a:t>ten questions and an answer key, close but not hers yet.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37744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1783080" y="2514600"/>
            <a:ext cx="9189720" cy="2103120"/>
          </a:xfrm>
          <a:prstGeom prst="rect">
            <a:avLst/>
          </a:prstGeom>
          <a:noFill/>
          <a:ln/>
        </p:spPr>
        <p:txBody>
          <a:bodyPr wrap="square" lIns="0" tIns="0" rIns="0" bIns="0" rtlCol="0" anchor="t"/>
          <a:lstStyle/>
          <a:p>
            <a:pPr indent="0" marL="0">
              <a:lnSpc>
                <a:spcPct val="120000"/>
              </a:lnSpc>
              <a:buNone/>
            </a:pPr>
            <a:r>
              <a:rPr lang="en-US" sz="1300" b="1" spc="150" kern="0" dirty="0">
                <a:solidFill>
                  <a:srgbClr val="2A9D8F"/>
                </a:solidFill>
                <a:latin typeface="Inter" pitchFamily="34" charset="0"/>
                <a:ea typeface="Inter" pitchFamily="34" charset="-122"/>
                <a:cs typeface="Inter" pitchFamily="34" charset="-120"/>
              </a:rPr>
              <a:t>1 · CONTENT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0000"/>
              </a:lnSpc>
              <a:buNone/>
            </a:pPr>
            <a:r>
              <a:rPr lang="en-US" sz="1300" b="1" spc="150" kern="0" dirty="0">
                <a:solidFill>
                  <a:srgbClr val="13293D"/>
                </a:solidFill>
                <a:latin typeface="Inter" pitchFamily="34" charset="0"/>
                <a:ea typeface="Inter" pitchFamily="34" charset="-122"/>
                <a:cs typeface="Inter" pitchFamily="34" charset="-120"/>
              </a:rPr>
              <a:t>2 · VOICE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0000"/>
              </a:lnSpc>
              <a:buNone/>
            </a:pPr>
            <a:r>
              <a:rPr lang="en-US" sz="1300" b="1" spc="150" kern="0" dirty="0">
                <a:solidFill>
                  <a:srgbClr val="B07914"/>
                </a:solidFill>
                <a:latin typeface="Inter" pitchFamily="34" charset="0"/>
                <a:ea typeface="Inter" pitchFamily="34" charset="-122"/>
                <a:cs typeface="Inter" pitchFamily="34" charset="-120"/>
              </a:rPr>
              <a:t>3 · DETAILS
</a:t>
            </a:r>
            <a:pPr indent="0" marL="0">
              <a:lnSpc>
                <a:spcPct val="120000"/>
              </a:lnSpc>
              <a:buNone/>
            </a:pPr>
            <a:r>
              <a:rPr lang="en-US" sz="1700" dirty="0">
                <a:solidFill>
                  <a:srgbClr val="1B1F24"/>
                </a:solidFill>
                <a:latin typeface="Inter" pitchFamily="34" charset="0"/>
                <a:ea typeface="Inter" pitchFamily="34" charset="-122"/>
                <a:cs typeface="Inter" pitchFamily="34" charset="-120"/>
              </a:rPr>
              <a:t>“Exactly ten questions, numbered, answer key on its own page.”</a:t>
            </a:r>
            <a:endParaRPr lang="en-US" sz="1700" dirty="0"/>
          </a:p>
        </p:txBody>
      </p:sp>
      <p:sp>
        <p:nvSpPr>
          <p:cNvPr id="16" name="Text 13"/>
          <p:cNvSpPr/>
          <p:nvPr/>
        </p:nvSpPr>
        <p:spPr>
          <a:xfrm>
            <a:off x="1554480" y="48463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messages, one prompt: the same review questions from step 1, three rounds better.</a:t>
            </a:r>
            <a:endParaRPr lang="en-US" sz="1300" dirty="0"/>
          </a:p>
        </p:txBody>
      </p:sp>
      <p:sp>
        <p:nvSpPr>
          <p:cNvPr id="17" name="Shape 14"/>
          <p:cNvSpPr/>
          <p:nvPr/>
        </p:nvSpPr>
        <p:spPr>
          <a:xfrm>
            <a:off x="640080" y="5532120"/>
            <a:ext cx="3544824"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1 · CONTENT</a:t>
            </a:r>
            <a:endParaRPr lang="en-US" sz="1400" dirty="0"/>
          </a:p>
        </p:txBody>
      </p:sp>
      <p:sp>
        <p:nvSpPr>
          <p:cNvPr id="19" name="Shape 16"/>
          <p:cNvSpPr/>
          <p:nvPr/>
        </p:nvSpPr>
        <p:spPr>
          <a:xfrm>
            <a:off x="4395216" y="5532120"/>
            <a:ext cx="3544824"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4395216"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2 · VOICE</a:t>
            </a:r>
            <a:endParaRPr lang="en-US" sz="1400" dirty="0"/>
          </a:p>
        </p:txBody>
      </p:sp>
      <p:sp>
        <p:nvSpPr>
          <p:cNvPr id="21" name="Shape 18"/>
          <p:cNvSpPr/>
          <p:nvPr/>
        </p:nvSpPr>
        <p:spPr>
          <a:xfrm>
            <a:off x="8150352" y="5532120"/>
            <a:ext cx="3544824"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8150352"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3 · DETAILS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3: the specifics come out, the doc entry goes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Template it. Save it. Share it.</a:t>
            </a:r>
            <a:endParaRPr lang="en-US" sz="28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Paste the final template into the staff prompt doc</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Add your name and one line: what it’s for</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Confirm there are no student names in it: Kit 1’s rule, still with us</a:t>
            </a:r>
            <a:endParaRPr lang="en-US" sz="2100" dirty="0"/>
          </a:p>
        </p:txBody>
      </p:sp>
      <p:sp>
        <p:nvSpPr>
          <p:cNvPr id="15" name="Shape 12"/>
          <p:cNvSpPr/>
          <p:nvPr/>
        </p:nvSpPr>
        <p:spPr>
          <a:xfrm>
            <a:off x="640080" y="3931920"/>
            <a:ext cx="10972800" cy="1280160"/>
          </a:xfrm>
          <a:prstGeom prst="roundRect">
            <a:avLst>
              <a:gd name="adj" fmla="val 6429"/>
            </a:avLst>
          </a:prstGeom>
          <a:solidFill>
            <a:srgbClr val="EAF5F3"/>
          </a:solidFill>
          <a:ln w="12700">
            <a:solidFill>
              <a:srgbClr val="EAF5F3"/>
            </a:solidFill>
            <a:prstDash val="solid"/>
          </a:ln>
        </p:spPr>
      </p:sp>
      <p:sp>
        <p:nvSpPr>
          <p:cNvPr id="16" name="Text 13"/>
          <p:cNvSpPr/>
          <p:nvPr/>
        </p:nvSpPr>
        <p:spPr>
          <a:xfrm>
            <a:off x="960120" y="3931920"/>
            <a:ext cx="10332720" cy="128016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2000" dirty="0"/>
          </a:p>
        </p:txBody>
      </p:sp>
      <p:sp>
        <p:nvSpPr>
          <p:cNvPr id="17" name="Text 14"/>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Four blanks, twenty seconds, and next Friday is already half done.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ON MS. RIVERA'S SCREEN · SAVE YOURS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template, as saved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THE SWAP   </a:t>
            </a:r>
            <a:pPr indent="0" marL="0">
              <a:buNone/>
            </a:pPr>
            <a:r>
              <a:rPr lang="en-US" sz="1600" i="1" dirty="0">
                <a:solidFill>
                  <a:srgbClr val="5B6B7A"/>
                </a:solidFill>
                <a:latin typeface="Inter" pitchFamily="34" charset="0"/>
                <a:ea typeface="Inter" pitchFamily="34" charset="-122"/>
                <a:cs typeface="Inter" pitchFamily="34" charset="-120"/>
              </a:rPr>
              <a:t>out come “equivalent fractions,” “4th grade,” “10”: the three things that change every week.</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[number]-question review on [topic]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[what they mix up].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In the staff doc: Ms. Rivera · “weekly review questions, any topic”</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 went from asking to owning</a:t>
            </a:r>
            <a:endParaRPr lang="en-US" sz="28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staff doc</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staff doc.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staff doc.</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your name, one line about what it’s for</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33</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2026-08-24T13:09:58Z</dcterms:created>
  <dcterms:modified xsi:type="dcterms:W3CDTF">2026-08-24T13:09:58Z</dcterms:modified>
</cp:coreProperties>
</file>