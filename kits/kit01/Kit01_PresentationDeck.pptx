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from typed prompt to reviewed result.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On screen, Ms. Rivera's window: option A filled in with her fall book fair, and the first draft back. It's beige, and one detail in it will matter in task 2; don't spoil it yet. Circulate. Stuck pairs → option A, it works for every role.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the tool has no feelings. On screen, Ms. Rivera's same newsletter blurb after two pushbacks: it finally sounds like her, and her read-through caught the intern inventing "all week, 8:00 to 3:00"; she never typed a schedule. Push back at least twice on your own draft, the same way. 45-minute version: skip this task,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saw an AI mistake, spotlight it warmly; it’s the best possible outcome of the lab. If nobody caught one, point back at Ms. Rivera’s invented book-fair hours from task 2;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640080" y="1828800"/>
            <a:ext cx="3520440" cy="137160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25%</a:t>
            </a:r>
            <a:pPr algn="ctr" indent="0" marL="0">
              <a:buNone/>
            </a:pPr>
            <a:r>
              <a:rPr lang="en-US" sz="4400" b="1" dirty="0">
                <a:solidFill>
                  <a:srgbClr val="2A9D8F"/>
                </a:solidFill>
                <a:latin typeface="Inter" pitchFamily="34" charset="0"/>
                <a:ea typeface="Inter" pitchFamily="34" charset="-122"/>
                <a:cs typeface="Inter" pitchFamily="34" charset="-120"/>
              </a:rPr>
              <a:t> → </a:t>
            </a:r>
            <a:pPr algn="ctr" indent="0" marL="0">
              <a:buNone/>
            </a:pPr>
            <a:r>
              <a:rPr lang="en-US" sz="4400" b="1" dirty="0">
                <a:solidFill>
                  <a:srgbClr val="13293D"/>
                </a:solidFill>
                <a:latin typeface="Inter" pitchFamily="34" charset="0"/>
                <a:ea typeface="Inter" pitchFamily="34" charset="-122"/>
                <a:cs typeface="Inter" pitchFamily="34" charset="-120"/>
              </a:rPr>
              <a:t>53%</a:t>
            </a:r>
            <a:endParaRPr lang="en-US" sz="4400" dirty="0"/>
          </a:p>
        </p:txBody>
      </p:sp>
      <p:sp>
        <p:nvSpPr>
          <p:cNvPr id="16" name="Text 13"/>
          <p:cNvSpPr/>
          <p:nvPr/>
        </p:nvSpPr>
        <p:spPr>
          <a:xfrm>
            <a:off x="64008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 (RAND)</a:t>
            </a:r>
            <a:endParaRPr lang="en-US" sz="1600" dirty="0"/>
          </a:p>
        </p:txBody>
      </p:sp>
      <p:sp>
        <p:nvSpPr>
          <p:cNvPr id="17" name="Shape 14"/>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343400" y="1828800"/>
            <a:ext cx="3520440" cy="137160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434340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0" name="Shape 17"/>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046720" y="1828800"/>
            <a:ext cx="3520440" cy="137160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2" name="Text 19"/>
          <p:cNvSpPr/>
          <p:nvPr/>
        </p:nvSpPr>
        <p:spPr>
          <a:xfrm>
            <a:off x="804672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 v1: option A typed, draft back. Beige, sounds like nobody.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14" name="Shape 11"/>
          <p:cNvSpPr/>
          <p:nvPr/>
        </p:nvSpPr>
        <p:spPr>
          <a:xfrm>
            <a:off x="640080" y="1298448"/>
            <a:ext cx="5074920" cy="1024128"/>
          </a:xfrm>
          <a:prstGeom prst="roundRect">
            <a:avLst>
              <a:gd name="adj" fmla="val 8036"/>
            </a:avLst>
          </a:prstGeom>
          <a:solidFill>
            <a:srgbClr val="F7F5F0"/>
          </a:solidFill>
          <a:ln w="12700">
            <a:solidFill>
              <a:srgbClr val="F7F5F0"/>
            </a:solidFill>
            <a:prstDash val="solid"/>
          </a:ln>
        </p:spPr>
      </p:sp>
      <p:sp>
        <p:nvSpPr>
          <p:cNvPr id="15" name="Shape 12"/>
          <p:cNvSpPr/>
          <p:nvPr/>
        </p:nvSpPr>
        <p:spPr>
          <a:xfrm>
            <a:off x="841248" y="1609344"/>
            <a:ext cx="402336" cy="402336"/>
          </a:xfrm>
          <a:prstGeom prst="ellipse">
            <a:avLst/>
          </a:prstGeom>
          <a:solidFill>
            <a:srgbClr val="2A9D8F"/>
          </a:solidFill>
          <a:ln w="12700">
            <a:solidFill>
              <a:srgbClr val="2A9D8F"/>
            </a:solidFill>
            <a:prstDash val="solid"/>
          </a:ln>
        </p:spPr>
      </p:sp>
      <p:sp>
        <p:nvSpPr>
          <p:cNvPr id="16" name="Text 13"/>
          <p:cNvSpPr/>
          <p:nvPr/>
        </p:nvSpPr>
        <p:spPr>
          <a:xfrm>
            <a:off x="841248" y="16093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a:t>
            </a:r>
            <a:endParaRPr lang="en-US" sz="1600" dirty="0"/>
          </a:p>
        </p:txBody>
      </p:sp>
      <p:sp>
        <p:nvSpPr>
          <p:cNvPr id="17" name="Text 14"/>
          <p:cNvSpPr/>
          <p:nvPr/>
        </p:nvSpPr>
        <p:spPr>
          <a:xfrm>
            <a:off x="1389888" y="138074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FAMILIES</a:t>
            </a:r>
            <a:endParaRPr lang="en-US" sz="950" dirty="0"/>
          </a:p>
        </p:txBody>
      </p:sp>
      <p:sp>
        <p:nvSpPr>
          <p:cNvPr id="18" name="Text 15"/>
          <p:cNvSpPr/>
          <p:nvPr/>
        </p:nvSpPr>
        <p:spPr>
          <a:xfrm>
            <a:off x="1389888" y="161848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200" dirty="0"/>
          </a:p>
        </p:txBody>
      </p:sp>
      <p:sp>
        <p:nvSpPr>
          <p:cNvPr id="19" name="Shape 16"/>
          <p:cNvSpPr/>
          <p:nvPr/>
        </p:nvSpPr>
        <p:spPr>
          <a:xfrm>
            <a:off x="640080" y="2395728"/>
            <a:ext cx="5074920" cy="1024128"/>
          </a:xfrm>
          <a:prstGeom prst="roundRect">
            <a:avLst>
              <a:gd name="adj" fmla="val 8036"/>
            </a:avLst>
          </a:prstGeom>
          <a:solidFill>
            <a:srgbClr val="F7F5F0"/>
          </a:solidFill>
          <a:ln w="12700">
            <a:solidFill>
              <a:srgbClr val="F7F5F0"/>
            </a:solidFill>
            <a:prstDash val="solid"/>
          </a:ln>
        </p:spPr>
      </p:sp>
      <p:sp>
        <p:nvSpPr>
          <p:cNvPr id="20" name="Shape 17"/>
          <p:cNvSpPr/>
          <p:nvPr/>
        </p:nvSpPr>
        <p:spPr>
          <a:xfrm>
            <a:off x="841248" y="2706624"/>
            <a:ext cx="402336" cy="402336"/>
          </a:xfrm>
          <a:prstGeom prst="ellipse">
            <a:avLst/>
          </a:prstGeom>
          <a:solidFill>
            <a:srgbClr val="2A9D8F"/>
          </a:solidFill>
          <a:ln w="12700">
            <a:solidFill>
              <a:srgbClr val="2A9D8F"/>
            </a:solidFill>
            <a:prstDash val="solid"/>
          </a:ln>
        </p:spPr>
      </p:sp>
      <p:sp>
        <p:nvSpPr>
          <p:cNvPr id="21" name="Text 18"/>
          <p:cNvSpPr/>
          <p:nvPr/>
        </p:nvSpPr>
        <p:spPr>
          <a:xfrm>
            <a:off x="841248" y="270662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a:t>
            </a:r>
            <a:endParaRPr lang="en-US" sz="1600" dirty="0"/>
          </a:p>
        </p:txBody>
      </p:sp>
      <p:sp>
        <p:nvSpPr>
          <p:cNvPr id="22" name="Text 19"/>
          <p:cNvSpPr/>
          <p:nvPr/>
        </p:nvSpPr>
        <p:spPr>
          <a:xfrm>
            <a:off x="1389888" y="247802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ASSESSMENT</a:t>
            </a:r>
            <a:endParaRPr lang="en-US" sz="950" dirty="0"/>
          </a:p>
        </p:txBody>
      </p:sp>
      <p:sp>
        <p:nvSpPr>
          <p:cNvPr id="23" name="Text 20"/>
          <p:cNvSpPr/>
          <p:nvPr/>
        </p:nvSpPr>
        <p:spPr>
          <a:xfrm>
            <a:off x="1389888" y="271576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200" dirty="0"/>
          </a:p>
        </p:txBody>
      </p:sp>
      <p:sp>
        <p:nvSpPr>
          <p:cNvPr id="24" name="Shape 21"/>
          <p:cNvSpPr/>
          <p:nvPr/>
        </p:nvSpPr>
        <p:spPr>
          <a:xfrm>
            <a:off x="640080" y="3493008"/>
            <a:ext cx="5074920" cy="1024128"/>
          </a:xfrm>
          <a:prstGeom prst="roundRect">
            <a:avLst>
              <a:gd name="adj" fmla="val 8036"/>
            </a:avLst>
          </a:prstGeom>
          <a:solidFill>
            <a:srgbClr val="F7F5F0"/>
          </a:solidFill>
          <a:ln w="12700">
            <a:solidFill>
              <a:srgbClr val="F7F5F0"/>
            </a:solidFill>
            <a:prstDash val="solid"/>
          </a:ln>
        </p:spPr>
      </p:sp>
      <p:sp>
        <p:nvSpPr>
          <p:cNvPr id="25" name="Shape 22"/>
          <p:cNvSpPr/>
          <p:nvPr/>
        </p:nvSpPr>
        <p:spPr>
          <a:xfrm>
            <a:off x="841248" y="3803904"/>
            <a:ext cx="402336" cy="402336"/>
          </a:xfrm>
          <a:prstGeom prst="ellipse">
            <a:avLst/>
          </a:prstGeom>
          <a:solidFill>
            <a:srgbClr val="2A9D8F"/>
          </a:solidFill>
          <a:ln w="12700">
            <a:solidFill>
              <a:srgbClr val="2A9D8F"/>
            </a:solidFill>
            <a:prstDash val="solid"/>
          </a:ln>
        </p:spPr>
      </p:sp>
      <p:sp>
        <p:nvSpPr>
          <p:cNvPr id="26" name="Text 23"/>
          <p:cNvSpPr/>
          <p:nvPr/>
        </p:nvSpPr>
        <p:spPr>
          <a:xfrm>
            <a:off x="841248" y="380390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
            </a:r>
            <a:endParaRPr lang="en-US" sz="1600" dirty="0"/>
          </a:p>
        </p:txBody>
      </p:sp>
      <p:sp>
        <p:nvSpPr>
          <p:cNvPr id="27" name="Text 24"/>
          <p:cNvSpPr/>
          <p:nvPr/>
        </p:nvSpPr>
        <p:spPr>
          <a:xfrm>
            <a:off x="1389888" y="357530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DIFFERENTIATION</a:t>
            </a:r>
            <a:endParaRPr lang="en-US" sz="950" dirty="0"/>
          </a:p>
        </p:txBody>
      </p:sp>
      <p:sp>
        <p:nvSpPr>
          <p:cNvPr id="28" name="Text 25"/>
          <p:cNvSpPr/>
          <p:nvPr/>
        </p:nvSpPr>
        <p:spPr>
          <a:xfrm>
            <a:off x="1389888" y="381304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200" dirty="0"/>
          </a:p>
        </p:txBody>
      </p:sp>
      <p:sp>
        <p:nvSpPr>
          <p:cNvPr id="29" name="Shape 26"/>
          <p:cNvSpPr/>
          <p:nvPr/>
        </p:nvSpPr>
        <p:spPr>
          <a:xfrm>
            <a:off x="640080" y="4590288"/>
            <a:ext cx="5074920" cy="1024128"/>
          </a:xfrm>
          <a:prstGeom prst="roundRect">
            <a:avLst>
              <a:gd name="adj" fmla="val 8036"/>
            </a:avLst>
          </a:prstGeom>
          <a:solidFill>
            <a:srgbClr val="F7F5F0"/>
          </a:solidFill>
          <a:ln w="12700">
            <a:solidFill>
              <a:srgbClr val="F7F5F0"/>
            </a:solidFill>
            <a:prstDash val="solid"/>
          </a:ln>
        </p:spPr>
      </p:sp>
      <p:sp>
        <p:nvSpPr>
          <p:cNvPr id="30" name="Shape 27"/>
          <p:cNvSpPr/>
          <p:nvPr/>
        </p:nvSpPr>
        <p:spPr>
          <a:xfrm>
            <a:off x="841248" y="4901184"/>
            <a:ext cx="402336" cy="402336"/>
          </a:xfrm>
          <a:prstGeom prst="ellipse">
            <a:avLst/>
          </a:prstGeom>
          <a:solidFill>
            <a:srgbClr val="2A9D8F"/>
          </a:solidFill>
          <a:ln w="12700">
            <a:solidFill>
              <a:srgbClr val="2A9D8F"/>
            </a:solidFill>
            <a:prstDash val="solid"/>
          </a:ln>
        </p:spPr>
      </p:sp>
      <p:sp>
        <p:nvSpPr>
          <p:cNvPr id="31" name="Text 28"/>
          <p:cNvSpPr/>
          <p:nvPr/>
        </p:nvSpPr>
        <p:spPr>
          <a:xfrm>
            <a:off x="841248" y="490118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D</a:t>
            </a:r>
            <a:endParaRPr lang="en-US" sz="1600" dirty="0"/>
          </a:p>
        </p:txBody>
      </p:sp>
      <p:sp>
        <p:nvSpPr>
          <p:cNvPr id="32" name="Text 29"/>
          <p:cNvSpPr/>
          <p:nvPr/>
        </p:nvSpPr>
        <p:spPr>
          <a:xfrm>
            <a:off x="1389888" y="467258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CTE &amp; ELECTIVES</a:t>
            </a:r>
            <a:endParaRPr lang="en-US" sz="950" dirty="0"/>
          </a:p>
        </p:txBody>
      </p:sp>
      <p:sp>
        <p:nvSpPr>
          <p:cNvPr id="33" name="Text 30"/>
          <p:cNvSpPr/>
          <p:nvPr/>
        </p:nvSpPr>
        <p:spPr>
          <a:xfrm>
            <a:off x="1389888" y="491032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200" dirty="0"/>
          </a:p>
        </p:txBody>
      </p:sp>
      <p:sp>
        <p:nvSpPr>
          <p:cNvPr id="34" name="Shape 31"/>
          <p:cNvSpPr/>
          <p:nvPr/>
        </p:nvSpPr>
        <p:spPr>
          <a:xfrm>
            <a:off x="5897880" y="1298448"/>
            <a:ext cx="5715000" cy="4315968"/>
          </a:xfrm>
          <a:prstGeom prst="roundRect">
            <a:avLst>
              <a:gd name="adj" fmla="val 2119"/>
            </a:avLst>
          </a:prstGeom>
          <a:solidFill>
            <a:srgbClr val="FFFFFF"/>
          </a:solidFill>
          <a:ln w="19050">
            <a:solidFill>
              <a:srgbClr val="DCE3EA"/>
            </a:solidFill>
            <a:prstDash val="solid"/>
          </a:ln>
        </p:spPr>
      </p:sp>
      <p:sp>
        <p:nvSpPr>
          <p:cNvPr id="35" name="Shape 32"/>
          <p:cNvSpPr/>
          <p:nvPr/>
        </p:nvSpPr>
        <p:spPr>
          <a:xfrm>
            <a:off x="5897880" y="1298448"/>
            <a:ext cx="5715000" cy="384048"/>
          </a:xfrm>
          <a:prstGeom prst="roundRect">
            <a:avLst>
              <a:gd name="adj" fmla="val 23810"/>
            </a:avLst>
          </a:prstGeom>
          <a:solidFill>
            <a:srgbClr val="13293D"/>
          </a:solidFill>
          <a:ln w="12700">
            <a:solidFill>
              <a:srgbClr val="13293D"/>
            </a:solidFill>
            <a:prstDash val="solid"/>
          </a:ln>
        </p:spPr>
      </p:sp>
      <p:sp>
        <p:nvSpPr>
          <p:cNvPr id="36" name="Shape 33"/>
          <p:cNvSpPr/>
          <p:nvPr/>
        </p:nvSpPr>
        <p:spPr>
          <a:xfrm>
            <a:off x="6099048" y="1417320"/>
            <a:ext cx="146304" cy="146304"/>
          </a:xfrm>
          <a:prstGeom prst="ellipse">
            <a:avLst/>
          </a:prstGeom>
          <a:solidFill>
            <a:srgbClr val="E8837A"/>
          </a:solidFill>
          <a:ln w="12700">
            <a:solidFill>
              <a:srgbClr val="E8837A"/>
            </a:solidFill>
            <a:prstDash val="solid"/>
          </a:ln>
        </p:spPr>
      </p:sp>
      <p:sp>
        <p:nvSpPr>
          <p:cNvPr id="37" name="Shape 34"/>
          <p:cNvSpPr/>
          <p:nvPr/>
        </p:nvSpPr>
        <p:spPr>
          <a:xfrm>
            <a:off x="6345936" y="1417320"/>
            <a:ext cx="146304" cy="146304"/>
          </a:xfrm>
          <a:prstGeom prst="ellipse">
            <a:avLst/>
          </a:prstGeom>
          <a:solidFill>
            <a:srgbClr val="F4A825"/>
          </a:solidFill>
          <a:ln w="12700">
            <a:solidFill>
              <a:srgbClr val="F4A825"/>
            </a:solidFill>
            <a:prstDash val="solid"/>
          </a:ln>
        </p:spPr>
      </p:sp>
      <p:sp>
        <p:nvSpPr>
          <p:cNvPr id="38" name="Shape 35"/>
          <p:cNvSpPr/>
          <p:nvPr/>
        </p:nvSpPr>
        <p:spPr>
          <a:xfrm>
            <a:off x="6592824" y="1417320"/>
            <a:ext cx="146304" cy="146304"/>
          </a:xfrm>
          <a:prstGeom prst="ellipse">
            <a:avLst/>
          </a:prstGeom>
          <a:solidFill>
            <a:srgbClr val="2E7D5B"/>
          </a:solidFill>
          <a:ln w="12700">
            <a:solidFill>
              <a:srgbClr val="2E7D5B"/>
            </a:solidFill>
            <a:prstDash val="solid"/>
          </a:ln>
        </p:spPr>
      </p:sp>
      <p:sp>
        <p:nvSpPr>
          <p:cNvPr id="39" name="Text 36"/>
          <p:cNvSpPr/>
          <p:nvPr/>
        </p:nvSpPr>
        <p:spPr>
          <a:xfrm>
            <a:off x="6949440" y="1298448"/>
            <a:ext cx="45262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newsletter blurb · task 1 · option A, typed</a:t>
            </a:r>
            <a:endParaRPr lang="en-US" sz="1100" dirty="0"/>
          </a:p>
        </p:txBody>
      </p:sp>
      <p:sp>
        <p:nvSpPr>
          <p:cNvPr id="40" name="Text 37"/>
          <p:cNvSpPr/>
          <p:nvPr/>
        </p:nvSpPr>
        <p:spPr>
          <a:xfrm>
            <a:off x="6172200" y="1810512"/>
            <a:ext cx="5166360" cy="256032"/>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SHE TYPES · OPTION A, FILLED IN</a:t>
            </a:r>
            <a:endParaRPr lang="en-US" sz="1000" dirty="0"/>
          </a:p>
        </p:txBody>
      </p:sp>
      <p:sp>
        <p:nvSpPr>
          <p:cNvPr id="41" name="Text 38"/>
          <p:cNvSpPr/>
          <p:nvPr/>
        </p:nvSpPr>
        <p:spPr>
          <a:xfrm>
            <a:off x="6172200" y="2084832"/>
            <a:ext cx="5166360" cy="777240"/>
          </a:xfrm>
          <a:prstGeom prst="rect">
            <a:avLst/>
          </a:prstGeom>
          <a:noFill/>
          <a:ln/>
        </p:spPr>
        <p:txBody>
          <a:bodyPr wrap="square" lIns="0" tIns="0" rIns="0" bIns="0" rtlCol="0" anchor="t"/>
          <a:lstStyle/>
          <a:p>
            <a:pPr indent="0" marL="0">
              <a:lnSpc>
                <a:spcPct val="112000"/>
              </a:lnSpc>
              <a:buNone/>
            </a:pPr>
            <a:r>
              <a:rPr lang="en-US" sz="1450" i="1" dirty="0">
                <a:solidFill>
                  <a:srgbClr val="13293D"/>
                </a:solidFill>
                <a:latin typeface="Inter" pitchFamily="34" charset="0"/>
                <a:ea typeface="Inter" pitchFamily="34" charset="-122"/>
                <a:cs typeface="Inter" pitchFamily="34" charset="-120"/>
              </a:rPr>
              <a:t>“Write a warm, professional newsletter blurb for families about our fall book fair, under 120 words.”</a:t>
            </a:r>
            <a:endParaRPr lang="en-US" sz="1450" dirty="0"/>
          </a:p>
        </p:txBody>
      </p:sp>
      <p:sp>
        <p:nvSpPr>
          <p:cNvPr id="42" name="Text 39"/>
          <p:cNvSpPr/>
          <p:nvPr/>
        </p:nvSpPr>
        <p:spPr>
          <a:xfrm>
            <a:off x="6172200" y="3017520"/>
            <a:ext cx="5166360" cy="256032"/>
          </a:xfrm>
          <a:prstGeom prst="rect">
            <a:avLst/>
          </a:prstGeom>
          <a:noFill/>
          <a:ln/>
        </p:spPr>
        <p:txBody>
          <a:bodyPr wrap="square" lIns="0" tIns="0" rIns="0" bIns="0" rtlCol="0" anchor="ctr"/>
          <a:lstStyle/>
          <a:p>
            <a:pPr indent="0" marL="0">
              <a:buNone/>
            </a:pPr>
            <a:r>
              <a:rPr lang="en-US" sz="1000" b="1" spc="150" kern="0" dirty="0">
                <a:solidFill>
                  <a:srgbClr val="5B6B7A"/>
                </a:solidFill>
                <a:latin typeface="Inter" pitchFamily="34" charset="0"/>
                <a:ea typeface="Inter" pitchFamily="34" charset="-122"/>
                <a:cs typeface="Inter" pitchFamily="34" charset="-120"/>
              </a:rPr>
              <a:t>THE FIRST DRAFT COMES BACK</a:t>
            </a:r>
            <a:endParaRPr lang="en-US" sz="1000" dirty="0"/>
          </a:p>
        </p:txBody>
      </p:sp>
      <p:sp>
        <p:nvSpPr>
          <p:cNvPr id="43" name="Text 40"/>
          <p:cNvSpPr/>
          <p:nvPr/>
        </p:nvSpPr>
        <p:spPr>
          <a:xfrm>
            <a:off x="6172200" y="3291840"/>
            <a:ext cx="5166360" cy="1417320"/>
          </a:xfrm>
          <a:prstGeom prst="rect">
            <a:avLst/>
          </a:prstGeom>
          <a:noFill/>
          <a:ln/>
        </p:spPr>
        <p:txBody>
          <a:bodyPr wrap="square" lIns="0" tIns="0" rIns="0" bIns="0" rtlCol="0" anchor="t"/>
          <a:lstStyle/>
          <a:p>
            <a:pPr indent="0" marL="0">
              <a:lnSpc>
                <a:spcPct val="112000"/>
              </a:lnSpc>
              <a:buNone/>
            </a:pPr>
            <a:r>
              <a:rPr lang="en-US" sz="14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The fair runs all week, 8:00 to 3:00. We sincerely appreciate your continued support!”</a:t>
            </a:r>
            <a:endParaRPr lang="en-US" sz="1400" dirty="0"/>
          </a:p>
        </p:txBody>
      </p:sp>
      <p:sp>
        <p:nvSpPr>
          <p:cNvPr id="44" name="Text 41"/>
          <p:cNvSpPr/>
          <p:nvPr/>
        </p:nvSpPr>
        <p:spPr>
          <a:xfrm>
            <a:off x="6172200" y="4937760"/>
            <a:ext cx="5166360" cy="548640"/>
          </a:xfrm>
          <a:prstGeom prst="rect">
            <a:avLst/>
          </a:prstGeom>
          <a:noFill/>
          <a:ln/>
        </p:spPr>
        <p:txBody>
          <a:bodyPr wrap="square" lIns="0" tIns="0" rIns="0" bIns="0" rtlCol="0" anchor="t"/>
          <a:lstStyle/>
          <a:p>
            <a:pPr indent="0" marL="0">
              <a:buNone/>
            </a:pPr>
            <a:r>
              <a:rPr lang="en-US" sz="1150" i="1" dirty="0">
                <a:solidFill>
                  <a:srgbClr val="5B6B7A"/>
                </a:solidFill>
                <a:latin typeface="Inter" pitchFamily="34" charset="0"/>
                <a:ea typeface="Inter" pitchFamily="34" charset="-122"/>
                <a:cs typeface="Inter" pitchFamily="34" charset="-120"/>
              </a:rPr>
              <a:t>Beige, and it sounds like nobody. Keep yours on screen; task 2 works on this exact draft.</a:t>
            </a:r>
            <a:endParaRPr lang="en-US" sz="1150" dirty="0"/>
          </a:p>
        </p:txBody>
      </p:sp>
      <p:sp>
        <p:nvSpPr>
          <p:cNvPr id="45" name="Text 42"/>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 v3: two pushbacks later, hers. One invented detail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 · HOW MS. RIVERA DOES 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335024"/>
            <a:ext cx="5074920" cy="6400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Don’t accept the first draft. Tell it what’s wrong, like you would an intern:</a:t>
            </a:r>
            <a:endParaRPr lang="en-US" sz="1550" dirty="0"/>
          </a:p>
        </p:txBody>
      </p:sp>
      <p:sp>
        <p:nvSpPr>
          <p:cNvPr id="15" name="Shape 12"/>
          <p:cNvSpPr/>
          <p:nvPr/>
        </p:nvSpPr>
        <p:spPr>
          <a:xfrm>
            <a:off x="640080" y="2011680"/>
            <a:ext cx="5074920" cy="768096"/>
          </a:xfrm>
          <a:prstGeom prst="roundRect">
            <a:avLst>
              <a:gd name="adj" fmla="val 14286"/>
            </a:avLst>
          </a:prstGeom>
          <a:solidFill>
            <a:srgbClr val="EAF5F3"/>
          </a:solidFill>
          <a:ln w="12700">
            <a:solidFill>
              <a:srgbClr val="EAF5F3"/>
            </a:solidFill>
            <a:prstDash val="solid"/>
          </a:ln>
        </p:spPr>
      </p:sp>
      <p:sp>
        <p:nvSpPr>
          <p:cNvPr id="16" name="Text 13"/>
          <p:cNvSpPr/>
          <p:nvPr/>
        </p:nvSpPr>
        <p:spPr>
          <a:xfrm>
            <a:off x="896112" y="2057400"/>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“Warmer.”</a:t>
            </a:r>
            <a:endParaRPr lang="en-US" sz="1500" dirty="0"/>
          </a:p>
        </p:txBody>
      </p:sp>
      <p:sp>
        <p:nvSpPr>
          <p:cNvPr id="17" name="Shape 14"/>
          <p:cNvSpPr/>
          <p:nvPr/>
        </p:nvSpPr>
        <p:spPr>
          <a:xfrm>
            <a:off x="640080" y="2907792"/>
            <a:ext cx="5074920" cy="768096"/>
          </a:xfrm>
          <a:prstGeom prst="roundRect">
            <a:avLst>
              <a:gd name="adj" fmla="val 14286"/>
            </a:avLst>
          </a:prstGeom>
          <a:solidFill>
            <a:srgbClr val="EAF5F3"/>
          </a:solidFill>
          <a:ln w="12700">
            <a:solidFill>
              <a:srgbClr val="EAF5F3"/>
            </a:solidFill>
            <a:prstDash val="solid"/>
          </a:ln>
        </p:spPr>
      </p:sp>
      <p:sp>
        <p:nvSpPr>
          <p:cNvPr id="18" name="Text 15"/>
          <p:cNvSpPr/>
          <p:nvPr/>
        </p:nvSpPr>
        <p:spPr>
          <a:xfrm>
            <a:off x="896112" y="2953512"/>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“Shorter.”</a:t>
            </a:r>
            <a:endParaRPr lang="en-US" sz="1500" dirty="0"/>
          </a:p>
        </p:txBody>
      </p:sp>
      <p:sp>
        <p:nvSpPr>
          <p:cNvPr id="19" name="Shape 16"/>
          <p:cNvSpPr/>
          <p:nvPr/>
        </p:nvSpPr>
        <p:spPr>
          <a:xfrm>
            <a:off x="640080" y="3803904"/>
            <a:ext cx="5074920" cy="768096"/>
          </a:xfrm>
          <a:prstGeom prst="roundRect">
            <a:avLst>
              <a:gd name="adj" fmla="val 14286"/>
            </a:avLst>
          </a:prstGeom>
          <a:solidFill>
            <a:srgbClr val="EAF5F3"/>
          </a:solidFill>
          <a:ln w="12700">
            <a:solidFill>
              <a:srgbClr val="EAF5F3"/>
            </a:solidFill>
            <a:prstDash val="solid"/>
          </a:ln>
        </p:spPr>
      </p:sp>
      <p:sp>
        <p:nvSpPr>
          <p:cNvPr id="20" name="Text 17"/>
          <p:cNvSpPr/>
          <p:nvPr/>
        </p:nvSpPr>
        <p:spPr>
          <a:xfrm>
            <a:off x="896112" y="3849624"/>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“A 5th grader wouldn’t know three of these words. Fix that.”</a:t>
            </a:r>
            <a:endParaRPr lang="en-US" sz="1500" dirty="0"/>
          </a:p>
        </p:txBody>
      </p:sp>
      <p:sp>
        <p:nvSpPr>
          <p:cNvPr id="21" name="Shape 18"/>
          <p:cNvSpPr/>
          <p:nvPr/>
        </p:nvSpPr>
        <p:spPr>
          <a:xfrm>
            <a:off x="640080" y="4700016"/>
            <a:ext cx="5074920" cy="768096"/>
          </a:xfrm>
          <a:prstGeom prst="roundRect">
            <a:avLst>
              <a:gd name="adj" fmla="val 14286"/>
            </a:avLst>
          </a:prstGeom>
          <a:solidFill>
            <a:srgbClr val="EAF5F3"/>
          </a:solidFill>
          <a:ln w="12700">
            <a:solidFill>
              <a:srgbClr val="EAF5F3"/>
            </a:solidFill>
            <a:prstDash val="solid"/>
          </a:ln>
        </p:spPr>
      </p:sp>
      <p:sp>
        <p:nvSpPr>
          <p:cNvPr id="22" name="Text 19"/>
          <p:cNvSpPr/>
          <p:nvPr/>
        </p:nvSpPr>
        <p:spPr>
          <a:xfrm>
            <a:off x="896112" y="4745736"/>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“Make question four harder and add a diagram question.”</a:t>
            </a:r>
            <a:endParaRPr lang="en-US" sz="1500" dirty="0"/>
          </a:p>
        </p:txBody>
      </p:sp>
      <p:sp>
        <p:nvSpPr>
          <p:cNvPr id="23" name="Shape 20"/>
          <p:cNvSpPr/>
          <p:nvPr/>
        </p:nvSpPr>
        <p:spPr>
          <a:xfrm>
            <a:off x="5897880" y="1298448"/>
            <a:ext cx="5715000" cy="4315968"/>
          </a:xfrm>
          <a:prstGeom prst="roundRect">
            <a:avLst>
              <a:gd name="adj" fmla="val 2119"/>
            </a:avLst>
          </a:prstGeom>
          <a:solidFill>
            <a:srgbClr val="FFFFFF"/>
          </a:solidFill>
          <a:ln w="19050">
            <a:solidFill>
              <a:srgbClr val="DCE3EA"/>
            </a:solidFill>
            <a:prstDash val="solid"/>
          </a:ln>
        </p:spPr>
      </p:sp>
      <p:sp>
        <p:nvSpPr>
          <p:cNvPr id="24" name="Shape 21"/>
          <p:cNvSpPr/>
          <p:nvPr/>
        </p:nvSpPr>
        <p:spPr>
          <a:xfrm>
            <a:off x="5897880" y="1298448"/>
            <a:ext cx="5715000" cy="384048"/>
          </a:xfrm>
          <a:prstGeom prst="roundRect">
            <a:avLst>
              <a:gd name="adj" fmla="val 23810"/>
            </a:avLst>
          </a:prstGeom>
          <a:solidFill>
            <a:srgbClr val="13293D"/>
          </a:solidFill>
          <a:ln w="12700">
            <a:solidFill>
              <a:srgbClr val="13293D"/>
            </a:solidFill>
            <a:prstDash val="solid"/>
          </a:ln>
        </p:spPr>
      </p:sp>
      <p:sp>
        <p:nvSpPr>
          <p:cNvPr id="25" name="Shape 22"/>
          <p:cNvSpPr/>
          <p:nvPr/>
        </p:nvSpPr>
        <p:spPr>
          <a:xfrm>
            <a:off x="6099048" y="1417320"/>
            <a:ext cx="146304" cy="146304"/>
          </a:xfrm>
          <a:prstGeom prst="ellipse">
            <a:avLst/>
          </a:prstGeom>
          <a:solidFill>
            <a:srgbClr val="E8837A"/>
          </a:solidFill>
          <a:ln w="12700">
            <a:solidFill>
              <a:srgbClr val="E8837A"/>
            </a:solidFill>
            <a:prstDash val="solid"/>
          </a:ln>
        </p:spPr>
      </p:sp>
      <p:sp>
        <p:nvSpPr>
          <p:cNvPr id="26" name="Shape 23"/>
          <p:cNvSpPr/>
          <p:nvPr/>
        </p:nvSpPr>
        <p:spPr>
          <a:xfrm>
            <a:off x="6345936" y="1417320"/>
            <a:ext cx="146304" cy="146304"/>
          </a:xfrm>
          <a:prstGeom prst="ellipse">
            <a:avLst/>
          </a:prstGeom>
          <a:solidFill>
            <a:srgbClr val="F4A825"/>
          </a:solidFill>
          <a:ln w="12700">
            <a:solidFill>
              <a:srgbClr val="F4A825"/>
            </a:solidFill>
            <a:prstDash val="solid"/>
          </a:ln>
        </p:spPr>
      </p:sp>
      <p:sp>
        <p:nvSpPr>
          <p:cNvPr id="27" name="Shape 24"/>
          <p:cNvSpPr/>
          <p:nvPr/>
        </p:nvSpPr>
        <p:spPr>
          <a:xfrm>
            <a:off x="6592824" y="1417320"/>
            <a:ext cx="146304" cy="146304"/>
          </a:xfrm>
          <a:prstGeom prst="ellipse">
            <a:avLst/>
          </a:prstGeom>
          <a:solidFill>
            <a:srgbClr val="2E7D5B"/>
          </a:solidFill>
          <a:ln w="12700">
            <a:solidFill>
              <a:srgbClr val="2E7D5B"/>
            </a:solidFill>
            <a:prstDash val="solid"/>
          </a:ln>
        </p:spPr>
      </p:sp>
      <p:sp>
        <p:nvSpPr>
          <p:cNvPr id="28" name="Text 25"/>
          <p:cNvSpPr/>
          <p:nvPr/>
        </p:nvSpPr>
        <p:spPr>
          <a:xfrm>
            <a:off x="6949440" y="1298448"/>
            <a:ext cx="45262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newsletter blurb · task 2 · two pushbacks later</a:t>
            </a:r>
            <a:endParaRPr lang="en-US" sz="1100" dirty="0"/>
          </a:p>
        </p:txBody>
      </p:sp>
      <p:sp>
        <p:nvSpPr>
          <p:cNvPr id="29" name="Text 26"/>
          <p:cNvSpPr/>
          <p:nvPr/>
        </p:nvSpPr>
        <p:spPr>
          <a:xfrm>
            <a:off x="6172200" y="1792224"/>
            <a:ext cx="5166360" cy="256032"/>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SHE TYPES, ONE AT A TIME</a:t>
            </a:r>
            <a:endParaRPr lang="en-US" sz="1000" dirty="0"/>
          </a:p>
        </p:txBody>
      </p:sp>
      <p:sp>
        <p:nvSpPr>
          <p:cNvPr id="30" name="Text 27"/>
          <p:cNvSpPr/>
          <p:nvPr/>
        </p:nvSpPr>
        <p:spPr>
          <a:xfrm>
            <a:off x="6172200" y="2048256"/>
            <a:ext cx="5166360" cy="310896"/>
          </a:xfrm>
          <a:prstGeom prst="rect">
            <a:avLst/>
          </a:prstGeom>
          <a:noFill/>
          <a:ln/>
        </p:spPr>
        <p:txBody>
          <a:bodyPr wrap="square" lIns="0" tIns="0" rIns="0" bIns="0" rtlCol="0" anchor="t"/>
          <a:lstStyle/>
          <a:p>
            <a:pPr indent="0" marL="0">
              <a:buNone/>
            </a:pPr>
            <a:r>
              <a:rPr lang="en-US" sz="1550" b="1" dirty="0">
                <a:solidFill>
                  <a:srgbClr val="13293D"/>
                </a:solidFill>
                <a:latin typeface="Inter" pitchFamily="34" charset="0"/>
                <a:ea typeface="Inter" pitchFamily="34" charset="-122"/>
                <a:cs typeface="Inter" pitchFamily="34" charset="-120"/>
              </a:rPr>
              <a:t>“Warmer.”   then   “Shorter.”</a:t>
            </a:r>
            <a:endParaRPr lang="en-US" sz="1550" dirty="0"/>
          </a:p>
        </p:txBody>
      </p:sp>
      <p:sp>
        <p:nvSpPr>
          <p:cNvPr id="31" name="Text 28"/>
          <p:cNvSpPr/>
          <p:nvPr/>
        </p:nvSpPr>
        <p:spPr>
          <a:xfrm>
            <a:off x="6172200" y="2468880"/>
            <a:ext cx="5166360" cy="256032"/>
          </a:xfrm>
          <a:prstGeom prst="rect">
            <a:avLst/>
          </a:prstGeom>
          <a:noFill/>
          <a:ln/>
        </p:spPr>
        <p:txBody>
          <a:bodyPr wrap="square" lIns="0" tIns="0" rIns="0" bIns="0" rtlCol="0" anchor="ctr"/>
          <a:lstStyle/>
          <a:p>
            <a:pPr indent="0" marL="0">
              <a:buNone/>
            </a:pPr>
            <a:r>
              <a:rPr lang="en-US" sz="1000" b="1" spc="150" kern="0" dirty="0">
                <a:solidFill>
                  <a:srgbClr val="5B6B7A"/>
                </a:solidFill>
                <a:latin typeface="Inter" pitchFamily="34" charset="0"/>
                <a:ea typeface="Inter" pitchFamily="34" charset="-122"/>
                <a:cs typeface="Inter" pitchFamily="34" charset="-120"/>
              </a:rPr>
              <a:t>THE BLURB, TWO ROUNDS LATER</a:t>
            </a:r>
            <a:endParaRPr lang="en-US" sz="1000" dirty="0"/>
          </a:p>
        </p:txBody>
      </p:sp>
      <p:sp>
        <p:nvSpPr>
          <p:cNvPr id="32" name="Text 29"/>
          <p:cNvSpPr/>
          <p:nvPr/>
        </p:nvSpPr>
        <p:spPr>
          <a:xfrm>
            <a:off x="6172200" y="2724912"/>
            <a:ext cx="5166360" cy="868680"/>
          </a:xfrm>
          <a:prstGeom prst="rect">
            <a:avLst/>
          </a:prstGeom>
          <a:noFill/>
          <a:ln/>
        </p:spPr>
        <p:txBody>
          <a:bodyPr wrap="square" lIns="0" tIns="0" rIns="0" bIns="0" rtlCol="0" anchor="t"/>
          <a:lstStyle/>
          <a:p>
            <a:pPr indent="0" marL="0">
              <a:lnSpc>
                <a:spcPct val="112000"/>
              </a:lnSpc>
              <a:buNone/>
            </a:pPr>
            <a:r>
              <a:rPr lang="en-US" sz="14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Happy reading!”</a:t>
            </a:r>
            <a:endParaRPr lang="en-US" sz="1400" dirty="0"/>
          </a:p>
        </p:txBody>
      </p:sp>
      <p:sp>
        <p:nvSpPr>
          <p:cNvPr id="33" name="Text 30"/>
          <p:cNvSpPr/>
          <p:nvPr/>
        </p:nvSpPr>
        <p:spPr>
          <a:xfrm>
            <a:off x="6172200" y="3675888"/>
            <a:ext cx="5166360" cy="256032"/>
          </a:xfrm>
          <a:prstGeom prst="rect">
            <a:avLst/>
          </a:prstGeom>
          <a:noFill/>
          <a:ln/>
        </p:spPr>
        <p:txBody>
          <a:bodyPr wrap="square" lIns="0" tIns="0" rIns="0" bIns="0" rtlCol="0" anchor="ctr"/>
          <a:lstStyle/>
          <a:p>
            <a:pPr indent="0" marL="0">
              <a:buNone/>
            </a:pPr>
            <a:r>
              <a:rPr lang="en-US" sz="1000" b="1" spc="150" kern="0" dirty="0">
                <a:solidFill>
                  <a:srgbClr val="B4453A"/>
                </a:solidFill>
                <a:latin typeface="Inter" pitchFamily="34" charset="0"/>
                <a:ea typeface="Inter" pitchFamily="34" charset="-122"/>
                <a:cs typeface="Inter" pitchFamily="34" charset="-120"/>
              </a:rPr>
              <a:t>ONE ERROR, CAUGHT ON THE READ-THROUGH</a:t>
            </a:r>
            <a:endParaRPr lang="en-US" sz="1000" dirty="0"/>
          </a:p>
        </p:txBody>
      </p:sp>
      <p:sp>
        <p:nvSpPr>
          <p:cNvPr id="34" name="Text 31"/>
          <p:cNvSpPr/>
          <p:nvPr/>
        </p:nvSpPr>
        <p:spPr>
          <a:xfrm>
            <a:off x="6172200" y="3931920"/>
            <a:ext cx="5166360" cy="868680"/>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The draft claimed the fair “runs all week, 8:00 to 3:00.” She never typed a schedule; the intern invented one. She cut it and checked the real flyer.</a:t>
            </a:r>
            <a:endParaRPr lang="en-US" sz="1250" dirty="0"/>
          </a:p>
        </p:txBody>
      </p:sp>
      <p:sp>
        <p:nvSpPr>
          <p:cNvPr id="35" name="Text 32"/>
          <p:cNvSpPr/>
          <p:nvPr/>
        </p:nvSpPr>
        <p:spPr>
          <a:xfrm>
            <a:off x="6172200" y="4892040"/>
            <a:ext cx="5166360" cy="594360"/>
          </a:xfrm>
          <a:prstGeom prst="rect">
            <a:avLst/>
          </a:prstGeom>
          <a:noFill/>
          <a:ln/>
        </p:spPr>
        <p:txBody>
          <a:bodyPr wrap="square" lIns="0" tIns="0" rIns="0" bIns="0" rtlCol="0" anchor="t"/>
          <a:lstStyle/>
          <a:p>
            <a:pPr indent="0" marL="0">
              <a:buNone/>
            </a:pPr>
            <a:r>
              <a:rPr lang="en-US" sz="1150" i="1" dirty="0">
                <a:solidFill>
                  <a:srgbClr val="5B6B7A"/>
                </a:solidFill>
                <a:latin typeface="Inter" pitchFamily="34" charset="0"/>
                <a:ea typeface="Inter" pitchFamily="34" charset="-122"/>
                <a:cs typeface="Inter" pitchFamily="34" charset="-120"/>
              </a:rPr>
              <a:t>Usable now, with nothing in it she didn’t verify. Copy her arc: draft, push back twice, read it before it goes anywhere.</a:t>
            </a:r>
            <a:endParaRPr lang="en-US" sz="1150" dirty="0"/>
          </a:p>
        </p:txBody>
      </p:sp>
      <p:sp>
        <p:nvSpPr>
          <p:cNvPr id="36" name="Text 3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certificate at the end.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30</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2026-08-14T16:56:07Z</dcterms:created>
  <dcterms:modified xsi:type="dcterms:W3CDTF">2026-08-14T16:56:07Z</dcterms:modified>
</cp:coreProperties>
</file>