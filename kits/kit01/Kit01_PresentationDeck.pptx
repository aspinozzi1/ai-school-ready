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The next six slides are her whole arc, in order: the prompt she types, the draft that comes back, the pushbacks, the invented detail she catches, and the version she actually sends.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Option A works for every role in the building, so point stuck pairs there. Ms. Rivera picks A and fills it in with her fall book fair; her screen is the next three slides, so anyone who feels lost can copy her structure exactly. Circulate.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our running composite example, and this is what she typed instead of "write something for the book fair." Read the colors off the slide: who the AI should be (role, teal), the job (task, navy), everything about her room and her families (context, amber), and the shape she wants back (format, green). Nobody has to memorize that today; Kit 2 turns it into a formula. Today it is just a picture: at worst, copy what is on this screen and swap in your own event, and your task 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It is polished, it is grammatical, and it sounds like nobody: that beige is what a first draft always sounds like. Read the last line of the slide out loud and stop there; do not point at the invented hours yet, because catching it is the payoff on slide 26. Everyone should have their own draft 1 on screen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one instruction at a time, because the tool has no feelings and vague feedback gets a vague draft. Two rounds minimum on your own draft 1, right now. Ms. Rivera types the first two on this slide; her screen is next. 45-minute version: skip this task and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same blurb after two pushbacks. Warmer, then shorter, one word at a time, and it finally sounds like a person who knows these families. That took her about forty seconds. Point out that she changed nothing by hand yet; she only told it what was wrong. Then hold the room here: the sentence that matters is still hiding in this draft,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the fair "runs all week, 8:00 to 3:00." She checked the real flyer, fixed the hours to Tuesday and Thursday, 3:00 to 6:30, and sent it. This is slide 6 happening in a real classroom task: the tool predicts likely words, so it fills a gap with something plausible, and two rounds of pushback will not catch that for you. Tell the room to read their own draft the same way before the debrief, and to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surprised you, what was better than you expected, what was worse, and did anyone catch it being wrong? If the room saw an AI mistake, spotlight it warmly; it’s the best possible outcome of the lab. If nobody caught one, point back at Ms. Rivera’s invented book-fair hours on slide 26;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6" name="Shape 13"/>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7" name="Text 14"/>
          <p:cNvSpPr/>
          <p:nvPr/>
        </p:nvSpPr>
        <p:spPr>
          <a:xfrm>
            <a:off x="640080" y="1874520"/>
            <a:ext cx="3520440" cy="1097280"/>
          </a:xfrm>
          <a:prstGeom prst="rect">
            <a:avLst/>
          </a:prstGeom>
          <a:noFill/>
          <a:ln/>
        </p:spPr>
        <p:txBody>
          <a:bodyPr wrap="square" lIns="0" tIns="0" rIns="0" bIns="0" rtlCol="0" anchor="ctr"/>
          <a:lstStyle/>
          <a:p>
            <a:pPr algn="ctr" indent="0" marL="0">
              <a:buNone/>
            </a:pPr>
            <a:r>
              <a:rPr lang="en-US" sz="4000" b="1" dirty="0">
                <a:solidFill>
                  <a:srgbClr val="5B6B7A"/>
                </a:solidFill>
                <a:latin typeface="Inter" pitchFamily="34" charset="0"/>
                <a:ea typeface="Inter" pitchFamily="34" charset="-122"/>
                <a:cs typeface="Inter" pitchFamily="34" charset="-120"/>
              </a:rPr>
              <a:t>25%</a:t>
            </a:r>
            <a:pPr algn="ctr" indent="0" marL="0">
              <a:buNone/>
            </a:pPr>
            <a:r>
              <a:rPr lang="en-US" sz="4000" b="1" dirty="0">
                <a:solidFill>
                  <a:srgbClr val="2A9D8F"/>
                </a:solidFill>
                <a:latin typeface="Inter" pitchFamily="34" charset="0"/>
                <a:ea typeface="Inter" pitchFamily="34" charset="-122"/>
                <a:cs typeface="Inter" pitchFamily="34" charset="-120"/>
              </a:rPr>
              <a:t> → </a:t>
            </a:r>
            <a:pPr algn="ctr" indent="0" marL="0">
              <a:buNone/>
            </a:pPr>
            <a:r>
              <a:rPr lang="en-US" sz="4000" b="1" dirty="0">
                <a:solidFill>
                  <a:srgbClr val="13293D"/>
                </a:solidFill>
                <a:latin typeface="Inter" pitchFamily="34" charset="0"/>
                <a:ea typeface="Inter" pitchFamily="34" charset="-122"/>
                <a:cs typeface="Inter" pitchFamily="34" charset="-120"/>
              </a:rPr>
              <a:t>53%</a:t>
            </a:r>
            <a:endParaRPr lang="en-US" sz="4000" dirty="0"/>
          </a:p>
        </p:txBody>
      </p:sp>
      <p:sp>
        <p:nvSpPr>
          <p:cNvPr id="18" name="Text 15"/>
          <p:cNvSpPr/>
          <p:nvPr/>
        </p:nvSpPr>
        <p:spPr>
          <a:xfrm>
            <a:off x="4343400" y="1828800"/>
            <a:ext cx="3520440" cy="118872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8046720" y="1828800"/>
            <a:ext cx="3520440" cy="118872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0" name="Text 17"/>
          <p:cNvSpPr/>
          <p:nvPr/>
        </p:nvSpPr>
        <p:spPr>
          <a:xfrm>
            <a:off x="82296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1" name="Text 18"/>
          <p:cNvSpPr/>
          <p:nvPr/>
        </p:nvSpPr>
        <p:spPr>
          <a:xfrm>
            <a:off x="452628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2" name="Text 19"/>
          <p:cNvSpPr/>
          <p:nvPr/>
        </p:nvSpPr>
        <p:spPr>
          <a:xfrm>
            <a:off x="822960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it can’t do, at any price</a:t>
            </a:r>
            <a:endParaRPr lang="en-US" sz="28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rule barely costs you anything</a:t>
            </a:r>
            <a:endParaRPr lang="en-US" sz="28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option A, filled in with her fall book fair. Her screen is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useful prompt: pick one</a:t>
            </a:r>
            <a:endParaRPr lang="en-US" sz="2800" dirty="0"/>
          </a:p>
        </p:txBody>
      </p:sp>
      <p:sp>
        <p:nvSpPr>
          <p:cNvPr id="14" name="Shape 11"/>
          <p:cNvSpPr/>
          <p:nvPr/>
        </p:nvSpPr>
        <p:spPr>
          <a:xfrm>
            <a:off x="640080" y="1371600"/>
            <a:ext cx="10972800" cy="960120"/>
          </a:xfrm>
          <a:prstGeom prst="roundRect">
            <a:avLst>
              <a:gd name="adj" fmla="val 8571"/>
            </a:avLst>
          </a:prstGeom>
          <a:solidFill>
            <a:srgbClr val="F7F5F0"/>
          </a:solidFill>
          <a:ln w="12700">
            <a:solidFill>
              <a:srgbClr val="F7F5F0"/>
            </a:solidFill>
            <a:prstDash val="solid"/>
          </a:ln>
        </p:spPr>
      </p:sp>
      <p:sp>
        <p:nvSpPr>
          <p:cNvPr id="15" name="Shape 12"/>
          <p:cNvSpPr/>
          <p:nvPr/>
        </p:nvSpPr>
        <p:spPr>
          <a:xfrm>
            <a:off x="868680" y="1645920"/>
            <a:ext cx="411480" cy="411480"/>
          </a:xfrm>
          <a:prstGeom prst="ellipse">
            <a:avLst/>
          </a:prstGeom>
          <a:solidFill>
            <a:srgbClr val="2A9D8F"/>
          </a:solidFill>
          <a:ln w="12700">
            <a:solidFill>
              <a:srgbClr val="2A9D8F"/>
            </a:solidFill>
            <a:prstDash val="solid"/>
          </a:ln>
        </p:spPr>
      </p:sp>
      <p:sp>
        <p:nvSpPr>
          <p:cNvPr id="16" name="Text 13"/>
          <p:cNvSpPr/>
          <p:nvPr/>
        </p:nvSpPr>
        <p:spPr>
          <a:xfrm>
            <a:off x="868680" y="164592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17" name="Text 14"/>
          <p:cNvSpPr/>
          <p:nvPr/>
        </p:nvSpPr>
        <p:spPr>
          <a:xfrm>
            <a:off x="1463040" y="1463040"/>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a:t>
            </a:r>
            <a:endParaRPr lang="en-US" sz="1000" dirty="0"/>
          </a:p>
        </p:txBody>
      </p:sp>
      <p:sp>
        <p:nvSpPr>
          <p:cNvPr id="18" name="Text 15"/>
          <p:cNvSpPr/>
          <p:nvPr/>
        </p:nvSpPr>
        <p:spPr>
          <a:xfrm>
            <a:off x="1463040" y="1719072"/>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600" dirty="0"/>
          </a:p>
        </p:txBody>
      </p:sp>
      <p:sp>
        <p:nvSpPr>
          <p:cNvPr id="19" name="Shape 16"/>
          <p:cNvSpPr/>
          <p:nvPr/>
        </p:nvSpPr>
        <p:spPr>
          <a:xfrm>
            <a:off x="640080" y="2441448"/>
            <a:ext cx="10972800" cy="960120"/>
          </a:xfrm>
          <a:prstGeom prst="roundRect">
            <a:avLst>
              <a:gd name="adj" fmla="val 8571"/>
            </a:avLst>
          </a:prstGeom>
          <a:solidFill>
            <a:srgbClr val="F7F5F0"/>
          </a:solidFill>
          <a:ln w="12700">
            <a:solidFill>
              <a:srgbClr val="F7F5F0"/>
            </a:solidFill>
            <a:prstDash val="solid"/>
          </a:ln>
        </p:spPr>
      </p:sp>
      <p:sp>
        <p:nvSpPr>
          <p:cNvPr id="20" name="Shape 17"/>
          <p:cNvSpPr/>
          <p:nvPr/>
        </p:nvSpPr>
        <p:spPr>
          <a:xfrm>
            <a:off x="868680" y="2715768"/>
            <a:ext cx="411480" cy="411480"/>
          </a:xfrm>
          <a:prstGeom prst="ellipse">
            <a:avLst/>
          </a:prstGeom>
          <a:solidFill>
            <a:srgbClr val="2A9D8F"/>
          </a:solidFill>
          <a:ln w="12700">
            <a:solidFill>
              <a:srgbClr val="2A9D8F"/>
            </a:solidFill>
            <a:prstDash val="solid"/>
          </a:ln>
        </p:spPr>
      </p:sp>
      <p:sp>
        <p:nvSpPr>
          <p:cNvPr id="21" name="Text 18"/>
          <p:cNvSpPr/>
          <p:nvPr/>
        </p:nvSpPr>
        <p:spPr>
          <a:xfrm>
            <a:off x="868680" y="2715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22" name="Text 19"/>
          <p:cNvSpPr/>
          <p:nvPr/>
        </p:nvSpPr>
        <p:spPr>
          <a:xfrm>
            <a:off x="1463040" y="2532888"/>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ASSESSMENT</a:t>
            </a:r>
            <a:endParaRPr lang="en-US" sz="1000" dirty="0"/>
          </a:p>
        </p:txBody>
      </p:sp>
      <p:sp>
        <p:nvSpPr>
          <p:cNvPr id="23" name="Text 20"/>
          <p:cNvSpPr/>
          <p:nvPr/>
        </p:nvSpPr>
        <p:spPr>
          <a:xfrm>
            <a:off x="1463040" y="2788920"/>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600" dirty="0"/>
          </a:p>
        </p:txBody>
      </p:sp>
      <p:sp>
        <p:nvSpPr>
          <p:cNvPr id="24" name="Shape 21"/>
          <p:cNvSpPr/>
          <p:nvPr/>
        </p:nvSpPr>
        <p:spPr>
          <a:xfrm>
            <a:off x="640080" y="3511296"/>
            <a:ext cx="10972800" cy="960120"/>
          </a:xfrm>
          <a:prstGeom prst="roundRect">
            <a:avLst>
              <a:gd name="adj" fmla="val 8571"/>
            </a:avLst>
          </a:prstGeom>
          <a:solidFill>
            <a:srgbClr val="F7F5F0"/>
          </a:solidFill>
          <a:ln w="12700">
            <a:solidFill>
              <a:srgbClr val="F7F5F0"/>
            </a:solidFill>
            <a:prstDash val="solid"/>
          </a:ln>
        </p:spPr>
      </p:sp>
      <p:sp>
        <p:nvSpPr>
          <p:cNvPr id="25" name="Shape 22"/>
          <p:cNvSpPr/>
          <p:nvPr/>
        </p:nvSpPr>
        <p:spPr>
          <a:xfrm>
            <a:off x="868680" y="3785616"/>
            <a:ext cx="411480" cy="411480"/>
          </a:xfrm>
          <a:prstGeom prst="ellipse">
            <a:avLst/>
          </a:prstGeom>
          <a:solidFill>
            <a:srgbClr val="2A9D8F"/>
          </a:solidFill>
          <a:ln w="12700">
            <a:solidFill>
              <a:srgbClr val="2A9D8F"/>
            </a:solidFill>
            <a:prstDash val="solid"/>
          </a:ln>
        </p:spPr>
      </p:sp>
      <p:sp>
        <p:nvSpPr>
          <p:cNvPr id="26" name="Text 23"/>
          <p:cNvSpPr/>
          <p:nvPr/>
        </p:nvSpPr>
        <p:spPr>
          <a:xfrm>
            <a:off x="868680" y="378561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27" name="Text 24"/>
          <p:cNvSpPr/>
          <p:nvPr/>
        </p:nvSpPr>
        <p:spPr>
          <a:xfrm>
            <a:off x="1463040" y="3602736"/>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a:t>
            </a:r>
            <a:endParaRPr lang="en-US" sz="1000" dirty="0"/>
          </a:p>
        </p:txBody>
      </p:sp>
      <p:sp>
        <p:nvSpPr>
          <p:cNvPr id="28" name="Text 25"/>
          <p:cNvSpPr/>
          <p:nvPr/>
        </p:nvSpPr>
        <p:spPr>
          <a:xfrm>
            <a:off x="1463040" y="3858768"/>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600" dirty="0"/>
          </a:p>
        </p:txBody>
      </p:sp>
      <p:sp>
        <p:nvSpPr>
          <p:cNvPr id="29" name="Shape 26"/>
          <p:cNvSpPr/>
          <p:nvPr/>
        </p:nvSpPr>
        <p:spPr>
          <a:xfrm>
            <a:off x="640080" y="4581144"/>
            <a:ext cx="10972800" cy="960120"/>
          </a:xfrm>
          <a:prstGeom prst="roundRect">
            <a:avLst>
              <a:gd name="adj" fmla="val 8571"/>
            </a:avLst>
          </a:prstGeom>
          <a:solidFill>
            <a:srgbClr val="F7F5F0"/>
          </a:solidFill>
          <a:ln w="12700">
            <a:solidFill>
              <a:srgbClr val="F7F5F0"/>
            </a:solidFill>
            <a:prstDash val="solid"/>
          </a:ln>
        </p:spPr>
      </p:sp>
      <p:sp>
        <p:nvSpPr>
          <p:cNvPr id="30" name="Shape 27"/>
          <p:cNvSpPr/>
          <p:nvPr/>
        </p:nvSpPr>
        <p:spPr>
          <a:xfrm>
            <a:off x="868680" y="4855464"/>
            <a:ext cx="411480" cy="411480"/>
          </a:xfrm>
          <a:prstGeom prst="ellipse">
            <a:avLst/>
          </a:prstGeom>
          <a:solidFill>
            <a:srgbClr val="2A9D8F"/>
          </a:solidFill>
          <a:ln w="12700">
            <a:solidFill>
              <a:srgbClr val="2A9D8F"/>
            </a:solidFill>
            <a:prstDash val="solid"/>
          </a:ln>
        </p:spPr>
      </p:sp>
      <p:sp>
        <p:nvSpPr>
          <p:cNvPr id="31" name="Text 28"/>
          <p:cNvSpPr/>
          <p:nvPr/>
        </p:nvSpPr>
        <p:spPr>
          <a:xfrm>
            <a:off x="868680" y="48554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32" name="Text 29"/>
          <p:cNvSpPr/>
          <p:nvPr/>
        </p:nvSpPr>
        <p:spPr>
          <a:xfrm>
            <a:off x="1463040" y="4672584"/>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a:t>
            </a:r>
            <a:endParaRPr lang="en-US" sz="1000" dirty="0"/>
          </a:p>
        </p:txBody>
      </p:sp>
      <p:sp>
        <p:nvSpPr>
          <p:cNvPr id="33" name="Text 30"/>
          <p:cNvSpPr/>
          <p:nvPr/>
        </p:nvSpPr>
        <p:spPr>
          <a:xfrm>
            <a:off x="1463040" y="4928616"/>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600" dirty="0"/>
          </a:p>
        </p:txBody>
      </p:sp>
      <p:sp>
        <p:nvSpPr>
          <p:cNvPr id="34" name="Text 31"/>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prompt she actually types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something for the book fair.”</a:t>
            </a:r>
            <a:endParaRPr lang="en-US" sz="1600" dirty="0"/>
          </a:p>
        </p:txBody>
      </p:sp>
      <p:sp>
        <p:nvSpPr>
          <p:cNvPr id="8" name="Shape 5"/>
          <p:cNvSpPr/>
          <p:nvPr/>
        </p:nvSpPr>
        <p:spPr>
          <a:xfrm>
            <a:off x="640080" y="1783080"/>
            <a:ext cx="10972800" cy="3108960"/>
          </a:xfrm>
          <a:prstGeom prst="roundRect">
            <a:avLst>
              <a:gd name="adj" fmla="val 2941"/>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31720"/>
            <a:ext cx="9646920" cy="2423160"/>
          </a:xfrm>
          <a:prstGeom prst="roundRect">
            <a:avLst>
              <a:gd name="adj" fmla="val 4528"/>
            </a:avLst>
          </a:prstGeom>
          <a:solidFill>
            <a:srgbClr val="F7F5F0"/>
          </a:solidFill>
          <a:ln w="12700">
            <a:solidFill>
              <a:srgbClr val="F7F5F0"/>
            </a:solidFill>
            <a:prstDash val="solid"/>
          </a:ln>
        </p:spPr>
      </p:sp>
      <p:sp>
        <p:nvSpPr>
          <p:cNvPr id="15" name="Text 12"/>
          <p:cNvSpPr/>
          <p:nvPr/>
        </p:nvSpPr>
        <p:spPr>
          <a:xfrm>
            <a:off x="1783080" y="2395728"/>
            <a:ext cx="9189720" cy="2286000"/>
          </a:xfrm>
          <a:prstGeom prst="rect">
            <a:avLst/>
          </a:prstGeom>
          <a:noFill/>
          <a:ln/>
        </p:spPr>
        <p:txBody>
          <a:bodyPr wrap="square" lIns="0" tIns="0" rIns="0" bIns="0" rtlCol="0" anchor="ctr"/>
          <a:lstStyle/>
          <a:p>
            <a:pPr indent="0" marL="0">
              <a:lnSpc>
                <a:spcPct val="110000"/>
              </a:lnSpc>
              <a:buNone/>
            </a:pPr>
            <a:r>
              <a:rPr lang="en-US" sz="1700" b="1" dirty="0">
                <a:solidFill>
                  <a:srgbClr val="2A9D8F"/>
                </a:solidFill>
                <a:latin typeface="Inter" pitchFamily="34" charset="0"/>
                <a:ea typeface="Inter" pitchFamily="34" charset="-122"/>
                <a:cs typeface="Inter" pitchFamily="34" charset="-120"/>
              </a:rPr>
              <a:t>“You are a warm, experienced 4th grade teacher writing to families. </a:t>
            </a:r>
            <a:pPr indent="0" marL="0">
              <a:lnSpc>
                <a:spcPct val="110000"/>
              </a:lnSpc>
              <a:buNone/>
            </a:pPr>
            <a:r>
              <a:rPr lang="en-US" sz="1700" b="1" dirty="0">
                <a:solidFill>
                  <a:srgbClr val="13293D"/>
                </a:solidFill>
                <a:latin typeface="Inter" pitchFamily="34" charset="0"/>
                <a:ea typeface="Inter" pitchFamily="34" charset="-122"/>
                <a:cs typeface="Inter" pitchFamily="34" charset="-120"/>
              </a:rPr>
              <a:t>Write a newsletter blurb about our fall book fair. </a:t>
            </a:r>
            <a:pPr indent="0" marL="0">
              <a:lnSpc>
                <a:spcPct val="110000"/>
              </a:lnSpc>
              <a:buNone/>
            </a:pPr>
            <a:r>
              <a:rPr lang="en-US" sz="1700" b="1" dirty="0">
                <a:solidFill>
                  <a:srgbClr val="B07914"/>
                </a:solidFill>
                <a:latin typeface="Inter" pitchFamily="34" charset="0"/>
                <a:ea typeface="Inter" pitchFamily="34" charset="-122"/>
                <a:cs typeface="Inter" pitchFamily="34" charset="-120"/>
              </a:rPr>
              <a:t>It is in the school library, families come with their readers and pick books together, our theme is “find your next favorite,” and our families are busy, so plain and friendly beats fancy. </a:t>
            </a:r>
            <a:pPr indent="0" marL="0">
              <a:lnSpc>
                <a:spcPct val="110000"/>
              </a:lnSpc>
              <a:buNone/>
            </a:pPr>
            <a:r>
              <a:rPr lang="en-US" sz="1700" b="1" dirty="0">
                <a:solidFill>
                  <a:srgbClr val="2E7D5B"/>
                </a:solidFill>
                <a:latin typeface="Inter" pitchFamily="34" charset="0"/>
                <a:ea typeface="Inter" pitchFamily="34" charset="-122"/>
                <a:cs typeface="Inter" pitchFamily="34" charset="-120"/>
              </a:rPr>
              <a:t>Under 120 words, one paragraph, no bullet points, ending with a line that invites families to stop by.”</a:t>
            </a:r>
            <a:endParaRPr lang="en-US" sz="1700" dirty="0"/>
          </a:p>
        </p:txBody>
      </p:sp>
      <p:sp>
        <p:nvSpPr>
          <p:cNvPr id="16" name="Text 13"/>
          <p:cNvSpPr/>
          <p:nvPr/>
        </p:nvSpPr>
        <p:spPr>
          <a:xfrm>
            <a:off x="640080" y="50292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Four parts, and the middle two are the ones only you can supply.</a:t>
            </a:r>
            <a:endParaRPr lang="en-US" sz="18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WHAT COMES BACK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intern answers in four seconds</a:t>
            </a:r>
            <a:endParaRPr lang="en-US" sz="3200" dirty="0"/>
          </a:p>
        </p:txBody>
      </p:sp>
      <p:sp>
        <p:nvSpPr>
          <p:cNvPr id="7" name="Shape 4"/>
          <p:cNvSpPr/>
          <p:nvPr/>
        </p:nvSpPr>
        <p:spPr>
          <a:xfrm>
            <a:off x="640080" y="1371600"/>
            <a:ext cx="10972800" cy="3429000"/>
          </a:xfrm>
          <a:prstGeom prst="roundRect">
            <a:avLst>
              <a:gd name="adj" fmla="val 2667"/>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14" name="Shape 11"/>
          <p:cNvSpPr/>
          <p:nvPr/>
        </p:nvSpPr>
        <p:spPr>
          <a:xfrm>
            <a:off x="1554480" y="2148840"/>
            <a:ext cx="9646920" cy="2468880"/>
          </a:xfrm>
          <a:prstGeom prst="roundRect">
            <a:avLst>
              <a:gd name="adj" fmla="val 4444"/>
            </a:avLst>
          </a:prstGeom>
          <a:solidFill>
            <a:srgbClr val="F7F5F0"/>
          </a:solidFill>
          <a:ln w="12700">
            <a:solidFill>
              <a:srgbClr val="F7F5F0"/>
            </a:solidFill>
            <a:prstDash val="solid"/>
          </a:ln>
        </p:spPr>
      </p:sp>
      <p:sp>
        <p:nvSpPr>
          <p:cNvPr id="15" name="Text 12"/>
          <p:cNvSpPr/>
          <p:nvPr/>
        </p:nvSpPr>
        <p:spPr>
          <a:xfrm>
            <a:off x="1783080" y="2240280"/>
            <a:ext cx="9189720" cy="2286000"/>
          </a:xfrm>
          <a:prstGeom prst="rect">
            <a:avLst/>
          </a:prstGeom>
          <a:noFill/>
          <a:ln/>
        </p:spPr>
        <p:txBody>
          <a:bodyPr wrap="square" lIns="0" tIns="0" rIns="0" bIns="0" rtlCol="0" anchor="ctr"/>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in our school community. The fair runs all week, 8:00 to 3:00, in the library. We sincerely appreciate your continued support of our reading program!”</a:t>
            </a:r>
            <a:endParaRPr lang="en-US" sz="2000" dirty="0"/>
          </a:p>
        </p:txBody>
      </p:sp>
      <p:sp>
        <p:nvSpPr>
          <p:cNvPr id="16" name="Text 13"/>
          <p:cNvSpPr/>
          <p:nvPr/>
        </p:nvSpPr>
        <p:spPr>
          <a:xfrm>
            <a:off x="640080" y="498348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Beige, and it sounds like nobody. Keep your own draft 1 on screen: task 2 works on this exact text.</a:t>
            </a:r>
            <a:endParaRPr lang="en-US" sz="1600" dirty="0"/>
          </a:p>
        </p:txBody>
      </p:sp>
      <p:sp>
        <p:nvSpPr>
          <p:cNvPr id="17" name="Text 14"/>
          <p:cNvSpPr/>
          <p:nvPr/>
        </p:nvSpPr>
        <p:spPr>
          <a:xfrm>
            <a:off x="640080" y="55321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One detail in this draft came from nowhere. Nobody has spotted it yet.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blurb, draft 1: beige. She pushes back twice, one word at a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280160"/>
            <a:ext cx="10972800" cy="41148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Don’t accept the first draft. Tell it what’s wrong, the way you would tell an intern:</a:t>
            </a:r>
            <a:endParaRPr lang="en-US" sz="1900" dirty="0"/>
          </a:p>
        </p:txBody>
      </p:sp>
      <p:sp>
        <p:nvSpPr>
          <p:cNvPr id="15" name="Shape 12"/>
          <p:cNvSpPr/>
          <p:nvPr/>
        </p:nvSpPr>
        <p:spPr>
          <a:xfrm>
            <a:off x="640080" y="1874520"/>
            <a:ext cx="5349240" cy="914400"/>
          </a:xfrm>
          <a:prstGeom prst="roundRect">
            <a:avLst>
              <a:gd name="adj" fmla="val 12000"/>
            </a:avLst>
          </a:prstGeom>
          <a:solidFill>
            <a:srgbClr val="EAF5F3"/>
          </a:solidFill>
          <a:ln w="12700">
            <a:solidFill>
              <a:srgbClr val="EAF5F3"/>
            </a:solidFill>
            <a:prstDash val="solid"/>
          </a:ln>
        </p:spPr>
      </p:sp>
      <p:sp>
        <p:nvSpPr>
          <p:cNvPr id="16" name="Text 13"/>
          <p:cNvSpPr/>
          <p:nvPr/>
        </p:nvSpPr>
        <p:spPr>
          <a:xfrm>
            <a:off x="91440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7" name="Shape 14"/>
          <p:cNvSpPr/>
          <p:nvPr/>
        </p:nvSpPr>
        <p:spPr>
          <a:xfrm>
            <a:off x="6263640" y="1874520"/>
            <a:ext cx="5349240" cy="914400"/>
          </a:xfrm>
          <a:prstGeom prst="roundRect">
            <a:avLst>
              <a:gd name="adj" fmla="val 12000"/>
            </a:avLst>
          </a:prstGeom>
          <a:solidFill>
            <a:srgbClr val="EAF5F3"/>
          </a:solidFill>
          <a:ln w="12700">
            <a:solidFill>
              <a:srgbClr val="EAF5F3"/>
            </a:solidFill>
            <a:prstDash val="solid"/>
          </a:ln>
        </p:spPr>
      </p:sp>
      <p:sp>
        <p:nvSpPr>
          <p:cNvPr id="18" name="Text 15"/>
          <p:cNvSpPr/>
          <p:nvPr/>
        </p:nvSpPr>
        <p:spPr>
          <a:xfrm>
            <a:off x="653796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9" name="Shape 16"/>
          <p:cNvSpPr/>
          <p:nvPr/>
        </p:nvSpPr>
        <p:spPr>
          <a:xfrm>
            <a:off x="640080" y="2971800"/>
            <a:ext cx="5349240" cy="914400"/>
          </a:xfrm>
          <a:prstGeom prst="roundRect">
            <a:avLst>
              <a:gd name="adj" fmla="val 12000"/>
            </a:avLst>
          </a:prstGeom>
          <a:solidFill>
            <a:srgbClr val="EAF5F3"/>
          </a:solidFill>
          <a:ln w="12700">
            <a:solidFill>
              <a:srgbClr val="EAF5F3"/>
            </a:solidFill>
            <a:prstDash val="solid"/>
          </a:ln>
        </p:spPr>
      </p:sp>
      <p:sp>
        <p:nvSpPr>
          <p:cNvPr id="20" name="Text 17"/>
          <p:cNvSpPr/>
          <p:nvPr/>
        </p:nvSpPr>
        <p:spPr>
          <a:xfrm>
            <a:off x="91440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“A 5th grader wouldn’t know three of these words. Fix that.”</a:t>
            </a:r>
            <a:endParaRPr lang="en-US" sz="1700" dirty="0"/>
          </a:p>
        </p:txBody>
      </p:sp>
      <p:sp>
        <p:nvSpPr>
          <p:cNvPr id="21" name="Shape 18"/>
          <p:cNvSpPr/>
          <p:nvPr/>
        </p:nvSpPr>
        <p:spPr>
          <a:xfrm>
            <a:off x="6263640" y="2971800"/>
            <a:ext cx="5349240" cy="914400"/>
          </a:xfrm>
          <a:prstGeom prst="roundRect">
            <a:avLst>
              <a:gd name="adj" fmla="val 12000"/>
            </a:avLst>
          </a:prstGeom>
          <a:solidFill>
            <a:srgbClr val="EAF5F3"/>
          </a:solidFill>
          <a:ln w="12700">
            <a:solidFill>
              <a:srgbClr val="EAF5F3"/>
            </a:solidFill>
            <a:prstDash val="solid"/>
          </a:ln>
        </p:spPr>
      </p:sp>
      <p:sp>
        <p:nvSpPr>
          <p:cNvPr id="22" name="Text 19"/>
          <p:cNvSpPr/>
          <p:nvPr/>
        </p:nvSpPr>
        <p:spPr>
          <a:xfrm>
            <a:off x="653796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“Make question four harder and add a diagram question.”</a:t>
            </a:r>
            <a:endParaRPr lang="en-US" sz="1700" dirty="0"/>
          </a:p>
        </p:txBody>
      </p:sp>
      <p:sp>
        <p:nvSpPr>
          <p:cNvPr id="23" name="Shape 20"/>
          <p:cNvSpPr/>
          <p:nvPr/>
        </p:nvSpPr>
        <p:spPr>
          <a:xfrm>
            <a:off x="640080" y="4251960"/>
            <a:ext cx="10972800" cy="1234440"/>
          </a:xfrm>
          <a:prstGeom prst="roundRect">
            <a:avLst>
              <a:gd name="adj" fmla="val 6667"/>
            </a:avLst>
          </a:prstGeom>
          <a:solidFill>
            <a:srgbClr val="F7F5F0"/>
          </a:solidFill>
          <a:ln w="12700">
            <a:solidFill>
              <a:srgbClr val="F7F5F0"/>
            </a:solidFill>
            <a:prstDash val="solid"/>
          </a:ln>
        </p:spPr>
      </p:sp>
      <p:sp>
        <p:nvSpPr>
          <p:cNvPr id="24" name="Text 21"/>
          <p:cNvSpPr/>
          <p:nvPr/>
        </p:nvSpPr>
        <p:spPr>
          <a:xfrm>
            <a:off x="960120" y="4251960"/>
            <a:ext cx="10332720" cy="123444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Short and blunt is fine: the tool has no feelings, and vague feedback gets you a vague draft. Two rounds minimum, one instruction at a time.</a:t>
            </a:r>
            <a:endParaRPr lang="en-US" sz="1800" dirty="0"/>
          </a:p>
        </p:txBody>
      </p:sp>
      <p:sp>
        <p:nvSpPr>
          <p:cNvPr id="25" name="Text 22"/>
          <p:cNvSpPr/>
          <p:nvPr/>
        </p:nvSpPr>
        <p:spPr>
          <a:xfrm>
            <a:off x="640080" y="566928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Two pushbacks later</a:t>
            </a:r>
            <a:endParaRPr lang="en-US" sz="3200" dirty="0"/>
          </a:p>
        </p:txBody>
      </p:sp>
      <p:sp>
        <p:nvSpPr>
          <p:cNvPr id="7" name="Shape 4"/>
          <p:cNvSpPr/>
          <p:nvPr/>
        </p:nvSpPr>
        <p:spPr>
          <a:xfrm>
            <a:off x="640080" y="1371600"/>
            <a:ext cx="10972800" cy="3840480"/>
          </a:xfrm>
          <a:prstGeom prst="roundRect">
            <a:avLst>
              <a:gd name="adj" fmla="val 2381"/>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28800"/>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SHE TYPES, ONE AT A TIME</a:t>
            </a:r>
            <a:endParaRPr lang="en-US" sz="1100" dirty="0"/>
          </a:p>
        </p:txBody>
      </p:sp>
      <p:sp>
        <p:nvSpPr>
          <p:cNvPr id="14" name="Shape 11"/>
          <p:cNvSpPr/>
          <p:nvPr/>
        </p:nvSpPr>
        <p:spPr>
          <a:xfrm>
            <a:off x="1554480" y="2139696"/>
            <a:ext cx="2468880" cy="548640"/>
          </a:xfrm>
          <a:prstGeom prst="roundRect">
            <a:avLst>
              <a:gd name="adj" fmla="val 23333"/>
            </a:avLst>
          </a:prstGeom>
          <a:solidFill>
            <a:srgbClr val="EAF5F3"/>
          </a:solidFill>
          <a:ln w="12700">
            <a:solidFill>
              <a:srgbClr val="EAF5F3"/>
            </a:solidFill>
            <a:prstDash val="solid"/>
          </a:ln>
        </p:spPr>
      </p:sp>
      <p:sp>
        <p:nvSpPr>
          <p:cNvPr id="15" name="Text 12"/>
          <p:cNvSpPr/>
          <p:nvPr/>
        </p:nvSpPr>
        <p:spPr>
          <a:xfrm>
            <a:off x="155448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6" name="Shape 13"/>
          <p:cNvSpPr/>
          <p:nvPr/>
        </p:nvSpPr>
        <p:spPr>
          <a:xfrm>
            <a:off x="4206240" y="2139696"/>
            <a:ext cx="2468880" cy="548640"/>
          </a:xfrm>
          <a:prstGeom prst="roundRect">
            <a:avLst>
              <a:gd name="adj" fmla="val 23333"/>
            </a:avLst>
          </a:prstGeom>
          <a:solidFill>
            <a:srgbClr val="EAF5F3"/>
          </a:solidFill>
          <a:ln w="12700">
            <a:solidFill>
              <a:srgbClr val="EAF5F3"/>
            </a:solidFill>
            <a:prstDash val="solid"/>
          </a:ln>
        </p:spPr>
      </p:sp>
      <p:sp>
        <p:nvSpPr>
          <p:cNvPr id="17" name="Text 14"/>
          <p:cNvSpPr/>
          <p:nvPr/>
        </p:nvSpPr>
        <p:spPr>
          <a:xfrm>
            <a:off x="420624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8" name="Text 15"/>
          <p:cNvSpPr/>
          <p:nvPr/>
        </p:nvSpPr>
        <p:spPr>
          <a:xfrm>
            <a:off x="1554480" y="2816352"/>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BLURB, TWO ROUNDS LATER</a:t>
            </a:r>
            <a:endParaRPr lang="en-US" sz="1100" dirty="0"/>
          </a:p>
        </p:txBody>
      </p:sp>
      <p:sp>
        <p:nvSpPr>
          <p:cNvPr id="19" name="Shape 16"/>
          <p:cNvSpPr/>
          <p:nvPr/>
        </p:nvSpPr>
        <p:spPr>
          <a:xfrm>
            <a:off x="1554480" y="3108960"/>
            <a:ext cx="9646920" cy="1874520"/>
          </a:xfrm>
          <a:prstGeom prst="roundRect">
            <a:avLst>
              <a:gd name="adj" fmla="val 5854"/>
            </a:avLst>
          </a:prstGeom>
          <a:solidFill>
            <a:srgbClr val="F7F5F0"/>
          </a:solidFill>
          <a:ln w="12700">
            <a:solidFill>
              <a:srgbClr val="F7F5F0"/>
            </a:solidFill>
            <a:prstDash val="solid"/>
          </a:ln>
        </p:spPr>
      </p:sp>
      <p:sp>
        <p:nvSpPr>
          <p:cNvPr id="20" name="Text 17"/>
          <p:cNvSpPr/>
          <p:nvPr/>
        </p:nvSpPr>
        <p:spPr>
          <a:xfrm>
            <a:off x="1783080" y="3182112"/>
            <a:ext cx="9189720" cy="1719072"/>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all week, 8:00 to 3:00. Happy reading!”</a:t>
            </a:r>
            <a:endParaRPr lang="en-US" sz="1900" dirty="0"/>
          </a:p>
        </p:txBody>
      </p:sp>
      <p:sp>
        <p:nvSpPr>
          <p:cNvPr id="21" name="Text 18"/>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It finally sounds like her: two rounds of pushback, about forty seconds of typing.</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THE READ-THROUGH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she caught</a:t>
            </a:r>
            <a:endParaRPr lang="en-US" sz="3200" dirty="0"/>
          </a:p>
        </p:txBody>
      </p:sp>
      <p:sp>
        <p:nvSpPr>
          <p:cNvPr id="7" name="Shape 4"/>
          <p:cNvSpPr/>
          <p:nvPr/>
        </p:nvSpPr>
        <p:spPr>
          <a:xfrm>
            <a:off x="640080" y="1298448"/>
            <a:ext cx="10972800" cy="1481328"/>
          </a:xfrm>
          <a:prstGeom prst="roundRect">
            <a:avLst>
              <a:gd name="adj" fmla="val 5556"/>
            </a:avLst>
          </a:prstGeom>
          <a:solidFill>
            <a:srgbClr val="FBEFED"/>
          </a:solidFill>
          <a:ln w="12700">
            <a:solidFill>
              <a:srgbClr val="FBEFED"/>
            </a:solidFill>
            <a:prstDash val="solid"/>
          </a:ln>
        </p:spPr>
      </p:sp>
      <p:sp>
        <p:nvSpPr>
          <p:cNvPr id="8" name="Text 5"/>
          <p:cNvSpPr/>
          <p:nvPr/>
        </p:nvSpPr>
        <p:spPr>
          <a:xfrm>
            <a:off x="960120" y="1389888"/>
            <a:ext cx="10332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CAUGHT ON THE READ-THROUGH · SHE NEVER TYPED A SCHEDULE</a:t>
            </a:r>
            <a:endParaRPr lang="en-US" sz="1150" dirty="0"/>
          </a:p>
        </p:txBody>
      </p:sp>
      <p:sp>
        <p:nvSpPr>
          <p:cNvPr id="9" name="Text 6"/>
          <p:cNvSpPr/>
          <p:nvPr/>
        </p:nvSpPr>
        <p:spPr>
          <a:xfrm>
            <a:off x="960120" y="1691640"/>
            <a:ext cx="10332720" cy="10058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Both drafts said the fair “runs all week, 8:00 to 3:00.” That was in neither her prompt nor the real flyer: the fair runs Tuesday and Thursday, 3:00 to 6:30, so working families can come after school. The intern filled a gap with something plausible, and it survived two rounds of pushback.</a:t>
            </a:r>
            <a:endParaRPr lang="en-US" sz="1650" dirty="0"/>
          </a:p>
        </p:txBody>
      </p:sp>
      <p:sp>
        <p:nvSpPr>
          <p:cNvPr id="10" name="Shape 7"/>
          <p:cNvSpPr/>
          <p:nvPr/>
        </p:nvSpPr>
        <p:spPr>
          <a:xfrm>
            <a:off x="640080" y="2971800"/>
            <a:ext cx="10972800" cy="2514600"/>
          </a:xfrm>
          <a:prstGeom prst="roundRect">
            <a:avLst>
              <a:gd name="adj" fmla="val 3636"/>
            </a:avLst>
          </a:prstGeom>
          <a:solidFill>
            <a:srgbClr val="FFFFFF"/>
          </a:solidFill>
          <a:ln w="19050">
            <a:solidFill>
              <a:srgbClr val="DCE3EA"/>
            </a:solidFill>
            <a:prstDash val="solid"/>
          </a:ln>
        </p:spPr>
      </p:sp>
      <p:sp>
        <p:nvSpPr>
          <p:cNvPr id="11" name="Shape 8"/>
          <p:cNvSpPr/>
          <p:nvPr/>
        </p:nvSpPr>
        <p:spPr>
          <a:xfrm>
            <a:off x="640080" y="2971800"/>
            <a:ext cx="10972800" cy="384048"/>
          </a:xfrm>
          <a:prstGeom prst="roundRect">
            <a:avLst>
              <a:gd name="adj" fmla="val 23810"/>
            </a:avLst>
          </a:prstGeom>
          <a:solidFill>
            <a:srgbClr val="13293D"/>
          </a:solidFill>
          <a:ln w="12700">
            <a:solidFill>
              <a:srgbClr val="13293D"/>
            </a:solidFill>
            <a:prstDash val="solid"/>
          </a:ln>
        </p:spPr>
      </p:sp>
      <p:sp>
        <p:nvSpPr>
          <p:cNvPr id="12" name="Shape 9"/>
          <p:cNvSpPr/>
          <p:nvPr/>
        </p:nvSpPr>
        <p:spPr>
          <a:xfrm>
            <a:off x="868680" y="3090672"/>
            <a:ext cx="146304" cy="146304"/>
          </a:xfrm>
          <a:prstGeom prst="ellipse">
            <a:avLst/>
          </a:prstGeom>
          <a:solidFill>
            <a:srgbClr val="E8837A"/>
          </a:solidFill>
          <a:ln w="12700">
            <a:solidFill>
              <a:srgbClr val="E8837A"/>
            </a:solidFill>
            <a:prstDash val="solid"/>
          </a:ln>
        </p:spPr>
      </p:sp>
      <p:sp>
        <p:nvSpPr>
          <p:cNvPr id="13" name="Shape 10"/>
          <p:cNvSpPr/>
          <p:nvPr/>
        </p:nvSpPr>
        <p:spPr>
          <a:xfrm>
            <a:off x="1115568" y="3090672"/>
            <a:ext cx="146304" cy="146304"/>
          </a:xfrm>
          <a:prstGeom prst="ellipse">
            <a:avLst/>
          </a:prstGeom>
          <a:solidFill>
            <a:srgbClr val="F4A825"/>
          </a:solidFill>
          <a:ln w="12700">
            <a:solidFill>
              <a:srgbClr val="F4A825"/>
            </a:solidFill>
            <a:prstDash val="solid"/>
          </a:ln>
        </p:spPr>
      </p:sp>
      <p:sp>
        <p:nvSpPr>
          <p:cNvPr id="14" name="Shape 11"/>
          <p:cNvSpPr/>
          <p:nvPr/>
        </p:nvSpPr>
        <p:spPr>
          <a:xfrm>
            <a:off x="1362456" y="3090672"/>
            <a:ext cx="146304" cy="146304"/>
          </a:xfrm>
          <a:prstGeom prst="ellipse">
            <a:avLst/>
          </a:prstGeom>
          <a:solidFill>
            <a:srgbClr val="2E7D5B"/>
          </a:solidFill>
          <a:ln w="12700">
            <a:solidFill>
              <a:srgbClr val="2E7D5B"/>
            </a:solidFill>
            <a:prstDash val="solid"/>
          </a:ln>
        </p:spPr>
      </p:sp>
      <p:sp>
        <p:nvSpPr>
          <p:cNvPr id="15" name="Text 12"/>
          <p:cNvSpPr/>
          <p:nvPr/>
        </p:nvSpPr>
        <p:spPr>
          <a:xfrm>
            <a:off x="1783080" y="2971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6" name="Text 13"/>
          <p:cNvSpPr/>
          <p:nvPr/>
        </p:nvSpPr>
        <p:spPr>
          <a:xfrm>
            <a:off x="1554480" y="3429000"/>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17" name="Shape 14"/>
          <p:cNvSpPr/>
          <p:nvPr/>
        </p:nvSpPr>
        <p:spPr>
          <a:xfrm>
            <a:off x="1554480" y="3730752"/>
            <a:ext cx="9646920" cy="1572768"/>
          </a:xfrm>
          <a:prstGeom prst="roundRect">
            <a:avLst>
              <a:gd name="adj" fmla="val 6977"/>
            </a:avLst>
          </a:prstGeom>
          <a:solidFill>
            <a:srgbClr val="F7F5F0"/>
          </a:solidFill>
          <a:ln w="12700">
            <a:solidFill>
              <a:srgbClr val="F7F5F0"/>
            </a:solidFill>
            <a:prstDash val="solid"/>
          </a:ln>
        </p:spPr>
      </p:sp>
      <p:sp>
        <p:nvSpPr>
          <p:cNvPr id="18" name="Text 15"/>
          <p:cNvSpPr/>
          <p:nvPr/>
        </p:nvSpPr>
        <p:spPr>
          <a:xfrm>
            <a:off x="1783080" y="3794760"/>
            <a:ext cx="9189720" cy="1426464"/>
          </a:xfrm>
          <a:prstGeom prst="rect">
            <a:avLst/>
          </a:prstGeom>
          <a:noFill/>
          <a:ln/>
        </p:spPr>
        <p:txBody>
          <a:bodyPr wrap="square" lIns="0" tIns="0" rIns="0" bIns="0" rtlCol="0" anchor="ctr"/>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Tuesday and Thursday, 3:00 to 6:30, so you can come together after school. Happy reading!”</a:t>
            </a:r>
            <a:endParaRPr lang="en-US" sz="1800" dirty="0"/>
          </a:p>
        </p:txBody>
      </p:sp>
      <p:sp>
        <p:nvSpPr>
          <p:cNvPr id="19" name="Text 16"/>
          <p:cNvSpPr/>
          <p:nvPr/>
        </p:nvSpPr>
        <p:spPr>
          <a:xfrm>
            <a:off x="640080" y="5650992"/>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Nothing left in it she didn’t verify. That read-through has your name on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Honest limits: the risks are real</a:t>
            </a:r>
            <a:endParaRPr lang="en-US" sz="28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certificate at the end.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34</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2026-08-15T14:07:22Z</dcterms:created>
  <dcterms:modified xsi:type="dcterms:W3CDTF">2026-08-15T14:07:22Z</dcterms:modified>
</cp:coreProperties>
</file>