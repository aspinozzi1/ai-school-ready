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this slide up as people arrive. Start on time. Script: "Welcome, everyone…" — the full word-for-word text is in the Facilitator Script, keyed to every slide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promises: not a sales pitch (skeptics are important here), not a scare session. Position: AI is a tool — it can take the robotic parts of the job, never the human parts. FOUNDER STORY (Katelyn) lands after this slide — see script.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 show of hands first: who has used ChatGPT or similar at least once? Sources: RAND RR-A134-25 (25% in 2023-24), RAND RR-A4180-1 (53% of ELA/math/science teachers in 2024-25), Gallup-Walton 2025 (60%), Pew 2026 (54% of teens). All in the References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 point (Darling-Hammond et al., Learning Policy Institute 2017): PD changes practice when it includes active learning and sustained follow-up — hence the lab and the 30-day plan. "This isn’t a one-and-done."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plain: typing into ChatGPT/Claude/Gemini/Copilot is not looking up facts. The tool predicts likely next words. That one fact explains both the brilliance and the failures.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Linardon et al., JMIR Mental Health (2025) — GPT-4o literature-review test. This is called hallucination and it is a side effect of prediction, not a bug about to be fixed. If asked "why use it at all?": most classroom uses aren’t factual lookup — they’re drafting and reformatting, where you are the fact-checker by definition.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intern only works because there is a professional in charge — that’s you. This five-word posture is the spine of the entire curriculum: AI drafts, the teacher decides.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categories cover most of what staff will actually do this year. The time-savings stat is Gallup–Walton 2025: weekly users save about 5.9 hours/week — roughly six weeks a year.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session’s first explicit "human moment." Land it plainly and move on — the founder story on slide 25 will echo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down. Read the rule off the screen, then pause a full three seconds. This is the most important slide of the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obvious things — then widen it: anything from a record or about a specific child stays out of the chat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"even in a private chat that I delete?" — yes. Deleting your view doesn’t recall what the company received. The rule works because it has no exceptions to remember at 9pm on a Sunday.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FERPA (federal law); Future of Privacy Forum vetting guidance (2024) on open-chat-box oversharing. Keep the not-legal-advice line verbatim.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distinction keeps the rule accurate without weakening it. If your district has already approved a tool with a data agreement, name it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slide — quick. The de-identification skill on the next slides is what makes the rule cost nothing in practice.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unsafe version pastes a full student record — name, family, academics, behavior — into a stranger’s text box. The safe version gets the same email; the AI needed the situation, never the child. Add the name after it’s back in your own email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the safe version is also the better prompt — more specific about what you actually want. Safer and more useful is the usual trade.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just watched all three moves in the safe swaps. Ten seconds of habit; automatic within a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 unsafe (initials + IEP contents). B safe. C unsafe — no name, but "the student who just moved here from Ukraine" identifies a child; fix: "a student who recently arrived from another country and is learning English." D safe — aggregate, no identities. Prompt C splits the room on purpose; resolve with the slide-12 test. 3 minutes, brisk.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Energy up — this is the moment the session exists for. Announce the tool by name. Pairs formed inside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Circulate. Stuck pairs → option A, it works for every role. Deputize power users to float. LOCAL EXAMPLE (Adam): add an Option D from the shop — a real CTE prompt in your own words; see the script’s marked slot.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45-minute version: skip this task, go straight to the debrief. This is the move that separates people who get real value from people who quit in a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room saw an AI mistake, spotlight it warmly — best possible outcome of the lab. Take 3–4 voices, a minute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 one governed what goes INTO the tool; this governs what comes OUT. Source: U.S. Dept. of Education OET (2023), "humans in the loop."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Nobody selling AI leads with these. Naming them is what earns the room’s trust. FOUNDER STORY (Adam — the shop, hands-on judgment) and YOUR TAKE (which risk worries you most) land here — see the script’s marked slots.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 facts: OpenAI terms — 13+ minimum, under-18 parental permission. Park student-cheating debates here explicitly: "That’s Kit 5 — today is about our use."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all three, then ask for a visible nod or thumbs-up. It matters that this is agreed, not just heard. These commitments are the school’s interim stance until a formal policy exists (Kit 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First 48 Hours sheet as you talk. Research basis for follow-through: Darling-Hammond et al. (2017) — sustained duration and active use are what make PD stick.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up: Kit 2 — Prompting Basics: consistently useful results instead of occasionally lucky ones. Certificate language is exactly "Certificate of Completion" — check with your district whether it qualifies for local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Distribute exit tickets; collect at the door — they are the school’s PD documentation. Your worries steer what we do next. Thanks, everyone.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9692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65960" y="960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· AI FOUNDATIONS · KIT 1 OF 20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Foundations &amp; Safety:</a:t>
            </a:r>
            <a:endParaRPr lang="en-US" sz="4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Hard Rule</a:t>
            </a:r>
            <a:endParaRPr lang="en-US" sz="4700" dirty="0"/>
          </a:p>
        </p:txBody>
      </p:sp>
      <p:sp>
        <p:nvSpPr>
          <p:cNvPr id="6" name="Text 3"/>
          <p:cNvSpPr/>
          <p:nvPr/>
        </p:nvSpPr>
        <p:spPr>
          <a:xfrm>
            <a:off x="822960" y="49834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45–60 minute working session for the whole staff — with 15 minutes hands-on.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Adam &amp; Katelyn Spinozzi — certified educators, 20+ combined years in the classroom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PROMISES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today is — and isn’t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session is NOT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2331720"/>
            <a:ext cx="4846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sales pitch for AI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scare session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prediction that robots replace teachers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263640" y="150876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IS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83680" y="2331720"/>
            <a:ext cx="4846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clear picture of what these tools actually are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rule that keeps you and your students safe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minutes of actually using AI, hands-on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NOW — THREE NUMBERS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moved faster than any school technology before it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828800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25%</a:t>
            </a:r>
            <a:pPr algn="ctr" indent="0" marL="0">
              <a:buNone/>
            </a:pPr>
            <a:r>
              <a:rPr lang="en-US" sz="4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→ </a:t>
            </a:r>
            <a:pPr algn="ctr" indent="0" marL="0">
              <a:buNone/>
            </a:pPr>
            <a:r>
              <a:rPr lang="en-US" sz="4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53%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640080" y="3246120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Teachers using AI for work —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2023–24 vs. 2024–25 (RAND)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343400" y="160020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343400" y="1828800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60%</a:t>
            </a:r>
            <a:endParaRPr lang="en-US" sz="6400" dirty="0"/>
          </a:p>
        </p:txBody>
      </p:sp>
      <p:sp>
        <p:nvSpPr>
          <p:cNvPr id="12" name="Text 9"/>
          <p:cNvSpPr/>
          <p:nvPr/>
        </p:nvSpPr>
        <p:spPr>
          <a:xfrm>
            <a:off x="4343400" y="3246120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teachers used AI during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2024–25 school year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(Gallup &amp; Walton Family Fdn.)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046720" y="160020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0" y="1828800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54%</a:t>
            </a:r>
            <a:endParaRPr lang="en-US" sz="6400" dirty="0"/>
          </a:p>
        </p:txBody>
      </p:sp>
      <p:sp>
        <p:nvSpPr>
          <p:cNvPr id="15" name="Text 12"/>
          <p:cNvSpPr/>
          <p:nvPr/>
        </p:nvSpPr>
        <p:spPr>
          <a:xfrm>
            <a:off x="8046720" y="3246120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U.S. teens already use AI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schoolwork (Pew, 2026)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40080" y="525780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Whatever we decide in this room, AI is already in our building.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AHEAD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 — and one promise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822960" y="14173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0:00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920240" y="141732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 &amp; why now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22960" y="2039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0:04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920240" y="2039112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AI actually is (no jargon)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22960" y="2660904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0:12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920240" y="2660904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Hard Rule — student privacy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22960" y="3282696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0:22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920240" y="3282696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 practice: rewriting risky prompts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822960" y="390448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0:30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920240" y="3904488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lab — you type, in pairs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22960" y="4526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0:45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920240" y="452628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Staying human · our three commitments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822960" y="51480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0:52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920240" y="5148072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48 hours &amp; exit ticket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9144000" y="2103120"/>
            <a:ext cx="2514600" cy="2651760"/>
          </a:xfrm>
          <a:prstGeom prst="roundRect">
            <a:avLst>
              <a:gd name="adj" fmla="val 3273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372600" y="233172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promise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9372600" y="2743200"/>
            <a:ext cx="2057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will actually use an AI tool today — and leave with something for tomorrow morning.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DEMYSTIFYING THE THING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chatbot actually does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10972800" cy="2011680"/>
          </a:xfrm>
          <a:prstGeom prst="roundRect">
            <a:avLst>
              <a:gd name="adj" fmla="val 4091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78308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predicts likely next words.</a:t>
            </a:r>
            <a:pPr indent="0" marL="0">
              <a:buNone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Not a database. Not a search engine. A very sophisticated pattern-continuation machine, trained on enormous amounts of text.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40080" y="3886200"/>
            <a:ext cx="10908792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the writing sounds so fluent — fluent is what it was trained to produce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can be smoothly, confidently wrong — it continues patterns; it doesn’t check facts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fact that explains almost everything you’ll ever see AI do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PEER-REVIEWED EVIDENCE, NOT FOLKLORE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can be confidently wrong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212080" cy="4114800"/>
          </a:xfrm>
          <a:prstGeom prst="roundRect">
            <a:avLst>
              <a:gd name="adj" fmla="val 2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96596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19.9%</a:t>
            </a:r>
            <a:endParaRPr lang="en-US" sz="6600" dirty="0"/>
          </a:p>
        </p:txBody>
      </p:sp>
      <p:sp>
        <p:nvSpPr>
          <p:cNvPr id="9" name="Text 6"/>
          <p:cNvSpPr/>
          <p:nvPr/>
        </p:nvSpPr>
        <p:spPr>
          <a:xfrm>
            <a:off x="1005840" y="32461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citations produced by a leading AI model in a 2025 test were entirely fabricated — the papers did not exist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080760" y="1554480"/>
            <a:ext cx="5212080" cy="4114800"/>
          </a:xfrm>
          <a:prstGeom prst="roundRect">
            <a:avLst>
              <a:gd name="adj" fmla="val 2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80760" y="196596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45.4%</a:t>
            </a:r>
            <a:endParaRPr lang="en-US" sz="6600" dirty="0"/>
          </a:p>
        </p:txBody>
      </p:sp>
      <p:sp>
        <p:nvSpPr>
          <p:cNvPr id="12" name="Text 9"/>
          <p:cNvSpPr/>
          <p:nvPr/>
        </p:nvSpPr>
        <p:spPr>
          <a:xfrm>
            <a:off x="6446520" y="32461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the real citations still contained errors — and every one of them looked perfect on the page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habit that follows: verify anything factual before you rely on it.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MENTAL MODEL FOR THE WHOLE SERIES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5544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is an eager intern.</a:t>
            </a:r>
            <a:endParaRPr lang="en-US" sz="4500" dirty="0"/>
          </a:p>
        </p:txBody>
      </p:sp>
      <p:sp>
        <p:nvSpPr>
          <p:cNvPr id="7" name="Text 4"/>
          <p:cNvSpPr/>
          <p:nvPr/>
        </p:nvSpPr>
        <p:spPr>
          <a:xfrm>
            <a:off x="640080" y="2743200"/>
            <a:ext cx="1090879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Fast, tireless, surprisingly capable, desperate to please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Will make things up rather than admit it doesn’t know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meets your students unsupervised, never sends unread work home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drafts. The teacher decides.</a:t>
            </a:r>
            <a:endParaRPr lang="en-US" sz="3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INTERN EARNS ITS KEEP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it’s genuinely good at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2763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drafts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14400" y="208483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Parent newsletters, routine emails, letters home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162763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Differentiation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37960" y="208483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passage → three reading levels in a minute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40080" y="324612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341071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Assessment scaffolds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914400" y="386791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notes → rubrics, word banks, question sets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263640" y="324612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37960" y="341071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Reformatting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537960" y="386791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content as a quiz, a table, station cards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40080" y="5166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Teachers who use AI weekly report saving ~5.9 hours a week — the paperwork part of the job, not the teaching part. (Gallup &amp; Walton Family Foundation, 2025)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PURPOSE, FOREVER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can’t do — at any price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students — that this class shuts down after lunch, that this kid needs a win today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its own facts — that’s you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Care — it produces text, not judgment, and not relationships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206240"/>
            <a:ext cx="10972800" cy="1554480"/>
          </a:xfrm>
          <a:prstGeom prst="roundRect">
            <a:avLst>
              <a:gd name="adj" fmla="val 5294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38912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on this slide is your job on purpose. The tool buys back time FOR this list — it never takes this list away.</a:t>
            </a:r>
            <a:endParaRPr lang="en-US" sz="2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40080" y="1234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4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HARD RULE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14400" y="1965960"/>
            <a:ext cx="10332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put student personally identifiable information into a public AI tool.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914400" y="43434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name. Not a detail that could identify a child. Ever.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463040" y="5257800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other AI choice is a judgment call you’re qualified to make. This one isn’t a judgment call. It’s the line.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RULE, MADE CONCRETE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counts as student PII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records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2240280"/>
            <a:ext cx="48463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Names, initials, photos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ID numbers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Grades &amp; test scores tied to a student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IEP / 504 contents &amp; accommodations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 a child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83680" y="2240280"/>
            <a:ext cx="48463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Discipline history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 or diagnosis information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Family details, addresses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about an identifiable student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WELL-MEANING PEOPLE SLIP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sneaky ones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676656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27048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"J.M. in my 3rd period with the anxiety diagnosis"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635240" y="152704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Initials + context = identifiable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40080" y="2651760"/>
            <a:ext cx="676656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2761488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"The only 7th grader who uses a wheelchair"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7635240" y="276148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One-of-a-kind details identify without a name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40080" y="3886200"/>
            <a:ext cx="676656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3995928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"The new student who just arrived from Ukraine"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7635240" y="399592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Rare circumstance = identifiable in your school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40080" y="525780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60120" y="534924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test: could anyone who knows our school figure out who this is?  If yes — it doesn’t go in.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LEGAL REASON, ONE PRACTICAL REASON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the rule exists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94960" cy="4114800"/>
          </a:xfrm>
          <a:prstGeom prst="roundRect">
            <a:avLst>
              <a:gd name="adj" fmla="val 2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Legal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219456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FERPA protects student education records — and schools answer for how record information is shared. A public AI tool is a third party with no agreement with our district. Where typed data goes depends on terms of service that change without asking us.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94960" cy="4114800"/>
          </a:xfrm>
          <a:prstGeom prst="roundRect">
            <a:avLst>
              <a:gd name="adj" fmla="val 2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Practical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83680" y="219456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open chat box makes oversharing effortless — privacy researchers flag exactly this. And nobody in this room wants to be the example in the district’s cautionary email. One rule, followed always, means that’s never you.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40080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Educators sharing safe practice — not legal advice. District-specific questions go to the district office.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THE RULE DOESN’T OVERREACH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“Public tool” vs. district-approved tool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 tool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219456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you signed up for yourself — free ChatGPT, Claude, Gemini, personal accounts.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Hard Rule applies. Always.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District-approved tool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83680" y="219456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Vetted by the district, with a signed student-data agreement.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we adopt one, you’ll be told explicitly what changes. Until you’re told: every tool is a public tool.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NOW THE GOOD NEWS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rule barely costs you anything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645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Almost everything AI is useful for doesn’t need student identities at all.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40080" y="2651760"/>
            <a:ext cx="10972800" cy="2194560"/>
          </a:xfrm>
          <a:prstGeom prst="roundRect">
            <a:avLst>
              <a:gd name="adj" fmla="val 375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05840" y="2926080"/>
            <a:ext cx="10241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26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need:  </a:t>
            </a:r>
            <a:pPr indent="0" marL="0">
              <a:lnSpc>
                <a:spcPct val="140000"/>
              </a:lnSpc>
              <a:buNone/>
            </a:pPr>
            <a:r>
              <a:rPr lang="en-US" sz="2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 4th grader reading below grade level”
</a:t>
            </a:r>
            <a:pPr indent="0" marL="0">
              <a:lnSpc>
                <a:spcPct val="140000"/>
              </a:lnSpc>
              <a:buNone/>
            </a:pPr>
            <a:r>
              <a:rPr lang="en-US" sz="26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never need:  </a:t>
            </a:r>
            <a:pPr indent="0" marL="0">
              <a:lnSpc>
                <a:spcPct val="140000"/>
              </a:lnSpc>
              <a:buNone/>
            </a:pPr>
            <a:r>
              <a:rPr lang="en-US" sz="2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“Marcus Chen”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brings us to the ten-second skill that makes this automatic →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EMAIL, ZERO RISK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 swap #1 — the parent email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1965960"/>
          </a:xfrm>
          <a:prstGeom prst="roundRect">
            <a:avLst>
              <a:gd name="adj" fmla="val 4186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276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UNSAFE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96596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an email to Jayden Miller’s mom about his three missing assignments and his outburst in class Tuesday.”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640080" y="3657600"/>
            <a:ext cx="10972800" cy="2148840"/>
          </a:xfrm>
          <a:prstGeom prst="roundRect">
            <a:avLst>
              <a:gd name="adj" fmla="val 383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8221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416052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warm, professional email to a parent about a middle schooler with several missing assignments and a recent difficult day in class. Firm but supportive; end by inviting a conversation.”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SAFER IS ALSO JUST A BETTER PROMPT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 swap #2 — differentiation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1828800"/>
          </a:xfrm>
          <a:prstGeom prst="roundRect">
            <a:avLst>
              <a:gd name="adj" fmla="val 45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276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UNSAFE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96596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“Rewrite this passage for Sofia R., who has a reading IEP with a 2nd-grade fluency goal.”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640080" y="3520440"/>
            <a:ext cx="10972800" cy="1965960"/>
          </a:xfrm>
          <a:prstGeom prst="roundRect">
            <a:avLst>
              <a:gd name="adj" fmla="val 4186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685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402336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“Rewrite this passage at a 2nd-grade reading level, same key ideas, shorter sentences, and add a five-word picture-supported vocabulary list.”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640080" y="57150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never needed the diagnosis — it needed the reading level and the format.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 SECONDS, THEN IT’S AUTOMATIC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De-identify like a pro — the 3 moves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38528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938528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" y="29718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Strip identity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868680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names, no initials, no one-of-a-kind details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407408" y="155448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705856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705856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4636008" y="29718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Generalize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4636008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 7th grader” · “several students” · “a parent”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174736" y="155448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473184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473184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8403336" y="29718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Describe the need, not the child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8403336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level, behavior pattern, scaffold you want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school prompt you ever write passes through these three moves.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CALL IT OUT — SAFE OR UNSAFE?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try — spot the problem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685800" cy="86868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41732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463040" y="1417320"/>
            <a:ext cx="1014984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737360" y="1472184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note home about D.T.’s IEP accommodations for the field trip.”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2496312"/>
            <a:ext cx="685800" cy="86868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2496312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2600" dirty="0"/>
          </a:p>
        </p:txBody>
      </p:sp>
      <p:sp>
        <p:nvSpPr>
          <p:cNvPr id="13" name="Shape 10"/>
          <p:cNvSpPr/>
          <p:nvPr/>
        </p:nvSpPr>
        <p:spPr>
          <a:xfrm>
            <a:off x="1463040" y="2496312"/>
            <a:ext cx="1014984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737360" y="2551176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“Create a behavior-reflection sheet for elementary students, friendly tone.”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40080" y="3575304"/>
            <a:ext cx="685800" cy="86868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3575304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2600" dirty="0"/>
          </a:p>
        </p:txBody>
      </p:sp>
      <p:sp>
        <p:nvSpPr>
          <p:cNvPr id="17" name="Shape 14"/>
          <p:cNvSpPr/>
          <p:nvPr/>
        </p:nvSpPr>
        <p:spPr>
          <a:xfrm>
            <a:off x="1463040" y="3575304"/>
            <a:ext cx="1014984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737360" y="363016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“Help me write a welcome plan for the student who just moved here from Ukraine.”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640080" y="4654296"/>
            <a:ext cx="685800" cy="86868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" y="4654296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</a:t>
            </a:r>
            <a:endParaRPr lang="en-US" sz="2600" dirty="0"/>
          </a:p>
        </p:txBody>
      </p:sp>
      <p:sp>
        <p:nvSpPr>
          <p:cNvPr id="21" name="Shape 18"/>
          <p:cNvSpPr/>
          <p:nvPr/>
        </p:nvSpPr>
        <p:spPr>
          <a:xfrm>
            <a:off x="1463040" y="4654296"/>
            <a:ext cx="1014984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737360" y="470916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“Summarize strategies for a class where a third of students read below grade level.”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· 15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time. Devices out.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640080" y="2331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Pair up · one screen per pair · open the tool we’re using today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310896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108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00200" y="306324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information — we practice like we play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822960" y="397764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977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600200" y="393192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has to be good — this is a sandbox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822960" y="484632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846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600200" y="480060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gives you something mediocre — don’t settle</a:t>
            </a:r>
            <a:endParaRPr lang="en-US" sz="2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TASK 1 OF 2 · 6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first useful prompt — pick one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14400" y="1719072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17190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783080" y="15453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FAMILIES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783080" y="1828800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warm, professional newsletter blurb for families about [any upcoming school event], under 120 words.”</a:t>
            </a:r>
            <a:endParaRPr lang="en-US" sz="1650" dirty="0"/>
          </a:p>
        </p:txBody>
      </p:sp>
      <p:sp>
        <p:nvSpPr>
          <p:cNvPr id="12" name="Shape 9"/>
          <p:cNvSpPr/>
          <p:nvPr/>
        </p:nvSpPr>
        <p:spPr>
          <a:xfrm>
            <a:off x="640080" y="283464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14400" y="3136392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31363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783080" y="29626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ASSESSMENT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783080" y="3246120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“Create a five-question review quiz on [any topic you teach], mixed difficulty, with an answer key.”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640080" y="42519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14400" y="4553712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4553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783080" y="437997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DIFFERENTIATION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783080" y="4663440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“Rewrite this paragraph at three different reading levels” — paste any paragraph you already have.</a:t>
            </a:r>
            <a:endParaRPr lang="en-US" sz="1650" dirty="0"/>
          </a:p>
        </p:txBody>
      </p:sp>
      <p:sp>
        <p:nvSpPr>
          <p:cNvPr id="22" name="Text 19"/>
          <p:cNvSpPr/>
          <p:nvPr/>
        </p:nvSpPr>
        <p:spPr>
          <a:xfrm>
            <a:off x="640080" y="57607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whichever is closest to your real job. Type it. Read what comes back.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TASK 2 OF 2 · 6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Now push back — twice, minimum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Don’t accept the first draft. Tell it what’s wrong, like you would an intern: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1097280" y="2148840"/>
            <a:ext cx="10058400" cy="713232"/>
          </a:xfrm>
          <a:prstGeom prst="roundRect">
            <a:avLst>
              <a:gd name="adj" fmla="val 11538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417320" y="2194560"/>
            <a:ext cx="9418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“Warmer.”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1097280" y="3017520"/>
            <a:ext cx="10058400" cy="713232"/>
          </a:xfrm>
          <a:prstGeom prst="roundRect">
            <a:avLst>
              <a:gd name="adj" fmla="val 11538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417320" y="3063240"/>
            <a:ext cx="9418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“Shorter.”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1097280" y="3886200"/>
            <a:ext cx="10058400" cy="713232"/>
          </a:xfrm>
          <a:prstGeom prst="roundRect">
            <a:avLst>
              <a:gd name="adj" fmla="val 11538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417320" y="3931920"/>
            <a:ext cx="9418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 5th grader wouldn’t know three of these words — fix that.”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1097280" y="4754880"/>
            <a:ext cx="10058400" cy="713232"/>
          </a:xfrm>
          <a:prstGeom prst="roundRect">
            <a:avLst>
              <a:gd name="adj" fmla="val 11538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417320" y="4800600"/>
            <a:ext cx="9418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“Make question four harder and add a diagram question.”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640080" y="58064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draft is the intern’s. The third one is yours.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DEBRIEF · 3–4 VOICES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you notice?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surprised you?</a:t>
            </a:r>
            <a:endParaRPr lang="en-US" sz="2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was better than you expected — and what was worse?</a:t>
            </a:r>
            <a:endParaRPr lang="en-US" sz="2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3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anyone catch it being wrong?</a:t>
            </a:r>
            <a:endParaRPr lang="en-US" sz="2300" dirty="0"/>
          </a:p>
        </p:txBody>
      </p:sp>
      <p:sp>
        <p:nvSpPr>
          <p:cNvPr id="8" name="Shape 5"/>
          <p:cNvSpPr/>
          <p:nvPr/>
        </p:nvSpPr>
        <p:spPr>
          <a:xfrm>
            <a:off x="640080" y="3931920"/>
            <a:ext cx="10972800" cy="1828800"/>
          </a:xfrm>
          <a:prstGeom prst="roundRect">
            <a:avLst>
              <a:gd name="adj" fmla="val 4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16052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patterns worth naming:  </a:t>
            </a:r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draft is rarely the good draft — the value shows up when you push back. And everything you just made still needs your eyes: it’s fast, it’s fluent, and it’s unsigned until a professional signs it.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COMPANION HABIT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human stays in charge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10972800" cy="1737360"/>
          </a:xfrm>
          <a:prstGeom prst="roundRect">
            <a:avLst>
              <a:gd name="adj" fmla="val 473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78308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AI-drafted reaches a student or a parent without a human reading it first.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40080" y="3611880"/>
            <a:ext cx="10908792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because it’s usually wrong — because sometimes it is, and your name is on it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Federal guidance says it in three words: keep humans in the loop (U.S. Dept. of Education, 2023)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this building: AI drafts, the teacher decides. Always.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REQUIRES HONESTY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limits — the risks are real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Over-reliance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96112" y="23774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the tool writes everything, your writing muscle atrophies — students’ too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407408" y="155448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Sameness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4663440" y="23774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output has a beige, everyone-sounds-alike quality; your voice is worth protecting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174736" y="155448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30768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Drift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8430768" y="23774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It’s easy to slide from “AI drafts it” to “AI decides it” without noticing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guardrails you learned today exist because these are genuine, not theoretical.</a:t>
            </a:r>
            <a:endParaRPr lang="en-US" sz="1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QUESTION EVERY FACULTY ASKS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about students using it?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Major public chatbots require users to be 13+ — and minors need parent/guardian permission under the terms of service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student use is a real policy question — not a free-for-all, and not banned by default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deserves its own session: that’s Kit 5 — AI &amp; Academic Integrity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29768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48056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Today’s scope is the adults: our use, our privacy practice, our judgment. Get that right and we’re ready to lead students well.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STARTING TODAY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three commitments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868680" y="1920240"/>
            <a:ext cx="777240" cy="7772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920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1920240" y="1783080"/>
            <a:ext cx="9509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personally identifiable information in public AI tools — ever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868680" y="3246120"/>
            <a:ext cx="777240" cy="7772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3246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1920240" y="3108960"/>
            <a:ext cx="9509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human reviews everything AI-drafted before it reaches a student or family</a:t>
            </a:r>
            <a:endParaRPr lang="en-US" sz="2300" dirty="0"/>
          </a:p>
        </p:txBody>
      </p:sp>
      <p:sp>
        <p:nvSpPr>
          <p:cNvPr id="13" name="Shape 10"/>
          <p:cNvSpPr/>
          <p:nvPr/>
        </p:nvSpPr>
        <p:spPr>
          <a:xfrm>
            <a:off x="868680" y="4572000"/>
            <a:ext cx="777240" cy="7772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" y="45720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1920240" y="4434840"/>
            <a:ext cx="9509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we find something that works, we share it</a:t>
            </a:r>
            <a:endParaRPr lang="en-US" sz="2300" dirty="0"/>
          </a:p>
        </p:txBody>
      </p:sp>
      <p:sp>
        <p:nvSpPr>
          <p:cNvPr id="16" name="Text 13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I get a nod on those three?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FRIDAY BECOMES A MEMORY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first 48 hours — three small things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847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2377440" y="160934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one real task with AI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2377440" y="208483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Something already on your to-do list — push back twice, review it, use it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28803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3264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 min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2377440" y="302666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de-identification drill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2377440" y="350215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real prompt, written unsafe then safe, on paper — the rep that builds the habit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40080" y="429768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46817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 min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2377440" y="444398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 one discovery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2377440" y="491947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colleague, one specific thing — a win or a useful failure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40080" y="57607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PD you don’t use within two days mostly evaporates. The action sheet in your hands is the antidote.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OF 8 · TRACK 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series goes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AI Foundations &amp; Safety  ✔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47472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5760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Prompting Basics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30936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Planning &amp; Differentiation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914400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Assessment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4008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Academic Integrity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347472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5760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· Communication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30936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· Workload</a:t>
            </a:r>
            <a:endParaRPr lang="en-US" sz="1450" dirty="0"/>
          </a:p>
        </p:txBody>
      </p:sp>
      <p:sp>
        <p:nvSpPr>
          <p:cNvPr id="21" name="Shape 18"/>
          <p:cNvSpPr/>
          <p:nvPr/>
        </p:nvSpPr>
        <p:spPr>
          <a:xfrm>
            <a:off x="914400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32688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· Your School’s AI Culture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0080" y="420624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0120" y="43891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Finish all eight → the AI-Ready Educator Certificate of Completion.</a:t>
            </a:r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Real documentation of real professional learning. Follow-ups run inside existing PLC time — nothing new to schedule.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30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40080" y="10515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minutes: the exit ticket.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thing you’re taking · one worry you still have · one thing you’ll try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640080" y="2651760"/>
            <a:ext cx="10972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can write a draft.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cannot greet a kid at the door by name,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notice something’s off, and change that kid’s day.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That’s you.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tool for the paperwork — keep the teaching.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teaching. Life-changing tools.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AI-Ready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1 — AI Foundations &amp; Safety: The One Hard Rule</dc:title>
  <dc:subject>PptxGenJS Presentation</dc:subject>
  <dc:creator>Adam &amp; Katelyn Spinozzi</dc:creator>
  <cp:lastModifiedBy>Adam &amp; Katelyn Spinozzi</cp:lastModifiedBy>
  <cp:revision>1</cp:revision>
  <dcterms:created xsi:type="dcterms:W3CDTF">2026-08-07T14:16:59Z</dcterms:created>
  <dcterms:modified xsi:type="dcterms:W3CDTF">2026-08-07T14:16:59Z</dcterms:modified>
</cp:coreProperties>
</file>