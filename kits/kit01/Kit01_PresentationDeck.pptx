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"Welcome, everyone. Today we are doing something a little different: an hour on AI, what it actually is, what it is genuinely useful for in our jobs, and the one rule every one of us needs to follow to use it safely." Have this slide up as people arrive; start on time. The full word-for-word text is in the Facilitator Script, keyed to every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two promises before we start. First, this is not a sales pitch: some of the most important people in this room are the skeptics, and today will give you better reasons for your skepticism, not fewer. Second, this is not a scare session. AI is a tool. It can take over some of the robotic parts of this job, the reformatting, the first drafts, the paperwork. It cannot do the human parts: knowing your kids, building relationships, deciding what good work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numbers explain why we are spending an hour on this. In 2023–24, about one in four U.S. teachers used AI for their work. One year later RAND and Gallup both found it had roughly doubled. And over half of American teens already use AI for schoolwork. Optional show of hands first: who has used ChatGPT or similar at least once? Sources: RAND RR-A134-25, RAND RR-A4180-1, Gallup-Walton 2025, Pew 2026, all in the References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the hour. What these tools actually are, then the one hard rule about student privacy, then you practice telling safe prompts from unsafe ones, then fifteen minutes hands-on, then what we commit to as a school. Research point (Darling-Hammond et al., Learning Policy Institute 2017): PD changes practice when it includes active learning and sustained follow-up, which is why there is a lab and a 30-day plan. This is not a one-and-done.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let us demystify the thing. Three beats in this segment, and by the end you will be able to state for yourself why a confident answer can still be wrong. Keep the pace up here; the payoff is the eager-intern frame at the end of the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when you type into ChatGPT, Claude, Gemini or Copilot, you are not searching a database of facts. These tools were built by reading enormous amounts of text, and what they learned is patterns: given these words, what words are likely to come next. That is the whole trick. It is why the writing sounds so fluent, fluent is exactly what it was trained to produce, and it is why it can be confidently, smoothly wrong: it is not checking facts, it is continuing a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how wrong it can be while sounding right. In a peer-reviewed study, researchers asked a leading AI model to write literature reviews with citations. Nearly twenty percent of the citations were completely made up; the papers did not exist. Of the ones that were real, almost half contained errors. Source: Linardon et al., JMIR Mental Health (2025), the GPT-4o literature-review test. This is called hallucination, and it is a side effect of prediction, not a bug about to be fixed. If asked "why use it at all?": most classroom uses are not factual lookup, they are drafting and reformatting, where you are the fact-checker by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most useful way to hold all this in your head is that AI is an eager intern. Fast, tireless, surprisingly capable, desperate to please, and it will absolutely make things up rather than admit it does not know. You would never let an intern send a parent email unread, grade without review, or meet your students unsupervised. Same intern, same rules. And notice what that makes you: the intern only works because there is a professional in charge. That five-word posture is the spine of the whole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so what is the intern good for? The pattern-matching work. First drafts of parent newsletters and routine emails. One lesson you already like, turned into three reading levels. Your notes, turned into a rubric or a word bank. Reformatting: the same content as a table, a quiz, a station card. In the 2025 Gallup-Walton study, teachers who used AI weekly reported saving nearly six hours a week. That is the paperwork part of the job, not the teaching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what the intern cannot do, at any price. It has never met your students. It does not know that this class shuts down after lunch, that this kid just moved here, that this one will rise to a challenge and that one needs a win today. It cannot verify its own facts. And it does not care; it produces text, not judgment, and not relationships. Everything on this slide is your job on purpose. Land it plainly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everything so far was orientation. This is the part that keeps you safe. "Never put student personally identifiable information into a public AI tool. Not a name. Not a detail that could identify a child. Ever." Read the rule off the screen, then pause a full three seconds. This is the most important slide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so what counts? The obvious things: names, photos, student ID numbers, grades, addresses, family information. But also anything from a record or about a specific child: IEP contents, accommodations, discipline history, health information, test scores attached to a kid. If it is about an identifiable student, it stays out of the chat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where well-meaning people slip. The sneaky ones are not names, they are details that only fit one child. Initials plus context: in a school our size, that is identifiable. Rare details do it too: the only seventh grader who uses a wheelchair, the new student from Ukraine. You did not type a name, but you identified a child. The test is not "did I use a name?" The test is: could anyone who knows our school figure out who this is? If yes, it does not go in. If asked "even in a private chat that I delete?": yes. Deleting your view does not recall what the company received.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two reasons, one legal and one practical. Legal: federal law, FERPA, protects student education records, and schools are responsible for how information from those records is shared. A public AI tool is a third party with no agreement with our district, and where typed data goes depends on terms of service that change without asking us. Practical: privacy researchers, including the Future of Privacy Forum, flag exactly this, an open chat box makes oversharing effortless. And you personally never want to be the example in the district’s cautionary email. Keep the not-legal-advice line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one distinction, so this rule does not overreach. A public AI tool is anything you signed up for yourself: free ChatGPT, Claude, Gemini, your personal accounts. An approved tool is one our district has vetted and signed a data agreement for. If the district formally adopts an education AI platform with student-data protections, that changes what is allowed on that platform, and you will be told explicitly. Until you are told: every tool is a public tool, and the rule applies. If your district has already approved a tool,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now the good news, and it is genuinely good. The rule barely costs you anything, because almost everything AI is useful for does not need student identities at all. You need "a 4th grader reading below grade level," never "Marcus Chen." Which brings us to the skill that makes this easy. Keep this one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 our running example teacher, a composite, and her screen shows what this looks like on your end. The unsafe version pastes a full student record, name, family, academics, behavior, into a stranger’s text box. The safe version gets the same email; the AI needed the situation, never the child. She adds the name after it is back in her own email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again, with planning. Unsafe: "Rewrite this passage for Sofia R., who has a reading IEP with a 2nd-grade fluency goal." Safe: "Rewrite this passage at a 2nd-grade reading level, same key ideas, shorter sentences, and add a five-word picture-supported vocabulary list." Notice the safe version is also just a better prompt: more specific about what you actually want. The AI never needed the diagnosis, it needed the reading level and the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skill has three moves, and you just watched all of them. One, strip identity: no names, no initials, no one-of-a-kind details. Two, generalize: "a 7th grader," "several students," "a parent." Three, describe the need, not the child: reading level, behavior pattern, the scaffold you want. Ten seconds of habit, automatic within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prompts on the screen. For each one, call out safe or unsafe. And if it is unsafe, what is the ten-second fix? Let the room call each one before you confirm on the next slide. Keep the pace brisk: three minutes total. Resolve debates with the test from the initials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read the verdicts off the screen. A is unsafe: initials plus IEP details. B is safe. C is the one that splits the room: no name, but "the student who just moved here from Ukraine" identifies a child in a building our size. D is safe, because it describes a class in aggregate. If debate broke out on C, that is the point landing; the fix is on the bottom strip.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moment the session exists for; everything so far was preparation for you actually typing. Devices out, pair up, one screen per pair. Three ground rules: no student information, we practice like we play; nothing has to be good, this is a sandbox; and when it gives you something mediocre, do not settle. Announce the tool by name. Ms. Rivera builds ONE artifact all the way through on screen: her family newsletter blurb, option A. The next eight slides are her whole arc, in order. Energy up; pairs formed inside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pick whichever prompt is closest to your real job, type it, and read what comes back. Option A works for every role in the building, so point stuck pairs there. Ms. Rivera picks A and fills it in with her fall book fair; her screen is the next two slides, so anyone who feels lost can copy her structure exactly. Circulate. Deputize power users to float. Option D comes from a real carpentry classroom; invite electives staff to swap in their station or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Rivera’s screen, and this is what she typed instead of "write something for the book fair." Read the colors off the slide: who the AI should be (role, teal), the job (task, navy), everything about her room and her families (context, amber), and the shape she wants back (format, green). Nobody has to memorize that today; Kit 2 turns it into a formula. Today it is just a picture: at worst, copy what is on this screen and swap in your own event, and your task 1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seconds later, this comes back. It is polished, it is grammatical, and it sounds like nobody. That beige is what a first draft always sounds like, and it is exactly why task 2 exists. Read the red line out loud and stop there; do not point at the invented hours yet, because catching it is the payoff two slides on. Everyone should have their own draft 1 on screen before you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do not accept the first draft. Tell it what is wrong, like you would an intern: short and blunt, one instruction at a time, because the tool has no feelings and vague feedback gets a vague draft. Two rounds minimum on your own draft 1, right now. Ms. Rivera types the first two on this slide; her screen is two slides on. 45-minute version: skip this task and go straight to the debrief. This is the move that separates people who get real value from people who quit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read the left column aloud. Short and blunt is fine, and it works better than polite and vague, because the tool has no feelings and a vague instruction gets a vague draft. One instruction at a time, two rounds minimum. If a pair is still polite-ing at their screen, this is the slide to point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the same blurb after two pushbacks. Warmer, then shorter, one word at a time, and it finally sounds like a person who knows these families. That took her about forty seconds. Point out that she changed nothing by hand yet; she only told it what was wrong. Then hold the room here: the sentence that matters is still hiding in this draft, and the next slide is where she finds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she sent it, she read it once, slowly, and found the sentence she never typed: the fair "runs all week, 8:00 to 3:00." That was in neither her prompt nor the real flyer. She checked, and the fair actually runs Tuesday and Thursday, 3:00 to 6:30, so working families can come after school. This is the prediction slide happening in a real classroom task: the tool fills a gap with something plausible, and two rounds of pushback will not catch that for you. Tell the room to read their own draft the same way and say "got one" out loud if they find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and this is what actually went home. Read it off the screen, word for word, so everyone sees where the arc lands: a beige first draft, two blunt pushbacks, one invented detail caught on the read-through, and a blurb that sounds like her and is true. That is the whole lab in one paragraph. If a pair is behind, tell them this is what they are working toward.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let us hear it. What surprised you? What was better than you expected, and what was worse? Did anyone catch it being wrong? If the room saw an AI mistake, spotlight it warmly; it is the best possible outcome of the lab. If nobody caught one, point back at Ms. Rivera’s invented book-fair hours. Take three to four voices, a minute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two patterns worth naming out of what you just heard. First, the first draft is rarely the good draft; the value shows up when you push back, which is why the skill is called prompting and not wishing. Second, everything you just made still needs your eyes. It is fast, it is fluent, and it is unsigned until a professional signs it. That is the bridge into the last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rule one was about what goes into the tool. The companion habit is about what comes out: nothing AI-drafted reaches a student or a parent without a human reading it first. Not because it is usually wrong, but because sometimes it is, and because your name is on it. The U.S. Department of Education’s guidance says it in three words: keep humans in the loop. In this building that means AI drafts, the teacher decides. Always.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trust requires honesty, so here are the risks nobody selling AI leads with. Over-reliance is real: if the tool writes everything, your own writing muscle atrophies, and the same goes for our students. Sameness is real: AI output has a beige, everyone-sounds-alike quality, and your voice is worth protecting. And drift is real: it is easy to slide from "AI drafts it" to "AI decides it" without noticing. Naming these is what earns the room’s trust. If you chose to share the founders’ note, their view that over-reliance is the biggest risk lands well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question every faculty asks. Short version for today: the major public chatbots require users to be at least 13, and minors need parent or guardian permission under the terms of service. So student use is a real policy question, not a free-for-all, and not banned by default. It deserves its own session, and that is Kit 5, AI and Academic Integrity. Park student-cheating debates there explicitly. For today, our scope is the adults. Age facts: OpenAI terms, 13+ minimum, under-18 parental permission.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what I am asking us to agree to as a staff, starting today. One: no student personally identifiable information in public AI tools. Ever. Two: a human reviews anything AI-drafted before it reaches a student or family. Three: when we find something that works, we share it; a prompt that saved you an hour belongs in the staff room, not a drawer. Then ask for a visible nod or thumbs-up. It matters that this is agreed, not just heard. These are the school’s interim stance until a formal policy exists (Kit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research on PD is blunt: if you do not use this within two days, most of it evaporates. So this sheet asks for three things, each under fifteen minutes, each using something from today: a real task done with AI, a de-identification rep, and one shared discovery. That is the whole assignment. Tomorrow morning, coffee in hand, pick one. Hold up the First 48 Hours sheet as you talk. Research basis: Darling-Hammond et al. (2017), sustained duration and active use are what make PD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was Kit 1 of eight in the AI Foundations track. Next is Kit 2, Prompting Basics: how to get consistently useful results instead of occasionally lucky ones. Finish all eight and you earn the AI-Ready Educator Certificate of Completion, real documentation of real professional learning. And we keep the momentum in regular PLC time with short follow-ups; nothing new to schedule. Certificate language is exactly "Certificate of Completion"; check with your district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you go, two minutes on the exit ticket. One thing you are taking, one worry you still have, one thing you will try. Your worries steer what we do next, so be honest. Distribute the tickets now and collect them at the door; they are the school’s PD documentation, so actually collect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last word. The tool you used today is going to keep getting better, and none of it changes why any of us took this job. AI can write a draft. It cannot greet a kid at the door by name, notice something is off, and change that kid’s day. That is you. Use the tool for the paperwork. Keep the teaching. Thanks, everyone. After the room empties: collect stray exit tickets and take five minutes with the 30-Day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6E8598"/>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6E8598"/>
                </a:solidFill>
                <a:latin typeface="Inter" pitchFamily="34" charset="0"/>
                <a:ea typeface="Inter" pitchFamily="34" charset="-122"/>
                <a:cs typeface="Inter" pitchFamily="34" charset="-120"/>
              </a:rPr>
              <a:t>1</a:t>
            </a:r>
            <a:endParaRPr lang="en-US" sz="900" dirty="0"/>
          </a:p>
        </p:txBody>
      </p:sp>
      <p:sp>
        <p:nvSpPr>
          <p:cNvPr id="5" name="Shape 2"/>
          <p:cNvSpPr/>
          <p:nvPr/>
        </p:nvSpPr>
        <p:spPr>
          <a:xfrm>
            <a:off x="411480" y="6291072"/>
            <a:ext cx="1024128" cy="91440"/>
          </a:xfrm>
          <a:prstGeom prst="roundRect">
            <a:avLst>
              <a:gd name="adj" fmla="val 50000"/>
            </a:avLst>
          </a:prstGeom>
          <a:solidFill>
            <a:srgbClr val="2A9D8F"/>
          </a:solidFill>
          <a:ln w="12700">
            <a:solidFill>
              <a:srgbClr val="2A9D8F"/>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2A4A63"/>
          </a:solidFill>
          <a:ln w="12700">
            <a:solidFill>
              <a:srgbClr val="2A4A63"/>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2A4A63"/>
          </a:solidFill>
          <a:ln w="12700">
            <a:solidFill>
              <a:srgbClr val="2A4A63"/>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2A4A63"/>
          </a:solidFill>
          <a:ln w="12700">
            <a:solidFill>
              <a:srgbClr val="2A4A63"/>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2A4A63"/>
          </a:solidFill>
          <a:ln w="12700">
            <a:solidFill>
              <a:srgbClr val="2A4A63"/>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2A4A63"/>
          </a:solidFill>
          <a:ln w="12700">
            <a:solidFill>
              <a:srgbClr val="2A4A63"/>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2A4A63"/>
          </a:solidFill>
          <a:ln w="12700">
            <a:solidFill>
              <a:srgbClr val="2A4A63"/>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CLOSE</a:t>
            </a:r>
            <a:endParaRPr lang="en-US" sz="750" dirty="0"/>
          </a:p>
        </p:txBody>
      </p:sp>
      <p:pic>
        <p:nvPicPr>
          <p:cNvPr id="19" name="Image 1" descr="preencoded.png">    </p:cNvPr>
          <p:cNvPicPr>
            <a:picLocks noChangeAspect="1"/>
          </p:cNvPicPr>
          <p:nvPr/>
        </p:nvPicPr>
        <p:blipFill>
          <a:blip r:embed="rId2"/>
          <a:stretch>
            <a:fillRect/>
          </a:stretch>
        </p:blipFill>
        <p:spPr>
          <a:xfrm>
            <a:off x="777240" y="685800"/>
            <a:ext cx="1051560" cy="969264"/>
          </a:xfrm>
          <a:prstGeom prst="rect">
            <a:avLst/>
          </a:prstGeom>
        </p:spPr>
      </p:pic>
      <p:sp>
        <p:nvSpPr>
          <p:cNvPr id="20" name="Text 16"/>
          <p:cNvSpPr/>
          <p:nvPr/>
        </p:nvSpPr>
        <p:spPr>
          <a:xfrm>
            <a:off x="1965960" y="91440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21" name="Text 17"/>
          <p:cNvSpPr/>
          <p:nvPr/>
        </p:nvSpPr>
        <p:spPr>
          <a:xfrm>
            <a:off x="822960" y="260604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1 OF 20</a:t>
            </a:r>
            <a:endParaRPr lang="en-US" sz="1500" dirty="0"/>
          </a:p>
        </p:txBody>
      </p:sp>
      <p:sp>
        <p:nvSpPr>
          <p:cNvPr id="22" name="Text 18"/>
          <p:cNvSpPr/>
          <p:nvPr/>
        </p:nvSpPr>
        <p:spPr>
          <a:xfrm>
            <a:off x="777240" y="2926080"/>
            <a:ext cx="10607040" cy="1828800"/>
          </a:xfrm>
          <a:prstGeom prst="rect">
            <a:avLst/>
          </a:prstGeom>
          <a:noFill/>
          <a:ln/>
        </p:spPr>
        <p:txBody>
          <a:bodyPr wrap="square" lIns="0" tIns="0" rIns="0" bIns="0" rtlCol="0" anchor="ctr"/>
          <a:lstStyle/>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AI Foundations &amp; Safety:</a:t>
            </a:r>
            <a:endParaRPr lang="en-US" sz="4700" dirty="0"/>
          </a:p>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The One Hard Rule</a:t>
            </a:r>
            <a:endParaRPr lang="en-US" sz="4700" dirty="0"/>
          </a:p>
        </p:txBody>
      </p:sp>
      <p:sp>
        <p:nvSpPr>
          <p:cNvPr id="23" name="Text 19"/>
          <p:cNvSpPr/>
          <p:nvPr/>
        </p:nvSpPr>
        <p:spPr>
          <a:xfrm>
            <a:off x="822960" y="4846320"/>
            <a:ext cx="10241280" cy="50292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In the next hour you will use an AI tool with your own hands and learn the one rule that keeps students safe.</a:t>
            </a:r>
            <a:endParaRPr lang="en-US" sz="1800" dirty="0"/>
          </a:p>
        </p:txBody>
      </p:sp>
      <p:sp>
        <p:nvSpPr>
          <p:cNvPr id="24" name="Text 20"/>
          <p:cNvSpPr/>
          <p:nvPr/>
        </p:nvSpPr>
        <p:spPr>
          <a:xfrm>
            <a:off x="822960" y="5532120"/>
            <a:ext cx="1042416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A 45–60 minute working session for the whole staff, with 15 minutes hands-on. Built by Adam &amp; Katelyn Spinozzi · certified educators.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3293D"/>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6E8598"/>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6E8598"/>
                </a:solidFill>
                <a:latin typeface="Inter" pitchFamily="34" charset="0"/>
                <a:ea typeface="Inter" pitchFamily="34" charset="-122"/>
                <a:cs typeface="Inter" pitchFamily="34" charset="-120"/>
              </a:rPr>
              <a:t>2</a:t>
            </a:r>
            <a:endParaRPr lang="en-US" sz="900" dirty="0"/>
          </a:p>
        </p:txBody>
      </p:sp>
      <p:sp>
        <p:nvSpPr>
          <p:cNvPr id="5" name="Shape 2"/>
          <p:cNvSpPr/>
          <p:nvPr/>
        </p:nvSpPr>
        <p:spPr>
          <a:xfrm>
            <a:off x="411480" y="6291072"/>
            <a:ext cx="1024128" cy="91440"/>
          </a:xfrm>
          <a:prstGeom prst="roundRect">
            <a:avLst>
              <a:gd name="adj" fmla="val 50000"/>
            </a:avLst>
          </a:prstGeom>
          <a:solidFill>
            <a:srgbClr val="2A9D8F"/>
          </a:solidFill>
          <a:ln w="12700">
            <a:solidFill>
              <a:srgbClr val="2A9D8F"/>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2A4A63"/>
          </a:solidFill>
          <a:ln w="12700">
            <a:solidFill>
              <a:srgbClr val="2A4A63"/>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2A4A63"/>
          </a:solidFill>
          <a:ln w="12700">
            <a:solidFill>
              <a:srgbClr val="2A4A63"/>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2A4A63"/>
          </a:solidFill>
          <a:ln w="12700">
            <a:solidFill>
              <a:srgbClr val="2A4A63"/>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2A4A63"/>
          </a:solidFill>
          <a:ln w="12700">
            <a:solidFill>
              <a:srgbClr val="2A4A63"/>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2A4A63"/>
          </a:solidFill>
          <a:ln w="12700">
            <a:solidFill>
              <a:srgbClr val="2A4A63"/>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2A4A63"/>
          </a:solidFill>
          <a:ln w="12700">
            <a:solidFill>
              <a:srgbClr val="2A4A63"/>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6E8598"/>
                </a:solidFill>
                <a:latin typeface="Inter" pitchFamily="34" charset="0"/>
                <a:ea typeface="Inter" pitchFamily="34" charset="-122"/>
                <a:cs typeface="Inter" pitchFamily="34" charset="-120"/>
              </a:rPr>
              <a:t>MS. RIVERA  </a:t>
            </a:r>
            <a:pPr algn="r" indent="0" marL="0">
              <a:buNone/>
            </a:pPr>
            <a:r>
              <a:rPr lang="en-US" sz="850" dirty="0">
                <a:solidFill>
                  <a:srgbClr val="9FB2C2"/>
                </a:solidFill>
                <a:latin typeface="Inter" pitchFamily="34" charset="0"/>
                <a:ea typeface="Inter" pitchFamily="34" charset="-122"/>
                <a:cs typeface="Inter" pitchFamily="34" charset="-120"/>
              </a:rPr>
              <a:t>our running example teacher</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F4A825"/>
                </a:solidFill>
                <a:latin typeface="Inter" pitchFamily="34" charset="0"/>
                <a:ea typeface="Inter" pitchFamily="34" charset="-122"/>
                <a:cs typeface="Inter" pitchFamily="34" charset="-120"/>
              </a:rPr>
              <a:t>SEGMENT 1 OF 7  ·  4 MINUTES</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FFFFFF"/>
                </a:solidFill>
                <a:latin typeface="Inter" pitchFamily="34" charset="0"/>
                <a:ea typeface="Inter" pitchFamily="34" charset="-122"/>
                <a:cs typeface="Inter" pitchFamily="34" charset="-120"/>
              </a:rPr>
              <a:t>This hour is not a sales pitch and not a scare session</a:t>
            </a:r>
            <a:endParaRPr lang="en-US" sz="3000" dirty="0"/>
          </a:p>
        </p:txBody>
      </p:sp>
      <p:sp>
        <p:nvSpPr>
          <p:cNvPr id="22" name="Shape 19"/>
          <p:cNvSpPr/>
          <p:nvPr/>
        </p:nvSpPr>
        <p:spPr>
          <a:xfrm>
            <a:off x="548640" y="1828800"/>
            <a:ext cx="5394960" cy="3566160"/>
          </a:xfrm>
          <a:prstGeom prst="roundRect">
            <a:avLst>
              <a:gd name="adj" fmla="val 2564"/>
            </a:avLst>
          </a:prstGeom>
          <a:solidFill>
            <a:srgbClr val="1E3A50"/>
          </a:solidFill>
          <a:ln w="12700">
            <a:solidFill>
              <a:srgbClr val="1E3A50"/>
            </a:solidFill>
            <a:prstDash val="solid"/>
          </a:ln>
        </p:spPr>
      </p:sp>
      <p:sp>
        <p:nvSpPr>
          <p:cNvPr id="23" name="Text 20"/>
          <p:cNvSpPr/>
          <p:nvPr/>
        </p:nvSpPr>
        <p:spPr>
          <a:xfrm>
            <a:off x="868680" y="2057400"/>
            <a:ext cx="4754880" cy="274320"/>
          </a:xfrm>
          <a:prstGeom prst="rect">
            <a:avLst/>
          </a:prstGeom>
          <a:noFill/>
          <a:ln/>
        </p:spPr>
        <p:txBody>
          <a:bodyPr wrap="square" lIns="0" tIns="0" rIns="0" bIns="0" rtlCol="0" anchor="ctr"/>
          <a:lstStyle/>
          <a:p>
            <a:pPr indent="0" marL="0">
              <a:buNone/>
            </a:pPr>
            <a:r>
              <a:rPr lang="en-US" sz="1100" b="1" spc="160" kern="0" dirty="0">
                <a:solidFill>
                  <a:srgbClr val="E8837A"/>
                </a:solidFill>
                <a:latin typeface="Inter" pitchFamily="34" charset="0"/>
                <a:ea typeface="Inter" pitchFamily="34" charset="-122"/>
                <a:cs typeface="Inter" pitchFamily="34" charset="-120"/>
              </a:rPr>
              <a:t>THIS SESSION IS NOT</a:t>
            </a:r>
            <a:endParaRPr lang="en-US" sz="1100" dirty="0"/>
          </a:p>
        </p:txBody>
      </p:sp>
      <p:sp>
        <p:nvSpPr>
          <p:cNvPr id="24" name="Text 21"/>
          <p:cNvSpPr/>
          <p:nvPr/>
        </p:nvSpPr>
        <p:spPr>
          <a:xfrm>
            <a:off x="868680" y="2514600"/>
            <a:ext cx="4754880" cy="822960"/>
          </a:xfrm>
          <a:prstGeom prst="rect">
            <a:avLst/>
          </a:prstGeom>
          <a:noFill/>
          <a:ln/>
        </p:spPr>
        <p:txBody>
          <a:bodyPr wrap="square" lIns="0" tIns="0" rIns="0" bIns="0" rtlCol="0" anchor="t"/>
          <a:lstStyle/>
          <a:p>
            <a:pPr indent="0" marL="0">
              <a:lnSpc>
                <a:spcPct val="110000"/>
              </a:lnSpc>
              <a:buNone/>
            </a:pPr>
            <a:r>
              <a:rPr lang="en-US" sz="1900" dirty="0">
                <a:solidFill>
                  <a:srgbClr val="C9D4DE"/>
                </a:solidFill>
                <a:latin typeface="Inter" pitchFamily="34" charset="0"/>
                <a:ea typeface="Inter" pitchFamily="34" charset="-122"/>
                <a:cs typeface="Inter" pitchFamily="34" charset="-120"/>
              </a:rPr>
              <a:t>A sales pitch for AI</a:t>
            </a:r>
            <a:endParaRPr lang="en-US" sz="1900" dirty="0"/>
          </a:p>
        </p:txBody>
      </p:sp>
      <p:sp>
        <p:nvSpPr>
          <p:cNvPr id="25" name="Text 22"/>
          <p:cNvSpPr/>
          <p:nvPr/>
        </p:nvSpPr>
        <p:spPr>
          <a:xfrm>
            <a:off x="868680" y="3429000"/>
            <a:ext cx="4754880" cy="822960"/>
          </a:xfrm>
          <a:prstGeom prst="rect">
            <a:avLst/>
          </a:prstGeom>
          <a:noFill/>
          <a:ln/>
        </p:spPr>
        <p:txBody>
          <a:bodyPr wrap="square" lIns="0" tIns="0" rIns="0" bIns="0" rtlCol="0" anchor="t"/>
          <a:lstStyle/>
          <a:p>
            <a:pPr indent="0" marL="0">
              <a:lnSpc>
                <a:spcPct val="110000"/>
              </a:lnSpc>
              <a:buNone/>
            </a:pPr>
            <a:r>
              <a:rPr lang="en-US" sz="1900" dirty="0">
                <a:solidFill>
                  <a:srgbClr val="C9D4DE"/>
                </a:solidFill>
                <a:latin typeface="Inter" pitchFamily="34" charset="0"/>
                <a:ea typeface="Inter" pitchFamily="34" charset="-122"/>
                <a:cs typeface="Inter" pitchFamily="34" charset="-120"/>
              </a:rPr>
              <a:t>A scare session</a:t>
            </a:r>
            <a:endParaRPr lang="en-US" sz="1900" dirty="0"/>
          </a:p>
        </p:txBody>
      </p:sp>
      <p:sp>
        <p:nvSpPr>
          <p:cNvPr id="26" name="Text 23"/>
          <p:cNvSpPr/>
          <p:nvPr/>
        </p:nvSpPr>
        <p:spPr>
          <a:xfrm>
            <a:off x="868680" y="4343400"/>
            <a:ext cx="4754880" cy="822960"/>
          </a:xfrm>
          <a:prstGeom prst="rect">
            <a:avLst/>
          </a:prstGeom>
          <a:noFill/>
          <a:ln/>
        </p:spPr>
        <p:txBody>
          <a:bodyPr wrap="square" lIns="0" tIns="0" rIns="0" bIns="0" rtlCol="0" anchor="t"/>
          <a:lstStyle/>
          <a:p>
            <a:pPr indent="0" marL="0">
              <a:lnSpc>
                <a:spcPct val="110000"/>
              </a:lnSpc>
              <a:buNone/>
            </a:pPr>
            <a:r>
              <a:rPr lang="en-US" sz="1900" dirty="0">
                <a:solidFill>
                  <a:srgbClr val="C9D4DE"/>
                </a:solidFill>
                <a:latin typeface="Inter" pitchFamily="34" charset="0"/>
                <a:ea typeface="Inter" pitchFamily="34" charset="-122"/>
                <a:cs typeface="Inter" pitchFamily="34" charset="-120"/>
              </a:rPr>
              <a:t>A prediction that robots replace teachers</a:t>
            </a:r>
            <a:endParaRPr lang="en-US" sz="1900" dirty="0"/>
          </a:p>
        </p:txBody>
      </p:sp>
      <p:sp>
        <p:nvSpPr>
          <p:cNvPr id="27" name="Shape 24"/>
          <p:cNvSpPr/>
          <p:nvPr/>
        </p:nvSpPr>
        <p:spPr>
          <a:xfrm>
            <a:off x="6217920" y="1828800"/>
            <a:ext cx="5394960" cy="3566160"/>
          </a:xfrm>
          <a:prstGeom prst="roundRect">
            <a:avLst>
              <a:gd name="adj" fmla="val 2564"/>
            </a:avLst>
          </a:prstGeom>
          <a:solidFill>
            <a:srgbClr val="1E3A50"/>
          </a:solidFill>
          <a:ln w="12700">
            <a:solidFill>
              <a:srgbClr val="1E3A50"/>
            </a:solidFill>
            <a:prstDash val="solid"/>
          </a:ln>
        </p:spPr>
      </p:sp>
      <p:sp>
        <p:nvSpPr>
          <p:cNvPr id="28" name="Text 25"/>
          <p:cNvSpPr/>
          <p:nvPr/>
        </p:nvSpPr>
        <p:spPr>
          <a:xfrm>
            <a:off x="6537960" y="2057400"/>
            <a:ext cx="4754880" cy="274320"/>
          </a:xfrm>
          <a:prstGeom prst="rect">
            <a:avLst/>
          </a:prstGeom>
          <a:noFill/>
          <a:ln/>
        </p:spPr>
        <p:txBody>
          <a:bodyPr wrap="square" lIns="0" tIns="0" rIns="0" bIns="0" rtlCol="0" anchor="ctr"/>
          <a:lstStyle/>
          <a:p>
            <a:pPr indent="0" marL="0">
              <a:buNone/>
            </a:pPr>
            <a:r>
              <a:rPr lang="en-US" sz="1100" b="1" spc="160" kern="0" dirty="0">
                <a:solidFill>
                  <a:srgbClr val="7FD1BE"/>
                </a:solidFill>
                <a:latin typeface="Inter" pitchFamily="34" charset="0"/>
                <a:ea typeface="Inter" pitchFamily="34" charset="-122"/>
                <a:cs typeface="Inter" pitchFamily="34" charset="-120"/>
              </a:rPr>
              <a:t>IT IS</a:t>
            </a:r>
            <a:endParaRPr lang="en-US" sz="1100" dirty="0"/>
          </a:p>
        </p:txBody>
      </p:sp>
      <p:sp>
        <p:nvSpPr>
          <p:cNvPr id="29" name="Text 26"/>
          <p:cNvSpPr/>
          <p:nvPr/>
        </p:nvSpPr>
        <p:spPr>
          <a:xfrm>
            <a:off x="6537960" y="2514600"/>
            <a:ext cx="4754880" cy="822960"/>
          </a:xfrm>
          <a:prstGeom prst="rect">
            <a:avLst/>
          </a:prstGeom>
          <a:noFill/>
          <a:ln/>
        </p:spPr>
        <p:txBody>
          <a:bodyPr wrap="square" lIns="0" tIns="0" rIns="0" bIns="0" rtlCol="0" anchor="t"/>
          <a:lstStyle/>
          <a:p>
            <a:pPr indent="0" marL="0">
              <a:lnSpc>
                <a:spcPct val="110000"/>
              </a:lnSpc>
              <a:buNone/>
            </a:pPr>
            <a:r>
              <a:rPr lang="en-US" sz="1900" dirty="0">
                <a:solidFill>
                  <a:srgbClr val="FFFFFF"/>
                </a:solidFill>
                <a:latin typeface="Inter" pitchFamily="34" charset="0"/>
                <a:ea typeface="Inter" pitchFamily="34" charset="-122"/>
                <a:cs typeface="Inter" pitchFamily="34" charset="-120"/>
              </a:rPr>
              <a:t>A clear picture of what these tools are</a:t>
            </a:r>
            <a:endParaRPr lang="en-US" sz="1900" dirty="0"/>
          </a:p>
        </p:txBody>
      </p:sp>
      <p:sp>
        <p:nvSpPr>
          <p:cNvPr id="30" name="Text 27"/>
          <p:cNvSpPr/>
          <p:nvPr/>
        </p:nvSpPr>
        <p:spPr>
          <a:xfrm>
            <a:off x="6537960" y="3429000"/>
            <a:ext cx="4754880" cy="822960"/>
          </a:xfrm>
          <a:prstGeom prst="rect">
            <a:avLst/>
          </a:prstGeom>
          <a:noFill/>
          <a:ln/>
        </p:spPr>
        <p:txBody>
          <a:bodyPr wrap="square" lIns="0" tIns="0" rIns="0" bIns="0" rtlCol="0" anchor="t"/>
          <a:lstStyle/>
          <a:p>
            <a:pPr indent="0" marL="0">
              <a:lnSpc>
                <a:spcPct val="110000"/>
              </a:lnSpc>
              <a:buNone/>
            </a:pPr>
            <a:r>
              <a:rPr lang="en-US" sz="1900" dirty="0">
                <a:solidFill>
                  <a:srgbClr val="FFFFFF"/>
                </a:solidFill>
                <a:latin typeface="Inter" pitchFamily="34" charset="0"/>
                <a:ea typeface="Inter" pitchFamily="34" charset="-122"/>
                <a:cs typeface="Inter" pitchFamily="34" charset="-120"/>
              </a:rPr>
              <a:t>The one rule that keeps everyone safe</a:t>
            </a:r>
            <a:endParaRPr lang="en-US" sz="1900" dirty="0"/>
          </a:p>
        </p:txBody>
      </p:sp>
      <p:sp>
        <p:nvSpPr>
          <p:cNvPr id="31" name="Text 28"/>
          <p:cNvSpPr/>
          <p:nvPr/>
        </p:nvSpPr>
        <p:spPr>
          <a:xfrm>
            <a:off x="6537960" y="4343400"/>
            <a:ext cx="4754880" cy="822960"/>
          </a:xfrm>
          <a:prstGeom prst="rect">
            <a:avLst/>
          </a:prstGeom>
          <a:noFill/>
          <a:ln/>
        </p:spPr>
        <p:txBody>
          <a:bodyPr wrap="square" lIns="0" tIns="0" rIns="0" bIns="0" rtlCol="0" anchor="t"/>
          <a:lstStyle/>
          <a:p>
            <a:pPr indent="0" marL="0">
              <a:lnSpc>
                <a:spcPct val="110000"/>
              </a:lnSpc>
              <a:buNone/>
            </a:pPr>
            <a:r>
              <a:rPr lang="en-US" sz="1900" dirty="0">
                <a:solidFill>
                  <a:srgbClr val="FFFFFF"/>
                </a:solidFill>
                <a:latin typeface="Inter" pitchFamily="34" charset="0"/>
                <a:ea typeface="Inter" pitchFamily="34" charset="-122"/>
                <a:cs typeface="Inter" pitchFamily="34" charset="-120"/>
              </a:rPr>
              <a:t>Fifteen minutes of actually using AI</a:t>
            </a:r>
            <a:endParaRPr lang="en-US" sz="1900" dirty="0"/>
          </a:p>
        </p:txBody>
      </p:sp>
      <p:sp>
        <p:nvSpPr>
          <p:cNvPr id="32" name="Text 29"/>
          <p:cNvSpPr/>
          <p:nvPr/>
        </p:nvSpPr>
        <p:spPr>
          <a:xfrm>
            <a:off x="548640" y="5532120"/>
            <a:ext cx="11064240" cy="457200"/>
          </a:xfrm>
          <a:prstGeom prst="rect">
            <a:avLst/>
          </a:prstGeom>
          <a:noFill/>
          <a:ln/>
        </p:spPr>
        <p:txBody>
          <a:bodyPr wrap="square" lIns="0" tIns="0" rIns="0" bIns="0" rtlCol="0" anchor="ctr"/>
          <a:lstStyle/>
          <a:p>
            <a:pPr algn="ctr" indent="0" marL="0">
              <a:buNone/>
            </a:pPr>
            <a:r>
              <a:rPr lang="en-US" sz="2000" b="1" dirty="0">
                <a:solidFill>
                  <a:srgbClr val="2A9D8F"/>
                </a:solidFill>
                <a:latin typeface="Inter" pitchFamily="34" charset="0"/>
                <a:ea typeface="Inter" pitchFamily="34" charset="-122"/>
                <a:cs typeface="Inter" pitchFamily="34" charset="-120"/>
              </a:rPr>
              <a:t>AI drafts. The teacher decides.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3</a:t>
            </a:r>
            <a:endParaRPr lang="en-US" sz="900" dirty="0"/>
          </a:p>
        </p:txBody>
      </p:sp>
      <p:sp>
        <p:nvSpPr>
          <p:cNvPr id="5" name="Shape 2"/>
          <p:cNvSpPr/>
          <p:nvPr/>
        </p:nvSpPr>
        <p:spPr>
          <a:xfrm>
            <a:off x="411480" y="6291072"/>
            <a:ext cx="1024128" cy="91440"/>
          </a:xfrm>
          <a:prstGeom prst="roundRect">
            <a:avLst>
              <a:gd name="adj" fmla="val 50000"/>
            </a:avLst>
          </a:prstGeom>
          <a:solidFill>
            <a:srgbClr val="2A9D8F"/>
          </a:solidFill>
          <a:ln w="12700">
            <a:solidFill>
              <a:srgbClr val="2A9D8F"/>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her students already use it</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2A9D8F"/>
                </a:solidFill>
                <a:latin typeface="Inter" pitchFamily="34" charset="0"/>
                <a:ea typeface="Inter" pitchFamily="34" charset="-122"/>
                <a:cs typeface="Inter" pitchFamily="34" charset="-120"/>
              </a:rPr>
              <a:t>CLAIM</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Teacher AI use doubled in a single school year</a:t>
            </a:r>
            <a:endParaRPr lang="en-US" sz="3000" dirty="0"/>
          </a:p>
        </p:txBody>
      </p:sp>
      <p:sp>
        <p:nvSpPr>
          <p:cNvPr id="22" name="Shape 19"/>
          <p:cNvSpPr/>
          <p:nvPr/>
        </p:nvSpPr>
        <p:spPr>
          <a:xfrm>
            <a:off x="548640" y="1600200"/>
            <a:ext cx="3538728" cy="3246120"/>
          </a:xfrm>
          <a:prstGeom prst="roundRect">
            <a:avLst>
              <a:gd name="adj" fmla="val 2817"/>
            </a:avLst>
          </a:prstGeom>
          <a:solidFill>
            <a:srgbClr val="F7F5F0"/>
          </a:solidFill>
          <a:ln w="12700">
            <a:solidFill>
              <a:srgbClr val="F7F5F0"/>
            </a:solidFill>
            <a:prstDash val="solid"/>
          </a:ln>
        </p:spPr>
      </p:sp>
      <p:sp>
        <p:nvSpPr>
          <p:cNvPr id="23" name="Shape 20"/>
          <p:cNvSpPr/>
          <p:nvPr/>
        </p:nvSpPr>
        <p:spPr>
          <a:xfrm>
            <a:off x="4233672" y="1600200"/>
            <a:ext cx="3538728" cy="3246120"/>
          </a:xfrm>
          <a:prstGeom prst="roundRect">
            <a:avLst>
              <a:gd name="adj" fmla="val 2817"/>
            </a:avLst>
          </a:prstGeom>
          <a:solidFill>
            <a:srgbClr val="F7F5F0"/>
          </a:solidFill>
          <a:ln w="12700">
            <a:solidFill>
              <a:srgbClr val="F7F5F0"/>
            </a:solidFill>
            <a:prstDash val="solid"/>
          </a:ln>
        </p:spPr>
      </p:sp>
      <p:sp>
        <p:nvSpPr>
          <p:cNvPr id="24" name="Shape 21"/>
          <p:cNvSpPr/>
          <p:nvPr/>
        </p:nvSpPr>
        <p:spPr>
          <a:xfrm>
            <a:off x="7918704" y="1600200"/>
            <a:ext cx="3538728" cy="3246120"/>
          </a:xfrm>
          <a:prstGeom prst="roundRect">
            <a:avLst>
              <a:gd name="adj" fmla="val 2817"/>
            </a:avLst>
          </a:prstGeom>
          <a:solidFill>
            <a:srgbClr val="F7F5F0"/>
          </a:solidFill>
          <a:ln w="12700">
            <a:solidFill>
              <a:srgbClr val="F7F5F0"/>
            </a:solidFill>
            <a:prstDash val="solid"/>
          </a:ln>
        </p:spPr>
      </p:sp>
      <p:sp>
        <p:nvSpPr>
          <p:cNvPr id="25" name="Text 22"/>
          <p:cNvSpPr/>
          <p:nvPr/>
        </p:nvSpPr>
        <p:spPr>
          <a:xfrm>
            <a:off x="548640" y="1828800"/>
            <a:ext cx="3538728" cy="1051560"/>
          </a:xfrm>
          <a:prstGeom prst="rect">
            <a:avLst/>
          </a:prstGeom>
          <a:noFill/>
          <a:ln/>
        </p:spPr>
        <p:txBody>
          <a:bodyPr wrap="square" lIns="0" tIns="0" rIns="0" bIns="0" rtlCol="0" anchor="ctr"/>
          <a:lstStyle/>
          <a:p>
            <a:pPr algn="ctr" indent="0" marL="0">
              <a:buNone/>
            </a:pPr>
            <a:r>
              <a:rPr lang="en-US" sz="3800" b="1" dirty="0">
                <a:solidFill>
                  <a:srgbClr val="5B6B7A"/>
                </a:solidFill>
                <a:latin typeface="Inter" pitchFamily="34" charset="0"/>
                <a:ea typeface="Inter" pitchFamily="34" charset="-122"/>
                <a:cs typeface="Inter" pitchFamily="34" charset="-120"/>
              </a:rPr>
              <a:t>25%</a:t>
            </a:r>
            <a:pPr algn="ctr" indent="0" marL="0">
              <a:buNone/>
            </a:pPr>
            <a:r>
              <a:rPr lang="en-US" sz="3800" b="1" dirty="0">
                <a:solidFill>
                  <a:srgbClr val="2A9D8F"/>
                </a:solidFill>
                <a:latin typeface="Inter" pitchFamily="34" charset="0"/>
                <a:ea typeface="Inter" pitchFamily="34" charset="-122"/>
                <a:cs typeface="Inter" pitchFamily="34" charset="-120"/>
              </a:rPr>
              <a:t> → </a:t>
            </a:r>
            <a:pPr algn="ctr" indent="0" marL="0">
              <a:buNone/>
            </a:pPr>
            <a:r>
              <a:rPr lang="en-US" sz="3800" b="1" dirty="0">
                <a:solidFill>
                  <a:srgbClr val="13293D"/>
                </a:solidFill>
                <a:latin typeface="Inter" pitchFamily="34" charset="0"/>
                <a:ea typeface="Inter" pitchFamily="34" charset="-122"/>
                <a:cs typeface="Inter" pitchFamily="34" charset="-120"/>
              </a:rPr>
              <a:t>53%</a:t>
            </a:r>
            <a:endParaRPr lang="en-US" sz="3800" dirty="0"/>
          </a:p>
        </p:txBody>
      </p:sp>
      <p:sp>
        <p:nvSpPr>
          <p:cNvPr id="26" name="Text 23"/>
          <p:cNvSpPr/>
          <p:nvPr/>
        </p:nvSpPr>
        <p:spPr>
          <a:xfrm>
            <a:off x="4233672" y="1828800"/>
            <a:ext cx="3538728" cy="1051560"/>
          </a:xfrm>
          <a:prstGeom prst="rect">
            <a:avLst/>
          </a:prstGeom>
          <a:noFill/>
          <a:ln/>
        </p:spPr>
        <p:txBody>
          <a:bodyPr wrap="square" lIns="0" tIns="0" rIns="0" bIns="0" rtlCol="0" anchor="ctr"/>
          <a:lstStyle/>
          <a:p>
            <a:pPr algn="ctr" indent="0" marL="0">
              <a:buNone/>
            </a:pPr>
            <a:r>
              <a:rPr lang="en-US" sz="6000" b="1" dirty="0">
                <a:solidFill>
                  <a:srgbClr val="2A9D8F"/>
                </a:solidFill>
                <a:latin typeface="Inter" pitchFamily="34" charset="0"/>
                <a:ea typeface="Inter" pitchFamily="34" charset="-122"/>
                <a:cs typeface="Inter" pitchFamily="34" charset="-120"/>
              </a:rPr>
              <a:t>60%</a:t>
            </a:r>
            <a:endParaRPr lang="en-US" sz="6000" dirty="0"/>
          </a:p>
        </p:txBody>
      </p:sp>
      <p:sp>
        <p:nvSpPr>
          <p:cNvPr id="27" name="Text 24"/>
          <p:cNvSpPr/>
          <p:nvPr/>
        </p:nvSpPr>
        <p:spPr>
          <a:xfrm>
            <a:off x="7918704" y="1828800"/>
            <a:ext cx="3538728" cy="1051560"/>
          </a:xfrm>
          <a:prstGeom prst="rect">
            <a:avLst/>
          </a:prstGeom>
          <a:noFill/>
          <a:ln/>
        </p:spPr>
        <p:txBody>
          <a:bodyPr wrap="square" lIns="0" tIns="0" rIns="0" bIns="0" rtlCol="0" anchor="ctr"/>
          <a:lstStyle/>
          <a:p>
            <a:pPr algn="ctr" indent="0" marL="0">
              <a:buNone/>
            </a:pPr>
            <a:r>
              <a:rPr lang="en-US" sz="6000" b="1" dirty="0">
                <a:solidFill>
                  <a:srgbClr val="F4A825"/>
                </a:solidFill>
                <a:latin typeface="Inter" pitchFamily="34" charset="0"/>
                <a:ea typeface="Inter" pitchFamily="34" charset="-122"/>
                <a:cs typeface="Inter" pitchFamily="34" charset="-120"/>
              </a:rPr>
              <a:t>54%</a:t>
            </a:r>
            <a:endParaRPr lang="en-US" sz="6000" dirty="0"/>
          </a:p>
        </p:txBody>
      </p:sp>
      <p:sp>
        <p:nvSpPr>
          <p:cNvPr id="28" name="Text 25"/>
          <p:cNvSpPr/>
          <p:nvPr/>
        </p:nvSpPr>
        <p:spPr>
          <a:xfrm>
            <a:off x="749808" y="3108960"/>
            <a:ext cx="3136392" cy="137160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for work,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2023–24 vs. 2024–25</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(RAND)</a:t>
            </a:r>
            <a:endParaRPr lang="en-US" sz="1600" dirty="0"/>
          </a:p>
        </p:txBody>
      </p:sp>
      <p:sp>
        <p:nvSpPr>
          <p:cNvPr id="29" name="Text 26"/>
          <p:cNvSpPr/>
          <p:nvPr/>
        </p:nvSpPr>
        <p:spPr>
          <a:xfrm>
            <a:off x="4434840" y="3108960"/>
            <a:ext cx="3136392" cy="137160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during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the 2024–25 school year</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a:t>
            </a:r>
            <a:endParaRPr lang="en-US" sz="1600" dirty="0"/>
          </a:p>
        </p:txBody>
      </p:sp>
      <p:sp>
        <p:nvSpPr>
          <p:cNvPr id="30" name="Text 27"/>
          <p:cNvSpPr/>
          <p:nvPr/>
        </p:nvSpPr>
        <p:spPr>
          <a:xfrm>
            <a:off x="8119872" y="3108960"/>
            <a:ext cx="3136392" cy="137160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U.S. teens already use AI</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for schoolwork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(Pew, 2026)</a:t>
            </a:r>
            <a:endParaRPr lang="en-US" sz="1600" dirty="0"/>
          </a:p>
        </p:txBody>
      </p:sp>
      <p:sp>
        <p:nvSpPr>
          <p:cNvPr id="31" name="Text 28"/>
          <p:cNvSpPr/>
          <p:nvPr/>
        </p:nvSpPr>
        <p:spPr>
          <a:xfrm>
            <a:off x="548640" y="5166360"/>
            <a:ext cx="1106424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AI is already in our building, whatever we decide in this room.</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293D"/>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6E8598"/>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6E8598"/>
                </a:solidFill>
                <a:latin typeface="Inter" pitchFamily="34" charset="0"/>
                <a:ea typeface="Inter" pitchFamily="34" charset="-122"/>
                <a:cs typeface="Inter" pitchFamily="34" charset="-120"/>
              </a:rPr>
              <a:t>4</a:t>
            </a:r>
            <a:endParaRPr lang="en-US" sz="900" dirty="0"/>
          </a:p>
        </p:txBody>
      </p:sp>
      <p:sp>
        <p:nvSpPr>
          <p:cNvPr id="5" name="Shape 2"/>
          <p:cNvSpPr/>
          <p:nvPr/>
        </p:nvSpPr>
        <p:spPr>
          <a:xfrm>
            <a:off x="411480" y="6291072"/>
            <a:ext cx="1024128" cy="91440"/>
          </a:xfrm>
          <a:prstGeom prst="roundRect">
            <a:avLst>
              <a:gd name="adj" fmla="val 50000"/>
            </a:avLst>
          </a:prstGeom>
          <a:solidFill>
            <a:srgbClr val="2A9D8F"/>
          </a:solidFill>
          <a:ln w="12700">
            <a:solidFill>
              <a:srgbClr val="2A9D8F"/>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2A4A63"/>
          </a:solidFill>
          <a:ln w="12700">
            <a:solidFill>
              <a:srgbClr val="2A4A63"/>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2A4A63"/>
          </a:solidFill>
          <a:ln w="12700">
            <a:solidFill>
              <a:srgbClr val="2A4A63"/>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2A4A63"/>
          </a:solidFill>
          <a:ln w="12700">
            <a:solidFill>
              <a:srgbClr val="2A4A63"/>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2A4A63"/>
          </a:solidFill>
          <a:ln w="12700">
            <a:solidFill>
              <a:srgbClr val="2A4A63"/>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2A4A63"/>
          </a:solidFill>
          <a:ln w="12700">
            <a:solidFill>
              <a:srgbClr val="2A4A63"/>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2A4A63"/>
          </a:solidFill>
          <a:ln w="12700">
            <a:solidFill>
              <a:srgbClr val="2A4A63"/>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6E8598"/>
                </a:solidFill>
                <a:latin typeface="Inter" pitchFamily="34" charset="0"/>
                <a:ea typeface="Inter" pitchFamily="34" charset="-122"/>
                <a:cs typeface="Inter" pitchFamily="34" charset="-120"/>
              </a:rPr>
              <a:t>MS. RIVERA  </a:t>
            </a:r>
            <a:pPr algn="r" indent="0" marL="0">
              <a:buNone/>
            </a:pPr>
            <a:r>
              <a:rPr lang="en-US" sz="850" dirty="0">
                <a:solidFill>
                  <a:srgbClr val="9FB2C2"/>
                </a:solidFill>
                <a:latin typeface="Inter" pitchFamily="34" charset="0"/>
                <a:ea typeface="Inter" pitchFamily="34" charset="-122"/>
                <a:cs typeface="Inter" pitchFamily="34" charset="-120"/>
              </a:rPr>
              <a:t>wants one real task done safely</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F4A825"/>
                </a:solidFill>
                <a:latin typeface="Inter" pitchFamily="34" charset="0"/>
                <a:ea typeface="Inter" pitchFamily="34" charset="-122"/>
                <a:cs typeface="Inter" pitchFamily="34" charset="-120"/>
              </a:rPr>
              <a:t>THE HOUR AHEAD</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FFFFFF"/>
                </a:solidFill>
                <a:latin typeface="Inter" pitchFamily="34" charset="0"/>
                <a:ea typeface="Inter" pitchFamily="34" charset="-122"/>
                <a:cs typeface="Inter" pitchFamily="34" charset="-120"/>
              </a:rPr>
              <a:t>Here is the hour, and the promise it comes with</a:t>
            </a:r>
            <a:endParaRPr lang="en-US" sz="3000" dirty="0"/>
          </a:p>
        </p:txBody>
      </p:sp>
      <p:sp>
        <p:nvSpPr>
          <p:cNvPr id="22" name="Text 19"/>
          <p:cNvSpPr/>
          <p:nvPr/>
        </p:nvSpPr>
        <p:spPr>
          <a:xfrm>
            <a:off x="685800" y="1600200"/>
            <a:ext cx="1005840" cy="45720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0:00</a:t>
            </a:r>
            <a:endParaRPr lang="en-US" sz="1900" dirty="0"/>
          </a:p>
        </p:txBody>
      </p:sp>
      <p:sp>
        <p:nvSpPr>
          <p:cNvPr id="23" name="Text 20"/>
          <p:cNvSpPr/>
          <p:nvPr/>
        </p:nvSpPr>
        <p:spPr>
          <a:xfrm>
            <a:off x="1783080" y="1600200"/>
            <a:ext cx="6858000" cy="45720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Welcome &amp; why now</a:t>
            </a:r>
            <a:endParaRPr lang="en-US" sz="1900" dirty="0"/>
          </a:p>
        </p:txBody>
      </p:sp>
      <p:sp>
        <p:nvSpPr>
          <p:cNvPr id="24" name="Text 21"/>
          <p:cNvSpPr/>
          <p:nvPr/>
        </p:nvSpPr>
        <p:spPr>
          <a:xfrm>
            <a:off x="685800" y="2203704"/>
            <a:ext cx="1005840" cy="45720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0:04</a:t>
            </a:r>
            <a:endParaRPr lang="en-US" sz="1900" dirty="0"/>
          </a:p>
        </p:txBody>
      </p:sp>
      <p:sp>
        <p:nvSpPr>
          <p:cNvPr id="25" name="Text 22"/>
          <p:cNvSpPr/>
          <p:nvPr/>
        </p:nvSpPr>
        <p:spPr>
          <a:xfrm>
            <a:off x="1783080" y="2203704"/>
            <a:ext cx="6858000" cy="45720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What AI actually is (no jargon)</a:t>
            </a:r>
            <a:endParaRPr lang="en-US" sz="1900" dirty="0"/>
          </a:p>
        </p:txBody>
      </p:sp>
      <p:sp>
        <p:nvSpPr>
          <p:cNvPr id="26" name="Text 23"/>
          <p:cNvSpPr/>
          <p:nvPr/>
        </p:nvSpPr>
        <p:spPr>
          <a:xfrm>
            <a:off x="685800" y="2807208"/>
            <a:ext cx="1005840" cy="45720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0:12</a:t>
            </a:r>
            <a:endParaRPr lang="en-US" sz="1900" dirty="0"/>
          </a:p>
        </p:txBody>
      </p:sp>
      <p:sp>
        <p:nvSpPr>
          <p:cNvPr id="27" name="Text 24"/>
          <p:cNvSpPr/>
          <p:nvPr/>
        </p:nvSpPr>
        <p:spPr>
          <a:xfrm>
            <a:off x="1783080" y="2807208"/>
            <a:ext cx="6858000" cy="45720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The One Hard Rule: student privacy</a:t>
            </a:r>
            <a:endParaRPr lang="en-US" sz="1900" dirty="0"/>
          </a:p>
        </p:txBody>
      </p:sp>
      <p:sp>
        <p:nvSpPr>
          <p:cNvPr id="28" name="Text 25"/>
          <p:cNvSpPr/>
          <p:nvPr/>
        </p:nvSpPr>
        <p:spPr>
          <a:xfrm>
            <a:off x="685800" y="3410712"/>
            <a:ext cx="1005840" cy="45720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0:22</a:t>
            </a:r>
            <a:endParaRPr lang="en-US" sz="1900" dirty="0"/>
          </a:p>
        </p:txBody>
      </p:sp>
      <p:sp>
        <p:nvSpPr>
          <p:cNvPr id="29" name="Text 26"/>
          <p:cNvSpPr/>
          <p:nvPr/>
        </p:nvSpPr>
        <p:spPr>
          <a:xfrm>
            <a:off x="1783080" y="3410712"/>
            <a:ext cx="6858000" cy="45720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Safe practice: rewriting risky prompts</a:t>
            </a:r>
            <a:endParaRPr lang="en-US" sz="1900" dirty="0"/>
          </a:p>
        </p:txBody>
      </p:sp>
      <p:sp>
        <p:nvSpPr>
          <p:cNvPr id="30" name="Text 27"/>
          <p:cNvSpPr/>
          <p:nvPr/>
        </p:nvSpPr>
        <p:spPr>
          <a:xfrm>
            <a:off x="685800" y="4014216"/>
            <a:ext cx="1005840" cy="45720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0:30</a:t>
            </a:r>
            <a:endParaRPr lang="en-US" sz="1900" dirty="0"/>
          </a:p>
        </p:txBody>
      </p:sp>
      <p:sp>
        <p:nvSpPr>
          <p:cNvPr id="31" name="Text 28"/>
          <p:cNvSpPr/>
          <p:nvPr/>
        </p:nvSpPr>
        <p:spPr>
          <a:xfrm>
            <a:off x="1783080" y="4014216"/>
            <a:ext cx="6858000" cy="45720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Hands-on lab: you type, in pairs</a:t>
            </a:r>
            <a:endParaRPr lang="en-US" sz="1900" dirty="0"/>
          </a:p>
        </p:txBody>
      </p:sp>
      <p:sp>
        <p:nvSpPr>
          <p:cNvPr id="32" name="Text 29"/>
          <p:cNvSpPr/>
          <p:nvPr/>
        </p:nvSpPr>
        <p:spPr>
          <a:xfrm>
            <a:off x="685800" y="4617720"/>
            <a:ext cx="1005840" cy="45720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0:45</a:t>
            </a:r>
            <a:endParaRPr lang="en-US" sz="1900" dirty="0"/>
          </a:p>
        </p:txBody>
      </p:sp>
      <p:sp>
        <p:nvSpPr>
          <p:cNvPr id="33" name="Text 30"/>
          <p:cNvSpPr/>
          <p:nvPr/>
        </p:nvSpPr>
        <p:spPr>
          <a:xfrm>
            <a:off x="1783080" y="4617720"/>
            <a:ext cx="6858000" cy="45720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Staying human · our three commitments</a:t>
            </a:r>
            <a:endParaRPr lang="en-US" sz="1900" dirty="0"/>
          </a:p>
        </p:txBody>
      </p:sp>
      <p:sp>
        <p:nvSpPr>
          <p:cNvPr id="34" name="Text 31"/>
          <p:cNvSpPr/>
          <p:nvPr/>
        </p:nvSpPr>
        <p:spPr>
          <a:xfrm>
            <a:off x="685800" y="5221224"/>
            <a:ext cx="1005840" cy="45720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0:52</a:t>
            </a:r>
            <a:endParaRPr lang="en-US" sz="1900" dirty="0"/>
          </a:p>
        </p:txBody>
      </p:sp>
      <p:sp>
        <p:nvSpPr>
          <p:cNvPr id="35" name="Text 32"/>
          <p:cNvSpPr/>
          <p:nvPr/>
        </p:nvSpPr>
        <p:spPr>
          <a:xfrm>
            <a:off x="1783080" y="5221224"/>
            <a:ext cx="6858000" cy="45720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First 48 hours &amp; exit ticket</a:t>
            </a:r>
            <a:endParaRPr lang="en-US" sz="1900" dirty="0"/>
          </a:p>
        </p:txBody>
      </p:sp>
      <p:sp>
        <p:nvSpPr>
          <p:cNvPr id="36" name="Shape 33"/>
          <p:cNvSpPr/>
          <p:nvPr/>
        </p:nvSpPr>
        <p:spPr>
          <a:xfrm>
            <a:off x="8915400" y="2194560"/>
            <a:ext cx="2697480" cy="2651760"/>
          </a:xfrm>
          <a:prstGeom prst="roundRect">
            <a:avLst>
              <a:gd name="adj" fmla="val 3448"/>
            </a:avLst>
          </a:prstGeom>
          <a:solidFill>
            <a:srgbClr val="1E3A50"/>
          </a:solidFill>
          <a:ln w="12700">
            <a:solidFill>
              <a:srgbClr val="1E3A50"/>
            </a:solidFill>
            <a:prstDash val="solid"/>
          </a:ln>
        </p:spPr>
      </p:sp>
      <p:sp>
        <p:nvSpPr>
          <p:cNvPr id="37" name="Text 34"/>
          <p:cNvSpPr/>
          <p:nvPr/>
        </p:nvSpPr>
        <p:spPr>
          <a:xfrm>
            <a:off x="9189720" y="2423160"/>
            <a:ext cx="2194560" cy="274320"/>
          </a:xfrm>
          <a:prstGeom prst="rect">
            <a:avLst/>
          </a:prstGeom>
          <a:noFill/>
          <a:ln/>
        </p:spPr>
        <p:txBody>
          <a:bodyPr wrap="square" lIns="0" tIns="0" rIns="0" bIns="0" rtlCol="0" anchor="ctr"/>
          <a:lstStyle/>
          <a:p>
            <a:pPr indent="0" marL="0">
              <a:buNone/>
            </a:pPr>
            <a:r>
              <a:rPr lang="en-US" sz="1100" b="1" spc="160" kern="0" dirty="0">
                <a:solidFill>
                  <a:srgbClr val="F4A825"/>
                </a:solidFill>
                <a:latin typeface="Inter" pitchFamily="34" charset="0"/>
                <a:ea typeface="Inter" pitchFamily="34" charset="-122"/>
                <a:cs typeface="Inter" pitchFamily="34" charset="-120"/>
              </a:rPr>
              <a:t>ONE PROMISE</a:t>
            </a:r>
            <a:endParaRPr lang="en-US" sz="1100" dirty="0"/>
          </a:p>
        </p:txBody>
      </p:sp>
      <p:sp>
        <p:nvSpPr>
          <p:cNvPr id="38" name="Text 35"/>
          <p:cNvSpPr/>
          <p:nvPr/>
        </p:nvSpPr>
        <p:spPr>
          <a:xfrm>
            <a:off x="9189720" y="2834640"/>
            <a:ext cx="2194560" cy="182880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Inter" pitchFamily="34" charset="0"/>
                <a:ea typeface="Inter" pitchFamily="34" charset="-122"/>
                <a:cs typeface="Inter" pitchFamily="34" charset="-120"/>
              </a:rPr>
              <a:t>You will actually use an AI tool today, and leave with something for tomorrow morning.</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6E8598"/>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6E8598"/>
                </a:solidFill>
                <a:latin typeface="Inter" pitchFamily="34" charset="0"/>
                <a:ea typeface="Inter" pitchFamily="34" charset="-122"/>
                <a:cs typeface="Inter" pitchFamily="34" charset="-120"/>
              </a:rPr>
              <a:t>5</a:t>
            </a:r>
            <a:endParaRPr lang="en-US" sz="900" dirty="0"/>
          </a:p>
        </p:txBody>
      </p:sp>
      <p:sp>
        <p:nvSpPr>
          <p:cNvPr id="5" name="Shape 2"/>
          <p:cNvSpPr/>
          <p:nvPr/>
        </p:nvSpPr>
        <p:spPr>
          <a:xfrm>
            <a:off x="411480" y="6291072"/>
            <a:ext cx="1024128" cy="91440"/>
          </a:xfrm>
          <a:prstGeom prst="roundRect">
            <a:avLst>
              <a:gd name="adj" fmla="val 50000"/>
            </a:avLst>
          </a:prstGeom>
          <a:solidFill>
            <a:srgbClr val="2A4A63"/>
          </a:solidFill>
          <a:ln w="12700">
            <a:solidFill>
              <a:srgbClr val="2A4A63"/>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2A9D8F"/>
          </a:solidFill>
          <a:ln w="12700">
            <a:solidFill>
              <a:srgbClr val="2A9D8F"/>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2A4A63"/>
          </a:solidFill>
          <a:ln w="12700">
            <a:solidFill>
              <a:srgbClr val="2A4A63"/>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2A4A63"/>
          </a:solidFill>
          <a:ln w="12700">
            <a:solidFill>
              <a:srgbClr val="2A4A63"/>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2A4A63"/>
          </a:solidFill>
          <a:ln w="12700">
            <a:solidFill>
              <a:srgbClr val="2A4A63"/>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2A4A63"/>
          </a:solidFill>
          <a:ln w="12700">
            <a:solidFill>
              <a:srgbClr val="2A4A63"/>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2A4A63"/>
          </a:solidFill>
          <a:ln w="12700">
            <a:solidFill>
              <a:srgbClr val="2A4A63"/>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6E8598"/>
                </a:solidFill>
                <a:latin typeface="Inter" pitchFamily="34" charset="0"/>
                <a:ea typeface="Inter" pitchFamily="34" charset="-122"/>
                <a:cs typeface="Inter" pitchFamily="34" charset="-120"/>
              </a:rPr>
              <a:t>MS. RIVERA  </a:t>
            </a:r>
            <a:pPr algn="r" indent="0" marL="0">
              <a:buNone/>
            </a:pPr>
            <a:r>
              <a:rPr lang="en-US" sz="850" dirty="0">
                <a:solidFill>
                  <a:srgbClr val="9FB2C2"/>
                </a:solidFill>
                <a:latin typeface="Inter" pitchFamily="34" charset="0"/>
                <a:ea typeface="Inter" pitchFamily="34" charset="-122"/>
                <a:cs typeface="Inter" pitchFamily="34" charset="-120"/>
              </a:rPr>
              <a:t>wondering what it actually does</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F4A825"/>
                </a:solidFill>
                <a:latin typeface="Inter" pitchFamily="34" charset="0"/>
                <a:ea typeface="Inter" pitchFamily="34" charset="-122"/>
                <a:cs typeface="Inter" pitchFamily="34" charset="-120"/>
              </a:rPr>
              <a:t>SEGMENT 2 OF 7  ·  8 MINUTES</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FFFFFF"/>
                </a:solidFill>
                <a:latin typeface="Inter" pitchFamily="34" charset="0"/>
                <a:ea typeface="Inter" pitchFamily="34" charset="-122"/>
                <a:cs typeface="Inter" pitchFamily="34" charset="-120"/>
              </a:rPr>
              <a:t>Next: what a chatbot is actually doing when it answers you</a:t>
            </a:r>
            <a:endParaRPr lang="en-US" sz="3000" dirty="0"/>
          </a:p>
        </p:txBody>
      </p:sp>
      <p:sp>
        <p:nvSpPr>
          <p:cNvPr id="22" name="Text 19"/>
          <p:cNvSpPr/>
          <p:nvPr/>
        </p:nvSpPr>
        <p:spPr>
          <a:xfrm>
            <a:off x="548640" y="2194560"/>
            <a:ext cx="8778240" cy="822960"/>
          </a:xfrm>
          <a:prstGeom prst="rect">
            <a:avLst/>
          </a:prstGeom>
          <a:noFill/>
          <a:ln/>
        </p:spPr>
        <p:txBody>
          <a:bodyPr wrap="square" lIns="0" tIns="0" rIns="0" bIns="0" rtlCol="0" anchor="ctr"/>
          <a:lstStyle/>
          <a:p>
            <a:pPr indent="0" marL="0">
              <a:lnSpc>
                <a:spcPct val="120000"/>
              </a:lnSpc>
              <a:buNone/>
            </a:pPr>
            <a:r>
              <a:rPr lang="en-US" sz="1900" dirty="0">
                <a:solidFill>
                  <a:srgbClr val="9FB2C2"/>
                </a:solidFill>
                <a:latin typeface="Inter" pitchFamily="34" charset="0"/>
                <a:ea typeface="Inter" pitchFamily="34" charset="-122"/>
                <a:cs typeface="Inter" pitchFamily="34" charset="-120"/>
              </a:rPr>
              <a:t>You will leave this segment able to say, in one sentence, why a confident answer can still be wrong.</a:t>
            </a:r>
            <a:endParaRPr lang="en-US" sz="1900" dirty="0"/>
          </a:p>
        </p:txBody>
      </p:sp>
      <p:sp>
        <p:nvSpPr>
          <p:cNvPr id="23" name="Shape 20"/>
          <p:cNvSpPr/>
          <p:nvPr/>
        </p:nvSpPr>
        <p:spPr>
          <a:xfrm>
            <a:off x="548640" y="3520440"/>
            <a:ext cx="3538728" cy="1371600"/>
          </a:xfrm>
          <a:prstGeom prst="roundRect">
            <a:avLst>
              <a:gd name="adj" fmla="val 6667"/>
            </a:avLst>
          </a:prstGeom>
          <a:solidFill>
            <a:srgbClr val="1E3A50"/>
          </a:solidFill>
          <a:ln w="12700">
            <a:solidFill>
              <a:srgbClr val="1E3A50"/>
            </a:solidFill>
            <a:prstDash val="solid"/>
          </a:ln>
        </p:spPr>
      </p:sp>
      <p:sp>
        <p:nvSpPr>
          <p:cNvPr id="24" name="Text 21"/>
          <p:cNvSpPr/>
          <p:nvPr/>
        </p:nvSpPr>
        <p:spPr>
          <a:xfrm>
            <a:off x="822960" y="3749040"/>
            <a:ext cx="4572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1</a:t>
            </a:r>
            <a:endParaRPr lang="en-US" sz="2200" dirty="0"/>
          </a:p>
        </p:txBody>
      </p:sp>
      <p:sp>
        <p:nvSpPr>
          <p:cNvPr id="25" name="Text 22"/>
          <p:cNvSpPr/>
          <p:nvPr/>
        </p:nvSpPr>
        <p:spPr>
          <a:xfrm>
            <a:off x="1417320" y="3749040"/>
            <a:ext cx="2468880" cy="822960"/>
          </a:xfrm>
          <a:prstGeom prst="rect">
            <a:avLst/>
          </a:prstGeom>
          <a:noFill/>
          <a:ln/>
        </p:spPr>
        <p:txBody>
          <a:bodyPr wrap="square" lIns="0" tIns="0" rIns="0" bIns="0" rtlCol="0" anchor="ctr"/>
          <a:lstStyle/>
          <a:p>
            <a:pPr indent="0" marL="0">
              <a:buNone/>
            </a:pPr>
            <a:r>
              <a:rPr lang="en-US" sz="1700" dirty="0">
                <a:solidFill>
                  <a:srgbClr val="FFFFFF"/>
                </a:solidFill>
                <a:latin typeface="Inter" pitchFamily="34" charset="0"/>
                <a:ea typeface="Inter" pitchFamily="34" charset="-122"/>
                <a:cs typeface="Inter" pitchFamily="34" charset="-120"/>
              </a:rPr>
              <a:t>What it does</a:t>
            </a:r>
            <a:endParaRPr lang="en-US" sz="1700" dirty="0"/>
          </a:p>
        </p:txBody>
      </p:sp>
      <p:sp>
        <p:nvSpPr>
          <p:cNvPr id="26" name="Shape 23"/>
          <p:cNvSpPr/>
          <p:nvPr/>
        </p:nvSpPr>
        <p:spPr>
          <a:xfrm>
            <a:off x="4325112" y="3520440"/>
            <a:ext cx="3538728" cy="1371600"/>
          </a:xfrm>
          <a:prstGeom prst="roundRect">
            <a:avLst>
              <a:gd name="adj" fmla="val 6667"/>
            </a:avLst>
          </a:prstGeom>
          <a:solidFill>
            <a:srgbClr val="1E3A50"/>
          </a:solidFill>
          <a:ln w="12700">
            <a:solidFill>
              <a:srgbClr val="1E3A50"/>
            </a:solidFill>
            <a:prstDash val="solid"/>
          </a:ln>
        </p:spPr>
      </p:sp>
      <p:sp>
        <p:nvSpPr>
          <p:cNvPr id="27" name="Text 24"/>
          <p:cNvSpPr/>
          <p:nvPr/>
        </p:nvSpPr>
        <p:spPr>
          <a:xfrm>
            <a:off x="4599432" y="3749040"/>
            <a:ext cx="4572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2</a:t>
            </a:r>
            <a:endParaRPr lang="en-US" sz="2200" dirty="0"/>
          </a:p>
        </p:txBody>
      </p:sp>
      <p:sp>
        <p:nvSpPr>
          <p:cNvPr id="28" name="Text 25"/>
          <p:cNvSpPr/>
          <p:nvPr/>
        </p:nvSpPr>
        <p:spPr>
          <a:xfrm>
            <a:off x="5193792" y="3749040"/>
            <a:ext cx="2468880" cy="822960"/>
          </a:xfrm>
          <a:prstGeom prst="rect">
            <a:avLst/>
          </a:prstGeom>
          <a:noFill/>
          <a:ln/>
        </p:spPr>
        <p:txBody>
          <a:bodyPr wrap="square" lIns="0" tIns="0" rIns="0" bIns="0" rtlCol="0" anchor="ctr"/>
          <a:lstStyle/>
          <a:p>
            <a:pPr indent="0" marL="0">
              <a:buNone/>
            </a:pPr>
            <a:r>
              <a:rPr lang="en-US" sz="1700" dirty="0">
                <a:solidFill>
                  <a:srgbClr val="FFFFFF"/>
                </a:solidFill>
                <a:latin typeface="Inter" pitchFamily="34" charset="0"/>
                <a:ea typeface="Inter" pitchFamily="34" charset="-122"/>
                <a:cs typeface="Inter" pitchFamily="34" charset="-120"/>
              </a:rPr>
              <a:t>What it cannot do</a:t>
            </a:r>
            <a:endParaRPr lang="en-US" sz="1700" dirty="0"/>
          </a:p>
        </p:txBody>
      </p:sp>
      <p:sp>
        <p:nvSpPr>
          <p:cNvPr id="29" name="Shape 26"/>
          <p:cNvSpPr/>
          <p:nvPr/>
        </p:nvSpPr>
        <p:spPr>
          <a:xfrm>
            <a:off x="8101584" y="3520440"/>
            <a:ext cx="3538728" cy="1371600"/>
          </a:xfrm>
          <a:prstGeom prst="roundRect">
            <a:avLst>
              <a:gd name="adj" fmla="val 6667"/>
            </a:avLst>
          </a:prstGeom>
          <a:solidFill>
            <a:srgbClr val="1E3A50"/>
          </a:solidFill>
          <a:ln w="12700">
            <a:solidFill>
              <a:srgbClr val="1E3A50"/>
            </a:solidFill>
            <a:prstDash val="solid"/>
          </a:ln>
        </p:spPr>
      </p:sp>
      <p:sp>
        <p:nvSpPr>
          <p:cNvPr id="30" name="Text 27"/>
          <p:cNvSpPr/>
          <p:nvPr/>
        </p:nvSpPr>
        <p:spPr>
          <a:xfrm>
            <a:off x="8375904" y="3749040"/>
            <a:ext cx="4572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3</a:t>
            </a:r>
            <a:endParaRPr lang="en-US" sz="2200" dirty="0"/>
          </a:p>
        </p:txBody>
      </p:sp>
      <p:sp>
        <p:nvSpPr>
          <p:cNvPr id="31" name="Text 28"/>
          <p:cNvSpPr/>
          <p:nvPr/>
        </p:nvSpPr>
        <p:spPr>
          <a:xfrm>
            <a:off x="8970264" y="3749040"/>
            <a:ext cx="2468880" cy="822960"/>
          </a:xfrm>
          <a:prstGeom prst="rect">
            <a:avLst/>
          </a:prstGeom>
          <a:noFill/>
          <a:ln/>
        </p:spPr>
        <p:txBody>
          <a:bodyPr wrap="square" lIns="0" tIns="0" rIns="0" bIns="0" rtlCol="0" anchor="ctr"/>
          <a:lstStyle/>
          <a:p>
            <a:pPr indent="0" marL="0">
              <a:buNone/>
            </a:pPr>
            <a:r>
              <a:rPr lang="en-US" sz="1700" dirty="0">
                <a:solidFill>
                  <a:srgbClr val="FFFFFF"/>
                </a:solidFill>
                <a:latin typeface="Inter" pitchFamily="34" charset="0"/>
                <a:ea typeface="Inter" pitchFamily="34" charset="-122"/>
                <a:cs typeface="Inter" pitchFamily="34" charset="-120"/>
              </a:rPr>
              <a:t>The frame that follows</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6</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2A9D8F"/>
          </a:solidFill>
          <a:ln w="12700">
            <a:solidFill>
              <a:srgbClr val="2A9D8F"/>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it predicts, it does not look up</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2A9D8F"/>
                </a:solidFill>
                <a:latin typeface="Inter" pitchFamily="34" charset="0"/>
                <a:ea typeface="Inter" pitchFamily="34" charset="-122"/>
                <a:cs typeface="Inter" pitchFamily="34" charset="-120"/>
              </a:rPr>
              <a:t>CLAIM</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A chatbot predicts words, it does not look anything up</a:t>
            </a:r>
            <a:endParaRPr lang="en-US" sz="3000" dirty="0"/>
          </a:p>
        </p:txBody>
      </p:sp>
      <p:sp>
        <p:nvSpPr>
          <p:cNvPr id="22" name="Shape 19"/>
          <p:cNvSpPr/>
          <p:nvPr/>
        </p:nvSpPr>
        <p:spPr>
          <a:xfrm>
            <a:off x="548640" y="1691640"/>
            <a:ext cx="11064240" cy="2286000"/>
          </a:xfrm>
          <a:prstGeom prst="roundRect">
            <a:avLst>
              <a:gd name="adj" fmla="val 4000"/>
            </a:avLst>
          </a:prstGeom>
          <a:solidFill>
            <a:srgbClr val="F7F5F0"/>
          </a:solidFill>
          <a:ln w="12700">
            <a:solidFill>
              <a:srgbClr val="F7F5F0"/>
            </a:solidFill>
            <a:prstDash val="solid"/>
          </a:ln>
        </p:spPr>
      </p:sp>
      <p:sp>
        <p:nvSpPr>
          <p:cNvPr id="23" name="Text 20"/>
          <p:cNvSpPr/>
          <p:nvPr/>
        </p:nvSpPr>
        <p:spPr>
          <a:xfrm>
            <a:off x="868680" y="1920240"/>
            <a:ext cx="5486400" cy="274320"/>
          </a:xfrm>
          <a:prstGeom prst="rect">
            <a:avLst/>
          </a:prstGeom>
          <a:noFill/>
          <a:ln/>
        </p:spPr>
        <p:txBody>
          <a:bodyPr wrap="square" lIns="0" tIns="0" rIns="0" bIns="0" rtlCol="0" anchor="ctr"/>
          <a:lstStyle/>
          <a:p>
            <a:pPr indent="0" marL="0">
              <a:buNone/>
            </a:pPr>
            <a:r>
              <a:rPr lang="en-US" sz="1100" b="1" spc="160" kern="0" dirty="0">
                <a:solidFill>
                  <a:srgbClr val="5B6B7A"/>
                </a:solidFill>
                <a:latin typeface="Inter" pitchFamily="34" charset="0"/>
                <a:ea typeface="Inter" pitchFamily="34" charset="-122"/>
                <a:cs typeface="Inter" pitchFamily="34" charset="-120"/>
              </a:rPr>
              <a:t>WHAT IT IS DOING</a:t>
            </a:r>
            <a:endParaRPr lang="en-US" sz="1100" dirty="0"/>
          </a:p>
        </p:txBody>
      </p:sp>
      <p:sp>
        <p:nvSpPr>
          <p:cNvPr id="24" name="Text 21"/>
          <p:cNvSpPr/>
          <p:nvPr/>
        </p:nvSpPr>
        <p:spPr>
          <a:xfrm>
            <a:off x="868680" y="2286000"/>
            <a:ext cx="10424160" cy="59436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It predicts likely next words.</a:t>
            </a:r>
            <a:endParaRPr lang="en-US" sz="3000" dirty="0"/>
          </a:p>
        </p:txBody>
      </p:sp>
      <p:sp>
        <p:nvSpPr>
          <p:cNvPr id="25" name="Text 22"/>
          <p:cNvSpPr/>
          <p:nvPr/>
        </p:nvSpPr>
        <p:spPr>
          <a:xfrm>
            <a:off x="868680" y="2971800"/>
            <a:ext cx="10424160" cy="868680"/>
          </a:xfrm>
          <a:prstGeom prst="rect">
            <a:avLst/>
          </a:prstGeom>
          <a:noFill/>
          <a:ln/>
        </p:spPr>
        <p:txBody>
          <a:bodyPr wrap="square" lIns="0" tIns="0" rIns="0" bIns="0" rtlCol="0" anchor="t"/>
          <a:lstStyle/>
          <a:p>
            <a:pPr indent="0" marL="0">
              <a:lnSpc>
                <a:spcPct val="115000"/>
              </a:lnSpc>
              <a:buNone/>
            </a:pPr>
            <a:r>
              <a:rPr lang="en-US" sz="2000" dirty="0">
                <a:solidFill>
                  <a:srgbClr val="1B1F24"/>
                </a:solidFill>
                <a:latin typeface="Inter" pitchFamily="34" charset="0"/>
                <a:ea typeface="Inter" pitchFamily="34" charset="-122"/>
                <a:cs typeface="Inter" pitchFamily="34" charset="-120"/>
              </a:rPr>
              <a:t>Not a database. Not a search engine. A pattern-continuation machine, trained on enormous amounts of text.</a:t>
            </a:r>
            <a:endParaRPr lang="en-US" sz="2000" dirty="0"/>
          </a:p>
        </p:txBody>
      </p:sp>
      <p:sp>
        <p:nvSpPr>
          <p:cNvPr id="26" name="Shape 23"/>
          <p:cNvSpPr/>
          <p:nvPr/>
        </p:nvSpPr>
        <p:spPr>
          <a:xfrm>
            <a:off x="548640" y="4297680"/>
            <a:ext cx="11064240" cy="960120"/>
          </a:xfrm>
          <a:prstGeom prst="roundRect">
            <a:avLst>
              <a:gd name="adj" fmla="val 9524"/>
            </a:avLst>
          </a:prstGeom>
          <a:solidFill>
            <a:srgbClr val="13293D"/>
          </a:solidFill>
          <a:ln w="12700">
            <a:solidFill>
              <a:srgbClr val="13293D"/>
            </a:solidFill>
            <a:prstDash val="solid"/>
          </a:ln>
        </p:spPr>
      </p:sp>
      <p:sp>
        <p:nvSpPr>
          <p:cNvPr id="27" name="Text 24"/>
          <p:cNvSpPr/>
          <p:nvPr/>
        </p:nvSpPr>
        <p:spPr>
          <a:xfrm>
            <a:off x="868680" y="4297680"/>
            <a:ext cx="10424160" cy="960120"/>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That one fact explains both the fluency and the failures.</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7</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2A9D8F"/>
          </a:solidFill>
          <a:ln w="12700">
            <a:solidFill>
              <a:srgbClr val="2A9D8F"/>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checks anything factual now</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2A9D8F"/>
                </a:solidFill>
                <a:latin typeface="Inter" pitchFamily="34" charset="0"/>
                <a:ea typeface="Inter" pitchFamily="34" charset="-122"/>
                <a:cs typeface="Inter" pitchFamily="34" charset="-120"/>
              </a:rPr>
              <a:t>CLAIM · PEER-REVIEWED EVIDENCE</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One in five AI citations in a 2025 test did not exist</a:t>
            </a:r>
            <a:endParaRPr lang="en-US" sz="3000" dirty="0"/>
          </a:p>
        </p:txBody>
      </p:sp>
      <p:sp>
        <p:nvSpPr>
          <p:cNvPr id="22" name="Shape 19"/>
          <p:cNvSpPr/>
          <p:nvPr/>
        </p:nvSpPr>
        <p:spPr>
          <a:xfrm>
            <a:off x="548640" y="1691640"/>
            <a:ext cx="5440680" cy="3291840"/>
          </a:xfrm>
          <a:prstGeom prst="roundRect">
            <a:avLst>
              <a:gd name="adj" fmla="val 2778"/>
            </a:avLst>
          </a:prstGeom>
          <a:solidFill>
            <a:srgbClr val="F7F5F0"/>
          </a:solidFill>
          <a:ln w="12700">
            <a:solidFill>
              <a:srgbClr val="F7F5F0"/>
            </a:solidFill>
            <a:prstDash val="solid"/>
          </a:ln>
        </p:spPr>
      </p:sp>
      <p:sp>
        <p:nvSpPr>
          <p:cNvPr id="23" name="Text 20"/>
          <p:cNvSpPr/>
          <p:nvPr/>
        </p:nvSpPr>
        <p:spPr>
          <a:xfrm>
            <a:off x="548640" y="1965960"/>
            <a:ext cx="5440680" cy="1051560"/>
          </a:xfrm>
          <a:prstGeom prst="rect">
            <a:avLst/>
          </a:prstGeom>
          <a:noFill/>
          <a:ln/>
        </p:spPr>
        <p:txBody>
          <a:bodyPr wrap="square" lIns="0" tIns="0" rIns="0" bIns="0" rtlCol="0" anchor="ctr"/>
          <a:lstStyle/>
          <a:p>
            <a:pPr algn="ctr" indent="0" marL="0">
              <a:buNone/>
            </a:pPr>
            <a:r>
              <a:rPr lang="en-US" sz="6000" b="1" dirty="0">
                <a:solidFill>
                  <a:srgbClr val="B4453A"/>
                </a:solidFill>
                <a:latin typeface="Inter" pitchFamily="34" charset="0"/>
                <a:ea typeface="Inter" pitchFamily="34" charset="-122"/>
                <a:cs typeface="Inter" pitchFamily="34" charset="-120"/>
              </a:rPr>
              <a:t>19.9%</a:t>
            </a:r>
            <a:endParaRPr lang="en-US" sz="6000" dirty="0"/>
          </a:p>
        </p:txBody>
      </p:sp>
      <p:sp>
        <p:nvSpPr>
          <p:cNvPr id="24" name="Text 21"/>
          <p:cNvSpPr/>
          <p:nvPr/>
        </p:nvSpPr>
        <p:spPr>
          <a:xfrm>
            <a:off x="749808" y="3246120"/>
            <a:ext cx="5038344" cy="137160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citations a leading AI model</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produced were entirely fabricated.</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The papers did not exist.</a:t>
            </a:r>
            <a:endParaRPr lang="en-US" sz="1600" dirty="0"/>
          </a:p>
        </p:txBody>
      </p:sp>
      <p:sp>
        <p:nvSpPr>
          <p:cNvPr id="25" name="Shape 22"/>
          <p:cNvSpPr/>
          <p:nvPr/>
        </p:nvSpPr>
        <p:spPr>
          <a:xfrm>
            <a:off x="6172200" y="1691640"/>
            <a:ext cx="5440680" cy="3291840"/>
          </a:xfrm>
          <a:prstGeom prst="roundRect">
            <a:avLst>
              <a:gd name="adj" fmla="val 2778"/>
            </a:avLst>
          </a:prstGeom>
          <a:solidFill>
            <a:srgbClr val="F7F5F0"/>
          </a:solidFill>
          <a:ln w="12700">
            <a:solidFill>
              <a:srgbClr val="F7F5F0"/>
            </a:solidFill>
            <a:prstDash val="solid"/>
          </a:ln>
        </p:spPr>
      </p:sp>
      <p:sp>
        <p:nvSpPr>
          <p:cNvPr id="26" name="Text 23"/>
          <p:cNvSpPr/>
          <p:nvPr/>
        </p:nvSpPr>
        <p:spPr>
          <a:xfrm>
            <a:off x="6172200" y="1965960"/>
            <a:ext cx="5440680" cy="1051560"/>
          </a:xfrm>
          <a:prstGeom prst="rect">
            <a:avLst/>
          </a:prstGeom>
          <a:noFill/>
          <a:ln/>
        </p:spPr>
        <p:txBody>
          <a:bodyPr wrap="square" lIns="0" tIns="0" rIns="0" bIns="0" rtlCol="0" anchor="ctr"/>
          <a:lstStyle/>
          <a:p>
            <a:pPr algn="ctr" indent="0" marL="0">
              <a:buNone/>
            </a:pPr>
            <a:r>
              <a:rPr lang="en-US" sz="6000" b="1" dirty="0">
                <a:solidFill>
                  <a:srgbClr val="F4A825"/>
                </a:solidFill>
                <a:latin typeface="Inter" pitchFamily="34" charset="0"/>
                <a:ea typeface="Inter" pitchFamily="34" charset="-122"/>
                <a:cs typeface="Inter" pitchFamily="34" charset="-120"/>
              </a:rPr>
              <a:t>45.4%</a:t>
            </a:r>
            <a:endParaRPr lang="en-US" sz="6000" dirty="0"/>
          </a:p>
        </p:txBody>
      </p:sp>
      <p:sp>
        <p:nvSpPr>
          <p:cNvPr id="27" name="Text 24"/>
          <p:cNvSpPr/>
          <p:nvPr/>
        </p:nvSpPr>
        <p:spPr>
          <a:xfrm>
            <a:off x="6373368" y="3246120"/>
            <a:ext cx="5038344" cy="137160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the real citations still</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contained errors. Every one</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looked perfect on the page.</a:t>
            </a:r>
            <a:endParaRPr lang="en-US" sz="1600" dirty="0"/>
          </a:p>
        </p:txBody>
      </p:sp>
      <p:sp>
        <p:nvSpPr>
          <p:cNvPr id="28" name="Shape 25"/>
          <p:cNvSpPr/>
          <p:nvPr/>
        </p:nvSpPr>
        <p:spPr>
          <a:xfrm>
            <a:off x="548640" y="5212080"/>
            <a:ext cx="11064240" cy="777240"/>
          </a:xfrm>
          <a:prstGeom prst="roundRect">
            <a:avLst>
              <a:gd name="adj" fmla="val 11765"/>
            </a:avLst>
          </a:prstGeom>
          <a:solidFill>
            <a:srgbClr val="FBEFED"/>
          </a:solidFill>
          <a:ln w="12700">
            <a:solidFill>
              <a:srgbClr val="FBEFED"/>
            </a:solidFill>
            <a:prstDash val="solid"/>
          </a:ln>
        </p:spPr>
      </p:sp>
      <p:sp>
        <p:nvSpPr>
          <p:cNvPr id="29" name="Text 26"/>
          <p:cNvSpPr/>
          <p:nvPr/>
        </p:nvSpPr>
        <p:spPr>
          <a:xfrm>
            <a:off x="868680" y="5212080"/>
            <a:ext cx="10424160" cy="77724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The habit that follows: verify anything factual before you rely on it.</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8</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2A9D8F"/>
          </a:solidFill>
          <a:ln w="12700">
            <a:solidFill>
              <a:srgbClr val="2A9D8F"/>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her frame: an eager intern</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2A9D8F"/>
                </a:solidFill>
                <a:latin typeface="Inter" pitchFamily="34" charset="0"/>
                <a:ea typeface="Inter" pitchFamily="34" charset="-122"/>
                <a:cs typeface="Inter" pitchFamily="34" charset="-120"/>
              </a:rPr>
              <a:t>KEEP THIS</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AI is an eager intern and you are the professional in charge</a:t>
            </a:r>
            <a:endParaRPr lang="en-US" sz="3000" dirty="0"/>
          </a:p>
        </p:txBody>
      </p:sp>
      <p:sp>
        <p:nvSpPr>
          <p:cNvPr id="22" name="Shape 19"/>
          <p:cNvSpPr/>
          <p:nvPr/>
        </p:nvSpPr>
        <p:spPr>
          <a:xfrm>
            <a:off x="548640" y="1691640"/>
            <a:ext cx="11064240" cy="2148840"/>
          </a:xfrm>
          <a:prstGeom prst="roundRect">
            <a:avLst>
              <a:gd name="adj" fmla="val 4255"/>
            </a:avLst>
          </a:prstGeom>
          <a:solidFill>
            <a:srgbClr val="F7F5F0"/>
          </a:solidFill>
          <a:ln w="12700">
            <a:solidFill>
              <a:srgbClr val="F7F5F0"/>
            </a:solidFill>
            <a:prstDash val="solid"/>
          </a:ln>
        </p:spPr>
      </p:sp>
      <p:sp>
        <p:nvSpPr>
          <p:cNvPr id="23" name="Shape 20"/>
          <p:cNvSpPr/>
          <p:nvPr/>
        </p:nvSpPr>
        <p:spPr>
          <a:xfrm>
            <a:off x="548640" y="1691640"/>
            <a:ext cx="82296" cy="2148840"/>
          </a:xfrm>
          <a:prstGeom prst="rect">
            <a:avLst/>
          </a:prstGeom>
          <a:solidFill>
            <a:srgbClr val="2A9D8F"/>
          </a:solidFill>
          <a:ln w="12700">
            <a:solidFill>
              <a:srgbClr val="2A9D8F"/>
            </a:solidFill>
            <a:prstDash val="solid"/>
          </a:ln>
        </p:spPr>
      </p:sp>
      <p:sp>
        <p:nvSpPr>
          <p:cNvPr id="24" name="Text 21"/>
          <p:cNvSpPr/>
          <p:nvPr/>
        </p:nvSpPr>
        <p:spPr>
          <a:xfrm>
            <a:off x="1051560" y="1892808"/>
            <a:ext cx="10058400" cy="1188720"/>
          </a:xfrm>
          <a:prstGeom prst="rect">
            <a:avLst/>
          </a:prstGeom>
          <a:noFill/>
          <a:ln/>
        </p:spPr>
        <p:txBody>
          <a:bodyPr wrap="square" lIns="0" tIns="0" rIns="0" bIns="0" rtlCol="0" anchor="ctr"/>
          <a:lstStyle/>
          <a:p>
            <a:pPr indent="0" marL="0">
              <a:lnSpc>
                <a:spcPct val="108000"/>
              </a:lnSpc>
              <a:buNone/>
            </a:pPr>
            <a:r>
              <a:rPr lang="en-US" sz="3400" b="1" dirty="0">
                <a:solidFill>
                  <a:srgbClr val="13293D"/>
                </a:solidFill>
                <a:latin typeface="Inter" pitchFamily="34" charset="0"/>
                <a:ea typeface="Inter" pitchFamily="34" charset="-122"/>
                <a:cs typeface="Inter" pitchFamily="34" charset="-120"/>
              </a:rPr>
              <a:t>AI drafts. The teacher decides.</a:t>
            </a:r>
            <a:endParaRPr lang="en-US" sz="3400" dirty="0"/>
          </a:p>
        </p:txBody>
      </p:sp>
      <p:sp>
        <p:nvSpPr>
          <p:cNvPr id="25" name="Text 22"/>
          <p:cNvSpPr/>
          <p:nvPr/>
        </p:nvSpPr>
        <p:spPr>
          <a:xfrm>
            <a:off x="1051560" y="3127248"/>
            <a:ext cx="10058400" cy="64008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Fast, tireless, desperate to please, and it will make things up rather than admit it does not know.</a:t>
            </a:r>
            <a:endParaRPr lang="en-US" sz="1700" dirty="0"/>
          </a:p>
        </p:txBody>
      </p:sp>
      <p:sp>
        <p:nvSpPr>
          <p:cNvPr id="26" name="Shape 23"/>
          <p:cNvSpPr/>
          <p:nvPr/>
        </p:nvSpPr>
        <p:spPr>
          <a:xfrm>
            <a:off x="548640" y="4160520"/>
            <a:ext cx="3538728" cy="1417320"/>
          </a:xfrm>
          <a:prstGeom prst="roundRect">
            <a:avLst>
              <a:gd name="adj" fmla="val 6452"/>
            </a:avLst>
          </a:prstGeom>
          <a:solidFill>
            <a:srgbClr val="F7F5F0"/>
          </a:solidFill>
          <a:ln w="12700">
            <a:solidFill>
              <a:srgbClr val="F7F5F0"/>
            </a:solidFill>
            <a:prstDash val="solid"/>
          </a:ln>
        </p:spPr>
      </p:sp>
      <p:sp>
        <p:nvSpPr>
          <p:cNvPr id="27" name="Text 24"/>
          <p:cNvSpPr/>
          <p:nvPr/>
        </p:nvSpPr>
        <p:spPr>
          <a:xfrm>
            <a:off x="777240" y="4279392"/>
            <a:ext cx="3108960" cy="274320"/>
          </a:xfrm>
          <a:prstGeom prst="rect">
            <a:avLst/>
          </a:prstGeom>
          <a:noFill/>
          <a:ln/>
        </p:spPr>
        <p:txBody>
          <a:bodyPr wrap="square" lIns="0" tIns="0" rIns="0" bIns="0" rtlCol="0" anchor="ctr"/>
          <a:lstStyle/>
          <a:p>
            <a:pPr indent="0" marL="0">
              <a:buNone/>
            </a:pPr>
            <a:r>
              <a:rPr lang="en-US" sz="1100" b="1" spc="160" kern="0" dirty="0">
                <a:solidFill>
                  <a:srgbClr val="B4453A"/>
                </a:solidFill>
                <a:latin typeface="Inter" pitchFamily="34" charset="0"/>
                <a:ea typeface="Inter" pitchFamily="34" charset="-122"/>
                <a:cs typeface="Inter" pitchFamily="34" charset="-120"/>
              </a:rPr>
              <a:t>NEVER</a:t>
            </a:r>
            <a:endParaRPr lang="en-US" sz="1100" dirty="0"/>
          </a:p>
        </p:txBody>
      </p:sp>
      <p:sp>
        <p:nvSpPr>
          <p:cNvPr id="28" name="Text 25"/>
          <p:cNvSpPr/>
          <p:nvPr/>
        </p:nvSpPr>
        <p:spPr>
          <a:xfrm>
            <a:off x="777240" y="4590288"/>
            <a:ext cx="3108960" cy="868680"/>
          </a:xfrm>
          <a:prstGeom prst="rect">
            <a:avLst/>
          </a:prstGeom>
          <a:noFill/>
          <a:ln/>
        </p:spPr>
        <p:txBody>
          <a:bodyPr wrap="square" lIns="0" tIns="0" rIns="0" bIns="0" rtlCol="0" anchor="t"/>
          <a:lstStyle/>
          <a:p>
            <a:pPr indent="0" marL="0">
              <a:lnSpc>
                <a:spcPct val="110000"/>
              </a:lnSpc>
              <a:buNone/>
            </a:pPr>
            <a:r>
              <a:rPr lang="en-US" sz="1600" dirty="0">
                <a:solidFill>
                  <a:srgbClr val="1B1F24"/>
                </a:solidFill>
                <a:latin typeface="Inter" pitchFamily="34" charset="0"/>
                <a:ea typeface="Inter" pitchFamily="34" charset="-122"/>
                <a:cs typeface="Inter" pitchFamily="34" charset="-120"/>
              </a:rPr>
              <a:t>meets your students unsupervised</a:t>
            </a:r>
            <a:endParaRPr lang="en-US" sz="1600" dirty="0"/>
          </a:p>
        </p:txBody>
      </p:sp>
      <p:sp>
        <p:nvSpPr>
          <p:cNvPr id="29" name="Shape 26"/>
          <p:cNvSpPr/>
          <p:nvPr/>
        </p:nvSpPr>
        <p:spPr>
          <a:xfrm>
            <a:off x="4325112" y="4160520"/>
            <a:ext cx="3538728" cy="1417320"/>
          </a:xfrm>
          <a:prstGeom prst="roundRect">
            <a:avLst>
              <a:gd name="adj" fmla="val 6452"/>
            </a:avLst>
          </a:prstGeom>
          <a:solidFill>
            <a:srgbClr val="F7F5F0"/>
          </a:solidFill>
          <a:ln w="12700">
            <a:solidFill>
              <a:srgbClr val="F7F5F0"/>
            </a:solidFill>
            <a:prstDash val="solid"/>
          </a:ln>
        </p:spPr>
      </p:sp>
      <p:sp>
        <p:nvSpPr>
          <p:cNvPr id="30" name="Text 27"/>
          <p:cNvSpPr/>
          <p:nvPr/>
        </p:nvSpPr>
        <p:spPr>
          <a:xfrm>
            <a:off x="4553712" y="4279392"/>
            <a:ext cx="3108960" cy="274320"/>
          </a:xfrm>
          <a:prstGeom prst="rect">
            <a:avLst/>
          </a:prstGeom>
          <a:noFill/>
          <a:ln/>
        </p:spPr>
        <p:txBody>
          <a:bodyPr wrap="square" lIns="0" tIns="0" rIns="0" bIns="0" rtlCol="0" anchor="ctr"/>
          <a:lstStyle/>
          <a:p>
            <a:pPr indent="0" marL="0">
              <a:buNone/>
            </a:pPr>
            <a:r>
              <a:rPr lang="en-US" sz="1100" b="1" spc="160" kern="0" dirty="0">
                <a:solidFill>
                  <a:srgbClr val="B4453A"/>
                </a:solidFill>
                <a:latin typeface="Inter" pitchFamily="34" charset="0"/>
                <a:ea typeface="Inter" pitchFamily="34" charset="-122"/>
                <a:cs typeface="Inter" pitchFamily="34" charset="-120"/>
              </a:rPr>
              <a:t>NEVER</a:t>
            </a:r>
            <a:endParaRPr lang="en-US" sz="1100" dirty="0"/>
          </a:p>
        </p:txBody>
      </p:sp>
      <p:sp>
        <p:nvSpPr>
          <p:cNvPr id="31" name="Text 28"/>
          <p:cNvSpPr/>
          <p:nvPr/>
        </p:nvSpPr>
        <p:spPr>
          <a:xfrm>
            <a:off x="4553712" y="4590288"/>
            <a:ext cx="3108960" cy="868680"/>
          </a:xfrm>
          <a:prstGeom prst="rect">
            <a:avLst/>
          </a:prstGeom>
          <a:noFill/>
          <a:ln/>
        </p:spPr>
        <p:txBody>
          <a:bodyPr wrap="square" lIns="0" tIns="0" rIns="0" bIns="0" rtlCol="0" anchor="t"/>
          <a:lstStyle/>
          <a:p>
            <a:pPr indent="0" marL="0">
              <a:lnSpc>
                <a:spcPct val="110000"/>
              </a:lnSpc>
              <a:buNone/>
            </a:pPr>
            <a:r>
              <a:rPr lang="en-US" sz="1600" dirty="0">
                <a:solidFill>
                  <a:srgbClr val="1B1F24"/>
                </a:solidFill>
                <a:latin typeface="Inter" pitchFamily="34" charset="0"/>
                <a:ea typeface="Inter" pitchFamily="34" charset="-122"/>
                <a:cs typeface="Inter" pitchFamily="34" charset="-120"/>
              </a:rPr>
              <a:t>sends unread work home</a:t>
            </a:r>
            <a:endParaRPr lang="en-US" sz="1600" dirty="0"/>
          </a:p>
        </p:txBody>
      </p:sp>
      <p:sp>
        <p:nvSpPr>
          <p:cNvPr id="32" name="Shape 29"/>
          <p:cNvSpPr/>
          <p:nvPr/>
        </p:nvSpPr>
        <p:spPr>
          <a:xfrm>
            <a:off x="8101584" y="4160520"/>
            <a:ext cx="3538728" cy="1417320"/>
          </a:xfrm>
          <a:prstGeom prst="roundRect">
            <a:avLst>
              <a:gd name="adj" fmla="val 6452"/>
            </a:avLst>
          </a:prstGeom>
          <a:solidFill>
            <a:srgbClr val="F7F5F0"/>
          </a:solidFill>
          <a:ln w="12700">
            <a:solidFill>
              <a:srgbClr val="F7F5F0"/>
            </a:solidFill>
            <a:prstDash val="solid"/>
          </a:ln>
        </p:spPr>
      </p:sp>
      <p:sp>
        <p:nvSpPr>
          <p:cNvPr id="33" name="Text 30"/>
          <p:cNvSpPr/>
          <p:nvPr/>
        </p:nvSpPr>
        <p:spPr>
          <a:xfrm>
            <a:off x="8330184" y="4279392"/>
            <a:ext cx="3108960" cy="274320"/>
          </a:xfrm>
          <a:prstGeom prst="rect">
            <a:avLst/>
          </a:prstGeom>
          <a:noFill/>
          <a:ln/>
        </p:spPr>
        <p:txBody>
          <a:bodyPr wrap="square" lIns="0" tIns="0" rIns="0" bIns="0" rtlCol="0" anchor="ctr"/>
          <a:lstStyle/>
          <a:p>
            <a:pPr indent="0" marL="0">
              <a:buNone/>
            </a:pPr>
            <a:r>
              <a:rPr lang="en-US" sz="1100" b="1" spc="160" kern="0" dirty="0">
                <a:solidFill>
                  <a:srgbClr val="2E7D5B"/>
                </a:solidFill>
                <a:latin typeface="Inter" pitchFamily="34" charset="0"/>
                <a:ea typeface="Inter" pitchFamily="34" charset="-122"/>
                <a:cs typeface="Inter" pitchFamily="34" charset="-120"/>
              </a:rPr>
              <a:t>ALWAYS</a:t>
            </a:r>
            <a:endParaRPr lang="en-US" sz="1100" dirty="0"/>
          </a:p>
        </p:txBody>
      </p:sp>
      <p:sp>
        <p:nvSpPr>
          <p:cNvPr id="34" name="Text 31"/>
          <p:cNvSpPr/>
          <p:nvPr/>
        </p:nvSpPr>
        <p:spPr>
          <a:xfrm>
            <a:off x="8330184" y="4590288"/>
            <a:ext cx="3108960" cy="868680"/>
          </a:xfrm>
          <a:prstGeom prst="rect">
            <a:avLst/>
          </a:prstGeom>
          <a:noFill/>
          <a:ln/>
        </p:spPr>
        <p:txBody>
          <a:bodyPr wrap="square" lIns="0" tIns="0" rIns="0" bIns="0" rtlCol="0" anchor="t"/>
          <a:lstStyle/>
          <a:p>
            <a:pPr indent="0" marL="0">
              <a:lnSpc>
                <a:spcPct val="110000"/>
              </a:lnSpc>
              <a:buNone/>
            </a:pPr>
            <a:r>
              <a:rPr lang="en-US" sz="1600" dirty="0">
                <a:solidFill>
                  <a:srgbClr val="1B1F24"/>
                </a:solidFill>
                <a:latin typeface="Inter" pitchFamily="34" charset="0"/>
                <a:ea typeface="Inter" pitchFamily="34" charset="-122"/>
                <a:cs typeface="Inter" pitchFamily="34" charset="-120"/>
              </a:rPr>
              <a:t>works because a professional is in charge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9</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2A9D8F"/>
          </a:solidFill>
          <a:ln w="12700">
            <a:solidFill>
              <a:srgbClr val="2A9D8F"/>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her shortlist: drafts and levels</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2A9D8F"/>
                </a:solidFill>
                <a:latin typeface="Inter" pitchFamily="34" charset="0"/>
                <a:ea typeface="Inter" pitchFamily="34" charset="-122"/>
                <a:cs typeface="Inter" pitchFamily="34" charset="-120"/>
              </a:rPr>
              <a:t>CLAIM</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Four kinds of work are where the intern earns its keep</a:t>
            </a:r>
            <a:endParaRPr lang="en-US" sz="3000" dirty="0"/>
          </a:p>
        </p:txBody>
      </p:sp>
      <p:sp>
        <p:nvSpPr>
          <p:cNvPr id="22" name="Shape 19"/>
          <p:cNvSpPr/>
          <p:nvPr/>
        </p:nvSpPr>
        <p:spPr>
          <a:xfrm>
            <a:off x="548640" y="1691640"/>
            <a:ext cx="5422392" cy="1600200"/>
          </a:xfrm>
          <a:prstGeom prst="roundRect">
            <a:avLst>
              <a:gd name="adj" fmla="val 5714"/>
            </a:avLst>
          </a:prstGeom>
          <a:solidFill>
            <a:srgbClr val="F7F5F0"/>
          </a:solidFill>
          <a:ln w="12700">
            <a:solidFill>
              <a:srgbClr val="F7F5F0"/>
            </a:solidFill>
            <a:prstDash val="solid"/>
          </a:ln>
        </p:spPr>
      </p:sp>
      <p:sp>
        <p:nvSpPr>
          <p:cNvPr id="23" name="Text 20"/>
          <p:cNvSpPr/>
          <p:nvPr/>
        </p:nvSpPr>
        <p:spPr>
          <a:xfrm>
            <a:off x="822960" y="1874520"/>
            <a:ext cx="484632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First drafts</a:t>
            </a:r>
            <a:endParaRPr lang="en-US" sz="2000" dirty="0"/>
          </a:p>
        </p:txBody>
      </p:sp>
      <p:sp>
        <p:nvSpPr>
          <p:cNvPr id="24" name="Text 21"/>
          <p:cNvSpPr/>
          <p:nvPr/>
        </p:nvSpPr>
        <p:spPr>
          <a:xfrm>
            <a:off x="822960" y="2377440"/>
            <a:ext cx="4846320" cy="77724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Newsletters, emails, letters home</a:t>
            </a:r>
            <a:endParaRPr lang="en-US" sz="1700" dirty="0"/>
          </a:p>
        </p:txBody>
      </p:sp>
      <p:sp>
        <p:nvSpPr>
          <p:cNvPr id="25" name="Shape 22"/>
          <p:cNvSpPr/>
          <p:nvPr/>
        </p:nvSpPr>
        <p:spPr>
          <a:xfrm>
            <a:off x="6190488" y="1691640"/>
            <a:ext cx="5422392" cy="1600200"/>
          </a:xfrm>
          <a:prstGeom prst="roundRect">
            <a:avLst>
              <a:gd name="adj" fmla="val 5714"/>
            </a:avLst>
          </a:prstGeom>
          <a:solidFill>
            <a:srgbClr val="F7F5F0"/>
          </a:solidFill>
          <a:ln w="12700">
            <a:solidFill>
              <a:srgbClr val="F7F5F0"/>
            </a:solidFill>
            <a:prstDash val="solid"/>
          </a:ln>
        </p:spPr>
      </p:sp>
      <p:sp>
        <p:nvSpPr>
          <p:cNvPr id="26" name="Text 23"/>
          <p:cNvSpPr/>
          <p:nvPr/>
        </p:nvSpPr>
        <p:spPr>
          <a:xfrm>
            <a:off x="6464808" y="1874520"/>
            <a:ext cx="484632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Differentiation</a:t>
            </a:r>
            <a:endParaRPr lang="en-US" sz="2000" dirty="0"/>
          </a:p>
        </p:txBody>
      </p:sp>
      <p:sp>
        <p:nvSpPr>
          <p:cNvPr id="27" name="Text 24"/>
          <p:cNvSpPr/>
          <p:nvPr/>
        </p:nvSpPr>
        <p:spPr>
          <a:xfrm>
            <a:off x="6464808" y="2377440"/>
            <a:ext cx="4846320" cy="77724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One passage, three reading levels</a:t>
            </a:r>
            <a:endParaRPr lang="en-US" sz="1700" dirty="0"/>
          </a:p>
        </p:txBody>
      </p:sp>
      <p:sp>
        <p:nvSpPr>
          <p:cNvPr id="28" name="Shape 25"/>
          <p:cNvSpPr/>
          <p:nvPr/>
        </p:nvSpPr>
        <p:spPr>
          <a:xfrm>
            <a:off x="548640" y="3474720"/>
            <a:ext cx="5422392" cy="1600200"/>
          </a:xfrm>
          <a:prstGeom prst="roundRect">
            <a:avLst>
              <a:gd name="adj" fmla="val 5714"/>
            </a:avLst>
          </a:prstGeom>
          <a:solidFill>
            <a:srgbClr val="F7F5F0"/>
          </a:solidFill>
          <a:ln w="12700">
            <a:solidFill>
              <a:srgbClr val="F7F5F0"/>
            </a:solidFill>
            <a:prstDash val="solid"/>
          </a:ln>
        </p:spPr>
      </p:sp>
      <p:sp>
        <p:nvSpPr>
          <p:cNvPr id="29" name="Text 26"/>
          <p:cNvSpPr/>
          <p:nvPr/>
        </p:nvSpPr>
        <p:spPr>
          <a:xfrm>
            <a:off x="822960" y="3657600"/>
            <a:ext cx="484632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Assessment scaffolds</a:t>
            </a:r>
            <a:endParaRPr lang="en-US" sz="2000" dirty="0"/>
          </a:p>
        </p:txBody>
      </p:sp>
      <p:sp>
        <p:nvSpPr>
          <p:cNvPr id="30" name="Text 27"/>
          <p:cNvSpPr/>
          <p:nvPr/>
        </p:nvSpPr>
        <p:spPr>
          <a:xfrm>
            <a:off x="822960" y="4160520"/>
            <a:ext cx="4846320" cy="77724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Notes into rubrics and word banks</a:t>
            </a:r>
            <a:endParaRPr lang="en-US" sz="1700" dirty="0"/>
          </a:p>
        </p:txBody>
      </p:sp>
      <p:sp>
        <p:nvSpPr>
          <p:cNvPr id="31" name="Shape 28"/>
          <p:cNvSpPr/>
          <p:nvPr/>
        </p:nvSpPr>
        <p:spPr>
          <a:xfrm>
            <a:off x="6190488" y="3474720"/>
            <a:ext cx="5422392" cy="1600200"/>
          </a:xfrm>
          <a:prstGeom prst="roundRect">
            <a:avLst>
              <a:gd name="adj" fmla="val 5714"/>
            </a:avLst>
          </a:prstGeom>
          <a:solidFill>
            <a:srgbClr val="F7F5F0"/>
          </a:solidFill>
          <a:ln w="12700">
            <a:solidFill>
              <a:srgbClr val="F7F5F0"/>
            </a:solidFill>
            <a:prstDash val="solid"/>
          </a:ln>
        </p:spPr>
      </p:sp>
      <p:sp>
        <p:nvSpPr>
          <p:cNvPr id="32" name="Text 29"/>
          <p:cNvSpPr/>
          <p:nvPr/>
        </p:nvSpPr>
        <p:spPr>
          <a:xfrm>
            <a:off x="6464808" y="3657600"/>
            <a:ext cx="484632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Reformatting</a:t>
            </a:r>
            <a:endParaRPr lang="en-US" sz="2000" dirty="0"/>
          </a:p>
        </p:txBody>
      </p:sp>
      <p:sp>
        <p:nvSpPr>
          <p:cNvPr id="33" name="Text 30"/>
          <p:cNvSpPr/>
          <p:nvPr/>
        </p:nvSpPr>
        <p:spPr>
          <a:xfrm>
            <a:off x="6464808" y="4160520"/>
            <a:ext cx="4846320" cy="77724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The same content as a quiz or a table</a:t>
            </a:r>
            <a:endParaRPr lang="en-US" sz="1700" dirty="0"/>
          </a:p>
        </p:txBody>
      </p:sp>
      <p:sp>
        <p:nvSpPr>
          <p:cNvPr id="34" name="Shape 31"/>
          <p:cNvSpPr/>
          <p:nvPr/>
        </p:nvSpPr>
        <p:spPr>
          <a:xfrm>
            <a:off x="548640" y="5257800"/>
            <a:ext cx="11064240" cy="777240"/>
          </a:xfrm>
          <a:prstGeom prst="roundRect">
            <a:avLst>
              <a:gd name="adj" fmla="val 11765"/>
            </a:avLst>
          </a:prstGeom>
          <a:solidFill>
            <a:srgbClr val="EAF5F3"/>
          </a:solidFill>
          <a:ln w="12700">
            <a:solidFill>
              <a:srgbClr val="EAF5F3"/>
            </a:solidFill>
            <a:prstDash val="solid"/>
          </a:ln>
        </p:spPr>
      </p:sp>
      <p:sp>
        <p:nvSpPr>
          <p:cNvPr id="35" name="Text 32"/>
          <p:cNvSpPr/>
          <p:nvPr/>
        </p:nvSpPr>
        <p:spPr>
          <a:xfrm>
            <a:off x="868680" y="5257800"/>
            <a:ext cx="10424160" cy="77724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Weekly users report saving about 5.9 hours a week (Gallup &amp; Walton, 2025).</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10</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2A9D8F"/>
          </a:solidFill>
          <a:ln w="12700">
            <a:solidFill>
              <a:srgbClr val="2A9D8F"/>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hers alone: knowing her kids</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2A9D8F"/>
                </a:solidFill>
                <a:latin typeface="Inter" pitchFamily="34" charset="0"/>
                <a:ea typeface="Inter" pitchFamily="34" charset="-122"/>
                <a:cs typeface="Inter" pitchFamily="34" charset="-120"/>
              </a:rPr>
              <a:t>CLAIM</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Knowing your kids, checking facts and caring stay yours</a:t>
            </a:r>
            <a:endParaRPr lang="en-US" sz="3000" dirty="0"/>
          </a:p>
        </p:txBody>
      </p:sp>
      <p:sp>
        <p:nvSpPr>
          <p:cNvPr id="22" name="Shape 19"/>
          <p:cNvSpPr/>
          <p:nvPr/>
        </p:nvSpPr>
        <p:spPr>
          <a:xfrm>
            <a:off x="548640" y="1691640"/>
            <a:ext cx="3538728" cy="2514600"/>
          </a:xfrm>
          <a:prstGeom prst="roundRect">
            <a:avLst>
              <a:gd name="adj" fmla="val 3636"/>
            </a:avLst>
          </a:prstGeom>
          <a:solidFill>
            <a:srgbClr val="F7F5F0"/>
          </a:solidFill>
          <a:ln w="12700">
            <a:solidFill>
              <a:srgbClr val="F7F5F0"/>
            </a:solidFill>
            <a:prstDash val="solid"/>
          </a:ln>
        </p:spPr>
      </p:sp>
      <p:sp>
        <p:nvSpPr>
          <p:cNvPr id="23" name="Text 20"/>
          <p:cNvSpPr/>
          <p:nvPr/>
        </p:nvSpPr>
        <p:spPr>
          <a:xfrm>
            <a:off x="804672" y="1874520"/>
            <a:ext cx="3063240" cy="685800"/>
          </a:xfrm>
          <a:prstGeom prst="rect">
            <a:avLst/>
          </a:prstGeom>
          <a:noFill/>
          <a:ln/>
        </p:spPr>
        <p:txBody>
          <a:bodyPr wrap="square" lIns="0" tIns="0" rIns="0" bIns="0" rtlCol="0" anchor="t"/>
          <a:lstStyle/>
          <a:p>
            <a:pPr indent="0" marL="0">
              <a:lnSpc>
                <a:spcPct val="105000"/>
              </a:lnSpc>
              <a:buNone/>
            </a:pPr>
            <a:r>
              <a:rPr lang="en-US" sz="2000" b="1" dirty="0">
                <a:solidFill>
                  <a:srgbClr val="13293D"/>
                </a:solidFill>
                <a:latin typeface="Inter" pitchFamily="34" charset="0"/>
                <a:ea typeface="Inter" pitchFamily="34" charset="-122"/>
                <a:cs typeface="Inter" pitchFamily="34" charset="-120"/>
              </a:rPr>
              <a:t>Know your students</a:t>
            </a:r>
            <a:endParaRPr lang="en-US" sz="2000" dirty="0"/>
          </a:p>
        </p:txBody>
      </p:sp>
      <p:sp>
        <p:nvSpPr>
          <p:cNvPr id="24" name="Text 21"/>
          <p:cNvSpPr/>
          <p:nvPr/>
        </p:nvSpPr>
        <p:spPr>
          <a:xfrm>
            <a:off x="804672" y="2697480"/>
            <a:ext cx="3063240" cy="1371600"/>
          </a:xfrm>
          <a:prstGeom prst="rect">
            <a:avLst/>
          </a:prstGeom>
          <a:noFill/>
          <a:ln/>
        </p:spPr>
        <p:txBody>
          <a:bodyPr wrap="square" lIns="0" tIns="0" rIns="0" bIns="0" rtlCol="0" anchor="t"/>
          <a:lstStyle/>
          <a:p>
            <a:pPr indent="0" marL="0">
              <a:lnSpc>
                <a:spcPct val="115000"/>
              </a:lnSpc>
              <a:buNone/>
            </a:pPr>
            <a:r>
              <a:rPr lang="en-US" sz="1600" dirty="0">
                <a:solidFill>
                  <a:srgbClr val="1B1F24"/>
                </a:solidFill>
                <a:latin typeface="Inter" pitchFamily="34" charset="0"/>
                <a:ea typeface="Inter" pitchFamily="34" charset="-122"/>
                <a:cs typeface="Inter" pitchFamily="34" charset="-120"/>
              </a:rPr>
              <a:t>This class shuts down after lunch. This kid needs a win today.</a:t>
            </a:r>
            <a:endParaRPr lang="en-US" sz="1600" dirty="0"/>
          </a:p>
        </p:txBody>
      </p:sp>
      <p:sp>
        <p:nvSpPr>
          <p:cNvPr id="25" name="Shape 22"/>
          <p:cNvSpPr/>
          <p:nvPr/>
        </p:nvSpPr>
        <p:spPr>
          <a:xfrm>
            <a:off x="4325112" y="1691640"/>
            <a:ext cx="3538728" cy="2514600"/>
          </a:xfrm>
          <a:prstGeom prst="roundRect">
            <a:avLst>
              <a:gd name="adj" fmla="val 3636"/>
            </a:avLst>
          </a:prstGeom>
          <a:solidFill>
            <a:srgbClr val="F7F5F0"/>
          </a:solidFill>
          <a:ln w="12700">
            <a:solidFill>
              <a:srgbClr val="F7F5F0"/>
            </a:solidFill>
            <a:prstDash val="solid"/>
          </a:ln>
        </p:spPr>
      </p:sp>
      <p:sp>
        <p:nvSpPr>
          <p:cNvPr id="26" name="Text 23"/>
          <p:cNvSpPr/>
          <p:nvPr/>
        </p:nvSpPr>
        <p:spPr>
          <a:xfrm>
            <a:off x="4581144" y="1874520"/>
            <a:ext cx="3063240" cy="685800"/>
          </a:xfrm>
          <a:prstGeom prst="rect">
            <a:avLst/>
          </a:prstGeom>
          <a:noFill/>
          <a:ln/>
        </p:spPr>
        <p:txBody>
          <a:bodyPr wrap="square" lIns="0" tIns="0" rIns="0" bIns="0" rtlCol="0" anchor="t"/>
          <a:lstStyle/>
          <a:p>
            <a:pPr indent="0" marL="0">
              <a:lnSpc>
                <a:spcPct val="105000"/>
              </a:lnSpc>
              <a:buNone/>
            </a:pPr>
            <a:r>
              <a:rPr lang="en-US" sz="2000" b="1" dirty="0">
                <a:solidFill>
                  <a:srgbClr val="13293D"/>
                </a:solidFill>
                <a:latin typeface="Inter" pitchFamily="34" charset="0"/>
                <a:ea typeface="Inter" pitchFamily="34" charset="-122"/>
                <a:cs typeface="Inter" pitchFamily="34" charset="-120"/>
              </a:rPr>
              <a:t>Verify its own facts</a:t>
            </a:r>
            <a:endParaRPr lang="en-US" sz="2000" dirty="0"/>
          </a:p>
        </p:txBody>
      </p:sp>
      <p:sp>
        <p:nvSpPr>
          <p:cNvPr id="27" name="Text 24"/>
          <p:cNvSpPr/>
          <p:nvPr/>
        </p:nvSpPr>
        <p:spPr>
          <a:xfrm>
            <a:off x="4581144" y="2697480"/>
            <a:ext cx="3063240" cy="1371600"/>
          </a:xfrm>
          <a:prstGeom prst="rect">
            <a:avLst/>
          </a:prstGeom>
          <a:noFill/>
          <a:ln/>
        </p:spPr>
        <p:txBody>
          <a:bodyPr wrap="square" lIns="0" tIns="0" rIns="0" bIns="0" rtlCol="0" anchor="t"/>
          <a:lstStyle/>
          <a:p>
            <a:pPr indent="0" marL="0">
              <a:lnSpc>
                <a:spcPct val="115000"/>
              </a:lnSpc>
              <a:buNone/>
            </a:pPr>
            <a:r>
              <a:rPr lang="en-US" sz="1600" dirty="0">
                <a:solidFill>
                  <a:srgbClr val="1B1F24"/>
                </a:solidFill>
                <a:latin typeface="Inter" pitchFamily="34" charset="0"/>
                <a:ea typeface="Inter" pitchFamily="34" charset="-122"/>
                <a:cs typeface="Inter" pitchFamily="34" charset="-120"/>
              </a:rPr>
              <a:t>That is you. It has no way to check what it produced.</a:t>
            </a:r>
            <a:endParaRPr lang="en-US" sz="1600" dirty="0"/>
          </a:p>
        </p:txBody>
      </p:sp>
      <p:sp>
        <p:nvSpPr>
          <p:cNvPr id="28" name="Shape 25"/>
          <p:cNvSpPr/>
          <p:nvPr/>
        </p:nvSpPr>
        <p:spPr>
          <a:xfrm>
            <a:off x="8101584" y="1691640"/>
            <a:ext cx="3538728" cy="2514600"/>
          </a:xfrm>
          <a:prstGeom prst="roundRect">
            <a:avLst>
              <a:gd name="adj" fmla="val 3636"/>
            </a:avLst>
          </a:prstGeom>
          <a:solidFill>
            <a:srgbClr val="F7F5F0"/>
          </a:solidFill>
          <a:ln w="12700">
            <a:solidFill>
              <a:srgbClr val="F7F5F0"/>
            </a:solidFill>
            <a:prstDash val="solid"/>
          </a:ln>
        </p:spPr>
      </p:sp>
      <p:sp>
        <p:nvSpPr>
          <p:cNvPr id="29" name="Text 26"/>
          <p:cNvSpPr/>
          <p:nvPr/>
        </p:nvSpPr>
        <p:spPr>
          <a:xfrm>
            <a:off x="8357616" y="1874520"/>
            <a:ext cx="3063240" cy="685800"/>
          </a:xfrm>
          <a:prstGeom prst="rect">
            <a:avLst/>
          </a:prstGeom>
          <a:noFill/>
          <a:ln/>
        </p:spPr>
        <p:txBody>
          <a:bodyPr wrap="square" lIns="0" tIns="0" rIns="0" bIns="0" rtlCol="0" anchor="t"/>
          <a:lstStyle/>
          <a:p>
            <a:pPr indent="0" marL="0">
              <a:lnSpc>
                <a:spcPct val="105000"/>
              </a:lnSpc>
              <a:buNone/>
            </a:pPr>
            <a:r>
              <a:rPr lang="en-US" sz="2000" b="1" dirty="0">
                <a:solidFill>
                  <a:srgbClr val="13293D"/>
                </a:solidFill>
                <a:latin typeface="Inter" pitchFamily="34" charset="0"/>
                <a:ea typeface="Inter" pitchFamily="34" charset="-122"/>
                <a:cs typeface="Inter" pitchFamily="34" charset="-120"/>
              </a:rPr>
              <a:t>Care</a:t>
            </a:r>
            <a:endParaRPr lang="en-US" sz="2000" dirty="0"/>
          </a:p>
        </p:txBody>
      </p:sp>
      <p:sp>
        <p:nvSpPr>
          <p:cNvPr id="30" name="Text 27"/>
          <p:cNvSpPr/>
          <p:nvPr/>
        </p:nvSpPr>
        <p:spPr>
          <a:xfrm>
            <a:off x="8357616" y="2697480"/>
            <a:ext cx="3063240" cy="1371600"/>
          </a:xfrm>
          <a:prstGeom prst="rect">
            <a:avLst/>
          </a:prstGeom>
          <a:noFill/>
          <a:ln/>
        </p:spPr>
        <p:txBody>
          <a:bodyPr wrap="square" lIns="0" tIns="0" rIns="0" bIns="0" rtlCol="0" anchor="t"/>
          <a:lstStyle/>
          <a:p>
            <a:pPr indent="0" marL="0">
              <a:lnSpc>
                <a:spcPct val="115000"/>
              </a:lnSpc>
              <a:buNone/>
            </a:pPr>
            <a:r>
              <a:rPr lang="en-US" sz="1600" dirty="0">
                <a:solidFill>
                  <a:srgbClr val="1B1F24"/>
                </a:solidFill>
                <a:latin typeface="Inter" pitchFamily="34" charset="0"/>
                <a:ea typeface="Inter" pitchFamily="34" charset="-122"/>
                <a:cs typeface="Inter" pitchFamily="34" charset="-120"/>
              </a:rPr>
              <a:t>It produces text, not judgment, and not relationships.</a:t>
            </a:r>
            <a:endParaRPr lang="en-US" sz="1600" dirty="0"/>
          </a:p>
        </p:txBody>
      </p:sp>
      <p:sp>
        <p:nvSpPr>
          <p:cNvPr id="31" name="Shape 28"/>
          <p:cNvSpPr/>
          <p:nvPr/>
        </p:nvSpPr>
        <p:spPr>
          <a:xfrm>
            <a:off x="548640" y="4526280"/>
            <a:ext cx="11064240" cy="1371600"/>
          </a:xfrm>
          <a:prstGeom prst="roundRect">
            <a:avLst>
              <a:gd name="adj" fmla="val 6667"/>
            </a:avLst>
          </a:prstGeom>
          <a:solidFill>
            <a:srgbClr val="EAF5F3"/>
          </a:solidFill>
          <a:ln w="12700">
            <a:solidFill>
              <a:srgbClr val="EAF5F3"/>
            </a:solidFill>
            <a:prstDash val="solid"/>
          </a:ln>
        </p:spPr>
      </p:sp>
      <p:sp>
        <p:nvSpPr>
          <p:cNvPr id="32" name="Text 29"/>
          <p:cNvSpPr/>
          <p:nvPr/>
        </p:nvSpPr>
        <p:spPr>
          <a:xfrm>
            <a:off x="868680" y="4526280"/>
            <a:ext cx="10424160" cy="1371600"/>
          </a:xfrm>
          <a:prstGeom prst="rect">
            <a:avLst/>
          </a:prstGeom>
          <a:noFill/>
          <a:ln/>
        </p:spPr>
        <p:txBody>
          <a:bodyPr wrap="square" lIns="0" tIns="0" rIns="0" bIns="0" rtlCol="0" anchor="ctr"/>
          <a:lstStyle/>
          <a:p>
            <a:pPr algn="ctr" indent="0" marL="0">
              <a:buNone/>
            </a:pPr>
            <a:r>
              <a:rPr lang="en-US" sz="2400" b="1" dirty="0">
                <a:solidFill>
                  <a:srgbClr val="13293D"/>
                </a:solidFill>
                <a:latin typeface="Inter" pitchFamily="34" charset="0"/>
                <a:ea typeface="Inter" pitchFamily="34" charset="-122"/>
                <a:cs typeface="Inter" pitchFamily="34" charset="-120"/>
              </a:rPr>
              <a:t>The tool buys back time for this list. It never takes this list away.</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3293D"/>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6E8598"/>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6E8598"/>
                </a:solidFill>
                <a:latin typeface="Inter" pitchFamily="34" charset="0"/>
                <a:ea typeface="Inter" pitchFamily="34" charset="-122"/>
                <a:cs typeface="Inter" pitchFamily="34" charset="-120"/>
              </a:rPr>
              <a:t>11</a:t>
            </a:r>
            <a:endParaRPr lang="en-US" sz="900" dirty="0"/>
          </a:p>
        </p:txBody>
      </p:sp>
      <p:sp>
        <p:nvSpPr>
          <p:cNvPr id="5" name="Shape 2"/>
          <p:cNvSpPr/>
          <p:nvPr/>
        </p:nvSpPr>
        <p:spPr>
          <a:xfrm>
            <a:off x="411480" y="6291072"/>
            <a:ext cx="1024128" cy="91440"/>
          </a:xfrm>
          <a:prstGeom prst="roundRect">
            <a:avLst>
              <a:gd name="adj" fmla="val 50000"/>
            </a:avLst>
          </a:prstGeom>
          <a:solidFill>
            <a:srgbClr val="2A4A63"/>
          </a:solidFill>
          <a:ln w="12700">
            <a:solidFill>
              <a:srgbClr val="2A4A63"/>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2A4A63"/>
          </a:solidFill>
          <a:ln w="12700">
            <a:solidFill>
              <a:srgbClr val="2A4A63"/>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2A9D8F"/>
          </a:solidFill>
          <a:ln w="12700">
            <a:solidFill>
              <a:srgbClr val="2A9D8F"/>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2A4A63"/>
          </a:solidFill>
          <a:ln w="12700">
            <a:solidFill>
              <a:srgbClr val="2A4A63"/>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2A4A63"/>
          </a:solidFill>
          <a:ln w="12700">
            <a:solidFill>
              <a:srgbClr val="2A4A63"/>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2A4A63"/>
          </a:solidFill>
          <a:ln w="12700">
            <a:solidFill>
              <a:srgbClr val="2A4A63"/>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2A4A63"/>
          </a:solidFill>
          <a:ln w="12700">
            <a:solidFill>
              <a:srgbClr val="2A4A63"/>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6E8598"/>
                </a:solidFill>
                <a:latin typeface="Inter" pitchFamily="34" charset="0"/>
                <a:ea typeface="Inter" pitchFamily="34" charset="-122"/>
                <a:cs typeface="Inter" pitchFamily="34" charset="-120"/>
              </a:rPr>
              <a:t>MS. RIVERA  </a:t>
            </a:r>
            <a:pPr algn="r" indent="0" marL="0">
              <a:buNone/>
            </a:pPr>
            <a:r>
              <a:rPr lang="en-US" sz="850" dirty="0">
                <a:solidFill>
                  <a:srgbClr val="9FB2C2"/>
                </a:solidFill>
                <a:latin typeface="Inter" pitchFamily="34" charset="0"/>
                <a:ea typeface="Inter" pitchFamily="34" charset="-122"/>
                <a:cs typeface="Inter" pitchFamily="34" charset="-120"/>
              </a:rPr>
              <a:t>the rule, memorized</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F4A825"/>
                </a:solidFill>
                <a:latin typeface="Inter" pitchFamily="34" charset="0"/>
                <a:ea typeface="Inter" pitchFamily="34" charset="-122"/>
                <a:cs typeface="Inter" pitchFamily="34" charset="-120"/>
              </a:rPr>
              <a:t>KEEP THIS  ·  THE ONE HARD RULE</a:t>
            </a:r>
            <a:endParaRPr lang="en-US" sz="1000" dirty="0"/>
          </a:p>
        </p:txBody>
      </p:sp>
      <p:sp>
        <p:nvSpPr>
          <p:cNvPr id="21" name="Text 18"/>
          <p:cNvSpPr/>
          <p:nvPr/>
        </p:nvSpPr>
        <p:spPr>
          <a:xfrm>
            <a:off x="548640" y="457200"/>
            <a:ext cx="11064240" cy="1371600"/>
          </a:xfrm>
          <a:prstGeom prst="rect">
            <a:avLst/>
          </a:prstGeom>
          <a:noFill/>
          <a:ln/>
        </p:spPr>
        <p:txBody>
          <a:bodyPr wrap="square" lIns="0" tIns="0" rIns="0" bIns="0" rtlCol="0" anchor="ctr"/>
          <a:lstStyle/>
          <a:p>
            <a:pPr indent="0" marL="0">
              <a:buNone/>
            </a:pPr>
            <a:r>
              <a:rPr lang="en-US" sz="3400" b="1" dirty="0">
                <a:solidFill>
                  <a:srgbClr val="FFFFFF"/>
                </a:solidFill>
                <a:latin typeface="Inter" pitchFamily="34" charset="0"/>
                <a:ea typeface="Inter" pitchFamily="34" charset="-122"/>
                <a:cs typeface="Inter" pitchFamily="34" charset="-120"/>
              </a:rPr>
              <a:t>Never put student personally identifiable information into a public AI tool</a:t>
            </a:r>
            <a:endParaRPr lang="en-US" sz="3400" dirty="0"/>
          </a:p>
        </p:txBody>
      </p:sp>
      <p:sp>
        <p:nvSpPr>
          <p:cNvPr id="22" name="Shape 19"/>
          <p:cNvSpPr/>
          <p:nvPr/>
        </p:nvSpPr>
        <p:spPr>
          <a:xfrm>
            <a:off x="548640" y="2148840"/>
            <a:ext cx="11064240" cy="2194560"/>
          </a:xfrm>
          <a:prstGeom prst="roundRect">
            <a:avLst>
              <a:gd name="adj" fmla="val 4167"/>
            </a:avLst>
          </a:prstGeom>
          <a:solidFill>
            <a:srgbClr val="F7F5F0"/>
          </a:solidFill>
          <a:ln w="12700">
            <a:solidFill>
              <a:srgbClr val="F7F5F0"/>
            </a:solidFill>
            <a:prstDash val="solid"/>
          </a:ln>
        </p:spPr>
      </p:sp>
      <p:sp>
        <p:nvSpPr>
          <p:cNvPr id="23" name="Shape 20"/>
          <p:cNvSpPr/>
          <p:nvPr/>
        </p:nvSpPr>
        <p:spPr>
          <a:xfrm>
            <a:off x="548640" y="2148840"/>
            <a:ext cx="82296" cy="2194560"/>
          </a:xfrm>
          <a:prstGeom prst="rect">
            <a:avLst/>
          </a:prstGeom>
          <a:solidFill>
            <a:srgbClr val="F4A825"/>
          </a:solidFill>
          <a:ln w="12700">
            <a:solidFill>
              <a:srgbClr val="F4A825"/>
            </a:solidFill>
            <a:prstDash val="solid"/>
          </a:ln>
        </p:spPr>
      </p:sp>
      <p:sp>
        <p:nvSpPr>
          <p:cNvPr id="24" name="Text 21"/>
          <p:cNvSpPr/>
          <p:nvPr/>
        </p:nvSpPr>
        <p:spPr>
          <a:xfrm>
            <a:off x="1051560" y="2377440"/>
            <a:ext cx="10058400" cy="91440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Not a name. Not a detail that could identify a child. Ever.</a:t>
            </a:r>
            <a:endParaRPr lang="en-US" sz="3000" dirty="0"/>
          </a:p>
        </p:txBody>
      </p:sp>
      <p:sp>
        <p:nvSpPr>
          <p:cNvPr id="25" name="Text 22"/>
          <p:cNvSpPr/>
          <p:nvPr/>
        </p:nvSpPr>
        <p:spPr>
          <a:xfrm>
            <a:off x="1051560" y="3429000"/>
            <a:ext cx="10058400" cy="685800"/>
          </a:xfrm>
          <a:prstGeom prst="rect">
            <a:avLst/>
          </a:prstGeom>
          <a:noFill/>
          <a:ln/>
        </p:spPr>
        <p:txBody>
          <a:bodyPr wrap="square" lIns="0" tIns="0" rIns="0" bIns="0" rtlCol="0" anchor="t"/>
          <a:lstStyle/>
          <a:p>
            <a:pPr indent="0" marL="0">
              <a:buNone/>
            </a:pPr>
            <a:r>
              <a:rPr lang="en-US" sz="1900" dirty="0">
                <a:solidFill>
                  <a:srgbClr val="1B1F24"/>
                </a:solidFill>
                <a:latin typeface="Inter" pitchFamily="34" charset="0"/>
                <a:ea typeface="Inter" pitchFamily="34" charset="-122"/>
                <a:cs typeface="Inter" pitchFamily="34" charset="-120"/>
              </a:rPr>
              <a:t>If you remember one sentence from this hour, it is the one above.</a:t>
            </a:r>
            <a:endParaRPr lang="en-US" sz="1900" dirty="0"/>
          </a:p>
        </p:txBody>
      </p:sp>
      <p:sp>
        <p:nvSpPr>
          <p:cNvPr id="26" name="Text 23"/>
          <p:cNvSpPr/>
          <p:nvPr/>
        </p:nvSpPr>
        <p:spPr>
          <a:xfrm>
            <a:off x="548640" y="4709160"/>
            <a:ext cx="11064240" cy="822960"/>
          </a:xfrm>
          <a:prstGeom prst="rect">
            <a:avLst/>
          </a:prstGeom>
          <a:noFill/>
          <a:ln/>
        </p:spPr>
        <p:txBody>
          <a:bodyPr wrap="square" lIns="0" tIns="0" rIns="0" bIns="0" rtlCol="0" anchor="ctr"/>
          <a:lstStyle/>
          <a:p>
            <a:pPr algn="ctr" indent="0" marL="0">
              <a:buNone/>
            </a:pPr>
            <a:r>
              <a:rPr lang="en-US" sz="1800" dirty="0">
                <a:solidFill>
                  <a:srgbClr val="C9D4DE"/>
                </a:solidFill>
                <a:latin typeface="Inter" pitchFamily="34" charset="0"/>
                <a:ea typeface="Inter" pitchFamily="34" charset="-122"/>
                <a:cs typeface="Inter" pitchFamily="34" charset="-120"/>
              </a:rPr>
              <a:t>Every other AI choice is a judgment call you are qualified to make. This one is not a judgment call. It is the line.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12</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2A9D8F"/>
          </a:solidFill>
          <a:ln w="12700">
            <a:solidFill>
              <a:srgbClr val="2A9D8F"/>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names, IDs, grades, IEPs, all out</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2A9D8F"/>
                </a:solidFill>
                <a:latin typeface="Inter" pitchFamily="34" charset="0"/>
                <a:ea typeface="Inter" pitchFamily="34" charset="-122"/>
                <a:cs typeface="Inter" pitchFamily="34" charset="-120"/>
              </a:rPr>
              <a:t>CLAIM</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Anything from a record or about one child counts as PII</a:t>
            </a:r>
            <a:endParaRPr lang="en-US" sz="3000" dirty="0"/>
          </a:p>
        </p:txBody>
      </p:sp>
      <p:sp>
        <p:nvSpPr>
          <p:cNvPr id="22" name="Shape 19"/>
          <p:cNvSpPr/>
          <p:nvPr/>
        </p:nvSpPr>
        <p:spPr>
          <a:xfrm>
            <a:off x="548640" y="1691640"/>
            <a:ext cx="5440680" cy="3703320"/>
          </a:xfrm>
          <a:prstGeom prst="roundRect">
            <a:avLst>
              <a:gd name="adj" fmla="val 2469"/>
            </a:avLst>
          </a:prstGeom>
          <a:solidFill>
            <a:srgbClr val="F7F5F0"/>
          </a:solidFill>
          <a:ln w="12700">
            <a:solidFill>
              <a:srgbClr val="F7F5F0"/>
            </a:solidFill>
            <a:prstDash val="solid"/>
          </a:ln>
        </p:spPr>
      </p:sp>
      <p:sp>
        <p:nvSpPr>
          <p:cNvPr id="23" name="Text 20"/>
          <p:cNvSpPr/>
          <p:nvPr/>
        </p:nvSpPr>
        <p:spPr>
          <a:xfrm>
            <a:off x="868680" y="1874520"/>
            <a:ext cx="4754880" cy="274320"/>
          </a:xfrm>
          <a:prstGeom prst="rect">
            <a:avLst/>
          </a:prstGeom>
          <a:noFill/>
          <a:ln/>
        </p:spPr>
        <p:txBody>
          <a:bodyPr wrap="square" lIns="0" tIns="0" rIns="0" bIns="0" rtlCol="0" anchor="ctr"/>
          <a:lstStyle/>
          <a:p>
            <a:pPr indent="0" marL="0">
              <a:buNone/>
            </a:pPr>
            <a:r>
              <a:rPr lang="en-US" sz="1100" b="1" spc="160" kern="0" dirty="0">
                <a:solidFill>
                  <a:srgbClr val="13293D"/>
                </a:solidFill>
                <a:latin typeface="Inter" pitchFamily="34" charset="0"/>
                <a:ea typeface="Inter" pitchFamily="34" charset="-122"/>
                <a:cs typeface="Inter" pitchFamily="34" charset="-120"/>
              </a:rPr>
              <a:t>FROM RECORDS</a:t>
            </a:r>
            <a:endParaRPr lang="en-US" sz="1100" dirty="0"/>
          </a:p>
        </p:txBody>
      </p:sp>
      <p:sp>
        <p:nvSpPr>
          <p:cNvPr id="24" name="Text 21"/>
          <p:cNvSpPr/>
          <p:nvPr/>
        </p:nvSpPr>
        <p:spPr>
          <a:xfrm>
            <a:off x="868680" y="2377440"/>
            <a:ext cx="4754880" cy="59436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Names, initials, photos</a:t>
            </a:r>
            <a:endParaRPr lang="en-US" sz="1900" dirty="0"/>
          </a:p>
        </p:txBody>
      </p:sp>
      <p:sp>
        <p:nvSpPr>
          <p:cNvPr id="25" name="Text 22"/>
          <p:cNvSpPr/>
          <p:nvPr/>
        </p:nvSpPr>
        <p:spPr>
          <a:xfrm>
            <a:off x="868680" y="3090672"/>
            <a:ext cx="4754880" cy="59436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Student ID numbers</a:t>
            </a:r>
            <a:endParaRPr lang="en-US" sz="1900" dirty="0"/>
          </a:p>
        </p:txBody>
      </p:sp>
      <p:sp>
        <p:nvSpPr>
          <p:cNvPr id="26" name="Text 23"/>
          <p:cNvSpPr/>
          <p:nvPr/>
        </p:nvSpPr>
        <p:spPr>
          <a:xfrm>
            <a:off x="868680" y="3803904"/>
            <a:ext cx="4754880" cy="59436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Grades and test scores</a:t>
            </a:r>
            <a:endParaRPr lang="en-US" sz="1900" dirty="0"/>
          </a:p>
        </p:txBody>
      </p:sp>
      <p:sp>
        <p:nvSpPr>
          <p:cNvPr id="27" name="Text 24"/>
          <p:cNvSpPr/>
          <p:nvPr/>
        </p:nvSpPr>
        <p:spPr>
          <a:xfrm>
            <a:off x="868680" y="4517136"/>
            <a:ext cx="4754880" cy="59436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IEP or 504 contents</a:t>
            </a:r>
            <a:endParaRPr lang="en-US" sz="1900" dirty="0"/>
          </a:p>
        </p:txBody>
      </p:sp>
      <p:sp>
        <p:nvSpPr>
          <p:cNvPr id="28" name="Shape 25"/>
          <p:cNvSpPr/>
          <p:nvPr/>
        </p:nvSpPr>
        <p:spPr>
          <a:xfrm>
            <a:off x="6172200" y="1691640"/>
            <a:ext cx="5440680" cy="3703320"/>
          </a:xfrm>
          <a:prstGeom prst="roundRect">
            <a:avLst>
              <a:gd name="adj" fmla="val 2469"/>
            </a:avLst>
          </a:prstGeom>
          <a:solidFill>
            <a:srgbClr val="F7F5F0"/>
          </a:solidFill>
          <a:ln w="12700">
            <a:solidFill>
              <a:srgbClr val="F7F5F0"/>
            </a:solidFill>
            <a:prstDash val="solid"/>
          </a:ln>
        </p:spPr>
      </p:sp>
      <p:sp>
        <p:nvSpPr>
          <p:cNvPr id="29" name="Text 26"/>
          <p:cNvSpPr/>
          <p:nvPr/>
        </p:nvSpPr>
        <p:spPr>
          <a:xfrm>
            <a:off x="6492240" y="1874520"/>
            <a:ext cx="4754880" cy="274320"/>
          </a:xfrm>
          <a:prstGeom prst="rect">
            <a:avLst/>
          </a:prstGeom>
          <a:noFill/>
          <a:ln/>
        </p:spPr>
        <p:txBody>
          <a:bodyPr wrap="square" lIns="0" tIns="0" rIns="0" bIns="0" rtlCol="0" anchor="ctr"/>
          <a:lstStyle/>
          <a:p>
            <a:pPr indent="0" marL="0">
              <a:buNone/>
            </a:pPr>
            <a:r>
              <a:rPr lang="en-US" sz="1100" b="1" spc="160" kern="0" dirty="0">
                <a:solidFill>
                  <a:srgbClr val="13293D"/>
                </a:solidFill>
                <a:latin typeface="Inter" pitchFamily="34" charset="0"/>
                <a:ea typeface="Inter" pitchFamily="34" charset="-122"/>
                <a:cs typeface="Inter" pitchFamily="34" charset="-120"/>
              </a:rPr>
              <a:t>ABOUT A CHILD</a:t>
            </a:r>
            <a:endParaRPr lang="en-US" sz="1100" dirty="0"/>
          </a:p>
        </p:txBody>
      </p:sp>
      <p:sp>
        <p:nvSpPr>
          <p:cNvPr id="30" name="Text 27"/>
          <p:cNvSpPr/>
          <p:nvPr/>
        </p:nvSpPr>
        <p:spPr>
          <a:xfrm>
            <a:off x="6492240" y="2377440"/>
            <a:ext cx="4754880" cy="59436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Discipline history</a:t>
            </a:r>
            <a:endParaRPr lang="en-US" sz="1900" dirty="0"/>
          </a:p>
        </p:txBody>
      </p:sp>
      <p:sp>
        <p:nvSpPr>
          <p:cNvPr id="31" name="Text 28"/>
          <p:cNvSpPr/>
          <p:nvPr/>
        </p:nvSpPr>
        <p:spPr>
          <a:xfrm>
            <a:off x="6492240" y="3090672"/>
            <a:ext cx="4754880" cy="59436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Health or diagnosis information</a:t>
            </a:r>
            <a:endParaRPr lang="en-US" sz="1900" dirty="0"/>
          </a:p>
        </p:txBody>
      </p:sp>
      <p:sp>
        <p:nvSpPr>
          <p:cNvPr id="32" name="Text 29"/>
          <p:cNvSpPr/>
          <p:nvPr/>
        </p:nvSpPr>
        <p:spPr>
          <a:xfrm>
            <a:off x="6492240" y="3803904"/>
            <a:ext cx="4754880" cy="59436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Family details, addresses</a:t>
            </a:r>
            <a:endParaRPr lang="en-US" sz="1900" dirty="0"/>
          </a:p>
        </p:txBody>
      </p:sp>
      <p:sp>
        <p:nvSpPr>
          <p:cNvPr id="33" name="Text 30"/>
          <p:cNvSpPr/>
          <p:nvPr/>
        </p:nvSpPr>
        <p:spPr>
          <a:xfrm>
            <a:off x="6492240" y="4517136"/>
            <a:ext cx="4754880" cy="59436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Anything about an identifiable student</a:t>
            </a:r>
            <a:endParaRPr lang="en-US" sz="1900" dirty="0"/>
          </a:p>
        </p:txBody>
      </p:sp>
      <p:sp>
        <p:nvSpPr>
          <p:cNvPr id="34" name="Text 31"/>
          <p:cNvSpPr/>
          <p:nvPr/>
        </p:nvSpPr>
        <p:spPr>
          <a:xfrm>
            <a:off x="548640" y="5577840"/>
            <a:ext cx="1106424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If it is about an identifiable student, it stays out of the chat box.</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13</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2A9D8F"/>
          </a:solidFill>
          <a:ln w="12700">
            <a:solidFill>
              <a:srgbClr val="2A9D8F"/>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asking: could anyone tell who?</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2A9D8F"/>
                </a:solidFill>
                <a:latin typeface="Inter" pitchFamily="34" charset="0"/>
                <a:ea typeface="Inter" pitchFamily="34" charset="-122"/>
                <a:cs typeface="Inter" pitchFamily="34" charset="-120"/>
              </a:rPr>
              <a:t>CLAIM · WHERE WELL-MEANING PEOPLE SLIP</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Initials plus context still identify a child</a:t>
            </a:r>
            <a:endParaRPr lang="en-US" sz="3000" dirty="0"/>
          </a:p>
        </p:txBody>
      </p:sp>
      <p:sp>
        <p:nvSpPr>
          <p:cNvPr id="22" name="Shape 19"/>
          <p:cNvSpPr/>
          <p:nvPr/>
        </p:nvSpPr>
        <p:spPr>
          <a:xfrm>
            <a:off x="548640" y="1691640"/>
            <a:ext cx="7680960" cy="1005840"/>
          </a:xfrm>
          <a:prstGeom prst="roundRect">
            <a:avLst>
              <a:gd name="adj" fmla="val 9091"/>
            </a:avLst>
          </a:prstGeom>
          <a:solidFill>
            <a:srgbClr val="F7F5F0"/>
          </a:solidFill>
          <a:ln w="12700">
            <a:solidFill>
              <a:srgbClr val="F7F5F0"/>
            </a:solidFill>
            <a:prstDash val="solid"/>
          </a:ln>
        </p:spPr>
      </p:sp>
      <p:sp>
        <p:nvSpPr>
          <p:cNvPr id="23" name="Text 20"/>
          <p:cNvSpPr/>
          <p:nvPr/>
        </p:nvSpPr>
        <p:spPr>
          <a:xfrm>
            <a:off x="868680" y="1691640"/>
            <a:ext cx="7132320" cy="10058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“J.M. in my 3rd period with the anxiety diagnosis”</a:t>
            </a:r>
            <a:endParaRPr lang="en-US" sz="1800" dirty="0"/>
          </a:p>
        </p:txBody>
      </p:sp>
      <p:sp>
        <p:nvSpPr>
          <p:cNvPr id="24" name="Shape 21"/>
          <p:cNvSpPr/>
          <p:nvPr/>
        </p:nvSpPr>
        <p:spPr>
          <a:xfrm>
            <a:off x="8458200" y="1691640"/>
            <a:ext cx="3154680" cy="1005840"/>
          </a:xfrm>
          <a:prstGeom prst="roundRect">
            <a:avLst>
              <a:gd name="adj" fmla="val 9091"/>
            </a:avLst>
          </a:prstGeom>
          <a:solidFill>
            <a:srgbClr val="FBEFED"/>
          </a:solidFill>
          <a:ln w="12700">
            <a:solidFill>
              <a:srgbClr val="FBEFED"/>
            </a:solidFill>
            <a:prstDash val="solid"/>
          </a:ln>
        </p:spPr>
      </p:sp>
      <p:sp>
        <p:nvSpPr>
          <p:cNvPr id="25" name="Text 22"/>
          <p:cNvSpPr/>
          <p:nvPr/>
        </p:nvSpPr>
        <p:spPr>
          <a:xfrm>
            <a:off x="8686800" y="1691640"/>
            <a:ext cx="2743200" cy="1005840"/>
          </a:xfrm>
          <a:prstGeom prst="rect">
            <a:avLst/>
          </a:prstGeom>
          <a:noFill/>
          <a:ln/>
        </p:spPr>
        <p:txBody>
          <a:bodyPr wrap="square" lIns="0" tIns="0" rIns="0" bIns="0" rtlCol="0" anchor="ctr"/>
          <a:lstStyle/>
          <a:p>
            <a:pPr indent="0" marL="0">
              <a:buNone/>
            </a:pPr>
            <a:r>
              <a:rPr lang="en-US" sz="1500" b="1" dirty="0">
                <a:solidFill>
                  <a:srgbClr val="B4453A"/>
                </a:solidFill>
                <a:latin typeface="Inter" pitchFamily="34" charset="0"/>
                <a:ea typeface="Inter" pitchFamily="34" charset="-122"/>
                <a:cs typeface="Inter" pitchFamily="34" charset="-120"/>
              </a:rPr>
              <a:t>Initials plus context</a:t>
            </a:r>
            <a:endParaRPr lang="en-US" sz="1500" dirty="0"/>
          </a:p>
        </p:txBody>
      </p:sp>
      <p:sp>
        <p:nvSpPr>
          <p:cNvPr id="26" name="Shape 23"/>
          <p:cNvSpPr/>
          <p:nvPr/>
        </p:nvSpPr>
        <p:spPr>
          <a:xfrm>
            <a:off x="548640" y="2862072"/>
            <a:ext cx="7680960" cy="1005840"/>
          </a:xfrm>
          <a:prstGeom prst="roundRect">
            <a:avLst>
              <a:gd name="adj" fmla="val 9091"/>
            </a:avLst>
          </a:prstGeom>
          <a:solidFill>
            <a:srgbClr val="F7F5F0"/>
          </a:solidFill>
          <a:ln w="12700">
            <a:solidFill>
              <a:srgbClr val="F7F5F0"/>
            </a:solidFill>
            <a:prstDash val="solid"/>
          </a:ln>
        </p:spPr>
      </p:sp>
      <p:sp>
        <p:nvSpPr>
          <p:cNvPr id="27" name="Text 24"/>
          <p:cNvSpPr/>
          <p:nvPr/>
        </p:nvSpPr>
        <p:spPr>
          <a:xfrm>
            <a:off x="868680" y="2862072"/>
            <a:ext cx="7132320" cy="10058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“The only 7th grader who uses a wheelchair”</a:t>
            </a:r>
            <a:endParaRPr lang="en-US" sz="1800" dirty="0"/>
          </a:p>
        </p:txBody>
      </p:sp>
      <p:sp>
        <p:nvSpPr>
          <p:cNvPr id="28" name="Shape 25"/>
          <p:cNvSpPr/>
          <p:nvPr/>
        </p:nvSpPr>
        <p:spPr>
          <a:xfrm>
            <a:off x="8458200" y="2862072"/>
            <a:ext cx="3154680" cy="1005840"/>
          </a:xfrm>
          <a:prstGeom prst="roundRect">
            <a:avLst>
              <a:gd name="adj" fmla="val 9091"/>
            </a:avLst>
          </a:prstGeom>
          <a:solidFill>
            <a:srgbClr val="FBEFED"/>
          </a:solidFill>
          <a:ln w="12700">
            <a:solidFill>
              <a:srgbClr val="FBEFED"/>
            </a:solidFill>
            <a:prstDash val="solid"/>
          </a:ln>
        </p:spPr>
      </p:sp>
      <p:sp>
        <p:nvSpPr>
          <p:cNvPr id="29" name="Text 26"/>
          <p:cNvSpPr/>
          <p:nvPr/>
        </p:nvSpPr>
        <p:spPr>
          <a:xfrm>
            <a:off x="8686800" y="2862072"/>
            <a:ext cx="2743200" cy="1005840"/>
          </a:xfrm>
          <a:prstGeom prst="rect">
            <a:avLst/>
          </a:prstGeom>
          <a:noFill/>
          <a:ln/>
        </p:spPr>
        <p:txBody>
          <a:bodyPr wrap="square" lIns="0" tIns="0" rIns="0" bIns="0" rtlCol="0" anchor="ctr"/>
          <a:lstStyle/>
          <a:p>
            <a:pPr indent="0" marL="0">
              <a:buNone/>
            </a:pPr>
            <a:r>
              <a:rPr lang="en-US" sz="1500" b="1" dirty="0">
                <a:solidFill>
                  <a:srgbClr val="B4453A"/>
                </a:solidFill>
                <a:latin typeface="Inter" pitchFamily="34" charset="0"/>
                <a:ea typeface="Inter" pitchFamily="34" charset="-122"/>
                <a:cs typeface="Inter" pitchFamily="34" charset="-120"/>
              </a:rPr>
              <a:t>One-of-a-kind detail</a:t>
            </a:r>
            <a:endParaRPr lang="en-US" sz="1500" dirty="0"/>
          </a:p>
        </p:txBody>
      </p:sp>
      <p:sp>
        <p:nvSpPr>
          <p:cNvPr id="30" name="Shape 27"/>
          <p:cNvSpPr/>
          <p:nvPr/>
        </p:nvSpPr>
        <p:spPr>
          <a:xfrm>
            <a:off x="548640" y="4032504"/>
            <a:ext cx="7680960" cy="1005840"/>
          </a:xfrm>
          <a:prstGeom prst="roundRect">
            <a:avLst>
              <a:gd name="adj" fmla="val 9091"/>
            </a:avLst>
          </a:prstGeom>
          <a:solidFill>
            <a:srgbClr val="F7F5F0"/>
          </a:solidFill>
          <a:ln w="12700">
            <a:solidFill>
              <a:srgbClr val="F7F5F0"/>
            </a:solidFill>
            <a:prstDash val="solid"/>
          </a:ln>
        </p:spPr>
      </p:sp>
      <p:sp>
        <p:nvSpPr>
          <p:cNvPr id="31" name="Text 28"/>
          <p:cNvSpPr/>
          <p:nvPr/>
        </p:nvSpPr>
        <p:spPr>
          <a:xfrm>
            <a:off x="868680" y="4032504"/>
            <a:ext cx="7132320" cy="10058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“The new student who just arrived from Ukraine”</a:t>
            </a:r>
            <a:endParaRPr lang="en-US" sz="1800" dirty="0"/>
          </a:p>
        </p:txBody>
      </p:sp>
      <p:sp>
        <p:nvSpPr>
          <p:cNvPr id="32" name="Shape 29"/>
          <p:cNvSpPr/>
          <p:nvPr/>
        </p:nvSpPr>
        <p:spPr>
          <a:xfrm>
            <a:off x="8458200" y="4032504"/>
            <a:ext cx="3154680" cy="1005840"/>
          </a:xfrm>
          <a:prstGeom prst="roundRect">
            <a:avLst>
              <a:gd name="adj" fmla="val 9091"/>
            </a:avLst>
          </a:prstGeom>
          <a:solidFill>
            <a:srgbClr val="FBEFED"/>
          </a:solidFill>
          <a:ln w="12700">
            <a:solidFill>
              <a:srgbClr val="FBEFED"/>
            </a:solidFill>
            <a:prstDash val="solid"/>
          </a:ln>
        </p:spPr>
      </p:sp>
      <p:sp>
        <p:nvSpPr>
          <p:cNvPr id="33" name="Text 30"/>
          <p:cNvSpPr/>
          <p:nvPr/>
        </p:nvSpPr>
        <p:spPr>
          <a:xfrm>
            <a:off x="8686800" y="4032504"/>
            <a:ext cx="2743200" cy="1005840"/>
          </a:xfrm>
          <a:prstGeom prst="rect">
            <a:avLst/>
          </a:prstGeom>
          <a:noFill/>
          <a:ln/>
        </p:spPr>
        <p:txBody>
          <a:bodyPr wrap="square" lIns="0" tIns="0" rIns="0" bIns="0" rtlCol="0" anchor="ctr"/>
          <a:lstStyle/>
          <a:p>
            <a:pPr indent="0" marL="0">
              <a:buNone/>
            </a:pPr>
            <a:r>
              <a:rPr lang="en-US" sz="1500" b="1" dirty="0">
                <a:solidFill>
                  <a:srgbClr val="B4453A"/>
                </a:solidFill>
                <a:latin typeface="Inter" pitchFamily="34" charset="0"/>
                <a:ea typeface="Inter" pitchFamily="34" charset="-122"/>
                <a:cs typeface="Inter" pitchFamily="34" charset="-120"/>
              </a:rPr>
              <a:t>Rare circumstance</a:t>
            </a:r>
            <a:endParaRPr lang="en-US" sz="1500" dirty="0"/>
          </a:p>
        </p:txBody>
      </p:sp>
      <p:sp>
        <p:nvSpPr>
          <p:cNvPr id="34" name="Shape 31"/>
          <p:cNvSpPr/>
          <p:nvPr/>
        </p:nvSpPr>
        <p:spPr>
          <a:xfrm>
            <a:off x="548640" y="5303520"/>
            <a:ext cx="11064240" cy="777240"/>
          </a:xfrm>
          <a:prstGeom prst="roundRect">
            <a:avLst>
              <a:gd name="adj" fmla="val 11765"/>
            </a:avLst>
          </a:prstGeom>
          <a:solidFill>
            <a:srgbClr val="13293D"/>
          </a:solidFill>
          <a:ln w="12700">
            <a:solidFill>
              <a:srgbClr val="13293D"/>
            </a:solidFill>
            <a:prstDash val="solid"/>
          </a:ln>
        </p:spPr>
      </p:sp>
      <p:sp>
        <p:nvSpPr>
          <p:cNvPr id="35" name="Text 32"/>
          <p:cNvSpPr/>
          <p:nvPr/>
        </p:nvSpPr>
        <p:spPr>
          <a:xfrm>
            <a:off x="868680" y="5303520"/>
            <a:ext cx="1042416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The test: could someone who knows our school work out who this is?</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14</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2A9D8F"/>
          </a:solidFill>
          <a:ln w="12700">
            <a:solidFill>
              <a:srgbClr val="2A9D8F"/>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her why: FERPA and one text box</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2A9D8F"/>
                </a:solidFill>
                <a:latin typeface="Inter" pitchFamily="34" charset="0"/>
                <a:ea typeface="Inter" pitchFamily="34" charset="-122"/>
                <a:cs typeface="Inter" pitchFamily="34" charset="-120"/>
              </a:rPr>
              <a:t>CLAIM</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FERPA and an easy text box are why this rule exists</a:t>
            </a:r>
            <a:endParaRPr lang="en-US" sz="3000" dirty="0"/>
          </a:p>
        </p:txBody>
      </p:sp>
      <p:sp>
        <p:nvSpPr>
          <p:cNvPr id="22" name="Shape 19"/>
          <p:cNvSpPr/>
          <p:nvPr/>
        </p:nvSpPr>
        <p:spPr>
          <a:xfrm>
            <a:off x="548640" y="1691640"/>
            <a:ext cx="5440680" cy="3383280"/>
          </a:xfrm>
          <a:prstGeom prst="roundRect">
            <a:avLst>
              <a:gd name="adj" fmla="val 2703"/>
            </a:avLst>
          </a:prstGeom>
          <a:solidFill>
            <a:srgbClr val="F7F5F0"/>
          </a:solidFill>
          <a:ln w="12700">
            <a:solidFill>
              <a:srgbClr val="F7F5F0"/>
            </a:solidFill>
            <a:prstDash val="solid"/>
          </a:ln>
        </p:spPr>
      </p:sp>
      <p:sp>
        <p:nvSpPr>
          <p:cNvPr id="23" name="Text 20"/>
          <p:cNvSpPr/>
          <p:nvPr/>
        </p:nvSpPr>
        <p:spPr>
          <a:xfrm>
            <a:off x="868680" y="1874520"/>
            <a:ext cx="4754880" cy="274320"/>
          </a:xfrm>
          <a:prstGeom prst="rect">
            <a:avLst/>
          </a:prstGeom>
          <a:noFill/>
          <a:ln/>
        </p:spPr>
        <p:txBody>
          <a:bodyPr wrap="square" lIns="0" tIns="0" rIns="0" bIns="0" rtlCol="0" anchor="ctr"/>
          <a:lstStyle/>
          <a:p>
            <a:pPr indent="0" marL="0">
              <a:buNone/>
            </a:pPr>
            <a:r>
              <a:rPr lang="en-US" sz="1100" b="1" spc="160" kern="0" dirty="0">
                <a:solidFill>
                  <a:srgbClr val="13293D"/>
                </a:solidFill>
                <a:latin typeface="Inter" pitchFamily="34" charset="0"/>
                <a:ea typeface="Inter" pitchFamily="34" charset="-122"/>
                <a:cs typeface="Inter" pitchFamily="34" charset="-120"/>
              </a:rPr>
              <a:t>LEGAL</a:t>
            </a:r>
            <a:endParaRPr lang="en-US" sz="1100" dirty="0"/>
          </a:p>
        </p:txBody>
      </p:sp>
      <p:sp>
        <p:nvSpPr>
          <p:cNvPr id="24" name="Text 21"/>
          <p:cNvSpPr/>
          <p:nvPr/>
        </p:nvSpPr>
        <p:spPr>
          <a:xfrm>
            <a:off x="868680" y="2331720"/>
            <a:ext cx="4754880" cy="914400"/>
          </a:xfrm>
          <a:prstGeom prst="rect">
            <a:avLst/>
          </a:prstGeom>
          <a:noFill/>
          <a:ln/>
        </p:spPr>
        <p:txBody>
          <a:bodyPr wrap="square" lIns="0" tIns="0" rIns="0" bIns="0" rtlCol="0" anchor="t"/>
          <a:lstStyle/>
          <a:p>
            <a:pPr indent="0" marL="0">
              <a:lnSpc>
                <a:spcPct val="110000"/>
              </a:lnSpc>
              <a:buNone/>
            </a:pPr>
            <a:r>
              <a:rPr lang="en-US" sz="2100" b="1" dirty="0">
                <a:solidFill>
                  <a:srgbClr val="1B1F24"/>
                </a:solidFill>
                <a:latin typeface="Inter" pitchFamily="34" charset="0"/>
                <a:ea typeface="Inter" pitchFamily="34" charset="-122"/>
                <a:cs typeface="Inter" pitchFamily="34" charset="-120"/>
              </a:rPr>
              <a:t>FERPA protects student education records.</a:t>
            </a:r>
            <a:endParaRPr lang="en-US" sz="2100" dirty="0"/>
          </a:p>
        </p:txBody>
      </p:sp>
      <p:sp>
        <p:nvSpPr>
          <p:cNvPr id="25" name="Text 22"/>
          <p:cNvSpPr/>
          <p:nvPr/>
        </p:nvSpPr>
        <p:spPr>
          <a:xfrm>
            <a:off x="868680" y="3429000"/>
            <a:ext cx="4754880" cy="1371600"/>
          </a:xfrm>
          <a:prstGeom prst="rect">
            <a:avLst/>
          </a:prstGeom>
          <a:noFill/>
          <a:ln/>
        </p:spPr>
        <p:txBody>
          <a:bodyPr wrap="square" lIns="0" tIns="0" rIns="0" bIns="0" rtlCol="0" anchor="t"/>
          <a:lstStyle/>
          <a:p>
            <a:pPr indent="0" marL="0">
              <a:lnSpc>
                <a:spcPct val="115000"/>
              </a:lnSpc>
              <a:buNone/>
            </a:pPr>
            <a:r>
              <a:rPr lang="en-US" sz="1700" dirty="0">
                <a:solidFill>
                  <a:srgbClr val="1B1F24"/>
                </a:solidFill>
                <a:latin typeface="Inter" pitchFamily="34" charset="0"/>
                <a:ea typeface="Inter" pitchFamily="34" charset="-122"/>
                <a:cs typeface="Inter" pitchFamily="34" charset="-120"/>
              </a:rPr>
              <a:t>A public AI tool is a third party with no agreement with our district.</a:t>
            </a:r>
            <a:endParaRPr lang="en-US" sz="1700" dirty="0"/>
          </a:p>
        </p:txBody>
      </p:sp>
      <p:sp>
        <p:nvSpPr>
          <p:cNvPr id="26" name="Shape 23"/>
          <p:cNvSpPr/>
          <p:nvPr/>
        </p:nvSpPr>
        <p:spPr>
          <a:xfrm>
            <a:off x="6172200" y="1691640"/>
            <a:ext cx="5440680" cy="3383280"/>
          </a:xfrm>
          <a:prstGeom prst="roundRect">
            <a:avLst>
              <a:gd name="adj" fmla="val 2703"/>
            </a:avLst>
          </a:prstGeom>
          <a:solidFill>
            <a:srgbClr val="F7F5F0"/>
          </a:solidFill>
          <a:ln w="12700">
            <a:solidFill>
              <a:srgbClr val="F7F5F0"/>
            </a:solidFill>
            <a:prstDash val="solid"/>
          </a:ln>
        </p:spPr>
      </p:sp>
      <p:sp>
        <p:nvSpPr>
          <p:cNvPr id="27" name="Text 24"/>
          <p:cNvSpPr/>
          <p:nvPr/>
        </p:nvSpPr>
        <p:spPr>
          <a:xfrm>
            <a:off x="6492240" y="1874520"/>
            <a:ext cx="4754880" cy="274320"/>
          </a:xfrm>
          <a:prstGeom prst="rect">
            <a:avLst/>
          </a:prstGeom>
          <a:noFill/>
          <a:ln/>
        </p:spPr>
        <p:txBody>
          <a:bodyPr wrap="square" lIns="0" tIns="0" rIns="0" bIns="0" rtlCol="0" anchor="ctr"/>
          <a:lstStyle/>
          <a:p>
            <a:pPr indent="0" marL="0">
              <a:buNone/>
            </a:pPr>
            <a:r>
              <a:rPr lang="en-US" sz="1100" b="1" spc="160" kern="0" dirty="0">
                <a:solidFill>
                  <a:srgbClr val="13293D"/>
                </a:solidFill>
                <a:latin typeface="Inter" pitchFamily="34" charset="0"/>
                <a:ea typeface="Inter" pitchFamily="34" charset="-122"/>
                <a:cs typeface="Inter" pitchFamily="34" charset="-120"/>
              </a:rPr>
              <a:t>PRACTICAL</a:t>
            </a:r>
            <a:endParaRPr lang="en-US" sz="1100" dirty="0"/>
          </a:p>
        </p:txBody>
      </p:sp>
      <p:sp>
        <p:nvSpPr>
          <p:cNvPr id="28" name="Text 25"/>
          <p:cNvSpPr/>
          <p:nvPr/>
        </p:nvSpPr>
        <p:spPr>
          <a:xfrm>
            <a:off x="6492240" y="2331720"/>
            <a:ext cx="4754880" cy="914400"/>
          </a:xfrm>
          <a:prstGeom prst="rect">
            <a:avLst/>
          </a:prstGeom>
          <a:noFill/>
          <a:ln/>
        </p:spPr>
        <p:txBody>
          <a:bodyPr wrap="square" lIns="0" tIns="0" rIns="0" bIns="0" rtlCol="0" anchor="t"/>
          <a:lstStyle/>
          <a:p>
            <a:pPr indent="0" marL="0">
              <a:lnSpc>
                <a:spcPct val="110000"/>
              </a:lnSpc>
              <a:buNone/>
            </a:pPr>
            <a:r>
              <a:rPr lang="en-US" sz="2100" b="1" dirty="0">
                <a:solidFill>
                  <a:srgbClr val="1B1F24"/>
                </a:solidFill>
                <a:latin typeface="Inter" pitchFamily="34" charset="0"/>
                <a:ea typeface="Inter" pitchFamily="34" charset="-122"/>
                <a:cs typeface="Inter" pitchFamily="34" charset="-120"/>
              </a:rPr>
              <a:t>An open chat box makes oversharing effortless.</a:t>
            </a:r>
            <a:endParaRPr lang="en-US" sz="2100" dirty="0"/>
          </a:p>
        </p:txBody>
      </p:sp>
      <p:sp>
        <p:nvSpPr>
          <p:cNvPr id="29" name="Text 26"/>
          <p:cNvSpPr/>
          <p:nvPr/>
        </p:nvSpPr>
        <p:spPr>
          <a:xfrm>
            <a:off x="6492240" y="3429000"/>
            <a:ext cx="4754880" cy="1371600"/>
          </a:xfrm>
          <a:prstGeom prst="rect">
            <a:avLst/>
          </a:prstGeom>
          <a:noFill/>
          <a:ln/>
        </p:spPr>
        <p:txBody>
          <a:bodyPr wrap="square" lIns="0" tIns="0" rIns="0" bIns="0" rtlCol="0" anchor="t"/>
          <a:lstStyle/>
          <a:p>
            <a:pPr indent="0" marL="0">
              <a:lnSpc>
                <a:spcPct val="115000"/>
              </a:lnSpc>
              <a:buNone/>
            </a:pPr>
            <a:r>
              <a:rPr lang="en-US" sz="1700" dirty="0">
                <a:solidFill>
                  <a:srgbClr val="1B1F24"/>
                </a:solidFill>
                <a:latin typeface="Inter" pitchFamily="34" charset="0"/>
                <a:ea typeface="Inter" pitchFamily="34" charset="-122"/>
                <a:cs typeface="Inter" pitchFamily="34" charset="-120"/>
              </a:rPr>
              <a:t>Nobody wants to be the example in the district’s cautionary email.</a:t>
            </a:r>
            <a:endParaRPr lang="en-US" sz="1700" dirty="0"/>
          </a:p>
        </p:txBody>
      </p:sp>
      <p:sp>
        <p:nvSpPr>
          <p:cNvPr id="30" name="Text 27"/>
          <p:cNvSpPr/>
          <p:nvPr/>
        </p:nvSpPr>
        <p:spPr>
          <a:xfrm>
            <a:off x="548640" y="5349240"/>
            <a:ext cx="11064240" cy="731520"/>
          </a:xfrm>
          <a:prstGeom prst="rect">
            <a:avLst/>
          </a:prstGeom>
          <a:noFill/>
          <a:ln/>
        </p:spPr>
        <p:txBody>
          <a:bodyPr wrap="square" lIns="0" tIns="0" rIns="0" bIns="0" rtlCol="0" anchor="ctr"/>
          <a:lstStyle/>
          <a:p>
            <a:pPr algn="ctr" indent="0" marL="0">
              <a:buNone/>
            </a:pPr>
            <a:r>
              <a:rPr lang="en-US" sz="1400" i="1" dirty="0">
                <a:solidFill>
                  <a:srgbClr val="5B6B7A"/>
                </a:solidFill>
                <a:latin typeface="Inter" pitchFamily="34" charset="0"/>
                <a:ea typeface="Inter" pitchFamily="34" charset="-122"/>
                <a:cs typeface="Inter" pitchFamily="34" charset="-120"/>
              </a:rPr>
              <a:t>Educators sharing safe practice, not legal advice. District-specific questions go to the district office.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15</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2A9D8F"/>
          </a:solidFill>
          <a:ln w="12700">
            <a:solidFill>
              <a:srgbClr val="2A9D8F"/>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every tool is public to her</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2A9D8F"/>
                </a:solidFill>
                <a:latin typeface="Inter" pitchFamily="34" charset="0"/>
                <a:ea typeface="Inter" pitchFamily="34" charset="-122"/>
                <a:cs typeface="Inter" pitchFamily="34" charset="-120"/>
              </a:rPr>
              <a:t>CLAIM · SO THE RULE DOES NOT OVERREACH</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Every tool is public until the district says otherwise</a:t>
            </a:r>
            <a:endParaRPr lang="en-US" sz="3000" dirty="0"/>
          </a:p>
        </p:txBody>
      </p:sp>
      <p:sp>
        <p:nvSpPr>
          <p:cNvPr id="22" name="Shape 19"/>
          <p:cNvSpPr/>
          <p:nvPr/>
        </p:nvSpPr>
        <p:spPr>
          <a:xfrm>
            <a:off x="548640" y="1691640"/>
            <a:ext cx="5440680" cy="3566160"/>
          </a:xfrm>
          <a:prstGeom prst="roundRect">
            <a:avLst>
              <a:gd name="adj" fmla="val 2564"/>
            </a:avLst>
          </a:prstGeom>
          <a:solidFill>
            <a:srgbClr val="FBEFED"/>
          </a:solidFill>
          <a:ln w="12700">
            <a:solidFill>
              <a:srgbClr val="FBEFED"/>
            </a:solidFill>
            <a:prstDash val="solid"/>
          </a:ln>
        </p:spPr>
      </p:sp>
      <p:sp>
        <p:nvSpPr>
          <p:cNvPr id="23" name="Text 20"/>
          <p:cNvSpPr/>
          <p:nvPr/>
        </p:nvSpPr>
        <p:spPr>
          <a:xfrm>
            <a:off x="868680" y="1874520"/>
            <a:ext cx="4754880" cy="274320"/>
          </a:xfrm>
          <a:prstGeom prst="rect">
            <a:avLst/>
          </a:prstGeom>
          <a:noFill/>
          <a:ln/>
        </p:spPr>
        <p:txBody>
          <a:bodyPr wrap="square" lIns="0" tIns="0" rIns="0" bIns="0" rtlCol="0" anchor="ctr"/>
          <a:lstStyle/>
          <a:p>
            <a:pPr indent="0" marL="0">
              <a:buNone/>
            </a:pPr>
            <a:r>
              <a:rPr lang="en-US" sz="1100" b="1" spc="160" kern="0" dirty="0">
                <a:solidFill>
                  <a:srgbClr val="B4453A"/>
                </a:solidFill>
                <a:latin typeface="Inter" pitchFamily="34" charset="0"/>
                <a:ea typeface="Inter" pitchFamily="34" charset="-122"/>
                <a:cs typeface="Inter" pitchFamily="34" charset="-120"/>
              </a:rPr>
              <a:t>PUBLIC TOOL</a:t>
            </a:r>
            <a:endParaRPr lang="en-US" sz="1100" dirty="0"/>
          </a:p>
        </p:txBody>
      </p:sp>
      <p:sp>
        <p:nvSpPr>
          <p:cNvPr id="24" name="Text 21"/>
          <p:cNvSpPr/>
          <p:nvPr/>
        </p:nvSpPr>
        <p:spPr>
          <a:xfrm>
            <a:off x="868680" y="2331720"/>
            <a:ext cx="4754880" cy="1645920"/>
          </a:xfrm>
          <a:prstGeom prst="rect">
            <a:avLst/>
          </a:prstGeom>
          <a:noFill/>
          <a:ln/>
        </p:spPr>
        <p:txBody>
          <a:bodyPr wrap="square" lIns="0" tIns="0" rIns="0" bIns="0" rtlCol="0" anchor="t"/>
          <a:lstStyle/>
          <a:p>
            <a:pPr indent="0" marL="0">
              <a:lnSpc>
                <a:spcPct val="115000"/>
              </a:lnSpc>
              <a:buNone/>
            </a:pPr>
            <a:r>
              <a:rPr lang="en-US" sz="1900" dirty="0">
                <a:solidFill>
                  <a:srgbClr val="1B1F24"/>
                </a:solidFill>
                <a:latin typeface="Inter" pitchFamily="34" charset="0"/>
                <a:ea typeface="Inter" pitchFamily="34" charset="-122"/>
                <a:cs typeface="Inter" pitchFamily="34" charset="-120"/>
              </a:rPr>
              <a:t>Anything you signed up for yourself: free ChatGPT, Claude, Gemini, personal accounts.</a:t>
            </a:r>
            <a:endParaRPr lang="en-US" sz="1900" dirty="0"/>
          </a:p>
        </p:txBody>
      </p:sp>
      <p:sp>
        <p:nvSpPr>
          <p:cNvPr id="25" name="Text 22"/>
          <p:cNvSpPr/>
          <p:nvPr/>
        </p:nvSpPr>
        <p:spPr>
          <a:xfrm>
            <a:off x="868680" y="4206240"/>
            <a:ext cx="4754880" cy="6400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The rule always applies.</a:t>
            </a:r>
            <a:endParaRPr lang="en-US" sz="2000" dirty="0"/>
          </a:p>
        </p:txBody>
      </p:sp>
      <p:sp>
        <p:nvSpPr>
          <p:cNvPr id="26" name="Shape 23"/>
          <p:cNvSpPr/>
          <p:nvPr/>
        </p:nvSpPr>
        <p:spPr>
          <a:xfrm>
            <a:off x="6172200" y="1691640"/>
            <a:ext cx="5440680" cy="3566160"/>
          </a:xfrm>
          <a:prstGeom prst="roundRect">
            <a:avLst>
              <a:gd name="adj" fmla="val 2564"/>
            </a:avLst>
          </a:prstGeom>
          <a:solidFill>
            <a:srgbClr val="EAF5F3"/>
          </a:solidFill>
          <a:ln w="12700">
            <a:solidFill>
              <a:srgbClr val="EAF5F3"/>
            </a:solidFill>
            <a:prstDash val="solid"/>
          </a:ln>
        </p:spPr>
      </p:sp>
      <p:sp>
        <p:nvSpPr>
          <p:cNvPr id="27" name="Text 24"/>
          <p:cNvSpPr/>
          <p:nvPr/>
        </p:nvSpPr>
        <p:spPr>
          <a:xfrm>
            <a:off x="6492240" y="1874520"/>
            <a:ext cx="4754880" cy="274320"/>
          </a:xfrm>
          <a:prstGeom prst="rect">
            <a:avLst/>
          </a:prstGeom>
          <a:noFill/>
          <a:ln/>
        </p:spPr>
        <p:txBody>
          <a:bodyPr wrap="square" lIns="0" tIns="0" rIns="0" bIns="0" rtlCol="0" anchor="ctr"/>
          <a:lstStyle/>
          <a:p>
            <a:pPr indent="0" marL="0">
              <a:buNone/>
            </a:pPr>
            <a:r>
              <a:rPr lang="en-US" sz="1100" b="1" spc="160" kern="0" dirty="0">
                <a:solidFill>
                  <a:srgbClr val="2E7D5B"/>
                </a:solidFill>
                <a:latin typeface="Inter" pitchFamily="34" charset="0"/>
                <a:ea typeface="Inter" pitchFamily="34" charset="-122"/>
                <a:cs typeface="Inter" pitchFamily="34" charset="-120"/>
              </a:rPr>
              <a:t>DISTRICT-APPROVED TOOL</a:t>
            </a:r>
            <a:endParaRPr lang="en-US" sz="1100" dirty="0"/>
          </a:p>
        </p:txBody>
      </p:sp>
      <p:sp>
        <p:nvSpPr>
          <p:cNvPr id="28" name="Text 25"/>
          <p:cNvSpPr/>
          <p:nvPr/>
        </p:nvSpPr>
        <p:spPr>
          <a:xfrm>
            <a:off x="6492240" y="2331720"/>
            <a:ext cx="4754880" cy="1645920"/>
          </a:xfrm>
          <a:prstGeom prst="rect">
            <a:avLst/>
          </a:prstGeom>
          <a:noFill/>
          <a:ln/>
        </p:spPr>
        <p:txBody>
          <a:bodyPr wrap="square" lIns="0" tIns="0" rIns="0" bIns="0" rtlCol="0" anchor="t"/>
          <a:lstStyle/>
          <a:p>
            <a:pPr indent="0" marL="0">
              <a:lnSpc>
                <a:spcPct val="115000"/>
              </a:lnSpc>
              <a:buNone/>
            </a:pPr>
            <a:r>
              <a:rPr lang="en-US" sz="1900" dirty="0">
                <a:solidFill>
                  <a:srgbClr val="1B1F24"/>
                </a:solidFill>
                <a:latin typeface="Inter" pitchFamily="34" charset="0"/>
                <a:ea typeface="Inter" pitchFamily="34" charset="-122"/>
                <a:cs typeface="Inter" pitchFamily="34" charset="-120"/>
              </a:rPr>
              <a:t>Vetted by the district, with a signed student-data agreement.</a:t>
            </a:r>
            <a:endParaRPr lang="en-US" sz="1900" dirty="0"/>
          </a:p>
        </p:txBody>
      </p:sp>
      <p:sp>
        <p:nvSpPr>
          <p:cNvPr id="29" name="Text 26"/>
          <p:cNvSpPr/>
          <p:nvPr/>
        </p:nvSpPr>
        <p:spPr>
          <a:xfrm>
            <a:off x="6492240" y="4206240"/>
            <a:ext cx="4754880" cy="6400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You will be told explicitly when that changes.</a:t>
            </a:r>
            <a:endParaRPr lang="en-US" sz="2000" dirty="0"/>
          </a:p>
        </p:txBody>
      </p:sp>
      <p:sp>
        <p:nvSpPr>
          <p:cNvPr id="30" name="Text 27"/>
          <p:cNvSpPr/>
          <p:nvPr/>
        </p:nvSpPr>
        <p:spPr>
          <a:xfrm>
            <a:off x="548640" y="5440680"/>
            <a:ext cx="1106424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Until you are told otherwise, treat every tool as a public tool.</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16</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2A9D8F"/>
          </a:solidFill>
          <a:ln w="12700">
            <a:solidFill>
              <a:srgbClr val="2A9D8F"/>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she never needed a name anyway</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2A9D8F"/>
                </a:solidFill>
                <a:latin typeface="Inter" pitchFamily="34" charset="0"/>
                <a:ea typeface="Inter" pitchFamily="34" charset="-122"/>
                <a:cs typeface="Inter" pitchFamily="34" charset="-120"/>
              </a:rPr>
              <a:t>CLAIM · AND NOW THE GOOD NEWS</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AI never needed a student’s identity anyway</a:t>
            </a:r>
            <a:endParaRPr lang="en-US" sz="3000" dirty="0"/>
          </a:p>
        </p:txBody>
      </p:sp>
      <p:sp>
        <p:nvSpPr>
          <p:cNvPr id="22" name="Text 19"/>
          <p:cNvSpPr/>
          <p:nvPr/>
        </p:nvSpPr>
        <p:spPr>
          <a:xfrm>
            <a:off x="548640" y="1645920"/>
            <a:ext cx="11064240" cy="640080"/>
          </a:xfrm>
          <a:prstGeom prst="rect">
            <a:avLst/>
          </a:prstGeom>
          <a:noFill/>
          <a:ln/>
        </p:spPr>
        <p:txBody>
          <a:bodyPr wrap="square" lIns="0" tIns="0" rIns="0" bIns="0" rtlCol="0" anchor="ctr"/>
          <a:lstStyle/>
          <a:p>
            <a:pPr indent="0" marL="0">
              <a:buNone/>
            </a:pPr>
            <a:r>
              <a:rPr lang="en-US" sz="2300" dirty="0">
                <a:solidFill>
                  <a:srgbClr val="1B1F24"/>
                </a:solidFill>
                <a:latin typeface="Inter" pitchFamily="34" charset="0"/>
                <a:ea typeface="Inter" pitchFamily="34" charset="-122"/>
                <a:cs typeface="Inter" pitchFamily="34" charset="-120"/>
              </a:rPr>
              <a:t>Almost everything AI is useful for needs no student identity at all.</a:t>
            </a:r>
            <a:endParaRPr lang="en-US" sz="2300" dirty="0"/>
          </a:p>
        </p:txBody>
      </p:sp>
      <p:sp>
        <p:nvSpPr>
          <p:cNvPr id="23" name="Shape 20"/>
          <p:cNvSpPr/>
          <p:nvPr/>
        </p:nvSpPr>
        <p:spPr>
          <a:xfrm>
            <a:off x="548640" y="2514600"/>
            <a:ext cx="11064240" cy="1280160"/>
          </a:xfrm>
          <a:prstGeom prst="roundRect">
            <a:avLst>
              <a:gd name="adj" fmla="val 7143"/>
            </a:avLst>
          </a:prstGeom>
          <a:solidFill>
            <a:srgbClr val="EAF5F3"/>
          </a:solidFill>
          <a:ln w="12700">
            <a:solidFill>
              <a:srgbClr val="EAF5F3"/>
            </a:solidFill>
            <a:prstDash val="solid"/>
          </a:ln>
        </p:spPr>
      </p:sp>
      <p:sp>
        <p:nvSpPr>
          <p:cNvPr id="24" name="Text 21"/>
          <p:cNvSpPr/>
          <p:nvPr/>
        </p:nvSpPr>
        <p:spPr>
          <a:xfrm>
            <a:off x="914400" y="2514600"/>
            <a:ext cx="10332720" cy="1280160"/>
          </a:xfrm>
          <a:prstGeom prst="rect">
            <a:avLst/>
          </a:prstGeom>
          <a:noFill/>
          <a:ln/>
        </p:spPr>
        <p:txBody>
          <a:bodyPr wrap="square" lIns="0" tIns="0" rIns="0" bIns="0" rtlCol="0" anchor="ctr"/>
          <a:lstStyle/>
          <a:p>
            <a:pPr indent="0" marL="0">
              <a:buNone/>
            </a:pPr>
            <a:r>
              <a:rPr lang="en-US" sz="2600" b="1" dirty="0">
                <a:solidFill>
                  <a:srgbClr val="2E7D5B"/>
                </a:solidFill>
                <a:latin typeface="Inter" pitchFamily="34" charset="0"/>
                <a:ea typeface="Inter" pitchFamily="34" charset="-122"/>
                <a:cs typeface="Inter" pitchFamily="34" charset="-120"/>
              </a:rPr>
              <a:t>You need:   </a:t>
            </a:r>
            <a:pPr indent="0" marL="0">
              <a:buNone/>
            </a:pPr>
            <a:r>
              <a:rPr lang="en-US" sz="2600" dirty="0">
                <a:solidFill>
                  <a:srgbClr val="1B1F24"/>
                </a:solidFill>
                <a:latin typeface="Inter" pitchFamily="34" charset="0"/>
                <a:ea typeface="Inter" pitchFamily="34" charset="-122"/>
                <a:cs typeface="Inter" pitchFamily="34" charset="-120"/>
              </a:rPr>
              <a:t>“a 4th grader reading below grade level”</a:t>
            </a:r>
            <a:endParaRPr lang="en-US" sz="2600" dirty="0"/>
          </a:p>
        </p:txBody>
      </p:sp>
      <p:sp>
        <p:nvSpPr>
          <p:cNvPr id="25" name="Shape 22"/>
          <p:cNvSpPr/>
          <p:nvPr/>
        </p:nvSpPr>
        <p:spPr>
          <a:xfrm>
            <a:off x="548640" y="3977640"/>
            <a:ext cx="11064240" cy="1280160"/>
          </a:xfrm>
          <a:prstGeom prst="roundRect">
            <a:avLst>
              <a:gd name="adj" fmla="val 7143"/>
            </a:avLst>
          </a:prstGeom>
          <a:solidFill>
            <a:srgbClr val="FBEFED"/>
          </a:solidFill>
          <a:ln w="12700">
            <a:solidFill>
              <a:srgbClr val="FBEFED"/>
            </a:solidFill>
            <a:prstDash val="solid"/>
          </a:ln>
        </p:spPr>
      </p:sp>
      <p:sp>
        <p:nvSpPr>
          <p:cNvPr id="26" name="Text 23"/>
          <p:cNvSpPr/>
          <p:nvPr/>
        </p:nvSpPr>
        <p:spPr>
          <a:xfrm>
            <a:off x="914400" y="3977640"/>
            <a:ext cx="10332720" cy="1280160"/>
          </a:xfrm>
          <a:prstGeom prst="rect">
            <a:avLst/>
          </a:prstGeom>
          <a:noFill/>
          <a:ln/>
        </p:spPr>
        <p:txBody>
          <a:bodyPr wrap="square" lIns="0" tIns="0" rIns="0" bIns="0" rtlCol="0" anchor="ctr"/>
          <a:lstStyle/>
          <a:p>
            <a:pPr indent="0" marL="0">
              <a:buNone/>
            </a:pPr>
            <a:r>
              <a:rPr lang="en-US" sz="2600" b="1" dirty="0">
                <a:solidFill>
                  <a:srgbClr val="B4453A"/>
                </a:solidFill>
                <a:latin typeface="Inter" pitchFamily="34" charset="0"/>
                <a:ea typeface="Inter" pitchFamily="34" charset="-122"/>
                <a:cs typeface="Inter" pitchFamily="34" charset="-120"/>
              </a:rPr>
              <a:t>You never need:   </a:t>
            </a:r>
            <a:pPr indent="0" marL="0">
              <a:buNone/>
            </a:pPr>
            <a:r>
              <a:rPr lang="en-US" sz="2600" dirty="0">
                <a:solidFill>
                  <a:srgbClr val="1B1F24"/>
                </a:solidFill>
                <a:latin typeface="Inter" pitchFamily="34" charset="0"/>
                <a:ea typeface="Inter" pitchFamily="34" charset="-122"/>
                <a:cs typeface="Inter" pitchFamily="34" charset="-120"/>
              </a:rPr>
              <a:t>“Marcus Chen”</a:t>
            </a:r>
            <a:endParaRPr lang="en-US" sz="2600" dirty="0"/>
          </a:p>
        </p:txBody>
      </p:sp>
      <p:sp>
        <p:nvSpPr>
          <p:cNvPr id="27" name="Text 24"/>
          <p:cNvSpPr/>
          <p:nvPr/>
        </p:nvSpPr>
        <p:spPr>
          <a:xfrm>
            <a:off x="548640" y="5486400"/>
            <a:ext cx="11064240" cy="45720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Next: the ten-second skill that makes this automatic.</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17</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2A9D8F"/>
          </a:solidFill>
          <a:ln w="12700">
            <a:solidFill>
              <a:srgbClr val="2A9D8F"/>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B07914"/>
                </a:solidFill>
                <a:latin typeface="Inter" pitchFamily="34" charset="0"/>
                <a:ea typeface="Inter" pitchFamily="34" charset="-122"/>
                <a:cs typeface="Inter" pitchFamily="34" charset="-120"/>
              </a:rPr>
              <a:t>ON MS. RIVERA’S SCREEN</a:t>
            </a:r>
            <a:endParaRPr lang="en-US" sz="1000" dirty="0"/>
          </a:p>
        </p:txBody>
      </p:sp>
      <p:sp>
        <p:nvSpPr>
          <p:cNvPr id="20" name="Text 17"/>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The AI needed the situation, never the child</a:t>
            </a:r>
            <a:endParaRPr lang="en-US" sz="3000" dirty="0"/>
          </a:p>
        </p:txBody>
      </p:sp>
      <p:sp>
        <p:nvSpPr>
          <p:cNvPr id="21" name="Shape 18"/>
          <p:cNvSpPr/>
          <p:nvPr/>
        </p:nvSpPr>
        <p:spPr>
          <a:xfrm>
            <a:off x="640080" y="1463040"/>
            <a:ext cx="10972800" cy="4160520"/>
          </a:xfrm>
          <a:prstGeom prst="roundRect">
            <a:avLst>
              <a:gd name="adj" fmla="val 2198"/>
            </a:avLst>
          </a:prstGeom>
          <a:solidFill>
            <a:srgbClr val="FFFFFF"/>
          </a:solidFill>
          <a:ln w="19050">
            <a:solidFill>
              <a:srgbClr val="DCE3EA"/>
            </a:solidFill>
            <a:prstDash val="solid"/>
          </a:ln>
        </p:spPr>
      </p:sp>
      <p:sp>
        <p:nvSpPr>
          <p:cNvPr id="22" name="Shape 19"/>
          <p:cNvSpPr/>
          <p:nvPr/>
        </p:nvSpPr>
        <p:spPr>
          <a:xfrm>
            <a:off x="640080" y="1463040"/>
            <a:ext cx="10972800" cy="384048"/>
          </a:xfrm>
          <a:prstGeom prst="roundRect">
            <a:avLst>
              <a:gd name="adj" fmla="val 23810"/>
            </a:avLst>
          </a:prstGeom>
          <a:solidFill>
            <a:srgbClr val="13293D"/>
          </a:solidFill>
          <a:ln w="12700">
            <a:solidFill>
              <a:srgbClr val="13293D"/>
            </a:solidFill>
            <a:prstDash val="solid"/>
          </a:ln>
        </p:spPr>
      </p:sp>
      <p:sp>
        <p:nvSpPr>
          <p:cNvPr id="23" name="Shape 20"/>
          <p:cNvSpPr/>
          <p:nvPr/>
        </p:nvSpPr>
        <p:spPr>
          <a:xfrm>
            <a:off x="868680" y="1581912"/>
            <a:ext cx="146304" cy="146304"/>
          </a:xfrm>
          <a:prstGeom prst="ellipse">
            <a:avLst/>
          </a:prstGeom>
          <a:solidFill>
            <a:srgbClr val="E8837A"/>
          </a:solidFill>
          <a:ln w="12700">
            <a:solidFill>
              <a:srgbClr val="E8837A"/>
            </a:solidFill>
            <a:prstDash val="solid"/>
          </a:ln>
        </p:spPr>
      </p:sp>
      <p:sp>
        <p:nvSpPr>
          <p:cNvPr id="24" name="Shape 21"/>
          <p:cNvSpPr/>
          <p:nvPr/>
        </p:nvSpPr>
        <p:spPr>
          <a:xfrm>
            <a:off x="1115568" y="1581912"/>
            <a:ext cx="146304" cy="146304"/>
          </a:xfrm>
          <a:prstGeom prst="ellipse">
            <a:avLst/>
          </a:prstGeom>
          <a:solidFill>
            <a:srgbClr val="F4A825"/>
          </a:solidFill>
          <a:ln w="12700">
            <a:solidFill>
              <a:srgbClr val="F4A825"/>
            </a:solidFill>
            <a:prstDash val="solid"/>
          </a:ln>
        </p:spPr>
      </p:sp>
      <p:sp>
        <p:nvSpPr>
          <p:cNvPr id="25" name="Shape 22"/>
          <p:cNvSpPr/>
          <p:nvPr/>
        </p:nvSpPr>
        <p:spPr>
          <a:xfrm>
            <a:off x="1362456" y="1581912"/>
            <a:ext cx="146304" cy="146304"/>
          </a:xfrm>
          <a:prstGeom prst="ellipse">
            <a:avLst/>
          </a:prstGeom>
          <a:solidFill>
            <a:srgbClr val="2E7D5B"/>
          </a:solidFill>
          <a:ln w="12700">
            <a:solidFill>
              <a:srgbClr val="2E7D5B"/>
            </a:solidFill>
            <a:prstDash val="solid"/>
          </a:ln>
        </p:spPr>
      </p:sp>
      <p:sp>
        <p:nvSpPr>
          <p:cNvPr id="26" name="Text 23"/>
          <p:cNvSpPr/>
          <p:nvPr/>
        </p:nvSpPr>
        <p:spPr>
          <a:xfrm>
            <a:off x="1783080" y="146304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7" name="Shape 24"/>
          <p:cNvSpPr/>
          <p:nvPr/>
        </p:nvSpPr>
        <p:spPr>
          <a:xfrm>
            <a:off x="1554480" y="2011680"/>
            <a:ext cx="9646920" cy="1371600"/>
          </a:xfrm>
          <a:prstGeom prst="roundRect">
            <a:avLst>
              <a:gd name="adj" fmla="val 8000"/>
            </a:avLst>
          </a:prstGeom>
          <a:solidFill>
            <a:srgbClr val="FBEFED"/>
          </a:solidFill>
          <a:ln w="12700">
            <a:solidFill>
              <a:srgbClr val="FBEFED"/>
            </a:solidFill>
            <a:prstDash val="solid"/>
          </a:ln>
        </p:spPr>
      </p:sp>
      <p:sp>
        <p:nvSpPr>
          <p:cNvPr id="28" name="Text 25"/>
          <p:cNvSpPr/>
          <p:nvPr/>
        </p:nvSpPr>
        <p:spPr>
          <a:xfrm>
            <a:off x="1783080" y="2103120"/>
            <a:ext cx="918972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WHAT SHE ALMOST TYPED · UNSAFE</a:t>
            </a:r>
            <a:endParaRPr lang="en-US" sz="1150" dirty="0"/>
          </a:p>
        </p:txBody>
      </p:sp>
      <p:sp>
        <p:nvSpPr>
          <p:cNvPr id="29" name="Text 26"/>
          <p:cNvSpPr/>
          <p:nvPr/>
        </p:nvSpPr>
        <p:spPr>
          <a:xfrm>
            <a:off x="1783080" y="2395728"/>
            <a:ext cx="9189720" cy="914400"/>
          </a:xfrm>
          <a:prstGeom prst="rect">
            <a:avLst/>
          </a:prstGeom>
          <a:noFill/>
          <a:ln/>
        </p:spPr>
        <p:txBody>
          <a:bodyPr wrap="square" lIns="0" tIns="0" rIns="0" bIns="0" rtlCol="0" anchor="t"/>
          <a:lstStyle/>
          <a:p>
            <a:pPr indent="0" marL="0">
              <a:lnSpc>
                <a:spcPct val="110000"/>
              </a:lnSpc>
              <a:buNone/>
            </a:pPr>
            <a:r>
              <a:rPr lang="en-US" sz="1700" i="1" dirty="0">
                <a:solidFill>
                  <a:srgbClr val="1B1F24"/>
                </a:solidFill>
                <a:latin typeface="Inter" pitchFamily="34" charset="0"/>
                <a:ea typeface="Inter" pitchFamily="34" charset="-122"/>
                <a:cs typeface="Inter" pitchFamily="34" charset="-120"/>
              </a:rPr>
              <a:t>“Write an email to Jayden Miller’s mom about his three missing assignments and his outburst in class Tuesday.”</a:t>
            </a:r>
            <a:endParaRPr lang="en-US" sz="1700" dirty="0"/>
          </a:p>
        </p:txBody>
      </p:sp>
      <p:sp>
        <p:nvSpPr>
          <p:cNvPr id="30" name="Shape 27"/>
          <p:cNvSpPr/>
          <p:nvPr/>
        </p:nvSpPr>
        <p:spPr>
          <a:xfrm>
            <a:off x="1554480" y="3566160"/>
            <a:ext cx="9646920" cy="1874520"/>
          </a:xfrm>
          <a:prstGeom prst="roundRect">
            <a:avLst>
              <a:gd name="adj" fmla="val 5854"/>
            </a:avLst>
          </a:prstGeom>
          <a:solidFill>
            <a:srgbClr val="EAF5F3"/>
          </a:solidFill>
          <a:ln w="12700">
            <a:solidFill>
              <a:srgbClr val="EAF5F3"/>
            </a:solidFill>
            <a:prstDash val="solid"/>
          </a:ln>
        </p:spPr>
      </p:sp>
      <p:sp>
        <p:nvSpPr>
          <p:cNvPr id="31" name="Text 28"/>
          <p:cNvSpPr/>
          <p:nvPr/>
        </p:nvSpPr>
        <p:spPr>
          <a:xfrm>
            <a:off x="1783080" y="3657600"/>
            <a:ext cx="9189720" cy="274320"/>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WHAT SHE SENT · SAFE</a:t>
            </a:r>
            <a:endParaRPr lang="en-US" sz="1150" dirty="0"/>
          </a:p>
        </p:txBody>
      </p:sp>
      <p:sp>
        <p:nvSpPr>
          <p:cNvPr id="32" name="Text 29"/>
          <p:cNvSpPr/>
          <p:nvPr/>
        </p:nvSpPr>
        <p:spPr>
          <a:xfrm>
            <a:off x="1783080" y="3950208"/>
            <a:ext cx="9189720" cy="1417320"/>
          </a:xfrm>
          <a:prstGeom prst="rect">
            <a:avLst/>
          </a:prstGeom>
          <a:noFill/>
          <a:ln/>
        </p:spPr>
        <p:txBody>
          <a:bodyPr wrap="square" lIns="0" tIns="0" rIns="0" bIns="0" rtlCol="0" anchor="t"/>
          <a:lstStyle/>
          <a:p>
            <a:pPr indent="0" marL="0">
              <a:lnSpc>
                <a:spcPct val="110000"/>
              </a:lnSpc>
              <a:buNone/>
            </a:pPr>
            <a:r>
              <a:rPr lang="en-US" sz="1700" i="1" dirty="0">
                <a:solidFill>
                  <a:srgbClr val="1B1F24"/>
                </a:solidFill>
                <a:latin typeface="Inter" pitchFamily="34" charset="0"/>
                <a:ea typeface="Inter" pitchFamily="34" charset="-122"/>
                <a:cs typeface="Inter" pitchFamily="34" charset="-120"/>
              </a:rPr>
              <a:t>“Write a warm, professional email to a parent about a middle schooler with several missing assignments and a recent difficult day in class. Firm but supportive; end by inviting a conversation.”</a:t>
            </a:r>
            <a:endParaRPr lang="en-US" sz="1700" dirty="0"/>
          </a:p>
        </p:txBody>
      </p:sp>
      <p:sp>
        <p:nvSpPr>
          <p:cNvPr id="33" name="Text 30"/>
          <p:cNvSpPr/>
          <p:nvPr/>
        </p:nvSpPr>
        <p:spPr>
          <a:xfrm>
            <a:off x="548640" y="5760720"/>
            <a:ext cx="1106424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Same email out the other end. She adds the name back in her own inbox.</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18</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2A9D8F"/>
          </a:solidFill>
          <a:ln w="12700">
            <a:solidFill>
              <a:srgbClr val="2A9D8F"/>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B07914"/>
                </a:solidFill>
                <a:latin typeface="Inter" pitchFamily="34" charset="0"/>
                <a:ea typeface="Inter" pitchFamily="34" charset="-122"/>
                <a:cs typeface="Inter" pitchFamily="34" charset="-120"/>
              </a:rPr>
              <a:t>ON MS. RIVERA’S SCREEN</a:t>
            </a:r>
            <a:endParaRPr lang="en-US" sz="1000" dirty="0"/>
          </a:p>
        </p:txBody>
      </p:sp>
      <p:sp>
        <p:nvSpPr>
          <p:cNvPr id="20" name="Text 17"/>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It never needed the diagnosis, only the reading level</a:t>
            </a:r>
            <a:endParaRPr lang="en-US" sz="3000" dirty="0"/>
          </a:p>
        </p:txBody>
      </p:sp>
      <p:sp>
        <p:nvSpPr>
          <p:cNvPr id="21" name="Shape 18"/>
          <p:cNvSpPr/>
          <p:nvPr/>
        </p:nvSpPr>
        <p:spPr>
          <a:xfrm>
            <a:off x="640080" y="1463040"/>
            <a:ext cx="10972800" cy="4160520"/>
          </a:xfrm>
          <a:prstGeom prst="roundRect">
            <a:avLst>
              <a:gd name="adj" fmla="val 2198"/>
            </a:avLst>
          </a:prstGeom>
          <a:solidFill>
            <a:srgbClr val="FFFFFF"/>
          </a:solidFill>
          <a:ln w="19050">
            <a:solidFill>
              <a:srgbClr val="DCE3EA"/>
            </a:solidFill>
            <a:prstDash val="solid"/>
          </a:ln>
        </p:spPr>
      </p:sp>
      <p:sp>
        <p:nvSpPr>
          <p:cNvPr id="22" name="Shape 19"/>
          <p:cNvSpPr/>
          <p:nvPr/>
        </p:nvSpPr>
        <p:spPr>
          <a:xfrm>
            <a:off x="640080" y="1463040"/>
            <a:ext cx="10972800" cy="384048"/>
          </a:xfrm>
          <a:prstGeom prst="roundRect">
            <a:avLst>
              <a:gd name="adj" fmla="val 23810"/>
            </a:avLst>
          </a:prstGeom>
          <a:solidFill>
            <a:srgbClr val="13293D"/>
          </a:solidFill>
          <a:ln w="12700">
            <a:solidFill>
              <a:srgbClr val="13293D"/>
            </a:solidFill>
            <a:prstDash val="solid"/>
          </a:ln>
        </p:spPr>
      </p:sp>
      <p:sp>
        <p:nvSpPr>
          <p:cNvPr id="23" name="Shape 20"/>
          <p:cNvSpPr/>
          <p:nvPr/>
        </p:nvSpPr>
        <p:spPr>
          <a:xfrm>
            <a:off x="868680" y="1581912"/>
            <a:ext cx="146304" cy="146304"/>
          </a:xfrm>
          <a:prstGeom prst="ellipse">
            <a:avLst/>
          </a:prstGeom>
          <a:solidFill>
            <a:srgbClr val="E8837A"/>
          </a:solidFill>
          <a:ln w="12700">
            <a:solidFill>
              <a:srgbClr val="E8837A"/>
            </a:solidFill>
            <a:prstDash val="solid"/>
          </a:ln>
        </p:spPr>
      </p:sp>
      <p:sp>
        <p:nvSpPr>
          <p:cNvPr id="24" name="Shape 21"/>
          <p:cNvSpPr/>
          <p:nvPr/>
        </p:nvSpPr>
        <p:spPr>
          <a:xfrm>
            <a:off x="1115568" y="1581912"/>
            <a:ext cx="146304" cy="146304"/>
          </a:xfrm>
          <a:prstGeom prst="ellipse">
            <a:avLst/>
          </a:prstGeom>
          <a:solidFill>
            <a:srgbClr val="F4A825"/>
          </a:solidFill>
          <a:ln w="12700">
            <a:solidFill>
              <a:srgbClr val="F4A825"/>
            </a:solidFill>
            <a:prstDash val="solid"/>
          </a:ln>
        </p:spPr>
      </p:sp>
      <p:sp>
        <p:nvSpPr>
          <p:cNvPr id="25" name="Shape 22"/>
          <p:cNvSpPr/>
          <p:nvPr/>
        </p:nvSpPr>
        <p:spPr>
          <a:xfrm>
            <a:off x="1362456" y="1581912"/>
            <a:ext cx="146304" cy="146304"/>
          </a:xfrm>
          <a:prstGeom prst="ellipse">
            <a:avLst/>
          </a:prstGeom>
          <a:solidFill>
            <a:srgbClr val="2E7D5B"/>
          </a:solidFill>
          <a:ln w="12700">
            <a:solidFill>
              <a:srgbClr val="2E7D5B"/>
            </a:solidFill>
            <a:prstDash val="solid"/>
          </a:ln>
        </p:spPr>
      </p:sp>
      <p:sp>
        <p:nvSpPr>
          <p:cNvPr id="26" name="Text 23"/>
          <p:cNvSpPr/>
          <p:nvPr/>
        </p:nvSpPr>
        <p:spPr>
          <a:xfrm>
            <a:off x="1783080" y="146304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7" name="Shape 24"/>
          <p:cNvSpPr/>
          <p:nvPr/>
        </p:nvSpPr>
        <p:spPr>
          <a:xfrm>
            <a:off x="1554480" y="2011680"/>
            <a:ext cx="9646920" cy="1325880"/>
          </a:xfrm>
          <a:prstGeom prst="roundRect">
            <a:avLst>
              <a:gd name="adj" fmla="val 8276"/>
            </a:avLst>
          </a:prstGeom>
          <a:solidFill>
            <a:srgbClr val="FBEFED"/>
          </a:solidFill>
          <a:ln w="12700">
            <a:solidFill>
              <a:srgbClr val="FBEFED"/>
            </a:solidFill>
            <a:prstDash val="solid"/>
          </a:ln>
        </p:spPr>
      </p:sp>
      <p:sp>
        <p:nvSpPr>
          <p:cNvPr id="28" name="Text 25"/>
          <p:cNvSpPr/>
          <p:nvPr/>
        </p:nvSpPr>
        <p:spPr>
          <a:xfrm>
            <a:off x="1783080" y="2103120"/>
            <a:ext cx="918972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UNSAFE</a:t>
            </a:r>
            <a:endParaRPr lang="en-US" sz="1150" dirty="0"/>
          </a:p>
        </p:txBody>
      </p:sp>
      <p:sp>
        <p:nvSpPr>
          <p:cNvPr id="29" name="Text 26"/>
          <p:cNvSpPr/>
          <p:nvPr/>
        </p:nvSpPr>
        <p:spPr>
          <a:xfrm>
            <a:off x="1783080" y="2395728"/>
            <a:ext cx="9189720" cy="868680"/>
          </a:xfrm>
          <a:prstGeom prst="rect">
            <a:avLst/>
          </a:prstGeom>
          <a:noFill/>
          <a:ln/>
        </p:spPr>
        <p:txBody>
          <a:bodyPr wrap="square" lIns="0" tIns="0" rIns="0" bIns="0" rtlCol="0" anchor="t"/>
          <a:lstStyle/>
          <a:p>
            <a:pPr indent="0" marL="0">
              <a:lnSpc>
                <a:spcPct val="110000"/>
              </a:lnSpc>
              <a:buNone/>
            </a:pPr>
            <a:r>
              <a:rPr lang="en-US" sz="1800" i="1" dirty="0">
                <a:solidFill>
                  <a:srgbClr val="1B1F24"/>
                </a:solidFill>
                <a:latin typeface="Inter" pitchFamily="34" charset="0"/>
                <a:ea typeface="Inter" pitchFamily="34" charset="-122"/>
                <a:cs typeface="Inter" pitchFamily="34" charset="-120"/>
              </a:rPr>
              <a:t>“Rewrite this passage for Sofia R., who has a reading IEP with a 2nd-grade fluency goal.”</a:t>
            </a:r>
            <a:endParaRPr lang="en-US" sz="1800" dirty="0"/>
          </a:p>
        </p:txBody>
      </p:sp>
      <p:sp>
        <p:nvSpPr>
          <p:cNvPr id="30" name="Shape 27"/>
          <p:cNvSpPr/>
          <p:nvPr/>
        </p:nvSpPr>
        <p:spPr>
          <a:xfrm>
            <a:off x="1554480" y="3520440"/>
            <a:ext cx="9646920" cy="1920240"/>
          </a:xfrm>
          <a:prstGeom prst="roundRect">
            <a:avLst>
              <a:gd name="adj" fmla="val 5714"/>
            </a:avLst>
          </a:prstGeom>
          <a:solidFill>
            <a:srgbClr val="EAF5F3"/>
          </a:solidFill>
          <a:ln w="12700">
            <a:solidFill>
              <a:srgbClr val="EAF5F3"/>
            </a:solidFill>
            <a:prstDash val="solid"/>
          </a:ln>
        </p:spPr>
      </p:sp>
      <p:sp>
        <p:nvSpPr>
          <p:cNvPr id="31" name="Text 28"/>
          <p:cNvSpPr/>
          <p:nvPr/>
        </p:nvSpPr>
        <p:spPr>
          <a:xfrm>
            <a:off x="1783080" y="3611880"/>
            <a:ext cx="9189720" cy="274320"/>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SAFE, AND A BETTER PROMPT</a:t>
            </a:r>
            <a:endParaRPr lang="en-US" sz="1150" dirty="0"/>
          </a:p>
        </p:txBody>
      </p:sp>
      <p:sp>
        <p:nvSpPr>
          <p:cNvPr id="32" name="Text 29"/>
          <p:cNvSpPr/>
          <p:nvPr/>
        </p:nvSpPr>
        <p:spPr>
          <a:xfrm>
            <a:off x="1783080" y="3913632"/>
            <a:ext cx="9189720" cy="1463040"/>
          </a:xfrm>
          <a:prstGeom prst="rect">
            <a:avLst/>
          </a:prstGeom>
          <a:noFill/>
          <a:ln/>
        </p:spPr>
        <p:txBody>
          <a:bodyPr wrap="square" lIns="0" tIns="0" rIns="0" bIns="0" rtlCol="0" anchor="t"/>
          <a:lstStyle/>
          <a:p>
            <a:pPr indent="0" marL="0">
              <a:lnSpc>
                <a:spcPct val="110000"/>
              </a:lnSpc>
              <a:buNone/>
            </a:pPr>
            <a:r>
              <a:rPr lang="en-US" sz="1800" i="1" dirty="0">
                <a:solidFill>
                  <a:srgbClr val="1B1F24"/>
                </a:solidFill>
                <a:latin typeface="Inter" pitchFamily="34" charset="0"/>
                <a:ea typeface="Inter" pitchFamily="34" charset="-122"/>
                <a:cs typeface="Inter" pitchFamily="34" charset="-120"/>
              </a:rPr>
              <a:t>“Rewrite this passage at a 2nd-grade reading level, same key ideas, shorter sentences, and add a five-word picture-supported vocabulary list.”</a:t>
            </a:r>
            <a:endParaRPr lang="en-US" sz="1800" dirty="0"/>
          </a:p>
        </p:txBody>
      </p:sp>
      <p:sp>
        <p:nvSpPr>
          <p:cNvPr id="33" name="Text 30"/>
          <p:cNvSpPr/>
          <p:nvPr/>
        </p:nvSpPr>
        <p:spPr>
          <a:xfrm>
            <a:off x="548640" y="5760720"/>
            <a:ext cx="1106424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Safer and more useful is the usual trade.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19</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2A9D8F"/>
          </a:solidFill>
          <a:ln w="12700">
            <a:solidFill>
              <a:srgbClr val="2A9D8F"/>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three moves, automatic now</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2A9D8F"/>
                </a:solidFill>
                <a:latin typeface="Inter" pitchFamily="34" charset="0"/>
                <a:ea typeface="Inter" pitchFamily="34" charset="-122"/>
                <a:cs typeface="Inter" pitchFamily="34" charset="-120"/>
              </a:rPr>
              <a:t>CLAIM</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Three moves de-identify any school prompt in ten seconds</a:t>
            </a:r>
            <a:endParaRPr lang="en-US" sz="3000" dirty="0"/>
          </a:p>
        </p:txBody>
      </p:sp>
      <p:sp>
        <p:nvSpPr>
          <p:cNvPr id="22" name="Shape 19"/>
          <p:cNvSpPr/>
          <p:nvPr/>
        </p:nvSpPr>
        <p:spPr>
          <a:xfrm>
            <a:off x="548640" y="1691640"/>
            <a:ext cx="3538728" cy="3520440"/>
          </a:xfrm>
          <a:prstGeom prst="roundRect">
            <a:avLst>
              <a:gd name="adj" fmla="val 2597"/>
            </a:avLst>
          </a:prstGeom>
          <a:solidFill>
            <a:srgbClr val="F7F5F0"/>
          </a:solidFill>
          <a:ln w="12700">
            <a:solidFill>
              <a:srgbClr val="F7F5F0"/>
            </a:solidFill>
            <a:prstDash val="solid"/>
          </a:ln>
        </p:spPr>
      </p:sp>
      <p:sp>
        <p:nvSpPr>
          <p:cNvPr id="23" name="Shape 20"/>
          <p:cNvSpPr/>
          <p:nvPr/>
        </p:nvSpPr>
        <p:spPr>
          <a:xfrm>
            <a:off x="1865376" y="1965960"/>
            <a:ext cx="914400" cy="914400"/>
          </a:xfrm>
          <a:prstGeom prst="ellipse">
            <a:avLst/>
          </a:prstGeom>
          <a:solidFill>
            <a:srgbClr val="2A9D8F"/>
          </a:solidFill>
          <a:ln w="12700">
            <a:solidFill>
              <a:srgbClr val="2A9D8F"/>
            </a:solidFill>
            <a:prstDash val="solid"/>
          </a:ln>
        </p:spPr>
      </p:sp>
      <p:sp>
        <p:nvSpPr>
          <p:cNvPr id="24" name="Text 21"/>
          <p:cNvSpPr/>
          <p:nvPr/>
        </p:nvSpPr>
        <p:spPr>
          <a:xfrm>
            <a:off x="1865376" y="196596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1</a:t>
            </a:r>
            <a:endParaRPr lang="en-US" sz="3000" dirty="0"/>
          </a:p>
        </p:txBody>
      </p:sp>
      <p:sp>
        <p:nvSpPr>
          <p:cNvPr id="25" name="Text 22"/>
          <p:cNvSpPr/>
          <p:nvPr/>
        </p:nvSpPr>
        <p:spPr>
          <a:xfrm>
            <a:off x="777240" y="3108960"/>
            <a:ext cx="3108960" cy="68580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Strip identity</a:t>
            </a:r>
            <a:endParaRPr lang="en-US" sz="1900" dirty="0"/>
          </a:p>
        </p:txBody>
      </p:sp>
      <p:sp>
        <p:nvSpPr>
          <p:cNvPr id="26" name="Text 23"/>
          <p:cNvSpPr/>
          <p:nvPr/>
        </p:nvSpPr>
        <p:spPr>
          <a:xfrm>
            <a:off x="777240" y="3840480"/>
            <a:ext cx="3108960" cy="1234440"/>
          </a:xfrm>
          <a:prstGeom prst="rect">
            <a:avLst/>
          </a:prstGeom>
          <a:noFill/>
          <a:ln/>
        </p:spPr>
        <p:txBody>
          <a:bodyPr wrap="square" lIns="0" tIns="0" rIns="0" bIns="0" rtlCol="0" anchor="t"/>
          <a:lstStyle/>
          <a:p>
            <a:pPr algn="ctr" indent="0" marL="0">
              <a:lnSpc>
                <a:spcPct val="115000"/>
              </a:lnSpc>
              <a:buNone/>
            </a:pPr>
            <a:r>
              <a:rPr lang="en-US" sz="1600" dirty="0">
                <a:solidFill>
                  <a:srgbClr val="1B1F24"/>
                </a:solidFill>
                <a:latin typeface="Inter" pitchFamily="34" charset="0"/>
                <a:ea typeface="Inter" pitchFamily="34" charset="-122"/>
                <a:cs typeface="Inter" pitchFamily="34" charset="-120"/>
              </a:rPr>
              <a:t>No names, no initials, no one-of-a-kind details</a:t>
            </a:r>
            <a:endParaRPr lang="en-US" sz="1600" dirty="0"/>
          </a:p>
        </p:txBody>
      </p:sp>
      <p:sp>
        <p:nvSpPr>
          <p:cNvPr id="27" name="Shape 24"/>
          <p:cNvSpPr/>
          <p:nvPr/>
        </p:nvSpPr>
        <p:spPr>
          <a:xfrm>
            <a:off x="4325112" y="1691640"/>
            <a:ext cx="3538728" cy="3520440"/>
          </a:xfrm>
          <a:prstGeom prst="roundRect">
            <a:avLst>
              <a:gd name="adj" fmla="val 2597"/>
            </a:avLst>
          </a:prstGeom>
          <a:solidFill>
            <a:srgbClr val="F7F5F0"/>
          </a:solidFill>
          <a:ln w="12700">
            <a:solidFill>
              <a:srgbClr val="F7F5F0"/>
            </a:solidFill>
            <a:prstDash val="solid"/>
          </a:ln>
        </p:spPr>
      </p:sp>
      <p:sp>
        <p:nvSpPr>
          <p:cNvPr id="28" name="Shape 25"/>
          <p:cNvSpPr/>
          <p:nvPr/>
        </p:nvSpPr>
        <p:spPr>
          <a:xfrm>
            <a:off x="5641848" y="1965960"/>
            <a:ext cx="914400" cy="914400"/>
          </a:xfrm>
          <a:prstGeom prst="ellipse">
            <a:avLst/>
          </a:prstGeom>
          <a:solidFill>
            <a:srgbClr val="2A9D8F"/>
          </a:solidFill>
          <a:ln w="12700">
            <a:solidFill>
              <a:srgbClr val="2A9D8F"/>
            </a:solidFill>
            <a:prstDash val="solid"/>
          </a:ln>
        </p:spPr>
      </p:sp>
      <p:sp>
        <p:nvSpPr>
          <p:cNvPr id="29" name="Text 26"/>
          <p:cNvSpPr/>
          <p:nvPr/>
        </p:nvSpPr>
        <p:spPr>
          <a:xfrm>
            <a:off x="5641848" y="196596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2</a:t>
            </a:r>
            <a:endParaRPr lang="en-US" sz="3000" dirty="0"/>
          </a:p>
        </p:txBody>
      </p:sp>
      <p:sp>
        <p:nvSpPr>
          <p:cNvPr id="30" name="Text 27"/>
          <p:cNvSpPr/>
          <p:nvPr/>
        </p:nvSpPr>
        <p:spPr>
          <a:xfrm>
            <a:off x="4553712" y="3108960"/>
            <a:ext cx="3108960" cy="68580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Generalize</a:t>
            </a:r>
            <a:endParaRPr lang="en-US" sz="1900" dirty="0"/>
          </a:p>
        </p:txBody>
      </p:sp>
      <p:sp>
        <p:nvSpPr>
          <p:cNvPr id="31" name="Text 28"/>
          <p:cNvSpPr/>
          <p:nvPr/>
        </p:nvSpPr>
        <p:spPr>
          <a:xfrm>
            <a:off x="4553712" y="3840480"/>
            <a:ext cx="3108960" cy="1234440"/>
          </a:xfrm>
          <a:prstGeom prst="rect">
            <a:avLst/>
          </a:prstGeom>
          <a:noFill/>
          <a:ln/>
        </p:spPr>
        <p:txBody>
          <a:bodyPr wrap="square" lIns="0" tIns="0" rIns="0" bIns="0" rtlCol="0" anchor="t"/>
          <a:lstStyle/>
          <a:p>
            <a:pPr algn="ctr" indent="0" marL="0">
              <a:lnSpc>
                <a:spcPct val="115000"/>
              </a:lnSpc>
              <a:buNone/>
            </a:pPr>
            <a:r>
              <a:rPr lang="en-US" sz="1600" dirty="0">
                <a:solidFill>
                  <a:srgbClr val="1B1F24"/>
                </a:solidFill>
                <a:latin typeface="Inter" pitchFamily="34" charset="0"/>
                <a:ea typeface="Inter" pitchFamily="34" charset="-122"/>
                <a:cs typeface="Inter" pitchFamily="34" charset="-120"/>
              </a:rPr>
              <a:t>“A 7th grader.” “Several students.” “A parent.”</a:t>
            </a:r>
            <a:endParaRPr lang="en-US" sz="1600" dirty="0"/>
          </a:p>
        </p:txBody>
      </p:sp>
      <p:sp>
        <p:nvSpPr>
          <p:cNvPr id="32" name="Shape 29"/>
          <p:cNvSpPr/>
          <p:nvPr/>
        </p:nvSpPr>
        <p:spPr>
          <a:xfrm>
            <a:off x="8101584" y="1691640"/>
            <a:ext cx="3538728" cy="3520440"/>
          </a:xfrm>
          <a:prstGeom prst="roundRect">
            <a:avLst>
              <a:gd name="adj" fmla="val 2597"/>
            </a:avLst>
          </a:prstGeom>
          <a:solidFill>
            <a:srgbClr val="F7F5F0"/>
          </a:solidFill>
          <a:ln w="12700">
            <a:solidFill>
              <a:srgbClr val="F7F5F0"/>
            </a:solidFill>
            <a:prstDash val="solid"/>
          </a:ln>
        </p:spPr>
      </p:sp>
      <p:sp>
        <p:nvSpPr>
          <p:cNvPr id="33" name="Shape 30"/>
          <p:cNvSpPr/>
          <p:nvPr/>
        </p:nvSpPr>
        <p:spPr>
          <a:xfrm>
            <a:off x="9418320" y="1965960"/>
            <a:ext cx="914400" cy="914400"/>
          </a:xfrm>
          <a:prstGeom prst="ellipse">
            <a:avLst/>
          </a:prstGeom>
          <a:solidFill>
            <a:srgbClr val="2A9D8F"/>
          </a:solidFill>
          <a:ln w="12700">
            <a:solidFill>
              <a:srgbClr val="2A9D8F"/>
            </a:solidFill>
            <a:prstDash val="solid"/>
          </a:ln>
        </p:spPr>
      </p:sp>
      <p:sp>
        <p:nvSpPr>
          <p:cNvPr id="34" name="Text 31"/>
          <p:cNvSpPr/>
          <p:nvPr/>
        </p:nvSpPr>
        <p:spPr>
          <a:xfrm>
            <a:off x="9418320" y="196596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3</a:t>
            </a:r>
            <a:endParaRPr lang="en-US" sz="3000" dirty="0"/>
          </a:p>
        </p:txBody>
      </p:sp>
      <p:sp>
        <p:nvSpPr>
          <p:cNvPr id="35" name="Text 32"/>
          <p:cNvSpPr/>
          <p:nvPr/>
        </p:nvSpPr>
        <p:spPr>
          <a:xfrm>
            <a:off x="8330184" y="3108960"/>
            <a:ext cx="3108960" cy="68580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Describe the need</a:t>
            </a:r>
            <a:endParaRPr lang="en-US" sz="1900" dirty="0"/>
          </a:p>
        </p:txBody>
      </p:sp>
      <p:sp>
        <p:nvSpPr>
          <p:cNvPr id="36" name="Text 33"/>
          <p:cNvSpPr/>
          <p:nvPr/>
        </p:nvSpPr>
        <p:spPr>
          <a:xfrm>
            <a:off x="8330184" y="3840480"/>
            <a:ext cx="3108960" cy="1234440"/>
          </a:xfrm>
          <a:prstGeom prst="rect">
            <a:avLst/>
          </a:prstGeom>
          <a:noFill/>
          <a:ln/>
        </p:spPr>
        <p:txBody>
          <a:bodyPr wrap="square" lIns="0" tIns="0" rIns="0" bIns="0" rtlCol="0" anchor="t"/>
          <a:lstStyle/>
          <a:p>
            <a:pPr algn="ctr" indent="0" marL="0">
              <a:lnSpc>
                <a:spcPct val="115000"/>
              </a:lnSpc>
              <a:buNone/>
            </a:pPr>
            <a:r>
              <a:rPr lang="en-US" sz="1600" dirty="0">
                <a:solidFill>
                  <a:srgbClr val="1B1F24"/>
                </a:solidFill>
                <a:latin typeface="Inter" pitchFamily="34" charset="0"/>
                <a:ea typeface="Inter" pitchFamily="34" charset="-122"/>
                <a:cs typeface="Inter" pitchFamily="34" charset="-120"/>
              </a:rPr>
              <a:t>Reading level, behavior pattern, the scaffold you want</a:t>
            </a:r>
            <a:endParaRPr lang="en-US" sz="1600" dirty="0"/>
          </a:p>
        </p:txBody>
      </p:sp>
      <p:sp>
        <p:nvSpPr>
          <p:cNvPr id="37" name="Text 34"/>
          <p:cNvSpPr/>
          <p:nvPr/>
        </p:nvSpPr>
        <p:spPr>
          <a:xfrm>
            <a:off x="548640" y="5486400"/>
            <a:ext cx="1106424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Every school prompt you write passes through these three moves.</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20</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2A9D8F"/>
          </a:solidFill>
          <a:ln w="12700">
            <a:solidFill>
              <a:srgbClr val="2A9D8F"/>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waiting while you try it</a:t>
            </a:r>
            <a:endParaRPr lang="en-US" sz="850" dirty="0"/>
          </a:p>
        </p:txBody>
      </p:sp>
      <p:sp>
        <p:nvSpPr>
          <p:cNvPr id="20" name="Shape 17"/>
          <p:cNvSpPr/>
          <p:nvPr/>
        </p:nvSpPr>
        <p:spPr>
          <a:xfrm>
            <a:off x="0" y="0"/>
            <a:ext cx="12188952" cy="1234440"/>
          </a:xfrm>
          <a:prstGeom prst="roundRect">
            <a:avLst>
              <a:gd name="adj" fmla="val 7407"/>
            </a:avLst>
          </a:prstGeom>
          <a:solidFill>
            <a:srgbClr val="F4A825"/>
          </a:solidFill>
          <a:ln w="12700">
            <a:solidFill>
              <a:srgbClr val="F4A825"/>
            </a:solidFill>
            <a:prstDash val="solid"/>
          </a:ln>
        </p:spPr>
      </p:sp>
      <p:sp>
        <p:nvSpPr>
          <p:cNvPr id="21" name="Text 18"/>
          <p:cNvSpPr/>
          <p:nvPr/>
        </p:nvSpPr>
        <p:spPr>
          <a:xfrm>
            <a:off x="566928" y="146304"/>
            <a:ext cx="3657600" cy="329184"/>
          </a:xfrm>
          <a:prstGeom prst="rect">
            <a:avLst/>
          </a:prstGeom>
          <a:noFill/>
          <a:ln/>
        </p:spPr>
        <p:txBody>
          <a:bodyPr wrap="square" lIns="0" tIns="0" rIns="0" bIns="0" rtlCol="0" anchor="ctr"/>
          <a:lstStyle/>
          <a:p>
            <a:pPr indent="0" marL="0">
              <a:buNone/>
            </a:pPr>
            <a:r>
              <a:rPr lang="en-US" sz="1300" b="1" spc="300" kern="0" dirty="0">
                <a:solidFill>
                  <a:srgbClr val="13293D"/>
                </a:solidFill>
                <a:latin typeface="Inter" pitchFamily="34" charset="0"/>
                <a:ea typeface="Inter" pitchFamily="34" charset="-122"/>
                <a:cs typeface="Inter" pitchFamily="34" charset="-120"/>
              </a:rPr>
              <a:t>DO NOW</a:t>
            </a:r>
            <a:endParaRPr lang="en-US" sz="1300" dirty="0"/>
          </a:p>
        </p:txBody>
      </p:sp>
      <p:sp>
        <p:nvSpPr>
          <p:cNvPr id="22" name="Text 19"/>
          <p:cNvSpPr/>
          <p:nvPr/>
        </p:nvSpPr>
        <p:spPr>
          <a:xfrm>
            <a:off x="566928" y="512064"/>
            <a:ext cx="11064240" cy="566928"/>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Call out each of these four prompts as safe or unsafe</a:t>
            </a:r>
            <a:endParaRPr lang="en-US" sz="2800" dirty="0"/>
          </a:p>
        </p:txBody>
      </p:sp>
      <p:sp>
        <p:nvSpPr>
          <p:cNvPr id="23" name="Shape 20"/>
          <p:cNvSpPr/>
          <p:nvPr/>
        </p:nvSpPr>
        <p:spPr>
          <a:xfrm>
            <a:off x="548640" y="1554480"/>
            <a:ext cx="685800" cy="731520"/>
          </a:xfrm>
          <a:prstGeom prst="roundRect">
            <a:avLst>
              <a:gd name="adj" fmla="val 10667"/>
            </a:avLst>
          </a:prstGeom>
          <a:solidFill>
            <a:srgbClr val="13293D"/>
          </a:solidFill>
          <a:ln w="12700">
            <a:solidFill>
              <a:srgbClr val="13293D"/>
            </a:solidFill>
            <a:prstDash val="solid"/>
          </a:ln>
        </p:spPr>
      </p:sp>
      <p:sp>
        <p:nvSpPr>
          <p:cNvPr id="24" name="Text 21"/>
          <p:cNvSpPr/>
          <p:nvPr/>
        </p:nvSpPr>
        <p:spPr>
          <a:xfrm>
            <a:off x="548640" y="1554480"/>
            <a:ext cx="68580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A</a:t>
            </a:r>
            <a:endParaRPr lang="en-US" sz="2400" dirty="0"/>
          </a:p>
        </p:txBody>
      </p:sp>
      <p:sp>
        <p:nvSpPr>
          <p:cNvPr id="25" name="Shape 22"/>
          <p:cNvSpPr/>
          <p:nvPr/>
        </p:nvSpPr>
        <p:spPr>
          <a:xfrm>
            <a:off x="1371600" y="1554480"/>
            <a:ext cx="10241280" cy="731520"/>
          </a:xfrm>
          <a:prstGeom prst="roundRect">
            <a:avLst>
              <a:gd name="adj" fmla="val 12500"/>
            </a:avLst>
          </a:prstGeom>
          <a:solidFill>
            <a:srgbClr val="F7F5F0"/>
          </a:solidFill>
          <a:ln w="12700">
            <a:solidFill>
              <a:srgbClr val="F7F5F0"/>
            </a:solidFill>
            <a:prstDash val="solid"/>
          </a:ln>
        </p:spPr>
      </p:sp>
      <p:sp>
        <p:nvSpPr>
          <p:cNvPr id="26" name="Text 23"/>
          <p:cNvSpPr/>
          <p:nvPr/>
        </p:nvSpPr>
        <p:spPr>
          <a:xfrm>
            <a:off x="1645920" y="1554480"/>
            <a:ext cx="9692640" cy="73152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a note home about D.T.’s IEP accommodations for the field trip.”</a:t>
            </a:r>
            <a:endParaRPr lang="en-US" sz="1800" dirty="0"/>
          </a:p>
        </p:txBody>
      </p:sp>
      <p:sp>
        <p:nvSpPr>
          <p:cNvPr id="27" name="Shape 24"/>
          <p:cNvSpPr/>
          <p:nvPr/>
        </p:nvSpPr>
        <p:spPr>
          <a:xfrm>
            <a:off x="548640" y="2423160"/>
            <a:ext cx="685800" cy="731520"/>
          </a:xfrm>
          <a:prstGeom prst="roundRect">
            <a:avLst>
              <a:gd name="adj" fmla="val 10667"/>
            </a:avLst>
          </a:prstGeom>
          <a:solidFill>
            <a:srgbClr val="13293D"/>
          </a:solidFill>
          <a:ln w="12700">
            <a:solidFill>
              <a:srgbClr val="13293D"/>
            </a:solidFill>
            <a:prstDash val="solid"/>
          </a:ln>
        </p:spPr>
      </p:sp>
      <p:sp>
        <p:nvSpPr>
          <p:cNvPr id="28" name="Text 25"/>
          <p:cNvSpPr/>
          <p:nvPr/>
        </p:nvSpPr>
        <p:spPr>
          <a:xfrm>
            <a:off x="548640" y="2423160"/>
            <a:ext cx="68580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B</a:t>
            </a:r>
            <a:endParaRPr lang="en-US" sz="2400" dirty="0"/>
          </a:p>
        </p:txBody>
      </p:sp>
      <p:sp>
        <p:nvSpPr>
          <p:cNvPr id="29" name="Shape 26"/>
          <p:cNvSpPr/>
          <p:nvPr/>
        </p:nvSpPr>
        <p:spPr>
          <a:xfrm>
            <a:off x="1371600" y="2423160"/>
            <a:ext cx="10241280" cy="731520"/>
          </a:xfrm>
          <a:prstGeom prst="roundRect">
            <a:avLst>
              <a:gd name="adj" fmla="val 12500"/>
            </a:avLst>
          </a:prstGeom>
          <a:solidFill>
            <a:srgbClr val="F7F5F0"/>
          </a:solidFill>
          <a:ln w="12700">
            <a:solidFill>
              <a:srgbClr val="F7F5F0"/>
            </a:solidFill>
            <a:prstDash val="solid"/>
          </a:ln>
        </p:spPr>
      </p:sp>
      <p:sp>
        <p:nvSpPr>
          <p:cNvPr id="30" name="Text 27"/>
          <p:cNvSpPr/>
          <p:nvPr/>
        </p:nvSpPr>
        <p:spPr>
          <a:xfrm>
            <a:off x="1645920" y="2423160"/>
            <a:ext cx="9692640" cy="73152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“Create a behavior-reflection sheet for elementary students, friendly tone.”</a:t>
            </a:r>
            <a:endParaRPr lang="en-US" sz="1800" dirty="0"/>
          </a:p>
        </p:txBody>
      </p:sp>
      <p:sp>
        <p:nvSpPr>
          <p:cNvPr id="31" name="Shape 28"/>
          <p:cNvSpPr/>
          <p:nvPr/>
        </p:nvSpPr>
        <p:spPr>
          <a:xfrm>
            <a:off x="548640" y="3291840"/>
            <a:ext cx="685800" cy="731520"/>
          </a:xfrm>
          <a:prstGeom prst="roundRect">
            <a:avLst>
              <a:gd name="adj" fmla="val 10667"/>
            </a:avLst>
          </a:prstGeom>
          <a:solidFill>
            <a:srgbClr val="13293D"/>
          </a:solidFill>
          <a:ln w="12700">
            <a:solidFill>
              <a:srgbClr val="13293D"/>
            </a:solidFill>
            <a:prstDash val="solid"/>
          </a:ln>
        </p:spPr>
      </p:sp>
      <p:sp>
        <p:nvSpPr>
          <p:cNvPr id="32" name="Text 29"/>
          <p:cNvSpPr/>
          <p:nvPr/>
        </p:nvSpPr>
        <p:spPr>
          <a:xfrm>
            <a:off x="548640" y="3291840"/>
            <a:ext cx="68580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C</a:t>
            </a:r>
            <a:endParaRPr lang="en-US" sz="2400" dirty="0"/>
          </a:p>
        </p:txBody>
      </p:sp>
      <p:sp>
        <p:nvSpPr>
          <p:cNvPr id="33" name="Shape 30"/>
          <p:cNvSpPr/>
          <p:nvPr/>
        </p:nvSpPr>
        <p:spPr>
          <a:xfrm>
            <a:off x="1371600" y="3291840"/>
            <a:ext cx="10241280" cy="731520"/>
          </a:xfrm>
          <a:prstGeom prst="roundRect">
            <a:avLst>
              <a:gd name="adj" fmla="val 12500"/>
            </a:avLst>
          </a:prstGeom>
          <a:solidFill>
            <a:srgbClr val="F7F5F0"/>
          </a:solidFill>
          <a:ln w="12700">
            <a:solidFill>
              <a:srgbClr val="F7F5F0"/>
            </a:solidFill>
            <a:prstDash val="solid"/>
          </a:ln>
        </p:spPr>
      </p:sp>
      <p:sp>
        <p:nvSpPr>
          <p:cNvPr id="34" name="Text 31"/>
          <p:cNvSpPr/>
          <p:nvPr/>
        </p:nvSpPr>
        <p:spPr>
          <a:xfrm>
            <a:off x="1645920" y="3291840"/>
            <a:ext cx="9692640" cy="73152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“Help me write a welcome plan for the student who just moved here from Ukraine.”</a:t>
            </a:r>
            <a:endParaRPr lang="en-US" sz="1800" dirty="0"/>
          </a:p>
        </p:txBody>
      </p:sp>
      <p:sp>
        <p:nvSpPr>
          <p:cNvPr id="35" name="Shape 32"/>
          <p:cNvSpPr/>
          <p:nvPr/>
        </p:nvSpPr>
        <p:spPr>
          <a:xfrm>
            <a:off x="548640" y="4160520"/>
            <a:ext cx="685800" cy="731520"/>
          </a:xfrm>
          <a:prstGeom prst="roundRect">
            <a:avLst>
              <a:gd name="adj" fmla="val 10667"/>
            </a:avLst>
          </a:prstGeom>
          <a:solidFill>
            <a:srgbClr val="13293D"/>
          </a:solidFill>
          <a:ln w="12700">
            <a:solidFill>
              <a:srgbClr val="13293D"/>
            </a:solidFill>
            <a:prstDash val="solid"/>
          </a:ln>
        </p:spPr>
      </p:sp>
      <p:sp>
        <p:nvSpPr>
          <p:cNvPr id="36" name="Text 33"/>
          <p:cNvSpPr/>
          <p:nvPr/>
        </p:nvSpPr>
        <p:spPr>
          <a:xfrm>
            <a:off x="548640" y="4160520"/>
            <a:ext cx="68580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D</a:t>
            </a:r>
            <a:endParaRPr lang="en-US" sz="2400" dirty="0"/>
          </a:p>
        </p:txBody>
      </p:sp>
      <p:sp>
        <p:nvSpPr>
          <p:cNvPr id="37" name="Shape 34"/>
          <p:cNvSpPr/>
          <p:nvPr/>
        </p:nvSpPr>
        <p:spPr>
          <a:xfrm>
            <a:off x="1371600" y="4160520"/>
            <a:ext cx="10241280" cy="731520"/>
          </a:xfrm>
          <a:prstGeom prst="roundRect">
            <a:avLst>
              <a:gd name="adj" fmla="val 12500"/>
            </a:avLst>
          </a:prstGeom>
          <a:solidFill>
            <a:srgbClr val="F7F5F0"/>
          </a:solidFill>
          <a:ln w="12700">
            <a:solidFill>
              <a:srgbClr val="F7F5F0"/>
            </a:solidFill>
            <a:prstDash val="solid"/>
          </a:ln>
        </p:spPr>
      </p:sp>
      <p:sp>
        <p:nvSpPr>
          <p:cNvPr id="38" name="Text 35"/>
          <p:cNvSpPr/>
          <p:nvPr/>
        </p:nvSpPr>
        <p:spPr>
          <a:xfrm>
            <a:off x="1645920" y="4160520"/>
            <a:ext cx="9692640" cy="73152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“Summarize strategies for a class where a third of students read below grade level.”</a:t>
            </a:r>
            <a:endParaRPr lang="en-US" sz="1800" dirty="0"/>
          </a:p>
        </p:txBody>
      </p:sp>
      <p:sp>
        <p:nvSpPr>
          <p:cNvPr id="39" name="Shape 36"/>
          <p:cNvSpPr/>
          <p:nvPr/>
        </p:nvSpPr>
        <p:spPr>
          <a:xfrm>
            <a:off x="548640" y="5074920"/>
            <a:ext cx="3538728" cy="1097280"/>
          </a:xfrm>
          <a:prstGeom prst="roundRect">
            <a:avLst>
              <a:gd name="adj" fmla="val 8333"/>
            </a:avLst>
          </a:prstGeom>
          <a:solidFill>
            <a:srgbClr val="F7F5F0"/>
          </a:solidFill>
          <a:ln w="12700">
            <a:solidFill>
              <a:srgbClr val="F7F5F0"/>
            </a:solidFill>
            <a:prstDash val="solid"/>
          </a:ln>
        </p:spPr>
      </p:sp>
      <p:sp>
        <p:nvSpPr>
          <p:cNvPr id="40" name="Text 37"/>
          <p:cNvSpPr/>
          <p:nvPr/>
        </p:nvSpPr>
        <p:spPr>
          <a:xfrm>
            <a:off x="777240" y="5166360"/>
            <a:ext cx="310896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WHAT YOU DO</a:t>
            </a:r>
            <a:endParaRPr lang="en-US" sz="1100" dirty="0"/>
          </a:p>
        </p:txBody>
      </p:sp>
      <p:sp>
        <p:nvSpPr>
          <p:cNvPr id="41" name="Text 38"/>
          <p:cNvSpPr/>
          <p:nvPr/>
        </p:nvSpPr>
        <p:spPr>
          <a:xfrm>
            <a:off x="777240" y="5477256"/>
            <a:ext cx="3108960" cy="621792"/>
          </a:xfrm>
          <a:prstGeom prst="rect">
            <a:avLst/>
          </a:prstGeom>
          <a:noFill/>
          <a:ln/>
        </p:spPr>
        <p:txBody>
          <a:bodyPr wrap="square" lIns="0" tIns="0" rIns="0" bIns="0" rtlCol="0" anchor="t"/>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Read each prompt. Call out safe or unsafe as a room.</a:t>
            </a:r>
            <a:endParaRPr lang="en-US" sz="1600" dirty="0"/>
          </a:p>
        </p:txBody>
      </p:sp>
      <p:sp>
        <p:nvSpPr>
          <p:cNvPr id="42" name="Shape 39"/>
          <p:cNvSpPr/>
          <p:nvPr/>
        </p:nvSpPr>
        <p:spPr>
          <a:xfrm>
            <a:off x="4325112" y="5074920"/>
            <a:ext cx="3538728" cy="1097280"/>
          </a:xfrm>
          <a:prstGeom prst="roundRect">
            <a:avLst>
              <a:gd name="adj" fmla="val 8333"/>
            </a:avLst>
          </a:prstGeom>
          <a:solidFill>
            <a:srgbClr val="F7F5F0"/>
          </a:solidFill>
          <a:ln w="12700">
            <a:solidFill>
              <a:srgbClr val="F7F5F0"/>
            </a:solidFill>
            <a:prstDash val="solid"/>
          </a:ln>
        </p:spPr>
      </p:sp>
      <p:sp>
        <p:nvSpPr>
          <p:cNvPr id="43" name="Text 40"/>
          <p:cNvSpPr/>
          <p:nvPr/>
        </p:nvSpPr>
        <p:spPr>
          <a:xfrm>
            <a:off x="4553712" y="5166360"/>
            <a:ext cx="310896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HOW LONG</a:t>
            </a:r>
            <a:endParaRPr lang="en-US" sz="1100" dirty="0"/>
          </a:p>
        </p:txBody>
      </p:sp>
      <p:sp>
        <p:nvSpPr>
          <p:cNvPr id="44" name="Text 41"/>
          <p:cNvSpPr/>
          <p:nvPr/>
        </p:nvSpPr>
        <p:spPr>
          <a:xfrm>
            <a:off x="4553712" y="5477256"/>
            <a:ext cx="3108960" cy="621792"/>
          </a:xfrm>
          <a:prstGeom prst="rect">
            <a:avLst/>
          </a:prstGeom>
          <a:noFill/>
          <a:ln/>
        </p:spPr>
        <p:txBody>
          <a:bodyPr wrap="square" lIns="0" tIns="0" rIns="0" bIns="0" rtlCol="0" anchor="t"/>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Three minutes, brisk. No hands needed.</a:t>
            </a:r>
            <a:endParaRPr lang="en-US" sz="1600" dirty="0"/>
          </a:p>
        </p:txBody>
      </p:sp>
      <p:sp>
        <p:nvSpPr>
          <p:cNvPr id="45" name="Shape 42"/>
          <p:cNvSpPr/>
          <p:nvPr/>
        </p:nvSpPr>
        <p:spPr>
          <a:xfrm>
            <a:off x="8101584" y="5074920"/>
            <a:ext cx="3538728" cy="1097280"/>
          </a:xfrm>
          <a:prstGeom prst="roundRect">
            <a:avLst>
              <a:gd name="adj" fmla="val 8333"/>
            </a:avLst>
          </a:prstGeom>
          <a:solidFill>
            <a:srgbClr val="F7F5F0"/>
          </a:solidFill>
          <a:ln w="12700">
            <a:solidFill>
              <a:srgbClr val="F7F5F0"/>
            </a:solidFill>
            <a:prstDash val="solid"/>
          </a:ln>
        </p:spPr>
      </p:sp>
      <p:sp>
        <p:nvSpPr>
          <p:cNvPr id="46" name="Text 43"/>
          <p:cNvSpPr/>
          <p:nvPr/>
        </p:nvSpPr>
        <p:spPr>
          <a:xfrm>
            <a:off x="8330184" y="5166360"/>
            <a:ext cx="310896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DONE LOOKS LIKE</a:t>
            </a:r>
            <a:endParaRPr lang="en-US" sz="1100" dirty="0"/>
          </a:p>
        </p:txBody>
      </p:sp>
      <p:sp>
        <p:nvSpPr>
          <p:cNvPr id="47" name="Text 44"/>
          <p:cNvSpPr/>
          <p:nvPr/>
        </p:nvSpPr>
        <p:spPr>
          <a:xfrm>
            <a:off x="8330184" y="5477256"/>
            <a:ext cx="3108960" cy="621792"/>
          </a:xfrm>
          <a:prstGeom prst="rect">
            <a:avLst/>
          </a:prstGeom>
          <a:noFill/>
          <a:ln/>
        </p:spPr>
        <p:txBody>
          <a:bodyPr wrap="square" lIns="0" tIns="0" rIns="0" bIns="0" rtlCol="0" anchor="t"/>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All four called, and you can name the fix for each unsafe one.</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21</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2A9D8F"/>
          </a:solidFill>
          <a:ln w="12700">
            <a:solidFill>
              <a:srgbClr val="2A9D8F"/>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she scored the same four</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5B6B7A"/>
                </a:solidFill>
                <a:latin typeface="Inter" pitchFamily="34" charset="0"/>
                <a:ea typeface="Inter" pitchFamily="34" charset="-122"/>
                <a:cs typeface="Inter" pitchFamily="34" charset="-120"/>
              </a:rPr>
              <a:t>ANSWERS TO THE TASK ABOVE</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B and D are safe, A and C name one child</a:t>
            </a:r>
            <a:endParaRPr lang="en-US" sz="3000" dirty="0"/>
          </a:p>
        </p:txBody>
      </p:sp>
      <p:sp>
        <p:nvSpPr>
          <p:cNvPr id="22" name="Shape 19"/>
          <p:cNvSpPr/>
          <p:nvPr/>
        </p:nvSpPr>
        <p:spPr>
          <a:xfrm>
            <a:off x="548640" y="1691640"/>
            <a:ext cx="685800" cy="749808"/>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548640" y="1691640"/>
            <a:ext cx="685800" cy="74980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A</a:t>
            </a:r>
            <a:endParaRPr lang="en-US" sz="2200" dirty="0"/>
          </a:p>
        </p:txBody>
      </p:sp>
      <p:sp>
        <p:nvSpPr>
          <p:cNvPr id="24" name="Shape 21"/>
          <p:cNvSpPr/>
          <p:nvPr/>
        </p:nvSpPr>
        <p:spPr>
          <a:xfrm>
            <a:off x="1371600" y="1691640"/>
            <a:ext cx="1691640" cy="749808"/>
          </a:xfrm>
          <a:prstGeom prst="roundRect">
            <a:avLst>
              <a:gd name="adj" fmla="val 9756"/>
            </a:avLst>
          </a:prstGeom>
          <a:solidFill>
            <a:srgbClr val="B4453A"/>
          </a:solidFill>
          <a:ln w="12700">
            <a:solidFill>
              <a:srgbClr val="B4453A"/>
            </a:solidFill>
            <a:prstDash val="solid"/>
          </a:ln>
        </p:spPr>
      </p:sp>
      <p:sp>
        <p:nvSpPr>
          <p:cNvPr id="25" name="Text 22"/>
          <p:cNvSpPr/>
          <p:nvPr/>
        </p:nvSpPr>
        <p:spPr>
          <a:xfrm>
            <a:off x="1371600" y="1691640"/>
            <a:ext cx="1691640" cy="749808"/>
          </a:xfrm>
          <a:prstGeom prst="rect">
            <a:avLst/>
          </a:prstGeom>
          <a:noFill/>
          <a:ln/>
        </p:spPr>
        <p:txBody>
          <a:bodyPr wrap="square" lIns="0" tIns="0" rIns="0" bIns="0" rtlCol="0" anchor="ctr"/>
          <a:lstStyle/>
          <a:p>
            <a:pPr algn="ctr" indent="0" marL="0">
              <a:buNone/>
            </a:pPr>
            <a:r>
              <a:rPr lang="en-US" sz="1400" b="1" spc="150" kern="0" dirty="0">
                <a:solidFill>
                  <a:srgbClr val="FFFFFF"/>
                </a:solidFill>
                <a:latin typeface="Inter" pitchFamily="34" charset="0"/>
                <a:ea typeface="Inter" pitchFamily="34" charset="-122"/>
                <a:cs typeface="Inter" pitchFamily="34" charset="-120"/>
              </a:rPr>
              <a:t>UNSAFE</a:t>
            </a:r>
            <a:endParaRPr lang="en-US" sz="1400" dirty="0"/>
          </a:p>
        </p:txBody>
      </p:sp>
      <p:sp>
        <p:nvSpPr>
          <p:cNvPr id="26" name="Shape 23"/>
          <p:cNvSpPr/>
          <p:nvPr/>
        </p:nvSpPr>
        <p:spPr>
          <a:xfrm>
            <a:off x="3200400" y="1691640"/>
            <a:ext cx="8412480" cy="749808"/>
          </a:xfrm>
          <a:prstGeom prst="roundRect">
            <a:avLst>
              <a:gd name="adj" fmla="val 12195"/>
            </a:avLst>
          </a:prstGeom>
          <a:solidFill>
            <a:srgbClr val="F7F5F0"/>
          </a:solidFill>
          <a:ln w="12700">
            <a:solidFill>
              <a:srgbClr val="F7F5F0"/>
            </a:solidFill>
            <a:prstDash val="solid"/>
          </a:ln>
        </p:spPr>
      </p:sp>
      <p:sp>
        <p:nvSpPr>
          <p:cNvPr id="27" name="Text 24"/>
          <p:cNvSpPr/>
          <p:nvPr/>
        </p:nvSpPr>
        <p:spPr>
          <a:xfrm>
            <a:off x="3474720" y="1691640"/>
            <a:ext cx="7863840" cy="749808"/>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Initials plus IEP details identify the student.</a:t>
            </a:r>
            <a:endParaRPr lang="en-US" sz="1700" dirty="0"/>
          </a:p>
        </p:txBody>
      </p:sp>
      <p:sp>
        <p:nvSpPr>
          <p:cNvPr id="28" name="Shape 25"/>
          <p:cNvSpPr/>
          <p:nvPr/>
        </p:nvSpPr>
        <p:spPr>
          <a:xfrm>
            <a:off x="548640" y="2587752"/>
            <a:ext cx="685800" cy="749808"/>
          </a:xfrm>
          <a:prstGeom prst="roundRect">
            <a:avLst>
              <a:gd name="adj" fmla="val 10667"/>
            </a:avLst>
          </a:prstGeom>
          <a:solidFill>
            <a:srgbClr val="13293D"/>
          </a:solidFill>
          <a:ln w="12700">
            <a:solidFill>
              <a:srgbClr val="13293D"/>
            </a:solidFill>
            <a:prstDash val="solid"/>
          </a:ln>
        </p:spPr>
      </p:sp>
      <p:sp>
        <p:nvSpPr>
          <p:cNvPr id="29" name="Text 26"/>
          <p:cNvSpPr/>
          <p:nvPr/>
        </p:nvSpPr>
        <p:spPr>
          <a:xfrm>
            <a:off x="548640" y="2587752"/>
            <a:ext cx="685800" cy="74980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B</a:t>
            </a:r>
            <a:endParaRPr lang="en-US" sz="2200" dirty="0"/>
          </a:p>
        </p:txBody>
      </p:sp>
      <p:sp>
        <p:nvSpPr>
          <p:cNvPr id="30" name="Shape 27"/>
          <p:cNvSpPr/>
          <p:nvPr/>
        </p:nvSpPr>
        <p:spPr>
          <a:xfrm>
            <a:off x="1371600" y="2587752"/>
            <a:ext cx="1691640" cy="749808"/>
          </a:xfrm>
          <a:prstGeom prst="roundRect">
            <a:avLst>
              <a:gd name="adj" fmla="val 9756"/>
            </a:avLst>
          </a:prstGeom>
          <a:solidFill>
            <a:srgbClr val="2E7D5B"/>
          </a:solidFill>
          <a:ln w="12700">
            <a:solidFill>
              <a:srgbClr val="2E7D5B"/>
            </a:solidFill>
            <a:prstDash val="solid"/>
          </a:ln>
        </p:spPr>
      </p:sp>
      <p:sp>
        <p:nvSpPr>
          <p:cNvPr id="31" name="Text 28"/>
          <p:cNvSpPr/>
          <p:nvPr/>
        </p:nvSpPr>
        <p:spPr>
          <a:xfrm>
            <a:off x="1371600" y="2587752"/>
            <a:ext cx="1691640" cy="749808"/>
          </a:xfrm>
          <a:prstGeom prst="rect">
            <a:avLst/>
          </a:prstGeom>
          <a:noFill/>
          <a:ln/>
        </p:spPr>
        <p:txBody>
          <a:bodyPr wrap="square" lIns="0" tIns="0" rIns="0" bIns="0" rtlCol="0" anchor="ctr"/>
          <a:lstStyle/>
          <a:p>
            <a:pPr algn="ctr" indent="0" marL="0">
              <a:buNone/>
            </a:pPr>
            <a:r>
              <a:rPr lang="en-US" sz="1400" b="1" spc="150" kern="0" dirty="0">
                <a:solidFill>
                  <a:srgbClr val="FFFFFF"/>
                </a:solidFill>
                <a:latin typeface="Inter" pitchFamily="34" charset="0"/>
                <a:ea typeface="Inter" pitchFamily="34" charset="-122"/>
                <a:cs typeface="Inter" pitchFamily="34" charset="-120"/>
              </a:rPr>
              <a:t>SAFE</a:t>
            </a:r>
            <a:endParaRPr lang="en-US" sz="1400" dirty="0"/>
          </a:p>
        </p:txBody>
      </p:sp>
      <p:sp>
        <p:nvSpPr>
          <p:cNvPr id="32" name="Shape 29"/>
          <p:cNvSpPr/>
          <p:nvPr/>
        </p:nvSpPr>
        <p:spPr>
          <a:xfrm>
            <a:off x="3200400" y="2587752"/>
            <a:ext cx="8412480" cy="749808"/>
          </a:xfrm>
          <a:prstGeom prst="roundRect">
            <a:avLst>
              <a:gd name="adj" fmla="val 12195"/>
            </a:avLst>
          </a:prstGeom>
          <a:solidFill>
            <a:srgbClr val="F7F5F0"/>
          </a:solidFill>
          <a:ln w="12700">
            <a:solidFill>
              <a:srgbClr val="F7F5F0"/>
            </a:solidFill>
            <a:prstDash val="solid"/>
          </a:ln>
        </p:spPr>
      </p:sp>
      <p:sp>
        <p:nvSpPr>
          <p:cNvPr id="33" name="Text 30"/>
          <p:cNvSpPr/>
          <p:nvPr/>
        </p:nvSpPr>
        <p:spPr>
          <a:xfrm>
            <a:off x="3474720" y="2587752"/>
            <a:ext cx="7863840" cy="749808"/>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No student, no identity: a generic classroom resource.</a:t>
            </a:r>
            <a:endParaRPr lang="en-US" sz="1700" dirty="0"/>
          </a:p>
        </p:txBody>
      </p:sp>
      <p:sp>
        <p:nvSpPr>
          <p:cNvPr id="34" name="Shape 31"/>
          <p:cNvSpPr/>
          <p:nvPr/>
        </p:nvSpPr>
        <p:spPr>
          <a:xfrm>
            <a:off x="548640" y="3483864"/>
            <a:ext cx="685800" cy="749808"/>
          </a:xfrm>
          <a:prstGeom prst="roundRect">
            <a:avLst>
              <a:gd name="adj" fmla="val 10667"/>
            </a:avLst>
          </a:prstGeom>
          <a:solidFill>
            <a:srgbClr val="13293D"/>
          </a:solidFill>
          <a:ln w="12700">
            <a:solidFill>
              <a:srgbClr val="13293D"/>
            </a:solidFill>
            <a:prstDash val="solid"/>
          </a:ln>
        </p:spPr>
      </p:sp>
      <p:sp>
        <p:nvSpPr>
          <p:cNvPr id="35" name="Text 32"/>
          <p:cNvSpPr/>
          <p:nvPr/>
        </p:nvSpPr>
        <p:spPr>
          <a:xfrm>
            <a:off x="548640" y="3483864"/>
            <a:ext cx="685800" cy="74980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C</a:t>
            </a:r>
            <a:endParaRPr lang="en-US" sz="2200" dirty="0"/>
          </a:p>
        </p:txBody>
      </p:sp>
      <p:sp>
        <p:nvSpPr>
          <p:cNvPr id="36" name="Shape 33"/>
          <p:cNvSpPr/>
          <p:nvPr/>
        </p:nvSpPr>
        <p:spPr>
          <a:xfrm>
            <a:off x="1371600" y="3483864"/>
            <a:ext cx="1691640" cy="749808"/>
          </a:xfrm>
          <a:prstGeom prst="roundRect">
            <a:avLst>
              <a:gd name="adj" fmla="val 9756"/>
            </a:avLst>
          </a:prstGeom>
          <a:solidFill>
            <a:srgbClr val="B4453A"/>
          </a:solidFill>
          <a:ln w="12700">
            <a:solidFill>
              <a:srgbClr val="B4453A"/>
            </a:solidFill>
            <a:prstDash val="solid"/>
          </a:ln>
        </p:spPr>
      </p:sp>
      <p:sp>
        <p:nvSpPr>
          <p:cNvPr id="37" name="Text 34"/>
          <p:cNvSpPr/>
          <p:nvPr/>
        </p:nvSpPr>
        <p:spPr>
          <a:xfrm>
            <a:off x="1371600" y="3483864"/>
            <a:ext cx="1691640" cy="749808"/>
          </a:xfrm>
          <a:prstGeom prst="rect">
            <a:avLst/>
          </a:prstGeom>
          <a:noFill/>
          <a:ln/>
        </p:spPr>
        <p:txBody>
          <a:bodyPr wrap="square" lIns="0" tIns="0" rIns="0" bIns="0" rtlCol="0" anchor="ctr"/>
          <a:lstStyle/>
          <a:p>
            <a:pPr algn="ctr" indent="0" marL="0">
              <a:buNone/>
            </a:pPr>
            <a:r>
              <a:rPr lang="en-US" sz="1400" b="1" spc="150" kern="0" dirty="0">
                <a:solidFill>
                  <a:srgbClr val="FFFFFF"/>
                </a:solidFill>
                <a:latin typeface="Inter" pitchFamily="34" charset="0"/>
                <a:ea typeface="Inter" pitchFamily="34" charset="-122"/>
                <a:cs typeface="Inter" pitchFamily="34" charset="-120"/>
              </a:rPr>
              <a:t>UNSAFE</a:t>
            </a:r>
            <a:endParaRPr lang="en-US" sz="1400" dirty="0"/>
          </a:p>
        </p:txBody>
      </p:sp>
      <p:sp>
        <p:nvSpPr>
          <p:cNvPr id="38" name="Shape 35"/>
          <p:cNvSpPr/>
          <p:nvPr/>
        </p:nvSpPr>
        <p:spPr>
          <a:xfrm>
            <a:off x="3200400" y="3483864"/>
            <a:ext cx="8412480" cy="749808"/>
          </a:xfrm>
          <a:prstGeom prst="roundRect">
            <a:avLst>
              <a:gd name="adj" fmla="val 12195"/>
            </a:avLst>
          </a:prstGeom>
          <a:solidFill>
            <a:srgbClr val="F7F5F0"/>
          </a:solidFill>
          <a:ln w="12700">
            <a:solidFill>
              <a:srgbClr val="F7F5F0"/>
            </a:solidFill>
            <a:prstDash val="solid"/>
          </a:ln>
        </p:spPr>
      </p:sp>
      <p:sp>
        <p:nvSpPr>
          <p:cNvPr id="39" name="Text 36"/>
          <p:cNvSpPr/>
          <p:nvPr/>
        </p:nvSpPr>
        <p:spPr>
          <a:xfrm>
            <a:off x="3474720" y="3483864"/>
            <a:ext cx="7863840" cy="749808"/>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No name, but the circumstance identifies one child.</a:t>
            </a:r>
            <a:endParaRPr lang="en-US" sz="1700" dirty="0"/>
          </a:p>
        </p:txBody>
      </p:sp>
      <p:sp>
        <p:nvSpPr>
          <p:cNvPr id="40" name="Shape 37"/>
          <p:cNvSpPr/>
          <p:nvPr/>
        </p:nvSpPr>
        <p:spPr>
          <a:xfrm>
            <a:off x="548640" y="4379976"/>
            <a:ext cx="685800" cy="749808"/>
          </a:xfrm>
          <a:prstGeom prst="roundRect">
            <a:avLst>
              <a:gd name="adj" fmla="val 10667"/>
            </a:avLst>
          </a:prstGeom>
          <a:solidFill>
            <a:srgbClr val="13293D"/>
          </a:solidFill>
          <a:ln w="12700">
            <a:solidFill>
              <a:srgbClr val="13293D"/>
            </a:solidFill>
            <a:prstDash val="solid"/>
          </a:ln>
        </p:spPr>
      </p:sp>
      <p:sp>
        <p:nvSpPr>
          <p:cNvPr id="41" name="Text 38"/>
          <p:cNvSpPr/>
          <p:nvPr/>
        </p:nvSpPr>
        <p:spPr>
          <a:xfrm>
            <a:off x="548640" y="4379976"/>
            <a:ext cx="685800" cy="74980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D</a:t>
            </a:r>
            <a:endParaRPr lang="en-US" sz="2200" dirty="0"/>
          </a:p>
        </p:txBody>
      </p:sp>
      <p:sp>
        <p:nvSpPr>
          <p:cNvPr id="42" name="Shape 39"/>
          <p:cNvSpPr/>
          <p:nvPr/>
        </p:nvSpPr>
        <p:spPr>
          <a:xfrm>
            <a:off x="1371600" y="4379976"/>
            <a:ext cx="1691640" cy="749808"/>
          </a:xfrm>
          <a:prstGeom prst="roundRect">
            <a:avLst>
              <a:gd name="adj" fmla="val 9756"/>
            </a:avLst>
          </a:prstGeom>
          <a:solidFill>
            <a:srgbClr val="2E7D5B"/>
          </a:solidFill>
          <a:ln w="12700">
            <a:solidFill>
              <a:srgbClr val="2E7D5B"/>
            </a:solidFill>
            <a:prstDash val="solid"/>
          </a:ln>
        </p:spPr>
      </p:sp>
      <p:sp>
        <p:nvSpPr>
          <p:cNvPr id="43" name="Text 40"/>
          <p:cNvSpPr/>
          <p:nvPr/>
        </p:nvSpPr>
        <p:spPr>
          <a:xfrm>
            <a:off x="1371600" y="4379976"/>
            <a:ext cx="1691640" cy="749808"/>
          </a:xfrm>
          <a:prstGeom prst="rect">
            <a:avLst/>
          </a:prstGeom>
          <a:noFill/>
          <a:ln/>
        </p:spPr>
        <p:txBody>
          <a:bodyPr wrap="square" lIns="0" tIns="0" rIns="0" bIns="0" rtlCol="0" anchor="ctr"/>
          <a:lstStyle/>
          <a:p>
            <a:pPr algn="ctr" indent="0" marL="0">
              <a:buNone/>
            </a:pPr>
            <a:r>
              <a:rPr lang="en-US" sz="1400" b="1" spc="150" kern="0" dirty="0">
                <a:solidFill>
                  <a:srgbClr val="FFFFFF"/>
                </a:solidFill>
                <a:latin typeface="Inter" pitchFamily="34" charset="0"/>
                <a:ea typeface="Inter" pitchFamily="34" charset="-122"/>
                <a:cs typeface="Inter" pitchFamily="34" charset="-120"/>
              </a:rPr>
              <a:t>SAFE</a:t>
            </a:r>
            <a:endParaRPr lang="en-US" sz="1400" dirty="0"/>
          </a:p>
        </p:txBody>
      </p:sp>
      <p:sp>
        <p:nvSpPr>
          <p:cNvPr id="44" name="Shape 41"/>
          <p:cNvSpPr/>
          <p:nvPr/>
        </p:nvSpPr>
        <p:spPr>
          <a:xfrm>
            <a:off x="3200400" y="4379976"/>
            <a:ext cx="8412480" cy="749808"/>
          </a:xfrm>
          <a:prstGeom prst="roundRect">
            <a:avLst>
              <a:gd name="adj" fmla="val 12195"/>
            </a:avLst>
          </a:prstGeom>
          <a:solidFill>
            <a:srgbClr val="F7F5F0"/>
          </a:solidFill>
          <a:ln w="12700">
            <a:solidFill>
              <a:srgbClr val="F7F5F0"/>
            </a:solidFill>
            <a:prstDash val="solid"/>
          </a:ln>
        </p:spPr>
      </p:sp>
      <p:sp>
        <p:nvSpPr>
          <p:cNvPr id="45" name="Text 42"/>
          <p:cNvSpPr/>
          <p:nvPr/>
        </p:nvSpPr>
        <p:spPr>
          <a:xfrm>
            <a:off x="3474720" y="4379976"/>
            <a:ext cx="7863840" cy="749808"/>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Aggregate description of a class, no identities.</a:t>
            </a:r>
            <a:endParaRPr lang="en-US" sz="1700" dirty="0"/>
          </a:p>
        </p:txBody>
      </p:sp>
      <p:sp>
        <p:nvSpPr>
          <p:cNvPr id="46" name="Shape 43"/>
          <p:cNvSpPr/>
          <p:nvPr/>
        </p:nvSpPr>
        <p:spPr>
          <a:xfrm>
            <a:off x="548640" y="5349240"/>
            <a:ext cx="11064240" cy="566928"/>
          </a:xfrm>
          <a:prstGeom prst="roundRect">
            <a:avLst>
              <a:gd name="adj" fmla="val 16129"/>
            </a:avLst>
          </a:prstGeom>
          <a:solidFill>
            <a:srgbClr val="F7F5F0"/>
          </a:solidFill>
          <a:ln w="12700">
            <a:solidFill>
              <a:srgbClr val="F7F5F0"/>
            </a:solidFill>
            <a:prstDash val="solid"/>
          </a:ln>
        </p:spPr>
      </p:sp>
      <p:sp>
        <p:nvSpPr>
          <p:cNvPr id="47" name="Text 44"/>
          <p:cNvSpPr/>
          <p:nvPr/>
        </p:nvSpPr>
        <p:spPr>
          <a:xfrm>
            <a:off x="868680" y="5349240"/>
            <a:ext cx="10424160" cy="566928"/>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C is the splitter. The fix: “a student who recently arrived from another country and is learning English.”</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3293D"/>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6E8598"/>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6E8598"/>
                </a:solidFill>
                <a:latin typeface="Inter" pitchFamily="34" charset="0"/>
                <a:ea typeface="Inter" pitchFamily="34" charset="-122"/>
                <a:cs typeface="Inter" pitchFamily="34" charset="-120"/>
              </a:rPr>
              <a:t>22</a:t>
            </a:r>
            <a:endParaRPr lang="en-US" sz="900" dirty="0"/>
          </a:p>
        </p:txBody>
      </p:sp>
      <p:sp>
        <p:nvSpPr>
          <p:cNvPr id="5" name="Shape 2"/>
          <p:cNvSpPr/>
          <p:nvPr/>
        </p:nvSpPr>
        <p:spPr>
          <a:xfrm>
            <a:off x="411480" y="6291072"/>
            <a:ext cx="1024128" cy="91440"/>
          </a:xfrm>
          <a:prstGeom prst="roundRect">
            <a:avLst>
              <a:gd name="adj" fmla="val 50000"/>
            </a:avLst>
          </a:prstGeom>
          <a:solidFill>
            <a:srgbClr val="2A4A63"/>
          </a:solidFill>
          <a:ln w="12700">
            <a:solidFill>
              <a:srgbClr val="2A4A63"/>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2A4A63"/>
          </a:solidFill>
          <a:ln w="12700">
            <a:solidFill>
              <a:srgbClr val="2A4A63"/>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2A4A63"/>
          </a:solidFill>
          <a:ln w="12700">
            <a:solidFill>
              <a:srgbClr val="2A4A63"/>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2A4A63"/>
          </a:solidFill>
          <a:ln w="12700">
            <a:solidFill>
              <a:srgbClr val="2A4A63"/>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2A9D8F"/>
          </a:solidFill>
          <a:ln w="12700">
            <a:solidFill>
              <a:srgbClr val="2A9D8F"/>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2A4A63"/>
          </a:solidFill>
          <a:ln w="12700">
            <a:solidFill>
              <a:srgbClr val="2A4A63"/>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2A4A63"/>
          </a:solidFill>
          <a:ln w="12700">
            <a:solidFill>
              <a:srgbClr val="2A4A63"/>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6E8598"/>
                </a:solidFill>
                <a:latin typeface="Inter" pitchFamily="34" charset="0"/>
                <a:ea typeface="Inter" pitchFamily="34" charset="-122"/>
                <a:cs typeface="Inter" pitchFamily="34" charset="-120"/>
              </a:rPr>
              <a:t>MS. RIVERA  </a:t>
            </a:r>
            <a:pPr algn="r" indent="0" marL="0">
              <a:buNone/>
            </a:pPr>
            <a:r>
              <a:rPr lang="en-US" sz="850" dirty="0">
                <a:solidFill>
                  <a:srgbClr val="9FB2C2"/>
                </a:solidFill>
                <a:latin typeface="Inter" pitchFamily="34" charset="0"/>
                <a:ea typeface="Inter" pitchFamily="34" charset="-122"/>
                <a:cs typeface="Inter" pitchFamily="34" charset="-120"/>
              </a:rPr>
              <a:t>her artifact: the newsletter blurb</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F4A825"/>
                </a:solidFill>
                <a:latin typeface="Inter" pitchFamily="34" charset="0"/>
                <a:ea typeface="Inter" pitchFamily="34" charset="-122"/>
                <a:cs typeface="Inter" pitchFamily="34" charset="-120"/>
              </a:rPr>
              <a:t>SEGMENT 5 OF 7  ·  15 MINUTES HANDS-ON</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FFFFFF"/>
                </a:solidFill>
                <a:latin typeface="Inter" pitchFamily="34" charset="0"/>
                <a:ea typeface="Inter" pitchFamily="34" charset="-122"/>
                <a:cs typeface="Inter" pitchFamily="34" charset="-120"/>
              </a:rPr>
              <a:t>The next fifteen minutes are what this session exists for</a:t>
            </a:r>
            <a:endParaRPr lang="en-US" sz="3000" dirty="0"/>
          </a:p>
        </p:txBody>
      </p:sp>
      <p:sp>
        <p:nvSpPr>
          <p:cNvPr id="22" name="Text 19"/>
          <p:cNvSpPr/>
          <p:nvPr/>
        </p:nvSpPr>
        <p:spPr>
          <a:xfrm>
            <a:off x="548640" y="1600200"/>
            <a:ext cx="11064240" cy="54864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Devices out. Pair up, one screen per pair, and open the tool we are using today.</a:t>
            </a:r>
            <a:endParaRPr lang="en-US" sz="2000" dirty="0"/>
          </a:p>
        </p:txBody>
      </p:sp>
      <p:sp>
        <p:nvSpPr>
          <p:cNvPr id="23" name="Shape 20"/>
          <p:cNvSpPr/>
          <p:nvPr/>
        </p:nvSpPr>
        <p:spPr>
          <a:xfrm>
            <a:off x="658368" y="2377440"/>
            <a:ext cx="566928" cy="566928"/>
          </a:xfrm>
          <a:prstGeom prst="ellipse">
            <a:avLst/>
          </a:prstGeom>
          <a:solidFill>
            <a:srgbClr val="2A9D8F"/>
          </a:solidFill>
          <a:ln w="12700">
            <a:solidFill>
              <a:srgbClr val="2A9D8F"/>
            </a:solidFill>
            <a:prstDash val="solid"/>
          </a:ln>
        </p:spPr>
      </p:sp>
      <p:sp>
        <p:nvSpPr>
          <p:cNvPr id="24" name="Text 21"/>
          <p:cNvSpPr/>
          <p:nvPr/>
        </p:nvSpPr>
        <p:spPr>
          <a:xfrm>
            <a:off x="658368" y="23774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25" name="Text 22"/>
          <p:cNvSpPr/>
          <p:nvPr/>
        </p:nvSpPr>
        <p:spPr>
          <a:xfrm>
            <a:off x="1463040" y="2331720"/>
            <a:ext cx="1014984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we practice like we play</a:t>
            </a:r>
            <a:endParaRPr lang="en-US" sz="2100" dirty="0"/>
          </a:p>
        </p:txBody>
      </p:sp>
      <p:sp>
        <p:nvSpPr>
          <p:cNvPr id="26" name="Shape 23"/>
          <p:cNvSpPr/>
          <p:nvPr/>
        </p:nvSpPr>
        <p:spPr>
          <a:xfrm>
            <a:off x="658368" y="3218688"/>
            <a:ext cx="566928" cy="566928"/>
          </a:xfrm>
          <a:prstGeom prst="ellipse">
            <a:avLst/>
          </a:prstGeom>
          <a:solidFill>
            <a:srgbClr val="2A9D8F"/>
          </a:solidFill>
          <a:ln w="12700">
            <a:solidFill>
              <a:srgbClr val="2A9D8F"/>
            </a:solidFill>
            <a:prstDash val="solid"/>
          </a:ln>
        </p:spPr>
      </p:sp>
      <p:sp>
        <p:nvSpPr>
          <p:cNvPr id="27" name="Text 24"/>
          <p:cNvSpPr/>
          <p:nvPr/>
        </p:nvSpPr>
        <p:spPr>
          <a:xfrm>
            <a:off x="658368" y="32186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8" name="Text 25"/>
          <p:cNvSpPr/>
          <p:nvPr/>
        </p:nvSpPr>
        <p:spPr>
          <a:xfrm>
            <a:off x="1463040" y="3172968"/>
            <a:ext cx="1014984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Nothing has to be good; this is a sandbox</a:t>
            </a:r>
            <a:endParaRPr lang="en-US" sz="2100" dirty="0"/>
          </a:p>
        </p:txBody>
      </p:sp>
      <p:sp>
        <p:nvSpPr>
          <p:cNvPr id="29" name="Shape 26"/>
          <p:cNvSpPr/>
          <p:nvPr/>
        </p:nvSpPr>
        <p:spPr>
          <a:xfrm>
            <a:off x="658368" y="4059936"/>
            <a:ext cx="566928" cy="566928"/>
          </a:xfrm>
          <a:prstGeom prst="ellipse">
            <a:avLst/>
          </a:prstGeom>
          <a:solidFill>
            <a:srgbClr val="2A9D8F"/>
          </a:solidFill>
          <a:ln w="12700">
            <a:solidFill>
              <a:srgbClr val="2A9D8F"/>
            </a:solidFill>
            <a:prstDash val="solid"/>
          </a:ln>
        </p:spPr>
      </p:sp>
      <p:sp>
        <p:nvSpPr>
          <p:cNvPr id="30" name="Text 27"/>
          <p:cNvSpPr/>
          <p:nvPr/>
        </p:nvSpPr>
        <p:spPr>
          <a:xfrm>
            <a:off x="658368" y="40599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31" name="Text 28"/>
          <p:cNvSpPr/>
          <p:nvPr/>
        </p:nvSpPr>
        <p:spPr>
          <a:xfrm>
            <a:off x="1463040" y="4014216"/>
            <a:ext cx="1014984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When it gives you something mediocre, do not settle</a:t>
            </a:r>
            <a:endParaRPr lang="en-US" sz="2100" dirty="0"/>
          </a:p>
        </p:txBody>
      </p:sp>
      <p:sp>
        <p:nvSpPr>
          <p:cNvPr id="32" name="Shape 29"/>
          <p:cNvSpPr/>
          <p:nvPr/>
        </p:nvSpPr>
        <p:spPr>
          <a:xfrm>
            <a:off x="548640" y="4983480"/>
            <a:ext cx="11064240" cy="960120"/>
          </a:xfrm>
          <a:prstGeom prst="roundRect">
            <a:avLst>
              <a:gd name="adj" fmla="val 9524"/>
            </a:avLst>
          </a:prstGeom>
          <a:solidFill>
            <a:srgbClr val="1E3A50"/>
          </a:solidFill>
          <a:ln w="12700">
            <a:solidFill>
              <a:srgbClr val="1E3A50"/>
            </a:solidFill>
            <a:prstDash val="solid"/>
          </a:ln>
        </p:spPr>
      </p:sp>
      <p:sp>
        <p:nvSpPr>
          <p:cNvPr id="33" name="Text 30"/>
          <p:cNvSpPr/>
          <p:nvPr/>
        </p:nvSpPr>
        <p:spPr>
          <a:xfrm>
            <a:off x="868680" y="4983480"/>
            <a:ext cx="10424160" cy="960120"/>
          </a:xfrm>
          <a:prstGeom prst="rect">
            <a:avLst/>
          </a:prstGeom>
          <a:noFill/>
          <a:ln/>
        </p:spPr>
        <p:txBody>
          <a:bodyPr wrap="square" lIns="0" tIns="0" rIns="0" bIns="0" rtlCol="0" anchor="ctr"/>
          <a:lstStyle/>
          <a:p>
            <a:pPr indent="0" marL="0">
              <a:buNone/>
            </a:pPr>
            <a:r>
              <a:rPr lang="en-US" sz="1700" dirty="0">
                <a:solidFill>
                  <a:srgbClr val="C9D4DE"/>
                </a:solidFill>
                <a:latin typeface="Inter" pitchFamily="34" charset="0"/>
                <a:ea typeface="Inter" pitchFamily="34" charset="-122"/>
                <a:cs typeface="Inter" pitchFamily="34" charset="-120"/>
              </a:rPr>
              <a:t>Ms. Rivera runs one artifact through the whole lab: her family newsletter blurb. If you feel lost, copy her structure.</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23</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2A9D8F"/>
          </a:solidFill>
          <a:ln w="12700">
            <a:solidFill>
              <a:srgbClr val="2A9D8F"/>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picks option A: her book fair</a:t>
            </a:r>
            <a:endParaRPr lang="en-US" sz="850" dirty="0"/>
          </a:p>
        </p:txBody>
      </p:sp>
      <p:sp>
        <p:nvSpPr>
          <p:cNvPr id="20" name="Shape 17"/>
          <p:cNvSpPr/>
          <p:nvPr/>
        </p:nvSpPr>
        <p:spPr>
          <a:xfrm>
            <a:off x="0" y="0"/>
            <a:ext cx="12188952" cy="1234440"/>
          </a:xfrm>
          <a:prstGeom prst="roundRect">
            <a:avLst>
              <a:gd name="adj" fmla="val 7407"/>
            </a:avLst>
          </a:prstGeom>
          <a:solidFill>
            <a:srgbClr val="F4A825"/>
          </a:solidFill>
          <a:ln w="12700">
            <a:solidFill>
              <a:srgbClr val="F4A825"/>
            </a:solidFill>
            <a:prstDash val="solid"/>
          </a:ln>
        </p:spPr>
      </p:sp>
      <p:sp>
        <p:nvSpPr>
          <p:cNvPr id="21" name="Text 18"/>
          <p:cNvSpPr/>
          <p:nvPr/>
        </p:nvSpPr>
        <p:spPr>
          <a:xfrm>
            <a:off x="566928" y="146304"/>
            <a:ext cx="3657600" cy="329184"/>
          </a:xfrm>
          <a:prstGeom prst="rect">
            <a:avLst/>
          </a:prstGeom>
          <a:noFill/>
          <a:ln/>
        </p:spPr>
        <p:txBody>
          <a:bodyPr wrap="square" lIns="0" tIns="0" rIns="0" bIns="0" rtlCol="0" anchor="ctr"/>
          <a:lstStyle/>
          <a:p>
            <a:pPr indent="0" marL="0">
              <a:buNone/>
            </a:pPr>
            <a:r>
              <a:rPr lang="en-US" sz="1300" b="1" spc="300" kern="0" dirty="0">
                <a:solidFill>
                  <a:srgbClr val="13293D"/>
                </a:solidFill>
                <a:latin typeface="Inter" pitchFamily="34" charset="0"/>
                <a:ea typeface="Inter" pitchFamily="34" charset="-122"/>
                <a:cs typeface="Inter" pitchFamily="34" charset="-120"/>
              </a:rPr>
              <a:t>DO NOW</a:t>
            </a:r>
            <a:endParaRPr lang="en-US" sz="1300" dirty="0"/>
          </a:p>
        </p:txBody>
      </p:sp>
      <p:sp>
        <p:nvSpPr>
          <p:cNvPr id="22" name="Text 19"/>
          <p:cNvSpPr/>
          <p:nvPr/>
        </p:nvSpPr>
        <p:spPr>
          <a:xfrm>
            <a:off x="566928" y="512064"/>
            <a:ext cx="11064240" cy="566928"/>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Pick one prompt, type it, and read what comes back</a:t>
            </a:r>
            <a:endParaRPr lang="en-US" sz="2800" dirty="0"/>
          </a:p>
        </p:txBody>
      </p:sp>
      <p:sp>
        <p:nvSpPr>
          <p:cNvPr id="23" name="Shape 20"/>
          <p:cNvSpPr/>
          <p:nvPr/>
        </p:nvSpPr>
        <p:spPr>
          <a:xfrm>
            <a:off x="548640" y="1508760"/>
            <a:ext cx="11064240" cy="777240"/>
          </a:xfrm>
          <a:prstGeom prst="roundRect">
            <a:avLst>
              <a:gd name="adj" fmla="val 11765"/>
            </a:avLst>
          </a:prstGeom>
          <a:solidFill>
            <a:srgbClr val="F7F5F0"/>
          </a:solidFill>
          <a:ln w="12700">
            <a:solidFill>
              <a:srgbClr val="F7F5F0"/>
            </a:solidFill>
            <a:prstDash val="solid"/>
          </a:ln>
        </p:spPr>
      </p:sp>
      <p:sp>
        <p:nvSpPr>
          <p:cNvPr id="24" name="Shape 21"/>
          <p:cNvSpPr/>
          <p:nvPr/>
        </p:nvSpPr>
        <p:spPr>
          <a:xfrm>
            <a:off x="777240" y="1691640"/>
            <a:ext cx="411480" cy="411480"/>
          </a:xfrm>
          <a:prstGeom prst="ellipse">
            <a:avLst/>
          </a:prstGeom>
          <a:solidFill>
            <a:srgbClr val="2A9D8F"/>
          </a:solidFill>
          <a:ln w="12700">
            <a:solidFill>
              <a:srgbClr val="2A9D8F"/>
            </a:solidFill>
            <a:prstDash val="solid"/>
          </a:ln>
        </p:spPr>
      </p:sp>
      <p:sp>
        <p:nvSpPr>
          <p:cNvPr id="25" name="Text 22"/>
          <p:cNvSpPr/>
          <p:nvPr/>
        </p:nvSpPr>
        <p:spPr>
          <a:xfrm>
            <a:off x="777240" y="1691640"/>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A</a:t>
            </a:r>
            <a:endParaRPr lang="en-US" sz="1700" dirty="0"/>
          </a:p>
        </p:txBody>
      </p:sp>
      <p:sp>
        <p:nvSpPr>
          <p:cNvPr id="26" name="Text 23"/>
          <p:cNvSpPr/>
          <p:nvPr/>
        </p:nvSpPr>
        <p:spPr>
          <a:xfrm>
            <a:off x="1371600" y="1563624"/>
            <a:ext cx="3657600" cy="219456"/>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FAMILIES</a:t>
            </a:r>
            <a:endParaRPr lang="en-US" sz="1000" dirty="0"/>
          </a:p>
        </p:txBody>
      </p:sp>
      <p:sp>
        <p:nvSpPr>
          <p:cNvPr id="27" name="Text 24"/>
          <p:cNvSpPr/>
          <p:nvPr/>
        </p:nvSpPr>
        <p:spPr>
          <a:xfrm>
            <a:off x="1371600" y="1801368"/>
            <a:ext cx="9966960" cy="45720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“Write a warm, professional newsletter blurb for families about [any upcoming school event], under 120 words.”</a:t>
            </a:r>
            <a:endParaRPr lang="en-US" sz="1600" dirty="0"/>
          </a:p>
        </p:txBody>
      </p:sp>
      <p:sp>
        <p:nvSpPr>
          <p:cNvPr id="28" name="Shape 25"/>
          <p:cNvSpPr/>
          <p:nvPr/>
        </p:nvSpPr>
        <p:spPr>
          <a:xfrm>
            <a:off x="548640" y="2395728"/>
            <a:ext cx="11064240" cy="777240"/>
          </a:xfrm>
          <a:prstGeom prst="roundRect">
            <a:avLst>
              <a:gd name="adj" fmla="val 11765"/>
            </a:avLst>
          </a:prstGeom>
          <a:solidFill>
            <a:srgbClr val="F7F5F0"/>
          </a:solidFill>
          <a:ln w="12700">
            <a:solidFill>
              <a:srgbClr val="F7F5F0"/>
            </a:solidFill>
            <a:prstDash val="solid"/>
          </a:ln>
        </p:spPr>
      </p:sp>
      <p:sp>
        <p:nvSpPr>
          <p:cNvPr id="29" name="Shape 26"/>
          <p:cNvSpPr/>
          <p:nvPr/>
        </p:nvSpPr>
        <p:spPr>
          <a:xfrm>
            <a:off x="777240" y="2578608"/>
            <a:ext cx="411480" cy="411480"/>
          </a:xfrm>
          <a:prstGeom prst="ellipse">
            <a:avLst/>
          </a:prstGeom>
          <a:solidFill>
            <a:srgbClr val="2A9D8F"/>
          </a:solidFill>
          <a:ln w="12700">
            <a:solidFill>
              <a:srgbClr val="2A9D8F"/>
            </a:solidFill>
            <a:prstDash val="solid"/>
          </a:ln>
        </p:spPr>
      </p:sp>
      <p:sp>
        <p:nvSpPr>
          <p:cNvPr id="30" name="Text 27"/>
          <p:cNvSpPr/>
          <p:nvPr/>
        </p:nvSpPr>
        <p:spPr>
          <a:xfrm>
            <a:off x="777240" y="2578608"/>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B</a:t>
            </a:r>
            <a:endParaRPr lang="en-US" sz="1700" dirty="0"/>
          </a:p>
        </p:txBody>
      </p:sp>
      <p:sp>
        <p:nvSpPr>
          <p:cNvPr id="31" name="Text 28"/>
          <p:cNvSpPr/>
          <p:nvPr/>
        </p:nvSpPr>
        <p:spPr>
          <a:xfrm>
            <a:off x="1371600" y="2450592"/>
            <a:ext cx="3657600" cy="219456"/>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ASSESSMENT</a:t>
            </a:r>
            <a:endParaRPr lang="en-US" sz="1000" dirty="0"/>
          </a:p>
        </p:txBody>
      </p:sp>
      <p:sp>
        <p:nvSpPr>
          <p:cNvPr id="32" name="Text 29"/>
          <p:cNvSpPr/>
          <p:nvPr/>
        </p:nvSpPr>
        <p:spPr>
          <a:xfrm>
            <a:off x="1371600" y="2688336"/>
            <a:ext cx="9966960" cy="45720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“Create a five-question review quiz on [any topic you teach], mixed difficulty, with an answer key.”</a:t>
            </a:r>
            <a:endParaRPr lang="en-US" sz="1600" dirty="0"/>
          </a:p>
        </p:txBody>
      </p:sp>
      <p:sp>
        <p:nvSpPr>
          <p:cNvPr id="33" name="Shape 30"/>
          <p:cNvSpPr/>
          <p:nvPr/>
        </p:nvSpPr>
        <p:spPr>
          <a:xfrm>
            <a:off x="548640" y="3282696"/>
            <a:ext cx="11064240" cy="777240"/>
          </a:xfrm>
          <a:prstGeom prst="roundRect">
            <a:avLst>
              <a:gd name="adj" fmla="val 11765"/>
            </a:avLst>
          </a:prstGeom>
          <a:solidFill>
            <a:srgbClr val="F7F5F0"/>
          </a:solidFill>
          <a:ln w="12700">
            <a:solidFill>
              <a:srgbClr val="F7F5F0"/>
            </a:solidFill>
            <a:prstDash val="solid"/>
          </a:ln>
        </p:spPr>
      </p:sp>
      <p:sp>
        <p:nvSpPr>
          <p:cNvPr id="34" name="Shape 31"/>
          <p:cNvSpPr/>
          <p:nvPr/>
        </p:nvSpPr>
        <p:spPr>
          <a:xfrm>
            <a:off x="777240" y="3465576"/>
            <a:ext cx="411480" cy="411480"/>
          </a:xfrm>
          <a:prstGeom prst="ellipse">
            <a:avLst/>
          </a:prstGeom>
          <a:solidFill>
            <a:srgbClr val="2A9D8F"/>
          </a:solidFill>
          <a:ln w="12700">
            <a:solidFill>
              <a:srgbClr val="2A9D8F"/>
            </a:solidFill>
            <a:prstDash val="solid"/>
          </a:ln>
        </p:spPr>
      </p:sp>
      <p:sp>
        <p:nvSpPr>
          <p:cNvPr id="35" name="Text 32"/>
          <p:cNvSpPr/>
          <p:nvPr/>
        </p:nvSpPr>
        <p:spPr>
          <a:xfrm>
            <a:off x="777240" y="3465576"/>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C</a:t>
            </a:r>
            <a:endParaRPr lang="en-US" sz="1700" dirty="0"/>
          </a:p>
        </p:txBody>
      </p:sp>
      <p:sp>
        <p:nvSpPr>
          <p:cNvPr id="36" name="Text 33"/>
          <p:cNvSpPr/>
          <p:nvPr/>
        </p:nvSpPr>
        <p:spPr>
          <a:xfrm>
            <a:off x="1371600" y="3337560"/>
            <a:ext cx="3657600" cy="219456"/>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DIFFERENTIATION</a:t>
            </a:r>
            <a:endParaRPr lang="en-US" sz="1000" dirty="0"/>
          </a:p>
        </p:txBody>
      </p:sp>
      <p:sp>
        <p:nvSpPr>
          <p:cNvPr id="37" name="Text 34"/>
          <p:cNvSpPr/>
          <p:nvPr/>
        </p:nvSpPr>
        <p:spPr>
          <a:xfrm>
            <a:off x="1371600" y="3575304"/>
            <a:ext cx="9966960" cy="45720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“Rewrite this paragraph at three different reading levels.” Then paste any paragraph you already have.</a:t>
            </a:r>
            <a:endParaRPr lang="en-US" sz="1600" dirty="0"/>
          </a:p>
        </p:txBody>
      </p:sp>
      <p:sp>
        <p:nvSpPr>
          <p:cNvPr id="38" name="Shape 35"/>
          <p:cNvSpPr/>
          <p:nvPr/>
        </p:nvSpPr>
        <p:spPr>
          <a:xfrm>
            <a:off x="548640" y="4169664"/>
            <a:ext cx="11064240" cy="777240"/>
          </a:xfrm>
          <a:prstGeom prst="roundRect">
            <a:avLst>
              <a:gd name="adj" fmla="val 11765"/>
            </a:avLst>
          </a:prstGeom>
          <a:solidFill>
            <a:srgbClr val="F7F5F0"/>
          </a:solidFill>
          <a:ln w="12700">
            <a:solidFill>
              <a:srgbClr val="F7F5F0"/>
            </a:solidFill>
            <a:prstDash val="solid"/>
          </a:ln>
        </p:spPr>
      </p:sp>
      <p:sp>
        <p:nvSpPr>
          <p:cNvPr id="39" name="Shape 36"/>
          <p:cNvSpPr/>
          <p:nvPr/>
        </p:nvSpPr>
        <p:spPr>
          <a:xfrm>
            <a:off x="777240" y="4352544"/>
            <a:ext cx="411480" cy="411480"/>
          </a:xfrm>
          <a:prstGeom prst="ellipse">
            <a:avLst/>
          </a:prstGeom>
          <a:solidFill>
            <a:srgbClr val="2A9D8F"/>
          </a:solidFill>
          <a:ln w="12700">
            <a:solidFill>
              <a:srgbClr val="2A9D8F"/>
            </a:solidFill>
            <a:prstDash val="solid"/>
          </a:ln>
        </p:spPr>
      </p:sp>
      <p:sp>
        <p:nvSpPr>
          <p:cNvPr id="40" name="Text 37"/>
          <p:cNvSpPr/>
          <p:nvPr/>
        </p:nvSpPr>
        <p:spPr>
          <a:xfrm>
            <a:off x="777240" y="4352544"/>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D</a:t>
            </a:r>
            <a:endParaRPr lang="en-US" sz="1700" dirty="0"/>
          </a:p>
        </p:txBody>
      </p:sp>
      <p:sp>
        <p:nvSpPr>
          <p:cNvPr id="41" name="Text 38"/>
          <p:cNvSpPr/>
          <p:nvPr/>
        </p:nvSpPr>
        <p:spPr>
          <a:xfrm>
            <a:off x="1371600" y="4224528"/>
            <a:ext cx="3657600" cy="219456"/>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CTE &amp; ELECTIVES</a:t>
            </a:r>
            <a:endParaRPr lang="en-US" sz="1000" dirty="0"/>
          </a:p>
        </p:txBody>
      </p:sp>
      <p:sp>
        <p:nvSpPr>
          <p:cNvPr id="42" name="Text 39"/>
          <p:cNvSpPr/>
          <p:nvPr/>
        </p:nvSpPr>
        <p:spPr>
          <a:xfrm>
            <a:off x="1371600" y="4462272"/>
            <a:ext cx="9966960" cy="45720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“Create a five-question tool safety check for the miter saw station, with an answer key.” Swap in any station, lab, kitchen, or instrument.</a:t>
            </a:r>
            <a:endParaRPr lang="en-US" sz="1600" dirty="0"/>
          </a:p>
        </p:txBody>
      </p:sp>
      <p:sp>
        <p:nvSpPr>
          <p:cNvPr id="43" name="Shape 40"/>
          <p:cNvSpPr/>
          <p:nvPr/>
        </p:nvSpPr>
        <p:spPr>
          <a:xfrm>
            <a:off x="548640" y="5120640"/>
            <a:ext cx="3538728" cy="1097280"/>
          </a:xfrm>
          <a:prstGeom prst="roundRect">
            <a:avLst>
              <a:gd name="adj" fmla="val 8333"/>
            </a:avLst>
          </a:prstGeom>
          <a:solidFill>
            <a:srgbClr val="F7F5F0"/>
          </a:solidFill>
          <a:ln w="12700">
            <a:solidFill>
              <a:srgbClr val="F7F5F0"/>
            </a:solidFill>
            <a:prstDash val="solid"/>
          </a:ln>
        </p:spPr>
      </p:sp>
      <p:sp>
        <p:nvSpPr>
          <p:cNvPr id="44" name="Text 41"/>
          <p:cNvSpPr/>
          <p:nvPr/>
        </p:nvSpPr>
        <p:spPr>
          <a:xfrm>
            <a:off x="777240" y="5212080"/>
            <a:ext cx="310896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WHAT YOU DO</a:t>
            </a:r>
            <a:endParaRPr lang="en-US" sz="1100" dirty="0"/>
          </a:p>
        </p:txBody>
      </p:sp>
      <p:sp>
        <p:nvSpPr>
          <p:cNvPr id="45" name="Text 42"/>
          <p:cNvSpPr/>
          <p:nvPr/>
        </p:nvSpPr>
        <p:spPr>
          <a:xfrm>
            <a:off x="777240" y="5522976"/>
            <a:ext cx="3108960" cy="621792"/>
          </a:xfrm>
          <a:prstGeom prst="rect">
            <a:avLst/>
          </a:prstGeom>
          <a:noFill/>
          <a:ln/>
        </p:spPr>
        <p:txBody>
          <a:bodyPr wrap="square" lIns="0" tIns="0" rIns="0" bIns="0" rtlCol="0" anchor="t"/>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Pick the option closest to your real job. Type it. Read the answer.</a:t>
            </a:r>
            <a:endParaRPr lang="en-US" sz="1600" dirty="0"/>
          </a:p>
        </p:txBody>
      </p:sp>
      <p:sp>
        <p:nvSpPr>
          <p:cNvPr id="46" name="Shape 43"/>
          <p:cNvSpPr/>
          <p:nvPr/>
        </p:nvSpPr>
        <p:spPr>
          <a:xfrm>
            <a:off x="4325112" y="5120640"/>
            <a:ext cx="3538728" cy="1097280"/>
          </a:xfrm>
          <a:prstGeom prst="roundRect">
            <a:avLst>
              <a:gd name="adj" fmla="val 8333"/>
            </a:avLst>
          </a:prstGeom>
          <a:solidFill>
            <a:srgbClr val="F7F5F0"/>
          </a:solidFill>
          <a:ln w="12700">
            <a:solidFill>
              <a:srgbClr val="F7F5F0"/>
            </a:solidFill>
            <a:prstDash val="solid"/>
          </a:ln>
        </p:spPr>
      </p:sp>
      <p:sp>
        <p:nvSpPr>
          <p:cNvPr id="47" name="Text 44"/>
          <p:cNvSpPr/>
          <p:nvPr/>
        </p:nvSpPr>
        <p:spPr>
          <a:xfrm>
            <a:off x="4553712" y="5212080"/>
            <a:ext cx="310896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HOW LONG</a:t>
            </a:r>
            <a:endParaRPr lang="en-US" sz="1100" dirty="0"/>
          </a:p>
        </p:txBody>
      </p:sp>
      <p:sp>
        <p:nvSpPr>
          <p:cNvPr id="48" name="Text 45"/>
          <p:cNvSpPr/>
          <p:nvPr/>
        </p:nvSpPr>
        <p:spPr>
          <a:xfrm>
            <a:off x="4553712" y="5522976"/>
            <a:ext cx="3108960" cy="621792"/>
          </a:xfrm>
          <a:prstGeom prst="rect">
            <a:avLst/>
          </a:prstGeom>
          <a:noFill/>
          <a:ln/>
        </p:spPr>
        <p:txBody>
          <a:bodyPr wrap="square" lIns="0" tIns="0" rIns="0" bIns="0" rtlCol="0" anchor="t"/>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Six minutes, in pairs, one screen.</a:t>
            </a:r>
            <a:endParaRPr lang="en-US" sz="1600" dirty="0"/>
          </a:p>
        </p:txBody>
      </p:sp>
      <p:sp>
        <p:nvSpPr>
          <p:cNvPr id="49" name="Shape 46"/>
          <p:cNvSpPr/>
          <p:nvPr/>
        </p:nvSpPr>
        <p:spPr>
          <a:xfrm>
            <a:off x="8101584" y="5120640"/>
            <a:ext cx="3538728" cy="1097280"/>
          </a:xfrm>
          <a:prstGeom prst="roundRect">
            <a:avLst>
              <a:gd name="adj" fmla="val 8333"/>
            </a:avLst>
          </a:prstGeom>
          <a:solidFill>
            <a:srgbClr val="F7F5F0"/>
          </a:solidFill>
          <a:ln w="12700">
            <a:solidFill>
              <a:srgbClr val="F7F5F0"/>
            </a:solidFill>
            <a:prstDash val="solid"/>
          </a:ln>
        </p:spPr>
      </p:sp>
      <p:sp>
        <p:nvSpPr>
          <p:cNvPr id="50" name="Text 47"/>
          <p:cNvSpPr/>
          <p:nvPr/>
        </p:nvSpPr>
        <p:spPr>
          <a:xfrm>
            <a:off x="8330184" y="5212080"/>
            <a:ext cx="310896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DONE LOOKS LIKE</a:t>
            </a:r>
            <a:endParaRPr lang="en-US" sz="1100" dirty="0"/>
          </a:p>
        </p:txBody>
      </p:sp>
      <p:sp>
        <p:nvSpPr>
          <p:cNvPr id="51" name="Text 48"/>
          <p:cNvSpPr/>
          <p:nvPr/>
        </p:nvSpPr>
        <p:spPr>
          <a:xfrm>
            <a:off x="8330184" y="5522976"/>
            <a:ext cx="3108960" cy="621792"/>
          </a:xfrm>
          <a:prstGeom prst="rect">
            <a:avLst/>
          </a:prstGeom>
          <a:noFill/>
          <a:ln/>
        </p:spPr>
        <p:txBody>
          <a:bodyPr wrap="square" lIns="0" tIns="0" rIns="0" bIns="0" rtlCol="0" anchor="t"/>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A draft on your screen that you did not have when you sat down.</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24</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2A9D8F"/>
          </a:solidFill>
          <a:ln w="12700">
            <a:solidFill>
              <a:srgbClr val="2A9D8F"/>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B07914"/>
                </a:solidFill>
                <a:latin typeface="Inter" pitchFamily="34" charset="0"/>
                <a:ea typeface="Inter" pitchFamily="34" charset="-122"/>
                <a:cs typeface="Inter" pitchFamily="34" charset="-120"/>
              </a:rPr>
              <a:t>ON MS. RIVERA’S SCREEN · LAB TASK 1</a:t>
            </a:r>
            <a:endParaRPr lang="en-US" sz="1000" dirty="0"/>
          </a:p>
        </p:txBody>
      </p:sp>
      <p:sp>
        <p:nvSpPr>
          <p:cNvPr id="20" name="Text 17"/>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Her prompt names a role, a task, context and a format</a:t>
            </a:r>
            <a:endParaRPr lang="en-US" sz="3000" dirty="0"/>
          </a:p>
        </p:txBody>
      </p:sp>
      <p:sp>
        <p:nvSpPr>
          <p:cNvPr id="21" name="Text 18"/>
          <p:cNvSpPr/>
          <p:nvPr/>
        </p:nvSpPr>
        <p:spPr>
          <a:xfrm>
            <a:off x="640080" y="1417320"/>
            <a:ext cx="10972800" cy="32004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something for the book fair.”</a:t>
            </a:r>
            <a:endParaRPr lang="en-US" sz="1600" dirty="0"/>
          </a:p>
        </p:txBody>
      </p:sp>
      <p:sp>
        <p:nvSpPr>
          <p:cNvPr id="22" name="Shape 19"/>
          <p:cNvSpPr/>
          <p:nvPr/>
        </p:nvSpPr>
        <p:spPr>
          <a:xfrm>
            <a:off x="640080" y="1828800"/>
            <a:ext cx="10972800" cy="2880360"/>
          </a:xfrm>
          <a:prstGeom prst="roundRect">
            <a:avLst>
              <a:gd name="adj" fmla="val 3175"/>
            </a:avLst>
          </a:prstGeom>
          <a:solidFill>
            <a:srgbClr val="FFFFFF"/>
          </a:solidFill>
          <a:ln w="19050">
            <a:solidFill>
              <a:srgbClr val="DCE3EA"/>
            </a:solidFill>
            <a:prstDash val="solid"/>
          </a:ln>
        </p:spPr>
      </p:sp>
      <p:sp>
        <p:nvSpPr>
          <p:cNvPr id="23" name="Shape 20"/>
          <p:cNvSpPr/>
          <p:nvPr/>
        </p:nvSpPr>
        <p:spPr>
          <a:xfrm>
            <a:off x="640080" y="1828800"/>
            <a:ext cx="10972800" cy="384048"/>
          </a:xfrm>
          <a:prstGeom prst="roundRect">
            <a:avLst>
              <a:gd name="adj" fmla="val 23810"/>
            </a:avLst>
          </a:prstGeom>
          <a:solidFill>
            <a:srgbClr val="13293D"/>
          </a:solidFill>
          <a:ln w="12700">
            <a:solidFill>
              <a:srgbClr val="13293D"/>
            </a:solidFill>
            <a:prstDash val="solid"/>
          </a:ln>
        </p:spPr>
      </p:sp>
      <p:sp>
        <p:nvSpPr>
          <p:cNvPr id="24" name="Shape 21"/>
          <p:cNvSpPr/>
          <p:nvPr/>
        </p:nvSpPr>
        <p:spPr>
          <a:xfrm>
            <a:off x="868680" y="1947672"/>
            <a:ext cx="146304" cy="146304"/>
          </a:xfrm>
          <a:prstGeom prst="ellipse">
            <a:avLst/>
          </a:prstGeom>
          <a:solidFill>
            <a:srgbClr val="E8837A"/>
          </a:solidFill>
          <a:ln w="12700">
            <a:solidFill>
              <a:srgbClr val="E8837A"/>
            </a:solidFill>
            <a:prstDash val="solid"/>
          </a:ln>
        </p:spPr>
      </p:sp>
      <p:sp>
        <p:nvSpPr>
          <p:cNvPr id="25" name="Shape 22"/>
          <p:cNvSpPr/>
          <p:nvPr/>
        </p:nvSpPr>
        <p:spPr>
          <a:xfrm>
            <a:off x="1115568" y="1947672"/>
            <a:ext cx="146304" cy="146304"/>
          </a:xfrm>
          <a:prstGeom prst="ellipse">
            <a:avLst/>
          </a:prstGeom>
          <a:solidFill>
            <a:srgbClr val="F4A825"/>
          </a:solidFill>
          <a:ln w="12700">
            <a:solidFill>
              <a:srgbClr val="F4A825"/>
            </a:solidFill>
            <a:prstDash val="solid"/>
          </a:ln>
        </p:spPr>
      </p:sp>
      <p:sp>
        <p:nvSpPr>
          <p:cNvPr id="26" name="Shape 23"/>
          <p:cNvSpPr/>
          <p:nvPr/>
        </p:nvSpPr>
        <p:spPr>
          <a:xfrm>
            <a:off x="1362456" y="1947672"/>
            <a:ext cx="146304" cy="146304"/>
          </a:xfrm>
          <a:prstGeom prst="ellipse">
            <a:avLst/>
          </a:prstGeom>
          <a:solidFill>
            <a:srgbClr val="2E7D5B"/>
          </a:solidFill>
          <a:ln w="12700">
            <a:solidFill>
              <a:srgbClr val="2E7D5B"/>
            </a:solidFill>
            <a:prstDash val="solid"/>
          </a:ln>
        </p:spPr>
      </p:sp>
      <p:sp>
        <p:nvSpPr>
          <p:cNvPr id="27" name="Text 24"/>
          <p:cNvSpPr/>
          <p:nvPr/>
        </p:nvSpPr>
        <p:spPr>
          <a:xfrm>
            <a:off x="1783080" y="18288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8" name="Shape 25"/>
          <p:cNvSpPr/>
          <p:nvPr/>
        </p:nvSpPr>
        <p:spPr>
          <a:xfrm>
            <a:off x="1554480" y="2331720"/>
            <a:ext cx="9646920" cy="2240280"/>
          </a:xfrm>
          <a:prstGeom prst="roundRect">
            <a:avLst>
              <a:gd name="adj" fmla="val 4898"/>
            </a:avLst>
          </a:prstGeom>
          <a:solidFill>
            <a:srgbClr val="F7F5F0"/>
          </a:solidFill>
          <a:ln w="12700">
            <a:solidFill>
              <a:srgbClr val="F7F5F0"/>
            </a:solidFill>
            <a:prstDash val="solid"/>
          </a:ln>
        </p:spPr>
      </p:sp>
      <p:sp>
        <p:nvSpPr>
          <p:cNvPr id="29" name="Text 26"/>
          <p:cNvSpPr/>
          <p:nvPr/>
        </p:nvSpPr>
        <p:spPr>
          <a:xfrm>
            <a:off x="1783080" y="2377440"/>
            <a:ext cx="9189720" cy="2103120"/>
          </a:xfrm>
          <a:prstGeom prst="rect">
            <a:avLst/>
          </a:prstGeom>
          <a:noFill/>
          <a:ln/>
        </p:spPr>
        <p:txBody>
          <a:bodyPr wrap="square" lIns="0" tIns="0" rIns="0" bIns="0" rtlCol="0" anchor="ctr"/>
          <a:lstStyle/>
          <a:p>
            <a:pPr indent="0" marL="0">
              <a:lnSpc>
                <a:spcPct val="110000"/>
              </a:lnSpc>
              <a:buNone/>
            </a:pPr>
            <a:r>
              <a:rPr lang="en-US" sz="1650" b="1" dirty="0">
                <a:solidFill>
                  <a:srgbClr val="2A9D8F"/>
                </a:solidFill>
                <a:latin typeface="Inter" pitchFamily="34" charset="0"/>
                <a:ea typeface="Inter" pitchFamily="34" charset="-122"/>
                <a:cs typeface="Inter" pitchFamily="34" charset="-120"/>
              </a:rPr>
              <a:t>“You are a warm, experienced 4th grade teacher writing to families. </a:t>
            </a:r>
            <a:pPr indent="0" marL="0">
              <a:lnSpc>
                <a:spcPct val="110000"/>
              </a:lnSpc>
              <a:buNone/>
            </a:pPr>
            <a:r>
              <a:rPr lang="en-US" sz="1650" b="1" dirty="0">
                <a:solidFill>
                  <a:srgbClr val="13293D"/>
                </a:solidFill>
                <a:latin typeface="Inter" pitchFamily="34" charset="0"/>
                <a:ea typeface="Inter" pitchFamily="34" charset="-122"/>
                <a:cs typeface="Inter" pitchFamily="34" charset="-120"/>
              </a:rPr>
              <a:t>Write a newsletter blurb about our fall book fair. </a:t>
            </a:r>
            <a:pPr indent="0" marL="0">
              <a:lnSpc>
                <a:spcPct val="110000"/>
              </a:lnSpc>
              <a:buNone/>
            </a:pPr>
            <a:r>
              <a:rPr lang="en-US" sz="1650" b="1" dirty="0">
                <a:solidFill>
                  <a:srgbClr val="B07914"/>
                </a:solidFill>
                <a:latin typeface="Inter" pitchFamily="34" charset="0"/>
                <a:ea typeface="Inter" pitchFamily="34" charset="-122"/>
                <a:cs typeface="Inter" pitchFamily="34" charset="-120"/>
              </a:rPr>
              <a:t>It is in the school library, families come with their readers and pick books together, our theme is “find your next favorite,” and our families are busy, so plain and friendly beats fancy. </a:t>
            </a:r>
            <a:pPr indent="0" marL="0">
              <a:lnSpc>
                <a:spcPct val="110000"/>
              </a:lnSpc>
              <a:buNone/>
            </a:pPr>
            <a:r>
              <a:rPr lang="en-US" sz="1650" b="1" dirty="0">
                <a:solidFill>
                  <a:srgbClr val="2E7D5B"/>
                </a:solidFill>
                <a:latin typeface="Inter" pitchFamily="34" charset="0"/>
                <a:ea typeface="Inter" pitchFamily="34" charset="-122"/>
                <a:cs typeface="Inter" pitchFamily="34" charset="-120"/>
              </a:rPr>
              <a:t>Under 120 words, one paragraph, no bullet points, ending with a line that invites families to stop by.”</a:t>
            </a:r>
            <a:endParaRPr lang="en-US" sz="1650" dirty="0"/>
          </a:p>
        </p:txBody>
      </p:sp>
      <p:sp>
        <p:nvSpPr>
          <p:cNvPr id="30" name="Shape 27"/>
          <p:cNvSpPr/>
          <p:nvPr/>
        </p:nvSpPr>
        <p:spPr>
          <a:xfrm>
            <a:off x="640080" y="4892040"/>
            <a:ext cx="2606040" cy="457200"/>
          </a:xfrm>
          <a:prstGeom prst="roundRect">
            <a:avLst>
              <a:gd name="adj" fmla="val 50000"/>
            </a:avLst>
          </a:prstGeom>
          <a:solidFill>
            <a:srgbClr val="2A9D8F"/>
          </a:solidFill>
          <a:ln w="12700">
            <a:solidFill>
              <a:srgbClr val="2A9D8F"/>
            </a:solidFill>
            <a:prstDash val="solid"/>
          </a:ln>
        </p:spPr>
      </p:sp>
      <p:sp>
        <p:nvSpPr>
          <p:cNvPr id="31" name="Text 28"/>
          <p:cNvSpPr/>
          <p:nvPr/>
        </p:nvSpPr>
        <p:spPr>
          <a:xfrm>
            <a:off x="640080" y="489204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32" name="Shape 29"/>
          <p:cNvSpPr/>
          <p:nvPr/>
        </p:nvSpPr>
        <p:spPr>
          <a:xfrm>
            <a:off x="3456432" y="4892040"/>
            <a:ext cx="2606040" cy="457200"/>
          </a:xfrm>
          <a:prstGeom prst="roundRect">
            <a:avLst>
              <a:gd name="adj" fmla="val 50000"/>
            </a:avLst>
          </a:prstGeom>
          <a:solidFill>
            <a:srgbClr val="13293D"/>
          </a:solidFill>
          <a:ln w="12700">
            <a:solidFill>
              <a:srgbClr val="13293D"/>
            </a:solidFill>
            <a:prstDash val="solid"/>
          </a:ln>
        </p:spPr>
      </p:sp>
      <p:sp>
        <p:nvSpPr>
          <p:cNvPr id="33" name="Text 30"/>
          <p:cNvSpPr/>
          <p:nvPr/>
        </p:nvSpPr>
        <p:spPr>
          <a:xfrm>
            <a:off x="3456432" y="489204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34" name="Shape 31"/>
          <p:cNvSpPr/>
          <p:nvPr/>
        </p:nvSpPr>
        <p:spPr>
          <a:xfrm>
            <a:off x="6272784" y="4892040"/>
            <a:ext cx="2606040" cy="457200"/>
          </a:xfrm>
          <a:prstGeom prst="roundRect">
            <a:avLst>
              <a:gd name="adj" fmla="val 50000"/>
            </a:avLst>
          </a:prstGeom>
          <a:solidFill>
            <a:srgbClr val="B07914"/>
          </a:solidFill>
          <a:ln w="12700">
            <a:solidFill>
              <a:srgbClr val="B07914"/>
            </a:solidFill>
            <a:prstDash val="solid"/>
          </a:ln>
        </p:spPr>
      </p:sp>
      <p:sp>
        <p:nvSpPr>
          <p:cNvPr id="35" name="Text 32"/>
          <p:cNvSpPr/>
          <p:nvPr/>
        </p:nvSpPr>
        <p:spPr>
          <a:xfrm>
            <a:off x="6272784" y="489204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36" name="Shape 33"/>
          <p:cNvSpPr/>
          <p:nvPr/>
        </p:nvSpPr>
        <p:spPr>
          <a:xfrm>
            <a:off x="9089136" y="4892040"/>
            <a:ext cx="2606040" cy="457200"/>
          </a:xfrm>
          <a:prstGeom prst="roundRect">
            <a:avLst>
              <a:gd name="adj" fmla="val 50000"/>
            </a:avLst>
          </a:prstGeom>
          <a:solidFill>
            <a:srgbClr val="2E7D5B"/>
          </a:solidFill>
          <a:ln w="12700">
            <a:solidFill>
              <a:srgbClr val="2E7D5B"/>
            </a:solidFill>
            <a:prstDash val="solid"/>
          </a:ln>
        </p:spPr>
      </p:sp>
      <p:sp>
        <p:nvSpPr>
          <p:cNvPr id="37" name="Text 34"/>
          <p:cNvSpPr/>
          <p:nvPr/>
        </p:nvSpPr>
        <p:spPr>
          <a:xfrm>
            <a:off x="9089136" y="489204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
        <p:nvSpPr>
          <p:cNvPr id="38" name="Text 35"/>
          <p:cNvSpPr/>
          <p:nvPr/>
        </p:nvSpPr>
        <p:spPr>
          <a:xfrm>
            <a:off x="548640" y="5577840"/>
            <a:ext cx="1106424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middle two parts are the ones only you can supply.</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25</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2A9D8F"/>
          </a:solidFill>
          <a:ln w="12700">
            <a:solidFill>
              <a:srgbClr val="2A9D8F"/>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B07914"/>
                </a:solidFill>
                <a:latin typeface="Inter" pitchFamily="34" charset="0"/>
                <a:ea typeface="Inter" pitchFamily="34" charset="-122"/>
                <a:cs typeface="Inter" pitchFamily="34" charset="-120"/>
              </a:rPr>
              <a:t>ON MS. RIVERA’S SCREEN · WHAT COMES BACK</a:t>
            </a:r>
            <a:endParaRPr lang="en-US" sz="1000" dirty="0"/>
          </a:p>
        </p:txBody>
      </p:sp>
      <p:sp>
        <p:nvSpPr>
          <p:cNvPr id="20" name="Text 17"/>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The first draft is polished and sounds like nobody</a:t>
            </a:r>
            <a:endParaRPr lang="en-US" sz="3000" dirty="0"/>
          </a:p>
        </p:txBody>
      </p:sp>
      <p:sp>
        <p:nvSpPr>
          <p:cNvPr id="21" name="Shape 18"/>
          <p:cNvSpPr/>
          <p:nvPr/>
        </p:nvSpPr>
        <p:spPr>
          <a:xfrm>
            <a:off x="640080" y="1463040"/>
            <a:ext cx="10972800" cy="3566160"/>
          </a:xfrm>
          <a:prstGeom prst="roundRect">
            <a:avLst>
              <a:gd name="adj" fmla="val 2564"/>
            </a:avLst>
          </a:prstGeom>
          <a:solidFill>
            <a:srgbClr val="FFFFFF"/>
          </a:solidFill>
          <a:ln w="19050">
            <a:solidFill>
              <a:srgbClr val="DCE3EA"/>
            </a:solidFill>
            <a:prstDash val="solid"/>
          </a:ln>
        </p:spPr>
      </p:sp>
      <p:sp>
        <p:nvSpPr>
          <p:cNvPr id="22" name="Shape 19"/>
          <p:cNvSpPr/>
          <p:nvPr/>
        </p:nvSpPr>
        <p:spPr>
          <a:xfrm>
            <a:off x="640080" y="1463040"/>
            <a:ext cx="10972800" cy="384048"/>
          </a:xfrm>
          <a:prstGeom prst="roundRect">
            <a:avLst>
              <a:gd name="adj" fmla="val 23810"/>
            </a:avLst>
          </a:prstGeom>
          <a:solidFill>
            <a:srgbClr val="13293D"/>
          </a:solidFill>
          <a:ln w="12700">
            <a:solidFill>
              <a:srgbClr val="13293D"/>
            </a:solidFill>
            <a:prstDash val="solid"/>
          </a:ln>
        </p:spPr>
      </p:sp>
      <p:sp>
        <p:nvSpPr>
          <p:cNvPr id="23" name="Shape 20"/>
          <p:cNvSpPr/>
          <p:nvPr/>
        </p:nvSpPr>
        <p:spPr>
          <a:xfrm>
            <a:off x="868680" y="1581912"/>
            <a:ext cx="146304" cy="146304"/>
          </a:xfrm>
          <a:prstGeom prst="ellipse">
            <a:avLst/>
          </a:prstGeom>
          <a:solidFill>
            <a:srgbClr val="E8837A"/>
          </a:solidFill>
          <a:ln w="12700">
            <a:solidFill>
              <a:srgbClr val="E8837A"/>
            </a:solidFill>
            <a:prstDash val="solid"/>
          </a:ln>
        </p:spPr>
      </p:sp>
      <p:sp>
        <p:nvSpPr>
          <p:cNvPr id="24" name="Shape 21"/>
          <p:cNvSpPr/>
          <p:nvPr/>
        </p:nvSpPr>
        <p:spPr>
          <a:xfrm>
            <a:off x="1115568" y="1581912"/>
            <a:ext cx="146304" cy="146304"/>
          </a:xfrm>
          <a:prstGeom prst="ellipse">
            <a:avLst/>
          </a:prstGeom>
          <a:solidFill>
            <a:srgbClr val="F4A825"/>
          </a:solidFill>
          <a:ln w="12700">
            <a:solidFill>
              <a:srgbClr val="F4A825"/>
            </a:solidFill>
            <a:prstDash val="solid"/>
          </a:ln>
        </p:spPr>
      </p:sp>
      <p:sp>
        <p:nvSpPr>
          <p:cNvPr id="25" name="Shape 22"/>
          <p:cNvSpPr/>
          <p:nvPr/>
        </p:nvSpPr>
        <p:spPr>
          <a:xfrm>
            <a:off x="1362456" y="1581912"/>
            <a:ext cx="146304" cy="146304"/>
          </a:xfrm>
          <a:prstGeom prst="ellipse">
            <a:avLst/>
          </a:prstGeom>
          <a:solidFill>
            <a:srgbClr val="2E7D5B"/>
          </a:solidFill>
          <a:ln w="12700">
            <a:solidFill>
              <a:srgbClr val="2E7D5B"/>
            </a:solidFill>
            <a:prstDash val="solid"/>
          </a:ln>
        </p:spPr>
      </p:sp>
      <p:sp>
        <p:nvSpPr>
          <p:cNvPr id="26" name="Text 23"/>
          <p:cNvSpPr/>
          <p:nvPr/>
        </p:nvSpPr>
        <p:spPr>
          <a:xfrm>
            <a:off x="1783080" y="146304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7" name="Text 24"/>
          <p:cNvSpPr/>
          <p:nvPr/>
        </p:nvSpPr>
        <p:spPr>
          <a:xfrm>
            <a:off x="1554480" y="1965960"/>
            <a:ext cx="9646920" cy="256032"/>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DRAFT 1, STRAIGHT BACK</a:t>
            </a:r>
            <a:endParaRPr lang="en-US" sz="1100" dirty="0"/>
          </a:p>
        </p:txBody>
      </p:sp>
      <p:sp>
        <p:nvSpPr>
          <p:cNvPr id="28" name="Shape 25"/>
          <p:cNvSpPr/>
          <p:nvPr/>
        </p:nvSpPr>
        <p:spPr>
          <a:xfrm>
            <a:off x="1554480" y="2286000"/>
            <a:ext cx="9646920" cy="2606040"/>
          </a:xfrm>
          <a:prstGeom prst="roundRect">
            <a:avLst>
              <a:gd name="adj" fmla="val 4211"/>
            </a:avLst>
          </a:prstGeom>
          <a:solidFill>
            <a:srgbClr val="F7F5F0"/>
          </a:solidFill>
          <a:ln w="12700">
            <a:solidFill>
              <a:srgbClr val="F7F5F0"/>
            </a:solidFill>
            <a:prstDash val="solid"/>
          </a:ln>
        </p:spPr>
      </p:sp>
      <p:sp>
        <p:nvSpPr>
          <p:cNvPr id="29" name="Text 26"/>
          <p:cNvSpPr/>
          <p:nvPr/>
        </p:nvSpPr>
        <p:spPr>
          <a:xfrm>
            <a:off x="1783080" y="2377440"/>
            <a:ext cx="9189720" cy="2423160"/>
          </a:xfrm>
          <a:prstGeom prst="rect">
            <a:avLst/>
          </a:prstGeom>
          <a:noFill/>
          <a:ln/>
        </p:spPr>
        <p:txBody>
          <a:bodyPr wrap="square" lIns="0" tIns="0" rIns="0" bIns="0" rtlCol="0" anchor="ctr"/>
          <a:lstStyle/>
          <a:p>
            <a:pPr indent="0" marL="0">
              <a:lnSpc>
                <a:spcPct val="115000"/>
              </a:lnSpc>
              <a:buNone/>
            </a:pPr>
            <a:r>
              <a:rPr lang="en-US" sz="1900" dirty="0">
                <a:solidFill>
                  <a:srgbClr val="1B1F24"/>
                </a:solidFill>
                <a:latin typeface="Inter" pitchFamily="34" charset="0"/>
                <a:ea typeface="Inter" pitchFamily="34" charset="-122"/>
                <a:cs typeface="Inter" pitchFamily="34" charset="-120"/>
              </a:rPr>
              <a:t>“Dear Families, we are thrilled to announce our upcoming Book Fair! This wonderful event promises something for every reader in our school community. The fair runs all week, 8:00 to 3:00, in the library. We sincerely appreciate your continued support of our reading program!”</a:t>
            </a:r>
            <a:endParaRPr lang="en-US" sz="1900" dirty="0"/>
          </a:p>
        </p:txBody>
      </p:sp>
      <p:sp>
        <p:nvSpPr>
          <p:cNvPr id="30" name="Shape 27"/>
          <p:cNvSpPr/>
          <p:nvPr/>
        </p:nvSpPr>
        <p:spPr>
          <a:xfrm>
            <a:off x="548640" y="5166360"/>
            <a:ext cx="11064240" cy="868680"/>
          </a:xfrm>
          <a:prstGeom prst="roundRect">
            <a:avLst>
              <a:gd name="adj" fmla="val 10526"/>
            </a:avLst>
          </a:prstGeom>
          <a:solidFill>
            <a:srgbClr val="FBEFED"/>
          </a:solidFill>
          <a:ln w="12700">
            <a:solidFill>
              <a:srgbClr val="FBEFED"/>
            </a:solidFill>
            <a:prstDash val="solid"/>
          </a:ln>
        </p:spPr>
      </p:sp>
      <p:sp>
        <p:nvSpPr>
          <p:cNvPr id="31" name="Text 28"/>
          <p:cNvSpPr/>
          <p:nvPr/>
        </p:nvSpPr>
        <p:spPr>
          <a:xfrm>
            <a:off x="868680" y="5166360"/>
            <a:ext cx="10424160" cy="86868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One detail in this draft came from nowhere. Nobody has spotted it yet.</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26</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2A9D8F"/>
          </a:solidFill>
          <a:ln w="12700">
            <a:solidFill>
              <a:srgbClr val="2A9D8F"/>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pushing back on her blurb</a:t>
            </a:r>
            <a:endParaRPr lang="en-US" sz="850" dirty="0"/>
          </a:p>
        </p:txBody>
      </p:sp>
      <p:sp>
        <p:nvSpPr>
          <p:cNvPr id="20" name="Shape 17"/>
          <p:cNvSpPr/>
          <p:nvPr/>
        </p:nvSpPr>
        <p:spPr>
          <a:xfrm>
            <a:off x="0" y="0"/>
            <a:ext cx="12188952" cy="1234440"/>
          </a:xfrm>
          <a:prstGeom prst="roundRect">
            <a:avLst>
              <a:gd name="adj" fmla="val 7407"/>
            </a:avLst>
          </a:prstGeom>
          <a:solidFill>
            <a:srgbClr val="F4A825"/>
          </a:solidFill>
          <a:ln w="12700">
            <a:solidFill>
              <a:srgbClr val="F4A825"/>
            </a:solidFill>
            <a:prstDash val="solid"/>
          </a:ln>
        </p:spPr>
      </p:sp>
      <p:sp>
        <p:nvSpPr>
          <p:cNvPr id="21" name="Text 18"/>
          <p:cNvSpPr/>
          <p:nvPr/>
        </p:nvSpPr>
        <p:spPr>
          <a:xfrm>
            <a:off x="566928" y="146304"/>
            <a:ext cx="3657600" cy="329184"/>
          </a:xfrm>
          <a:prstGeom prst="rect">
            <a:avLst/>
          </a:prstGeom>
          <a:noFill/>
          <a:ln/>
        </p:spPr>
        <p:txBody>
          <a:bodyPr wrap="square" lIns="0" tIns="0" rIns="0" bIns="0" rtlCol="0" anchor="ctr"/>
          <a:lstStyle/>
          <a:p>
            <a:pPr indent="0" marL="0">
              <a:buNone/>
            </a:pPr>
            <a:r>
              <a:rPr lang="en-US" sz="1300" b="1" spc="300" kern="0" dirty="0">
                <a:solidFill>
                  <a:srgbClr val="13293D"/>
                </a:solidFill>
                <a:latin typeface="Inter" pitchFamily="34" charset="0"/>
                <a:ea typeface="Inter" pitchFamily="34" charset="-122"/>
                <a:cs typeface="Inter" pitchFamily="34" charset="-120"/>
              </a:rPr>
              <a:t>DO NOW</a:t>
            </a:r>
            <a:endParaRPr lang="en-US" sz="1300" dirty="0"/>
          </a:p>
        </p:txBody>
      </p:sp>
      <p:sp>
        <p:nvSpPr>
          <p:cNvPr id="22" name="Text 19"/>
          <p:cNvSpPr/>
          <p:nvPr/>
        </p:nvSpPr>
        <p:spPr>
          <a:xfrm>
            <a:off x="566928" y="512064"/>
            <a:ext cx="11064240" cy="566928"/>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Push back twice, one instruction at a time</a:t>
            </a:r>
            <a:endParaRPr lang="en-US" sz="2800" dirty="0"/>
          </a:p>
        </p:txBody>
      </p:sp>
      <p:sp>
        <p:nvSpPr>
          <p:cNvPr id="23" name="Text 20"/>
          <p:cNvSpPr/>
          <p:nvPr/>
        </p:nvSpPr>
        <p:spPr>
          <a:xfrm>
            <a:off x="548640" y="1417320"/>
            <a:ext cx="11064240" cy="41148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Tell it what is wrong, the way you would tell an intern:</a:t>
            </a:r>
            <a:endParaRPr lang="en-US" sz="1900" dirty="0"/>
          </a:p>
        </p:txBody>
      </p:sp>
      <p:sp>
        <p:nvSpPr>
          <p:cNvPr id="24" name="Shape 21"/>
          <p:cNvSpPr/>
          <p:nvPr/>
        </p:nvSpPr>
        <p:spPr>
          <a:xfrm>
            <a:off x="548640" y="2011680"/>
            <a:ext cx="5422392" cy="868680"/>
          </a:xfrm>
          <a:prstGeom prst="roundRect">
            <a:avLst>
              <a:gd name="adj" fmla="val 10526"/>
            </a:avLst>
          </a:prstGeom>
          <a:solidFill>
            <a:srgbClr val="EAF5F3"/>
          </a:solidFill>
          <a:ln w="12700">
            <a:solidFill>
              <a:srgbClr val="EAF5F3"/>
            </a:solidFill>
            <a:prstDash val="solid"/>
          </a:ln>
        </p:spPr>
      </p:sp>
      <p:sp>
        <p:nvSpPr>
          <p:cNvPr id="25" name="Text 22"/>
          <p:cNvSpPr/>
          <p:nvPr/>
        </p:nvSpPr>
        <p:spPr>
          <a:xfrm>
            <a:off x="822960" y="2011680"/>
            <a:ext cx="4873752" cy="86868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“Warmer.”</a:t>
            </a:r>
            <a:endParaRPr lang="en-US" sz="1700" dirty="0"/>
          </a:p>
        </p:txBody>
      </p:sp>
      <p:sp>
        <p:nvSpPr>
          <p:cNvPr id="26" name="Shape 23"/>
          <p:cNvSpPr/>
          <p:nvPr/>
        </p:nvSpPr>
        <p:spPr>
          <a:xfrm>
            <a:off x="6190488" y="2011680"/>
            <a:ext cx="5422392" cy="868680"/>
          </a:xfrm>
          <a:prstGeom prst="roundRect">
            <a:avLst>
              <a:gd name="adj" fmla="val 10526"/>
            </a:avLst>
          </a:prstGeom>
          <a:solidFill>
            <a:srgbClr val="EAF5F3"/>
          </a:solidFill>
          <a:ln w="12700">
            <a:solidFill>
              <a:srgbClr val="EAF5F3"/>
            </a:solidFill>
            <a:prstDash val="solid"/>
          </a:ln>
        </p:spPr>
      </p:sp>
      <p:sp>
        <p:nvSpPr>
          <p:cNvPr id="27" name="Text 24"/>
          <p:cNvSpPr/>
          <p:nvPr/>
        </p:nvSpPr>
        <p:spPr>
          <a:xfrm>
            <a:off x="6464808" y="2011680"/>
            <a:ext cx="4873752" cy="86868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“Shorter.”</a:t>
            </a:r>
            <a:endParaRPr lang="en-US" sz="1700" dirty="0"/>
          </a:p>
        </p:txBody>
      </p:sp>
      <p:sp>
        <p:nvSpPr>
          <p:cNvPr id="28" name="Shape 25"/>
          <p:cNvSpPr/>
          <p:nvPr/>
        </p:nvSpPr>
        <p:spPr>
          <a:xfrm>
            <a:off x="548640" y="3063240"/>
            <a:ext cx="5422392" cy="868680"/>
          </a:xfrm>
          <a:prstGeom prst="roundRect">
            <a:avLst>
              <a:gd name="adj" fmla="val 10526"/>
            </a:avLst>
          </a:prstGeom>
          <a:solidFill>
            <a:srgbClr val="EAF5F3"/>
          </a:solidFill>
          <a:ln w="12700">
            <a:solidFill>
              <a:srgbClr val="EAF5F3"/>
            </a:solidFill>
            <a:prstDash val="solid"/>
          </a:ln>
        </p:spPr>
      </p:sp>
      <p:sp>
        <p:nvSpPr>
          <p:cNvPr id="29" name="Text 26"/>
          <p:cNvSpPr/>
          <p:nvPr/>
        </p:nvSpPr>
        <p:spPr>
          <a:xfrm>
            <a:off x="822960" y="3063240"/>
            <a:ext cx="4873752" cy="86868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“A 5th grader wouldn’t know three of these words. Fix that.”</a:t>
            </a:r>
            <a:endParaRPr lang="en-US" sz="1700" dirty="0"/>
          </a:p>
        </p:txBody>
      </p:sp>
      <p:sp>
        <p:nvSpPr>
          <p:cNvPr id="30" name="Shape 27"/>
          <p:cNvSpPr/>
          <p:nvPr/>
        </p:nvSpPr>
        <p:spPr>
          <a:xfrm>
            <a:off x="6190488" y="3063240"/>
            <a:ext cx="5422392" cy="868680"/>
          </a:xfrm>
          <a:prstGeom prst="roundRect">
            <a:avLst>
              <a:gd name="adj" fmla="val 10526"/>
            </a:avLst>
          </a:prstGeom>
          <a:solidFill>
            <a:srgbClr val="EAF5F3"/>
          </a:solidFill>
          <a:ln w="12700">
            <a:solidFill>
              <a:srgbClr val="EAF5F3"/>
            </a:solidFill>
            <a:prstDash val="solid"/>
          </a:ln>
        </p:spPr>
      </p:sp>
      <p:sp>
        <p:nvSpPr>
          <p:cNvPr id="31" name="Text 28"/>
          <p:cNvSpPr/>
          <p:nvPr/>
        </p:nvSpPr>
        <p:spPr>
          <a:xfrm>
            <a:off x="6464808" y="3063240"/>
            <a:ext cx="4873752" cy="86868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“Make question four harder and add a diagram question.”</a:t>
            </a:r>
            <a:endParaRPr lang="en-US" sz="1700" dirty="0"/>
          </a:p>
        </p:txBody>
      </p:sp>
      <p:sp>
        <p:nvSpPr>
          <p:cNvPr id="32" name="Shape 29"/>
          <p:cNvSpPr/>
          <p:nvPr/>
        </p:nvSpPr>
        <p:spPr>
          <a:xfrm>
            <a:off x="548640" y="4297680"/>
            <a:ext cx="3538728" cy="1097280"/>
          </a:xfrm>
          <a:prstGeom prst="roundRect">
            <a:avLst>
              <a:gd name="adj" fmla="val 8333"/>
            </a:avLst>
          </a:prstGeom>
          <a:solidFill>
            <a:srgbClr val="F7F5F0"/>
          </a:solidFill>
          <a:ln w="12700">
            <a:solidFill>
              <a:srgbClr val="F7F5F0"/>
            </a:solidFill>
            <a:prstDash val="solid"/>
          </a:ln>
        </p:spPr>
      </p:sp>
      <p:sp>
        <p:nvSpPr>
          <p:cNvPr id="33" name="Text 30"/>
          <p:cNvSpPr/>
          <p:nvPr/>
        </p:nvSpPr>
        <p:spPr>
          <a:xfrm>
            <a:off x="777240" y="4389120"/>
            <a:ext cx="310896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WHAT YOU DO</a:t>
            </a:r>
            <a:endParaRPr lang="en-US" sz="1100" dirty="0"/>
          </a:p>
        </p:txBody>
      </p:sp>
      <p:sp>
        <p:nvSpPr>
          <p:cNvPr id="34" name="Text 31"/>
          <p:cNvSpPr/>
          <p:nvPr/>
        </p:nvSpPr>
        <p:spPr>
          <a:xfrm>
            <a:off x="777240" y="4700016"/>
            <a:ext cx="3108960" cy="621792"/>
          </a:xfrm>
          <a:prstGeom prst="rect">
            <a:avLst/>
          </a:prstGeom>
          <a:noFill/>
          <a:ln/>
        </p:spPr>
        <p:txBody>
          <a:bodyPr wrap="square" lIns="0" tIns="0" rIns="0" bIns="0" rtlCol="0" anchor="t"/>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Push back on your own draft 1. One instruction per round.</a:t>
            </a:r>
            <a:endParaRPr lang="en-US" sz="1600" dirty="0"/>
          </a:p>
        </p:txBody>
      </p:sp>
      <p:sp>
        <p:nvSpPr>
          <p:cNvPr id="35" name="Shape 32"/>
          <p:cNvSpPr/>
          <p:nvPr/>
        </p:nvSpPr>
        <p:spPr>
          <a:xfrm>
            <a:off x="4325112" y="4297680"/>
            <a:ext cx="3538728" cy="1097280"/>
          </a:xfrm>
          <a:prstGeom prst="roundRect">
            <a:avLst>
              <a:gd name="adj" fmla="val 8333"/>
            </a:avLst>
          </a:prstGeom>
          <a:solidFill>
            <a:srgbClr val="F7F5F0"/>
          </a:solidFill>
          <a:ln w="12700">
            <a:solidFill>
              <a:srgbClr val="F7F5F0"/>
            </a:solidFill>
            <a:prstDash val="solid"/>
          </a:ln>
        </p:spPr>
      </p:sp>
      <p:sp>
        <p:nvSpPr>
          <p:cNvPr id="36" name="Text 33"/>
          <p:cNvSpPr/>
          <p:nvPr/>
        </p:nvSpPr>
        <p:spPr>
          <a:xfrm>
            <a:off x="4553712" y="4389120"/>
            <a:ext cx="310896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HOW LONG</a:t>
            </a:r>
            <a:endParaRPr lang="en-US" sz="1100" dirty="0"/>
          </a:p>
        </p:txBody>
      </p:sp>
      <p:sp>
        <p:nvSpPr>
          <p:cNvPr id="37" name="Text 34"/>
          <p:cNvSpPr/>
          <p:nvPr/>
        </p:nvSpPr>
        <p:spPr>
          <a:xfrm>
            <a:off x="4553712" y="4700016"/>
            <a:ext cx="3108960" cy="621792"/>
          </a:xfrm>
          <a:prstGeom prst="rect">
            <a:avLst/>
          </a:prstGeom>
          <a:noFill/>
          <a:ln/>
        </p:spPr>
        <p:txBody>
          <a:bodyPr wrap="square" lIns="0" tIns="0" rIns="0" bIns="0" rtlCol="0" anchor="t"/>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Six minutes, in pairs. Two rounds minimum.</a:t>
            </a:r>
            <a:endParaRPr lang="en-US" sz="1600" dirty="0"/>
          </a:p>
        </p:txBody>
      </p:sp>
      <p:sp>
        <p:nvSpPr>
          <p:cNvPr id="38" name="Shape 35"/>
          <p:cNvSpPr/>
          <p:nvPr/>
        </p:nvSpPr>
        <p:spPr>
          <a:xfrm>
            <a:off x="8101584" y="4297680"/>
            <a:ext cx="3538728" cy="1097280"/>
          </a:xfrm>
          <a:prstGeom prst="roundRect">
            <a:avLst>
              <a:gd name="adj" fmla="val 8333"/>
            </a:avLst>
          </a:prstGeom>
          <a:solidFill>
            <a:srgbClr val="F7F5F0"/>
          </a:solidFill>
          <a:ln w="12700">
            <a:solidFill>
              <a:srgbClr val="F7F5F0"/>
            </a:solidFill>
            <a:prstDash val="solid"/>
          </a:ln>
        </p:spPr>
      </p:sp>
      <p:sp>
        <p:nvSpPr>
          <p:cNvPr id="39" name="Text 36"/>
          <p:cNvSpPr/>
          <p:nvPr/>
        </p:nvSpPr>
        <p:spPr>
          <a:xfrm>
            <a:off x="8330184" y="4389120"/>
            <a:ext cx="310896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DONE LOOKS LIKE</a:t>
            </a:r>
            <a:endParaRPr lang="en-US" sz="1100" dirty="0"/>
          </a:p>
        </p:txBody>
      </p:sp>
      <p:sp>
        <p:nvSpPr>
          <p:cNvPr id="40" name="Text 37"/>
          <p:cNvSpPr/>
          <p:nvPr/>
        </p:nvSpPr>
        <p:spPr>
          <a:xfrm>
            <a:off x="8330184" y="4700016"/>
            <a:ext cx="3108960" cy="621792"/>
          </a:xfrm>
          <a:prstGeom prst="rect">
            <a:avLst/>
          </a:prstGeom>
          <a:noFill/>
          <a:ln/>
        </p:spPr>
        <p:txBody>
          <a:bodyPr wrap="square" lIns="0" tIns="0" rIns="0" bIns="0" rtlCol="0" anchor="t"/>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A draft you would actually use, not the one it handed you.</a:t>
            </a:r>
            <a:endParaRPr lang="en-US" sz="1600" dirty="0"/>
          </a:p>
        </p:txBody>
      </p:sp>
      <p:sp>
        <p:nvSpPr>
          <p:cNvPr id="41" name="Text 38"/>
          <p:cNvSpPr/>
          <p:nvPr/>
        </p:nvSpPr>
        <p:spPr>
          <a:xfrm>
            <a:off x="548640" y="5577840"/>
            <a:ext cx="11064240" cy="45720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The first draft is the intern’s. The third one is yours.</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27</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2A9D8F"/>
          </a:solidFill>
          <a:ln w="12700">
            <a:solidFill>
              <a:srgbClr val="2A9D8F"/>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her blurb, two rounds in</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5B6B7A"/>
                </a:solidFill>
                <a:latin typeface="Inter" pitchFamily="34" charset="0"/>
                <a:ea typeface="Inter" pitchFamily="34" charset="-122"/>
                <a:cs typeface="Inter" pitchFamily="34" charset="-120"/>
              </a:rPr>
              <a:t>ANSWERS TO THE TASK ABOVE</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Short and blunt beats polite and vague</a:t>
            </a:r>
            <a:endParaRPr lang="en-US" sz="3000" dirty="0"/>
          </a:p>
        </p:txBody>
      </p:sp>
      <p:sp>
        <p:nvSpPr>
          <p:cNvPr id="22" name="Shape 19"/>
          <p:cNvSpPr/>
          <p:nvPr/>
        </p:nvSpPr>
        <p:spPr>
          <a:xfrm>
            <a:off x="548640" y="1737360"/>
            <a:ext cx="11064240" cy="822960"/>
          </a:xfrm>
          <a:prstGeom prst="roundRect">
            <a:avLst>
              <a:gd name="adj" fmla="val 11111"/>
            </a:avLst>
          </a:prstGeom>
          <a:solidFill>
            <a:srgbClr val="EAF5F3"/>
          </a:solidFill>
          <a:ln w="12700">
            <a:solidFill>
              <a:srgbClr val="EAF5F3"/>
            </a:solidFill>
            <a:prstDash val="solid"/>
          </a:ln>
        </p:spPr>
      </p:sp>
      <p:sp>
        <p:nvSpPr>
          <p:cNvPr id="23" name="Text 20"/>
          <p:cNvSpPr/>
          <p:nvPr/>
        </p:nvSpPr>
        <p:spPr>
          <a:xfrm>
            <a:off x="868680" y="1737360"/>
            <a:ext cx="1554480" cy="822960"/>
          </a:xfrm>
          <a:prstGeom prst="rect">
            <a:avLst/>
          </a:prstGeom>
          <a:noFill/>
          <a:ln/>
        </p:spPr>
        <p:txBody>
          <a:bodyPr wrap="square" lIns="0" tIns="0" rIns="0" bIns="0" rtlCol="0" anchor="ctr"/>
          <a:lstStyle/>
          <a:p>
            <a:pPr indent="0" marL="0">
              <a:buNone/>
            </a:pPr>
            <a:r>
              <a:rPr lang="en-US" sz="1100" b="1" spc="140" kern="0" dirty="0">
                <a:solidFill>
                  <a:srgbClr val="2E7D5B"/>
                </a:solidFill>
                <a:latin typeface="Inter" pitchFamily="34" charset="0"/>
                <a:ea typeface="Inter" pitchFamily="34" charset="-122"/>
                <a:cs typeface="Inter" pitchFamily="34" charset="-120"/>
              </a:rPr>
              <a:t>SAY THIS</a:t>
            </a:r>
            <a:endParaRPr lang="en-US" sz="1100" dirty="0"/>
          </a:p>
        </p:txBody>
      </p:sp>
      <p:sp>
        <p:nvSpPr>
          <p:cNvPr id="24" name="Text 21"/>
          <p:cNvSpPr/>
          <p:nvPr/>
        </p:nvSpPr>
        <p:spPr>
          <a:xfrm>
            <a:off x="2606040" y="1737360"/>
            <a:ext cx="8686800" cy="82296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“Shorter.”</a:t>
            </a:r>
            <a:endParaRPr lang="en-US" sz="1800" dirty="0"/>
          </a:p>
        </p:txBody>
      </p:sp>
      <p:sp>
        <p:nvSpPr>
          <p:cNvPr id="25" name="Shape 22"/>
          <p:cNvSpPr/>
          <p:nvPr/>
        </p:nvSpPr>
        <p:spPr>
          <a:xfrm>
            <a:off x="548640" y="2697480"/>
            <a:ext cx="11064240" cy="822960"/>
          </a:xfrm>
          <a:prstGeom prst="roundRect">
            <a:avLst>
              <a:gd name="adj" fmla="val 11111"/>
            </a:avLst>
          </a:prstGeom>
          <a:solidFill>
            <a:srgbClr val="F7F5F0"/>
          </a:solidFill>
          <a:ln w="12700">
            <a:solidFill>
              <a:srgbClr val="F7F5F0"/>
            </a:solidFill>
            <a:prstDash val="solid"/>
          </a:ln>
        </p:spPr>
      </p:sp>
      <p:sp>
        <p:nvSpPr>
          <p:cNvPr id="26" name="Text 23"/>
          <p:cNvSpPr/>
          <p:nvPr/>
        </p:nvSpPr>
        <p:spPr>
          <a:xfrm>
            <a:off x="868680" y="2697480"/>
            <a:ext cx="1554480" cy="822960"/>
          </a:xfrm>
          <a:prstGeom prst="rect">
            <a:avLst/>
          </a:prstGeom>
          <a:noFill/>
          <a:ln/>
        </p:spPr>
        <p:txBody>
          <a:bodyPr wrap="square" lIns="0" tIns="0" rIns="0" bIns="0" rtlCol="0" anchor="ctr"/>
          <a:lstStyle/>
          <a:p>
            <a:pPr indent="0" marL="0">
              <a:buNone/>
            </a:pPr>
            <a:r>
              <a:rPr lang="en-US" sz="1100" b="1" spc="140" kern="0" dirty="0">
                <a:solidFill>
                  <a:srgbClr val="B4453A"/>
                </a:solidFill>
                <a:latin typeface="Inter" pitchFamily="34" charset="0"/>
                <a:ea typeface="Inter" pitchFamily="34" charset="-122"/>
                <a:cs typeface="Inter" pitchFamily="34" charset="-120"/>
              </a:rPr>
              <a:t>NOT THIS</a:t>
            </a:r>
            <a:endParaRPr lang="en-US" sz="1100" dirty="0"/>
          </a:p>
        </p:txBody>
      </p:sp>
      <p:sp>
        <p:nvSpPr>
          <p:cNvPr id="27" name="Text 24"/>
          <p:cNvSpPr/>
          <p:nvPr/>
        </p:nvSpPr>
        <p:spPr>
          <a:xfrm>
            <a:off x="2606040" y="2697480"/>
            <a:ext cx="8686800" cy="822960"/>
          </a:xfrm>
          <a:prstGeom prst="rect">
            <a:avLst/>
          </a:prstGeom>
          <a:noFill/>
          <a:ln/>
        </p:spPr>
        <p:txBody>
          <a:bodyPr wrap="square" lIns="0" tIns="0" rIns="0" bIns="0" rtlCol="0" anchor="ctr"/>
          <a:lstStyle/>
          <a:p>
            <a:pPr indent="0" marL="0">
              <a:buNone/>
            </a:pPr>
            <a:r>
              <a:rPr lang="en-US" sz="1800" dirty="0">
                <a:solidFill>
                  <a:srgbClr val="5B6B7A"/>
                </a:solidFill>
                <a:latin typeface="Inter" pitchFamily="34" charset="0"/>
                <a:ea typeface="Inter" pitchFamily="34" charset="-122"/>
                <a:cs typeface="Inter" pitchFamily="34" charset="-120"/>
              </a:rPr>
              <a:t>“Could you possibly make it a bit more concise?”</a:t>
            </a:r>
            <a:endParaRPr lang="en-US" sz="1800" dirty="0"/>
          </a:p>
        </p:txBody>
      </p:sp>
      <p:sp>
        <p:nvSpPr>
          <p:cNvPr id="28" name="Shape 25"/>
          <p:cNvSpPr/>
          <p:nvPr/>
        </p:nvSpPr>
        <p:spPr>
          <a:xfrm>
            <a:off x="548640" y="3657600"/>
            <a:ext cx="11064240" cy="822960"/>
          </a:xfrm>
          <a:prstGeom prst="roundRect">
            <a:avLst>
              <a:gd name="adj" fmla="val 11111"/>
            </a:avLst>
          </a:prstGeom>
          <a:solidFill>
            <a:srgbClr val="EAF5F3"/>
          </a:solidFill>
          <a:ln w="12700">
            <a:solidFill>
              <a:srgbClr val="EAF5F3"/>
            </a:solidFill>
            <a:prstDash val="solid"/>
          </a:ln>
        </p:spPr>
      </p:sp>
      <p:sp>
        <p:nvSpPr>
          <p:cNvPr id="29" name="Text 26"/>
          <p:cNvSpPr/>
          <p:nvPr/>
        </p:nvSpPr>
        <p:spPr>
          <a:xfrm>
            <a:off x="868680" y="3657600"/>
            <a:ext cx="1554480" cy="822960"/>
          </a:xfrm>
          <a:prstGeom prst="rect">
            <a:avLst/>
          </a:prstGeom>
          <a:noFill/>
          <a:ln/>
        </p:spPr>
        <p:txBody>
          <a:bodyPr wrap="square" lIns="0" tIns="0" rIns="0" bIns="0" rtlCol="0" anchor="ctr"/>
          <a:lstStyle/>
          <a:p>
            <a:pPr indent="0" marL="0">
              <a:buNone/>
            </a:pPr>
            <a:r>
              <a:rPr lang="en-US" sz="1100" b="1" spc="140" kern="0" dirty="0">
                <a:solidFill>
                  <a:srgbClr val="2E7D5B"/>
                </a:solidFill>
                <a:latin typeface="Inter" pitchFamily="34" charset="0"/>
                <a:ea typeface="Inter" pitchFamily="34" charset="-122"/>
                <a:cs typeface="Inter" pitchFamily="34" charset="-120"/>
              </a:rPr>
              <a:t>SAY THIS</a:t>
            </a:r>
            <a:endParaRPr lang="en-US" sz="1100" dirty="0"/>
          </a:p>
        </p:txBody>
      </p:sp>
      <p:sp>
        <p:nvSpPr>
          <p:cNvPr id="30" name="Text 27"/>
          <p:cNvSpPr/>
          <p:nvPr/>
        </p:nvSpPr>
        <p:spPr>
          <a:xfrm>
            <a:off x="2606040" y="3657600"/>
            <a:ext cx="8686800" cy="82296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“A 5th grader wouldn’t know three of these words.”</a:t>
            </a:r>
            <a:endParaRPr lang="en-US" sz="1800" dirty="0"/>
          </a:p>
        </p:txBody>
      </p:sp>
      <p:sp>
        <p:nvSpPr>
          <p:cNvPr id="31" name="Shape 28"/>
          <p:cNvSpPr/>
          <p:nvPr/>
        </p:nvSpPr>
        <p:spPr>
          <a:xfrm>
            <a:off x="548640" y="4617720"/>
            <a:ext cx="11064240" cy="822960"/>
          </a:xfrm>
          <a:prstGeom prst="roundRect">
            <a:avLst>
              <a:gd name="adj" fmla="val 11111"/>
            </a:avLst>
          </a:prstGeom>
          <a:solidFill>
            <a:srgbClr val="F7F5F0"/>
          </a:solidFill>
          <a:ln w="12700">
            <a:solidFill>
              <a:srgbClr val="F7F5F0"/>
            </a:solidFill>
            <a:prstDash val="solid"/>
          </a:ln>
        </p:spPr>
      </p:sp>
      <p:sp>
        <p:nvSpPr>
          <p:cNvPr id="32" name="Text 29"/>
          <p:cNvSpPr/>
          <p:nvPr/>
        </p:nvSpPr>
        <p:spPr>
          <a:xfrm>
            <a:off x="868680" y="4617720"/>
            <a:ext cx="1554480" cy="822960"/>
          </a:xfrm>
          <a:prstGeom prst="rect">
            <a:avLst/>
          </a:prstGeom>
          <a:noFill/>
          <a:ln/>
        </p:spPr>
        <p:txBody>
          <a:bodyPr wrap="square" lIns="0" tIns="0" rIns="0" bIns="0" rtlCol="0" anchor="ctr"/>
          <a:lstStyle/>
          <a:p>
            <a:pPr indent="0" marL="0">
              <a:buNone/>
            </a:pPr>
            <a:r>
              <a:rPr lang="en-US" sz="1100" b="1" spc="140" kern="0" dirty="0">
                <a:solidFill>
                  <a:srgbClr val="B4453A"/>
                </a:solidFill>
                <a:latin typeface="Inter" pitchFamily="34" charset="0"/>
                <a:ea typeface="Inter" pitchFamily="34" charset="-122"/>
                <a:cs typeface="Inter" pitchFamily="34" charset="-120"/>
              </a:rPr>
              <a:t>NOT THIS</a:t>
            </a:r>
            <a:endParaRPr lang="en-US" sz="1100" dirty="0"/>
          </a:p>
        </p:txBody>
      </p:sp>
      <p:sp>
        <p:nvSpPr>
          <p:cNvPr id="33" name="Text 30"/>
          <p:cNvSpPr/>
          <p:nvPr/>
        </p:nvSpPr>
        <p:spPr>
          <a:xfrm>
            <a:off x="2606040" y="4617720"/>
            <a:ext cx="8686800" cy="822960"/>
          </a:xfrm>
          <a:prstGeom prst="rect">
            <a:avLst/>
          </a:prstGeom>
          <a:noFill/>
          <a:ln/>
        </p:spPr>
        <p:txBody>
          <a:bodyPr wrap="square" lIns="0" tIns="0" rIns="0" bIns="0" rtlCol="0" anchor="ctr"/>
          <a:lstStyle/>
          <a:p>
            <a:pPr indent="0" marL="0">
              <a:buNone/>
            </a:pPr>
            <a:r>
              <a:rPr lang="en-US" sz="1800" dirty="0">
                <a:solidFill>
                  <a:srgbClr val="5B6B7A"/>
                </a:solidFill>
                <a:latin typeface="Inter" pitchFamily="34" charset="0"/>
                <a:ea typeface="Inter" pitchFamily="34" charset="-122"/>
                <a:cs typeface="Inter" pitchFamily="34" charset="-120"/>
              </a:rPr>
              <a:t>“Simplify the language a little.”</a:t>
            </a:r>
            <a:endParaRPr lang="en-US" sz="1800" dirty="0"/>
          </a:p>
        </p:txBody>
      </p:sp>
      <p:sp>
        <p:nvSpPr>
          <p:cNvPr id="34" name="Shape 31"/>
          <p:cNvSpPr/>
          <p:nvPr/>
        </p:nvSpPr>
        <p:spPr>
          <a:xfrm>
            <a:off x="548640" y="5532120"/>
            <a:ext cx="11064240" cy="566928"/>
          </a:xfrm>
          <a:prstGeom prst="roundRect">
            <a:avLst>
              <a:gd name="adj" fmla="val 16129"/>
            </a:avLst>
          </a:prstGeom>
          <a:solidFill>
            <a:srgbClr val="F7F5F0"/>
          </a:solidFill>
          <a:ln w="12700">
            <a:solidFill>
              <a:srgbClr val="F7F5F0"/>
            </a:solidFill>
            <a:prstDash val="solid"/>
          </a:ln>
        </p:spPr>
      </p:sp>
      <p:sp>
        <p:nvSpPr>
          <p:cNvPr id="35" name="Text 32"/>
          <p:cNvSpPr/>
          <p:nvPr/>
        </p:nvSpPr>
        <p:spPr>
          <a:xfrm>
            <a:off x="868680" y="5532120"/>
            <a:ext cx="10424160" cy="566928"/>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The tool has no feelings, and vague feedback gets you a vague draft.</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28</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2A9D8F"/>
          </a:solidFill>
          <a:ln w="12700">
            <a:solidFill>
              <a:srgbClr val="2A9D8F"/>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B07914"/>
                </a:solidFill>
                <a:latin typeface="Inter" pitchFamily="34" charset="0"/>
                <a:ea typeface="Inter" pitchFamily="34" charset="-122"/>
                <a:cs typeface="Inter" pitchFamily="34" charset="-120"/>
              </a:rPr>
              <a:t>ON MS. RIVERA’S SCREEN · LAB TASK 2</a:t>
            </a:r>
            <a:endParaRPr lang="en-US" sz="1000" dirty="0"/>
          </a:p>
        </p:txBody>
      </p:sp>
      <p:sp>
        <p:nvSpPr>
          <p:cNvPr id="20" name="Text 17"/>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Two pushbacks made the blurb sound like her</a:t>
            </a:r>
            <a:endParaRPr lang="en-US" sz="3000" dirty="0"/>
          </a:p>
        </p:txBody>
      </p:sp>
      <p:sp>
        <p:nvSpPr>
          <p:cNvPr id="21" name="Shape 18"/>
          <p:cNvSpPr/>
          <p:nvPr/>
        </p:nvSpPr>
        <p:spPr>
          <a:xfrm>
            <a:off x="640080" y="1463040"/>
            <a:ext cx="10972800" cy="3886200"/>
          </a:xfrm>
          <a:prstGeom prst="roundRect">
            <a:avLst>
              <a:gd name="adj" fmla="val 2353"/>
            </a:avLst>
          </a:prstGeom>
          <a:solidFill>
            <a:srgbClr val="FFFFFF"/>
          </a:solidFill>
          <a:ln w="19050">
            <a:solidFill>
              <a:srgbClr val="DCE3EA"/>
            </a:solidFill>
            <a:prstDash val="solid"/>
          </a:ln>
        </p:spPr>
      </p:sp>
      <p:sp>
        <p:nvSpPr>
          <p:cNvPr id="22" name="Shape 19"/>
          <p:cNvSpPr/>
          <p:nvPr/>
        </p:nvSpPr>
        <p:spPr>
          <a:xfrm>
            <a:off x="640080" y="1463040"/>
            <a:ext cx="10972800" cy="384048"/>
          </a:xfrm>
          <a:prstGeom prst="roundRect">
            <a:avLst>
              <a:gd name="adj" fmla="val 23810"/>
            </a:avLst>
          </a:prstGeom>
          <a:solidFill>
            <a:srgbClr val="13293D"/>
          </a:solidFill>
          <a:ln w="12700">
            <a:solidFill>
              <a:srgbClr val="13293D"/>
            </a:solidFill>
            <a:prstDash val="solid"/>
          </a:ln>
        </p:spPr>
      </p:sp>
      <p:sp>
        <p:nvSpPr>
          <p:cNvPr id="23" name="Shape 20"/>
          <p:cNvSpPr/>
          <p:nvPr/>
        </p:nvSpPr>
        <p:spPr>
          <a:xfrm>
            <a:off x="868680" y="1581912"/>
            <a:ext cx="146304" cy="146304"/>
          </a:xfrm>
          <a:prstGeom prst="ellipse">
            <a:avLst/>
          </a:prstGeom>
          <a:solidFill>
            <a:srgbClr val="E8837A"/>
          </a:solidFill>
          <a:ln w="12700">
            <a:solidFill>
              <a:srgbClr val="E8837A"/>
            </a:solidFill>
            <a:prstDash val="solid"/>
          </a:ln>
        </p:spPr>
      </p:sp>
      <p:sp>
        <p:nvSpPr>
          <p:cNvPr id="24" name="Shape 21"/>
          <p:cNvSpPr/>
          <p:nvPr/>
        </p:nvSpPr>
        <p:spPr>
          <a:xfrm>
            <a:off x="1115568" y="1581912"/>
            <a:ext cx="146304" cy="146304"/>
          </a:xfrm>
          <a:prstGeom prst="ellipse">
            <a:avLst/>
          </a:prstGeom>
          <a:solidFill>
            <a:srgbClr val="F4A825"/>
          </a:solidFill>
          <a:ln w="12700">
            <a:solidFill>
              <a:srgbClr val="F4A825"/>
            </a:solidFill>
            <a:prstDash val="solid"/>
          </a:ln>
        </p:spPr>
      </p:sp>
      <p:sp>
        <p:nvSpPr>
          <p:cNvPr id="25" name="Shape 22"/>
          <p:cNvSpPr/>
          <p:nvPr/>
        </p:nvSpPr>
        <p:spPr>
          <a:xfrm>
            <a:off x="1362456" y="1581912"/>
            <a:ext cx="146304" cy="146304"/>
          </a:xfrm>
          <a:prstGeom prst="ellipse">
            <a:avLst/>
          </a:prstGeom>
          <a:solidFill>
            <a:srgbClr val="2E7D5B"/>
          </a:solidFill>
          <a:ln w="12700">
            <a:solidFill>
              <a:srgbClr val="2E7D5B"/>
            </a:solidFill>
            <a:prstDash val="solid"/>
          </a:ln>
        </p:spPr>
      </p:sp>
      <p:sp>
        <p:nvSpPr>
          <p:cNvPr id="26" name="Text 23"/>
          <p:cNvSpPr/>
          <p:nvPr/>
        </p:nvSpPr>
        <p:spPr>
          <a:xfrm>
            <a:off x="1783080" y="146304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7" name="Text 24"/>
          <p:cNvSpPr/>
          <p:nvPr/>
        </p:nvSpPr>
        <p:spPr>
          <a:xfrm>
            <a:off x="1554480" y="1920240"/>
            <a:ext cx="9646920" cy="256032"/>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SHE TYPES, ONE AT A TIME</a:t>
            </a:r>
            <a:endParaRPr lang="en-US" sz="1100" dirty="0"/>
          </a:p>
        </p:txBody>
      </p:sp>
      <p:sp>
        <p:nvSpPr>
          <p:cNvPr id="28" name="Shape 25"/>
          <p:cNvSpPr/>
          <p:nvPr/>
        </p:nvSpPr>
        <p:spPr>
          <a:xfrm>
            <a:off x="1554480" y="2231136"/>
            <a:ext cx="2468880" cy="548640"/>
          </a:xfrm>
          <a:prstGeom prst="roundRect">
            <a:avLst>
              <a:gd name="adj" fmla="val 23333"/>
            </a:avLst>
          </a:prstGeom>
          <a:solidFill>
            <a:srgbClr val="EAF5F3"/>
          </a:solidFill>
          <a:ln w="12700">
            <a:solidFill>
              <a:srgbClr val="EAF5F3"/>
            </a:solidFill>
            <a:prstDash val="solid"/>
          </a:ln>
        </p:spPr>
      </p:sp>
      <p:sp>
        <p:nvSpPr>
          <p:cNvPr id="29" name="Text 26"/>
          <p:cNvSpPr/>
          <p:nvPr/>
        </p:nvSpPr>
        <p:spPr>
          <a:xfrm>
            <a:off x="1554480" y="2231136"/>
            <a:ext cx="2468880" cy="54864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“Warmer.”</a:t>
            </a:r>
            <a:endParaRPr lang="en-US" sz="1700" dirty="0"/>
          </a:p>
        </p:txBody>
      </p:sp>
      <p:sp>
        <p:nvSpPr>
          <p:cNvPr id="30" name="Shape 27"/>
          <p:cNvSpPr/>
          <p:nvPr/>
        </p:nvSpPr>
        <p:spPr>
          <a:xfrm>
            <a:off x="4206240" y="2231136"/>
            <a:ext cx="2468880" cy="548640"/>
          </a:xfrm>
          <a:prstGeom prst="roundRect">
            <a:avLst>
              <a:gd name="adj" fmla="val 23333"/>
            </a:avLst>
          </a:prstGeom>
          <a:solidFill>
            <a:srgbClr val="EAF5F3"/>
          </a:solidFill>
          <a:ln w="12700">
            <a:solidFill>
              <a:srgbClr val="EAF5F3"/>
            </a:solidFill>
            <a:prstDash val="solid"/>
          </a:ln>
        </p:spPr>
      </p:sp>
      <p:sp>
        <p:nvSpPr>
          <p:cNvPr id="31" name="Text 28"/>
          <p:cNvSpPr/>
          <p:nvPr/>
        </p:nvSpPr>
        <p:spPr>
          <a:xfrm>
            <a:off x="4206240" y="2231136"/>
            <a:ext cx="2468880" cy="54864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“Shorter.”</a:t>
            </a:r>
            <a:endParaRPr lang="en-US" sz="1700" dirty="0"/>
          </a:p>
        </p:txBody>
      </p:sp>
      <p:sp>
        <p:nvSpPr>
          <p:cNvPr id="32" name="Text 29"/>
          <p:cNvSpPr/>
          <p:nvPr/>
        </p:nvSpPr>
        <p:spPr>
          <a:xfrm>
            <a:off x="1554480" y="2926080"/>
            <a:ext cx="9646920" cy="256032"/>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THE BLURB, TWO ROUNDS LATER</a:t>
            </a:r>
            <a:endParaRPr lang="en-US" sz="1100" dirty="0"/>
          </a:p>
        </p:txBody>
      </p:sp>
      <p:sp>
        <p:nvSpPr>
          <p:cNvPr id="33" name="Shape 30"/>
          <p:cNvSpPr/>
          <p:nvPr/>
        </p:nvSpPr>
        <p:spPr>
          <a:xfrm>
            <a:off x="1554480" y="3218688"/>
            <a:ext cx="9646920" cy="1920240"/>
          </a:xfrm>
          <a:prstGeom prst="roundRect">
            <a:avLst>
              <a:gd name="adj" fmla="val 5714"/>
            </a:avLst>
          </a:prstGeom>
          <a:solidFill>
            <a:srgbClr val="F7F5F0"/>
          </a:solidFill>
          <a:ln w="12700">
            <a:solidFill>
              <a:srgbClr val="F7F5F0"/>
            </a:solidFill>
            <a:prstDash val="solid"/>
          </a:ln>
        </p:spPr>
      </p:sp>
      <p:sp>
        <p:nvSpPr>
          <p:cNvPr id="34" name="Text 31"/>
          <p:cNvSpPr/>
          <p:nvPr/>
        </p:nvSpPr>
        <p:spPr>
          <a:xfrm>
            <a:off x="1783080" y="3291840"/>
            <a:ext cx="9189720" cy="1783080"/>
          </a:xfrm>
          <a:prstGeom prst="rect">
            <a:avLst/>
          </a:prstGeom>
          <a:noFill/>
          <a:ln/>
        </p:spPr>
        <p:txBody>
          <a:bodyPr wrap="square" lIns="0" tIns="0" rIns="0" bIns="0" rtlCol="0" anchor="ctr"/>
          <a:lstStyle/>
          <a:p>
            <a:pPr indent="0" marL="0">
              <a:lnSpc>
                <a:spcPct val="115000"/>
              </a:lnSpc>
              <a:buNone/>
            </a:pPr>
            <a:r>
              <a:rPr lang="en-US" sz="1900" dirty="0">
                <a:solidFill>
                  <a:srgbClr val="1B1F24"/>
                </a:solidFill>
                <a:latin typeface="Inter" pitchFamily="34" charset="0"/>
                <a:ea typeface="Inter" pitchFamily="34" charset="-122"/>
                <a:cs typeface="Inter" pitchFamily="34" charset="-120"/>
              </a:rPr>
              <a:t>“Families, our fall book fair is almost here. Stop by the library with your reader and help them pick a book they’ll actually love. We’re open all week, 8:00 to 3:00. Happy reading!”</a:t>
            </a:r>
            <a:endParaRPr lang="en-US" sz="1900" dirty="0"/>
          </a:p>
        </p:txBody>
      </p:sp>
      <p:sp>
        <p:nvSpPr>
          <p:cNvPr id="35" name="Text 32"/>
          <p:cNvSpPr/>
          <p:nvPr/>
        </p:nvSpPr>
        <p:spPr>
          <a:xfrm>
            <a:off x="548640" y="5532120"/>
            <a:ext cx="1106424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Forty seconds of typing, and she has not fixed a word by hand.</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29</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2A9D8F"/>
          </a:solidFill>
          <a:ln w="12700">
            <a:solidFill>
              <a:srgbClr val="2A9D8F"/>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B07914"/>
                </a:solidFill>
                <a:latin typeface="Inter" pitchFamily="34" charset="0"/>
                <a:ea typeface="Inter" pitchFamily="34" charset="-122"/>
                <a:cs typeface="Inter" pitchFamily="34" charset="-120"/>
              </a:rPr>
              <a:t>ON MS. RIVERA’S SCREEN · THE READ-THROUGH</a:t>
            </a:r>
            <a:endParaRPr lang="en-US" sz="1000" dirty="0"/>
          </a:p>
        </p:txBody>
      </p:sp>
      <p:sp>
        <p:nvSpPr>
          <p:cNvPr id="20" name="Text 17"/>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Her read-through caught hours the tool invented</a:t>
            </a:r>
            <a:endParaRPr lang="en-US" sz="3000" dirty="0"/>
          </a:p>
        </p:txBody>
      </p:sp>
      <p:sp>
        <p:nvSpPr>
          <p:cNvPr id="21" name="Shape 18"/>
          <p:cNvSpPr/>
          <p:nvPr/>
        </p:nvSpPr>
        <p:spPr>
          <a:xfrm>
            <a:off x="640080" y="1463040"/>
            <a:ext cx="10972800" cy="1965960"/>
          </a:xfrm>
          <a:prstGeom prst="roundRect">
            <a:avLst>
              <a:gd name="adj" fmla="val 4651"/>
            </a:avLst>
          </a:prstGeom>
          <a:solidFill>
            <a:srgbClr val="FFFFFF"/>
          </a:solidFill>
          <a:ln w="19050">
            <a:solidFill>
              <a:srgbClr val="DCE3EA"/>
            </a:solidFill>
            <a:prstDash val="solid"/>
          </a:ln>
        </p:spPr>
      </p:sp>
      <p:sp>
        <p:nvSpPr>
          <p:cNvPr id="22" name="Shape 19"/>
          <p:cNvSpPr/>
          <p:nvPr/>
        </p:nvSpPr>
        <p:spPr>
          <a:xfrm>
            <a:off x="640080" y="1463040"/>
            <a:ext cx="10972800" cy="384048"/>
          </a:xfrm>
          <a:prstGeom prst="roundRect">
            <a:avLst>
              <a:gd name="adj" fmla="val 23810"/>
            </a:avLst>
          </a:prstGeom>
          <a:solidFill>
            <a:srgbClr val="13293D"/>
          </a:solidFill>
          <a:ln w="12700">
            <a:solidFill>
              <a:srgbClr val="13293D"/>
            </a:solidFill>
            <a:prstDash val="solid"/>
          </a:ln>
        </p:spPr>
      </p:sp>
      <p:sp>
        <p:nvSpPr>
          <p:cNvPr id="23" name="Shape 20"/>
          <p:cNvSpPr/>
          <p:nvPr/>
        </p:nvSpPr>
        <p:spPr>
          <a:xfrm>
            <a:off x="868680" y="1581912"/>
            <a:ext cx="146304" cy="146304"/>
          </a:xfrm>
          <a:prstGeom prst="ellipse">
            <a:avLst/>
          </a:prstGeom>
          <a:solidFill>
            <a:srgbClr val="E8837A"/>
          </a:solidFill>
          <a:ln w="12700">
            <a:solidFill>
              <a:srgbClr val="E8837A"/>
            </a:solidFill>
            <a:prstDash val="solid"/>
          </a:ln>
        </p:spPr>
      </p:sp>
      <p:sp>
        <p:nvSpPr>
          <p:cNvPr id="24" name="Shape 21"/>
          <p:cNvSpPr/>
          <p:nvPr/>
        </p:nvSpPr>
        <p:spPr>
          <a:xfrm>
            <a:off x="1115568" y="1581912"/>
            <a:ext cx="146304" cy="146304"/>
          </a:xfrm>
          <a:prstGeom prst="ellipse">
            <a:avLst/>
          </a:prstGeom>
          <a:solidFill>
            <a:srgbClr val="F4A825"/>
          </a:solidFill>
          <a:ln w="12700">
            <a:solidFill>
              <a:srgbClr val="F4A825"/>
            </a:solidFill>
            <a:prstDash val="solid"/>
          </a:ln>
        </p:spPr>
      </p:sp>
      <p:sp>
        <p:nvSpPr>
          <p:cNvPr id="25" name="Shape 22"/>
          <p:cNvSpPr/>
          <p:nvPr/>
        </p:nvSpPr>
        <p:spPr>
          <a:xfrm>
            <a:off x="1362456" y="1581912"/>
            <a:ext cx="146304" cy="146304"/>
          </a:xfrm>
          <a:prstGeom prst="ellipse">
            <a:avLst/>
          </a:prstGeom>
          <a:solidFill>
            <a:srgbClr val="2E7D5B"/>
          </a:solidFill>
          <a:ln w="12700">
            <a:solidFill>
              <a:srgbClr val="2E7D5B"/>
            </a:solidFill>
            <a:prstDash val="solid"/>
          </a:ln>
        </p:spPr>
      </p:sp>
      <p:sp>
        <p:nvSpPr>
          <p:cNvPr id="26" name="Text 23"/>
          <p:cNvSpPr/>
          <p:nvPr/>
        </p:nvSpPr>
        <p:spPr>
          <a:xfrm>
            <a:off x="1783080" y="146304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7" name="Text 24"/>
          <p:cNvSpPr/>
          <p:nvPr/>
        </p:nvSpPr>
        <p:spPr>
          <a:xfrm>
            <a:off x="1554480" y="1920240"/>
            <a:ext cx="9646920" cy="256032"/>
          </a:xfrm>
          <a:prstGeom prst="rect">
            <a:avLst/>
          </a:prstGeom>
          <a:noFill/>
          <a:ln/>
        </p:spPr>
        <p:txBody>
          <a:bodyPr wrap="square" lIns="0" tIns="0" rIns="0" bIns="0" rtlCol="0" anchor="ctr"/>
          <a:lstStyle/>
          <a:p>
            <a:pPr indent="0" marL="0">
              <a:buNone/>
            </a:pPr>
            <a:r>
              <a:rPr lang="en-US" sz="1100" b="1" spc="150" kern="0" dirty="0">
                <a:solidFill>
                  <a:srgbClr val="B4453A"/>
                </a:solidFill>
                <a:latin typeface="Inter" pitchFamily="34" charset="0"/>
                <a:ea typeface="Inter" pitchFamily="34" charset="-122"/>
                <a:cs typeface="Inter" pitchFamily="34" charset="-120"/>
              </a:rPr>
              <a:t>IN BOTH DRAFTS, IN NEITHER HER PROMPT NOR THE FLYER</a:t>
            </a:r>
            <a:endParaRPr lang="en-US" sz="1100" dirty="0"/>
          </a:p>
        </p:txBody>
      </p:sp>
      <p:sp>
        <p:nvSpPr>
          <p:cNvPr id="28" name="Shape 25"/>
          <p:cNvSpPr/>
          <p:nvPr/>
        </p:nvSpPr>
        <p:spPr>
          <a:xfrm>
            <a:off x="1554480" y="2240280"/>
            <a:ext cx="9646920" cy="1051560"/>
          </a:xfrm>
          <a:prstGeom prst="roundRect">
            <a:avLst>
              <a:gd name="adj" fmla="val 10435"/>
            </a:avLst>
          </a:prstGeom>
          <a:solidFill>
            <a:srgbClr val="FBEFED"/>
          </a:solidFill>
          <a:ln w="12700">
            <a:solidFill>
              <a:srgbClr val="FBEFED"/>
            </a:solidFill>
            <a:prstDash val="solid"/>
          </a:ln>
        </p:spPr>
      </p:sp>
      <p:sp>
        <p:nvSpPr>
          <p:cNvPr id="29" name="Text 26"/>
          <p:cNvSpPr/>
          <p:nvPr/>
        </p:nvSpPr>
        <p:spPr>
          <a:xfrm>
            <a:off x="1783080" y="2240280"/>
            <a:ext cx="9189720" cy="1051560"/>
          </a:xfrm>
          <a:prstGeom prst="rect">
            <a:avLst/>
          </a:prstGeom>
          <a:noFill/>
          <a:ln/>
        </p:spPr>
        <p:txBody>
          <a:bodyPr wrap="square" lIns="0" tIns="0" rIns="0" bIns="0" rtlCol="0" anchor="ctr"/>
          <a:lstStyle/>
          <a:p>
            <a:pPr indent="0" marL="0">
              <a:buNone/>
            </a:pPr>
            <a:r>
              <a:rPr lang="en-US" sz="2400" b="1" dirty="0">
                <a:solidFill>
                  <a:srgbClr val="B4453A"/>
                </a:solidFill>
                <a:latin typeface="Inter" pitchFamily="34" charset="0"/>
                <a:ea typeface="Inter" pitchFamily="34" charset="-122"/>
                <a:cs typeface="Inter" pitchFamily="34" charset="-120"/>
              </a:rPr>
              <a:t>“We’re open all week, 8:00 to 3:00.”</a:t>
            </a:r>
            <a:endParaRPr lang="en-US" sz="2400" dirty="0"/>
          </a:p>
        </p:txBody>
      </p:sp>
      <p:sp>
        <p:nvSpPr>
          <p:cNvPr id="30" name="Shape 27"/>
          <p:cNvSpPr/>
          <p:nvPr/>
        </p:nvSpPr>
        <p:spPr>
          <a:xfrm>
            <a:off x="548640" y="3703320"/>
            <a:ext cx="5440680" cy="1783080"/>
          </a:xfrm>
          <a:prstGeom prst="roundRect">
            <a:avLst>
              <a:gd name="adj" fmla="val 5128"/>
            </a:avLst>
          </a:prstGeom>
          <a:solidFill>
            <a:srgbClr val="F7F5F0"/>
          </a:solidFill>
          <a:ln w="12700">
            <a:solidFill>
              <a:srgbClr val="F7F5F0"/>
            </a:solidFill>
            <a:prstDash val="solid"/>
          </a:ln>
        </p:spPr>
      </p:sp>
      <p:sp>
        <p:nvSpPr>
          <p:cNvPr id="31" name="Text 28"/>
          <p:cNvSpPr/>
          <p:nvPr/>
        </p:nvSpPr>
        <p:spPr>
          <a:xfrm>
            <a:off x="868680" y="3886200"/>
            <a:ext cx="4754880" cy="274320"/>
          </a:xfrm>
          <a:prstGeom prst="rect">
            <a:avLst/>
          </a:prstGeom>
          <a:noFill/>
          <a:ln/>
        </p:spPr>
        <p:txBody>
          <a:bodyPr wrap="square" lIns="0" tIns="0" rIns="0" bIns="0" rtlCol="0" anchor="ctr"/>
          <a:lstStyle/>
          <a:p>
            <a:pPr indent="0" marL="0">
              <a:buNone/>
            </a:pPr>
            <a:r>
              <a:rPr lang="en-US" sz="1100" b="1" spc="160" kern="0" dirty="0">
                <a:solidFill>
                  <a:srgbClr val="13293D"/>
                </a:solidFill>
                <a:latin typeface="Inter" pitchFamily="34" charset="0"/>
                <a:ea typeface="Inter" pitchFamily="34" charset="-122"/>
                <a:cs typeface="Inter" pitchFamily="34" charset="-120"/>
              </a:rPr>
              <a:t>WHAT THE FLYER SAYS</a:t>
            </a:r>
            <a:endParaRPr lang="en-US" sz="1100" dirty="0"/>
          </a:p>
        </p:txBody>
      </p:sp>
      <p:sp>
        <p:nvSpPr>
          <p:cNvPr id="32" name="Text 29"/>
          <p:cNvSpPr/>
          <p:nvPr/>
        </p:nvSpPr>
        <p:spPr>
          <a:xfrm>
            <a:off x="868680" y="4279392"/>
            <a:ext cx="4754880" cy="1051560"/>
          </a:xfrm>
          <a:prstGeom prst="rect">
            <a:avLst/>
          </a:prstGeom>
          <a:noFill/>
          <a:ln/>
        </p:spPr>
        <p:txBody>
          <a:bodyPr wrap="square" lIns="0" tIns="0" rIns="0" bIns="0" rtlCol="0" anchor="t"/>
          <a:lstStyle/>
          <a:p>
            <a:pPr indent="0" marL="0">
              <a:lnSpc>
                <a:spcPct val="115000"/>
              </a:lnSpc>
              <a:buNone/>
            </a:pPr>
            <a:r>
              <a:rPr lang="en-US" sz="1800" dirty="0">
                <a:solidFill>
                  <a:srgbClr val="1B1F24"/>
                </a:solidFill>
                <a:latin typeface="Inter" pitchFamily="34" charset="0"/>
                <a:ea typeface="Inter" pitchFamily="34" charset="-122"/>
                <a:cs typeface="Inter" pitchFamily="34" charset="-120"/>
              </a:rPr>
              <a:t>Tuesday and Thursday, 3:00 to 6:30, so working families can come after school.</a:t>
            </a:r>
            <a:endParaRPr lang="en-US" sz="1800" dirty="0"/>
          </a:p>
        </p:txBody>
      </p:sp>
      <p:sp>
        <p:nvSpPr>
          <p:cNvPr id="33" name="Shape 30"/>
          <p:cNvSpPr/>
          <p:nvPr/>
        </p:nvSpPr>
        <p:spPr>
          <a:xfrm>
            <a:off x="6172200" y="3703320"/>
            <a:ext cx="5440680" cy="1783080"/>
          </a:xfrm>
          <a:prstGeom prst="roundRect">
            <a:avLst>
              <a:gd name="adj" fmla="val 5128"/>
            </a:avLst>
          </a:prstGeom>
          <a:solidFill>
            <a:srgbClr val="F7F5F0"/>
          </a:solidFill>
          <a:ln w="12700">
            <a:solidFill>
              <a:srgbClr val="F7F5F0"/>
            </a:solidFill>
            <a:prstDash val="solid"/>
          </a:ln>
        </p:spPr>
      </p:sp>
      <p:sp>
        <p:nvSpPr>
          <p:cNvPr id="34" name="Text 31"/>
          <p:cNvSpPr/>
          <p:nvPr/>
        </p:nvSpPr>
        <p:spPr>
          <a:xfrm>
            <a:off x="6492240" y="3886200"/>
            <a:ext cx="4754880" cy="274320"/>
          </a:xfrm>
          <a:prstGeom prst="rect">
            <a:avLst/>
          </a:prstGeom>
          <a:noFill/>
          <a:ln/>
        </p:spPr>
        <p:txBody>
          <a:bodyPr wrap="square" lIns="0" tIns="0" rIns="0" bIns="0" rtlCol="0" anchor="ctr"/>
          <a:lstStyle/>
          <a:p>
            <a:pPr indent="0" marL="0">
              <a:buNone/>
            </a:pPr>
            <a:r>
              <a:rPr lang="en-US" sz="1100" b="1" spc="160" kern="0" dirty="0">
                <a:solidFill>
                  <a:srgbClr val="13293D"/>
                </a:solidFill>
                <a:latin typeface="Inter" pitchFamily="34" charset="0"/>
                <a:ea typeface="Inter" pitchFamily="34" charset="-122"/>
                <a:cs typeface="Inter" pitchFamily="34" charset="-120"/>
              </a:rPr>
              <a:t>WHY IT HAPPENED</a:t>
            </a:r>
            <a:endParaRPr lang="en-US" sz="1100" dirty="0"/>
          </a:p>
        </p:txBody>
      </p:sp>
      <p:sp>
        <p:nvSpPr>
          <p:cNvPr id="35" name="Text 32"/>
          <p:cNvSpPr/>
          <p:nvPr/>
        </p:nvSpPr>
        <p:spPr>
          <a:xfrm>
            <a:off x="6492240" y="4279392"/>
            <a:ext cx="4754880" cy="1051560"/>
          </a:xfrm>
          <a:prstGeom prst="rect">
            <a:avLst/>
          </a:prstGeom>
          <a:noFill/>
          <a:ln/>
        </p:spPr>
        <p:txBody>
          <a:bodyPr wrap="square" lIns="0" tIns="0" rIns="0" bIns="0" rtlCol="0" anchor="t"/>
          <a:lstStyle/>
          <a:p>
            <a:pPr indent="0" marL="0">
              <a:lnSpc>
                <a:spcPct val="115000"/>
              </a:lnSpc>
              <a:buNone/>
            </a:pPr>
            <a:r>
              <a:rPr lang="en-US" sz="1800" dirty="0">
                <a:solidFill>
                  <a:srgbClr val="1B1F24"/>
                </a:solidFill>
                <a:latin typeface="Inter" pitchFamily="34" charset="0"/>
                <a:ea typeface="Inter" pitchFamily="34" charset="-122"/>
                <a:cs typeface="Inter" pitchFamily="34" charset="-120"/>
              </a:rPr>
              <a:t>It filled a gap with something plausible, and two rounds of pushback did not catch it.</a:t>
            </a:r>
            <a:endParaRPr lang="en-US" sz="1800" dirty="0"/>
          </a:p>
        </p:txBody>
      </p:sp>
      <p:sp>
        <p:nvSpPr>
          <p:cNvPr id="36" name="Text 33"/>
          <p:cNvSpPr/>
          <p:nvPr/>
        </p:nvSpPr>
        <p:spPr>
          <a:xfrm>
            <a:off x="548640" y="5623560"/>
            <a:ext cx="1106424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She checked the flyer before she sent it. That read-through has your name on it.</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30</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2A9D8F"/>
          </a:solidFill>
          <a:ln w="12700">
            <a:solidFill>
              <a:srgbClr val="2A9D8F"/>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B07914"/>
                </a:solidFill>
                <a:latin typeface="Inter" pitchFamily="34" charset="0"/>
                <a:ea typeface="Inter" pitchFamily="34" charset="-122"/>
                <a:cs typeface="Inter" pitchFamily="34" charset="-120"/>
              </a:rPr>
              <a:t>ON MS. RIVERA’S SCREEN · THE FINISHED ARTIFACT</a:t>
            </a:r>
            <a:endParaRPr lang="en-US" sz="1000" dirty="0"/>
          </a:p>
        </p:txBody>
      </p:sp>
      <p:sp>
        <p:nvSpPr>
          <p:cNvPr id="20" name="Text 17"/>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This is the blurb she actually sent</a:t>
            </a:r>
            <a:endParaRPr lang="en-US" sz="3000" dirty="0"/>
          </a:p>
        </p:txBody>
      </p:sp>
      <p:sp>
        <p:nvSpPr>
          <p:cNvPr id="21" name="Shape 18"/>
          <p:cNvSpPr/>
          <p:nvPr/>
        </p:nvSpPr>
        <p:spPr>
          <a:xfrm>
            <a:off x="640080" y="1463040"/>
            <a:ext cx="10972800" cy="3703320"/>
          </a:xfrm>
          <a:prstGeom prst="roundRect">
            <a:avLst>
              <a:gd name="adj" fmla="val 2469"/>
            </a:avLst>
          </a:prstGeom>
          <a:solidFill>
            <a:srgbClr val="FFFFFF"/>
          </a:solidFill>
          <a:ln w="19050">
            <a:solidFill>
              <a:srgbClr val="DCE3EA"/>
            </a:solidFill>
            <a:prstDash val="solid"/>
          </a:ln>
        </p:spPr>
      </p:sp>
      <p:sp>
        <p:nvSpPr>
          <p:cNvPr id="22" name="Shape 19"/>
          <p:cNvSpPr/>
          <p:nvPr/>
        </p:nvSpPr>
        <p:spPr>
          <a:xfrm>
            <a:off x="640080" y="1463040"/>
            <a:ext cx="10972800" cy="384048"/>
          </a:xfrm>
          <a:prstGeom prst="roundRect">
            <a:avLst>
              <a:gd name="adj" fmla="val 23810"/>
            </a:avLst>
          </a:prstGeom>
          <a:solidFill>
            <a:srgbClr val="13293D"/>
          </a:solidFill>
          <a:ln w="12700">
            <a:solidFill>
              <a:srgbClr val="13293D"/>
            </a:solidFill>
            <a:prstDash val="solid"/>
          </a:ln>
        </p:spPr>
      </p:sp>
      <p:sp>
        <p:nvSpPr>
          <p:cNvPr id="23" name="Shape 20"/>
          <p:cNvSpPr/>
          <p:nvPr/>
        </p:nvSpPr>
        <p:spPr>
          <a:xfrm>
            <a:off x="868680" y="1581912"/>
            <a:ext cx="146304" cy="146304"/>
          </a:xfrm>
          <a:prstGeom prst="ellipse">
            <a:avLst/>
          </a:prstGeom>
          <a:solidFill>
            <a:srgbClr val="E8837A"/>
          </a:solidFill>
          <a:ln w="12700">
            <a:solidFill>
              <a:srgbClr val="E8837A"/>
            </a:solidFill>
            <a:prstDash val="solid"/>
          </a:ln>
        </p:spPr>
      </p:sp>
      <p:sp>
        <p:nvSpPr>
          <p:cNvPr id="24" name="Shape 21"/>
          <p:cNvSpPr/>
          <p:nvPr/>
        </p:nvSpPr>
        <p:spPr>
          <a:xfrm>
            <a:off x="1115568" y="1581912"/>
            <a:ext cx="146304" cy="146304"/>
          </a:xfrm>
          <a:prstGeom prst="ellipse">
            <a:avLst/>
          </a:prstGeom>
          <a:solidFill>
            <a:srgbClr val="F4A825"/>
          </a:solidFill>
          <a:ln w="12700">
            <a:solidFill>
              <a:srgbClr val="F4A825"/>
            </a:solidFill>
            <a:prstDash val="solid"/>
          </a:ln>
        </p:spPr>
      </p:sp>
      <p:sp>
        <p:nvSpPr>
          <p:cNvPr id="25" name="Shape 22"/>
          <p:cNvSpPr/>
          <p:nvPr/>
        </p:nvSpPr>
        <p:spPr>
          <a:xfrm>
            <a:off x="1362456" y="1581912"/>
            <a:ext cx="146304" cy="146304"/>
          </a:xfrm>
          <a:prstGeom prst="ellipse">
            <a:avLst/>
          </a:prstGeom>
          <a:solidFill>
            <a:srgbClr val="2E7D5B"/>
          </a:solidFill>
          <a:ln w="12700">
            <a:solidFill>
              <a:srgbClr val="2E7D5B"/>
            </a:solidFill>
            <a:prstDash val="solid"/>
          </a:ln>
        </p:spPr>
      </p:sp>
      <p:sp>
        <p:nvSpPr>
          <p:cNvPr id="26" name="Text 23"/>
          <p:cNvSpPr/>
          <p:nvPr/>
        </p:nvSpPr>
        <p:spPr>
          <a:xfrm>
            <a:off x="1783080" y="146304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7" name="Text 24"/>
          <p:cNvSpPr/>
          <p:nvPr/>
        </p:nvSpPr>
        <p:spPr>
          <a:xfrm>
            <a:off x="1554480" y="1938528"/>
            <a:ext cx="9646920" cy="256032"/>
          </a:xfrm>
          <a:prstGeom prst="rect">
            <a:avLst/>
          </a:prstGeom>
          <a:noFill/>
          <a:ln/>
        </p:spPr>
        <p:txBody>
          <a:bodyPr wrap="square" lIns="0" tIns="0" rIns="0" bIns="0" rtlCol="0" anchor="ctr"/>
          <a:lstStyle/>
          <a:p>
            <a:pPr indent="0" marL="0">
              <a:buNone/>
            </a:pPr>
            <a:r>
              <a:rPr lang="en-US" sz="1100" b="1" spc="150" kern="0" dirty="0">
                <a:solidFill>
                  <a:srgbClr val="2E7D5B"/>
                </a:solidFill>
                <a:latin typeface="Inter" pitchFamily="34" charset="0"/>
                <a:ea typeface="Inter" pitchFamily="34" charset="-122"/>
                <a:cs typeface="Inter" pitchFamily="34" charset="-120"/>
              </a:rPr>
              <a:t>WHAT SHE SENT · EVERY DETAIL CHECKED FIRST</a:t>
            </a:r>
            <a:endParaRPr lang="en-US" sz="1100" dirty="0"/>
          </a:p>
        </p:txBody>
      </p:sp>
      <p:sp>
        <p:nvSpPr>
          <p:cNvPr id="28" name="Shape 25"/>
          <p:cNvSpPr/>
          <p:nvPr/>
        </p:nvSpPr>
        <p:spPr>
          <a:xfrm>
            <a:off x="1554480" y="2267712"/>
            <a:ext cx="9646920" cy="2697480"/>
          </a:xfrm>
          <a:prstGeom prst="roundRect">
            <a:avLst>
              <a:gd name="adj" fmla="val 4068"/>
            </a:avLst>
          </a:prstGeom>
          <a:solidFill>
            <a:srgbClr val="F7F5F0"/>
          </a:solidFill>
          <a:ln w="12700">
            <a:solidFill>
              <a:srgbClr val="F7F5F0"/>
            </a:solidFill>
            <a:prstDash val="solid"/>
          </a:ln>
        </p:spPr>
      </p:sp>
      <p:sp>
        <p:nvSpPr>
          <p:cNvPr id="29" name="Text 26"/>
          <p:cNvSpPr/>
          <p:nvPr/>
        </p:nvSpPr>
        <p:spPr>
          <a:xfrm>
            <a:off x="1783080" y="2377440"/>
            <a:ext cx="9189720" cy="2468880"/>
          </a:xfrm>
          <a:prstGeom prst="rect">
            <a:avLst/>
          </a:prstGeom>
          <a:noFill/>
          <a:ln/>
        </p:spPr>
        <p:txBody>
          <a:bodyPr wrap="square" lIns="0" tIns="0" rIns="0" bIns="0" rtlCol="0" anchor="ctr"/>
          <a:lstStyle/>
          <a:p>
            <a:pPr indent="0" marL="0">
              <a:lnSpc>
                <a:spcPct val="115000"/>
              </a:lnSpc>
              <a:buNone/>
            </a:pPr>
            <a:r>
              <a:rPr lang="en-US" sz="2000" dirty="0">
                <a:solidFill>
                  <a:srgbClr val="1B1F24"/>
                </a:solidFill>
                <a:latin typeface="Inter" pitchFamily="34" charset="0"/>
                <a:ea typeface="Inter" pitchFamily="34" charset="-122"/>
                <a:cs typeface="Inter" pitchFamily="34" charset="-120"/>
              </a:rPr>
              <a:t>“Families, our fall book fair is almost here. Stop by the library with your reader and help them pick a book they’ll actually love. We’re open Tuesday and Thursday, 3:00 to 6:30, so you can come together after school. Happy reading!”</a:t>
            </a:r>
            <a:endParaRPr lang="en-US" sz="2000" dirty="0"/>
          </a:p>
        </p:txBody>
      </p:sp>
      <p:sp>
        <p:nvSpPr>
          <p:cNvPr id="30" name="Text 27"/>
          <p:cNvSpPr/>
          <p:nvPr/>
        </p:nvSpPr>
        <p:spPr>
          <a:xfrm>
            <a:off x="548640" y="5349240"/>
            <a:ext cx="1106424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Beige v1, two pushbacks, one caught error, and nothing left in it she did not verify.</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31</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2A9D8F"/>
          </a:solidFill>
          <a:ln w="12700">
            <a:solidFill>
              <a:srgbClr val="2A9D8F"/>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her blurb: beige to usable</a:t>
            </a:r>
            <a:endParaRPr lang="en-US" sz="850" dirty="0"/>
          </a:p>
        </p:txBody>
      </p:sp>
      <p:sp>
        <p:nvSpPr>
          <p:cNvPr id="20" name="Shape 17"/>
          <p:cNvSpPr/>
          <p:nvPr/>
        </p:nvSpPr>
        <p:spPr>
          <a:xfrm>
            <a:off x="0" y="0"/>
            <a:ext cx="12188952" cy="1234440"/>
          </a:xfrm>
          <a:prstGeom prst="roundRect">
            <a:avLst>
              <a:gd name="adj" fmla="val 7407"/>
            </a:avLst>
          </a:prstGeom>
          <a:solidFill>
            <a:srgbClr val="F4A825"/>
          </a:solidFill>
          <a:ln w="12700">
            <a:solidFill>
              <a:srgbClr val="F4A825"/>
            </a:solidFill>
            <a:prstDash val="solid"/>
          </a:ln>
        </p:spPr>
      </p:sp>
      <p:sp>
        <p:nvSpPr>
          <p:cNvPr id="21" name="Text 18"/>
          <p:cNvSpPr/>
          <p:nvPr/>
        </p:nvSpPr>
        <p:spPr>
          <a:xfrm>
            <a:off x="566928" y="146304"/>
            <a:ext cx="3657600" cy="329184"/>
          </a:xfrm>
          <a:prstGeom prst="rect">
            <a:avLst/>
          </a:prstGeom>
          <a:noFill/>
          <a:ln/>
        </p:spPr>
        <p:txBody>
          <a:bodyPr wrap="square" lIns="0" tIns="0" rIns="0" bIns="0" rtlCol="0" anchor="ctr"/>
          <a:lstStyle/>
          <a:p>
            <a:pPr indent="0" marL="0">
              <a:buNone/>
            </a:pPr>
            <a:r>
              <a:rPr lang="en-US" sz="1300" b="1" spc="300" kern="0" dirty="0">
                <a:solidFill>
                  <a:srgbClr val="13293D"/>
                </a:solidFill>
                <a:latin typeface="Inter" pitchFamily="34" charset="0"/>
                <a:ea typeface="Inter" pitchFamily="34" charset="-122"/>
                <a:cs typeface="Inter" pitchFamily="34" charset="-120"/>
              </a:rPr>
              <a:t>DO NOW</a:t>
            </a:r>
            <a:endParaRPr lang="en-US" sz="1300" dirty="0"/>
          </a:p>
        </p:txBody>
      </p:sp>
      <p:sp>
        <p:nvSpPr>
          <p:cNvPr id="22" name="Text 19"/>
          <p:cNvSpPr/>
          <p:nvPr/>
        </p:nvSpPr>
        <p:spPr>
          <a:xfrm>
            <a:off x="566928" y="512064"/>
            <a:ext cx="11064240" cy="566928"/>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Tell the room what surprised you in the lab</a:t>
            </a:r>
            <a:endParaRPr lang="en-US" sz="2800" dirty="0"/>
          </a:p>
        </p:txBody>
      </p:sp>
      <p:sp>
        <p:nvSpPr>
          <p:cNvPr id="23" name="Shape 20"/>
          <p:cNvSpPr/>
          <p:nvPr/>
        </p:nvSpPr>
        <p:spPr>
          <a:xfrm>
            <a:off x="548640" y="1554480"/>
            <a:ext cx="11064240" cy="868680"/>
          </a:xfrm>
          <a:prstGeom prst="roundRect">
            <a:avLst>
              <a:gd name="adj" fmla="val 10526"/>
            </a:avLst>
          </a:prstGeom>
          <a:solidFill>
            <a:srgbClr val="F7F5F0"/>
          </a:solidFill>
          <a:ln w="12700">
            <a:solidFill>
              <a:srgbClr val="F7F5F0"/>
            </a:solidFill>
            <a:prstDash val="solid"/>
          </a:ln>
        </p:spPr>
      </p:sp>
      <p:sp>
        <p:nvSpPr>
          <p:cNvPr id="24" name="Text 21"/>
          <p:cNvSpPr/>
          <p:nvPr/>
        </p:nvSpPr>
        <p:spPr>
          <a:xfrm>
            <a:off x="914400" y="1554480"/>
            <a:ext cx="10332720" cy="868680"/>
          </a:xfrm>
          <a:prstGeom prst="rect">
            <a:avLst/>
          </a:prstGeom>
          <a:noFill/>
          <a:ln/>
        </p:spPr>
        <p:txBody>
          <a:bodyPr wrap="square" lIns="0" tIns="0" rIns="0" bIns="0" rtlCol="0" anchor="ctr"/>
          <a:lstStyle/>
          <a:p>
            <a:pPr indent="0" marL="0">
              <a:buNone/>
            </a:pPr>
            <a:r>
              <a:rPr lang="en-US" sz="2200" dirty="0">
                <a:solidFill>
                  <a:srgbClr val="1B1F24"/>
                </a:solidFill>
                <a:latin typeface="Inter" pitchFamily="34" charset="0"/>
                <a:ea typeface="Inter" pitchFamily="34" charset="-122"/>
                <a:cs typeface="Inter" pitchFamily="34" charset="-120"/>
              </a:rPr>
              <a:t>What surprised you?</a:t>
            </a:r>
            <a:endParaRPr lang="en-US" sz="2200" dirty="0"/>
          </a:p>
        </p:txBody>
      </p:sp>
      <p:sp>
        <p:nvSpPr>
          <p:cNvPr id="25" name="Shape 22"/>
          <p:cNvSpPr/>
          <p:nvPr/>
        </p:nvSpPr>
        <p:spPr>
          <a:xfrm>
            <a:off x="548640" y="2606040"/>
            <a:ext cx="11064240" cy="868680"/>
          </a:xfrm>
          <a:prstGeom prst="roundRect">
            <a:avLst>
              <a:gd name="adj" fmla="val 10526"/>
            </a:avLst>
          </a:prstGeom>
          <a:solidFill>
            <a:srgbClr val="F7F5F0"/>
          </a:solidFill>
          <a:ln w="12700">
            <a:solidFill>
              <a:srgbClr val="F7F5F0"/>
            </a:solidFill>
            <a:prstDash val="solid"/>
          </a:ln>
        </p:spPr>
      </p:sp>
      <p:sp>
        <p:nvSpPr>
          <p:cNvPr id="26" name="Text 23"/>
          <p:cNvSpPr/>
          <p:nvPr/>
        </p:nvSpPr>
        <p:spPr>
          <a:xfrm>
            <a:off x="914400" y="2606040"/>
            <a:ext cx="10332720" cy="868680"/>
          </a:xfrm>
          <a:prstGeom prst="rect">
            <a:avLst/>
          </a:prstGeom>
          <a:noFill/>
          <a:ln/>
        </p:spPr>
        <p:txBody>
          <a:bodyPr wrap="square" lIns="0" tIns="0" rIns="0" bIns="0" rtlCol="0" anchor="ctr"/>
          <a:lstStyle/>
          <a:p>
            <a:pPr indent="0" marL="0">
              <a:buNone/>
            </a:pPr>
            <a:r>
              <a:rPr lang="en-US" sz="2200" dirty="0">
                <a:solidFill>
                  <a:srgbClr val="1B1F24"/>
                </a:solidFill>
                <a:latin typeface="Inter" pitchFamily="34" charset="0"/>
                <a:ea typeface="Inter" pitchFamily="34" charset="-122"/>
                <a:cs typeface="Inter" pitchFamily="34" charset="-120"/>
              </a:rPr>
              <a:t>What was better than you expected, and what was worse?</a:t>
            </a:r>
            <a:endParaRPr lang="en-US" sz="2200" dirty="0"/>
          </a:p>
        </p:txBody>
      </p:sp>
      <p:sp>
        <p:nvSpPr>
          <p:cNvPr id="27" name="Shape 24"/>
          <p:cNvSpPr/>
          <p:nvPr/>
        </p:nvSpPr>
        <p:spPr>
          <a:xfrm>
            <a:off x="548640" y="3657600"/>
            <a:ext cx="11064240" cy="868680"/>
          </a:xfrm>
          <a:prstGeom prst="roundRect">
            <a:avLst>
              <a:gd name="adj" fmla="val 10526"/>
            </a:avLst>
          </a:prstGeom>
          <a:solidFill>
            <a:srgbClr val="EAF5F3"/>
          </a:solidFill>
          <a:ln w="12700">
            <a:solidFill>
              <a:srgbClr val="EAF5F3"/>
            </a:solidFill>
            <a:prstDash val="solid"/>
          </a:ln>
        </p:spPr>
      </p:sp>
      <p:sp>
        <p:nvSpPr>
          <p:cNvPr id="28" name="Text 25"/>
          <p:cNvSpPr/>
          <p:nvPr/>
        </p:nvSpPr>
        <p:spPr>
          <a:xfrm>
            <a:off x="914400" y="3657600"/>
            <a:ext cx="10332720" cy="86868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Did anyone catch it being wrong?</a:t>
            </a:r>
            <a:endParaRPr lang="en-US" sz="2200" dirty="0"/>
          </a:p>
        </p:txBody>
      </p:sp>
      <p:sp>
        <p:nvSpPr>
          <p:cNvPr id="29" name="Shape 26"/>
          <p:cNvSpPr/>
          <p:nvPr/>
        </p:nvSpPr>
        <p:spPr>
          <a:xfrm>
            <a:off x="548640" y="4937760"/>
            <a:ext cx="3538728" cy="1097280"/>
          </a:xfrm>
          <a:prstGeom prst="roundRect">
            <a:avLst>
              <a:gd name="adj" fmla="val 8333"/>
            </a:avLst>
          </a:prstGeom>
          <a:solidFill>
            <a:srgbClr val="F7F5F0"/>
          </a:solidFill>
          <a:ln w="12700">
            <a:solidFill>
              <a:srgbClr val="F7F5F0"/>
            </a:solidFill>
            <a:prstDash val="solid"/>
          </a:ln>
        </p:spPr>
      </p:sp>
      <p:sp>
        <p:nvSpPr>
          <p:cNvPr id="30" name="Text 27"/>
          <p:cNvSpPr/>
          <p:nvPr/>
        </p:nvSpPr>
        <p:spPr>
          <a:xfrm>
            <a:off x="777240" y="5029200"/>
            <a:ext cx="310896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WHAT YOU DO</a:t>
            </a:r>
            <a:endParaRPr lang="en-US" sz="1100" dirty="0"/>
          </a:p>
        </p:txBody>
      </p:sp>
      <p:sp>
        <p:nvSpPr>
          <p:cNvPr id="31" name="Text 28"/>
          <p:cNvSpPr/>
          <p:nvPr/>
        </p:nvSpPr>
        <p:spPr>
          <a:xfrm>
            <a:off x="777240" y="5340096"/>
            <a:ext cx="3108960" cy="621792"/>
          </a:xfrm>
          <a:prstGeom prst="rect">
            <a:avLst/>
          </a:prstGeom>
          <a:noFill/>
          <a:ln/>
        </p:spPr>
        <p:txBody>
          <a:bodyPr wrap="square" lIns="0" tIns="0" rIns="0" bIns="0" rtlCol="0" anchor="t"/>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Answer one of the three questions above, out loud.</a:t>
            </a:r>
            <a:endParaRPr lang="en-US" sz="1600" dirty="0"/>
          </a:p>
        </p:txBody>
      </p:sp>
      <p:sp>
        <p:nvSpPr>
          <p:cNvPr id="32" name="Shape 29"/>
          <p:cNvSpPr/>
          <p:nvPr/>
        </p:nvSpPr>
        <p:spPr>
          <a:xfrm>
            <a:off x="4325112" y="4937760"/>
            <a:ext cx="3538728" cy="1097280"/>
          </a:xfrm>
          <a:prstGeom prst="roundRect">
            <a:avLst>
              <a:gd name="adj" fmla="val 8333"/>
            </a:avLst>
          </a:prstGeom>
          <a:solidFill>
            <a:srgbClr val="F7F5F0"/>
          </a:solidFill>
          <a:ln w="12700">
            <a:solidFill>
              <a:srgbClr val="F7F5F0"/>
            </a:solidFill>
            <a:prstDash val="solid"/>
          </a:ln>
        </p:spPr>
      </p:sp>
      <p:sp>
        <p:nvSpPr>
          <p:cNvPr id="33" name="Text 30"/>
          <p:cNvSpPr/>
          <p:nvPr/>
        </p:nvSpPr>
        <p:spPr>
          <a:xfrm>
            <a:off x="4553712" y="5029200"/>
            <a:ext cx="310896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HOW LONG</a:t>
            </a:r>
            <a:endParaRPr lang="en-US" sz="1100" dirty="0"/>
          </a:p>
        </p:txBody>
      </p:sp>
      <p:sp>
        <p:nvSpPr>
          <p:cNvPr id="34" name="Text 31"/>
          <p:cNvSpPr/>
          <p:nvPr/>
        </p:nvSpPr>
        <p:spPr>
          <a:xfrm>
            <a:off x="4553712" y="5340096"/>
            <a:ext cx="3108960" cy="621792"/>
          </a:xfrm>
          <a:prstGeom prst="rect">
            <a:avLst/>
          </a:prstGeom>
          <a:noFill/>
          <a:ln/>
        </p:spPr>
        <p:txBody>
          <a:bodyPr wrap="square" lIns="0" tIns="0" rIns="0" bIns="0" rtlCol="0" anchor="t"/>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Three to four voices, about a minute each.</a:t>
            </a:r>
            <a:endParaRPr lang="en-US" sz="1600" dirty="0"/>
          </a:p>
        </p:txBody>
      </p:sp>
      <p:sp>
        <p:nvSpPr>
          <p:cNvPr id="35" name="Shape 32"/>
          <p:cNvSpPr/>
          <p:nvPr/>
        </p:nvSpPr>
        <p:spPr>
          <a:xfrm>
            <a:off x="8101584" y="4937760"/>
            <a:ext cx="3538728" cy="1097280"/>
          </a:xfrm>
          <a:prstGeom prst="roundRect">
            <a:avLst>
              <a:gd name="adj" fmla="val 8333"/>
            </a:avLst>
          </a:prstGeom>
          <a:solidFill>
            <a:srgbClr val="F7F5F0"/>
          </a:solidFill>
          <a:ln w="12700">
            <a:solidFill>
              <a:srgbClr val="F7F5F0"/>
            </a:solidFill>
            <a:prstDash val="solid"/>
          </a:ln>
        </p:spPr>
      </p:sp>
      <p:sp>
        <p:nvSpPr>
          <p:cNvPr id="36" name="Text 33"/>
          <p:cNvSpPr/>
          <p:nvPr/>
        </p:nvSpPr>
        <p:spPr>
          <a:xfrm>
            <a:off x="8330184" y="5029200"/>
            <a:ext cx="310896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DONE LOOKS LIKE</a:t>
            </a:r>
            <a:endParaRPr lang="en-US" sz="1100" dirty="0"/>
          </a:p>
        </p:txBody>
      </p:sp>
      <p:sp>
        <p:nvSpPr>
          <p:cNvPr id="37" name="Text 34"/>
          <p:cNvSpPr/>
          <p:nvPr/>
        </p:nvSpPr>
        <p:spPr>
          <a:xfrm>
            <a:off x="8330184" y="5340096"/>
            <a:ext cx="3108960" cy="621792"/>
          </a:xfrm>
          <a:prstGeom prst="rect">
            <a:avLst/>
          </a:prstGeom>
          <a:noFill/>
          <a:ln/>
        </p:spPr>
        <p:txBody>
          <a:bodyPr wrap="square" lIns="0" tIns="0" rIns="0" bIns="0" rtlCol="0" anchor="t"/>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The room has heard at least one real AI mistake named.</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32</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2A9D8F"/>
          </a:solidFill>
          <a:ln w="12700">
            <a:solidFill>
              <a:srgbClr val="2A9D8F"/>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one invented detail caught</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5B6B7A"/>
                </a:solidFill>
                <a:latin typeface="Inter" pitchFamily="34" charset="0"/>
                <a:ea typeface="Inter" pitchFamily="34" charset="-122"/>
                <a:cs typeface="Inter" pitchFamily="34" charset="-120"/>
              </a:rPr>
              <a:t>ANSWERS TO THE TASK ABOVE</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The first draft is rarely the good draft</a:t>
            </a:r>
            <a:endParaRPr lang="en-US" sz="3000" dirty="0"/>
          </a:p>
        </p:txBody>
      </p:sp>
      <p:sp>
        <p:nvSpPr>
          <p:cNvPr id="22" name="Shape 19"/>
          <p:cNvSpPr/>
          <p:nvPr/>
        </p:nvSpPr>
        <p:spPr>
          <a:xfrm>
            <a:off x="548640" y="1737360"/>
            <a:ext cx="5440680" cy="3200400"/>
          </a:xfrm>
          <a:prstGeom prst="roundRect">
            <a:avLst>
              <a:gd name="adj" fmla="val 2857"/>
            </a:avLst>
          </a:prstGeom>
          <a:solidFill>
            <a:srgbClr val="F7F5F0"/>
          </a:solidFill>
          <a:ln w="12700">
            <a:solidFill>
              <a:srgbClr val="F7F5F0"/>
            </a:solidFill>
            <a:prstDash val="solid"/>
          </a:ln>
        </p:spPr>
      </p:sp>
      <p:sp>
        <p:nvSpPr>
          <p:cNvPr id="23" name="Text 20"/>
          <p:cNvSpPr/>
          <p:nvPr/>
        </p:nvSpPr>
        <p:spPr>
          <a:xfrm>
            <a:off x="868680" y="1965960"/>
            <a:ext cx="475488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PATTERN ONE</a:t>
            </a:r>
            <a:endParaRPr lang="en-US" sz="1100" dirty="0"/>
          </a:p>
        </p:txBody>
      </p:sp>
      <p:sp>
        <p:nvSpPr>
          <p:cNvPr id="24" name="Text 21"/>
          <p:cNvSpPr/>
          <p:nvPr/>
        </p:nvSpPr>
        <p:spPr>
          <a:xfrm>
            <a:off x="868680" y="2377440"/>
            <a:ext cx="4754880" cy="1005840"/>
          </a:xfrm>
          <a:prstGeom prst="rect">
            <a:avLst/>
          </a:prstGeom>
          <a:noFill/>
          <a:ln/>
        </p:spPr>
        <p:txBody>
          <a:bodyPr wrap="square" lIns="0" tIns="0" rIns="0" bIns="0" rtlCol="0" anchor="t"/>
          <a:lstStyle/>
          <a:p>
            <a:pPr indent="0" marL="0">
              <a:lnSpc>
                <a:spcPct val="110000"/>
              </a:lnSpc>
              <a:buNone/>
            </a:pPr>
            <a:r>
              <a:rPr lang="en-US" sz="2300" b="1" dirty="0">
                <a:solidFill>
                  <a:srgbClr val="13293D"/>
                </a:solidFill>
                <a:latin typeface="Inter" pitchFamily="34" charset="0"/>
                <a:ea typeface="Inter" pitchFamily="34" charset="-122"/>
                <a:cs typeface="Inter" pitchFamily="34" charset="-120"/>
              </a:rPr>
              <a:t>The value shows up when you push back.</a:t>
            </a:r>
            <a:endParaRPr lang="en-US" sz="2300" dirty="0"/>
          </a:p>
        </p:txBody>
      </p:sp>
      <p:sp>
        <p:nvSpPr>
          <p:cNvPr id="25" name="Text 22"/>
          <p:cNvSpPr/>
          <p:nvPr/>
        </p:nvSpPr>
        <p:spPr>
          <a:xfrm>
            <a:off x="868680" y="3611880"/>
            <a:ext cx="4754880" cy="1097280"/>
          </a:xfrm>
          <a:prstGeom prst="rect">
            <a:avLst/>
          </a:prstGeom>
          <a:noFill/>
          <a:ln/>
        </p:spPr>
        <p:txBody>
          <a:bodyPr wrap="square" lIns="0" tIns="0" rIns="0" bIns="0" rtlCol="0" anchor="t"/>
          <a:lstStyle/>
          <a:p>
            <a:pPr indent="0" marL="0">
              <a:lnSpc>
                <a:spcPct val="115000"/>
              </a:lnSpc>
              <a:buNone/>
            </a:pPr>
            <a:r>
              <a:rPr lang="en-US" sz="1700" dirty="0">
                <a:solidFill>
                  <a:srgbClr val="1B1F24"/>
                </a:solidFill>
                <a:latin typeface="Inter" pitchFamily="34" charset="0"/>
                <a:ea typeface="Inter" pitchFamily="34" charset="-122"/>
                <a:cs typeface="Inter" pitchFamily="34" charset="-120"/>
              </a:rPr>
              <a:t>That is why the skill is called prompting and not wishing.</a:t>
            </a:r>
            <a:endParaRPr lang="en-US" sz="1700" dirty="0"/>
          </a:p>
        </p:txBody>
      </p:sp>
      <p:sp>
        <p:nvSpPr>
          <p:cNvPr id="26" name="Shape 23"/>
          <p:cNvSpPr/>
          <p:nvPr/>
        </p:nvSpPr>
        <p:spPr>
          <a:xfrm>
            <a:off x="6172200" y="1737360"/>
            <a:ext cx="5440680" cy="3200400"/>
          </a:xfrm>
          <a:prstGeom prst="roundRect">
            <a:avLst>
              <a:gd name="adj" fmla="val 2857"/>
            </a:avLst>
          </a:prstGeom>
          <a:solidFill>
            <a:srgbClr val="F7F5F0"/>
          </a:solidFill>
          <a:ln w="12700">
            <a:solidFill>
              <a:srgbClr val="F7F5F0"/>
            </a:solidFill>
            <a:prstDash val="solid"/>
          </a:ln>
        </p:spPr>
      </p:sp>
      <p:sp>
        <p:nvSpPr>
          <p:cNvPr id="27" name="Text 24"/>
          <p:cNvSpPr/>
          <p:nvPr/>
        </p:nvSpPr>
        <p:spPr>
          <a:xfrm>
            <a:off x="6492240" y="1965960"/>
            <a:ext cx="475488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PATTERN TWO</a:t>
            </a:r>
            <a:endParaRPr lang="en-US" sz="1100" dirty="0"/>
          </a:p>
        </p:txBody>
      </p:sp>
      <p:sp>
        <p:nvSpPr>
          <p:cNvPr id="28" name="Text 25"/>
          <p:cNvSpPr/>
          <p:nvPr/>
        </p:nvSpPr>
        <p:spPr>
          <a:xfrm>
            <a:off x="6492240" y="2377440"/>
            <a:ext cx="4754880" cy="1005840"/>
          </a:xfrm>
          <a:prstGeom prst="rect">
            <a:avLst/>
          </a:prstGeom>
          <a:noFill/>
          <a:ln/>
        </p:spPr>
        <p:txBody>
          <a:bodyPr wrap="square" lIns="0" tIns="0" rIns="0" bIns="0" rtlCol="0" anchor="t"/>
          <a:lstStyle/>
          <a:p>
            <a:pPr indent="0" marL="0">
              <a:lnSpc>
                <a:spcPct val="110000"/>
              </a:lnSpc>
              <a:buNone/>
            </a:pPr>
            <a:r>
              <a:rPr lang="en-US" sz="2300" b="1" dirty="0">
                <a:solidFill>
                  <a:srgbClr val="13293D"/>
                </a:solidFill>
                <a:latin typeface="Inter" pitchFamily="34" charset="0"/>
                <a:ea typeface="Inter" pitchFamily="34" charset="-122"/>
                <a:cs typeface="Inter" pitchFamily="34" charset="-120"/>
              </a:rPr>
              <a:t>Everything you just made still needs your eyes.</a:t>
            </a:r>
            <a:endParaRPr lang="en-US" sz="2300" dirty="0"/>
          </a:p>
        </p:txBody>
      </p:sp>
      <p:sp>
        <p:nvSpPr>
          <p:cNvPr id="29" name="Text 26"/>
          <p:cNvSpPr/>
          <p:nvPr/>
        </p:nvSpPr>
        <p:spPr>
          <a:xfrm>
            <a:off x="6492240" y="3611880"/>
            <a:ext cx="4754880" cy="1097280"/>
          </a:xfrm>
          <a:prstGeom prst="rect">
            <a:avLst/>
          </a:prstGeom>
          <a:noFill/>
          <a:ln/>
        </p:spPr>
        <p:txBody>
          <a:bodyPr wrap="square" lIns="0" tIns="0" rIns="0" bIns="0" rtlCol="0" anchor="t"/>
          <a:lstStyle/>
          <a:p>
            <a:pPr indent="0" marL="0">
              <a:lnSpc>
                <a:spcPct val="115000"/>
              </a:lnSpc>
              <a:buNone/>
            </a:pPr>
            <a:r>
              <a:rPr lang="en-US" sz="1700" dirty="0">
                <a:solidFill>
                  <a:srgbClr val="1B1F24"/>
                </a:solidFill>
                <a:latin typeface="Inter" pitchFamily="34" charset="0"/>
                <a:ea typeface="Inter" pitchFamily="34" charset="-122"/>
                <a:cs typeface="Inter" pitchFamily="34" charset="-120"/>
              </a:rPr>
              <a:t>It is fast, it is fluent, and it is unsigned until a professional signs it.</a:t>
            </a:r>
            <a:endParaRPr lang="en-US" sz="1700" dirty="0"/>
          </a:p>
        </p:txBody>
      </p:sp>
      <p:sp>
        <p:nvSpPr>
          <p:cNvPr id="30" name="Shape 27"/>
          <p:cNvSpPr/>
          <p:nvPr/>
        </p:nvSpPr>
        <p:spPr>
          <a:xfrm>
            <a:off x="548640" y="5212080"/>
            <a:ext cx="11064240" cy="566928"/>
          </a:xfrm>
          <a:prstGeom prst="roundRect">
            <a:avLst>
              <a:gd name="adj" fmla="val 16129"/>
            </a:avLst>
          </a:prstGeom>
          <a:solidFill>
            <a:srgbClr val="F7F5F0"/>
          </a:solidFill>
          <a:ln w="12700">
            <a:solidFill>
              <a:srgbClr val="F7F5F0"/>
            </a:solidFill>
            <a:prstDash val="solid"/>
          </a:ln>
        </p:spPr>
      </p:sp>
      <p:sp>
        <p:nvSpPr>
          <p:cNvPr id="31" name="Text 28"/>
          <p:cNvSpPr/>
          <p:nvPr/>
        </p:nvSpPr>
        <p:spPr>
          <a:xfrm>
            <a:off x="868680" y="5212080"/>
            <a:ext cx="10424160" cy="566928"/>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Which is the last big idea of the day.</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33</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2A9D8F"/>
          </a:solidFill>
          <a:ln w="12700">
            <a:solidFill>
              <a:srgbClr val="2A9D8F"/>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nothing goes out unread</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2A9D8F"/>
                </a:solidFill>
                <a:latin typeface="Inter" pitchFamily="34" charset="0"/>
                <a:ea typeface="Inter" pitchFamily="34" charset="-122"/>
                <a:cs typeface="Inter" pitchFamily="34" charset="-120"/>
              </a:rPr>
              <a:t>KEEP THIS</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Nothing AI-drafted reaches a student or parent unread</a:t>
            </a:r>
            <a:endParaRPr lang="en-US" sz="3000" dirty="0"/>
          </a:p>
        </p:txBody>
      </p:sp>
      <p:sp>
        <p:nvSpPr>
          <p:cNvPr id="22" name="Shape 19"/>
          <p:cNvSpPr/>
          <p:nvPr/>
        </p:nvSpPr>
        <p:spPr>
          <a:xfrm>
            <a:off x="548640" y="1737360"/>
            <a:ext cx="11064240" cy="2103120"/>
          </a:xfrm>
          <a:prstGeom prst="roundRect">
            <a:avLst>
              <a:gd name="adj" fmla="val 4348"/>
            </a:avLst>
          </a:prstGeom>
          <a:solidFill>
            <a:srgbClr val="F7F5F0"/>
          </a:solidFill>
          <a:ln w="12700">
            <a:solidFill>
              <a:srgbClr val="F7F5F0"/>
            </a:solidFill>
            <a:prstDash val="solid"/>
          </a:ln>
        </p:spPr>
      </p:sp>
      <p:sp>
        <p:nvSpPr>
          <p:cNvPr id="23" name="Shape 20"/>
          <p:cNvSpPr/>
          <p:nvPr/>
        </p:nvSpPr>
        <p:spPr>
          <a:xfrm>
            <a:off x="548640" y="1737360"/>
            <a:ext cx="82296" cy="2103120"/>
          </a:xfrm>
          <a:prstGeom prst="rect">
            <a:avLst/>
          </a:prstGeom>
          <a:solidFill>
            <a:srgbClr val="2A9D8F"/>
          </a:solidFill>
          <a:ln w="12700">
            <a:solidFill>
              <a:srgbClr val="2A9D8F"/>
            </a:solidFill>
            <a:prstDash val="solid"/>
          </a:ln>
        </p:spPr>
      </p:sp>
      <p:sp>
        <p:nvSpPr>
          <p:cNvPr id="24" name="Text 21"/>
          <p:cNvSpPr/>
          <p:nvPr/>
        </p:nvSpPr>
        <p:spPr>
          <a:xfrm>
            <a:off x="1051560" y="1938528"/>
            <a:ext cx="10058400" cy="1143000"/>
          </a:xfrm>
          <a:prstGeom prst="rect">
            <a:avLst/>
          </a:prstGeom>
          <a:noFill/>
          <a:ln/>
        </p:spPr>
        <p:txBody>
          <a:bodyPr wrap="square" lIns="0" tIns="0" rIns="0" bIns="0" rtlCol="0" anchor="ctr"/>
          <a:lstStyle/>
          <a:p>
            <a:pPr indent="0" marL="0">
              <a:lnSpc>
                <a:spcPct val="108000"/>
              </a:lnSpc>
              <a:buNone/>
            </a:pPr>
            <a:r>
              <a:rPr lang="en-US" sz="3000" b="1" dirty="0">
                <a:solidFill>
                  <a:srgbClr val="13293D"/>
                </a:solidFill>
                <a:latin typeface="Inter" pitchFamily="34" charset="0"/>
                <a:ea typeface="Inter" pitchFamily="34" charset="-122"/>
                <a:cs typeface="Inter" pitchFamily="34" charset="-120"/>
              </a:rPr>
              <a:t>A human reads it before it goes out. Every time.</a:t>
            </a:r>
            <a:endParaRPr lang="en-US" sz="3000" dirty="0"/>
          </a:p>
        </p:txBody>
      </p:sp>
      <p:sp>
        <p:nvSpPr>
          <p:cNvPr id="25" name="Text 22"/>
          <p:cNvSpPr/>
          <p:nvPr/>
        </p:nvSpPr>
        <p:spPr>
          <a:xfrm>
            <a:off x="1051560" y="3127248"/>
            <a:ext cx="10058400" cy="64008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Not because it is usually wrong, but because sometimes it is, and your name is on it.</a:t>
            </a:r>
            <a:endParaRPr lang="en-US" sz="1700" dirty="0"/>
          </a:p>
        </p:txBody>
      </p:sp>
      <p:sp>
        <p:nvSpPr>
          <p:cNvPr id="26" name="Shape 23"/>
          <p:cNvSpPr/>
          <p:nvPr/>
        </p:nvSpPr>
        <p:spPr>
          <a:xfrm>
            <a:off x="548640" y="4114800"/>
            <a:ext cx="5440680" cy="1463040"/>
          </a:xfrm>
          <a:prstGeom prst="roundRect">
            <a:avLst>
              <a:gd name="adj" fmla="val 6250"/>
            </a:avLst>
          </a:prstGeom>
          <a:solidFill>
            <a:srgbClr val="F7F5F0"/>
          </a:solidFill>
          <a:ln w="12700">
            <a:solidFill>
              <a:srgbClr val="F7F5F0"/>
            </a:solidFill>
            <a:prstDash val="solid"/>
          </a:ln>
        </p:spPr>
      </p:sp>
      <p:sp>
        <p:nvSpPr>
          <p:cNvPr id="27" name="Text 24"/>
          <p:cNvSpPr/>
          <p:nvPr/>
        </p:nvSpPr>
        <p:spPr>
          <a:xfrm>
            <a:off x="868680" y="4114800"/>
            <a:ext cx="4800600" cy="1463040"/>
          </a:xfrm>
          <a:prstGeom prst="rect">
            <a:avLst/>
          </a:prstGeom>
          <a:noFill/>
          <a:ln/>
        </p:spPr>
        <p:txBody>
          <a:bodyPr wrap="square" lIns="0" tIns="0" rIns="0" bIns="0" rtlCol="0" anchor="ctr"/>
          <a:lstStyle/>
          <a:p>
            <a:pPr indent="0" marL="0">
              <a:lnSpc>
                <a:spcPct val="115000"/>
              </a:lnSpc>
              <a:buNone/>
            </a:pPr>
            <a:r>
              <a:rPr lang="en-US" sz="1700" dirty="0">
                <a:solidFill>
                  <a:srgbClr val="1B1F24"/>
                </a:solidFill>
                <a:latin typeface="Inter" pitchFamily="34" charset="0"/>
                <a:ea typeface="Inter" pitchFamily="34" charset="-122"/>
                <a:cs typeface="Inter" pitchFamily="34" charset="-120"/>
              </a:rPr>
              <a:t>Federal guidance says it in three words: keep humans in the loop. (U.S. Dept. of Education, 2023)</a:t>
            </a:r>
            <a:endParaRPr lang="en-US" sz="1700" dirty="0"/>
          </a:p>
        </p:txBody>
      </p:sp>
      <p:sp>
        <p:nvSpPr>
          <p:cNvPr id="28" name="Shape 25"/>
          <p:cNvSpPr/>
          <p:nvPr/>
        </p:nvSpPr>
        <p:spPr>
          <a:xfrm>
            <a:off x="6172200" y="4114800"/>
            <a:ext cx="5440680" cy="1463040"/>
          </a:xfrm>
          <a:prstGeom prst="roundRect">
            <a:avLst>
              <a:gd name="adj" fmla="val 6250"/>
            </a:avLst>
          </a:prstGeom>
          <a:solidFill>
            <a:srgbClr val="EAF5F3"/>
          </a:solidFill>
          <a:ln w="12700">
            <a:solidFill>
              <a:srgbClr val="EAF5F3"/>
            </a:solidFill>
            <a:prstDash val="solid"/>
          </a:ln>
        </p:spPr>
      </p:sp>
      <p:sp>
        <p:nvSpPr>
          <p:cNvPr id="29" name="Text 26"/>
          <p:cNvSpPr/>
          <p:nvPr/>
        </p:nvSpPr>
        <p:spPr>
          <a:xfrm>
            <a:off x="6492240" y="4114800"/>
            <a:ext cx="4800600" cy="1463040"/>
          </a:xfrm>
          <a:prstGeom prst="rect">
            <a:avLst/>
          </a:prstGeom>
          <a:noFill/>
          <a:ln/>
        </p:spPr>
        <p:txBody>
          <a:bodyPr wrap="square" lIns="0" tIns="0" rIns="0" bIns="0" rtlCol="0" anchor="ctr"/>
          <a:lstStyle/>
          <a:p>
            <a:pPr indent="0" marL="0">
              <a:lnSpc>
                <a:spcPct val="115000"/>
              </a:lnSpc>
              <a:buNone/>
            </a:pPr>
            <a:r>
              <a:rPr lang="en-US" sz="2000" b="1" dirty="0">
                <a:solidFill>
                  <a:srgbClr val="13293D"/>
                </a:solidFill>
                <a:latin typeface="Inter" pitchFamily="34" charset="0"/>
                <a:ea typeface="Inter" pitchFamily="34" charset="-122"/>
                <a:cs typeface="Inter" pitchFamily="34" charset="-120"/>
              </a:rPr>
              <a:t>In this building: AI drafts, the teacher decides. Always.</a:t>
            </a:r>
            <a:endParaRPr lang="en-US" sz="2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34</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2A9D8F"/>
          </a:solidFill>
          <a:ln w="12700">
            <a:solidFill>
              <a:srgbClr val="2A9D8F"/>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guarding her own voice</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2A9D8F"/>
                </a:solidFill>
                <a:latin typeface="Inter" pitchFamily="34" charset="0"/>
                <a:ea typeface="Inter" pitchFamily="34" charset="-122"/>
                <a:cs typeface="Inter" pitchFamily="34" charset="-120"/>
              </a:rPr>
              <a:t>CLAIM · TRUST REQUIRES HONESTY</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Over-reliance, sameness and drift are real risks</a:t>
            </a:r>
            <a:endParaRPr lang="en-US" sz="3000" dirty="0"/>
          </a:p>
        </p:txBody>
      </p:sp>
      <p:sp>
        <p:nvSpPr>
          <p:cNvPr id="22" name="Shape 19"/>
          <p:cNvSpPr/>
          <p:nvPr/>
        </p:nvSpPr>
        <p:spPr>
          <a:xfrm>
            <a:off x="548640" y="1691640"/>
            <a:ext cx="3538728" cy="3291840"/>
          </a:xfrm>
          <a:prstGeom prst="roundRect">
            <a:avLst>
              <a:gd name="adj" fmla="val 2778"/>
            </a:avLst>
          </a:prstGeom>
          <a:solidFill>
            <a:srgbClr val="F7F5F0"/>
          </a:solidFill>
          <a:ln w="12700">
            <a:solidFill>
              <a:srgbClr val="F7F5F0"/>
            </a:solidFill>
            <a:prstDash val="solid"/>
          </a:ln>
        </p:spPr>
      </p:sp>
      <p:sp>
        <p:nvSpPr>
          <p:cNvPr id="23" name="Text 20"/>
          <p:cNvSpPr/>
          <p:nvPr/>
        </p:nvSpPr>
        <p:spPr>
          <a:xfrm>
            <a:off x="804672" y="1920240"/>
            <a:ext cx="3063240" cy="50292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Over-reliance</a:t>
            </a:r>
            <a:endParaRPr lang="en-US" sz="2100" dirty="0"/>
          </a:p>
        </p:txBody>
      </p:sp>
      <p:sp>
        <p:nvSpPr>
          <p:cNvPr id="24" name="Text 21"/>
          <p:cNvSpPr/>
          <p:nvPr/>
        </p:nvSpPr>
        <p:spPr>
          <a:xfrm>
            <a:off x="804672" y="2560320"/>
            <a:ext cx="3063240" cy="2148840"/>
          </a:xfrm>
          <a:prstGeom prst="rect">
            <a:avLst/>
          </a:prstGeom>
          <a:noFill/>
          <a:ln/>
        </p:spPr>
        <p:txBody>
          <a:bodyPr wrap="square" lIns="0" tIns="0" rIns="0" bIns="0" rtlCol="0" anchor="t"/>
          <a:lstStyle/>
          <a:p>
            <a:pPr indent="0" marL="0">
              <a:lnSpc>
                <a:spcPct val="120000"/>
              </a:lnSpc>
              <a:buNone/>
            </a:pPr>
            <a:r>
              <a:rPr lang="en-US" sz="1700" dirty="0">
                <a:solidFill>
                  <a:srgbClr val="1B1F24"/>
                </a:solidFill>
                <a:latin typeface="Inter" pitchFamily="34" charset="0"/>
                <a:ea typeface="Inter" pitchFamily="34" charset="-122"/>
                <a:cs typeface="Inter" pitchFamily="34" charset="-120"/>
              </a:rPr>
              <a:t>If the tool writes everything, your writing muscle atrophies. Students’ too.</a:t>
            </a:r>
            <a:endParaRPr lang="en-US" sz="1700" dirty="0"/>
          </a:p>
        </p:txBody>
      </p:sp>
      <p:sp>
        <p:nvSpPr>
          <p:cNvPr id="25" name="Shape 22"/>
          <p:cNvSpPr/>
          <p:nvPr/>
        </p:nvSpPr>
        <p:spPr>
          <a:xfrm>
            <a:off x="4325112" y="1691640"/>
            <a:ext cx="3538728" cy="3291840"/>
          </a:xfrm>
          <a:prstGeom prst="roundRect">
            <a:avLst>
              <a:gd name="adj" fmla="val 2778"/>
            </a:avLst>
          </a:prstGeom>
          <a:solidFill>
            <a:srgbClr val="F7F5F0"/>
          </a:solidFill>
          <a:ln w="12700">
            <a:solidFill>
              <a:srgbClr val="F7F5F0"/>
            </a:solidFill>
            <a:prstDash val="solid"/>
          </a:ln>
        </p:spPr>
      </p:sp>
      <p:sp>
        <p:nvSpPr>
          <p:cNvPr id="26" name="Text 23"/>
          <p:cNvSpPr/>
          <p:nvPr/>
        </p:nvSpPr>
        <p:spPr>
          <a:xfrm>
            <a:off x="4581144" y="1920240"/>
            <a:ext cx="3063240" cy="50292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Sameness</a:t>
            </a:r>
            <a:endParaRPr lang="en-US" sz="2100" dirty="0"/>
          </a:p>
        </p:txBody>
      </p:sp>
      <p:sp>
        <p:nvSpPr>
          <p:cNvPr id="27" name="Text 24"/>
          <p:cNvSpPr/>
          <p:nvPr/>
        </p:nvSpPr>
        <p:spPr>
          <a:xfrm>
            <a:off x="4581144" y="2560320"/>
            <a:ext cx="3063240" cy="2148840"/>
          </a:xfrm>
          <a:prstGeom prst="rect">
            <a:avLst/>
          </a:prstGeom>
          <a:noFill/>
          <a:ln/>
        </p:spPr>
        <p:txBody>
          <a:bodyPr wrap="square" lIns="0" tIns="0" rIns="0" bIns="0" rtlCol="0" anchor="t"/>
          <a:lstStyle/>
          <a:p>
            <a:pPr indent="0" marL="0">
              <a:lnSpc>
                <a:spcPct val="120000"/>
              </a:lnSpc>
              <a:buNone/>
            </a:pPr>
            <a:r>
              <a:rPr lang="en-US" sz="1700" dirty="0">
                <a:solidFill>
                  <a:srgbClr val="1B1F24"/>
                </a:solidFill>
                <a:latin typeface="Inter" pitchFamily="34" charset="0"/>
                <a:ea typeface="Inter" pitchFamily="34" charset="-122"/>
                <a:cs typeface="Inter" pitchFamily="34" charset="-120"/>
              </a:rPr>
              <a:t>AI output has a beige, everyone-sounds-alike quality. Your voice is worth protecting.</a:t>
            </a:r>
            <a:endParaRPr lang="en-US" sz="1700" dirty="0"/>
          </a:p>
        </p:txBody>
      </p:sp>
      <p:sp>
        <p:nvSpPr>
          <p:cNvPr id="28" name="Shape 25"/>
          <p:cNvSpPr/>
          <p:nvPr/>
        </p:nvSpPr>
        <p:spPr>
          <a:xfrm>
            <a:off x="8101584" y="1691640"/>
            <a:ext cx="3538728" cy="3291840"/>
          </a:xfrm>
          <a:prstGeom prst="roundRect">
            <a:avLst>
              <a:gd name="adj" fmla="val 2778"/>
            </a:avLst>
          </a:prstGeom>
          <a:solidFill>
            <a:srgbClr val="F7F5F0"/>
          </a:solidFill>
          <a:ln w="12700">
            <a:solidFill>
              <a:srgbClr val="F7F5F0"/>
            </a:solidFill>
            <a:prstDash val="solid"/>
          </a:ln>
        </p:spPr>
      </p:sp>
      <p:sp>
        <p:nvSpPr>
          <p:cNvPr id="29" name="Text 26"/>
          <p:cNvSpPr/>
          <p:nvPr/>
        </p:nvSpPr>
        <p:spPr>
          <a:xfrm>
            <a:off x="8357616" y="1920240"/>
            <a:ext cx="3063240" cy="50292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Drift</a:t>
            </a:r>
            <a:endParaRPr lang="en-US" sz="2100" dirty="0"/>
          </a:p>
        </p:txBody>
      </p:sp>
      <p:sp>
        <p:nvSpPr>
          <p:cNvPr id="30" name="Text 27"/>
          <p:cNvSpPr/>
          <p:nvPr/>
        </p:nvSpPr>
        <p:spPr>
          <a:xfrm>
            <a:off x="8357616" y="2560320"/>
            <a:ext cx="3063240" cy="2148840"/>
          </a:xfrm>
          <a:prstGeom prst="rect">
            <a:avLst/>
          </a:prstGeom>
          <a:noFill/>
          <a:ln/>
        </p:spPr>
        <p:txBody>
          <a:bodyPr wrap="square" lIns="0" tIns="0" rIns="0" bIns="0" rtlCol="0" anchor="t"/>
          <a:lstStyle/>
          <a:p>
            <a:pPr indent="0" marL="0">
              <a:lnSpc>
                <a:spcPct val="120000"/>
              </a:lnSpc>
              <a:buNone/>
            </a:pPr>
            <a:r>
              <a:rPr lang="en-US" sz="1700" dirty="0">
                <a:solidFill>
                  <a:srgbClr val="1B1F24"/>
                </a:solidFill>
                <a:latin typeface="Inter" pitchFamily="34" charset="0"/>
                <a:ea typeface="Inter" pitchFamily="34" charset="-122"/>
                <a:cs typeface="Inter" pitchFamily="34" charset="-120"/>
              </a:rPr>
              <a:t>It is easy to slide from “AI drafts it” to “AI decides it” without noticing.</a:t>
            </a:r>
            <a:endParaRPr lang="en-US" sz="1700" dirty="0"/>
          </a:p>
        </p:txBody>
      </p:sp>
      <p:sp>
        <p:nvSpPr>
          <p:cNvPr id="31" name="Shape 28"/>
          <p:cNvSpPr/>
          <p:nvPr/>
        </p:nvSpPr>
        <p:spPr>
          <a:xfrm>
            <a:off x="548640" y="5212080"/>
            <a:ext cx="11064240" cy="777240"/>
          </a:xfrm>
          <a:prstGeom prst="roundRect">
            <a:avLst>
              <a:gd name="adj" fmla="val 11765"/>
            </a:avLst>
          </a:prstGeom>
          <a:solidFill>
            <a:srgbClr val="EAF5F3"/>
          </a:solidFill>
          <a:ln w="12700">
            <a:solidFill>
              <a:srgbClr val="EAF5F3"/>
            </a:solidFill>
            <a:prstDash val="solid"/>
          </a:ln>
        </p:spPr>
      </p:sp>
      <p:sp>
        <p:nvSpPr>
          <p:cNvPr id="32" name="Text 29"/>
          <p:cNvSpPr/>
          <p:nvPr/>
        </p:nvSpPr>
        <p:spPr>
          <a:xfrm>
            <a:off x="868680" y="5212080"/>
            <a:ext cx="10424160" cy="77724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Today’s guardrails exist because these are genuine, not theoretical.</a:t>
            </a:r>
            <a:endParaRPr lang="en-US" sz="1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35</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2A9D8F"/>
          </a:solidFill>
          <a:ln w="12700">
            <a:solidFill>
              <a:srgbClr val="2A9D8F"/>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DCE3EA"/>
          </a:solidFill>
          <a:ln w="12700">
            <a:solidFill>
              <a:srgbClr val="DCE3EA"/>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adult use only today</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2A9D8F"/>
                </a:solidFill>
                <a:latin typeface="Inter" pitchFamily="34" charset="0"/>
                <a:ea typeface="Inter" pitchFamily="34" charset="-122"/>
                <a:cs typeface="Inter" pitchFamily="34" charset="-120"/>
              </a:rPr>
              <a:t>CLAIM · THE QUESTION EVERY FACULTY ASKS</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13293D"/>
                </a:solidFill>
                <a:latin typeface="Inter" pitchFamily="34" charset="0"/>
                <a:ea typeface="Inter" pitchFamily="34" charset="-122"/>
                <a:cs typeface="Inter" pitchFamily="34" charset="-120"/>
              </a:rPr>
              <a:t>Student use is a real policy question, and that is Kit 5</a:t>
            </a:r>
            <a:endParaRPr lang="en-US" sz="3000" dirty="0"/>
          </a:p>
        </p:txBody>
      </p:sp>
      <p:sp>
        <p:nvSpPr>
          <p:cNvPr id="22" name="Shape 19"/>
          <p:cNvSpPr/>
          <p:nvPr/>
        </p:nvSpPr>
        <p:spPr>
          <a:xfrm>
            <a:off x="548640" y="1737360"/>
            <a:ext cx="11064240" cy="137160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868680" y="1737360"/>
            <a:ext cx="10424160" cy="1371600"/>
          </a:xfrm>
          <a:prstGeom prst="rect">
            <a:avLst/>
          </a:prstGeom>
          <a:noFill/>
          <a:ln/>
        </p:spPr>
        <p:txBody>
          <a:bodyPr wrap="square" lIns="0" tIns="0" rIns="0" bIns="0" rtlCol="0" anchor="ctr"/>
          <a:lstStyle/>
          <a:p>
            <a:pPr indent="0" marL="0">
              <a:lnSpc>
                <a:spcPct val="115000"/>
              </a:lnSpc>
              <a:buNone/>
            </a:pPr>
            <a:r>
              <a:rPr lang="en-US" sz="2100" dirty="0">
                <a:solidFill>
                  <a:srgbClr val="1B1F24"/>
                </a:solidFill>
                <a:latin typeface="Inter" pitchFamily="34" charset="0"/>
                <a:ea typeface="Inter" pitchFamily="34" charset="-122"/>
                <a:cs typeface="Inter" pitchFamily="34" charset="-120"/>
              </a:rPr>
              <a:t>Major public chatbots require users to be 13 or older, and minors need parent or guardian permission.</a:t>
            </a:r>
            <a:endParaRPr lang="en-US" sz="2100" dirty="0"/>
          </a:p>
        </p:txBody>
      </p:sp>
      <p:sp>
        <p:nvSpPr>
          <p:cNvPr id="24" name="Shape 21"/>
          <p:cNvSpPr/>
          <p:nvPr/>
        </p:nvSpPr>
        <p:spPr>
          <a:xfrm>
            <a:off x="548640" y="3291840"/>
            <a:ext cx="11064240" cy="1371600"/>
          </a:xfrm>
          <a:prstGeom prst="roundRect">
            <a:avLst>
              <a:gd name="adj" fmla="val 6667"/>
            </a:avLst>
          </a:prstGeom>
          <a:solidFill>
            <a:srgbClr val="F7F5F0"/>
          </a:solidFill>
          <a:ln w="12700">
            <a:solidFill>
              <a:srgbClr val="F7F5F0"/>
            </a:solidFill>
            <a:prstDash val="solid"/>
          </a:ln>
        </p:spPr>
      </p:sp>
      <p:sp>
        <p:nvSpPr>
          <p:cNvPr id="25" name="Text 22"/>
          <p:cNvSpPr/>
          <p:nvPr/>
        </p:nvSpPr>
        <p:spPr>
          <a:xfrm>
            <a:off x="868680" y="3291840"/>
            <a:ext cx="10424160" cy="1371600"/>
          </a:xfrm>
          <a:prstGeom prst="rect">
            <a:avLst/>
          </a:prstGeom>
          <a:noFill/>
          <a:ln/>
        </p:spPr>
        <p:txBody>
          <a:bodyPr wrap="square" lIns="0" tIns="0" rIns="0" bIns="0" rtlCol="0" anchor="ctr"/>
          <a:lstStyle/>
          <a:p>
            <a:pPr indent="0" marL="0">
              <a:lnSpc>
                <a:spcPct val="115000"/>
              </a:lnSpc>
              <a:buNone/>
            </a:pPr>
            <a:r>
              <a:rPr lang="en-US" sz="2100" dirty="0">
                <a:solidFill>
                  <a:srgbClr val="1B1F24"/>
                </a:solidFill>
                <a:latin typeface="Inter" pitchFamily="34" charset="0"/>
                <a:ea typeface="Inter" pitchFamily="34" charset="-122"/>
                <a:cs typeface="Inter" pitchFamily="34" charset="-120"/>
              </a:rPr>
              <a:t>So student use is a policy question, not a free-for-all and not banned by default.</a:t>
            </a:r>
            <a:endParaRPr lang="en-US" sz="2100" dirty="0"/>
          </a:p>
        </p:txBody>
      </p:sp>
      <p:sp>
        <p:nvSpPr>
          <p:cNvPr id="26" name="Shape 23"/>
          <p:cNvSpPr/>
          <p:nvPr/>
        </p:nvSpPr>
        <p:spPr>
          <a:xfrm>
            <a:off x="548640" y="4846320"/>
            <a:ext cx="11064240" cy="1143000"/>
          </a:xfrm>
          <a:prstGeom prst="roundRect">
            <a:avLst>
              <a:gd name="adj" fmla="val 8000"/>
            </a:avLst>
          </a:prstGeom>
          <a:solidFill>
            <a:srgbClr val="EAF5F3"/>
          </a:solidFill>
          <a:ln w="12700">
            <a:solidFill>
              <a:srgbClr val="EAF5F3"/>
            </a:solidFill>
            <a:prstDash val="solid"/>
          </a:ln>
        </p:spPr>
      </p:sp>
      <p:sp>
        <p:nvSpPr>
          <p:cNvPr id="27" name="Text 24"/>
          <p:cNvSpPr/>
          <p:nvPr/>
        </p:nvSpPr>
        <p:spPr>
          <a:xfrm>
            <a:off x="868680" y="4846320"/>
            <a:ext cx="10424160" cy="11430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Today’s scope is the adults: our use, our privacy practice, our judgment.</a:t>
            </a:r>
            <a:endParaRPr lang="en-US" sz="2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3293D"/>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6E8598"/>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6E8598"/>
                </a:solidFill>
                <a:latin typeface="Inter" pitchFamily="34" charset="0"/>
                <a:ea typeface="Inter" pitchFamily="34" charset="-122"/>
                <a:cs typeface="Inter" pitchFamily="34" charset="-120"/>
              </a:rPr>
              <a:t>36</a:t>
            </a:r>
            <a:endParaRPr lang="en-US" sz="900" dirty="0"/>
          </a:p>
        </p:txBody>
      </p:sp>
      <p:sp>
        <p:nvSpPr>
          <p:cNvPr id="5" name="Shape 2"/>
          <p:cNvSpPr/>
          <p:nvPr/>
        </p:nvSpPr>
        <p:spPr>
          <a:xfrm>
            <a:off x="411480" y="6291072"/>
            <a:ext cx="1024128" cy="91440"/>
          </a:xfrm>
          <a:prstGeom prst="roundRect">
            <a:avLst>
              <a:gd name="adj" fmla="val 50000"/>
            </a:avLst>
          </a:prstGeom>
          <a:solidFill>
            <a:srgbClr val="2A4A63"/>
          </a:solidFill>
          <a:ln w="12700">
            <a:solidFill>
              <a:srgbClr val="2A4A63"/>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2A4A63"/>
          </a:solidFill>
          <a:ln w="12700">
            <a:solidFill>
              <a:srgbClr val="2A4A63"/>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2A4A63"/>
          </a:solidFill>
          <a:ln w="12700">
            <a:solidFill>
              <a:srgbClr val="2A4A63"/>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2A4A63"/>
          </a:solidFill>
          <a:ln w="12700">
            <a:solidFill>
              <a:srgbClr val="2A4A63"/>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2A4A63"/>
          </a:solidFill>
          <a:ln w="12700">
            <a:solidFill>
              <a:srgbClr val="2A4A63"/>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2A9D8F"/>
          </a:solidFill>
          <a:ln w="12700">
            <a:solidFill>
              <a:srgbClr val="2A9D8F"/>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2A4A63"/>
          </a:solidFill>
          <a:ln w="12700">
            <a:solidFill>
              <a:srgbClr val="2A4A63"/>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6E8598"/>
                </a:solidFill>
                <a:latin typeface="Inter" pitchFamily="34" charset="0"/>
                <a:ea typeface="Inter" pitchFamily="34" charset="-122"/>
                <a:cs typeface="Inter" pitchFamily="34" charset="-120"/>
              </a:rPr>
              <a:t>MS. RIVERA  </a:t>
            </a:r>
            <a:pPr algn="r" indent="0" marL="0">
              <a:buNone/>
            </a:pPr>
            <a:r>
              <a:rPr lang="en-US" sz="850" dirty="0">
                <a:solidFill>
                  <a:srgbClr val="9FB2C2"/>
                </a:solidFill>
                <a:latin typeface="Inter" pitchFamily="34" charset="0"/>
                <a:ea typeface="Inter" pitchFamily="34" charset="-122"/>
                <a:cs typeface="Inter" pitchFamily="34" charset="-120"/>
              </a:rPr>
              <a:t>she nodded to all three</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F4A825"/>
                </a:solidFill>
                <a:latin typeface="Inter" pitchFamily="34" charset="0"/>
                <a:ea typeface="Inter" pitchFamily="34" charset="-122"/>
                <a:cs typeface="Inter" pitchFamily="34" charset="-120"/>
              </a:rPr>
              <a:t>KEEP THIS  ·  STARTING TODAY</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FFFFFF"/>
                </a:solidFill>
                <a:latin typeface="Inter" pitchFamily="34" charset="0"/>
                <a:ea typeface="Inter" pitchFamily="34" charset="-122"/>
                <a:cs typeface="Inter" pitchFamily="34" charset="-120"/>
              </a:rPr>
              <a:t>Three commitments we make as a staff, starting today</a:t>
            </a:r>
            <a:endParaRPr lang="en-US" sz="3000" dirty="0"/>
          </a:p>
        </p:txBody>
      </p:sp>
      <p:sp>
        <p:nvSpPr>
          <p:cNvPr id="22" name="Shape 19"/>
          <p:cNvSpPr/>
          <p:nvPr/>
        </p:nvSpPr>
        <p:spPr>
          <a:xfrm>
            <a:off x="548640" y="1828800"/>
            <a:ext cx="11064240" cy="1051560"/>
          </a:xfrm>
          <a:prstGeom prst="roundRect">
            <a:avLst>
              <a:gd name="adj" fmla="val 8696"/>
            </a:avLst>
          </a:prstGeom>
          <a:solidFill>
            <a:srgbClr val="F7F5F0"/>
          </a:solidFill>
          <a:ln w="12700">
            <a:solidFill>
              <a:srgbClr val="F7F5F0"/>
            </a:solidFill>
            <a:prstDash val="solid"/>
          </a:ln>
        </p:spPr>
      </p:sp>
      <p:sp>
        <p:nvSpPr>
          <p:cNvPr id="23" name="Shape 20"/>
          <p:cNvSpPr/>
          <p:nvPr/>
        </p:nvSpPr>
        <p:spPr>
          <a:xfrm>
            <a:off x="868680" y="2048256"/>
            <a:ext cx="621792" cy="621792"/>
          </a:xfrm>
          <a:prstGeom prst="ellipse">
            <a:avLst/>
          </a:prstGeom>
          <a:solidFill>
            <a:srgbClr val="2A9D8F"/>
          </a:solidFill>
          <a:ln w="12700">
            <a:solidFill>
              <a:srgbClr val="2A9D8F"/>
            </a:solidFill>
            <a:prstDash val="solid"/>
          </a:ln>
        </p:spPr>
      </p:sp>
      <p:sp>
        <p:nvSpPr>
          <p:cNvPr id="24" name="Text 21"/>
          <p:cNvSpPr/>
          <p:nvPr/>
        </p:nvSpPr>
        <p:spPr>
          <a:xfrm>
            <a:off x="868680" y="2048256"/>
            <a:ext cx="621792" cy="621792"/>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1</a:t>
            </a:r>
            <a:endParaRPr lang="en-US" sz="2400" dirty="0"/>
          </a:p>
        </p:txBody>
      </p:sp>
      <p:sp>
        <p:nvSpPr>
          <p:cNvPr id="25" name="Text 22"/>
          <p:cNvSpPr/>
          <p:nvPr/>
        </p:nvSpPr>
        <p:spPr>
          <a:xfrm>
            <a:off x="1737360" y="1828800"/>
            <a:ext cx="9509760" cy="105156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No student personally identifiable information in public AI tools. Ever</a:t>
            </a:r>
            <a:endParaRPr lang="en-US" sz="2100" dirty="0"/>
          </a:p>
        </p:txBody>
      </p:sp>
      <p:sp>
        <p:nvSpPr>
          <p:cNvPr id="26" name="Shape 23"/>
          <p:cNvSpPr/>
          <p:nvPr/>
        </p:nvSpPr>
        <p:spPr>
          <a:xfrm>
            <a:off x="548640" y="3063240"/>
            <a:ext cx="11064240" cy="1051560"/>
          </a:xfrm>
          <a:prstGeom prst="roundRect">
            <a:avLst>
              <a:gd name="adj" fmla="val 8696"/>
            </a:avLst>
          </a:prstGeom>
          <a:solidFill>
            <a:srgbClr val="F7F5F0"/>
          </a:solidFill>
          <a:ln w="12700">
            <a:solidFill>
              <a:srgbClr val="F7F5F0"/>
            </a:solidFill>
            <a:prstDash val="solid"/>
          </a:ln>
        </p:spPr>
      </p:sp>
      <p:sp>
        <p:nvSpPr>
          <p:cNvPr id="27" name="Shape 24"/>
          <p:cNvSpPr/>
          <p:nvPr/>
        </p:nvSpPr>
        <p:spPr>
          <a:xfrm>
            <a:off x="868680" y="3282696"/>
            <a:ext cx="621792" cy="621792"/>
          </a:xfrm>
          <a:prstGeom prst="ellipse">
            <a:avLst/>
          </a:prstGeom>
          <a:solidFill>
            <a:srgbClr val="2A9D8F"/>
          </a:solidFill>
          <a:ln w="12700">
            <a:solidFill>
              <a:srgbClr val="2A9D8F"/>
            </a:solidFill>
            <a:prstDash val="solid"/>
          </a:ln>
        </p:spPr>
      </p:sp>
      <p:sp>
        <p:nvSpPr>
          <p:cNvPr id="28" name="Text 25"/>
          <p:cNvSpPr/>
          <p:nvPr/>
        </p:nvSpPr>
        <p:spPr>
          <a:xfrm>
            <a:off x="868680" y="3282696"/>
            <a:ext cx="621792" cy="621792"/>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2</a:t>
            </a:r>
            <a:endParaRPr lang="en-US" sz="2400" dirty="0"/>
          </a:p>
        </p:txBody>
      </p:sp>
      <p:sp>
        <p:nvSpPr>
          <p:cNvPr id="29" name="Text 26"/>
          <p:cNvSpPr/>
          <p:nvPr/>
        </p:nvSpPr>
        <p:spPr>
          <a:xfrm>
            <a:off x="1737360" y="3063240"/>
            <a:ext cx="9509760" cy="105156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A human reviews everything AI-drafted before it reaches a student or family</a:t>
            </a:r>
            <a:endParaRPr lang="en-US" sz="2100" dirty="0"/>
          </a:p>
        </p:txBody>
      </p:sp>
      <p:sp>
        <p:nvSpPr>
          <p:cNvPr id="30" name="Shape 27"/>
          <p:cNvSpPr/>
          <p:nvPr/>
        </p:nvSpPr>
        <p:spPr>
          <a:xfrm>
            <a:off x="548640" y="4297680"/>
            <a:ext cx="11064240" cy="1051560"/>
          </a:xfrm>
          <a:prstGeom prst="roundRect">
            <a:avLst>
              <a:gd name="adj" fmla="val 8696"/>
            </a:avLst>
          </a:prstGeom>
          <a:solidFill>
            <a:srgbClr val="F7F5F0"/>
          </a:solidFill>
          <a:ln w="12700">
            <a:solidFill>
              <a:srgbClr val="F7F5F0"/>
            </a:solidFill>
            <a:prstDash val="solid"/>
          </a:ln>
        </p:spPr>
      </p:sp>
      <p:sp>
        <p:nvSpPr>
          <p:cNvPr id="31" name="Shape 28"/>
          <p:cNvSpPr/>
          <p:nvPr/>
        </p:nvSpPr>
        <p:spPr>
          <a:xfrm>
            <a:off x="868680" y="4517136"/>
            <a:ext cx="621792" cy="621792"/>
          </a:xfrm>
          <a:prstGeom prst="ellipse">
            <a:avLst/>
          </a:prstGeom>
          <a:solidFill>
            <a:srgbClr val="2A9D8F"/>
          </a:solidFill>
          <a:ln w="12700">
            <a:solidFill>
              <a:srgbClr val="2A9D8F"/>
            </a:solidFill>
            <a:prstDash val="solid"/>
          </a:ln>
        </p:spPr>
      </p:sp>
      <p:sp>
        <p:nvSpPr>
          <p:cNvPr id="32" name="Text 29"/>
          <p:cNvSpPr/>
          <p:nvPr/>
        </p:nvSpPr>
        <p:spPr>
          <a:xfrm>
            <a:off x="868680" y="4517136"/>
            <a:ext cx="621792" cy="621792"/>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3</a:t>
            </a:r>
            <a:endParaRPr lang="en-US" sz="2400" dirty="0"/>
          </a:p>
        </p:txBody>
      </p:sp>
      <p:sp>
        <p:nvSpPr>
          <p:cNvPr id="33" name="Text 30"/>
          <p:cNvSpPr/>
          <p:nvPr/>
        </p:nvSpPr>
        <p:spPr>
          <a:xfrm>
            <a:off x="1737360" y="4297680"/>
            <a:ext cx="9509760" cy="105156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When we find something that works, we share it</a:t>
            </a:r>
            <a:endParaRPr lang="en-US" sz="2100" dirty="0"/>
          </a:p>
        </p:txBody>
      </p:sp>
      <p:sp>
        <p:nvSpPr>
          <p:cNvPr id="34" name="Text 31"/>
          <p:cNvSpPr/>
          <p:nvPr/>
        </p:nvSpPr>
        <p:spPr>
          <a:xfrm>
            <a:off x="548640" y="5532120"/>
            <a:ext cx="11064240" cy="457200"/>
          </a:xfrm>
          <a:prstGeom prst="rect">
            <a:avLst/>
          </a:prstGeom>
          <a:noFill/>
          <a:ln/>
        </p:spPr>
        <p:txBody>
          <a:bodyPr wrap="square" lIns="0" tIns="0" rIns="0" bIns="0" rtlCol="0" anchor="ctr"/>
          <a:lstStyle/>
          <a:p>
            <a:pPr algn="ctr" indent="0" marL="0">
              <a:buNone/>
            </a:pPr>
            <a:r>
              <a:rPr lang="en-US" sz="2000" i="1" dirty="0">
                <a:solidFill>
                  <a:srgbClr val="2A9D8F"/>
                </a:solidFill>
                <a:latin typeface="Inter" pitchFamily="34" charset="0"/>
                <a:ea typeface="Inter" pitchFamily="34" charset="-122"/>
                <a:cs typeface="Inter" pitchFamily="34" charset="-120"/>
              </a:rPr>
              <a:t>Can I get a nod on those three?</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37</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her next 48: task, drill, share</a:t>
            </a:r>
            <a:endParaRPr lang="en-US" sz="850" dirty="0"/>
          </a:p>
        </p:txBody>
      </p:sp>
      <p:sp>
        <p:nvSpPr>
          <p:cNvPr id="20" name="Shape 17"/>
          <p:cNvSpPr/>
          <p:nvPr/>
        </p:nvSpPr>
        <p:spPr>
          <a:xfrm>
            <a:off x="0" y="0"/>
            <a:ext cx="12188952" cy="1234440"/>
          </a:xfrm>
          <a:prstGeom prst="roundRect">
            <a:avLst>
              <a:gd name="adj" fmla="val 7407"/>
            </a:avLst>
          </a:prstGeom>
          <a:solidFill>
            <a:srgbClr val="F4A825"/>
          </a:solidFill>
          <a:ln w="12700">
            <a:solidFill>
              <a:srgbClr val="F4A825"/>
            </a:solidFill>
            <a:prstDash val="solid"/>
          </a:ln>
        </p:spPr>
      </p:sp>
      <p:sp>
        <p:nvSpPr>
          <p:cNvPr id="21" name="Text 18"/>
          <p:cNvSpPr/>
          <p:nvPr/>
        </p:nvSpPr>
        <p:spPr>
          <a:xfrm>
            <a:off x="566928" y="146304"/>
            <a:ext cx="3657600" cy="329184"/>
          </a:xfrm>
          <a:prstGeom prst="rect">
            <a:avLst/>
          </a:prstGeom>
          <a:noFill/>
          <a:ln/>
        </p:spPr>
        <p:txBody>
          <a:bodyPr wrap="square" lIns="0" tIns="0" rIns="0" bIns="0" rtlCol="0" anchor="ctr"/>
          <a:lstStyle/>
          <a:p>
            <a:pPr indent="0" marL="0">
              <a:buNone/>
            </a:pPr>
            <a:r>
              <a:rPr lang="en-US" sz="1300" b="1" spc="300" kern="0" dirty="0">
                <a:solidFill>
                  <a:srgbClr val="13293D"/>
                </a:solidFill>
                <a:latin typeface="Inter" pitchFamily="34" charset="0"/>
                <a:ea typeface="Inter" pitchFamily="34" charset="-122"/>
                <a:cs typeface="Inter" pitchFamily="34" charset="-120"/>
              </a:rPr>
              <a:t>DO NOW</a:t>
            </a:r>
            <a:endParaRPr lang="en-US" sz="1300" dirty="0"/>
          </a:p>
        </p:txBody>
      </p:sp>
      <p:sp>
        <p:nvSpPr>
          <p:cNvPr id="22" name="Text 19"/>
          <p:cNvSpPr/>
          <p:nvPr/>
        </p:nvSpPr>
        <p:spPr>
          <a:xfrm>
            <a:off x="566928" y="512064"/>
            <a:ext cx="11064240" cy="566928"/>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Do three small things in the next forty-eight hours</a:t>
            </a:r>
            <a:endParaRPr lang="en-US" sz="2800" dirty="0"/>
          </a:p>
        </p:txBody>
      </p:sp>
      <p:sp>
        <p:nvSpPr>
          <p:cNvPr id="23" name="Shape 20"/>
          <p:cNvSpPr/>
          <p:nvPr/>
        </p:nvSpPr>
        <p:spPr>
          <a:xfrm>
            <a:off x="548640" y="1554480"/>
            <a:ext cx="11064240" cy="1005840"/>
          </a:xfrm>
          <a:prstGeom prst="roundRect">
            <a:avLst>
              <a:gd name="adj" fmla="val 9091"/>
            </a:avLst>
          </a:prstGeom>
          <a:solidFill>
            <a:srgbClr val="F7F5F0"/>
          </a:solidFill>
          <a:ln w="12700">
            <a:solidFill>
              <a:srgbClr val="F7F5F0"/>
            </a:solidFill>
            <a:prstDash val="solid"/>
          </a:ln>
        </p:spPr>
      </p:sp>
      <p:sp>
        <p:nvSpPr>
          <p:cNvPr id="24" name="Text 21"/>
          <p:cNvSpPr/>
          <p:nvPr/>
        </p:nvSpPr>
        <p:spPr>
          <a:xfrm>
            <a:off x="868680" y="1554480"/>
            <a:ext cx="1371600" cy="100584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25" name="Text 22"/>
          <p:cNvSpPr/>
          <p:nvPr/>
        </p:nvSpPr>
        <p:spPr>
          <a:xfrm>
            <a:off x="2331720" y="1664208"/>
            <a:ext cx="896112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Do one real task with AI</a:t>
            </a:r>
            <a:endParaRPr lang="en-US" sz="2000" dirty="0"/>
          </a:p>
        </p:txBody>
      </p:sp>
      <p:sp>
        <p:nvSpPr>
          <p:cNvPr id="26" name="Text 23"/>
          <p:cNvSpPr/>
          <p:nvPr/>
        </p:nvSpPr>
        <p:spPr>
          <a:xfrm>
            <a:off x="2331720" y="2084832"/>
            <a:ext cx="8961120" cy="41148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Something already on your to-do list. Push back twice, review it, use it.</a:t>
            </a:r>
            <a:endParaRPr lang="en-US" sz="1600" dirty="0"/>
          </a:p>
        </p:txBody>
      </p:sp>
      <p:sp>
        <p:nvSpPr>
          <p:cNvPr id="27" name="Shape 24"/>
          <p:cNvSpPr/>
          <p:nvPr/>
        </p:nvSpPr>
        <p:spPr>
          <a:xfrm>
            <a:off x="548640" y="2697480"/>
            <a:ext cx="11064240" cy="1005840"/>
          </a:xfrm>
          <a:prstGeom prst="roundRect">
            <a:avLst>
              <a:gd name="adj" fmla="val 9091"/>
            </a:avLst>
          </a:prstGeom>
          <a:solidFill>
            <a:srgbClr val="F7F5F0"/>
          </a:solidFill>
          <a:ln w="12700">
            <a:solidFill>
              <a:srgbClr val="F7F5F0"/>
            </a:solidFill>
            <a:prstDash val="solid"/>
          </a:ln>
        </p:spPr>
      </p:sp>
      <p:sp>
        <p:nvSpPr>
          <p:cNvPr id="28" name="Text 25"/>
          <p:cNvSpPr/>
          <p:nvPr/>
        </p:nvSpPr>
        <p:spPr>
          <a:xfrm>
            <a:off x="868680" y="2697480"/>
            <a:ext cx="1371600" cy="100584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~5 min</a:t>
            </a:r>
            <a:endParaRPr lang="en-US" sz="1700" dirty="0"/>
          </a:p>
        </p:txBody>
      </p:sp>
      <p:sp>
        <p:nvSpPr>
          <p:cNvPr id="29" name="Text 26"/>
          <p:cNvSpPr/>
          <p:nvPr/>
        </p:nvSpPr>
        <p:spPr>
          <a:xfrm>
            <a:off x="2331720" y="2807208"/>
            <a:ext cx="896112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de-identification drill</a:t>
            </a:r>
            <a:endParaRPr lang="en-US" sz="2000" dirty="0"/>
          </a:p>
        </p:txBody>
      </p:sp>
      <p:sp>
        <p:nvSpPr>
          <p:cNvPr id="30" name="Text 27"/>
          <p:cNvSpPr/>
          <p:nvPr/>
        </p:nvSpPr>
        <p:spPr>
          <a:xfrm>
            <a:off x="2331720" y="3227832"/>
            <a:ext cx="8961120" cy="41148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real prompt, written unsafe then safe, on paper.</a:t>
            </a:r>
            <a:endParaRPr lang="en-US" sz="1600" dirty="0"/>
          </a:p>
        </p:txBody>
      </p:sp>
      <p:sp>
        <p:nvSpPr>
          <p:cNvPr id="31" name="Shape 28"/>
          <p:cNvSpPr/>
          <p:nvPr/>
        </p:nvSpPr>
        <p:spPr>
          <a:xfrm>
            <a:off x="548640" y="3840480"/>
            <a:ext cx="11064240" cy="1005840"/>
          </a:xfrm>
          <a:prstGeom prst="roundRect">
            <a:avLst>
              <a:gd name="adj" fmla="val 9091"/>
            </a:avLst>
          </a:prstGeom>
          <a:solidFill>
            <a:srgbClr val="F7F5F0"/>
          </a:solidFill>
          <a:ln w="12700">
            <a:solidFill>
              <a:srgbClr val="F7F5F0"/>
            </a:solidFill>
            <a:prstDash val="solid"/>
          </a:ln>
        </p:spPr>
      </p:sp>
      <p:sp>
        <p:nvSpPr>
          <p:cNvPr id="32" name="Text 29"/>
          <p:cNvSpPr/>
          <p:nvPr/>
        </p:nvSpPr>
        <p:spPr>
          <a:xfrm>
            <a:off x="868680" y="3840480"/>
            <a:ext cx="1371600" cy="100584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33" name="Text 30"/>
          <p:cNvSpPr/>
          <p:nvPr/>
        </p:nvSpPr>
        <p:spPr>
          <a:xfrm>
            <a:off x="2331720" y="3950208"/>
            <a:ext cx="896112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Share one discovery</a:t>
            </a:r>
            <a:endParaRPr lang="en-US" sz="2000" dirty="0"/>
          </a:p>
        </p:txBody>
      </p:sp>
      <p:sp>
        <p:nvSpPr>
          <p:cNvPr id="34" name="Text 31"/>
          <p:cNvSpPr/>
          <p:nvPr/>
        </p:nvSpPr>
        <p:spPr>
          <a:xfrm>
            <a:off x="2331720" y="4370832"/>
            <a:ext cx="8961120" cy="41148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colleague, one specific thing: a win or a useful failure.</a:t>
            </a:r>
            <a:endParaRPr lang="en-US" sz="1600" dirty="0"/>
          </a:p>
        </p:txBody>
      </p:sp>
      <p:sp>
        <p:nvSpPr>
          <p:cNvPr id="35" name="Shape 32"/>
          <p:cNvSpPr/>
          <p:nvPr/>
        </p:nvSpPr>
        <p:spPr>
          <a:xfrm>
            <a:off x="548640" y="5029200"/>
            <a:ext cx="3538728" cy="1097280"/>
          </a:xfrm>
          <a:prstGeom prst="roundRect">
            <a:avLst>
              <a:gd name="adj" fmla="val 8333"/>
            </a:avLst>
          </a:prstGeom>
          <a:solidFill>
            <a:srgbClr val="F7F5F0"/>
          </a:solidFill>
          <a:ln w="12700">
            <a:solidFill>
              <a:srgbClr val="F7F5F0"/>
            </a:solidFill>
            <a:prstDash val="solid"/>
          </a:ln>
        </p:spPr>
      </p:sp>
      <p:sp>
        <p:nvSpPr>
          <p:cNvPr id="36" name="Text 33"/>
          <p:cNvSpPr/>
          <p:nvPr/>
        </p:nvSpPr>
        <p:spPr>
          <a:xfrm>
            <a:off x="777240" y="5120640"/>
            <a:ext cx="310896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WHAT YOU DO</a:t>
            </a:r>
            <a:endParaRPr lang="en-US" sz="1100" dirty="0"/>
          </a:p>
        </p:txBody>
      </p:sp>
      <p:sp>
        <p:nvSpPr>
          <p:cNvPr id="37" name="Text 34"/>
          <p:cNvSpPr/>
          <p:nvPr/>
        </p:nvSpPr>
        <p:spPr>
          <a:xfrm>
            <a:off x="777240" y="5431536"/>
            <a:ext cx="3108960" cy="621792"/>
          </a:xfrm>
          <a:prstGeom prst="rect">
            <a:avLst/>
          </a:prstGeom>
          <a:noFill/>
          <a:ln/>
        </p:spPr>
        <p:txBody>
          <a:bodyPr wrap="square" lIns="0" tIns="0" rIns="0" bIns="0" rtlCol="0" anchor="t"/>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Take the First 48 Hours sheet and pick a time for each of the three.</a:t>
            </a:r>
            <a:endParaRPr lang="en-US" sz="1600" dirty="0"/>
          </a:p>
        </p:txBody>
      </p:sp>
      <p:sp>
        <p:nvSpPr>
          <p:cNvPr id="38" name="Shape 35"/>
          <p:cNvSpPr/>
          <p:nvPr/>
        </p:nvSpPr>
        <p:spPr>
          <a:xfrm>
            <a:off x="4325112" y="5029200"/>
            <a:ext cx="3538728" cy="1097280"/>
          </a:xfrm>
          <a:prstGeom prst="roundRect">
            <a:avLst>
              <a:gd name="adj" fmla="val 8333"/>
            </a:avLst>
          </a:prstGeom>
          <a:solidFill>
            <a:srgbClr val="F7F5F0"/>
          </a:solidFill>
          <a:ln w="12700">
            <a:solidFill>
              <a:srgbClr val="F7F5F0"/>
            </a:solidFill>
            <a:prstDash val="solid"/>
          </a:ln>
        </p:spPr>
      </p:sp>
      <p:sp>
        <p:nvSpPr>
          <p:cNvPr id="39" name="Text 36"/>
          <p:cNvSpPr/>
          <p:nvPr/>
        </p:nvSpPr>
        <p:spPr>
          <a:xfrm>
            <a:off x="4553712" y="5120640"/>
            <a:ext cx="310896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HOW LONG</a:t>
            </a:r>
            <a:endParaRPr lang="en-US" sz="1100" dirty="0"/>
          </a:p>
        </p:txBody>
      </p:sp>
      <p:sp>
        <p:nvSpPr>
          <p:cNvPr id="40" name="Text 37"/>
          <p:cNvSpPr/>
          <p:nvPr/>
        </p:nvSpPr>
        <p:spPr>
          <a:xfrm>
            <a:off x="4553712" y="5431536"/>
            <a:ext cx="3108960" cy="621792"/>
          </a:xfrm>
          <a:prstGeom prst="rect">
            <a:avLst/>
          </a:prstGeom>
          <a:noFill/>
          <a:ln/>
        </p:spPr>
        <p:txBody>
          <a:bodyPr wrap="square" lIns="0" tIns="0" rIns="0" bIns="0" rtlCol="0" anchor="t"/>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Three sittings, each under fifteen minutes.</a:t>
            </a:r>
            <a:endParaRPr lang="en-US" sz="1600" dirty="0"/>
          </a:p>
        </p:txBody>
      </p:sp>
      <p:sp>
        <p:nvSpPr>
          <p:cNvPr id="41" name="Shape 38"/>
          <p:cNvSpPr/>
          <p:nvPr/>
        </p:nvSpPr>
        <p:spPr>
          <a:xfrm>
            <a:off x="8101584" y="5029200"/>
            <a:ext cx="3538728" cy="1097280"/>
          </a:xfrm>
          <a:prstGeom prst="roundRect">
            <a:avLst>
              <a:gd name="adj" fmla="val 8333"/>
            </a:avLst>
          </a:prstGeom>
          <a:solidFill>
            <a:srgbClr val="F7F5F0"/>
          </a:solidFill>
          <a:ln w="12700">
            <a:solidFill>
              <a:srgbClr val="F7F5F0"/>
            </a:solidFill>
            <a:prstDash val="solid"/>
          </a:ln>
        </p:spPr>
      </p:sp>
      <p:sp>
        <p:nvSpPr>
          <p:cNvPr id="42" name="Text 39"/>
          <p:cNvSpPr/>
          <p:nvPr/>
        </p:nvSpPr>
        <p:spPr>
          <a:xfrm>
            <a:off x="8330184" y="5120640"/>
            <a:ext cx="310896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DONE LOOKS LIKE</a:t>
            </a:r>
            <a:endParaRPr lang="en-US" sz="1100" dirty="0"/>
          </a:p>
        </p:txBody>
      </p:sp>
      <p:sp>
        <p:nvSpPr>
          <p:cNvPr id="43" name="Text 40"/>
          <p:cNvSpPr/>
          <p:nvPr/>
        </p:nvSpPr>
        <p:spPr>
          <a:xfrm>
            <a:off x="8330184" y="5431536"/>
            <a:ext cx="3108960" cy="621792"/>
          </a:xfrm>
          <a:prstGeom prst="rect">
            <a:avLst/>
          </a:prstGeom>
          <a:noFill/>
          <a:ln/>
        </p:spPr>
        <p:txBody>
          <a:bodyPr wrap="square" lIns="0" tIns="0" rIns="0" bIns="0" rtlCol="0" anchor="t"/>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All three done before Friday, with one colleague told.</a:t>
            </a:r>
            <a:endParaRPr lang="en-US" sz="1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3293D"/>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6E8598"/>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6E8598"/>
                </a:solidFill>
                <a:latin typeface="Inter" pitchFamily="34" charset="0"/>
                <a:ea typeface="Inter" pitchFamily="34" charset="-122"/>
                <a:cs typeface="Inter" pitchFamily="34" charset="-120"/>
              </a:rPr>
              <a:t>38</a:t>
            </a:r>
            <a:endParaRPr lang="en-US" sz="900" dirty="0"/>
          </a:p>
        </p:txBody>
      </p:sp>
      <p:sp>
        <p:nvSpPr>
          <p:cNvPr id="5" name="Shape 2"/>
          <p:cNvSpPr/>
          <p:nvPr/>
        </p:nvSpPr>
        <p:spPr>
          <a:xfrm>
            <a:off x="411480" y="6291072"/>
            <a:ext cx="1024128" cy="91440"/>
          </a:xfrm>
          <a:prstGeom prst="roundRect">
            <a:avLst>
              <a:gd name="adj" fmla="val 50000"/>
            </a:avLst>
          </a:prstGeom>
          <a:solidFill>
            <a:srgbClr val="2A4A63"/>
          </a:solidFill>
          <a:ln w="12700">
            <a:solidFill>
              <a:srgbClr val="2A4A63"/>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2A4A63"/>
          </a:solidFill>
          <a:ln w="12700">
            <a:solidFill>
              <a:srgbClr val="2A4A63"/>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2A4A63"/>
          </a:solidFill>
          <a:ln w="12700">
            <a:solidFill>
              <a:srgbClr val="2A4A63"/>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2A4A63"/>
          </a:solidFill>
          <a:ln w="12700">
            <a:solidFill>
              <a:srgbClr val="2A4A63"/>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2A4A63"/>
          </a:solidFill>
          <a:ln w="12700">
            <a:solidFill>
              <a:srgbClr val="2A4A63"/>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2A4A63"/>
          </a:solidFill>
          <a:ln w="12700">
            <a:solidFill>
              <a:srgbClr val="2A4A63"/>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6E8598"/>
                </a:solidFill>
                <a:latin typeface="Inter" pitchFamily="34" charset="0"/>
                <a:ea typeface="Inter" pitchFamily="34" charset="-122"/>
                <a:cs typeface="Inter" pitchFamily="34" charset="-120"/>
              </a:rPr>
              <a:t>MS. RIVERA  </a:t>
            </a:r>
            <a:pPr algn="r" indent="0" marL="0">
              <a:buNone/>
            </a:pPr>
            <a:r>
              <a:rPr lang="en-US" sz="850" dirty="0">
                <a:solidFill>
                  <a:srgbClr val="9FB2C2"/>
                </a:solidFill>
                <a:latin typeface="Inter" pitchFamily="34" charset="0"/>
                <a:ea typeface="Inter" pitchFamily="34" charset="-122"/>
                <a:cs typeface="Inter" pitchFamily="34" charset="-120"/>
              </a:rPr>
              <a:t>Kit 1 done, seven to go</a:t>
            </a:r>
            <a:endParaRPr lang="en-US" sz="850" dirty="0"/>
          </a:p>
        </p:txBody>
      </p:sp>
      <p:sp>
        <p:nvSpPr>
          <p:cNvPr id="20" name="Text 17"/>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F4A825"/>
                </a:solidFill>
                <a:latin typeface="Inter" pitchFamily="34" charset="0"/>
                <a:ea typeface="Inter" pitchFamily="34" charset="-122"/>
                <a:cs typeface="Inter" pitchFamily="34" charset="-120"/>
              </a:rPr>
              <a:t>KIT 1 OF 8  ·  TRACK A</a:t>
            </a:r>
            <a:endParaRPr lang="en-US" sz="1000" dirty="0"/>
          </a:p>
        </p:txBody>
      </p:sp>
      <p:sp>
        <p:nvSpPr>
          <p:cNvPr id="21" name="Text 18"/>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FFFFFF"/>
                </a:solidFill>
                <a:latin typeface="Inter" pitchFamily="34" charset="0"/>
                <a:ea typeface="Inter" pitchFamily="34" charset="-122"/>
                <a:cs typeface="Inter" pitchFamily="34" charset="-120"/>
              </a:rPr>
              <a:t>Seven more kits lead to your certificate of completion</a:t>
            </a:r>
            <a:endParaRPr lang="en-US" sz="3000" dirty="0"/>
          </a:p>
        </p:txBody>
      </p:sp>
      <p:sp>
        <p:nvSpPr>
          <p:cNvPr id="22" name="Shape 19"/>
          <p:cNvSpPr/>
          <p:nvPr/>
        </p:nvSpPr>
        <p:spPr>
          <a:xfrm>
            <a:off x="548640" y="1783080"/>
            <a:ext cx="2670048" cy="1005840"/>
          </a:xfrm>
          <a:prstGeom prst="roundRect">
            <a:avLst>
              <a:gd name="adj" fmla="val 9091"/>
            </a:avLst>
          </a:prstGeom>
          <a:solidFill>
            <a:srgbClr val="2A9D8F"/>
          </a:solidFill>
          <a:ln w="12700">
            <a:solidFill>
              <a:srgbClr val="2A9D8F"/>
            </a:solidFill>
            <a:prstDash val="solid"/>
          </a:ln>
        </p:spPr>
      </p:sp>
      <p:sp>
        <p:nvSpPr>
          <p:cNvPr id="23" name="Text 20"/>
          <p:cNvSpPr/>
          <p:nvPr/>
        </p:nvSpPr>
        <p:spPr>
          <a:xfrm>
            <a:off x="749808" y="1783080"/>
            <a:ext cx="2286000" cy="1005840"/>
          </a:xfrm>
          <a:prstGeom prst="rect">
            <a:avLst/>
          </a:prstGeom>
          <a:noFill/>
          <a:ln/>
        </p:spPr>
        <p:txBody>
          <a:bodyPr wrap="square" lIns="0" tIns="0" rIns="0" bIns="0" rtlCol="0" anchor="ctr"/>
          <a:lstStyle/>
          <a:p>
            <a:pPr indent="0" marL="0">
              <a:buNone/>
            </a:pPr>
            <a:r>
              <a:rPr lang="en-US" sz="1450" b="1" dirty="0">
                <a:solidFill>
                  <a:srgbClr val="FFFFFF"/>
                </a:solidFill>
                <a:latin typeface="Inter" pitchFamily="34" charset="0"/>
                <a:ea typeface="Inter" pitchFamily="34" charset="-122"/>
                <a:cs typeface="Inter" pitchFamily="34" charset="-120"/>
              </a:rPr>
              <a:t>1 · AI Foundations &amp; Safety  ✔</a:t>
            </a:r>
            <a:endParaRPr lang="en-US" sz="1450" dirty="0"/>
          </a:p>
        </p:txBody>
      </p:sp>
      <p:sp>
        <p:nvSpPr>
          <p:cNvPr id="24" name="Shape 21"/>
          <p:cNvSpPr/>
          <p:nvPr/>
        </p:nvSpPr>
        <p:spPr>
          <a:xfrm>
            <a:off x="3401568" y="1783080"/>
            <a:ext cx="2670048" cy="1005840"/>
          </a:xfrm>
          <a:prstGeom prst="roundRect">
            <a:avLst>
              <a:gd name="adj" fmla="val 9091"/>
            </a:avLst>
          </a:prstGeom>
          <a:solidFill>
            <a:srgbClr val="1E3A50"/>
          </a:solidFill>
          <a:ln w="12700">
            <a:solidFill>
              <a:srgbClr val="1E3A50"/>
            </a:solidFill>
            <a:prstDash val="solid"/>
          </a:ln>
        </p:spPr>
      </p:sp>
      <p:sp>
        <p:nvSpPr>
          <p:cNvPr id="25" name="Text 22"/>
          <p:cNvSpPr/>
          <p:nvPr/>
        </p:nvSpPr>
        <p:spPr>
          <a:xfrm>
            <a:off x="3602736" y="1783080"/>
            <a:ext cx="2286000" cy="1005840"/>
          </a:xfrm>
          <a:prstGeom prst="rect">
            <a:avLst/>
          </a:prstGeom>
          <a:noFill/>
          <a:ln/>
        </p:spPr>
        <p:txBody>
          <a:bodyPr wrap="square" lIns="0" tIns="0" rIns="0" bIns="0" rtlCol="0" anchor="ctr"/>
          <a:lstStyle/>
          <a:p>
            <a:pPr indent="0" marL="0">
              <a:buNone/>
            </a:pPr>
            <a:r>
              <a:rPr lang="en-US" sz="1450" dirty="0">
                <a:solidFill>
                  <a:srgbClr val="FFFFFF"/>
                </a:solidFill>
                <a:latin typeface="Inter" pitchFamily="34" charset="0"/>
                <a:ea typeface="Inter" pitchFamily="34" charset="-122"/>
                <a:cs typeface="Inter" pitchFamily="34" charset="-120"/>
              </a:rPr>
              <a:t>2 · Prompting Basics</a:t>
            </a:r>
            <a:endParaRPr lang="en-US" sz="1450" dirty="0"/>
          </a:p>
        </p:txBody>
      </p:sp>
      <p:sp>
        <p:nvSpPr>
          <p:cNvPr id="26" name="Shape 23"/>
          <p:cNvSpPr/>
          <p:nvPr/>
        </p:nvSpPr>
        <p:spPr>
          <a:xfrm>
            <a:off x="6254496" y="1783080"/>
            <a:ext cx="2670048" cy="1005840"/>
          </a:xfrm>
          <a:prstGeom prst="roundRect">
            <a:avLst>
              <a:gd name="adj" fmla="val 9091"/>
            </a:avLst>
          </a:prstGeom>
          <a:solidFill>
            <a:srgbClr val="1E3A50"/>
          </a:solidFill>
          <a:ln w="12700">
            <a:solidFill>
              <a:srgbClr val="1E3A50"/>
            </a:solidFill>
            <a:prstDash val="solid"/>
          </a:ln>
        </p:spPr>
      </p:sp>
      <p:sp>
        <p:nvSpPr>
          <p:cNvPr id="27" name="Text 24"/>
          <p:cNvSpPr/>
          <p:nvPr/>
        </p:nvSpPr>
        <p:spPr>
          <a:xfrm>
            <a:off x="6455664" y="1783080"/>
            <a:ext cx="2286000" cy="1005840"/>
          </a:xfrm>
          <a:prstGeom prst="rect">
            <a:avLst/>
          </a:prstGeom>
          <a:noFill/>
          <a:ln/>
        </p:spPr>
        <p:txBody>
          <a:bodyPr wrap="square" lIns="0" tIns="0" rIns="0" bIns="0" rtlCol="0" anchor="ctr"/>
          <a:lstStyle/>
          <a:p>
            <a:pPr indent="0" marL="0">
              <a:buNone/>
            </a:pPr>
            <a:r>
              <a:rPr lang="en-US" sz="1450" dirty="0">
                <a:solidFill>
                  <a:srgbClr val="FFFFFF"/>
                </a:solidFill>
                <a:latin typeface="Inter" pitchFamily="34" charset="0"/>
                <a:ea typeface="Inter" pitchFamily="34" charset="-122"/>
                <a:cs typeface="Inter" pitchFamily="34" charset="-120"/>
              </a:rPr>
              <a:t>3 · Planning &amp; Differentiation</a:t>
            </a:r>
            <a:endParaRPr lang="en-US" sz="1450" dirty="0"/>
          </a:p>
        </p:txBody>
      </p:sp>
      <p:sp>
        <p:nvSpPr>
          <p:cNvPr id="28" name="Shape 25"/>
          <p:cNvSpPr/>
          <p:nvPr/>
        </p:nvSpPr>
        <p:spPr>
          <a:xfrm>
            <a:off x="9107424" y="1783080"/>
            <a:ext cx="2670048" cy="1005840"/>
          </a:xfrm>
          <a:prstGeom prst="roundRect">
            <a:avLst>
              <a:gd name="adj" fmla="val 9091"/>
            </a:avLst>
          </a:prstGeom>
          <a:solidFill>
            <a:srgbClr val="1E3A50"/>
          </a:solidFill>
          <a:ln w="12700">
            <a:solidFill>
              <a:srgbClr val="1E3A50"/>
            </a:solidFill>
            <a:prstDash val="solid"/>
          </a:ln>
        </p:spPr>
      </p:sp>
      <p:sp>
        <p:nvSpPr>
          <p:cNvPr id="29" name="Text 26"/>
          <p:cNvSpPr/>
          <p:nvPr/>
        </p:nvSpPr>
        <p:spPr>
          <a:xfrm>
            <a:off x="9308592" y="1783080"/>
            <a:ext cx="2286000" cy="1005840"/>
          </a:xfrm>
          <a:prstGeom prst="rect">
            <a:avLst/>
          </a:prstGeom>
          <a:noFill/>
          <a:ln/>
        </p:spPr>
        <p:txBody>
          <a:bodyPr wrap="square" lIns="0" tIns="0" rIns="0" bIns="0" rtlCol="0" anchor="ctr"/>
          <a:lstStyle/>
          <a:p>
            <a:pPr indent="0" marL="0">
              <a:buNone/>
            </a:pPr>
            <a:r>
              <a:rPr lang="en-US" sz="1450" dirty="0">
                <a:solidFill>
                  <a:srgbClr val="FFFFFF"/>
                </a:solidFill>
                <a:latin typeface="Inter" pitchFamily="34" charset="0"/>
                <a:ea typeface="Inter" pitchFamily="34" charset="-122"/>
                <a:cs typeface="Inter" pitchFamily="34" charset="-120"/>
              </a:rPr>
              <a:t>4 · Assessment</a:t>
            </a:r>
            <a:endParaRPr lang="en-US" sz="1450" dirty="0"/>
          </a:p>
        </p:txBody>
      </p:sp>
      <p:sp>
        <p:nvSpPr>
          <p:cNvPr id="30" name="Shape 27"/>
          <p:cNvSpPr/>
          <p:nvPr/>
        </p:nvSpPr>
        <p:spPr>
          <a:xfrm>
            <a:off x="548640" y="2971800"/>
            <a:ext cx="2670048" cy="1005840"/>
          </a:xfrm>
          <a:prstGeom prst="roundRect">
            <a:avLst>
              <a:gd name="adj" fmla="val 9091"/>
            </a:avLst>
          </a:prstGeom>
          <a:solidFill>
            <a:srgbClr val="1E3A50"/>
          </a:solidFill>
          <a:ln w="12700">
            <a:solidFill>
              <a:srgbClr val="1E3A50"/>
            </a:solidFill>
            <a:prstDash val="solid"/>
          </a:ln>
        </p:spPr>
      </p:sp>
      <p:sp>
        <p:nvSpPr>
          <p:cNvPr id="31" name="Text 28"/>
          <p:cNvSpPr/>
          <p:nvPr/>
        </p:nvSpPr>
        <p:spPr>
          <a:xfrm>
            <a:off x="749808" y="2971800"/>
            <a:ext cx="2286000" cy="1005840"/>
          </a:xfrm>
          <a:prstGeom prst="rect">
            <a:avLst/>
          </a:prstGeom>
          <a:noFill/>
          <a:ln/>
        </p:spPr>
        <p:txBody>
          <a:bodyPr wrap="square" lIns="0" tIns="0" rIns="0" bIns="0" rtlCol="0" anchor="ctr"/>
          <a:lstStyle/>
          <a:p>
            <a:pPr indent="0" marL="0">
              <a:buNone/>
            </a:pPr>
            <a:r>
              <a:rPr lang="en-US" sz="1450" dirty="0">
                <a:solidFill>
                  <a:srgbClr val="FFFFFF"/>
                </a:solidFill>
                <a:latin typeface="Inter" pitchFamily="34" charset="0"/>
                <a:ea typeface="Inter" pitchFamily="34" charset="-122"/>
                <a:cs typeface="Inter" pitchFamily="34" charset="-120"/>
              </a:rPr>
              <a:t>5 · Academic Integrity</a:t>
            </a:r>
            <a:endParaRPr lang="en-US" sz="1450" dirty="0"/>
          </a:p>
        </p:txBody>
      </p:sp>
      <p:sp>
        <p:nvSpPr>
          <p:cNvPr id="32" name="Shape 29"/>
          <p:cNvSpPr/>
          <p:nvPr/>
        </p:nvSpPr>
        <p:spPr>
          <a:xfrm>
            <a:off x="3401568" y="2971800"/>
            <a:ext cx="2670048" cy="1005840"/>
          </a:xfrm>
          <a:prstGeom prst="roundRect">
            <a:avLst>
              <a:gd name="adj" fmla="val 9091"/>
            </a:avLst>
          </a:prstGeom>
          <a:solidFill>
            <a:srgbClr val="1E3A50"/>
          </a:solidFill>
          <a:ln w="12700">
            <a:solidFill>
              <a:srgbClr val="1E3A50"/>
            </a:solidFill>
            <a:prstDash val="solid"/>
          </a:ln>
        </p:spPr>
      </p:sp>
      <p:sp>
        <p:nvSpPr>
          <p:cNvPr id="33" name="Text 30"/>
          <p:cNvSpPr/>
          <p:nvPr/>
        </p:nvSpPr>
        <p:spPr>
          <a:xfrm>
            <a:off x="3602736" y="2971800"/>
            <a:ext cx="2286000" cy="1005840"/>
          </a:xfrm>
          <a:prstGeom prst="rect">
            <a:avLst/>
          </a:prstGeom>
          <a:noFill/>
          <a:ln/>
        </p:spPr>
        <p:txBody>
          <a:bodyPr wrap="square" lIns="0" tIns="0" rIns="0" bIns="0" rtlCol="0" anchor="ctr"/>
          <a:lstStyle/>
          <a:p>
            <a:pPr indent="0" marL="0">
              <a:buNone/>
            </a:pPr>
            <a:r>
              <a:rPr lang="en-US" sz="1450" dirty="0">
                <a:solidFill>
                  <a:srgbClr val="FFFFFF"/>
                </a:solidFill>
                <a:latin typeface="Inter" pitchFamily="34" charset="0"/>
                <a:ea typeface="Inter" pitchFamily="34" charset="-122"/>
                <a:cs typeface="Inter" pitchFamily="34" charset="-120"/>
              </a:rPr>
              <a:t>6 · Communication</a:t>
            </a:r>
            <a:endParaRPr lang="en-US" sz="1450" dirty="0"/>
          </a:p>
        </p:txBody>
      </p:sp>
      <p:sp>
        <p:nvSpPr>
          <p:cNvPr id="34" name="Shape 31"/>
          <p:cNvSpPr/>
          <p:nvPr/>
        </p:nvSpPr>
        <p:spPr>
          <a:xfrm>
            <a:off x="6254496" y="2971800"/>
            <a:ext cx="2670048" cy="1005840"/>
          </a:xfrm>
          <a:prstGeom prst="roundRect">
            <a:avLst>
              <a:gd name="adj" fmla="val 9091"/>
            </a:avLst>
          </a:prstGeom>
          <a:solidFill>
            <a:srgbClr val="1E3A50"/>
          </a:solidFill>
          <a:ln w="12700">
            <a:solidFill>
              <a:srgbClr val="1E3A50"/>
            </a:solidFill>
            <a:prstDash val="solid"/>
          </a:ln>
        </p:spPr>
      </p:sp>
      <p:sp>
        <p:nvSpPr>
          <p:cNvPr id="35" name="Text 32"/>
          <p:cNvSpPr/>
          <p:nvPr/>
        </p:nvSpPr>
        <p:spPr>
          <a:xfrm>
            <a:off x="6455664" y="2971800"/>
            <a:ext cx="2286000" cy="1005840"/>
          </a:xfrm>
          <a:prstGeom prst="rect">
            <a:avLst/>
          </a:prstGeom>
          <a:noFill/>
          <a:ln/>
        </p:spPr>
        <p:txBody>
          <a:bodyPr wrap="square" lIns="0" tIns="0" rIns="0" bIns="0" rtlCol="0" anchor="ctr"/>
          <a:lstStyle/>
          <a:p>
            <a:pPr indent="0" marL="0">
              <a:buNone/>
            </a:pPr>
            <a:r>
              <a:rPr lang="en-US" sz="1450" dirty="0">
                <a:solidFill>
                  <a:srgbClr val="FFFFFF"/>
                </a:solidFill>
                <a:latin typeface="Inter" pitchFamily="34" charset="0"/>
                <a:ea typeface="Inter" pitchFamily="34" charset="-122"/>
                <a:cs typeface="Inter" pitchFamily="34" charset="-120"/>
              </a:rPr>
              <a:t>7 · Workload</a:t>
            </a:r>
            <a:endParaRPr lang="en-US" sz="1450" dirty="0"/>
          </a:p>
        </p:txBody>
      </p:sp>
      <p:sp>
        <p:nvSpPr>
          <p:cNvPr id="36" name="Shape 33"/>
          <p:cNvSpPr/>
          <p:nvPr/>
        </p:nvSpPr>
        <p:spPr>
          <a:xfrm>
            <a:off x="9107424" y="2971800"/>
            <a:ext cx="2670048" cy="1005840"/>
          </a:xfrm>
          <a:prstGeom prst="roundRect">
            <a:avLst>
              <a:gd name="adj" fmla="val 9091"/>
            </a:avLst>
          </a:prstGeom>
          <a:solidFill>
            <a:srgbClr val="1E3A50"/>
          </a:solidFill>
          <a:ln w="12700">
            <a:solidFill>
              <a:srgbClr val="1E3A50"/>
            </a:solidFill>
            <a:prstDash val="solid"/>
          </a:ln>
        </p:spPr>
      </p:sp>
      <p:sp>
        <p:nvSpPr>
          <p:cNvPr id="37" name="Text 34"/>
          <p:cNvSpPr/>
          <p:nvPr/>
        </p:nvSpPr>
        <p:spPr>
          <a:xfrm>
            <a:off x="9308592" y="2971800"/>
            <a:ext cx="2286000" cy="1005840"/>
          </a:xfrm>
          <a:prstGeom prst="rect">
            <a:avLst/>
          </a:prstGeom>
          <a:noFill/>
          <a:ln/>
        </p:spPr>
        <p:txBody>
          <a:bodyPr wrap="square" lIns="0" tIns="0" rIns="0" bIns="0" rtlCol="0" anchor="ctr"/>
          <a:lstStyle/>
          <a:p>
            <a:pPr indent="0" marL="0">
              <a:buNone/>
            </a:pPr>
            <a:r>
              <a:rPr lang="en-US" sz="1450" dirty="0">
                <a:solidFill>
                  <a:srgbClr val="FFFFFF"/>
                </a:solidFill>
                <a:latin typeface="Inter" pitchFamily="34" charset="0"/>
                <a:ea typeface="Inter" pitchFamily="34" charset="-122"/>
                <a:cs typeface="Inter" pitchFamily="34" charset="-120"/>
              </a:rPr>
              <a:t>8 · Your School’s AI Culture</a:t>
            </a:r>
            <a:endParaRPr lang="en-US" sz="1450" dirty="0"/>
          </a:p>
        </p:txBody>
      </p:sp>
      <p:sp>
        <p:nvSpPr>
          <p:cNvPr id="38" name="Shape 35"/>
          <p:cNvSpPr/>
          <p:nvPr/>
        </p:nvSpPr>
        <p:spPr>
          <a:xfrm>
            <a:off x="548640" y="4343400"/>
            <a:ext cx="11064240" cy="1463040"/>
          </a:xfrm>
          <a:prstGeom prst="roundRect">
            <a:avLst>
              <a:gd name="adj" fmla="val 6250"/>
            </a:avLst>
          </a:prstGeom>
          <a:solidFill>
            <a:srgbClr val="1E3A50"/>
          </a:solidFill>
          <a:ln w="12700">
            <a:solidFill>
              <a:srgbClr val="1E3A50"/>
            </a:solidFill>
            <a:prstDash val="solid"/>
          </a:ln>
        </p:spPr>
      </p:sp>
      <p:sp>
        <p:nvSpPr>
          <p:cNvPr id="39" name="Text 36"/>
          <p:cNvSpPr/>
          <p:nvPr/>
        </p:nvSpPr>
        <p:spPr>
          <a:xfrm>
            <a:off x="868680" y="4480560"/>
            <a:ext cx="10424160" cy="502920"/>
          </a:xfrm>
          <a:prstGeom prst="rect">
            <a:avLst/>
          </a:prstGeom>
          <a:noFill/>
          <a:ln/>
        </p:spPr>
        <p:txBody>
          <a:bodyPr wrap="square" lIns="0" tIns="0" rIns="0" bIns="0" rtlCol="0" anchor="ctr"/>
          <a:lstStyle/>
          <a:p>
            <a:pPr indent="0" marL="0">
              <a:buNone/>
            </a:pPr>
            <a:r>
              <a:rPr lang="en-US" sz="2000" b="1" dirty="0">
                <a:solidFill>
                  <a:srgbClr val="FFFFFF"/>
                </a:solidFill>
                <a:latin typeface="Inter" pitchFamily="34" charset="0"/>
                <a:ea typeface="Inter" pitchFamily="34" charset="-122"/>
                <a:cs typeface="Inter" pitchFamily="34" charset="-120"/>
              </a:rPr>
              <a:t>Finish all eight and you earn the AI-Ready Educator Certificate of Completion.</a:t>
            </a:r>
            <a:endParaRPr lang="en-US" sz="2000" dirty="0"/>
          </a:p>
        </p:txBody>
      </p:sp>
      <p:sp>
        <p:nvSpPr>
          <p:cNvPr id="40" name="Text 37"/>
          <p:cNvSpPr/>
          <p:nvPr/>
        </p:nvSpPr>
        <p:spPr>
          <a:xfrm>
            <a:off x="868680" y="5029200"/>
            <a:ext cx="10424160" cy="548640"/>
          </a:xfrm>
          <a:prstGeom prst="rect">
            <a:avLst/>
          </a:prstGeom>
          <a:noFill/>
          <a:ln/>
        </p:spPr>
        <p:txBody>
          <a:bodyPr wrap="square" lIns="0" tIns="0" rIns="0" bIns="0" rtlCol="0" anchor="ctr"/>
          <a:lstStyle/>
          <a:p>
            <a:pPr indent="0" marL="0">
              <a:buNone/>
            </a:pPr>
            <a:r>
              <a:rPr lang="en-US" sz="1700" dirty="0">
                <a:solidFill>
                  <a:srgbClr val="C9D4DE"/>
                </a:solidFill>
                <a:latin typeface="Inter" pitchFamily="34" charset="0"/>
                <a:ea typeface="Inter" pitchFamily="34" charset="-122"/>
                <a:cs typeface="Inter" pitchFamily="34" charset="-120"/>
              </a:rPr>
              <a:t>Follow-ups run inside existing PLC time; nothing new to schedule.</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5B6B7A"/>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39</a:t>
            </a:r>
            <a:endParaRPr lang="en-US" sz="900" dirty="0"/>
          </a:p>
        </p:txBody>
      </p:sp>
      <p:sp>
        <p:nvSpPr>
          <p:cNvPr id="5" name="Shape 2"/>
          <p:cNvSpPr/>
          <p:nvPr/>
        </p:nvSpPr>
        <p:spPr>
          <a:xfrm>
            <a:off x="411480" y="6291072"/>
            <a:ext cx="1024128" cy="91440"/>
          </a:xfrm>
          <a:prstGeom prst="roundRect">
            <a:avLst>
              <a:gd name="adj" fmla="val 50000"/>
            </a:avLst>
          </a:prstGeom>
          <a:solidFill>
            <a:srgbClr val="DCE3EA"/>
          </a:solidFill>
          <a:ln w="12700">
            <a:solidFill>
              <a:srgbClr val="DCE3EA"/>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DCE3EA"/>
          </a:solidFill>
          <a:ln w="12700">
            <a:solidFill>
              <a:srgbClr val="DCE3EA"/>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DCE3EA"/>
          </a:solidFill>
          <a:ln w="12700">
            <a:solidFill>
              <a:srgbClr val="DCE3EA"/>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DCE3EA"/>
          </a:solidFill>
          <a:ln w="12700">
            <a:solidFill>
              <a:srgbClr val="DCE3EA"/>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DCE3EA"/>
          </a:solidFill>
          <a:ln w="12700">
            <a:solidFill>
              <a:srgbClr val="DCE3EA"/>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DCE3EA"/>
          </a:solidFill>
          <a:ln w="12700">
            <a:solidFill>
              <a:srgbClr val="DCE3EA"/>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5B6B7A"/>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8366760" y="6345936"/>
            <a:ext cx="2697480" cy="274320"/>
          </a:xfrm>
          <a:prstGeom prst="rect">
            <a:avLst/>
          </a:prstGeom>
          <a:noFill/>
          <a:ln/>
        </p:spPr>
        <p:txBody>
          <a:bodyPr wrap="square" lIns="0" tIns="0" rIns="0" bIns="0" rtlCol="0" anchor="ctr"/>
          <a:lstStyle/>
          <a:p>
            <a:pPr algn="r" indent="0" marL="0">
              <a:buNone/>
            </a:pPr>
            <a:r>
              <a:rPr lang="en-US" sz="850" b="1" spc="100" kern="0" dirty="0">
                <a:solidFill>
                  <a:srgbClr val="5B6B7A"/>
                </a:solidFill>
                <a:latin typeface="Inter" pitchFamily="34" charset="0"/>
                <a:ea typeface="Inter" pitchFamily="34" charset="-122"/>
                <a:cs typeface="Inter" pitchFamily="34" charset="-120"/>
              </a:rPr>
              <a:t>MS. RIVERA  </a:t>
            </a:r>
            <a:pPr algn="r" indent="0" marL="0">
              <a:buNone/>
            </a:pPr>
            <a:r>
              <a:rPr lang="en-US" sz="850" dirty="0">
                <a:solidFill>
                  <a:srgbClr val="5B6B7A"/>
                </a:solidFill>
                <a:latin typeface="Inter" pitchFamily="34" charset="0"/>
                <a:ea typeface="Inter" pitchFamily="34" charset="-122"/>
                <a:cs typeface="Inter" pitchFamily="34" charset="-120"/>
              </a:rPr>
              <a:t>filling in her exit ticket</a:t>
            </a:r>
            <a:endParaRPr lang="en-US" sz="850" dirty="0"/>
          </a:p>
        </p:txBody>
      </p:sp>
      <p:sp>
        <p:nvSpPr>
          <p:cNvPr id="20" name="Shape 17"/>
          <p:cNvSpPr/>
          <p:nvPr/>
        </p:nvSpPr>
        <p:spPr>
          <a:xfrm>
            <a:off x="0" y="0"/>
            <a:ext cx="12188952" cy="1234440"/>
          </a:xfrm>
          <a:prstGeom prst="roundRect">
            <a:avLst>
              <a:gd name="adj" fmla="val 7407"/>
            </a:avLst>
          </a:prstGeom>
          <a:solidFill>
            <a:srgbClr val="F4A825"/>
          </a:solidFill>
          <a:ln w="12700">
            <a:solidFill>
              <a:srgbClr val="F4A825"/>
            </a:solidFill>
            <a:prstDash val="solid"/>
          </a:ln>
        </p:spPr>
      </p:sp>
      <p:sp>
        <p:nvSpPr>
          <p:cNvPr id="21" name="Text 18"/>
          <p:cNvSpPr/>
          <p:nvPr/>
        </p:nvSpPr>
        <p:spPr>
          <a:xfrm>
            <a:off x="566928" y="146304"/>
            <a:ext cx="3657600" cy="329184"/>
          </a:xfrm>
          <a:prstGeom prst="rect">
            <a:avLst/>
          </a:prstGeom>
          <a:noFill/>
          <a:ln/>
        </p:spPr>
        <p:txBody>
          <a:bodyPr wrap="square" lIns="0" tIns="0" rIns="0" bIns="0" rtlCol="0" anchor="ctr"/>
          <a:lstStyle/>
          <a:p>
            <a:pPr indent="0" marL="0">
              <a:buNone/>
            </a:pPr>
            <a:r>
              <a:rPr lang="en-US" sz="1300" b="1" spc="300" kern="0" dirty="0">
                <a:solidFill>
                  <a:srgbClr val="13293D"/>
                </a:solidFill>
                <a:latin typeface="Inter" pitchFamily="34" charset="0"/>
                <a:ea typeface="Inter" pitchFamily="34" charset="-122"/>
                <a:cs typeface="Inter" pitchFamily="34" charset="-120"/>
              </a:rPr>
              <a:t>DO NOW</a:t>
            </a:r>
            <a:endParaRPr lang="en-US" sz="1300" dirty="0"/>
          </a:p>
        </p:txBody>
      </p:sp>
      <p:sp>
        <p:nvSpPr>
          <p:cNvPr id="22" name="Text 19"/>
          <p:cNvSpPr/>
          <p:nvPr/>
        </p:nvSpPr>
        <p:spPr>
          <a:xfrm>
            <a:off x="566928" y="512064"/>
            <a:ext cx="11064240" cy="566928"/>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Take two minutes now and fill in the exit ticket</a:t>
            </a:r>
            <a:endParaRPr lang="en-US" sz="2800" dirty="0"/>
          </a:p>
        </p:txBody>
      </p:sp>
      <p:sp>
        <p:nvSpPr>
          <p:cNvPr id="23" name="Shape 20"/>
          <p:cNvSpPr/>
          <p:nvPr/>
        </p:nvSpPr>
        <p:spPr>
          <a:xfrm>
            <a:off x="548640" y="1600200"/>
            <a:ext cx="3538728" cy="2286000"/>
          </a:xfrm>
          <a:prstGeom prst="roundRect">
            <a:avLst>
              <a:gd name="adj" fmla="val 4000"/>
            </a:avLst>
          </a:prstGeom>
          <a:solidFill>
            <a:srgbClr val="F7F5F0"/>
          </a:solidFill>
          <a:ln w="12700">
            <a:solidFill>
              <a:srgbClr val="F7F5F0"/>
            </a:solidFill>
            <a:prstDash val="solid"/>
          </a:ln>
        </p:spPr>
      </p:sp>
      <p:sp>
        <p:nvSpPr>
          <p:cNvPr id="24" name="Text 21"/>
          <p:cNvSpPr/>
          <p:nvPr/>
        </p:nvSpPr>
        <p:spPr>
          <a:xfrm>
            <a:off x="822960" y="1783080"/>
            <a:ext cx="548640" cy="54864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1</a:t>
            </a:r>
            <a:endParaRPr lang="en-US" sz="2400" dirty="0"/>
          </a:p>
        </p:txBody>
      </p:sp>
      <p:sp>
        <p:nvSpPr>
          <p:cNvPr id="25" name="Text 22"/>
          <p:cNvSpPr/>
          <p:nvPr/>
        </p:nvSpPr>
        <p:spPr>
          <a:xfrm>
            <a:off x="822960" y="2423160"/>
            <a:ext cx="3017520" cy="1234440"/>
          </a:xfrm>
          <a:prstGeom prst="rect">
            <a:avLst/>
          </a:prstGeom>
          <a:noFill/>
          <a:ln/>
        </p:spPr>
        <p:txBody>
          <a:bodyPr wrap="square" lIns="0" tIns="0" rIns="0" bIns="0" rtlCol="0" anchor="t"/>
          <a:lstStyle/>
          <a:p>
            <a:pPr indent="0" marL="0">
              <a:lnSpc>
                <a:spcPct val="110000"/>
              </a:lnSpc>
              <a:buNone/>
            </a:pPr>
            <a:r>
              <a:rPr lang="en-US" sz="2100" b="1" dirty="0">
                <a:solidFill>
                  <a:srgbClr val="13293D"/>
                </a:solidFill>
                <a:latin typeface="Inter" pitchFamily="34" charset="0"/>
                <a:ea typeface="Inter" pitchFamily="34" charset="-122"/>
                <a:cs typeface="Inter" pitchFamily="34" charset="-120"/>
              </a:rPr>
              <a:t>One thing you’re taking</a:t>
            </a:r>
            <a:endParaRPr lang="en-US" sz="2100" dirty="0"/>
          </a:p>
        </p:txBody>
      </p:sp>
      <p:sp>
        <p:nvSpPr>
          <p:cNvPr id="26" name="Shape 23"/>
          <p:cNvSpPr/>
          <p:nvPr/>
        </p:nvSpPr>
        <p:spPr>
          <a:xfrm>
            <a:off x="4325112" y="1600200"/>
            <a:ext cx="3538728" cy="2286000"/>
          </a:xfrm>
          <a:prstGeom prst="roundRect">
            <a:avLst>
              <a:gd name="adj" fmla="val 4000"/>
            </a:avLst>
          </a:prstGeom>
          <a:solidFill>
            <a:srgbClr val="F7F5F0"/>
          </a:solidFill>
          <a:ln w="12700">
            <a:solidFill>
              <a:srgbClr val="F7F5F0"/>
            </a:solidFill>
            <a:prstDash val="solid"/>
          </a:ln>
        </p:spPr>
      </p:sp>
      <p:sp>
        <p:nvSpPr>
          <p:cNvPr id="27" name="Text 24"/>
          <p:cNvSpPr/>
          <p:nvPr/>
        </p:nvSpPr>
        <p:spPr>
          <a:xfrm>
            <a:off x="4599432" y="1783080"/>
            <a:ext cx="548640" cy="54864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2</a:t>
            </a:r>
            <a:endParaRPr lang="en-US" sz="2400" dirty="0"/>
          </a:p>
        </p:txBody>
      </p:sp>
      <p:sp>
        <p:nvSpPr>
          <p:cNvPr id="28" name="Text 25"/>
          <p:cNvSpPr/>
          <p:nvPr/>
        </p:nvSpPr>
        <p:spPr>
          <a:xfrm>
            <a:off x="4599432" y="2423160"/>
            <a:ext cx="3017520" cy="1234440"/>
          </a:xfrm>
          <a:prstGeom prst="rect">
            <a:avLst/>
          </a:prstGeom>
          <a:noFill/>
          <a:ln/>
        </p:spPr>
        <p:txBody>
          <a:bodyPr wrap="square" lIns="0" tIns="0" rIns="0" bIns="0" rtlCol="0" anchor="t"/>
          <a:lstStyle/>
          <a:p>
            <a:pPr indent="0" marL="0">
              <a:lnSpc>
                <a:spcPct val="110000"/>
              </a:lnSpc>
              <a:buNone/>
            </a:pPr>
            <a:r>
              <a:rPr lang="en-US" sz="2100" b="1" dirty="0">
                <a:solidFill>
                  <a:srgbClr val="13293D"/>
                </a:solidFill>
                <a:latin typeface="Inter" pitchFamily="34" charset="0"/>
                <a:ea typeface="Inter" pitchFamily="34" charset="-122"/>
                <a:cs typeface="Inter" pitchFamily="34" charset="-120"/>
              </a:rPr>
              <a:t>One worry you still have</a:t>
            </a:r>
            <a:endParaRPr lang="en-US" sz="2100" dirty="0"/>
          </a:p>
        </p:txBody>
      </p:sp>
      <p:sp>
        <p:nvSpPr>
          <p:cNvPr id="29" name="Shape 26"/>
          <p:cNvSpPr/>
          <p:nvPr/>
        </p:nvSpPr>
        <p:spPr>
          <a:xfrm>
            <a:off x="8101584" y="1600200"/>
            <a:ext cx="3538728" cy="2286000"/>
          </a:xfrm>
          <a:prstGeom prst="roundRect">
            <a:avLst>
              <a:gd name="adj" fmla="val 4000"/>
            </a:avLst>
          </a:prstGeom>
          <a:solidFill>
            <a:srgbClr val="F7F5F0"/>
          </a:solidFill>
          <a:ln w="12700">
            <a:solidFill>
              <a:srgbClr val="F7F5F0"/>
            </a:solidFill>
            <a:prstDash val="solid"/>
          </a:ln>
        </p:spPr>
      </p:sp>
      <p:sp>
        <p:nvSpPr>
          <p:cNvPr id="30" name="Text 27"/>
          <p:cNvSpPr/>
          <p:nvPr/>
        </p:nvSpPr>
        <p:spPr>
          <a:xfrm>
            <a:off x="8375904" y="1783080"/>
            <a:ext cx="548640" cy="54864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3</a:t>
            </a:r>
            <a:endParaRPr lang="en-US" sz="2400" dirty="0"/>
          </a:p>
        </p:txBody>
      </p:sp>
      <p:sp>
        <p:nvSpPr>
          <p:cNvPr id="31" name="Text 28"/>
          <p:cNvSpPr/>
          <p:nvPr/>
        </p:nvSpPr>
        <p:spPr>
          <a:xfrm>
            <a:off x="8375904" y="2423160"/>
            <a:ext cx="3017520" cy="1234440"/>
          </a:xfrm>
          <a:prstGeom prst="rect">
            <a:avLst/>
          </a:prstGeom>
          <a:noFill/>
          <a:ln/>
        </p:spPr>
        <p:txBody>
          <a:bodyPr wrap="square" lIns="0" tIns="0" rIns="0" bIns="0" rtlCol="0" anchor="t"/>
          <a:lstStyle/>
          <a:p>
            <a:pPr indent="0" marL="0">
              <a:lnSpc>
                <a:spcPct val="110000"/>
              </a:lnSpc>
              <a:buNone/>
            </a:pPr>
            <a:r>
              <a:rPr lang="en-US" sz="2100" b="1" dirty="0">
                <a:solidFill>
                  <a:srgbClr val="13293D"/>
                </a:solidFill>
                <a:latin typeface="Inter" pitchFamily="34" charset="0"/>
                <a:ea typeface="Inter" pitchFamily="34" charset="-122"/>
                <a:cs typeface="Inter" pitchFamily="34" charset="-120"/>
              </a:rPr>
              <a:t>One thing you’ll try</a:t>
            </a:r>
            <a:endParaRPr lang="en-US" sz="2100" dirty="0"/>
          </a:p>
        </p:txBody>
      </p:sp>
      <p:sp>
        <p:nvSpPr>
          <p:cNvPr id="32" name="Shape 29"/>
          <p:cNvSpPr/>
          <p:nvPr/>
        </p:nvSpPr>
        <p:spPr>
          <a:xfrm>
            <a:off x="548640" y="4160520"/>
            <a:ext cx="3538728" cy="1097280"/>
          </a:xfrm>
          <a:prstGeom prst="roundRect">
            <a:avLst>
              <a:gd name="adj" fmla="val 8333"/>
            </a:avLst>
          </a:prstGeom>
          <a:solidFill>
            <a:srgbClr val="F7F5F0"/>
          </a:solidFill>
          <a:ln w="12700">
            <a:solidFill>
              <a:srgbClr val="F7F5F0"/>
            </a:solidFill>
            <a:prstDash val="solid"/>
          </a:ln>
        </p:spPr>
      </p:sp>
      <p:sp>
        <p:nvSpPr>
          <p:cNvPr id="33" name="Text 30"/>
          <p:cNvSpPr/>
          <p:nvPr/>
        </p:nvSpPr>
        <p:spPr>
          <a:xfrm>
            <a:off x="777240" y="4251960"/>
            <a:ext cx="310896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WHAT YOU DO</a:t>
            </a:r>
            <a:endParaRPr lang="en-US" sz="1100" dirty="0"/>
          </a:p>
        </p:txBody>
      </p:sp>
      <p:sp>
        <p:nvSpPr>
          <p:cNvPr id="34" name="Text 31"/>
          <p:cNvSpPr/>
          <p:nvPr/>
        </p:nvSpPr>
        <p:spPr>
          <a:xfrm>
            <a:off x="777240" y="4562856"/>
            <a:ext cx="3108960" cy="621792"/>
          </a:xfrm>
          <a:prstGeom prst="rect">
            <a:avLst/>
          </a:prstGeom>
          <a:noFill/>
          <a:ln/>
        </p:spPr>
        <p:txBody>
          <a:bodyPr wrap="square" lIns="0" tIns="0" rIns="0" bIns="0" rtlCol="0" anchor="t"/>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Fill in all three lines on the exit ticket in your hand.</a:t>
            </a:r>
            <a:endParaRPr lang="en-US" sz="1600" dirty="0"/>
          </a:p>
        </p:txBody>
      </p:sp>
      <p:sp>
        <p:nvSpPr>
          <p:cNvPr id="35" name="Shape 32"/>
          <p:cNvSpPr/>
          <p:nvPr/>
        </p:nvSpPr>
        <p:spPr>
          <a:xfrm>
            <a:off x="4325112" y="4160520"/>
            <a:ext cx="3538728" cy="1097280"/>
          </a:xfrm>
          <a:prstGeom prst="roundRect">
            <a:avLst>
              <a:gd name="adj" fmla="val 8333"/>
            </a:avLst>
          </a:prstGeom>
          <a:solidFill>
            <a:srgbClr val="F7F5F0"/>
          </a:solidFill>
          <a:ln w="12700">
            <a:solidFill>
              <a:srgbClr val="F7F5F0"/>
            </a:solidFill>
            <a:prstDash val="solid"/>
          </a:ln>
        </p:spPr>
      </p:sp>
      <p:sp>
        <p:nvSpPr>
          <p:cNvPr id="36" name="Text 33"/>
          <p:cNvSpPr/>
          <p:nvPr/>
        </p:nvSpPr>
        <p:spPr>
          <a:xfrm>
            <a:off x="4553712" y="4251960"/>
            <a:ext cx="310896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HOW LONG</a:t>
            </a:r>
            <a:endParaRPr lang="en-US" sz="1100" dirty="0"/>
          </a:p>
        </p:txBody>
      </p:sp>
      <p:sp>
        <p:nvSpPr>
          <p:cNvPr id="37" name="Text 34"/>
          <p:cNvSpPr/>
          <p:nvPr/>
        </p:nvSpPr>
        <p:spPr>
          <a:xfrm>
            <a:off x="4553712" y="4562856"/>
            <a:ext cx="3108960" cy="621792"/>
          </a:xfrm>
          <a:prstGeom prst="rect">
            <a:avLst/>
          </a:prstGeom>
          <a:noFill/>
          <a:ln/>
        </p:spPr>
        <p:txBody>
          <a:bodyPr wrap="square" lIns="0" tIns="0" rIns="0" bIns="0" rtlCol="0" anchor="t"/>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Two minutes, on your own.</a:t>
            </a:r>
            <a:endParaRPr lang="en-US" sz="1600" dirty="0"/>
          </a:p>
        </p:txBody>
      </p:sp>
      <p:sp>
        <p:nvSpPr>
          <p:cNvPr id="38" name="Shape 35"/>
          <p:cNvSpPr/>
          <p:nvPr/>
        </p:nvSpPr>
        <p:spPr>
          <a:xfrm>
            <a:off x="8101584" y="4160520"/>
            <a:ext cx="3538728" cy="1097280"/>
          </a:xfrm>
          <a:prstGeom prst="roundRect">
            <a:avLst>
              <a:gd name="adj" fmla="val 8333"/>
            </a:avLst>
          </a:prstGeom>
          <a:solidFill>
            <a:srgbClr val="F7F5F0"/>
          </a:solidFill>
          <a:ln w="12700">
            <a:solidFill>
              <a:srgbClr val="F7F5F0"/>
            </a:solidFill>
            <a:prstDash val="solid"/>
          </a:ln>
        </p:spPr>
      </p:sp>
      <p:sp>
        <p:nvSpPr>
          <p:cNvPr id="39" name="Text 36"/>
          <p:cNvSpPr/>
          <p:nvPr/>
        </p:nvSpPr>
        <p:spPr>
          <a:xfrm>
            <a:off x="8330184" y="4251960"/>
            <a:ext cx="3108960" cy="274320"/>
          </a:xfrm>
          <a:prstGeom prst="rect">
            <a:avLst/>
          </a:prstGeom>
          <a:noFill/>
          <a:ln/>
        </p:spPr>
        <p:txBody>
          <a:bodyPr wrap="square" lIns="0" tIns="0" rIns="0" bIns="0" rtlCol="0" anchor="ctr"/>
          <a:lstStyle/>
          <a:p>
            <a:pPr indent="0" marL="0">
              <a:buNone/>
            </a:pPr>
            <a:r>
              <a:rPr lang="en-US" sz="1100" b="1" spc="160" kern="0" dirty="0">
                <a:solidFill>
                  <a:srgbClr val="2A9D8F"/>
                </a:solidFill>
                <a:latin typeface="Inter" pitchFamily="34" charset="0"/>
                <a:ea typeface="Inter" pitchFamily="34" charset="-122"/>
                <a:cs typeface="Inter" pitchFamily="34" charset="-120"/>
              </a:rPr>
              <a:t>DONE LOOKS LIKE</a:t>
            </a:r>
            <a:endParaRPr lang="en-US" sz="1100" dirty="0"/>
          </a:p>
        </p:txBody>
      </p:sp>
      <p:sp>
        <p:nvSpPr>
          <p:cNvPr id="40" name="Text 37"/>
          <p:cNvSpPr/>
          <p:nvPr/>
        </p:nvSpPr>
        <p:spPr>
          <a:xfrm>
            <a:off x="8330184" y="4562856"/>
            <a:ext cx="3108960" cy="621792"/>
          </a:xfrm>
          <a:prstGeom prst="rect">
            <a:avLst/>
          </a:prstGeom>
          <a:noFill/>
          <a:ln/>
        </p:spPr>
        <p:txBody>
          <a:bodyPr wrap="square" lIns="0" tIns="0" rIns="0" bIns="0" rtlCol="0" anchor="t"/>
          <a:lstStyle/>
          <a:p>
            <a:pPr indent="0" marL="0">
              <a:lnSpc>
                <a:spcPct val="105000"/>
              </a:lnSpc>
              <a:buNone/>
            </a:pPr>
            <a:r>
              <a:rPr lang="en-US" sz="1600" dirty="0">
                <a:solidFill>
                  <a:srgbClr val="1B1F24"/>
                </a:solidFill>
                <a:latin typeface="Inter" pitchFamily="34" charset="0"/>
                <a:ea typeface="Inter" pitchFamily="34" charset="-122"/>
                <a:cs typeface="Inter" pitchFamily="34" charset="-120"/>
              </a:rPr>
              <a:t>Your ticket handed in at the door on your way out.</a:t>
            </a:r>
            <a:endParaRPr lang="en-US" sz="1600" dirty="0"/>
          </a:p>
        </p:txBody>
      </p:sp>
      <p:sp>
        <p:nvSpPr>
          <p:cNvPr id="41" name="Text 38"/>
          <p:cNvSpPr/>
          <p:nvPr/>
        </p:nvSpPr>
        <p:spPr>
          <a:xfrm>
            <a:off x="548640" y="5486400"/>
            <a:ext cx="11064240" cy="45720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Your worries steer what we do next, so be honest.</a:t>
            </a:r>
            <a:endParaRPr lang="en-US" sz="1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3293D"/>
        </a:solidFill>
      </p:bgPr>
    </p:bg>
    <p:spTree>
      <p:nvGrpSpPr>
        <p:cNvPr id="1" name=""/>
        <p:cNvGrpSpPr/>
        <p:nvPr/>
      </p:nvGrpSpPr>
      <p:grpSpPr>
        <a:xfrm>
          <a:off x="0" y="0"/>
          <a:ext cx="0" cy="0"/>
          <a:chOff x="0" y="0"/>
          <a:chExt cx="0" cy="0"/>
        </a:xfrm>
      </p:grpSpPr>
      <p:sp>
        <p:nvSpPr>
          <p:cNvPr id="2" name="Text 0"/>
          <p:cNvSpPr/>
          <p:nvPr/>
        </p:nvSpPr>
        <p:spPr>
          <a:xfrm>
            <a:off x="6858000" y="137160"/>
            <a:ext cx="4754880" cy="237744"/>
          </a:xfrm>
          <a:prstGeom prst="rect">
            <a:avLst/>
          </a:prstGeom>
          <a:noFill/>
          <a:ln/>
        </p:spPr>
        <p:txBody>
          <a:bodyPr wrap="square" lIns="0" tIns="0" rIns="0" bIns="0" rtlCol="0" anchor="ctr"/>
          <a:lstStyle/>
          <a:p>
            <a:pPr algn="r" indent="0" marL="0">
              <a:buNone/>
            </a:pPr>
            <a:r>
              <a:rPr lang="en-US" sz="850" spc="120" kern="0" dirty="0">
                <a:solidFill>
                  <a:srgbClr val="6E8598"/>
                </a:solidFill>
                <a:latin typeface="Inter" pitchFamily="34" charset="0"/>
                <a:ea typeface="Inter" pitchFamily="34" charset="-122"/>
                <a:cs typeface="Inter" pitchFamily="34" charset="-120"/>
              </a:rPr>
              <a:t>KIT 1 · AI FOUNDATIONS &amp; SAFETY</a:t>
            </a:r>
            <a:endParaRPr lang="en-US" sz="850" dirty="0"/>
          </a:p>
        </p:txBody>
      </p:sp>
      <p:pic>
        <p:nvPicPr>
          <p:cNvPr id="3" name="Image 0" descr="preencoded.png">    </p:cNvPr>
          <p:cNvPicPr>
            <a:picLocks noChangeAspect="1"/>
          </p:cNvPicPr>
          <p:nvPr/>
        </p:nvPicPr>
        <p:blipFill>
          <a:blip r:embed="rId1"/>
          <a:stretch>
            <a:fillRect/>
          </a:stretch>
        </p:blipFill>
        <p:spPr>
          <a:xfrm>
            <a:off x="11137392" y="6355080"/>
            <a:ext cx="219456" cy="201168"/>
          </a:xfrm>
          <a:prstGeom prst="rect">
            <a:avLst/>
          </a:prstGeom>
        </p:spPr>
      </p:pic>
      <p:sp>
        <p:nvSpPr>
          <p:cNvPr id="4" name="Text 1"/>
          <p:cNvSpPr/>
          <p:nvPr/>
        </p:nvSpPr>
        <p:spPr>
          <a:xfrm>
            <a:off x="11430000" y="6327648"/>
            <a:ext cx="411480" cy="256032"/>
          </a:xfrm>
          <a:prstGeom prst="rect">
            <a:avLst/>
          </a:prstGeom>
          <a:noFill/>
          <a:ln/>
        </p:spPr>
        <p:txBody>
          <a:bodyPr wrap="square" lIns="0" tIns="0" rIns="0" bIns="0" rtlCol="0" anchor="ctr"/>
          <a:lstStyle/>
          <a:p>
            <a:pPr algn="r" indent="0" marL="0">
              <a:buNone/>
            </a:pPr>
            <a:r>
              <a:rPr lang="en-US" sz="900" dirty="0">
                <a:solidFill>
                  <a:srgbClr val="6E8598"/>
                </a:solidFill>
                <a:latin typeface="Inter" pitchFamily="34" charset="0"/>
                <a:ea typeface="Inter" pitchFamily="34" charset="-122"/>
                <a:cs typeface="Inter" pitchFamily="34" charset="-120"/>
              </a:rPr>
              <a:t>40</a:t>
            </a:r>
            <a:endParaRPr lang="en-US" sz="900" dirty="0"/>
          </a:p>
        </p:txBody>
      </p:sp>
      <p:sp>
        <p:nvSpPr>
          <p:cNvPr id="5" name="Shape 2"/>
          <p:cNvSpPr/>
          <p:nvPr/>
        </p:nvSpPr>
        <p:spPr>
          <a:xfrm>
            <a:off x="411480" y="6291072"/>
            <a:ext cx="1024128" cy="91440"/>
          </a:xfrm>
          <a:prstGeom prst="roundRect">
            <a:avLst>
              <a:gd name="adj" fmla="val 50000"/>
            </a:avLst>
          </a:prstGeom>
          <a:solidFill>
            <a:srgbClr val="2A4A63"/>
          </a:solidFill>
          <a:ln w="12700">
            <a:solidFill>
              <a:srgbClr val="2A4A63"/>
            </a:solidFill>
            <a:prstDash val="solid"/>
          </a:ln>
        </p:spPr>
      </p:sp>
      <p:sp>
        <p:nvSpPr>
          <p:cNvPr id="6" name="Text 3"/>
          <p:cNvSpPr/>
          <p:nvPr/>
        </p:nvSpPr>
        <p:spPr>
          <a:xfrm>
            <a:off x="411480"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WHY NOW</a:t>
            </a:r>
            <a:endParaRPr lang="en-US" sz="750" dirty="0"/>
          </a:p>
        </p:txBody>
      </p:sp>
      <p:sp>
        <p:nvSpPr>
          <p:cNvPr id="7" name="Shape 4"/>
          <p:cNvSpPr/>
          <p:nvPr/>
        </p:nvSpPr>
        <p:spPr>
          <a:xfrm>
            <a:off x="1545336" y="6291072"/>
            <a:ext cx="1024128" cy="91440"/>
          </a:xfrm>
          <a:prstGeom prst="roundRect">
            <a:avLst>
              <a:gd name="adj" fmla="val 50000"/>
            </a:avLst>
          </a:prstGeom>
          <a:solidFill>
            <a:srgbClr val="2A4A63"/>
          </a:solidFill>
          <a:ln w="12700">
            <a:solidFill>
              <a:srgbClr val="2A4A63"/>
            </a:solidFill>
            <a:prstDash val="solid"/>
          </a:ln>
        </p:spPr>
      </p:sp>
      <p:sp>
        <p:nvSpPr>
          <p:cNvPr id="8" name="Text 5"/>
          <p:cNvSpPr/>
          <p:nvPr/>
        </p:nvSpPr>
        <p:spPr>
          <a:xfrm>
            <a:off x="1545336"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WHAT AI IS</a:t>
            </a:r>
            <a:endParaRPr lang="en-US" sz="750" dirty="0"/>
          </a:p>
        </p:txBody>
      </p:sp>
      <p:sp>
        <p:nvSpPr>
          <p:cNvPr id="9" name="Shape 6"/>
          <p:cNvSpPr/>
          <p:nvPr/>
        </p:nvSpPr>
        <p:spPr>
          <a:xfrm>
            <a:off x="2679192" y="6291072"/>
            <a:ext cx="1024128" cy="91440"/>
          </a:xfrm>
          <a:prstGeom prst="roundRect">
            <a:avLst>
              <a:gd name="adj" fmla="val 50000"/>
            </a:avLst>
          </a:prstGeom>
          <a:solidFill>
            <a:srgbClr val="2A4A63"/>
          </a:solidFill>
          <a:ln w="12700">
            <a:solidFill>
              <a:srgbClr val="2A4A63"/>
            </a:solidFill>
            <a:prstDash val="solid"/>
          </a:ln>
        </p:spPr>
      </p:sp>
      <p:sp>
        <p:nvSpPr>
          <p:cNvPr id="10" name="Text 7"/>
          <p:cNvSpPr/>
          <p:nvPr/>
        </p:nvSpPr>
        <p:spPr>
          <a:xfrm>
            <a:off x="2679192"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THE ONE RULE</a:t>
            </a:r>
            <a:endParaRPr lang="en-US" sz="750" dirty="0"/>
          </a:p>
        </p:txBody>
      </p:sp>
      <p:sp>
        <p:nvSpPr>
          <p:cNvPr id="11" name="Shape 8"/>
          <p:cNvSpPr/>
          <p:nvPr/>
        </p:nvSpPr>
        <p:spPr>
          <a:xfrm>
            <a:off x="3813048" y="6291072"/>
            <a:ext cx="1024128" cy="91440"/>
          </a:xfrm>
          <a:prstGeom prst="roundRect">
            <a:avLst>
              <a:gd name="adj" fmla="val 50000"/>
            </a:avLst>
          </a:prstGeom>
          <a:solidFill>
            <a:srgbClr val="2A4A63"/>
          </a:solidFill>
          <a:ln w="12700">
            <a:solidFill>
              <a:srgbClr val="2A4A63"/>
            </a:solidFill>
            <a:prstDash val="solid"/>
          </a:ln>
        </p:spPr>
      </p:sp>
      <p:sp>
        <p:nvSpPr>
          <p:cNvPr id="12" name="Text 9"/>
          <p:cNvSpPr/>
          <p:nvPr/>
        </p:nvSpPr>
        <p:spPr>
          <a:xfrm>
            <a:off x="3813048"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SAFE PRACTICE</a:t>
            </a:r>
            <a:endParaRPr lang="en-US" sz="750" dirty="0"/>
          </a:p>
        </p:txBody>
      </p:sp>
      <p:sp>
        <p:nvSpPr>
          <p:cNvPr id="13" name="Shape 10"/>
          <p:cNvSpPr/>
          <p:nvPr/>
        </p:nvSpPr>
        <p:spPr>
          <a:xfrm>
            <a:off x="4946904" y="6291072"/>
            <a:ext cx="1024128" cy="91440"/>
          </a:xfrm>
          <a:prstGeom prst="roundRect">
            <a:avLst>
              <a:gd name="adj" fmla="val 50000"/>
            </a:avLst>
          </a:prstGeom>
          <a:solidFill>
            <a:srgbClr val="2A4A63"/>
          </a:solidFill>
          <a:ln w="12700">
            <a:solidFill>
              <a:srgbClr val="2A4A63"/>
            </a:solidFill>
            <a:prstDash val="solid"/>
          </a:ln>
        </p:spPr>
      </p:sp>
      <p:sp>
        <p:nvSpPr>
          <p:cNvPr id="14" name="Text 11"/>
          <p:cNvSpPr/>
          <p:nvPr/>
        </p:nvSpPr>
        <p:spPr>
          <a:xfrm>
            <a:off x="4946904"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THE LAB</a:t>
            </a:r>
            <a:endParaRPr lang="en-US" sz="750" dirty="0"/>
          </a:p>
        </p:txBody>
      </p:sp>
      <p:sp>
        <p:nvSpPr>
          <p:cNvPr id="15" name="Shape 12"/>
          <p:cNvSpPr/>
          <p:nvPr/>
        </p:nvSpPr>
        <p:spPr>
          <a:xfrm>
            <a:off x="6080760" y="6291072"/>
            <a:ext cx="1024128" cy="91440"/>
          </a:xfrm>
          <a:prstGeom prst="roundRect">
            <a:avLst>
              <a:gd name="adj" fmla="val 50000"/>
            </a:avLst>
          </a:prstGeom>
          <a:solidFill>
            <a:srgbClr val="2A4A63"/>
          </a:solidFill>
          <a:ln w="12700">
            <a:solidFill>
              <a:srgbClr val="2A4A63"/>
            </a:solidFill>
            <a:prstDash val="solid"/>
          </a:ln>
        </p:spPr>
      </p:sp>
      <p:sp>
        <p:nvSpPr>
          <p:cNvPr id="16" name="Text 13"/>
          <p:cNvSpPr/>
          <p:nvPr/>
        </p:nvSpPr>
        <p:spPr>
          <a:xfrm>
            <a:off x="6080760" y="6409944"/>
            <a:ext cx="1024128" cy="201168"/>
          </a:xfrm>
          <a:prstGeom prst="rect">
            <a:avLst/>
          </a:prstGeom>
          <a:noFill/>
          <a:ln/>
        </p:spPr>
        <p:txBody>
          <a:bodyPr wrap="square" lIns="0" tIns="0" rIns="0" bIns="0" rtlCol="0" anchor="ctr"/>
          <a:lstStyle/>
          <a:p>
            <a:pPr indent="0" marL="0">
              <a:buNone/>
            </a:pPr>
            <a:r>
              <a:rPr lang="en-US" sz="750" spc="60" kern="0" dirty="0">
                <a:solidFill>
                  <a:srgbClr val="6E8598"/>
                </a:solidFill>
                <a:latin typeface="Inter" pitchFamily="34" charset="0"/>
                <a:ea typeface="Inter" pitchFamily="34" charset="-122"/>
                <a:cs typeface="Inter" pitchFamily="34" charset="-120"/>
              </a:rPr>
              <a:t>STAYING HUMAN</a:t>
            </a:r>
            <a:endParaRPr lang="en-US" sz="750" dirty="0"/>
          </a:p>
        </p:txBody>
      </p:sp>
      <p:sp>
        <p:nvSpPr>
          <p:cNvPr id="17" name="Shape 14"/>
          <p:cNvSpPr/>
          <p:nvPr/>
        </p:nvSpPr>
        <p:spPr>
          <a:xfrm>
            <a:off x="7214616" y="6291072"/>
            <a:ext cx="1024128" cy="9144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7214616" y="6409944"/>
            <a:ext cx="1024128" cy="201168"/>
          </a:xfrm>
          <a:prstGeom prst="rect">
            <a:avLst/>
          </a:prstGeom>
          <a:noFill/>
          <a:ln/>
        </p:spPr>
        <p:txBody>
          <a:bodyPr wrap="square" lIns="0" tIns="0" rIns="0" bIns="0" rtlCol="0" anchor="ctr"/>
          <a:lstStyle/>
          <a:p>
            <a:pPr indent="0" marL="0">
              <a:buNone/>
            </a:pPr>
            <a:r>
              <a:rPr lang="en-US" sz="750" b="1" spc="60" kern="0" dirty="0">
                <a:solidFill>
                  <a:srgbClr val="2A9D8F"/>
                </a:solidFill>
                <a:latin typeface="Inter" pitchFamily="34" charset="0"/>
                <a:ea typeface="Inter" pitchFamily="34" charset="-122"/>
                <a:cs typeface="Inter" pitchFamily="34" charset="-120"/>
              </a:rPr>
              <a:t>CLOSE</a:t>
            </a:r>
            <a:endParaRPr lang="en-US" sz="750" dirty="0"/>
          </a:p>
        </p:txBody>
      </p:sp>
      <p:sp>
        <p:nvSpPr>
          <p:cNvPr id="19" name="Text 16"/>
          <p:cNvSpPr/>
          <p:nvPr/>
        </p:nvSpPr>
        <p:spPr>
          <a:xfrm>
            <a:off x="566928" y="137160"/>
            <a:ext cx="6035040" cy="256032"/>
          </a:xfrm>
          <a:prstGeom prst="rect">
            <a:avLst/>
          </a:prstGeom>
          <a:noFill/>
          <a:ln/>
        </p:spPr>
        <p:txBody>
          <a:bodyPr wrap="square" lIns="0" tIns="0" rIns="0" bIns="0" rtlCol="0" anchor="ctr"/>
          <a:lstStyle/>
          <a:p>
            <a:pPr indent="0" marL="0">
              <a:buNone/>
            </a:pPr>
            <a:r>
              <a:rPr lang="en-US" sz="1000" b="1" spc="220" kern="0" dirty="0">
                <a:solidFill>
                  <a:srgbClr val="F4A825"/>
                </a:solidFill>
                <a:latin typeface="Inter" pitchFamily="34" charset="0"/>
                <a:ea typeface="Inter" pitchFamily="34" charset="-122"/>
                <a:cs typeface="Inter" pitchFamily="34" charset="-120"/>
              </a:rPr>
              <a:t>KEEP THIS</a:t>
            </a:r>
            <a:endParaRPr lang="en-US" sz="1000" dirty="0"/>
          </a:p>
        </p:txBody>
      </p:sp>
      <p:sp>
        <p:nvSpPr>
          <p:cNvPr id="20" name="Text 17"/>
          <p:cNvSpPr/>
          <p:nvPr/>
        </p:nvSpPr>
        <p:spPr>
          <a:xfrm>
            <a:off x="548640" y="420624"/>
            <a:ext cx="11064240" cy="960120"/>
          </a:xfrm>
          <a:prstGeom prst="rect">
            <a:avLst/>
          </a:prstGeom>
          <a:noFill/>
          <a:ln/>
        </p:spPr>
        <p:txBody>
          <a:bodyPr wrap="square" lIns="0" tIns="0" rIns="0" bIns="0" rtlCol="0" anchor="ctr"/>
          <a:lstStyle/>
          <a:p>
            <a:pPr indent="0" marL="0">
              <a:buNone/>
            </a:pPr>
            <a:r>
              <a:rPr lang="en-US" sz="3000" b="1" dirty="0">
                <a:solidFill>
                  <a:srgbClr val="FFFFFF"/>
                </a:solidFill>
                <a:latin typeface="Inter" pitchFamily="34" charset="0"/>
                <a:ea typeface="Inter" pitchFamily="34" charset="-122"/>
                <a:cs typeface="Inter" pitchFamily="34" charset="-120"/>
              </a:rPr>
              <a:t>AI can write a draft, it cannot change a kid’s day</a:t>
            </a:r>
            <a:endParaRPr lang="en-US" sz="3000" dirty="0"/>
          </a:p>
        </p:txBody>
      </p:sp>
      <p:sp>
        <p:nvSpPr>
          <p:cNvPr id="21" name="Shape 18"/>
          <p:cNvSpPr/>
          <p:nvPr/>
        </p:nvSpPr>
        <p:spPr>
          <a:xfrm>
            <a:off x="548640" y="1737360"/>
            <a:ext cx="11064240" cy="2743200"/>
          </a:xfrm>
          <a:prstGeom prst="roundRect">
            <a:avLst>
              <a:gd name="adj" fmla="val 3333"/>
            </a:avLst>
          </a:prstGeom>
          <a:solidFill>
            <a:srgbClr val="F7F5F0"/>
          </a:solidFill>
          <a:ln w="12700">
            <a:solidFill>
              <a:srgbClr val="F7F5F0"/>
            </a:solidFill>
            <a:prstDash val="solid"/>
          </a:ln>
        </p:spPr>
      </p:sp>
      <p:sp>
        <p:nvSpPr>
          <p:cNvPr id="22" name="Shape 19"/>
          <p:cNvSpPr/>
          <p:nvPr/>
        </p:nvSpPr>
        <p:spPr>
          <a:xfrm>
            <a:off x="548640" y="1737360"/>
            <a:ext cx="82296" cy="2743200"/>
          </a:xfrm>
          <a:prstGeom prst="rect">
            <a:avLst/>
          </a:prstGeom>
          <a:solidFill>
            <a:srgbClr val="2A9D8F"/>
          </a:solidFill>
          <a:ln w="12700">
            <a:solidFill>
              <a:srgbClr val="2A9D8F"/>
            </a:solidFill>
            <a:prstDash val="solid"/>
          </a:ln>
        </p:spPr>
      </p:sp>
      <p:sp>
        <p:nvSpPr>
          <p:cNvPr id="23" name="Text 20"/>
          <p:cNvSpPr/>
          <p:nvPr/>
        </p:nvSpPr>
        <p:spPr>
          <a:xfrm>
            <a:off x="1051560" y="1965960"/>
            <a:ext cx="10058400" cy="1691640"/>
          </a:xfrm>
          <a:prstGeom prst="rect">
            <a:avLst/>
          </a:prstGeom>
          <a:noFill/>
          <a:ln/>
        </p:spPr>
        <p:txBody>
          <a:bodyPr wrap="square" lIns="0" tIns="0" rIns="0" bIns="0" rtlCol="0" anchor="ctr"/>
          <a:lstStyle/>
          <a:p>
            <a:pPr indent="0" marL="0">
              <a:lnSpc>
                <a:spcPct val="120000"/>
              </a:lnSpc>
              <a:buNone/>
            </a:pPr>
            <a:r>
              <a:rPr lang="en-US" sz="2800" b="1" dirty="0">
                <a:solidFill>
                  <a:srgbClr val="13293D"/>
                </a:solidFill>
                <a:latin typeface="Inter" pitchFamily="34" charset="0"/>
                <a:ea typeface="Inter" pitchFamily="34" charset="-122"/>
                <a:cs typeface="Inter" pitchFamily="34" charset="-120"/>
              </a:rPr>
              <a:t>It cannot greet a kid at the door by name,</a:t>
            </a:r>
            <a:endParaRPr lang="en-US" sz="2800" dirty="0"/>
          </a:p>
          <a:p>
            <a:pPr indent="0" marL="0">
              <a:lnSpc>
                <a:spcPct val="120000"/>
              </a:lnSpc>
              <a:buNone/>
            </a:pPr>
            <a:r>
              <a:rPr lang="en-US" sz="2800" b="1" dirty="0">
                <a:solidFill>
                  <a:srgbClr val="13293D"/>
                </a:solidFill>
                <a:latin typeface="Inter" pitchFamily="34" charset="0"/>
                <a:ea typeface="Inter" pitchFamily="34" charset="-122"/>
                <a:cs typeface="Inter" pitchFamily="34" charset="-120"/>
              </a:rPr>
              <a:t>notice something is off,</a:t>
            </a:r>
            <a:endParaRPr lang="en-US" sz="2800" dirty="0"/>
          </a:p>
          <a:p>
            <a:pPr indent="0" marL="0">
              <a:lnSpc>
                <a:spcPct val="120000"/>
              </a:lnSpc>
              <a:buNone/>
            </a:pPr>
            <a:r>
              <a:rPr lang="en-US" sz="2800" b="1" dirty="0">
                <a:solidFill>
                  <a:srgbClr val="13293D"/>
                </a:solidFill>
                <a:latin typeface="Inter" pitchFamily="34" charset="0"/>
                <a:ea typeface="Inter" pitchFamily="34" charset="-122"/>
                <a:cs typeface="Inter" pitchFamily="34" charset="-120"/>
              </a:rPr>
              <a:t>and change that kid’s day.</a:t>
            </a:r>
            <a:endParaRPr lang="en-US" sz="2800" dirty="0"/>
          </a:p>
        </p:txBody>
      </p:sp>
      <p:sp>
        <p:nvSpPr>
          <p:cNvPr id="24" name="Text 21"/>
          <p:cNvSpPr/>
          <p:nvPr/>
        </p:nvSpPr>
        <p:spPr>
          <a:xfrm>
            <a:off x="1051560" y="3703320"/>
            <a:ext cx="10058400" cy="640080"/>
          </a:xfrm>
          <a:prstGeom prst="rect">
            <a:avLst/>
          </a:prstGeom>
          <a:noFill/>
          <a:ln/>
        </p:spPr>
        <p:txBody>
          <a:bodyPr wrap="square" lIns="0" tIns="0" rIns="0" bIns="0" rtlCol="0" anchor="ctr"/>
          <a:lstStyle/>
          <a:p>
            <a:pPr indent="0" marL="0">
              <a:buNone/>
            </a:pPr>
            <a:r>
              <a:rPr lang="en-US" sz="3000" b="1" dirty="0">
                <a:solidFill>
                  <a:srgbClr val="2A9D8F"/>
                </a:solidFill>
                <a:latin typeface="Inter" pitchFamily="34" charset="0"/>
                <a:ea typeface="Inter" pitchFamily="34" charset="-122"/>
                <a:cs typeface="Inter" pitchFamily="34" charset="-120"/>
              </a:rPr>
              <a:t>That’s you.</a:t>
            </a:r>
            <a:endParaRPr lang="en-US" sz="3000" dirty="0"/>
          </a:p>
        </p:txBody>
      </p:sp>
      <p:sp>
        <p:nvSpPr>
          <p:cNvPr id="25" name="Text 22"/>
          <p:cNvSpPr/>
          <p:nvPr/>
        </p:nvSpPr>
        <p:spPr>
          <a:xfrm>
            <a:off x="548640" y="4709160"/>
            <a:ext cx="11064240" cy="54864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Use the tool for the paperwork. Keep the teaching.</a:t>
            </a:r>
            <a:endParaRPr lang="en-US" sz="2400" dirty="0"/>
          </a:p>
        </p:txBody>
      </p:sp>
      <p:sp>
        <p:nvSpPr>
          <p:cNvPr id="26" name="Text 23"/>
          <p:cNvSpPr/>
          <p:nvPr/>
        </p:nvSpPr>
        <p:spPr>
          <a:xfrm>
            <a:off x="548640" y="5394960"/>
            <a:ext cx="11064240" cy="365760"/>
          </a:xfrm>
          <a:prstGeom prst="rect">
            <a:avLst/>
          </a:prstGeom>
          <a:noFill/>
          <a:ln/>
        </p:spPr>
        <p:txBody>
          <a:bodyPr wrap="square" lIns="0" tIns="0" rIns="0" bIns="0" rtlCol="0" anchor="ctr"/>
          <a:lstStyle/>
          <a:p>
            <a:pPr algn="ctr" indent="0" marL="0">
              <a:buNone/>
            </a:pPr>
            <a:r>
              <a:rPr lang="en-US" sz="1200" spc="120" kern="0" dirty="0">
                <a:solidFill>
                  <a:srgbClr val="9FB2C2"/>
                </a:solidFill>
                <a:latin typeface="Inter" pitchFamily="34" charset="0"/>
                <a:ea typeface="Inter" pitchFamily="34" charset="-122"/>
                <a:cs typeface="Inter" pitchFamily="34" charset="-120"/>
              </a:rPr>
              <a:t>Human teaching. Life-changing tools.  ·  Built by Adam &amp; Katelyn Spinozzi · certified educators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1: AI Foundations &amp; Safety: The One Hard Rule</dc:title>
  <dc:subject>PptxGenJS Presentation</dc:subject>
  <dc:creator>Adam &amp; Katelyn Spinozzi</dc:creator>
  <cp:lastModifiedBy>Adam &amp; Katelyn Spinozzi</cp:lastModifiedBy>
  <cp:revision>1</cp:revision>
  <dcterms:created xsi:type="dcterms:W3CDTF">2026-08-17T14:11:48Z</dcterms:created>
  <dcterms:modified xsi:type="dcterms:W3CDTF">2026-08-17T14:11:48Z</dcterms:modified>
</cp:coreProperties>
</file>