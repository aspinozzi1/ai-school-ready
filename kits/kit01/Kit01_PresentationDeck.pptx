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this slide up as people arrive. Start on time. Script: "Welcome, everyone…". The full word-for-word text is in the Facilitator Script, keyed to every slide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promises: not a sales pitch (skeptics are important here), not a scare session. Position: AI is a tool: it can take the robotic parts of the job, never the human parts.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 show of hands first: who has used ChatGPT or similar at least once? Sources: RAND RR-A134-25 (25% in 2023-24), RAND RR-A4180-1 (53% of ELA/math/science teachers in 2024-25), Gallup-Walton 2025 (60%), Pew 2026 (54% of teens). All in the References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point (Darling-Hammond et al., Learning Policy Institute 2017): PD changes practice when it includes active learning and sustained follow-up; hence the lab and the 30-day plan. "This isn’t a one-and-done."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plain: typing into ChatGPT/Claude/Gemini/Copilot is not looking up facts. The tool predicts likely next words. That one fact explains both the brilliance and the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Linardon et al., JMIR Mental Health (2025), the GPT-4o literature-review test. This is called hallucination and it is a side effect of prediction, not a bug about to be fixed. If asked "why use it at all?": most classroom uses aren’t factual lookup; they’re drafting and reformatting, where you are the fact-checker by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intern only works because there is a professional in charge. That’s you. This five-word posture is the spine of the entire curriculum: AI drafts, the teacher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categories cover most of what staff will actually do this year. The time-savings stat is Gallup–Walton 2025: weekly users save about 5.9 hours/week, roughly six weeks a year.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session’s first explicit "human moment." Land it plainly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down. Read the rule off the screen, then pause a full three seconds. This is the most important slide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things first, then widen it: anything from a record or about a specific child stays out of the chat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"even in a private chat that I delete?": yes. Deleting your view doesn’t recall what the company received. The rule works because it has no exceptions to remember at 9pm on a Sunday.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FERPA (federal law); Future of Privacy Forum vetting guidance (2024) on open-chat-box oversharing. Keep the not-legal-advice line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distinction keeps the rule accurate without weakening it. If your district has already approved a tool with a data agreement, name it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slide; keep it quick. The de-identification skill on the next slides is what makes the rule cost nothing in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unsafe version pastes a full student record (name, family, academics, behavior) into a stranger’s text box. The safe version gets the same email; the AI needed the situation, never the child. Add the name after it’s back in your own email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Notice the safe version is also the better prompt: more specific about what you actually want. Safer and more useful is the usual trade.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just watched all three moves in the safe swaps. Ten seconds of habit; automatic within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 unsafe (initials + IEP contents). B safe. C unsafe: no name, but "the student who just moved here from Ukraine" identifies a child; fix: "a student who recently arrived from another country and is learning English." D safe: aggregate, no identities. Prompt C splits the room on purpose; resolve with the slide-12 test. 3 minutes, brisk.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Energy up: this is the moment the session exists for. Announce the tool by name. Pairs formed inside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Stuck pairs → option A, it works for every role. Deputize power users to float. Option D comes from a real carpentry classroom; invite electives staff to swap in their station or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45-minute version: skip this task, go straight to the debrief. This is the move that separates people who get real value from people who quit in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room saw an AI mistake, spotlight it warmly; it’s the best possible outcome of the lab. Take 3–4 voices, a minute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 one governed what goes INTO the tool; this governs what comes OUT. Source: U.S. Dept. of Education OET (2023), "humans in the loop."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selling AI leads with these. Naming them is what earns the room’s trust. If you chose to share the founders’ note, their view that over-reliance is the biggest risk lands well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 facts: OpenAI terms: 13+ minimum, under-18 parental permission. Park student-cheating debates here explicitly: "That’s Kit 5; today is about our use."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all three, then ask for a visible nod or thumbs-up. It matters that this is agreed, not just heard. These commitments are the school’s interim stance until a formal policy exists (Kit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 as you talk. Research basis for follow-through: Darling-Hammond et al. (2017): sustained duration and active use are what make PD stick.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up is Kit 2, Prompting Basics: consistently useful results instead of occasionally lucky ones. Certificate language is exactly "Certificate of Completion"; check with your district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exit tickets; collect at the door; they are the school’s PD documentation. Your worries steer what we do next. Thanks,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1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Foundations &amp; Safety:</a:t>
            </a:r>
            <a:endParaRPr lang="en-US" sz="4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47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 for the whole staff, with 15 minutes hands-on.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PROMISES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 is (and isn’t)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session is NOT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sales pitch for AI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scare session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prediction that robots replace teachers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263640" y="150876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33172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clear picture of what these tools actually are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rule that keeps you and your students safe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minutes of actually using AI, hands-on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NOW: THREE NUMBERS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moved faster than any school technology before it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pPr algn="ctr" indent="0" marL="0">
              <a:buNone/>
            </a:pPr>
            <a:r>
              <a:rPr lang="en-US" sz="4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→ </a:t>
            </a:r>
            <a:pPr algn="ctr" indent="0" marL="0">
              <a:buNone/>
            </a:pPr>
            <a:r>
              <a:rPr lang="en-US" sz="4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53%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64008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using AI for work,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2023–24 vs. 2024–25 (RAND)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4340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6400" dirty="0"/>
          </a:p>
        </p:txBody>
      </p:sp>
      <p:sp>
        <p:nvSpPr>
          <p:cNvPr id="12" name="Text 9"/>
          <p:cNvSpPr/>
          <p:nvPr/>
        </p:nvSpPr>
        <p:spPr>
          <a:xfrm>
            <a:off x="434340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during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2024–25 school year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0" y="18288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6400" dirty="0"/>
          </a:p>
        </p:txBody>
      </p:sp>
      <p:sp>
        <p:nvSpPr>
          <p:cNvPr id="15" name="Text 12"/>
          <p:cNvSpPr/>
          <p:nvPr/>
        </p:nvSpPr>
        <p:spPr>
          <a:xfrm>
            <a:off x="8046720" y="3246120"/>
            <a:ext cx="3520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already use AI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schoolwork (Pew, 2026)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we decide in this room, AI is already in our building.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173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0:00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173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&amp; why now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039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03911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actually is (no jargon)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660904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660904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Rule: student privacy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282696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0:22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28269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practice: rewriting risky prompts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3904488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390448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lab: you type, in pairs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22960" y="4526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0:45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920240" y="45262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Staying human · our three commitments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22960" y="51480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920240" y="5148072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 &amp; exit ticket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144000" y="2103120"/>
            <a:ext cx="2514600" cy="2651760"/>
          </a:xfrm>
          <a:prstGeom prst="roundRect">
            <a:avLst>
              <a:gd name="adj" fmla="val 3273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72600" y="233172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372600" y="2743200"/>
            <a:ext cx="2057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actually use an AI tool today, and leave with something for tomorrow morning.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DEMYSTIFYING THE 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chatbot actually does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78308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predicts likely next words.</a:t>
            </a:r>
            <a:pPr indent="0" marL="0"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Not a database. Not a search engine. A very sophisticated pattern-continuation machine, trained on enormous amounts of text.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10908792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writing sounds so fluent: fluent is what it was trained to produce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can be smoothly, confidently wrong: it continues patterns instead of checking facts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fact that explains almost everything you’ll ever see AI do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PEER-REVIEWED EVIDENCE,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 be confidently wrong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19.9%</a:t>
            </a:r>
            <a:endParaRPr lang="en-US" sz="6600" dirty="0"/>
          </a:p>
        </p:txBody>
      </p:sp>
      <p:sp>
        <p:nvSpPr>
          <p:cNvPr id="9" name="Text 6"/>
          <p:cNvSpPr/>
          <p:nvPr/>
        </p:nvSpPr>
        <p:spPr>
          <a:xfrm>
            <a:off x="100584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citations produced by a leading AI model in a 2025 test were entirely fabricated. The papers did not exist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080760" y="1554480"/>
            <a:ext cx="521208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80760" y="196596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45.4%</a:t>
            </a:r>
            <a:endParaRPr lang="en-US" sz="6600" dirty="0"/>
          </a:p>
        </p:txBody>
      </p:sp>
      <p:sp>
        <p:nvSpPr>
          <p:cNvPr id="12" name="Text 9"/>
          <p:cNvSpPr/>
          <p:nvPr/>
        </p:nvSpPr>
        <p:spPr>
          <a:xfrm>
            <a:off x="6446520" y="3246120"/>
            <a:ext cx="4480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the real citations still contained errors, and every one of them looked perfect on the page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follows: verify anything factual before you rely on it.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MENTAL MODEL FOR THE WHOLE SERIES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5544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is an eager intern.</a:t>
            </a:r>
            <a:endParaRPr lang="en-US" sz="4500" dirty="0"/>
          </a:p>
        </p:txBody>
      </p:sp>
      <p:sp>
        <p:nvSpPr>
          <p:cNvPr id="7" name="Text 4"/>
          <p:cNvSpPr/>
          <p:nvPr/>
        </p:nvSpPr>
        <p:spPr>
          <a:xfrm>
            <a:off x="640080" y="274320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Fast, tireless, surprisingly capable, desperate to please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make things up rather than admit it doesn’t know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meets your students unsupervised, never sends unread work home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drafts. The teacher decides.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INTERN EARNS ITS KEEP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it’s genuinely good at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drafts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newsletters, routine emails, letters home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0848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passage → three reading levels in a minute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64008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scaffolds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notes → rubrics, word banks, question sets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63640" y="3246120"/>
            <a:ext cx="5349240" cy="1600200"/>
          </a:xfrm>
          <a:prstGeom prst="roundRect">
            <a:avLst>
              <a:gd name="adj" fmla="val 5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41071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Reformatting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386791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content as a quiz, a table, station cards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166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who use AI weekly report saving ~5.9 hours a week: the paperwork part of the job, not the teaching part. (Gallup &amp; Walton Family Foundation, 2025)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PURPOSE, FOREVER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can’t do, at any price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students: that this class shuts down after lunch, that this kid needs a win today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its own facts (that’s you)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Care: it produces text, not judgment, and not relationships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0624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3891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on this slide is your job on purpose. The tool buys back time FOR this list; it never takes this list away.</a:t>
            </a:r>
            <a:endParaRPr lang="en-US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19659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put student personally identifiable information into a public AI tool.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14400" y="43434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name. Not a detail that could identify a child. Ever.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463040" y="525780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other AI choice is a judgment call you’re qualified to make. This one isn’t a judgment call. It’s the line.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RULE, MADE CONCRETE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counts as student PII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records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Names, initials, photos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ID numbers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Grades &amp; test scores tied to a student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IEP / 504 contents &amp; accommodations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a child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24028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Discipline history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or diagnosis information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Family details, addresses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about an identifiable student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WELL-MEANING PEOPLE SLIP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sneaky ones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2704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"J.M. in my 3rd period with the anxiety diagnosis"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635240" y="152704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Initials + context = identifiable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76148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only 7th grader who uses a wheelchair"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7635240" y="276148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One-of-a-kind details identify without a name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886200"/>
            <a:ext cx="676656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995928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"The new student who just arrived from Ukraine"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7635240" y="399592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Rare circumstance = identifiable in your school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52578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53492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anyone who knows our school figure out who this is?  If yes, it doesn’t go in.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LEGAL REASON, ONE PRACTICAL REASON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rule exists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FERPA protects student education records, and schools answer for how record information is shared. A public AI tool is a third party with no agreement with our district. Where typed data goes depends on terms of service that change without asking us.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4114800"/>
          </a:xfrm>
          <a:prstGeom prst="roundRect">
            <a:avLst>
              <a:gd name="adj" fmla="val 2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Practical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open chat box makes oversharing effortless; privacy researchers flag exactly this. And nobody in this room wants to be the example in the district’s cautionary email. One rule, followed always, means that’s never you.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Educators sharing safe practice, not legal advice. District-specific questions go to the district office.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THE RULE DOESN’T OVERREACH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“Public tool” vs. district-approved tool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Public tool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6012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you signed up for yourself: free ChatGPT, Claude, Gemini, personal accounts.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 applies. Always.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District-approved tool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83680" y="2194560"/>
            <a:ext cx="48463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Vetted by the district, with a signed student-data agreement.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we adopt one, you’ll be told explicitly what changes. Until you’re told: every tool is a public tool.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NOW THE GOOD NEWS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 barely costs you anything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6459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everything AI is useful for doesn’t need student identities at all.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" y="265176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05840" y="292608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4th grader reading below grade level”
</a:t>
            </a:r>
            <a:pPr indent="0" marL="0">
              <a:lnSpc>
                <a:spcPct val="140000"/>
              </a:lnSpc>
              <a:buNone/>
            </a:pPr>
            <a:r>
              <a:rPr lang="en-US" sz="2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never need:  </a:t>
            </a:r>
            <a:pPr indent="0" marL="0">
              <a:lnSpc>
                <a:spcPct val="140000"/>
              </a:lnSpc>
              <a:buNone/>
            </a:pPr>
            <a:r>
              <a:rPr lang="en-US" sz="2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“Marcus Chen”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brings us to the ten-second skill that makes this automatic →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EMAIL, ZERO RISK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#1: the parent email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an email to Jayden Miller’s mom about his three missing assignments and his outburst in class Tuesday.”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657600"/>
            <a:ext cx="10972800" cy="2148840"/>
          </a:xfrm>
          <a:prstGeom prst="roundRect">
            <a:avLst>
              <a:gd name="adj" fmla="val 383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8221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email to a parent about a middle schooler with several missing assignments and a recent difficult day in class. Firm but supportive; end by inviting a conversation.”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SAFER IS ALSO JUST A BETTER PROMPT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swap #2: differentiation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UNSAFE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for Sofia R., who has a reading IEP with a 2nd-grade fluency goal.”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640080" y="3520440"/>
            <a:ext cx="10972800" cy="1965960"/>
          </a:xfrm>
          <a:prstGeom prst="roundRect">
            <a:avLst>
              <a:gd name="adj" fmla="val 418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6850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40233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2nd-grade reading level, same key ideas, shorter sentences, and add a five-word picture-supported vocabulary list.”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640080" y="5715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never needed the diagnosis; it needed the reading level and the format.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SECONDS, THEN IT’S AUTOMATIC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De-identify like a pro: the 3 moves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Strip identity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68680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names, no initials, no one-of-a-kind details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Generalize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4636008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7th grader” · “several students” · “a parent”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718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need, not the child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8403336" y="38404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level, behavior pattern, scaffold you want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school prompt you ever write passes through these three moves.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SAFE OR UNSAFE?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try: spot the problem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4173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417320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72184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home about D.T.’s IEP accommodations for the field trip.”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2496312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96312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96312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51176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behavior-reflection sheet for elementary students, friendly tone.”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575304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575304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575304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30168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write a welcome plan for the student who just moved here from Ukraine.”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40080" y="4654296"/>
            <a:ext cx="685800" cy="86868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654296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654296"/>
            <a:ext cx="1014984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0916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“Summarize strategies for a class where a third of students read below grade level.”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15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time. Devices out.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40080" y="2331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Pair up · one screen per pair · open the tool we’re using today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10896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108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06324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information: we practice like we play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3977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3931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has to be good; this is a sandbox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22960" y="48463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846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48006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gives you something mediocre, don’t settle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1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useful prompt: pick one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298448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14400" y="1490472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4904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1783080" y="1389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FAMILIES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783080" y="1645920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warm, professional newsletter blurb for families about [any upcoming school event], under 120 words.”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40080" y="2414016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2606040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26060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783080" y="25054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783080" y="2761488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review quiz on [any topic you teach], mixed difficulty, with an answer key.”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640080" y="3529584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4400" y="3721608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372160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1783080" y="3621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783080" y="3877056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paragraph at three different reading levels.” Then paste any paragraph you already have.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4645152"/>
            <a:ext cx="10972800" cy="987552"/>
          </a:xfrm>
          <a:prstGeom prst="roundRect">
            <a:avLst>
              <a:gd name="adj" fmla="val 833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4400" y="4837176"/>
            <a:ext cx="603504" cy="603504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83717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100" dirty="0"/>
          </a:p>
        </p:txBody>
      </p:sp>
      <p:sp>
        <p:nvSpPr>
          <p:cNvPr id="25" name="Text 22"/>
          <p:cNvSpPr/>
          <p:nvPr/>
        </p:nvSpPr>
        <p:spPr>
          <a:xfrm>
            <a:off x="1783080" y="4736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CTE &amp; ELECTIVES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783080" y="4992624"/>
            <a:ext cx="9509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“Create a five-question tool safety check for the miter saw station, mixed question formats, with an answer key.” Swap in any station, lab, kitchen, or instrument.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whichever is closest to your real job. Type it. Read what comes back.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TASK 2 OF 2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push back: twice, minimum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accept the first draft. Tell it what’s wrong, like you would an intern: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097280" y="214884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17320" y="219456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“Warmer.”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097280" y="301752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417320" y="306324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“Shorter.”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1097280" y="388620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417320" y="393192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5th grader wouldn’t know three of these words — fix that.”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1097280" y="4754880"/>
            <a:ext cx="10058400" cy="713232"/>
          </a:xfrm>
          <a:prstGeom prst="roundRect">
            <a:avLst>
              <a:gd name="adj" fmla="val 1153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17320" y="4800600"/>
            <a:ext cx="9418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question four harder and add a diagram question.”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the intern’s. The third one is yours.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DEBRIEF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notice?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surprised you?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was better than you expected, and what was worse?</a:t>
            </a:r>
            <a:endParaRPr lang="en-US" sz="2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3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anyone catch it being wrong?</a:t>
            </a:r>
            <a:endParaRPr lang="en-US" sz="23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828800"/>
          </a:xfrm>
          <a:prstGeom prst="roundRect">
            <a:avLst>
              <a:gd name="adj" fmla="val 4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patterns worth naming:  </a:t>
            </a:r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draft is rarely the good draft; the value shows up when you push back. And everything you just made still needs your eyes: it’s fast, it’s fluent, and it’s unsigned until a professional signs it.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COMPANION HABIT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human stays in charge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or a parent without a human reading it first.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640080" y="36118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because it’s usually wrong, but because sometimes it is, and your name is on it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Federal guidance says it in three words: keep humans in the loop (U.S. Dept. of Education, 2023)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this building: AI drafts, the teacher decides. Always.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REQUIRES HONESTY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limits: the risks are real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Over-reliance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96112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tool writes everything, your writing muscle atrophies; students’ too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Sameness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4663440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beige, everyone-sounds-alike quality; your voice is worth protecting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3108960"/>
          </a:xfrm>
          <a:prstGeom prst="roundRect">
            <a:avLst>
              <a:gd name="adj" fmla="val 264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430768" y="23774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easy to slide from “AI drafts it” to “AI decides it” without noticing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guardrails you learned today exist because these are genuine, not theoretical.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QUESTION EVERY FACULTY ASKS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about students using it?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public chatbots require users to be 13+, and minors need parent/guardian permission under the terms of service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student use is a real policy question, not a free-for-all, and not banned by default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deserves its own session: that’s Kit 5, AI &amp; Academic Integrity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scope is the adults: our use, our privacy practice, our judgment. Get that right and we’re ready to lead students well.</a:t>
            </a:r>
            <a:endParaRPr lang="en-US" sz="1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STARTING TODAY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68680" y="192024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1920240" y="178308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personally identifiable information in public AI tools. Ever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868680" y="324612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246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1920240" y="310896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human reviews everything AI-drafted before it reaches a student or family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868680" y="4572000"/>
            <a:ext cx="777240" cy="7772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5720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1920240" y="4434840"/>
            <a:ext cx="9509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we find something that works, we share it</a:t>
            </a:r>
            <a:endParaRPr lang="en-US" sz="2300" dirty="0"/>
          </a:p>
        </p:txBody>
      </p:sp>
      <p:sp>
        <p:nvSpPr>
          <p:cNvPr id="16" name="Text 13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those three?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one real task with AI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Something already on your to-do list. Push back twice, review it, use it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de-identification drill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real prompt, written unsafe then safe, on paper; the rep that builds the habit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 one discovery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colleague, one specific thing: a win or a useful failure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 you don’t use within two days mostly evaporates. The action sheet in your hands is the antidote.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 all eight → the AI-Ready Educator Certificate of Completion.</a:t>
            </a:r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Real documentation of real professional learning. Follow-ups run inside existing PLC time; nothing new to schedule.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· AI Foundations &amp; Safety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051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minutes: the exit ticket.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you’re taking · one worry you still have · one thing you’ll try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40080" y="2651760"/>
            <a:ext cx="10972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can write a draft.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cannot greet a kid at the door by name,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something’s off, and change that kid’s day.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That’s you.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tool for the paperwork — keep the teaching.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1: AI Foundations &amp; Safety: The One Hard Rule</dc:title>
  <dc:subject>PptxGenJS Presentation</dc:subject>
  <dc:creator>Adam &amp; Katelyn Spinozzi</dc:creator>
  <cp:lastModifiedBy>Adam &amp; Katelyn Spinozzi</cp:lastModifiedBy>
  <cp:revision>1</cp:revision>
  <dcterms:created xsi:type="dcterms:W3CDTF">2026-08-08T11:56:51Z</dcterms:created>
  <dcterms:modified xsi:type="dcterms:W3CDTF">2026-08-08T11:56:51Z</dcterms:modified>
</cp:coreProperties>
</file>