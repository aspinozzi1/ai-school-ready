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The founders' note at the front of the script is an optional moment before slide 2 if you want to share their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numbers verified: Pew (2026) 54% of teens use AI for schoolwork; RAND RR-A4180-1 (2025) 54% of students, guidance lagging. The framing: use is normal, rules are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Pope, Miles &amp; Zárate (2024), Computers and Education: AI. Same-school before/after comparison. The deliberate visual: the two numbers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a real assignment leaves this room with its AI rules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Stanford GSE / Challenge Success: 15+ years of student surveys. Cheating correlates with disengagement, pressure, stress, feeling disrespected; rarely tool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Terms of Use: 13+, parental permission under 18. The ban critique is structural, not moral: it punishes honesty and forfeits the teaching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stats verified. Land the equity point: think about which students get accused under detector policing. This slide sets up the session red 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This is the line staff must carry out of the room. Everything after this slide is the constructive alternative.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framework. Lanes are per assignment, and parts of one assignment can sit in different lanes (that lands on slide 12 and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labels are on the handout verbatim, ready to copy onto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fixed templates instead of free writing: ask thirty students for two honest sentences and you get thirty different things. Checkboxes make honesty the same size for everyone. Be careful not to oversell this as policy: the ask today is one assignment in their own room, and wider adoption is a decision leadership makes later, if it ever does. The soft landing is load-bearing: punish disclosure once and the whole class learns to hide. Say that sentence explicitly. Both templates are on the handout, copy-ready.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after the room calls each one. 45-min cut: scenarios 1 and 3 only. Scenario 4 sets up the upgrades segment: when a rule is unenforceable, the upgrade carries the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four upgrades. Emphasize: these are better teaching regardless of AI; integrity is a side effect of good design. Plain words, no jargon: the room should hear four simple things they could do to any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overcorrecting: four upgrades on every assignment is burnout. One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script staff will actually use. Process evidence stands up with parents and admin; vibes and scores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ICAI Fundamental Values (3rd ed., 2021). One minute, then the lab. Frame: we're building conditions where honest work is normal, not a surveillance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nineteen minutes, one real assignment, four things to build. Dark slide. Pairs formed inside two minutes. This lab is thinking and writing, not prompting; Wi-Fi optional. Protect every minute. Ms. Rivera builds ONE persuasive essay across all four steps, and you see it through to completion: the assignment she starts with (slide 20), her Box being filled in (slide 21), the prompt she types to get the wording right (slide 22), her follow-ups and what each changed (slide 23), and the finished pair a student actually receives and returns (slides 26 and 27).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three minutes, name the lane, and if the assignment has parts, name a lane per part. Circulate. Rivera's essay is the running exemplar for the whole lab: three parts, three lanes, one defense sentence. The common stall is an assignment with parts in different lanes; the fix is naming a lane per part, exactly as her card shows. The next slide is that assignment in full, so nobody has to imagine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assignment Ms. Rivera is about to label, in full, so nobody has to imagine it. It is a good assignment already: clear task, local anchor, real deadline. Read the red strip out loud, because it is the honest state of most assignments in most buildings right now: everything is spelled out except the one thing half the class will do tonight. Keep this up while pairs get their own assignment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school template on the left is the one from slide 11; the big card is Ms. Rivera's Box for her persuasive essay, the same essay from step 1. Mimic her box with your own assignment: at worst, copy its shape line for line. 6 minutes. Push for student language, not policy language. The next two slides show how she got that wording: the prompt she typed, then every follow-up and what it changed. 45-min cut: check the lane boxes and fill the okay line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Box is hers, the rules are hers, and the wording is the part that used to take an evening. This is Kit 2's four-part formula aimed at her own policy language: role in teal, task in navy, context in amber, format in green. Two things to point at. The context part is where her three rules go in, unedited, which is why what comes back is her policy and not a generic one. And the last sentence of the format part, asking what the rules still leave unclear, is the honest move: it hands her the gray areas before a student finds them. AI drafts, the teacher decides; she rewrote the Not okay line herself.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follow-ups, one chat, nothing re-pasted, and the whole thread ran about four minutes. Read the right-hand column out loud; that is what each follow-up actually bought her. Two of these are worth naming. The soft-landing round is the one that keeps the whole system working: a Box that ends in a threat teaches the class to hide. And the loophole test is a move any teacher can steal on any assignment: ask the tool to attack your own rules before a student does. She still typed the final wording herself.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One upgrade only. Rivera's pick is a visible-thinking checkpoint on the same essay. Weakest results come from bolting on a quiz; strongest from anchoring to the room and collecting the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step, four minutes, alone and quiet: write the first two sentences you will say when work feels wrong. This is the step people thank you for later. The handout has a box for it. Rivera's sentences stay on screen as the model: curiosity first, no accusation anywhere. When the writing winds down, the next two slides are her finished pair, the sheet that goes out and the block that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Everything on this slide is printable as it stands, and it is what her students will hold on Monday. Walk the three lane rows first: research is lane 3, the outline is lane 2, the final draft is lane 1, which is the per-part answer from step 1 turned into checkboxes. Then read the Okay and Not okay lines out loud and let the room hear that there is not one policy word in either of them. Point at the last line: the Box ends with a promise of a conversation, which is the soft landing doing its job before anything has gone wrong. If a teacher only copies one screen from this hour, it is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other half of the system, filled in, exactly as it comes back at the end of a student's essay. Notice how little it costs anybody: four checkboxes and two short lines for the student, twenty seconds for the teacher. No names on it, because the block travels with the work. Read the right-hand card's last paragraph out loud, because it is the rule that keeps disclosure honest: a checked box is never the evidence in a case against a kid. This block is on your handout as a fixed template; do not let it drift into "write me two honest sentences," because thirty students will hand you thirty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two voices. If a box is excellent, name it as the staff model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inventory land. The consistency point is the school-level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honest-limits slide every kit carries. End on the relationships line; it's the one they'll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then the closing line. These commitments echo Kit 1's format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4 classroom agreement is where this takes root; flag it as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Small actions; the difference between a PD hour and a changed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gray-area answers set follow-up #2's calibration case.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You just wrote the answers to those three questions for your classroom.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5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&amp; Academic Integrity:</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Setting Clear Expectations with Students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your next assignment's AI rules written, in language students can quote back.</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reality check: half her students use AI; nobody told them the rules.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MOST STUDENTS USE AI. MOST WERE NEVER TOLD THE RULES.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elephant, measured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HOW MANY TEENS USE AI FOR SCHOOL</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U.S. teens say they use AI to help with schoolwork. (Pew Research Center, 2026)</a:t>
            </a:r>
            <a:endParaRPr lang="en-US" sz="160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SCHOOLS HAVE TOLD THEM</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Not much</a:t>
            </a:r>
            <a:endParaRPr lang="en-US" sz="44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RAND finds student AI use at 54% while school guidance lags far behind adoption. Most students have had little explicit instruction or written guidance. (RAND,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silence is the problem we can fix today.</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blood pressure, lowered: the cheating rate didn't move.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CHATGPT VS. AFTER: THE STANFORD SURVEYS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number that should lower your blood pressure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CHEATING BEFORE CHATGPT</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60–70%</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high schoolers self-reported some cheating behavior in the years before ChatGPT existed. (Lee, Pope et al., 2024)</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CHEATING AFTER CHATGPT</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60–70%</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schools, surveyed after: the rate did not move. The forms shift; the amount doesn't. (Same study)</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problem is older than the bot. Panic is not a policy; clarity is.</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her next assignment leaves with its AI rules written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What's actually happening, and the two traps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three lanes + the two ready-made boxes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0:20</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Assignment upgrades + the hard conversation</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the integrity plan for a real assignment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your next assignment's lane named, its AI Box filled in, and your words for the hard conversation. Ready before you need them.</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lens: kids cheat from pressure and disengagement, not tool access.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YEARS OF ASKING STUDENTS DIRECTLY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students actually cheat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Disengagement: the work feels like busywork with a due date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Pressure: grades, college, family expectations, not enough sleep</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feeling respected or connected to the teacher</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Almost never: "because a new tool exists"</a:t>
            </a:r>
            <a:endParaRPr lang="en-US" sz="2100" dirty="0"/>
          </a:p>
        </p:txBody>
      </p:sp>
      <p:sp>
        <p:nvSpPr>
          <p:cNvPr id="15" name="Shape 12"/>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14400" y="4617720"/>
            <a:ext cx="10424160" cy="96012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Access changes what a stressed, disengaged kid does at 11 p.m. It doesn't create the stress or the disengagement. So the strategy can't just be about AI.</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verdict on bans: honest kids lose, teaching stops. Not her policy.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TRAP #1</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pretend ban</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 AI, ever," announced to a hallway where half the students already use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Honest kids follow it, and compete against classmates who don't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Dishonest use goes underground, where nobody can teach about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school's official rule becomes one everyone knows is fake</a:t>
            </a:r>
            <a:endParaRPr lang="en-US" sz="2100" dirty="0"/>
          </a:p>
        </p:txBody>
      </p:sp>
      <p:sp>
        <p:nvSpPr>
          <p:cNvPr id="15" name="Shape 12"/>
          <p:cNvSpPr/>
          <p:nvPr/>
        </p:nvSpPr>
        <p:spPr>
          <a:xfrm>
            <a:off x="640080" y="448056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14400" y="4617720"/>
            <a:ext cx="10424160" cy="9601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Worth knowing: </a:t>
            </a:r>
            <a:pPr indent="0" marL="0">
              <a:buNone/>
            </a:pPr>
            <a:r>
              <a:rPr lang="en-US" sz="1700" dirty="0">
                <a:solidFill>
                  <a:srgbClr val="1B1F24"/>
                </a:solidFill>
                <a:latin typeface="Inter" pitchFamily="34" charset="0"/>
                <a:ea typeface="Inter" pitchFamily="34" charset="-122"/>
                <a:cs typeface="Inter" pitchFamily="34" charset="-120"/>
              </a:rPr>
              <a:t>major chatbots' own terms require users 13+, with parent permission under 18. Age rules are real and belong in your expectations. "Banned because we said so" is not a strategy.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verdict on detectors: the maker shut its own down. Not evidence.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TRAP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Detector policing</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OPENAI'S OWN DETECTOR</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4400" b="1" dirty="0">
                <a:solidFill>
                  <a:srgbClr val="B4453A"/>
                </a:solidFill>
                <a:latin typeface="Inter" pitchFamily="34" charset="0"/>
                <a:ea typeface="Inter" pitchFamily="34" charset="-122"/>
                <a:cs typeface="Inter" pitchFamily="34" charset="-120"/>
              </a:rPr>
              <a:t>Shut down</a:t>
            </a:r>
            <a:endParaRPr lang="en-US" sz="44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OpenAI retired its own AI-text detector within six months "due to its low rate of accuracy": it caught 26% of AI text and falsely flagged human writing 9% of the time. (OpenAI, 2023)</a:t>
            </a:r>
            <a:endParaRPr lang="en-US" sz="155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WHO GETS FALSELY FLAGGED</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&gt;50%</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of real essays by non-native English speakers were misclassified as AI by commercial detectors. Native speakers: almost never. (Liang et al., Patterns, 2023)</a:t>
            </a:r>
            <a:endParaRPr lang="en-US" sz="155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A detector score alone is not evidence enough to accuse.</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adopted: no accusation on a detector score alone.</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RED LINE OF THIS SESSION</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No accusation ever rests on</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detector score alone.</a:t>
            </a:r>
            <a:endParaRPr lang="en-US" sz="4000" dirty="0"/>
          </a:p>
        </p:txBody>
      </p:sp>
      <p:sp>
        <p:nvSpPr>
          <p:cNvPr id="14" name="Text 11"/>
          <p:cNvSpPr/>
          <p:nvPr/>
        </p:nvSpPr>
        <p:spPr>
          <a:xfrm>
            <a:off x="822960" y="4114800"/>
            <a:ext cx="10332720" cy="128016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What works instead: clear expectations per assignment · assignments where the thinking is visible · a fair conversation when something feels wrong. Nothing to buy. That's the rest of this hour.</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framework: three lanes. AI-free, AI-assisted, AI-included.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FRAMEWORK OF THE 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lanes, no fog</a:t>
            </a:r>
            <a:endParaRPr lang="en-US" sz="3200" dirty="0"/>
          </a:p>
        </p:txBody>
      </p:sp>
      <p:sp>
        <p:nvSpPr>
          <p:cNvPr id="14" name="Shape 11"/>
          <p:cNvSpPr/>
          <p:nvPr/>
        </p:nvSpPr>
        <p:spPr>
          <a:xfrm>
            <a:off x="640080" y="1554480"/>
            <a:ext cx="3520440" cy="3931920"/>
          </a:xfrm>
          <a:prstGeom prst="roundRect">
            <a:avLst>
              <a:gd name="adj" fmla="val 2338"/>
            </a:avLst>
          </a:prstGeom>
          <a:solidFill>
            <a:srgbClr val="F7F5F0"/>
          </a:solidFill>
          <a:ln w="12700">
            <a:solidFill>
              <a:srgbClr val="F7F5F0"/>
            </a:solidFill>
            <a:prstDash val="solid"/>
          </a:ln>
        </p:spPr>
      </p:sp>
      <p:sp>
        <p:nvSpPr>
          <p:cNvPr id="15" name="Text 12"/>
          <p:cNvSpPr/>
          <p:nvPr/>
        </p:nvSpPr>
        <p:spPr>
          <a:xfrm>
            <a:off x="868680" y="1783080"/>
            <a:ext cx="3063240" cy="36576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 · AI-FREE</a:t>
            </a:r>
            <a:endParaRPr lang="en-US" sz="1700" dirty="0"/>
          </a:p>
        </p:txBody>
      </p:sp>
      <p:sp>
        <p:nvSpPr>
          <p:cNvPr id="16" name="Text 13"/>
          <p:cNvSpPr/>
          <p:nvPr/>
        </p:nvSpPr>
        <p:spPr>
          <a:xfrm>
            <a:off x="86868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point is your own thinking, from scratch.</a:t>
            </a:r>
            <a:endParaRPr lang="en-US" sz="1600" dirty="0"/>
          </a:p>
        </p:txBody>
      </p:sp>
      <p:sp>
        <p:nvSpPr>
          <p:cNvPr id="17" name="Text 14"/>
          <p:cNvSpPr/>
          <p:nvPr/>
        </p:nvSpPr>
        <p:spPr>
          <a:xfrm>
            <a:off x="86868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In-class essays · skills checks · diagnostic drafts</a:t>
            </a:r>
            <a:endParaRPr lang="en-US" sz="1350" dirty="0"/>
          </a:p>
        </p:txBody>
      </p:sp>
      <p:sp>
        <p:nvSpPr>
          <p:cNvPr id="18" name="Shape 15"/>
          <p:cNvSpPr/>
          <p:nvPr/>
        </p:nvSpPr>
        <p:spPr>
          <a:xfrm>
            <a:off x="4343400" y="1554480"/>
            <a:ext cx="3520440" cy="3931920"/>
          </a:xfrm>
          <a:prstGeom prst="roundRect">
            <a:avLst>
              <a:gd name="adj" fmla="val 2338"/>
            </a:avLst>
          </a:prstGeom>
          <a:solidFill>
            <a:srgbClr val="F7F5F0"/>
          </a:solidFill>
          <a:ln w="12700">
            <a:solidFill>
              <a:srgbClr val="F7F5F0"/>
            </a:solidFill>
            <a:prstDash val="solid"/>
          </a:ln>
        </p:spPr>
      </p:sp>
      <p:sp>
        <p:nvSpPr>
          <p:cNvPr id="19" name="Text 16"/>
          <p:cNvSpPr/>
          <p:nvPr/>
        </p:nvSpPr>
        <p:spPr>
          <a:xfrm>
            <a:off x="4572000" y="1783080"/>
            <a:ext cx="306324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 AI-ASSISTED</a:t>
            </a:r>
            <a:endParaRPr lang="en-US" sz="1700" dirty="0"/>
          </a:p>
        </p:txBody>
      </p:sp>
      <p:sp>
        <p:nvSpPr>
          <p:cNvPr id="20" name="Text 17"/>
          <p:cNvSpPr/>
          <p:nvPr/>
        </p:nvSpPr>
        <p:spPr>
          <a:xfrm>
            <a:off x="457200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Brainstorm, feedback, polish allowed; thinking stays yours; use is disclosed.</a:t>
            </a:r>
            <a:endParaRPr lang="en-US" sz="1600" dirty="0"/>
          </a:p>
        </p:txBody>
      </p:sp>
      <p:sp>
        <p:nvSpPr>
          <p:cNvPr id="21" name="Text 18"/>
          <p:cNvSpPr/>
          <p:nvPr/>
        </p:nvSpPr>
        <p:spPr>
          <a:xfrm>
            <a:off x="457200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Most take-home writing · projects · prep work</a:t>
            </a:r>
            <a:endParaRPr lang="en-US" sz="1350" dirty="0"/>
          </a:p>
        </p:txBody>
      </p:sp>
      <p:sp>
        <p:nvSpPr>
          <p:cNvPr id="22" name="Shape 19"/>
          <p:cNvSpPr/>
          <p:nvPr/>
        </p:nvSpPr>
        <p:spPr>
          <a:xfrm>
            <a:off x="8046720" y="1554480"/>
            <a:ext cx="3520440" cy="3931920"/>
          </a:xfrm>
          <a:prstGeom prst="roundRect">
            <a:avLst>
              <a:gd name="adj" fmla="val 2338"/>
            </a:avLst>
          </a:prstGeom>
          <a:solidFill>
            <a:srgbClr val="F7F5F0"/>
          </a:solidFill>
          <a:ln w="12700">
            <a:solidFill>
              <a:srgbClr val="F7F5F0"/>
            </a:solidFill>
            <a:prstDash val="solid"/>
          </a:ln>
        </p:spPr>
      </p:sp>
      <p:sp>
        <p:nvSpPr>
          <p:cNvPr id="23" name="Text 20"/>
          <p:cNvSpPr/>
          <p:nvPr/>
        </p:nvSpPr>
        <p:spPr>
          <a:xfrm>
            <a:off x="8275320" y="1783080"/>
            <a:ext cx="3063240" cy="365760"/>
          </a:xfrm>
          <a:prstGeom prst="rect">
            <a:avLst/>
          </a:prstGeom>
          <a:noFill/>
          <a:ln/>
        </p:spPr>
        <p:txBody>
          <a:bodyPr wrap="square" lIns="0" tIns="0" rIns="0" bIns="0" rtlCol="0" anchor="ctr"/>
          <a:lstStyle/>
          <a:p>
            <a:pPr indent="0" marL="0">
              <a:buNone/>
            </a:pPr>
            <a:r>
              <a:rPr lang="en-US" sz="1700" b="1" dirty="0">
                <a:solidFill>
                  <a:srgbClr val="F4A825"/>
                </a:solidFill>
                <a:latin typeface="Inter" pitchFamily="34" charset="0"/>
                <a:ea typeface="Inter" pitchFamily="34" charset="-122"/>
                <a:cs typeface="Inter" pitchFamily="34" charset="-120"/>
              </a:rPr>
              <a:t>3 · AI-INCLUDED</a:t>
            </a:r>
            <a:endParaRPr lang="en-US" sz="1700" dirty="0"/>
          </a:p>
        </p:txBody>
      </p:sp>
      <p:sp>
        <p:nvSpPr>
          <p:cNvPr id="24" name="Text 21"/>
          <p:cNvSpPr/>
          <p:nvPr/>
        </p:nvSpPr>
        <p:spPr>
          <a:xfrm>
            <a:off x="827532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Using AI well is part of the task; your judgment is what's graded.</a:t>
            </a:r>
            <a:endParaRPr lang="en-US" sz="1600" dirty="0"/>
          </a:p>
        </p:txBody>
      </p:sp>
      <p:sp>
        <p:nvSpPr>
          <p:cNvPr id="25" name="Text 22"/>
          <p:cNvSpPr/>
          <p:nvPr/>
        </p:nvSpPr>
        <p:spPr>
          <a:xfrm>
            <a:off x="827532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Research comparisons · prompt-craft tasks · AI critiques</a:t>
            </a:r>
            <a:endParaRPr lang="en-US" sz="135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"Is this cheating?" becomes "what lane is this assignment in?"</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labels, ready to print: one line per lane,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DELIVERY MECHANISM: ONE PRINTED LINE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one-line label</a:t>
            </a:r>
            <a:endParaRPr lang="en-US" sz="3200" dirty="0"/>
          </a:p>
        </p:txBody>
      </p:sp>
      <p:sp>
        <p:nvSpPr>
          <p:cNvPr id="14" name="Shape 11"/>
          <p:cNvSpPr/>
          <p:nvPr/>
        </p:nvSpPr>
        <p:spPr>
          <a:xfrm>
            <a:off x="640080" y="1554480"/>
            <a:ext cx="1097280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691640"/>
            <a:ext cx="1371600" cy="77724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Lane 1</a:t>
            </a:r>
            <a:endParaRPr lang="en-US" sz="1800" dirty="0"/>
          </a:p>
        </p:txBody>
      </p:sp>
      <p:sp>
        <p:nvSpPr>
          <p:cNvPr id="16" name="Text 13"/>
          <p:cNvSpPr/>
          <p:nvPr/>
        </p:nvSpPr>
        <p:spPr>
          <a:xfrm>
            <a:off x="2377440" y="169164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"AI-free. This one is all you; I need to see your own thinking to teach you well."</a:t>
            </a:r>
            <a:endParaRPr lang="en-US" sz="1700" dirty="0"/>
          </a:p>
        </p:txBody>
      </p:sp>
      <p:sp>
        <p:nvSpPr>
          <p:cNvPr id="17" name="Shape 14"/>
          <p:cNvSpPr/>
          <p:nvPr/>
        </p:nvSpPr>
        <p:spPr>
          <a:xfrm>
            <a:off x="640080" y="2788920"/>
            <a:ext cx="1097280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926080"/>
            <a:ext cx="137160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Lane 2</a:t>
            </a:r>
            <a:endParaRPr lang="en-US" sz="1800" dirty="0"/>
          </a:p>
        </p:txBody>
      </p:sp>
      <p:sp>
        <p:nvSpPr>
          <p:cNvPr id="19" name="Text 16"/>
          <p:cNvSpPr/>
          <p:nvPr/>
        </p:nvSpPr>
        <p:spPr>
          <a:xfrm>
            <a:off x="2377440" y="292608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"AI-assisted. Brainstorming and feedback are fine; write the final yourself and note what you used."</a:t>
            </a:r>
            <a:endParaRPr lang="en-US" sz="1700" dirty="0"/>
          </a:p>
        </p:txBody>
      </p:sp>
      <p:sp>
        <p:nvSpPr>
          <p:cNvPr id="20" name="Shape 17"/>
          <p:cNvSpPr/>
          <p:nvPr/>
        </p:nvSpPr>
        <p:spPr>
          <a:xfrm>
            <a:off x="640080" y="4023360"/>
            <a:ext cx="1097280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4160520"/>
            <a:ext cx="1371600" cy="777240"/>
          </a:xfrm>
          <a:prstGeom prst="rect">
            <a:avLst/>
          </a:prstGeom>
          <a:noFill/>
          <a:ln/>
        </p:spPr>
        <p:txBody>
          <a:bodyPr wrap="square" lIns="0" tIns="0" rIns="0" bIns="0" rtlCol="0" anchor="ctr"/>
          <a:lstStyle/>
          <a:p>
            <a:pPr indent="0" marL="0">
              <a:buNone/>
            </a:pPr>
            <a:r>
              <a:rPr lang="en-US" sz="1800" b="1" dirty="0">
                <a:solidFill>
                  <a:srgbClr val="F4A825"/>
                </a:solidFill>
                <a:latin typeface="Inter" pitchFamily="34" charset="0"/>
                <a:ea typeface="Inter" pitchFamily="34" charset="-122"/>
                <a:cs typeface="Inter" pitchFamily="34" charset="-120"/>
              </a:rPr>
              <a:t>Lane 3</a:t>
            </a:r>
            <a:endParaRPr lang="en-US" sz="1800" dirty="0"/>
          </a:p>
        </p:txBody>
      </p:sp>
      <p:sp>
        <p:nvSpPr>
          <p:cNvPr id="22" name="Text 19"/>
          <p:cNvSpPr/>
          <p:nvPr/>
        </p:nvSpPr>
        <p:spPr>
          <a:xfrm>
            <a:off x="2377440" y="416052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"AI-included. Use the tool; show your prompts; your judgment is what's being graded."</a:t>
            </a:r>
            <a:endParaRPr lang="en-US" sz="1700" dirty="0"/>
          </a:p>
        </p:txBody>
      </p:sp>
      <p:sp>
        <p:nvSpPr>
          <p:cNvPr id="23" name="Text 20"/>
          <p:cNvSpPr/>
          <p:nvPr/>
        </p:nvSpPr>
        <p:spPr>
          <a:xfrm>
            <a:off x="640080" y="54864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Students can follow rules they can see. They can't follow rules that change teacher to teacher.</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system: the AI Box on the assignment, the Disclosure block at the end. Her room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WRITTEN OUT FOR YOU, SO YOU NEVER DRAFT THEM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system, two boxes</a:t>
            </a:r>
            <a:endParaRPr lang="en-US" sz="3200" dirty="0"/>
          </a:p>
        </p:txBody>
      </p:sp>
      <p:sp>
        <p:nvSpPr>
          <p:cNvPr id="14" name="Shape 11"/>
          <p:cNvSpPr/>
          <p:nvPr/>
        </p:nvSpPr>
        <p:spPr>
          <a:xfrm>
            <a:off x="640080" y="1463040"/>
            <a:ext cx="5394960" cy="4069080"/>
          </a:xfrm>
          <a:prstGeom prst="roundRect">
            <a:avLst>
              <a:gd name="adj" fmla="val 2022"/>
            </a:avLst>
          </a:prstGeom>
          <a:solidFill>
            <a:srgbClr val="F7F5F0"/>
          </a:solidFill>
          <a:ln w="12700">
            <a:solidFill>
              <a:srgbClr val="F7F5F0"/>
            </a:solidFill>
            <a:prstDash val="solid"/>
          </a:ln>
        </p:spPr>
      </p:sp>
      <p:sp>
        <p:nvSpPr>
          <p:cNvPr id="15" name="Text 12"/>
          <p:cNvSpPr/>
          <p:nvPr/>
        </p:nvSpPr>
        <p:spPr>
          <a:xfrm>
            <a:off x="914400" y="1627632"/>
            <a:ext cx="493776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THE AI BOX · PRINTS ON THE ASSIGNMENT (TEACHER'S HALF)</a:t>
            </a:r>
            <a:endParaRPr lang="en-US" sz="1150" dirty="0"/>
          </a:p>
        </p:txBody>
      </p:sp>
      <p:sp>
        <p:nvSpPr>
          <p:cNvPr id="16" name="Text 13"/>
          <p:cNvSpPr/>
          <p:nvPr/>
        </p:nvSpPr>
        <p:spPr>
          <a:xfrm>
            <a:off x="914400" y="2011680"/>
            <a:ext cx="4892040" cy="3291840"/>
          </a:xfrm>
          <a:prstGeom prst="rect">
            <a:avLst/>
          </a:prstGeom>
          <a:noFill/>
          <a:ln/>
        </p:spPr>
        <p:txBody>
          <a:bodyPr wrap="square" lIns="0" tIns="0" rIns="0" bIns="0" rtlCol="0" anchor="t"/>
          <a:lstStyle/>
          <a:p>
            <a:pPr indent="0" marL="0">
              <a:lnSpc>
                <a:spcPct val="125000"/>
              </a:lnSpc>
              <a:buNone/>
            </a:pPr>
            <a:r>
              <a:rPr lang="en-US" sz="1600" b="1" dirty="0">
                <a:solidFill>
                  <a:srgbClr val="13293D"/>
                </a:solidFill>
                <a:latin typeface="Inter" pitchFamily="34" charset="0"/>
                <a:ea typeface="Inter" pitchFamily="34" charset="-122"/>
                <a:cs typeface="Inter" pitchFamily="34" charset="-120"/>
              </a:rPr>
              <a:t>Lane: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 1 AI-free   □ 2 AI-assisted   □ 3 AI-included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Okay: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[what's allowed, in student words]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Not okay: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[what's not, in student words]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Disclosure: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fill in the Disclosure block. Every time.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If something seems off: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we walk through the work together.</a:t>
            </a:r>
            <a:endParaRPr lang="en-US" sz="1600" dirty="0"/>
          </a:p>
        </p:txBody>
      </p:sp>
      <p:sp>
        <p:nvSpPr>
          <p:cNvPr id="17" name="Shape 14"/>
          <p:cNvSpPr/>
          <p:nvPr/>
        </p:nvSpPr>
        <p:spPr>
          <a:xfrm>
            <a:off x="6263640" y="1463040"/>
            <a:ext cx="5394960" cy="4069080"/>
          </a:xfrm>
          <a:prstGeom prst="roundRect">
            <a:avLst>
              <a:gd name="adj" fmla="val 2022"/>
            </a:avLst>
          </a:prstGeom>
          <a:solidFill>
            <a:srgbClr val="EAF5F3"/>
          </a:solidFill>
          <a:ln w="12700">
            <a:solidFill>
              <a:srgbClr val="EAF5F3"/>
            </a:solidFill>
            <a:prstDash val="solid"/>
          </a:ln>
        </p:spPr>
      </p:sp>
      <p:sp>
        <p:nvSpPr>
          <p:cNvPr id="18" name="Text 15"/>
          <p:cNvSpPr/>
          <p:nvPr/>
        </p:nvSpPr>
        <p:spPr>
          <a:xfrm>
            <a:off x="6537960" y="1627632"/>
            <a:ext cx="493776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THE AI DISCLOSURE BLOCK · END OF THE WORK (STUDENT'S HALF)</a:t>
            </a:r>
            <a:endParaRPr lang="en-US" sz="1150" dirty="0"/>
          </a:p>
        </p:txBody>
      </p:sp>
      <p:sp>
        <p:nvSpPr>
          <p:cNvPr id="19" name="Text 16"/>
          <p:cNvSpPr/>
          <p:nvPr/>
        </p:nvSpPr>
        <p:spPr>
          <a:xfrm>
            <a:off x="6537960" y="2011680"/>
            <a:ext cx="4892040" cy="3291840"/>
          </a:xfrm>
          <a:prstGeom prst="rect">
            <a:avLst/>
          </a:prstGeom>
          <a:noFill/>
          <a:ln/>
        </p:spPr>
        <p:txBody>
          <a:bodyPr wrap="square" lIns="0" tIns="0" rIns="0" bIns="0" rtlCol="0" anchor="t"/>
          <a:lstStyle/>
          <a:p>
            <a:pPr indent="0" marL="0">
              <a:lnSpc>
                <a:spcPct val="125000"/>
              </a:lnSpc>
              <a:buNone/>
            </a:pPr>
            <a:r>
              <a:rPr lang="en-US" sz="1600" b="1" dirty="0">
                <a:solidFill>
                  <a:srgbClr val="13293D"/>
                </a:solidFill>
                <a:latin typeface="Inter" pitchFamily="34" charset="0"/>
                <a:ea typeface="Inter" pitchFamily="34" charset="-122"/>
                <a:cs typeface="Inter" pitchFamily="34" charset="-120"/>
              </a:rPr>
              <a:t>AI DISCLOSURE (check all that apply)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 No AI used
□ AI helped me brainstorm or outline
□ AI gave me feedback on a draft
□ AI drafted text that I revised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Tool I used: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____________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What I asked it to do: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____________</a:t>
            </a:r>
            <a:endParaRPr lang="en-US" sz="1600" dirty="0"/>
          </a:p>
        </p:txBody>
      </p:sp>
      <p:sp>
        <p:nvSpPr>
          <p:cNvPr id="20" name="Text 17"/>
          <p:cNvSpPr/>
          <p:nvPr/>
        </p:nvSpPr>
        <p:spPr>
          <a:xfrm>
            <a:off x="640080" y="5669280"/>
            <a:ext cx="10972800" cy="50292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Checkboxes beat "write two honest sentences": ten seconds to fill, ten to read. Try them on one assignment before anyone calls them policy.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calls: quiz lane 1, essay lane 2, research lane 3, homework = the upgrades.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Call the lane</a:t>
            </a:r>
            <a:endParaRPr lang="en-US" sz="3200" dirty="0"/>
          </a:p>
        </p:txBody>
      </p:sp>
      <p:sp>
        <p:nvSpPr>
          <p:cNvPr id="14" name="Text 11"/>
          <p:cNvSpPr/>
          <p:nvPr/>
        </p:nvSpPr>
        <p:spPr>
          <a:xfrm>
            <a:off x="731520" y="155448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50876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Weekly vocabulary quiz, taken in class</a:t>
            </a:r>
            <a:endParaRPr lang="en-US" sz="1650" dirty="0"/>
          </a:p>
        </p:txBody>
      </p:sp>
      <p:sp>
        <p:nvSpPr>
          <p:cNvPr id="16" name="Text 13"/>
          <p:cNvSpPr/>
          <p:nvPr/>
        </p:nvSpPr>
        <p:spPr>
          <a:xfrm>
            <a:off x="7315200" y="150876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1: the point is what's in their heads</a:t>
            </a:r>
            <a:endParaRPr lang="en-US" sz="1450" dirty="0"/>
          </a:p>
        </p:txBody>
      </p:sp>
      <p:sp>
        <p:nvSpPr>
          <p:cNvPr id="17" name="Text 14"/>
          <p:cNvSpPr/>
          <p:nvPr/>
        </p:nvSpPr>
        <p:spPr>
          <a:xfrm>
            <a:off x="731520" y="2651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606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Persuasive essay; you care about the argument, not drafting stamina</a:t>
            </a:r>
            <a:endParaRPr lang="en-US" sz="1650" dirty="0"/>
          </a:p>
        </p:txBody>
      </p:sp>
      <p:sp>
        <p:nvSpPr>
          <p:cNvPr id="19" name="Text 16"/>
          <p:cNvSpPr/>
          <p:nvPr/>
        </p:nvSpPr>
        <p:spPr>
          <a:xfrm>
            <a:off x="7315200" y="260604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Usually lane 2: assisted, disclosed, final draft theirs</a:t>
            </a:r>
            <a:endParaRPr lang="en-US" sz="1450" dirty="0"/>
          </a:p>
        </p:txBody>
      </p:sp>
      <p:sp>
        <p:nvSpPr>
          <p:cNvPr id="20" name="Text 17"/>
          <p:cNvSpPr/>
          <p:nvPr/>
        </p:nvSpPr>
        <p:spPr>
          <a:xfrm>
            <a:off x="731520" y="3749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703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Career-research project comparing AI answers to real sources</a:t>
            </a:r>
            <a:endParaRPr lang="en-US" sz="1650" dirty="0"/>
          </a:p>
        </p:txBody>
      </p:sp>
      <p:sp>
        <p:nvSpPr>
          <p:cNvPr id="22" name="Text 19"/>
          <p:cNvSpPr/>
          <p:nvPr/>
        </p:nvSpPr>
        <p:spPr>
          <a:xfrm>
            <a:off x="7315200" y="370332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3: questioning the tool IS the skill</a:t>
            </a:r>
            <a:endParaRPr lang="en-US" sz="1450" dirty="0"/>
          </a:p>
        </p:txBody>
      </p:sp>
      <p:sp>
        <p:nvSpPr>
          <p:cNvPr id="23" name="Text 20"/>
          <p:cNvSpPr/>
          <p:nvPr/>
        </p:nvSpPr>
        <p:spPr>
          <a:xfrm>
            <a:off x="731520" y="4846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800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Math practice problems for tomorrow (the trick one)</a:t>
            </a:r>
            <a:endParaRPr lang="en-US" sz="1650" dirty="0"/>
          </a:p>
        </p:txBody>
      </p:sp>
      <p:sp>
        <p:nvSpPr>
          <p:cNvPr id="25" name="Text 22"/>
          <p:cNvSpPr/>
          <p:nvPr/>
        </p:nvSpPr>
        <p:spPr>
          <a:xfrm>
            <a:off x="7315200" y="480060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1 by intent, unenforceable at home: the upgrades must carry it</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upgrades so far: collect the outline, anchor to Tuesday's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ASSIGNMENT UPGRADES · HONEST WORK AS THE EASY PATH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500" b="1" dirty="0">
                <a:solidFill>
                  <a:srgbClr val="13293D"/>
                </a:solidFill>
                <a:latin typeface="Inter" pitchFamily="34" charset="0"/>
                <a:ea typeface="Inter" pitchFamily="34" charset="-122"/>
                <a:cs typeface="Inter" pitchFamily="34" charset="-120"/>
              </a:rPr>
              <a:t>Upgrade 1: collect the thinking · Upgrade 2: anchor it to your room</a:t>
            </a:r>
            <a:endParaRPr lang="en-US" sz="2500" dirty="0"/>
          </a:p>
        </p:txBody>
      </p:sp>
      <p:sp>
        <p:nvSpPr>
          <p:cNvPr id="14" name="Shape 11"/>
          <p:cNvSpPr/>
          <p:nvPr/>
        </p:nvSpPr>
        <p:spPr>
          <a:xfrm>
            <a:off x="640080" y="1554480"/>
            <a:ext cx="525780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868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MAKE THE THINKING VISIBLE</a:t>
            </a:r>
            <a:endParaRPr lang="en-US" sz="1500" dirty="0"/>
          </a:p>
        </p:txBody>
      </p:sp>
      <p:sp>
        <p:nvSpPr>
          <p:cNvPr id="16" name="Text 13"/>
          <p:cNvSpPr/>
          <p:nvPr/>
        </p:nvSpPr>
        <p:spPr>
          <a:xfrm>
            <a:off x="868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Collect the outline, the messy draft, the version history. Grade the journey, not just the destination.</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 finished essay is easy to fake. A thinking trail is hard to fake, and better assessment anyway.</a:t>
            </a:r>
            <a:endParaRPr lang="en-US" sz="1700" dirty="0"/>
          </a:p>
        </p:txBody>
      </p:sp>
      <p:sp>
        <p:nvSpPr>
          <p:cNvPr id="17" name="Shape 14"/>
          <p:cNvSpPr/>
          <p:nvPr/>
        </p:nvSpPr>
        <p:spPr>
          <a:xfrm>
            <a:off x="6263640" y="1554480"/>
            <a:ext cx="525780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49224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ANCHOR IT LOCALLY</a:t>
            </a:r>
            <a:endParaRPr lang="en-US" sz="1500" dirty="0"/>
          </a:p>
        </p:txBody>
      </p:sp>
      <p:sp>
        <p:nvSpPr>
          <p:cNvPr id="19" name="Text 16"/>
          <p:cNvSpPr/>
          <p:nvPr/>
        </p:nvSpPr>
        <p:spPr>
          <a:xfrm>
            <a:off x="649224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Tie the task to Tuesday's discussion, the lab you ran, their own experience, the guest speaker.</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 chatbot has never been in your classroom. The more the task depends on the room, the less a generic tool can do it.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other upgrades: a two-minute live defense; the process in the rubric.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ASSIGNMENT UPGRADES · HONEST WORK AS THE EASY PATH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500" b="1" dirty="0">
                <a:solidFill>
                  <a:srgbClr val="13293D"/>
                </a:solidFill>
                <a:latin typeface="Inter" pitchFamily="34" charset="0"/>
                <a:ea typeface="Inter" pitchFamily="34" charset="-122"/>
                <a:cs typeface="Inter" pitchFamily="34" charset="-120"/>
              </a:rPr>
              <a:t>Upgrade 3: add a live moment · Upgrade 4: grade the process</a:t>
            </a:r>
            <a:endParaRPr lang="en-US" sz="2500" dirty="0"/>
          </a:p>
        </p:txBody>
      </p:sp>
      <p:sp>
        <p:nvSpPr>
          <p:cNvPr id="14" name="Shape 11"/>
          <p:cNvSpPr/>
          <p:nvPr/>
        </p:nvSpPr>
        <p:spPr>
          <a:xfrm>
            <a:off x="640080" y="1554480"/>
            <a:ext cx="525780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868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MOVE SOME THINKING LIVE</a:t>
            </a:r>
            <a:endParaRPr lang="en-US" sz="1500" dirty="0"/>
          </a:p>
        </p:txBody>
      </p:sp>
      <p:sp>
        <p:nvSpPr>
          <p:cNvPr id="16" name="Text 13"/>
          <p:cNvSpPr/>
          <p:nvPr/>
        </p:nvSpPr>
        <p:spPr>
          <a:xfrm>
            <a:off x="868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 two-minute "defend your choice," an in-class quick-write, a cold question about their own essay.</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Not a gotcha: a normal part of how work gets finished here. Students who did the thinking enjoy it.</a:t>
            </a:r>
            <a:endParaRPr lang="en-US" sz="1700" dirty="0"/>
          </a:p>
        </p:txBody>
      </p:sp>
      <p:sp>
        <p:nvSpPr>
          <p:cNvPr id="17" name="Shape 14"/>
          <p:cNvSpPr/>
          <p:nvPr/>
        </p:nvSpPr>
        <p:spPr>
          <a:xfrm>
            <a:off x="6263640" y="1554480"/>
            <a:ext cx="525780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49224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ASSESS THE PROCESS</a:t>
            </a:r>
            <a:endParaRPr lang="en-US" sz="1500" dirty="0"/>
          </a:p>
        </p:txBody>
      </p:sp>
      <p:sp>
        <p:nvSpPr>
          <p:cNvPr id="19" name="Text 16"/>
          <p:cNvSpPr/>
          <p:nvPr/>
        </p:nvSpPr>
        <p:spPr>
          <a:xfrm>
            <a:off x="649224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Where AI is allowed, grade the Disclosure block, the prompts, and a short accept/reject reflection.</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AI use becomes work you can see and teach, instead of a shortcut you have to suspect.</a:t>
            </a:r>
            <a:endParaRPr lang="en-US" sz="17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One upgrade per assignment is usually enough to change the honesty math.</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opener, rehearsed: 'walk me through how you made this.'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WHEN SOMETHING FEELS WRONG</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conversation: curiosity first</a:t>
            </a:r>
            <a:endParaRPr lang="en-US" sz="2800" dirty="0"/>
          </a:p>
        </p:txBody>
      </p:sp>
      <p:sp>
        <p:nvSpPr>
          <p:cNvPr id="14" name="Shape 11"/>
          <p:cNvSpPr/>
          <p:nvPr/>
        </p:nvSpPr>
        <p:spPr>
          <a:xfrm>
            <a:off x="640080" y="1463040"/>
            <a:ext cx="10972800" cy="914400"/>
          </a:xfrm>
          <a:prstGeom prst="roundRect">
            <a:avLst>
              <a:gd name="adj" fmla="val 9000"/>
            </a:avLst>
          </a:prstGeom>
          <a:solidFill>
            <a:srgbClr val="EAF5F3"/>
          </a:solidFill>
          <a:ln w="12700">
            <a:solidFill>
              <a:srgbClr val="EAF5F3"/>
            </a:solidFill>
            <a:prstDash val="solid"/>
          </a:ln>
        </p:spPr>
      </p:sp>
      <p:sp>
        <p:nvSpPr>
          <p:cNvPr id="15" name="Text 12"/>
          <p:cNvSpPr/>
          <p:nvPr/>
        </p:nvSpPr>
        <p:spPr>
          <a:xfrm>
            <a:off x="914400" y="155448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Open</a:t>
            </a:r>
            <a:endParaRPr lang="en-US" sz="1600" dirty="0"/>
          </a:p>
        </p:txBody>
      </p:sp>
      <p:sp>
        <p:nvSpPr>
          <p:cNvPr id="16" name="Text 13"/>
          <p:cNvSpPr/>
          <p:nvPr/>
        </p:nvSpPr>
        <p:spPr>
          <a:xfrm>
            <a:off x="3657600" y="155448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"Walk me through how you made this. What did you start with? What was the hardest part?"</a:t>
            </a:r>
            <a:endParaRPr lang="en-US" sz="1500" dirty="0"/>
          </a:p>
        </p:txBody>
      </p:sp>
      <p:sp>
        <p:nvSpPr>
          <p:cNvPr id="17" name="Shape 14"/>
          <p:cNvSpPr/>
          <p:nvPr/>
        </p:nvSpPr>
        <p:spPr>
          <a:xfrm>
            <a:off x="640080" y="251460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60604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Get specific</a:t>
            </a:r>
            <a:endParaRPr lang="en-US" sz="1600" dirty="0"/>
          </a:p>
        </p:txBody>
      </p:sp>
      <p:sp>
        <p:nvSpPr>
          <p:cNvPr id="19" name="Text 16"/>
          <p:cNvSpPr/>
          <p:nvPr/>
        </p:nvSpPr>
        <p:spPr>
          <a:xfrm>
            <a:off x="3657600" y="260604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"Tell me more about this paragraph. What does this word mean here?"</a:t>
            </a:r>
            <a:endParaRPr lang="en-US" sz="1500" dirty="0"/>
          </a:p>
        </p:txBody>
      </p:sp>
      <p:sp>
        <p:nvSpPr>
          <p:cNvPr id="20" name="Shape 17"/>
          <p:cNvSpPr/>
          <p:nvPr/>
        </p:nvSpPr>
        <p:spPr>
          <a:xfrm>
            <a:off x="640080" y="356616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5760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Gather process evidence</a:t>
            </a:r>
            <a:endParaRPr lang="en-US" sz="1600" dirty="0"/>
          </a:p>
        </p:txBody>
      </p:sp>
      <p:sp>
        <p:nvSpPr>
          <p:cNvPr id="22" name="Text 19"/>
          <p:cNvSpPr/>
          <p:nvPr/>
        </p:nvSpPr>
        <p:spPr>
          <a:xfrm>
            <a:off x="3657600" y="365760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Can they explain their choices? Is there a draft? Does in-class writing match?</a:t>
            </a:r>
            <a:endParaRPr lang="en-US" sz="1500" dirty="0"/>
          </a:p>
        </p:txBody>
      </p:sp>
      <p:sp>
        <p:nvSpPr>
          <p:cNvPr id="23" name="Shape 20"/>
          <p:cNvSpPr/>
          <p:nvPr/>
        </p:nvSpPr>
        <p:spPr>
          <a:xfrm>
            <a:off x="640080" y="461772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70916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Land it fairly</a:t>
            </a:r>
            <a:endParaRPr lang="en-US" sz="1600" dirty="0"/>
          </a:p>
        </p:txBody>
      </p:sp>
      <p:sp>
        <p:nvSpPr>
          <p:cNvPr id="25" name="Text 22"/>
          <p:cNvSpPr/>
          <p:nvPr/>
        </p:nvSpPr>
        <p:spPr>
          <a:xfrm>
            <a:off x="3657600" y="470916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First offense under a new rule: teach the lane, reset. Pattern: your school's process, evidence in hand.</a:t>
            </a:r>
            <a:endParaRPr lang="en-US" sz="1500" dirty="0"/>
          </a:p>
        </p:txBody>
      </p:sp>
      <p:sp>
        <p:nvSpPr>
          <p:cNvPr id="26" name="Text 23"/>
          <p:cNvSpPr/>
          <p:nvPr/>
        </p:nvSpPr>
        <p:spPr>
          <a:xfrm>
            <a:off x="640080" y="57607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 student who did the work answers easily. A student who didn't will show you, gently.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confession-first, no score-only, never public.</a:t>
            </a:r>
            <a:endParaRPr lang="en-US" sz="1000" dirty="0"/>
          </a:p>
        </p:txBody>
      </p:sp>
      <p:sp>
        <p:nvSpPr>
          <p:cNvPr id="12" name="Text 9"/>
          <p:cNvSpPr/>
          <p:nvPr/>
        </p:nvSpPr>
        <p:spPr>
          <a:xfrm>
            <a:off x="822960" y="10972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a:t>
            </a:r>
            <a:endParaRPr lang="en-US" sz="1500" dirty="0"/>
          </a:p>
        </p:txBody>
      </p:sp>
      <p:sp>
        <p:nvSpPr>
          <p:cNvPr id="13" name="Text 10"/>
          <p:cNvSpPr/>
          <p:nvPr/>
        </p:nvSpPr>
        <p:spPr>
          <a:xfrm>
            <a:off x="914400" y="178308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78308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open with "did you use AI?": it asks for a confession before a conversation</a:t>
            </a:r>
            <a:endParaRPr lang="en-US" sz="1900" dirty="0"/>
          </a:p>
        </p:txBody>
      </p:sp>
      <p:sp>
        <p:nvSpPr>
          <p:cNvPr id="15" name="Text 12"/>
          <p:cNvSpPr/>
          <p:nvPr/>
        </p:nvSpPr>
        <p:spPr>
          <a:xfrm>
            <a:off x="914400" y="274320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74320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accuse on a detector score alone: you've seen the accuracy and the bias</a:t>
            </a:r>
            <a:endParaRPr lang="en-US" sz="1900" dirty="0"/>
          </a:p>
        </p:txBody>
      </p:sp>
      <p:sp>
        <p:nvSpPr>
          <p:cNvPr id="17" name="Text 14"/>
          <p:cNvSpPr/>
          <p:nvPr/>
        </p:nvSpPr>
        <p:spPr>
          <a:xfrm>
            <a:off x="914400" y="370332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370332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make it public: integrity conversations happen one-on-one</a:t>
            </a:r>
            <a:endParaRPr lang="en-US" sz="1900" dirty="0"/>
          </a:p>
        </p:txBody>
      </p:sp>
      <p:sp>
        <p:nvSpPr>
          <p:cNvPr id="19" name="Text 16"/>
          <p:cNvSpPr/>
          <p:nvPr/>
        </p:nvSpPr>
        <p:spPr>
          <a:xfrm>
            <a:off x="914400" y="466344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20" name="Text 17"/>
          <p:cNvSpPr/>
          <p:nvPr/>
        </p:nvSpPr>
        <p:spPr>
          <a:xfrm>
            <a:off x="1554480" y="466344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forget: until the lane was labeled, many students were never told the rule</a:t>
            </a:r>
            <a:endParaRPr lang="en-US" sz="1900" dirty="0"/>
          </a:p>
        </p:txBody>
      </p:sp>
      <p:sp>
        <p:nvSpPr>
          <p:cNvPr id="21" name="Text 18"/>
          <p:cNvSpPr/>
          <p:nvPr/>
        </p:nvSpPr>
        <p:spPr>
          <a:xfrm>
            <a:off x="822960" y="571500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The first offense under a brand-new expectation is a teaching moment, almost every time.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six values a false accusation breaks and clear rules build.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CATCHING ANYBODY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integrity protects</a:t>
            </a:r>
            <a:endParaRPr lang="en-US" sz="3200" dirty="0"/>
          </a:p>
        </p:txBody>
      </p:sp>
      <p:sp>
        <p:nvSpPr>
          <p:cNvPr id="14" name="Shape 11"/>
          <p:cNvSpPr/>
          <p:nvPr/>
        </p:nvSpPr>
        <p:spPr>
          <a:xfrm>
            <a:off x="640080" y="1645920"/>
            <a:ext cx="3520440" cy="1143000"/>
          </a:xfrm>
          <a:prstGeom prst="roundRect">
            <a:avLst>
              <a:gd name="adj" fmla="val 7200"/>
            </a:avLst>
          </a:prstGeom>
          <a:solidFill>
            <a:srgbClr val="EAF5F3"/>
          </a:solidFill>
          <a:ln w="12700">
            <a:solidFill>
              <a:srgbClr val="EAF5F3"/>
            </a:solidFill>
            <a:prstDash val="solid"/>
          </a:ln>
        </p:spPr>
      </p:sp>
      <p:sp>
        <p:nvSpPr>
          <p:cNvPr id="15" name="Text 12"/>
          <p:cNvSpPr/>
          <p:nvPr/>
        </p:nvSpPr>
        <p:spPr>
          <a:xfrm>
            <a:off x="64008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Honesty</a:t>
            </a:r>
            <a:endParaRPr lang="en-US" sz="2200" dirty="0"/>
          </a:p>
        </p:txBody>
      </p:sp>
      <p:sp>
        <p:nvSpPr>
          <p:cNvPr id="16" name="Shape 13"/>
          <p:cNvSpPr/>
          <p:nvPr/>
        </p:nvSpPr>
        <p:spPr>
          <a:xfrm>
            <a:off x="4343400" y="1645920"/>
            <a:ext cx="3520440" cy="1143000"/>
          </a:xfrm>
          <a:prstGeom prst="roundRect">
            <a:avLst>
              <a:gd name="adj" fmla="val 7200"/>
            </a:avLst>
          </a:prstGeom>
          <a:solidFill>
            <a:srgbClr val="EAF5F3"/>
          </a:solidFill>
          <a:ln w="12700">
            <a:solidFill>
              <a:srgbClr val="EAF5F3"/>
            </a:solidFill>
            <a:prstDash val="solid"/>
          </a:ln>
        </p:spPr>
      </p:sp>
      <p:sp>
        <p:nvSpPr>
          <p:cNvPr id="17" name="Text 14"/>
          <p:cNvSpPr/>
          <p:nvPr/>
        </p:nvSpPr>
        <p:spPr>
          <a:xfrm>
            <a:off x="434340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Trust</a:t>
            </a:r>
            <a:endParaRPr lang="en-US" sz="2200" dirty="0"/>
          </a:p>
        </p:txBody>
      </p:sp>
      <p:sp>
        <p:nvSpPr>
          <p:cNvPr id="18" name="Shape 15"/>
          <p:cNvSpPr/>
          <p:nvPr/>
        </p:nvSpPr>
        <p:spPr>
          <a:xfrm>
            <a:off x="8046720" y="1645920"/>
            <a:ext cx="3520440" cy="1143000"/>
          </a:xfrm>
          <a:prstGeom prst="roundRect">
            <a:avLst>
              <a:gd name="adj" fmla="val 7200"/>
            </a:avLst>
          </a:prstGeom>
          <a:solidFill>
            <a:srgbClr val="EAF5F3"/>
          </a:solidFill>
          <a:ln w="12700">
            <a:solidFill>
              <a:srgbClr val="EAF5F3"/>
            </a:solidFill>
            <a:prstDash val="solid"/>
          </a:ln>
        </p:spPr>
      </p:sp>
      <p:sp>
        <p:nvSpPr>
          <p:cNvPr id="19" name="Text 16"/>
          <p:cNvSpPr/>
          <p:nvPr/>
        </p:nvSpPr>
        <p:spPr>
          <a:xfrm>
            <a:off x="804672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Fairness</a:t>
            </a:r>
            <a:endParaRPr lang="en-US" sz="2200" dirty="0"/>
          </a:p>
        </p:txBody>
      </p:sp>
      <p:sp>
        <p:nvSpPr>
          <p:cNvPr id="20" name="Shape 17"/>
          <p:cNvSpPr/>
          <p:nvPr/>
        </p:nvSpPr>
        <p:spPr>
          <a:xfrm>
            <a:off x="640080" y="3017520"/>
            <a:ext cx="3520440" cy="1143000"/>
          </a:xfrm>
          <a:prstGeom prst="roundRect">
            <a:avLst>
              <a:gd name="adj" fmla="val 7200"/>
            </a:avLst>
          </a:prstGeom>
          <a:solidFill>
            <a:srgbClr val="EAF5F3"/>
          </a:solidFill>
          <a:ln w="12700">
            <a:solidFill>
              <a:srgbClr val="EAF5F3"/>
            </a:solidFill>
            <a:prstDash val="solid"/>
          </a:ln>
        </p:spPr>
      </p:sp>
      <p:sp>
        <p:nvSpPr>
          <p:cNvPr id="21" name="Text 18"/>
          <p:cNvSpPr/>
          <p:nvPr/>
        </p:nvSpPr>
        <p:spPr>
          <a:xfrm>
            <a:off x="64008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Respect</a:t>
            </a:r>
            <a:endParaRPr lang="en-US" sz="2200" dirty="0"/>
          </a:p>
        </p:txBody>
      </p:sp>
      <p:sp>
        <p:nvSpPr>
          <p:cNvPr id="22" name="Shape 19"/>
          <p:cNvSpPr/>
          <p:nvPr/>
        </p:nvSpPr>
        <p:spPr>
          <a:xfrm>
            <a:off x="4343400" y="3017520"/>
            <a:ext cx="3520440" cy="1143000"/>
          </a:xfrm>
          <a:prstGeom prst="roundRect">
            <a:avLst>
              <a:gd name="adj" fmla="val 7200"/>
            </a:avLst>
          </a:prstGeom>
          <a:solidFill>
            <a:srgbClr val="EAF5F3"/>
          </a:solidFill>
          <a:ln w="12700">
            <a:solidFill>
              <a:srgbClr val="EAF5F3"/>
            </a:solidFill>
            <a:prstDash val="solid"/>
          </a:ln>
        </p:spPr>
      </p:sp>
      <p:sp>
        <p:nvSpPr>
          <p:cNvPr id="23" name="Text 20"/>
          <p:cNvSpPr/>
          <p:nvPr/>
        </p:nvSpPr>
        <p:spPr>
          <a:xfrm>
            <a:off x="434340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Responsibility</a:t>
            </a:r>
            <a:endParaRPr lang="en-US" sz="2200" dirty="0"/>
          </a:p>
        </p:txBody>
      </p:sp>
      <p:sp>
        <p:nvSpPr>
          <p:cNvPr id="24" name="Shape 21"/>
          <p:cNvSpPr/>
          <p:nvPr/>
        </p:nvSpPr>
        <p:spPr>
          <a:xfrm>
            <a:off x="8046720" y="3017520"/>
            <a:ext cx="3520440" cy="1143000"/>
          </a:xfrm>
          <a:prstGeom prst="roundRect">
            <a:avLst>
              <a:gd name="adj" fmla="val 7200"/>
            </a:avLst>
          </a:prstGeom>
          <a:solidFill>
            <a:srgbClr val="EAF5F3"/>
          </a:solidFill>
          <a:ln w="12700">
            <a:solidFill>
              <a:srgbClr val="EAF5F3"/>
            </a:solidFill>
            <a:prstDash val="solid"/>
          </a:ln>
        </p:spPr>
      </p:sp>
      <p:sp>
        <p:nvSpPr>
          <p:cNvPr id="25" name="Text 22"/>
          <p:cNvSpPr/>
          <p:nvPr/>
        </p:nvSpPr>
        <p:spPr>
          <a:xfrm>
            <a:off x="804672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Courage</a:t>
            </a:r>
            <a:endParaRPr lang="en-US" sz="2200" dirty="0"/>
          </a:p>
        </p:txBody>
      </p:sp>
      <p:sp>
        <p:nvSpPr>
          <p:cNvPr id="26" name="Text 23"/>
          <p:cNvSpPr/>
          <p:nvPr/>
        </p:nvSpPr>
        <p:spPr>
          <a:xfrm>
            <a:off x="640080" y="4663440"/>
            <a:ext cx="10972800" cy="1005840"/>
          </a:xfrm>
          <a:prstGeom prst="rect">
            <a:avLst/>
          </a:prstGeom>
          <a:noFill/>
          <a:ln/>
        </p:spPr>
        <p:txBody>
          <a:bodyPr wrap="square" lIns="0" tIns="0" rIns="0" bIns="0" rtlCol="0" anchor="ctr"/>
          <a:lstStyle/>
          <a:p>
            <a:pPr algn="ctr" indent="0" marL="0">
              <a:buNone/>
            </a:pPr>
            <a:r>
              <a:rPr lang="en-US" sz="1800" dirty="0">
                <a:solidFill>
                  <a:srgbClr val="1B1F24"/>
                </a:solidFill>
                <a:latin typeface="Inter" pitchFamily="34" charset="0"/>
                <a:ea typeface="Inter" pitchFamily="34" charset="-122"/>
                <a:cs typeface="Inter" pitchFamily="34" charset="-120"/>
              </a:rPr>
              <a:t>The six fundamental values of academic integrity (International Center for Academic Integrity). Every one is damaged by a false accusation, and strengthened by clear rules fairly applied.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assignment all the way through: next week's persuasive essay.</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~19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your next real assignment.</a:t>
            </a:r>
            <a:endParaRPr lang="en-US" sz="4400" dirty="0"/>
          </a:p>
        </p:txBody>
      </p:sp>
      <p:sp>
        <p:nvSpPr>
          <p:cNvPr id="14" name="Text 11"/>
          <p:cNvSpPr/>
          <p:nvPr/>
        </p:nvSpPr>
        <p:spPr>
          <a:xfrm>
            <a:off x="658368" y="237744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you'll actually give in the next two weeks: an essay, a project, a problem set, a shop build. Pairs; paper or device both fine.</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of any kind</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 plan gets a second set of eyes: work in pairs</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Four deliverables: the lane, the filled-in AI Box, one upgrade, your two sentences</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essay's lanes, on screen big: research 3, outline 2, final draft 1.</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Name the lane</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One lane for the whole assignment, or a lane per part</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Say your lane out loud to your partner</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Defend it in one sentence</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Can't defend it? The assignment might not know what it's assessing yet.</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1</a:t>
            </a:r>
            <a:endParaRPr lang="en-US" sz="1250" dirty="0"/>
          </a:p>
        </p:txBody>
      </p:sp>
      <p:sp>
        <p:nvSpPr>
          <p:cNvPr id="17" name="Text 14"/>
          <p:cNvSpPr/>
          <p:nvPr/>
        </p:nvSpPr>
        <p:spPr>
          <a:xfrm>
            <a:off x="6537960" y="2148840"/>
            <a:ext cx="4892040" cy="3200400"/>
          </a:xfrm>
          <a:prstGeom prst="rect">
            <a:avLst/>
          </a:prstGeom>
          <a:noFill/>
          <a:ln/>
        </p:spPr>
        <p:txBody>
          <a:bodyPr wrap="square" lIns="0" tIns="0" rIns="0" bIns="0" rtlCol="0" anchor="t"/>
          <a:lstStyle/>
          <a:p>
            <a:pPr indent="0" marL="0">
              <a:lnSpc>
                <a:spcPct val="130000"/>
              </a:lnSpc>
              <a:buNone/>
            </a:pPr>
            <a:r>
              <a:rPr lang="en-US" sz="2200" b="1" dirty="0">
                <a:solidFill>
                  <a:srgbClr val="13293D"/>
                </a:solidFill>
                <a:latin typeface="Inter" pitchFamily="34" charset="0"/>
                <a:ea typeface="Inter" pitchFamily="34" charset="-122"/>
                <a:cs typeface="Inter" pitchFamily="34" charset="-120"/>
              </a:rPr>
              <a:t>Research</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3
</a:t>
            </a:r>
            <a:pPr indent="0" marL="0">
              <a:lnSpc>
                <a:spcPct val="130000"/>
              </a:lnSpc>
              <a:buNone/>
            </a:pPr>
            <a:r>
              <a:rPr lang="en-US" sz="2200" b="1" dirty="0">
                <a:solidFill>
                  <a:srgbClr val="13293D"/>
                </a:solidFill>
                <a:latin typeface="Inter" pitchFamily="34" charset="0"/>
                <a:ea typeface="Inter" pitchFamily="34" charset="-122"/>
                <a:cs typeface="Inter" pitchFamily="34" charset="-120"/>
              </a:rPr>
              <a:t>Outline</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2
</a:t>
            </a:r>
            <a:pPr indent="0" marL="0">
              <a:lnSpc>
                <a:spcPct val="130000"/>
              </a:lnSpc>
              <a:buNone/>
            </a:pPr>
            <a:r>
              <a:rPr lang="en-US" sz="2200" b="1" dirty="0">
                <a:solidFill>
                  <a:srgbClr val="13293D"/>
                </a:solidFill>
                <a:latin typeface="Inter" pitchFamily="34" charset="0"/>
                <a:ea typeface="Inter" pitchFamily="34" charset="-122"/>
                <a:cs typeface="Inter" pitchFamily="34" charset="-120"/>
              </a:rPr>
              <a:t>Final draft</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1
</a:t>
            </a:r>
            <a:pPr indent="0" marL="0">
              <a:lnSpc>
                <a:spcPct val="130000"/>
              </a:lnSpc>
              <a:buNone/>
            </a:pPr>
            <a:r>
              <a:rPr lang="en-US" sz="2200" i="1" dirty="0">
                <a:solidFill>
                  <a:srgbClr val="5B6B7A"/>
                </a:solidFill>
                <a:latin typeface="Inter" pitchFamily="34" charset="0"/>
                <a:ea typeface="Inter" pitchFamily="34" charset="-122"/>
                <a:cs typeface="Inter" pitchFamily="34" charset="-120"/>
              </a:rPr>
              <a:t>"I'm grading the argument, not the typing."</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essay assignment, with no AI rules on it yet.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ASSIGNMENT AS IT STANDS TODAY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assignment she starts with</a:t>
            </a:r>
            <a:endParaRPr lang="en-US" sz="2800" dirty="0"/>
          </a:p>
        </p:txBody>
      </p:sp>
      <p:sp>
        <p:nvSpPr>
          <p:cNvPr id="14" name="Shape 11"/>
          <p:cNvSpPr/>
          <p:nvPr/>
        </p:nvSpPr>
        <p:spPr>
          <a:xfrm>
            <a:off x="640080" y="1225296"/>
            <a:ext cx="10972800" cy="3703320"/>
          </a:xfrm>
          <a:prstGeom prst="roundRect">
            <a:avLst>
              <a:gd name="adj" fmla="val 2222"/>
            </a:avLst>
          </a:prstGeom>
          <a:solidFill>
            <a:srgbClr val="F7F5F0"/>
          </a:solidFill>
          <a:ln w="12700">
            <a:solidFill>
              <a:srgbClr val="F7F5F0"/>
            </a:solidFill>
            <a:prstDash val="solid"/>
          </a:ln>
        </p:spPr>
      </p:sp>
      <p:sp>
        <p:nvSpPr>
          <p:cNvPr id="15" name="Shape 12"/>
          <p:cNvSpPr/>
          <p:nvPr/>
        </p:nvSpPr>
        <p:spPr>
          <a:xfrm>
            <a:off x="640080" y="1225296"/>
            <a:ext cx="109728" cy="370332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53312"/>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7TH GRADE ELA · GOES OUT NEXT WEEK</a:t>
            </a:r>
            <a:endParaRPr lang="en-US" sz="1200" dirty="0"/>
          </a:p>
        </p:txBody>
      </p:sp>
      <p:sp>
        <p:nvSpPr>
          <p:cNvPr id="17" name="Text 14"/>
          <p:cNvSpPr/>
          <p:nvPr/>
        </p:nvSpPr>
        <p:spPr>
          <a:xfrm>
            <a:off x="1005840" y="1664208"/>
            <a:ext cx="10241280" cy="457200"/>
          </a:xfrm>
          <a:prstGeom prst="rect">
            <a:avLst/>
          </a:prstGeom>
          <a:noFill/>
          <a:ln/>
        </p:spPr>
        <p:txBody>
          <a:bodyPr wrap="square" lIns="0" tIns="0" rIns="0" bIns="0" rtlCol="0" anchor="ctr"/>
          <a:lstStyle/>
          <a:p>
            <a:pPr indent="0" marL="0">
              <a:buNone/>
            </a:pPr>
            <a:r>
              <a:rPr lang="en-US" sz="2500" b="1" dirty="0">
                <a:solidFill>
                  <a:srgbClr val="13293D"/>
                </a:solidFill>
                <a:latin typeface="Inter" pitchFamily="34" charset="0"/>
                <a:ea typeface="Inter" pitchFamily="34" charset="-122"/>
                <a:cs typeface="Inter" pitchFamily="34" charset="-120"/>
              </a:rPr>
              <a:t>Persuasive Essay: "Should our school day start later?"</a:t>
            </a:r>
            <a:endParaRPr lang="en-US" sz="2500" dirty="0"/>
          </a:p>
        </p:txBody>
      </p:sp>
      <p:sp>
        <p:nvSpPr>
          <p:cNvPr id="18" name="Text 15"/>
          <p:cNvSpPr/>
          <p:nvPr/>
        </p:nvSpPr>
        <p:spPr>
          <a:xfrm>
            <a:off x="1005840" y="2148840"/>
            <a:ext cx="10241280" cy="2697480"/>
          </a:xfrm>
          <a:prstGeom prst="rect">
            <a:avLst/>
          </a:prstGeom>
          <a:noFill/>
          <a:ln/>
        </p:spPr>
        <p:txBody>
          <a:bodyPr wrap="square" lIns="0" tIns="0" rIns="0" bIns="0" rtlCol="0" anchor="t"/>
          <a:lstStyle/>
          <a:p>
            <a:pPr indent="0" marL="0">
              <a:lnSpc>
                <a:spcPct val="112000"/>
              </a:lnSpc>
              <a:buNone/>
            </a:pPr>
            <a:r>
              <a:rPr lang="en-US" sz="1400" b="1" dirty="0">
                <a:solidFill>
                  <a:srgbClr val="2A9D8F"/>
                </a:solidFill>
                <a:latin typeface="Inter" pitchFamily="34" charset="0"/>
                <a:ea typeface="Inter" pitchFamily="34" charset="-122"/>
                <a:cs typeface="Inter" pitchFamily="34" charset="-120"/>
              </a:rPr>
              <a:t>The task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Take a position and defend it in four paragraphs. Support it with at least three pieces of evidence, and answer one objection someone who disagrees with you would raise.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Sources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Use the start-time survey we ran in class on Tuesday, one point a classmate made in that discussion, and at least two sources from outside the class packet.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Due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Friday, typed, 500 to 700 words. Bring your notes to Thursday's conference.</a:t>
            </a:r>
            <a:endParaRPr lang="en-US" sz="1400" dirty="0"/>
          </a:p>
        </p:txBody>
      </p:sp>
      <p:sp>
        <p:nvSpPr>
          <p:cNvPr id="19" name="Shape 16"/>
          <p:cNvSpPr/>
          <p:nvPr/>
        </p:nvSpPr>
        <p:spPr>
          <a:xfrm>
            <a:off x="640080" y="5010912"/>
            <a:ext cx="10972800" cy="896112"/>
          </a:xfrm>
          <a:prstGeom prst="roundRect">
            <a:avLst>
              <a:gd name="adj" fmla="val 9184"/>
            </a:avLst>
          </a:prstGeom>
          <a:solidFill>
            <a:srgbClr val="FBEFED"/>
          </a:solidFill>
          <a:ln w="12700">
            <a:solidFill>
              <a:srgbClr val="FBEFED"/>
            </a:solidFill>
            <a:prstDash val="solid"/>
          </a:ln>
        </p:spPr>
      </p:sp>
      <p:sp>
        <p:nvSpPr>
          <p:cNvPr id="20" name="Text 17"/>
          <p:cNvSpPr/>
          <p:nvPr/>
        </p:nvSpPr>
        <p:spPr>
          <a:xfrm>
            <a:off x="960120" y="5010912"/>
            <a:ext cx="10332720" cy="896112"/>
          </a:xfrm>
          <a:prstGeom prst="rect">
            <a:avLst/>
          </a:prstGeom>
          <a:noFill/>
          <a:ln/>
        </p:spPr>
        <p:txBody>
          <a:bodyPr wrap="square" lIns="0" tIns="0" rIns="0" bIns="0" rtlCol="0" anchor="ctr"/>
          <a:lstStyle/>
          <a:p>
            <a:pPr indent="0" marL="0">
              <a:lnSpc>
                <a:spcPct val="110000"/>
              </a:lnSpc>
              <a:buNone/>
            </a:pPr>
            <a:r>
              <a:rPr lang="en-US" sz="1550" b="1" spc="120" kern="0" dirty="0">
                <a:solidFill>
                  <a:srgbClr val="B4453A"/>
                </a:solidFill>
                <a:latin typeface="Inter" pitchFamily="34" charset="0"/>
                <a:ea typeface="Inter" pitchFamily="34" charset="-122"/>
                <a:cs typeface="Inter" pitchFamily="34" charset="-120"/>
              </a:rPr>
              <a:t>WHAT IS MISSING   </a:t>
            </a:r>
            <a:pPr indent="0" marL="0">
              <a:lnSpc>
                <a:spcPct val="110000"/>
              </a:lnSpc>
              <a:buNone/>
            </a:pPr>
            <a:r>
              <a:rPr lang="en-US" sz="1550" dirty="0">
                <a:solidFill>
                  <a:srgbClr val="1B1F24"/>
                </a:solidFill>
                <a:latin typeface="Inter" pitchFamily="34" charset="0"/>
                <a:ea typeface="Inter" pitchFamily="34" charset="-122"/>
                <a:cs typeface="Inter" pitchFamily="34" charset="-120"/>
              </a:rPr>
              <a:t>Not one word about AI. A student reading this cannot tell whether asking a chatbot for a counterargument is smart preparation or a referral. That is the gap the next twelve minutes close.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6 MINUTES · THE HEART OF THE LAB</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Fill in the AI Box</a:t>
            </a:r>
            <a:endParaRPr lang="en-US" sz="3200" dirty="0"/>
          </a:p>
        </p:txBody>
      </p:sp>
      <p:sp>
        <p:nvSpPr>
          <p:cNvPr id="7" name="Shape 4"/>
          <p:cNvSpPr/>
          <p:nvPr/>
        </p:nvSpPr>
        <p:spPr>
          <a:xfrm>
            <a:off x="640080" y="1463040"/>
            <a:ext cx="4160520" cy="3703320"/>
          </a:xfrm>
          <a:prstGeom prst="roundRect">
            <a:avLst>
              <a:gd name="adj" fmla="val 2222"/>
            </a:avLst>
          </a:prstGeom>
          <a:solidFill>
            <a:srgbClr val="F7F5F0"/>
          </a:solidFill>
          <a:ln w="12700">
            <a:solidFill>
              <a:srgbClr val="F7F5F0"/>
            </a:solidFill>
            <a:prstDash val="solid"/>
          </a:ln>
        </p:spPr>
      </p:sp>
      <p:sp>
        <p:nvSpPr>
          <p:cNvPr id="8" name="Text 5"/>
          <p:cNvSpPr/>
          <p:nvPr/>
        </p:nvSpPr>
        <p:spPr>
          <a:xfrm>
            <a:off x="868680" y="1627632"/>
            <a:ext cx="374904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SCHOOL TEMPLATE (SLIDE 11)</a:t>
            </a:r>
            <a:endParaRPr lang="en-US" sz="1100" dirty="0"/>
          </a:p>
        </p:txBody>
      </p:sp>
      <p:sp>
        <p:nvSpPr>
          <p:cNvPr id="9" name="Text 6"/>
          <p:cNvSpPr/>
          <p:nvPr/>
        </p:nvSpPr>
        <p:spPr>
          <a:xfrm>
            <a:off x="868680" y="1965960"/>
            <a:ext cx="3749040" cy="3017520"/>
          </a:xfrm>
          <a:prstGeom prst="rect">
            <a:avLst/>
          </a:prstGeom>
          <a:noFill/>
          <a:ln/>
        </p:spPr>
        <p:txBody>
          <a:bodyPr wrap="square" lIns="0" tIns="0" rIns="0" bIns="0" rtlCol="0" anchor="t"/>
          <a:lstStyle/>
          <a:p>
            <a:pPr indent="0" marL="0">
              <a:lnSpc>
                <a:spcPct val="120000"/>
              </a:lnSpc>
              <a:buNone/>
            </a:pPr>
            <a:r>
              <a:rPr lang="en-US" sz="1400" b="1" dirty="0">
                <a:solidFill>
                  <a:srgbClr val="13293D"/>
                </a:solidFill>
                <a:latin typeface="Inter" pitchFamily="34" charset="0"/>
                <a:ea typeface="Inter" pitchFamily="34" charset="-122"/>
                <a:cs typeface="Inter" pitchFamily="34" charset="-120"/>
              </a:rPr>
              <a:t>Lane: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 1  □ 2  □ 3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Okay: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[student words]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Not okay: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[student words]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Disclosure: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the block, every time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If something seems off: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we talk it through.</a:t>
            </a:r>
            <a:endParaRPr lang="en-US" sz="1400" dirty="0"/>
          </a:p>
        </p:txBody>
      </p:sp>
      <p:sp>
        <p:nvSpPr>
          <p:cNvPr id="10" name="Shape 7"/>
          <p:cNvSpPr/>
          <p:nvPr/>
        </p:nvSpPr>
        <p:spPr>
          <a:xfrm>
            <a:off x="5029200" y="1463040"/>
            <a:ext cx="6629400" cy="3703320"/>
          </a:xfrm>
          <a:prstGeom prst="roundRect">
            <a:avLst>
              <a:gd name="adj" fmla="val 2222"/>
            </a:avLst>
          </a:prstGeom>
          <a:solidFill>
            <a:srgbClr val="EAF5F3"/>
          </a:solidFill>
          <a:ln w="12700">
            <a:solidFill>
              <a:srgbClr val="EAF5F3"/>
            </a:solidFill>
            <a:prstDash val="solid"/>
          </a:ln>
        </p:spPr>
      </p:sp>
      <p:sp>
        <p:nvSpPr>
          <p:cNvPr id="11" name="Text 8"/>
          <p:cNvSpPr/>
          <p:nvPr/>
        </p:nvSpPr>
        <p:spPr>
          <a:xfrm>
            <a:off x="5303520" y="1627632"/>
            <a:ext cx="612648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BOX, FILLED IN</a:t>
            </a:r>
            <a:endParaRPr lang="en-US" sz="1250" dirty="0"/>
          </a:p>
        </p:txBody>
      </p:sp>
      <p:sp>
        <p:nvSpPr>
          <p:cNvPr id="12" name="Text 9"/>
          <p:cNvSpPr/>
          <p:nvPr/>
        </p:nvSpPr>
        <p:spPr>
          <a:xfrm>
            <a:off x="5303520" y="1965960"/>
            <a:ext cx="6080760" cy="3108960"/>
          </a:xfrm>
          <a:prstGeom prst="rect">
            <a:avLst/>
          </a:prstGeom>
          <a:noFill/>
          <a:ln/>
        </p:spPr>
        <p:txBody>
          <a:bodyPr wrap="square" lIns="0" tIns="0" rIns="0" bIns="0" rtlCol="0" anchor="t"/>
          <a:lstStyle/>
          <a:p>
            <a:pPr indent="0" marL="0">
              <a:lnSpc>
                <a:spcPct val="125000"/>
              </a:lnSpc>
              <a:buNone/>
            </a:pPr>
            <a:r>
              <a:rPr lang="en-US" sz="1750" b="1" dirty="0">
                <a:solidFill>
                  <a:srgbClr val="13293D"/>
                </a:solidFill>
                <a:latin typeface="Inter" pitchFamily="34" charset="0"/>
                <a:ea typeface="Inter" pitchFamily="34" charset="-122"/>
                <a:cs typeface="Inter" pitchFamily="34" charset="-120"/>
              </a:rPr>
              <a:t>Lane: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by part · Research ☒ 3 · Outline ☒ 2 · Final draft ☒ 1, because I'm grading your argument, not your typing.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Okay: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AI to compare sources; brainstorming and feedback on your outline.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Not okay: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AI-written sentences in your final draft.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Disclosure: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fill in the Disclosure block at the end. Every time.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If something seems off: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we'll talk it through, not write it up.</a:t>
            </a:r>
            <a:endParaRPr lang="en-US" sz="1750" dirty="0"/>
          </a:p>
        </p:txBody>
      </p:sp>
      <p:sp>
        <p:nvSpPr>
          <p:cNvPr id="13" name="Text 1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test: could a ninth grader read your box and know exactly what's okay tonight?</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AI policy for this essay."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7th grade ELA teacher writing for 12 year olds.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three AI rules for next week's persuasive essay into the Okay line and the Not okay line of the AI Box that prints on the assignment.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rules: for research they can use AI to compare sources, for the outline they can use it to brainstorm and get feedback, and the final draft has to be their own sentences. My students ask me "is this cheating?" and I never want them to have to guess.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Two lines, under 25 words each, in words a 12 year old uses out loud. No policy language. Then list anything my rules still leave unclear."</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FOLLOW-UPS, ONE CHAT, NOTHING RE-PASTED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691640"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PLAIN WORDS</a:t>
            </a:r>
            <a:endParaRPr lang="en-US" sz="1050" dirty="0"/>
          </a:p>
        </p:txBody>
      </p:sp>
      <p:sp>
        <p:nvSpPr>
          <p:cNvPr id="18" name="Text 15"/>
          <p:cNvSpPr/>
          <p:nvPr/>
        </p:nvSpPr>
        <p:spPr>
          <a:xfrm>
            <a:off x="3154680" y="2194560"/>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"Cite responsibly" is not a 7th grade phrase. Say both lines the way my students say them.</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Policy voice out, student voice in: "may utilize" became "you can ask."</a:t>
            </a:r>
            <a:endParaRPr lang="en-US" sz="1400" dirty="0"/>
          </a:p>
        </p:txBody>
      </p:sp>
      <p:sp>
        <p:nvSpPr>
          <p:cNvPr id="21" name="Shape 18"/>
          <p:cNvSpPr/>
          <p:nvPr/>
        </p:nvSpPr>
        <p:spPr>
          <a:xfrm>
            <a:off x="1234440" y="2980944"/>
            <a:ext cx="1691640"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GRAY AREA</a:t>
            </a:r>
            <a:endParaRPr lang="en-US" sz="1050" dirty="0"/>
          </a:p>
        </p:txBody>
      </p:sp>
      <p:sp>
        <p:nvSpPr>
          <p:cNvPr id="23" name="Text 20"/>
          <p:cNvSpPr/>
          <p:nvPr/>
        </p:nvSpPr>
        <p:spPr>
          <a:xfrm>
            <a:off x="3154680" y="2944368"/>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"They will ask about spellcheck and grammar tools. Answer that in one line, not a paragraph."</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Not okay line got specific: fixing grammar is fine, borrowed sentences are not.</a:t>
            </a:r>
            <a:endParaRPr lang="en-US" sz="1400" dirty="0"/>
          </a:p>
        </p:txBody>
      </p:sp>
      <p:sp>
        <p:nvSpPr>
          <p:cNvPr id="26" name="Shape 23"/>
          <p:cNvSpPr/>
          <p:nvPr/>
        </p:nvSpPr>
        <p:spPr>
          <a:xfrm>
            <a:off x="1234440" y="3730752"/>
            <a:ext cx="1691640"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SOFT LANDING</a:t>
            </a:r>
            <a:endParaRPr lang="en-US" sz="1050" dirty="0"/>
          </a:p>
        </p:txBody>
      </p:sp>
      <p:sp>
        <p:nvSpPr>
          <p:cNvPr id="28" name="Text 25"/>
          <p:cNvSpPr/>
          <p:nvPr/>
        </p:nvSpPr>
        <p:spPr>
          <a:xfrm>
            <a:off x="3154680" y="3694176"/>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what happens if something looks off. It has to sound like a conversation, not a courtroom."</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last line of the Box now promises a talk, so honesty stays cheaper than hiding.</a:t>
            </a:r>
            <a:endParaRPr lang="en-US" sz="1400" dirty="0"/>
          </a:p>
        </p:txBody>
      </p:sp>
      <p:sp>
        <p:nvSpPr>
          <p:cNvPr id="31" name="Shape 28"/>
          <p:cNvSpPr/>
          <p:nvPr/>
        </p:nvSpPr>
        <p:spPr>
          <a:xfrm>
            <a:off x="1234440" y="4480560"/>
            <a:ext cx="1691640"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LOOPHOLE TEST</a:t>
            </a:r>
            <a:endParaRPr lang="en-US" sz="1050" dirty="0"/>
          </a:p>
        </p:txBody>
      </p:sp>
      <p:sp>
        <p:nvSpPr>
          <p:cNvPr id="33" name="Text 30"/>
          <p:cNvSpPr/>
          <p:nvPr/>
        </p:nvSpPr>
        <p:spPr>
          <a:xfrm>
            <a:off x="3154680" y="4443984"/>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"Now read it back as a 7th grader hunting for a loophole. What would you try?"</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found two. She closed one in the Box and saved the other for Monday's class.</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PLAIN WORDS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GRAY AREA</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SOFT LANDING</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LOOPHOLE TEST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essay's upgrade, on screen: outline due Thursday, worth ten points.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Apply one upgrade</a:t>
            </a:r>
            <a:endParaRPr lang="en-US" sz="3200" dirty="0"/>
          </a:p>
        </p:txBody>
      </p:sp>
      <p:sp>
        <p:nvSpPr>
          <p:cNvPr id="14" name="Text 11"/>
          <p:cNvSpPr/>
          <p:nvPr/>
        </p:nvSpPr>
        <p:spPr>
          <a:xfrm>
            <a:off x="640080" y="1554480"/>
            <a:ext cx="5394960" cy="27432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Collect the thinking: an outline or draft checkpoint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Anchor it to something that happened in your room</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Add a two-minute live moment as a normal step</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Grade the process: Disclosure block + prompts + reflection</a:t>
            </a:r>
            <a:endParaRPr lang="en-US" sz="1700" dirty="0"/>
          </a:p>
        </p:txBody>
      </p:sp>
      <p:sp>
        <p:nvSpPr>
          <p:cNvPr id="15" name="Shape 12"/>
          <p:cNvSpPr/>
          <p:nvPr/>
        </p:nvSpPr>
        <p:spPr>
          <a:xfrm>
            <a:off x="6263640" y="1554480"/>
            <a:ext cx="5394960" cy="2743200"/>
          </a:xfrm>
          <a:prstGeom prst="roundRect">
            <a:avLst>
              <a:gd name="adj" fmla="val 3000"/>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3 · HER UPGRADE</a:t>
            </a:r>
            <a:endParaRPr lang="en-US" sz="1250" dirty="0"/>
          </a:p>
        </p:txBody>
      </p:sp>
      <p:sp>
        <p:nvSpPr>
          <p:cNvPr id="17" name="Text 14"/>
          <p:cNvSpPr/>
          <p:nvPr/>
        </p:nvSpPr>
        <p:spPr>
          <a:xfrm>
            <a:off x="6537960" y="2148840"/>
            <a:ext cx="4892040" cy="2011680"/>
          </a:xfrm>
          <a:prstGeom prst="rect">
            <a:avLst/>
          </a:prstGeom>
          <a:noFill/>
          <a:ln/>
        </p:spPr>
        <p:txBody>
          <a:bodyPr wrap="square" lIns="0" tIns="0" rIns="0" bIns="0" rtlCol="0" anchor="t"/>
          <a:lstStyle/>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Outline due Thursday.</a:t>
            </a:r>
            <a:endParaRPr lang="en-US" sz="2400" dirty="0"/>
          </a:p>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Ten points.</a:t>
            </a:r>
            <a:endParaRPr lang="en-US" sz="2400" dirty="0"/>
          </a:p>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Before drafting begins.</a:t>
            </a:r>
            <a:endParaRPr lang="en-US" sz="2400" dirty="0"/>
          </a:p>
        </p:txBody>
      </p:sp>
      <p:sp>
        <p:nvSpPr>
          <p:cNvPr id="18" name="Shape 15"/>
          <p:cNvSpPr/>
          <p:nvPr/>
        </p:nvSpPr>
        <p:spPr>
          <a:xfrm>
            <a:off x="640080" y="4526280"/>
            <a:ext cx="10972800" cy="1188720"/>
          </a:xfrm>
          <a:prstGeom prst="roundRect">
            <a:avLst>
              <a:gd name="adj" fmla="val 6923"/>
            </a:avLst>
          </a:prstGeom>
          <a:solidFill>
            <a:srgbClr val="F7F5F0"/>
          </a:solidFill>
          <a:ln w="12700">
            <a:solidFill>
              <a:srgbClr val="F7F5F0"/>
            </a:solidFill>
            <a:prstDash val="solid"/>
          </a:ln>
        </p:spPr>
      </p:sp>
      <p:sp>
        <p:nvSpPr>
          <p:cNvPr id="19" name="Text 16"/>
          <p:cNvSpPr/>
          <p:nvPr/>
        </p:nvSpPr>
        <p:spPr>
          <a:xfrm>
            <a:off x="914400" y="4663440"/>
            <a:ext cx="1042416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Write the actual change: what's due, when, worth how much. Then tell your partner why this upgrade makes honest work easier than faking it.</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plan's last piece, two sentences: written calm, filed for later.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 · ALONE, QUIET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Write your two sentences</a:t>
            </a:r>
            <a:endParaRPr lang="en-US" sz="3200" dirty="0"/>
          </a:p>
        </p:txBody>
      </p:sp>
      <p:sp>
        <p:nvSpPr>
          <p:cNvPr id="14" name="Shape 11"/>
          <p:cNvSpPr/>
          <p:nvPr/>
        </p:nvSpPr>
        <p:spPr>
          <a:xfrm>
            <a:off x="640080" y="1554480"/>
            <a:ext cx="5394960" cy="2651760"/>
          </a:xfrm>
          <a:prstGeom prst="roundRect">
            <a:avLst>
              <a:gd name="adj" fmla="val 3103"/>
            </a:avLst>
          </a:prstGeom>
          <a:solidFill>
            <a:srgbClr val="F7F5F0"/>
          </a:solidFill>
          <a:ln w="12700">
            <a:solidFill>
              <a:srgbClr val="F7F5F0"/>
            </a:solidFill>
            <a:prstDash val="solid"/>
          </a:ln>
        </p:spPr>
      </p:sp>
      <p:sp>
        <p:nvSpPr>
          <p:cNvPr id="15" name="Text 12"/>
          <p:cNvSpPr/>
          <p:nvPr/>
        </p:nvSpPr>
        <p:spPr>
          <a:xfrm>
            <a:off x="914400" y="1783080"/>
            <a:ext cx="4846320" cy="2194560"/>
          </a:xfrm>
          <a:prstGeom prst="rect">
            <a:avLst/>
          </a:prstGeom>
          <a:noFill/>
          <a:ln/>
        </p:spPr>
        <p:txBody>
          <a:bodyPr wrap="square" lIns="0" tIns="0" rIns="0" bIns="0" rtlCol="0" anchor="ctr"/>
          <a:lstStyle/>
          <a:p>
            <a:pPr indent="0" marL="0">
              <a:lnSpc>
                <a:spcPct val="125000"/>
              </a:lnSpc>
              <a:buNone/>
            </a:pPr>
            <a:r>
              <a:rPr lang="en-US" sz="1800" dirty="0">
                <a:solidFill>
                  <a:srgbClr val="1B1F24"/>
                </a:solidFill>
                <a:latin typeface="Inter" pitchFamily="34" charset="0"/>
                <a:ea typeface="Inter" pitchFamily="34" charset="-122"/>
                <a:cs typeface="Inter" pitchFamily="34" charset="-120"/>
              </a:rPr>
              <a:t>The first two sentences you'll say when work feels wrong. In your voice. Starting with curiosity. Written now, calm, instead of improvised upset.</a:t>
            </a:r>
            <a:endParaRPr lang="en-US" sz="1800" dirty="0"/>
          </a:p>
        </p:txBody>
      </p:sp>
      <p:sp>
        <p:nvSpPr>
          <p:cNvPr id="16" name="Shape 13"/>
          <p:cNvSpPr/>
          <p:nvPr/>
        </p:nvSpPr>
        <p:spPr>
          <a:xfrm>
            <a:off x="6263640" y="1554480"/>
            <a:ext cx="5394960" cy="2651760"/>
          </a:xfrm>
          <a:prstGeom prst="roundRect">
            <a:avLst>
              <a:gd name="adj" fmla="val 3103"/>
            </a:avLst>
          </a:prstGeom>
          <a:solidFill>
            <a:srgbClr val="EAF5F3"/>
          </a:solidFill>
          <a:ln w="12700">
            <a:solidFill>
              <a:srgbClr val="EAF5F3"/>
            </a:solidFill>
            <a:prstDash val="solid"/>
          </a:ln>
        </p:spPr>
      </p:sp>
      <p:sp>
        <p:nvSpPr>
          <p:cNvPr id="17" name="Text 14"/>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MS. RIVERA'S ESSAY · STEP 4 · HER TWO SENTENCES</a:t>
            </a:r>
            <a:endParaRPr lang="en-US" sz="1250" dirty="0"/>
          </a:p>
        </p:txBody>
      </p:sp>
      <p:sp>
        <p:nvSpPr>
          <p:cNvPr id="18" name="Text 15"/>
          <p:cNvSpPr/>
          <p:nvPr/>
        </p:nvSpPr>
        <p:spPr>
          <a:xfrm>
            <a:off x="6537960" y="2194560"/>
            <a:ext cx="4892040" cy="1737360"/>
          </a:xfrm>
          <a:prstGeom prst="rect">
            <a:avLst/>
          </a:prstGeom>
          <a:noFill/>
          <a:ln/>
        </p:spPr>
        <p:txBody>
          <a:bodyPr wrap="square" lIns="0" tIns="0" rIns="0" bIns="0" rtlCol="0" anchor="t"/>
          <a:lstStyle/>
          <a:p>
            <a:pPr indent="0" marL="0">
              <a:lnSpc>
                <a:spcPct val="125000"/>
              </a:lnSpc>
              <a:buNone/>
            </a:pPr>
            <a:r>
              <a:rPr lang="en-US" sz="2200" i="1" dirty="0">
                <a:solidFill>
                  <a:srgbClr val="13293D"/>
                </a:solidFill>
                <a:latin typeface="Inter" pitchFamily="34" charset="0"/>
                <a:ea typeface="Inter" pitchFamily="34" charset="-122"/>
                <a:cs typeface="Inter" pitchFamily="34" charset="-120"/>
              </a:rPr>
              <a:t>"Walk me through how you made this. What was the hardest part?"</a:t>
            </a:r>
            <a:endParaRPr lang="en-US" sz="2200" dirty="0"/>
          </a:p>
        </p:txBody>
      </p:sp>
      <p:sp>
        <p:nvSpPr>
          <p:cNvPr id="19" name="Text 16"/>
          <p:cNvSpPr/>
          <p:nvPr/>
        </p:nvSpPr>
        <p:spPr>
          <a:xfrm>
            <a:off x="640080" y="4526280"/>
            <a:ext cx="10972800" cy="54864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Write the sentences you'd want said to your own child.</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AI Box: printed on Monday's assignment, in her students'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AI BOX, WORD FOR WORD</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prints on Monday's assignment</a:t>
            </a:r>
            <a:endParaRPr lang="en-US" sz="2800" dirty="0"/>
          </a:p>
        </p:txBody>
      </p:sp>
      <p:sp>
        <p:nvSpPr>
          <p:cNvPr id="14" name="Shape 11"/>
          <p:cNvSpPr/>
          <p:nvPr/>
        </p:nvSpPr>
        <p:spPr>
          <a:xfrm>
            <a:off x="640080" y="1188720"/>
            <a:ext cx="10972800" cy="548640"/>
          </a:xfrm>
          <a:prstGeom prst="roundRect">
            <a:avLst>
              <a:gd name="adj" fmla="val 15000"/>
            </a:avLst>
          </a:prstGeom>
          <a:solidFill>
            <a:srgbClr val="13293D"/>
          </a:solidFill>
          <a:ln w="12700">
            <a:solidFill>
              <a:srgbClr val="13293D"/>
            </a:solidFill>
            <a:prstDash val="solid"/>
          </a:ln>
        </p:spPr>
      </p:sp>
      <p:sp>
        <p:nvSpPr>
          <p:cNvPr id="15" name="Text 12"/>
          <p:cNvSpPr/>
          <p:nvPr/>
        </p:nvSpPr>
        <p:spPr>
          <a:xfrm>
            <a:off x="960120" y="1188720"/>
            <a:ext cx="10332720" cy="548640"/>
          </a:xfrm>
          <a:prstGeom prst="rect">
            <a:avLst/>
          </a:prstGeom>
          <a:noFill/>
          <a:ln/>
        </p:spPr>
        <p:txBody>
          <a:bodyPr wrap="square" lIns="0" tIns="0" rIns="0" bIns="0" rtlCol="0" anchor="ctr"/>
          <a:lstStyle/>
          <a:p>
            <a:pPr indent="0" marL="0">
              <a:buNone/>
            </a:pPr>
            <a:r>
              <a:rPr lang="en-US" sz="1300" b="1" spc="80" kern="0" dirty="0">
                <a:solidFill>
                  <a:srgbClr val="FFFFFF"/>
                </a:solidFill>
                <a:latin typeface="Inter" pitchFamily="34" charset="0"/>
                <a:ea typeface="Inter" pitchFamily="34" charset="-122"/>
                <a:cs typeface="Inter" pitchFamily="34" charset="-120"/>
              </a:rPr>
              <a:t>PERSUASIVE ESSAY  ·  "SHOULD OUR SCHOOL DAY START LATER?"  ·  </a:t>
            </a:r>
            <a:pPr indent="0" marL="0">
              <a:buNone/>
            </a:pPr>
            <a:r>
              <a:rPr lang="en-US" sz="1300" b="1" spc="80" kern="0" dirty="0">
                <a:solidFill>
                  <a:srgbClr val="2A9D8F"/>
                </a:solidFill>
                <a:latin typeface="Inter" pitchFamily="34" charset="0"/>
                <a:ea typeface="Inter" pitchFamily="34" charset="-122"/>
                <a:cs typeface="Inter" pitchFamily="34" charset="-120"/>
              </a:rPr>
              <a:t>DUE FRIDAY</a:t>
            </a:r>
            <a:endParaRPr lang="en-US" sz="1300" dirty="0"/>
          </a:p>
        </p:txBody>
      </p:sp>
      <p:sp>
        <p:nvSpPr>
          <p:cNvPr id="16" name="Shape 13"/>
          <p:cNvSpPr/>
          <p:nvPr/>
        </p:nvSpPr>
        <p:spPr>
          <a:xfrm>
            <a:off x="640080" y="1828800"/>
            <a:ext cx="10972800" cy="3584448"/>
          </a:xfrm>
          <a:prstGeom prst="roundRect">
            <a:avLst>
              <a:gd name="adj" fmla="val 2296"/>
            </a:avLst>
          </a:prstGeom>
          <a:solidFill>
            <a:srgbClr val="F7F5F0"/>
          </a:solidFill>
          <a:ln w="12700">
            <a:solidFill>
              <a:srgbClr val="13293D"/>
            </a:solidFill>
            <a:prstDash val="solid"/>
          </a:ln>
        </p:spPr>
      </p:sp>
      <p:sp>
        <p:nvSpPr>
          <p:cNvPr id="17" name="Text 14"/>
          <p:cNvSpPr/>
          <p:nvPr/>
        </p:nvSpPr>
        <p:spPr>
          <a:xfrm>
            <a:off x="1005840" y="1938528"/>
            <a:ext cx="2743200" cy="274320"/>
          </a:xfrm>
          <a:prstGeom prst="rect">
            <a:avLst/>
          </a:prstGeom>
          <a:noFill/>
          <a:ln/>
        </p:spPr>
        <p:txBody>
          <a:bodyPr wrap="square" lIns="0" tIns="0" rIns="0" bIns="0" rtlCol="0" anchor="ctr"/>
          <a:lstStyle/>
          <a:p>
            <a:pPr indent="0" marL="0">
              <a:buNone/>
            </a:pPr>
            <a:r>
              <a:rPr lang="en-US" sz="1250" b="1" spc="200" kern="0" dirty="0">
                <a:solidFill>
                  <a:srgbClr val="2A9D8F"/>
                </a:solidFill>
                <a:latin typeface="Inter" pitchFamily="34" charset="0"/>
                <a:ea typeface="Inter" pitchFamily="34" charset="-122"/>
                <a:cs typeface="Inter" pitchFamily="34" charset="-120"/>
              </a:rPr>
              <a:t>AI BOX</a:t>
            </a:r>
            <a:endParaRPr lang="en-US" sz="1250" dirty="0"/>
          </a:p>
        </p:txBody>
      </p:sp>
      <p:sp>
        <p:nvSpPr>
          <p:cNvPr id="18" name="Text 15"/>
          <p:cNvSpPr/>
          <p:nvPr/>
        </p:nvSpPr>
        <p:spPr>
          <a:xfrm>
            <a:off x="1005840" y="228600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Research:</a:t>
            </a:r>
            <a:endParaRPr lang="en-US" sz="1600" dirty="0"/>
          </a:p>
        </p:txBody>
      </p:sp>
      <p:sp>
        <p:nvSpPr>
          <p:cNvPr id="19" name="Text 16"/>
          <p:cNvSpPr/>
          <p:nvPr/>
        </p:nvSpPr>
        <p:spPr>
          <a:xfrm>
            <a:off x="2560320" y="228600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1 AI-free</a:t>
            </a:r>
            <a:endParaRPr lang="en-US" sz="1600" dirty="0"/>
          </a:p>
        </p:txBody>
      </p:sp>
      <p:sp>
        <p:nvSpPr>
          <p:cNvPr id="20" name="Text 17"/>
          <p:cNvSpPr/>
          <p:nvPr/>
        </p:nvSpPr>
        <p:spPr>
          <a:xfrm>
            <a:off x="5074920" y="228600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2 AI-assisted</a:t>
            </a:r>
            <a:endParaRPr lang="en-US" sz="1600" dirty="0"/>
          </a:p>
        </p:txBody>
      </p:sp>
      <p:sp>
        <p:nvSpPr>
          <p:cNvPr id="21" name="Text 18"/>
          <p:cNvSpPr/>
          <p:nvPr/>
        </p:nvSpPr>
        <p:spPr>
          <a:xfrm>
            <a:off x="7589520" y="228600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3 AI-included</a:t>
            </a:r>
            <a:endParaRPr lang="en-US" sz="1600" dirty="0"/>
          </a:p>
        </p:txBody>
      </p:sp>
      <p:sp>
        <p:nvSpPr>
          <p:cNvPr id="22" name="Text 19"/>
          <p:cNvSpPr/>
          <p:nvPr/>
        </p:nvSpPr>
        <p:spPr>
          <a:xfrm>
            <a:off x="1005840" y="265176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Outline:</a:t>
            </a:r>
            <a:endParaRPr lang="en-US" sz="1600" dirty="0"/>
          </a:p>
        </p:txBody>
      </p:sp>
      <p:sp>
        <p:nvSpPr>
          <p:cNvPr id="23" name="Text 20"/>
          <p:cNvSpPr/>
          <p:nvPr/>
        </p:nvSpPr>
        <p:spPr>
          <a:xfrm>
            <a:off x="2560320" y="265176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1 AI-free</a:t>
            </a:r>
            <a:endParaRPr lang="en-US" sz="1600" dirty="0"/>
          </a:p>
        </p:txBody>
      </p:sp>
      <p:sp>
        <p:nvSpPr>
          <p:cNvPr id="24" name="Text 21"/>
          <p:cNvSpPr/>
          <p:nvPr/>
        </p:nvSpPr>
        <p:spPr>
          <a:xfrm>
            <a:off x="5074920" y="265176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2 AI-assisted</a:t>
            </a:r>
            <a:endParaRPr lang="en-US" sz="1600" dirty="0"/>
          </a:p>
        </p:txBody>
      </p:sp>
      <p:sp>
        <p:nvSpPr>
          <p:cNvPr id="25" name="Text 22"/>
          <p:cNvSpPr/>
          <p:nvPr/>
        </p:nvSpPr>
        <p:spPr>
          <a:xfrm>
            <a:off x="7589520" y="265176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3 AI-included</a:t>
            </a:r>
            <a:endParaRPr lang="en-US" sz="1600" dirty="0"/>
          </a:p>
        </p:txBody>
      </p:sp>
      <p:sp>
        <p:nvSpPr>
          <p:cNvPr id="26" name="Text 23"/>
          <p:cNvSpPr/>
          <p:nvPr/>
        </p:nvSpPr>
        <p:spPr>
          <a:xfrm>
            <a:off x="1005840" y="301752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Final draft:</a:t>
            </a:r>
            <a:endParaRPr lang="en-US" sz="1600" dirty="0"/>
          </a:p>
        </p:txBody>
      </p:sp>
      <p:sp>
        <p:nvSpPr>
          <p:cNvPr id="27" name="Text 24"/>
          <p:cNvSpPr/>
          <p:nvPr/>
        </p:nvSpPr>
        <p:spPr>
          <a:xfrm>
            <a:off x="2560320" y="301752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1 AI-free</a:t>
            </a:r>
            <a:endParaRPr lang="en-US" sz="1600" dirty="0"/>
          </a:p>
        </p:txBody>
      </p:sp>
      <p:sp>
        <p:nvSpPr>
          <p:cNvPr id="28" name="Text 25"/>
          <p:cNvSpPr/>
          <p:nvPr/>
        </p:nvSpPr>
        <p:spPr>
          <a:xfrm>
            <a:off x="5074920" y="301752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2 AI-assisted</a:t>
            </a:r>
            <a:endParaRPr lang="en-US" sz="1600" dirty="0"/>
          </a:p>
        </p:txBody>
      </p:sp>
      <p:sp>
        <p:nvSpPr>
          <p:cNvPr id="29" name="Text 26"/>
          <p:cNvSpPr/>
          <p:nvPr/>
        </p:nvSpPr>
        <p:spPr>
          <a:xfrm>
            <a:off x="7589520" y="301752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3 AI-included</a:t>
            </a:r>
            <a:endParaRPr lang="en-US" sz="1600" dirty="0"/>
          </a:p>
        </p:txBody>
      </p:sp>
      <p:sp>
        <p:nvSpPr>
          <p:cNvPr id="30" name="Text 27"/>
          <p:cNvSpPr/>
          <p:nvPr/>
        </p:nvSpPr>
        <p:spPr>
          <a:xfrm>
            <a:off x="1005840" y="3419856"/>
            <a:ext cx="10241280" cy="548640"/>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Okay: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Use AI to compare sources while you research, and to react to your outline. Fixing your spelling and grammar is fine.</a:t>
            </a:r>
            <a:endParaRPr lang="en-US" sz="1600" dirty="0"/>
          </a:p>
        </p:txBody>
      </p:sp>
      <p:sp>
        <p:nvSpPr>
          <p:cNvPr id="31" name="Text 28"/>
          <p:cNvSpPr/>
          <p:nvPr/>
        </p:nvSpPr>
        <p:spPr>
          <a:xfrm>
            <a:off x="1005840" y="3950208"/>
            <a:ext cx="10241280" cy="457200"/>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Not okay: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Sentences you did not write. If the AI wrote it, it does not go in your final draft.</a:t>
            </a:r>
            <a:endParaRPr lang="en-US" sz="1600" dirty="0"/>
          </a:p>
        </p:txBody>
      </p:sp>
      <p:sp>
        <p:nvSpPr>
          <p:cNvPr id="32" name="Text 29"/>
          <p:cNvSpPr/>
          <p:nvPr/>
        </p:nvSpPr>
        <p:spPr>
          <a:xfrm>
            <a:off x="1005840" y="4425696"/>
            <a:ext cx="10241280" cy="384048"/>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Disclosure: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Fill in the AI Disclosure block at the end of your essay. Every time.</a:t>
            </a:r>
            <a:endParaRPr lang="en-US" sz="1600" dirty="0"/>
          </a:p>
        </p:txBody>
      </p:sp>
      <p:sp>
        <p:nvSpPr>
          <p:cNvPr id="33" name="Text 30"/>
          <p:cNvSpPr/>
          <p:nvPr/>
        </p:nvSpPr>
        <p:spPr>
          <a:xfrm>
            <a:off x="1005840" y="4791456"/>
            <a:ext cx="10241280" cy="530352"/>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If something seems off: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I'll ask you to walk me through your work. That's a conversation, not an accusation.</a:t>
            </a:r>
            <a:endParaRPr lang="en-US" sz="1600" dirty="0"/>
          </a:p>
        </p:txBody>
      </p:sp>
      <p:sp>
        <p:nvSpPr>
          <p:cNvPr id="34" name="Shape 31"/>
          <p:cNvSpPr/>
          <p:nvPr/>
        </p:nvSpPr>
        <p:spPr>
          <a:xfrm>
            <a:off x="640080" y="5504688"/>
            <a:ext cx="10972800" cy="603504"/>
          </a:xfrm>
          <a:prstGeom prst="roundRect">
            <a:avLst>
              <a:gd name="adj" fmla="val 13636"/>
            </a:avLst>
          </a:prstGeom>
          <a:solidFill>
            <a:srgbClr val="EAF5F3"/>
          </a:solidFill>
          <a:ln w="12700">
            <a:solidFill>
              <a:srgbClr val="EAF5F3"/>
            </a:solidFill>
            <a:prstDash val="solid"/>
          </a:ln>
        </p:spPr>
      </p:sp>
      <p:sp>
        <p:nvSpPr>
          <p:cNvPr id="35" name="Text 32"/>
          <p:cNvSpPr/>
          <p:nvPr/>
        </p:nvSpPr>
        <p:spPr>
          <a:xfrm>
            <a:off x="960120" y="5504688"/>
            <a:ext cx="10332720" cy="603504"/>
          </a:xfrm>
          <a:prstGeom prst="rect">
            <a:avLst/>
          </a:prstGeom>
          <a:noFill/>
          <a:ln/>
        </p:spPr>
        <p:txBody>
          <a:bodyPr wrap="square" lIns="0" tIns="0" rIns="0" bIns="0" rtlCol="0" anchor="ctr"/>
          <a:lstStyle/>
          <a:p>
            <a:pPr indent="0" marL="0">
              <a:buNone/>
            </a:pPr>
            <a:r>
              <a:rPr lang="en-US" sz="1500" b="1" spc="120" kern="0" dirty="0">
                <a:solidFill>
                  <a:srgbClr val="2A9D8F"/>
                </a:solidFill>
                <a:latin typeface="Inter" pitchFamily="34" charset="0"/>
                <a:ea typeface="Inter" pitchFamily="34" charset="-122"/>
                <a:cs typeface="Inter" pitchFamily="34" charset="-120"/>
              </a:rPr>
              <a:t>ALSO PRINTED ON IT   </a:t>
            </a:r>
            <a:pPr indent="0" marL="0">
              <a:buNone/>
            </a:pPr>
            <a:r>
              <a:rPr lang="en-US" sz="1500" dirty="0">
                <a:solidFill>
                  <a:srgbClr val="1B1F24"/>
                </a:solidFill>
                <a:latin typeface="Inter" pitchFamily="34" charset="0"/>
                <a:ea typeface="Inter" pitchFamily="34" charset="-122"/>
                <a:cs typeface="Inter" pitchFamily="34" charset="-120"/>
              </a:rPr>
              <a:t>Outline due Thursday, worth 10 points, before drafting begins. Her one upgrade, on the page where students will actually meet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Disclosure block, come back filled in: twenty seconds to read, nothing to argue.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STUDENT'S HALF, FILLED IN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Disclosure block that comes back</a:t>
            </a:r>
            <a:endParaRPr lang="en-US" sz="2800" dirty="0"/>
          </a:p>
        </p:txBody>
      </p:sp>
      <p:sp>
        <p:nvSpPr>
          <p:cNvPr id="14" name="Shape 11"/>
          <p:cNvSpPr/>
          <p:nvPr/>
        </p:nvSpPr>
        <p:spPr>
          <a:xfrm>
            <a:off x="640080" y="1225296"/>
            <a:ext cx="5989320" cy="3703320"/>
          </a:xfrm>
          <a:prstGeom prst="roundRect">
            <a:avLst>
              <a:gd name="adj" fmla="val 2222"/>
            </a:avLst>
          </a:prstGeom>
          <a:solidFill>
            <a:srgbClr val="EAF5F3"/>
          </a:solidFill>
          <a:ln w="12700">
            <a:solidFill>
              <a:srgbClr val="EAF5F3"/>
            </a:solidFill>
            <a:prstDash val="solid"/>
          </a:ln>
        </p:spPr>
      </p:sp>
      <p:sp>
        <p:nvSpPr>
          <p:cNvPr id="15" name="Text 12"/>
          <p:cNvSpPr/>
          <p:nvPr/>
        </p:nvSpPr>
        <p:spPr>
          <a:xfrm>
            <a:off x="914400" y="1371600"/>
            <a:ext cx="544068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AT THE END OF ONE ESSAY, HANDED IN FRIDAY</a:t>
            </a:r>
            <a:endParaRPr lang="en-US" sz="1150" dirty="0"/>
          </a:p>
        </p:txBody>
      </p:sp>
      <p:sp>
        <p:nvSpPr>
          <p:cNvPr id="16" name="Text 13"/>
          <p:cNvSpPr/>
          <p:nvPr/>
        </p:nvSpPr>
        <p:spPr>
          <a:xfrm>
            <a:off x="914400" y="1719072"/>
            <a:ext cx="5440680" cy="2514600"/>
          </a:xfrm>
          <a:prstGeom prst="rect">
            <a:avLst/>
          </a:prstGeom>
          <a:noFill/>
          <a:ln/>
        </p:spPr>
        <p:txBody>
          <a:bodyPr wrap="square" lIns="0" tIns="0" rIns="0" bIns="0" rtlCol="0" anchor="t"/>
          <a:lstStyle/>
          <a:p>
            <a:pPr indent="0" marL="0">
              <a:lnSpc>
                <a:spcPct val="116000"/>
              </a:lnSpc>
              <a:buNone/>
            </a:pPr>
            <a:r>
              <a:rPr lang="en-US" sz="1700" b="1" dirty="0">
                <a:solidFill>
                  <a:srgbClr val="13293D"/>
                </a:solidFill>
                <a:latin typeface="Inter" pitchFamily="34" charset="0"/>
                <a:ea typeface="Inter" pitchFamily="34" charset="-122"/>
                <a:cs typeface="Inter" pitchFamily="34" charset="-120"/>
              </a:rPr>
              <a:t>AI DISCLOSURE </a:t>
            </a:r>
            <a:pPr indent="0" marL="0">
              <a:lnSpc>
                <a:spcPct val="116000"/>
              </a:lnSpc>
              <a:buNone/>
            </a:pPr>
            <a:r>
              <a:rPr lang="en-US" sz="1300" dirty="0">
                <a:solidFill>
                  <a:srgbClr val="5B6B7A"/>
                </a:solidFill>
                <a:latin typeface="Inter" pitchFamily="34" charset="0"/>
                <a:ea typeface="Inter" pitchFamily="34" charset="-122"/>
                <a:cs typeface="Inter" pitchFamily="34" charset="-120"/>
              </a:rPr>
              <a:t>(check all that apply)
</a:t>
            </a:r>
            <a:pPr indent="0" marL="0">
              <a:lnSpc>
                <a:spcPct val="116000"/>
              </a:lnSpc>
              <a:buNone/>
            </a:pPr>
            <a:r>
              <a:rPr lang="en-US" sz="1600" dirty="0">
                <a:solidFill>
                  <a:srgbClr val="5B6B7A"/>
                </a:solidFill>
                <a:latin typeface="Inter" pitchFamily="34" charset="0"/>
                <a:ea typeface="Inter" pitchFamily="34" charset="-122"/>
                <a:cs typeface="Inter" pitchFamily="34" charset="-120"/>
              </a:rPr>
              <a:t>☐ No AI used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 AI helped me brainstorm or outline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 AI gave me feedback on a draft
</a:t>
            </a:r>
            <a:pPr indent="0" marL="0">
              <a:lnSpc>
                <a:spcPct val="116000"/>
              </a:lnSpc>
              <a:buNone/>
            </a:pPr>
            <a:r>
              <a:rPr lang="en-US" sz="1600" dirty="0">
                <a:solidFill>
                  <a:srgbClr val="5B6B7A"/>
                </a:solidFill>
                <a:latin typeface="Inter" pitchFamily="34" charset="0"/>
                <a:ea typeface="Inter" pitchFamily="34" charset="-122"/>
                <a:cs typeface="Inter" pitchFamily="34" charset="-120"/>
              </a:rPr>
              <a:t>☐ AI drafted text that I revised
</a:t>
            </a:r>
            <a:pPr indent="0" marL="0">
              <a:lnSpc>
                <a:spcPct val="116000"/>
              </a:lnSpc>
              <a:buNone/>
            </a:pPr>
            <a:r>
              <a:rPr lang="en-US" sz="1500" b="1" dirty="0">
                <a:solidFill>
                  <a:srgbClr val="13293D"/>
                </a:solidFill>
                <a:latin typeface="Inter" pitchFamily="34" charset="0"/>
                <a:ea typeface="Inter" pitchFamily="34" charset="-122"/>
                <a:cs typeface="Inter" pitchFamily="34" charset="-120"/>
              </a:rPr>
              <a:t>Tool I used: </a:t>
            </a:r>
            <a:pPr indent="0" marL="0">
              <a:lnSpc>
                <a:spcPct val="116000"/>
              </a:lnSpc>
              <a:buNone/>
            </a:pPr>
            <a:r>
              <a:rPr lang="en-US" sz="1500" dirty="0">
                <a:solidFill>
                  <a:srgbClr val="1B1F24"/>
                </a:solidFill>
                <a:latin typeface="Inter" pitchFamily="34" charset="0"/>
                <a:ea typeface="Inter" pitchFamily="34" charset="-122"/>
                <a:cs typeface="Inter" pitchFamily="34" charset="-120"/>
              </a:rPr>
              <a:t>a free AI chat site, on my phone
</a:t>
            </a:r>
            <a:pPr indent="0" marL="0">
              <a:lnSpc>
                <a:spcPct val="116000"/>
              </a:lnSpc>
              <a:buNone/>
            </a:pPr>
            <a:r>
              <a:rPr lang="en-US" sz="1500" b="1" dirty="0">
                <a:solidFill>
                  <a:srgbClr val="13293D"/>
                </a:solidFill>
                <a:latin typeface="Inter" pitchFamily="34" charset="0"/>
                <a:ea typeface="Inter" pitchFamily="34" charset="-122"/>
                <a:cs typeface="Inter" pitchFamily="34" charset="-120"/>
              </a:rPr>
              <a:t>What I asked it to do: </a:t>
            </a:r>
            <a:pPr indent="0" marL="0">
              <a:lnSpc>
                <a:spcPct val="116000"/>
              </a:lnSpc>
              <a:buNone/>
            </a:pPr>
            <a:r>
              <a:rPr lang="en-US" sz="1500" dirty="0">
                <a:solidFill>
                  <a:srgbClr val="1B1F24"/>
                </a:solidFill>
                <a:latin typeface="Inter" pitchFamily="34" charset="0"/>
                <a:ea typeface="Inter" pitchFamily="34" charset="-122"/>
                <a:cs typeface="Inter" pitchFamily="34" charset="-120"/>
              </a:rPr>
              <a:t>"what would someone who disagrees with me say," and whether my outline was missing anything</a:t>
            </a:r>
            <a:endParaRPr lang="en-US" sz="1700" dirty="0"/>
          </a:p>
        </p:txBody>
      </p:sp>
      <p:sp>
        <p:nvSpPr>
          <p:cNvPr id="17" name="Text 14"/>
          <p:cNvSpPr/>
          <p:nvPr/>
        </p:nvSpPr>
        <p:spPr>
          <a:xfrm>
            <a:off x="914400" y="4315968"/>
            <a:ext cx="5440680" cy="41148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No name line: the block travels at the end of the student's own work.</a:t>
            </a:r>
            <a:endParaRPr lang="en-US" sz="1300" dirty="0"/>
          </a:p>
        </p:txBody>
      </p:sp>
      <p:sp>
        <p:nvSpPr>
          <p:cNvPr id="18" name="Shape 15"/>
          <p:cNvSpPr/>
          <p:nvPr/>
        </p:nvSpPr>
        <p:spPr>
          <a:xfrm>
            <a:off x="6903720" y="1225296"/>
            <a:ext cx="4663440" cy="3703320"/>
          </a:xfrm>
          <a:prstGeom prst="roundRect">
            <a:avLst>
              <a:gd name="adj" fmla="val 2222"/>
            </a:avLst>
          </a:prstGeom>
          <a:solidFill>
            <a:srgbClr val="F7F5F0"/>
          </a:solidFill>
          <a:ln w="12700">
            <a:solidFill>
              <a:srgbClr val="F7F5F0"/>
            </a:solidFill>
            <a:prstDash val="solid"/>
          </a:ln>
        </p:spPr>
      </p:sp>
      <p:sp>
        <p:nvSpPr>
          <p:cNvPr id="19" name="Text 16"/>
          <p:cNvSpPr/>
          <p:nvPr/>
        </p:nvSpPr>
        <p:spPr>
          <a:xfrm>
            <a:off x="7178040" y="1371600"/>
            <a:ext cx="4114800" cy="274320"/>
          </a:xfrm>
          <a:prstGeom prst="rect">
            <a:avLst/>
          </a:prstGeom>
          <a:noFill/>
          <a:ln/>
        </p:spPr>
        <p:txBody>
          <a:bodyPr wrap="square" lIns="0" tIns="0" rIns="0" bIns="0" rtlCol="0" anchor="ctr"/>
          <a:lstStyle/>
          <a:p>
            <a:pPr indent="0" marL="0">
              <a:buNone/>
            </a:pPr>
            <a:r>
              <a:rPr lang="en-US" sz="1150" b="1" spc="120" kern="0" dirty="0">
                <a:solidFill>
                  <a:srgbClr val="13293D"/>
                </a:solidFill>
                <a:latin typeface="Inter" pitchFamily="34" charset="0"/>
                <a:ea typeface="Inter" pitchFamily="34" charset="-122"/>
                <a:cs typeface="Inter" pitchFamily="34" charset="-120"/>
              </a:rPr>
              <a:t>WHAT SHE DOES WITH IT · 20 SECONDS</a:t>
            </a:r>
            <a:endParaRPr lang="en-US" sz="1150" dirty="0"/>
          </a:p>
        </p:txBody>
      </p:sp>
      <p:sp>
        <p:nvSpPr>
          <p:cNvPr id="20" name="Text 17"/>
          <p:cNvSpPr/>
          <p:nvPr/>
        </p:nvSpPr>
        <p:spPr>
          <a:xfrm>
            <a:off x="7178040" y="1737360"/>
            <a:ext cx="4114800" cy="3017520"/>
          </a:xfrm>
          <a:prstGeom prst="rect">
            <a:avLst/>
          </a:prstGeom>
          <a:noFill/>
          <a:ln/>
        </p:spPr>
        <p:txBody>
          <a:bodyPr wrap="square" lIns="0" tIns="0" rIns="0" bIns="0" rtlCol="0" anchor="t"/>
          <a:lstStyle/>
          <a:p>
            <a:pPr indent="0" marL="0">
              <a:lnSpc>
                <a:spcPct val="114000"/>
              </a:lnSpc>
              <a:buNone/>
            </a:pPr>
            <a:r>
              <a:rPr lang="en-US" sz="1450" dirty="0">
                <a:solidFill>
                  <a:srgbClr val="1B1F24"/>
                </a:solidFill>
                <a:latin typeface="Inter" pitchFamily="34" charset="0"/>
                <a:ea typeface="Inter" pitchFamily="34" charset="-122"/>
                <a:cs typeface="Inter" pitchFamily="34" charset="-120"/>
              </a:rPr>
              <a:t>Both checks sit inside lane 2, where the outline lives. Nothing to discuss. She grades the essay.
</a:t>
            </a:r>
            <a:pPr indent="0" marL="0">
              <a:lnSpc>
                <a:spcPct val="114000"/>
              </a:lnSpc>
              <a:buNone/>
            </a:pPr>
            <a:r>
              <a:rPr lang="en-US" sz="1450" dirty="0">
                <a:solidFill>
                  <a:srgbClr val="1B1F24"/>
                </a:solidFill>
                <a:latin typeface="Inter" pitchFamily="34" charset="0"/>
                <a:ea typeface="Inter" pitchFamily="34" charset="-122"/>
                <a:cs typeface="Inter" pitchFamily="34" charset="-120"/>
              </a:rPr>
              <a:t>The tool line tells her what her class is actually using, which beats any survey she could run.
</a:t>
            </a:r>
            <a:pPr indent="0" marL="0">
              <a:lnSpc>
                <a:spcPct val="114000"/>
              </a:lnSpc>
              <a:buNone/>
            </a:pPr>
            <a:r>
              <a:rPr lang="en-US" sz="1450" b="1" dirty="0">
                <a:solidFill>
                  <a:srgbClr val="13293D"/>
                </a:solidFill>
                <a:latin typeface="Inter" pitchFamily="34" charset="0"/>
                <a:ea typeface="Inter" pitchFamily="34" charset="-122"/>
                <a:cs typeface="Inter" pitchFamily="34" charset="-120"/>
              </a:rPr>
              <a:t>If box four were checked against the final draft, that is a coaching conversation, not a referral. Honesty gets a soft landing, every time.</a:t>
            </a:r>
            <a:endParaRPr lang="en-US" sz="1450" dirty="0"/>
          </a:p>
        </p:txBody>
      </p:sp>
      <p:sp>
        <p:nvSpPr>
          <p:cNvPr id="21" name="Shape 18"/>
          <p:cNvSpPr/>
          <p:nvPr/>
        </p:nvSpPr>
        <p:spPr>
          <a:xfrm>
            <a:off x="640080" y="5074920"/>
            <a:ext cx="10972800" cy="868680"/>
          </a:xfrm>
          <a:prstGeom prst="roundRect">
            <a:avLst>
              <a:gd name="adj" fmla="val 9474"/>
            </a:avLst>
          </a:prstGeom>
          <a:solidFill>
            <a:srgbClr val="13293D"/>
          </a:solidFill>
          <a:ln w="12700">
            <a:solidFill>
              <a:srgbClr val="13293D"/>
            </a:solidFill>
            <a:prstDash val="solid"/>
          </a:ln>
        </p:spPr>
      </p:sp>
      <p:sp>
        <p:nvSpPr>
          <p:cNvPr id="22" name="Text 19"/>
          <p:cNvSpPr/>
          <p:nvPr/>
        </p:nvSpPr>
        <p:spPr>
          <a:xfrm>
            <a:off x="960120" y="5074920"/>
            <a:ext cx="10332720" cy="868680"/>
          </a:xfrm>
          <a:prstGeom prst="rect">
            <a:avLst/>
          </a:prstGeom>
          <a:noFill/>
          <a:ln/>
        </p:spPr>
        <p:txBody>
          <a:bodyPr wrap="square" lIns="0" tIns="0" rIns="0" bIns="0" rtlCol="0" anchor="ctr"/>
          <a:lstStyle/>
          <a:p>
            <a:pPr algn="ctr" indent="0" marL="0">
              <a:lnSpc>
                <a:spcPct val="115000"/>
              </a:lnSpc>
              <a:buNone/>
            </a:pPr>
            <a:r>
              <a:rPr lang="en-US" sz="1500" b="1" dirty="0">
                <a:solidFill>
                  <a:srgbClr val="2A9D8F"/>
                </a:solidFill>
                <a:latin typeface="Inter" pitchFamily="34" charset="0"/>
                <a:ea typeface="Inter" pitchFamily="34" charset="-122"/>
                <a:cs typeface="Inter" pitchFamily="34" charset="-120"/>
              </a:rPr>
              <a:t>The teacher's half prints on Monday. The student's half comes back on Friday.</a:t>
            </a:r>
            <a:endParaRPr lang="en-US" sz="1500" dirty="0"/>
          </a:p>
          <a:p>
            <a:pPr algn="ctr" indent="0" marL="0">
              <a:lnSpc>
                <a:spcPct val="115000"/>
              </a:lnSpc>
              <a:buNone/>
            </a:pPr>
            <a:r>
              <a:rPr lang="en-US" sz="1500" dirty="0">
                <a:solidFill>
                  <a:srgbClr val="FFFFFF"/>
                </a:solidFill>
                <a:latin typeface="Inter" pitchFamily="34" charset="0"/>
                <a:ea typeface="Inter" pitchFamily="34" charset="-122"/>
                <a:cs typeface="Inter" pitchFamily="34" charset="-120"/>
              </a:rPr>
              <a:t>Start in your room this week. Wider adoption is a decision for later.</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her essay's AI Box, read aloud,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4 VOICES, 1 MINUTE 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Read us your AI Box, or your sentences</a:t>
            </a:r>
            <a:endParaRPr lang="en-US" sz="28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Four voices, one minute each: your AI Box or your two sentences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Listen for how different subjects landed in different lanes</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Different lane mixes across departments isn't inconsistency; it's the framework working.</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essay: lane, Box, one upgrade, two sentences.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real assignment with its lane named. A filled-in AI Box in student language. One upgrade that makes thinking visible. And your own two sentences for the hard moment, written calm.
</a:t>
            </a:r>
            <a:pPr indent="0" marL="0">
              <a:buNone/>
            </a:pPr>
            <a:r>
              <a:rPr lang="en-US" sz="2000" b="1" dirty="0">
                <a:solidFill>
                  <a:srgbClr val="13293D"/>
                </a:solidFill>
                <a:latin typeface="Inter" pitchFamily="34" charset="0"/>
                <a:ea typeface="Inter" pitchFamily="34" charset="-122"/>
                <a:cs typeface="Inter" pitchFamily="34" charset="-120"/>
              </a:rPr>
              <a:t>Multiply by this room: five teachers, one answer to "what's allowed?" That consistency is something no detector subscription sells.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some will still cheat. Honest kids now know the rules.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Some students will still cheat; 60–70% did long before the chatbot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 will not catch everything, and that was never the goal</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goal: honest students know the rules, and dishonest work stops paying</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None of this survives without relationships. Lanes and boxes are paper unless students believe you'd rather teach them than catch them.</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label, disclose with a soft landing, never score-only.</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 assignment I give names its lane, starting with the one I built today</a:t>
            </a:r>
            <a:endParaRPr lang="en-US" sz="21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 teach the Disclosure block, and honesty gets a soft landing, every time</a:t>
            </a:r>
            <a:endParaRPr lang="en-US" sz="21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 never accuse on a detector score alone; my evidence is process and conversation</a:t>
            </a:r>
            <a:endParaRPr lang="en-US" sz="21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Nothing to buy. Nothing to install. Just agreements, which is what integrity has always been.</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box swap, gray-area calibration, a class-written agreement.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Lane labels and boxes go out on real assignments</a:t>
            </a:r>
            <a:endParaRPr lang="en-US" sz="19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Box Swap: the ninth-grader test on each other's boxes</a:t>
            </a:r>
            <a:endParaRPr lang="en-US" sz="19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Gray-Area Calibration: one tricky case, one shared answer</a:t>
            </a:r>
            <a:endParaRPr lang="en-US" sz="19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The Classroom Agreement: students co-write the rules</a:t>
            </a:r>
            <a:endParaRPr lang="en-US" sz="19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Students follow rules they helped write.</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Box printed, Disclosure block taught once, sentences filed.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actions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Hand out the labeled assignment</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Box printed on it; read it aloud, ~60 seconds</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Teach the Disclosure block to one class</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checkboxes + the soft-landing rule, said out loud</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File your two sentences</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Where the frustrated version of you will find them</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~2 min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lane, box line, one gray area for the staff.</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assignment you built for, and the lane it landed in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line from your AI Box</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 gray-area case you still want the staff to answer together</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35</a:t>
            </a:r>
            <a:endParaRPr lang="en-US" sz="900" dirty="0"/>
          </a:p>
        </p:txBody>
      </p:sp>
      <p:sp>
        <p:nvSpPr>
          <p:cNvPr id="5" name="Text 2"/>
          <p:cNvSpPr/>
          <p:nvPr/>
        </p:nvSpPr>
        <p:spPr>
          <a:xfrm>
            <a:off x="822960" y="1463040"/>
            <a:ext cx="10515600" cy="1554480"/>
          </a:xfrm>
          <a:prstGeom prst="rect">
            <a:avLst/>
          </a:prstGeom>
          <a:noFill/>
          <a:ln/>
        </p:spPr>
        <p:txBody>
          <a:bodyPr wrap="square" lIns="0" tIns="0" rIns="0" bIns="0" rtlCol="0" anchor="ctr"/>
          <a:lstStyle/>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The schools that get this right won't be</a:t>
            </a:r>
            <a:endParaRPr lang="en-US" sz="3400" dirty="0"/>
          </a:p>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the ones with the best detectors.</a:t>
            </a:r>
            <a:endParaRPr lang="en-US" sz="3400" dirty="0"/>
          </a:p>
        </p:txBody>
      </p:sp>
      <p:sp>
        <p:nvSpPr>
          <p:cNvPr id="6" name="Text 3"/>
          <p:cNvSpPr/>
          <p:nvPr/>
        </p:nvSpPr>
        <p:spPr>
          <a:xfrm>
            <a:off x="822960" y="3200400"/>
            <a:ext cx="10332720" cy="109728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They'll be the ones where every student can answer three questions: what's allowed on this assignment, how do I say what I used, and what happens if I'm honest?</a:t>
            </a:r>
            <a:endParaRPr lang="en-US" sz="20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6 · AI for Communication: Parent Messages, Translation, and Tone</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label an assignment.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5: AI &amp; Academic Integrity: Setting Clear Expectations with Students</dc:title>
  <dc:subject>PptxGenJS Presentation</dc:subject>
  <dc:creator>Adam &amp; Katelyn Spinozzi</dc:creator>
  <cp:lastModifiedBy>Adam &amp; Katelyn Spinozzi</cp:lastModifiedBy>
  <cp:revision>1</cp:revision>
  <dcterms:created xsi:type="dcterms:W3CDTF">2026-08-17T14:07:57Z</dcterms:created>
  <dcterms:modified xsi:type="dcterms:W3CDTF">2026-08-17T14:07:57Z</dcterms:modified>
</cp:coreProperties>
</file>