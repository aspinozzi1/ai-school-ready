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welcome back. This is the session every faculty asks for in the hallway. The answer today is one sentence long, and you will make the change to a real assignment before you leave. Slide up as people arrive; start on time. The founders’ note at the front of the script is an optional moment before slide 2 if you want to share their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paragraphs, same prompt. One was written by a seventh grader, one by a chatbot in about four seconds. Read both aloud slowly, then take a show of hands for A and for B and count out loud. Do not comment on the split yet, and do not reveal. Ask what people used to decide; most rooms say too smooth, too balanced, no specifics. Both paragraphs were written for this session; neither is real student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 is the bot. If you picked it, good instinct, and hold on to it, because the point is not who was right. Ninety seconds on two paragraphs with nothing else on your desk is not the job; a hundred and fifty pieces a week at 9:40 at night is the job. Do not let the room turn this into a contest about who spotted it. Move straight into the detector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ten minutes on why the two obvious answers fail, then the move itself, which takes five minutes to teach because it is one sentence, then practice, then fifteen protected minutes rebuilding a real assignment. Keep this quick. Say the promise out loud: you leave holding a sheet you can photocopy.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 early 2023 OpenAI released a classifier meant to tell you whether text was written by AI, and six months later took it down, citing its low rate of accuracy. Its own numbers: 26% of AI text caught, 9% of human writing falsely flagged. Land the second number with the arithmetic: two hundred essays means eighteen students accused wrongly. The company with the most to gain from a working detector pulled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Liang and colleagues at Stanford, published in Patterns in 2023. Ninety-one TOEFL essays written by real non-native English speakers and eighty-eight essays by American eighth graders, run through seven commercial detectors. The American essays came back near-perfectly classified; the TOEFL essays were falsely flagged at an average of 61.3%. Slow down and leave a beat of silence after the number. The mechanism: these tools read surprising, varied writing as human, and a writer working in a second language writes with fewer surprises. So the failures land on multilingual students, students with language-based disabilities, and anyone who writes plainly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give the scope before the number, because the scope matters. Lee, Pope and colleagues surveyed students at three high schools anonymously before ChatGPT existed and again after. In both rounds roughly 60 to 70 percent reported at least one dishonest behavior, and prevalence stayed relatively stable. Then state the limits in your own voice: three schools, not a country; self-report, not observation; not causal proof. What it is enough for is putting down the panic.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if it is not a character collapse, what is it? Denise Pope has spent years asking students directly, and the answers point at pressure, disengagement and workload rather than tool access. Then make it concrete: look at the last assignment you gave and name what you actually collected. A product. A tool that makes products in four seconds is the fastest route to the thing you asked for, and a tired kid at eleven at night takes the fastest route. Land the last line hard: it will keep winning.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ask for one thing AI can’t hand in. That is the session. Then stop talking for three full seconds and let people write it down. This is the hinge of the hour and it should land at roughly the twenty-minute mark. Do not add a second framework here; the next slide is the only list in the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there are exactly three places to look, and this is the only list in the kit. From this room: something that happened here, and a chatbot was never in the room. From this student: their own reasoning, pushed specific enough that a generic answer cannot fake it. In front of you: something produced live. Read the italic example under each one. If anyone starts building a system with categories and levels, come back to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assignment we follow all the way through the hour, and it never changes topic or splits into parts. Ms. Rivera teaches seventh grade English. Next week: should our school day start later, five-paragraph persuasive essay, due Friday. Be generous about it out loud, because half the room has given one like it. Then land the problem: there is not one thing on this sheet a chatbot cannot produce completely, and the room already read the proof on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watch what she changes. Same topic, same five paragraphs, same Friday. First she names what it is actually for in one sentence, which is the step people skip. Then she adds one thing from this room: two claims from Tuesday’s debate, named, plus why the strongest counter-argument did not change their minds. Then one line so nobody has to guess where AI stands. Read the bottom strip aloud; it is the test for everything they write in the lab. If someone says this is just levels of AI use, agree and point at the credit line: the AI Assessment Scale is the published five-level version, and we are deliberately using one line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she trusted any of this she did the obvious thing, and you can too. She opened a chat tool and typed her own assignment into it exactly the way a student would at eleven at night. Point at the colours as you name the four parts: role in teal, task in navy, context in amber, format in green. Four seconds later she had a complete five-paragraph essay, and its opening paragraph is the one that split this room. Say plainly that this is a teacher stress-testing her own assignment, not a demonstration for students. It costs four seconds to run on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real assignments, the kind on a hundred desks in this building tonight. One at a time, sixty seconds each, answers out loud. Take two or three answers per prompt and move. Do not advance until all three have been tried; the small grey line at the bottom is for a reader flipping the file, not for the room. 45-min cut: two prompts instead of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one good answer for each, and yours were probably better because you know your content. Read all three aloud. Then point at their size: nobody redesigned a unit, each one is a single sentence. Finish with the fairness point, which matters to skeptics: none of these punishes a student for using AI on the other parts. The honest kid checking their work is fine; the kid outsourcing the whole thing hits a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put the assignment you are actually giving in the next two weeks in front of you. Four steps, fifteen minutes, on paper. Put fifteen minutes on a visible clock. This block does not get cut for anything: circulate, do not present during it. Anyone without a real assignment borrows a neighbour’s; nobody works on a hypothetical.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three minutes, and it is the easy one. Put the assignment on the desk written out as students will see it. If it lives in your head, write the sentence you say when you assign it. Circulate. The big card is Ms. Rivera’s step 1: her persuasive essay exactly as it stands, and it is the same assignment on every lab slide from here to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three minutes, and this is the one that does the real work. In one sentence, what is this assignment actually for? Not the standard code. What do you need to see that you cannot see any other way? Read Ms. Rivera’s aloud once as a model, then point out what it bought her: it told her the format is not the point, which frees her to change almost anything else. Make people write it down; this is the step everyone rushes.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six minutes, the longest step and the one that never gets shortened. Add the one thing AI can’t hand in and take it from one of the three places, which stay on screen. One sentence added, not a rewrite. Circulate and ask one question: could a chatbot fake this? If the answer is “maybe, if the student described the class to it,” push one notch more specific. If the answer is “only if it was in my room,” they are done. The big card is Ms. Rivera’s step 3 on the same persuasive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four, three minutes, one line. Tell students where AI stands on this assignment in words a twelve-year-old repeats back correctly. Insist on one line; if someone is drafting a paragraph, say so kindly. “AI-free, this one is in class on paper” is a complete answer. The only wrong version is no line at all, because then thirty students invent thirty different rules and the honest ones guess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pens down for ninety seconds. She ran the same test on the rebuilt assignment, same tool, same four seconds. Read the paragraph aloud, including the bracket, because the bracket is the whole slide: it left her a blank because it was not in the room. Then it guessed confidently that someone argued the buses would be cheaper, and nobody said that, and she was there. Say the last part plainly: this is not catching anybody. It is an assignment a machine cannot complete, read the normal way she reads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it is, the whole thing, exactly as it prints Monday morning. Same heading, same topic, same five paragraphs, same Friday. One sentence added under the task, one line about AI at the bottom. Read the added sentence and the added line aloud word for word. Leave this slide up through the share-out; it is the slide people photograph. Tell them plainly: if your sheet looks like this by the end of the share-out, you have done today’s work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voices, one minute each, and all I want is the sentence you added and which of the three places it came from. Prioritize different subject areas; take a math or CTE answer if one is offered, because the room needs to hear this work outside English. If someone says a chatbot could still fake theirs, that is the most useful minute available, so give it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will still happen. Work will land on your desk and something about it will feel wrong. Open with curiosity in a normal voice: walk me through how you made this. Get specific about the work, not the accusation. Gather process evidence, which they now have because of what they built in the lab. Land it as teaching on a first offense. Say the reason for rehearsing out loud: the tired version of you is the one who will be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one hard line, the only rule I am asking this room to adopt today. No accusation ever rests on a detector score alone. Say it once, plainly, and do not soften it with a joke. Then repeat the three numbers from earlier so the rule is attached to evidence rather than to sentiment.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look at what is on your desk that was not there twenty minutes ago. A real assignment with a sentence in it a chatbot cannot answer, and one line telling students where AI stands. Multiply it by the room, then by the next assignment. Land it plainly and move to the honest limits; do not oversell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honest limits, because this series does not oversell. One sentence does not fix a thin assignment and does not touch the pressure and workload the research points at. Some students will still hand in AI work. Name the real cost too: an assignment anchored to your room does not hand off to a substitute cleanly. Then finish with the scale that is actually achievable: one assignment, then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commitments, same drill as every kit. One, the assignment I just rebuilt goes out this week with the sentence in it. Two, every assignment I give carries one line about AI in student words. Three, I never accuse on a detector score alone. Ask for hands or a nod on each; do not rush the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sheets on your way out. First 48 Hours, three actions, none over fifteen minutes: hand out the assignment you just rebuilt and read the AI line aloud, pick assignment number two and add its one thing, and put the conversation opener where you will find it in a hard moment. Then the exit ticket: your assignment, your added sentence, which place it came from, and your one line. Collect the tickets at the door; they double as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nobody in this building is going to win a detection arms race, and I do not want you to spend another evening trying. What you can do is ask for the one thing that was only ever available in your room. Close warm, then point at the sheet in their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5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&amp; Academic Integrity:</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Ask for One Thing AI Can’t Hand In</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holding one real assignment that asks for something a chatbot cannot produce.</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class, on screen: two paragraphs, one bot. She can't tell either.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NINETY SECONDS. NO STATISTICS YET.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Which one did a bot write?</a:t>
            </a:r>
            <a:endParaRPr lang="en-US" sz="3200" dirty="0"/>
          </a:p>
        </p:txBody>
      </p:sp>
      <p:sp>
        <p:nvSpPr>
          <p:cNvPr id="14" name="Shape 11"/>
          <p:cNvSpPr/>
          <p:nvPr/>
        </p:nvSpPr>
        <p:spPr>
          <a:xfrm>
            <a:off x="640080" y="1325880"/>
            <a:ext cx="5394960" cy="3977640"/>
          </a:xfrm>
          <a:prstGeom prst="roundRect">
            <a:avLst>
              <a:gd name="adj" fmla="val 2069"/>
            </a:avLst>
          </a:prstGeom>
          <a:solidFill>
            <a:srgbClr val="F7F5F0"/>
          </a:solidFill>
          <a:ln w="12700">
            <a:solidFill>
              <a:srgbClr val="F7F5F0"/>
            </a:solidFill>
            <a:prstDash val="solid"/>
          </a:ln>
        </p:spPr>
      </p:sp>
      <p:sp>
        <p:nvSpPr>
          <p:cNvPr id="15" name="Text 12"/>
          <p:cNvSpPr/>
          <p:nvPr/>
        </p:nvSpPr>
        <p:spPr>
          <a:xfrm>
            <a:off x="914400" y="1481328"/>
            <a:ext cx="4846320" cy="292608"/>
          </a:xfrm>
          <a:prstGeom prst="rect">
            <a:avLst/>
          </a:prstGeom>
          <a:noFill/>
          <a:ln/>
        </p:spPr>
        <p:txBody>
          <a:bodyPr wrap="square" lIns="0" tIns="0" rIns="0" bIns="0" rtlCol="0" anchor="ctr"/>
          <a:lstStyle/>
          <a:p>
            <a:pPr indent="0" marL="0">
              <a:buNone/>
            </a:pPr>
            <a:r>
              <a:rPr lang="en-US" sz="1300" b="1" spc="200" kern="0" dirty="0">
                <a:solidFill>
                  <a:srgbClr val="13293D"/>
                </a:solidFill>
                <a:latin typeface="Inter" pitchFamily="34" charset="0"/>
                <a:ea typeface="Inter" pitchFamily="34" charset="-122"/>
                <a:cs typeface="Inter" pitchFamily="34" charset="-120"/>
              </a:rPr>
              <a:t>PARAGRAPH A</a:t>
            </a:r>
            <a:endParaRPr lang="en-US" sz="1300" dirty="0"/>
          </a:p>
        </p:txBody>
      </p:sp>
      <p:sp>
        <p:nvSpPr>
          <p:cNvPr id="16" name="Text 13"/>
          <p:cNvSpPr/>
          <p:nvPr/>
        </p:nvSpPr>
        <p:spPr>
          <a:xfrm>
            <a:off x="914400" y="1847088"/>
            <a:ext cx="4846320" cy="3291840"/>
          </a:xfrm>
          <a:prstGeom prst="rect">
            <a:avLst/>
          </a:prstGeom>
          <a:noFill/>
          <a:ln/>
        </p:spPr>
        <p:txBody>
          <a:bodyPr wrap="square" lIns="0" tIns="0" rIns="0" bIns="0" rtlCol="0" anchor="t"/>
          <a:lstStyle/>
          <a:p>
            <a:pPr indent="0" marL="0">
              <a:lnSpc>
                <a:spcPct val="116000"/>
              </a:lnSpc>
              <a:buNone/>
            </a:pPr>
            <a:r>
              <a:rPr lang="en-US" sz="1600" dirty="0">
                <a:solidFill>
                  <a:srgbClr val="1B1F24"/>
                </a:solidFill>
                <a:latin typeface="Inter" pitchFamily="34" charset="0"/>
                <a:ea typeface="Inter" pitchFamily="34" charset="-122"/>
                <a:cs typeface="Inter" pitchFamily="34" charset="-120"/>
              </a:rPr>
              <a:t>Our bus comes at 6:35 and school starts at 7:20. By third period I am not learning, I am just awake. People say go to bed earlier, but my brain does not shut off at nine. If we started at 8:30 I would still get all seven classes. I would just be in them.</a:t>
            </a:r>
            <a:endParaRPr lang="en-US" sz="1600" dirty="0"/>
          </a:p>
        </p:txBody>
      </p:sp>
      <p:sp>
        <p:nvSpPr>
          <p:cNvPr id="17" name="Shape 14"/>
          <p:cNvSpPr/>
          <p:nvPr/>
        </p:nvSpPr>
        <p:spPr>
          <a:xfrm>
            <a:off x="6263640" y="1325880"/>
            <a:ext cx="5394960" cy="3977640"/>
          </a:xfrm>
          <a:prstGeom prst="roundRect">
            <a:avLst>
              <a:gd name="adj" fmla="val 2069"/>
            </a:avLst>
          </a:prstGeom>
          <a:solidFill>
            <a:srgbClr val="F7F5F0"/>
          </a:solidFill>
          <a:ln w="12700">
            <a:solidFill>
              <a:srgbClr val="F7F5F0"/>
            </a:solidFill>
            <a:prstDash val="solid"/>
          </a:ln>
        </p:spPr>
      </p:sp>
      <p:sp>
        <p:nvSpPr>
          <p:cNvPr id="18" name="Text 15"/>
          <p:cNvSpPr/>
          <p:nvPr/>
        </p:nvSpPr>
        <p:spPr>
          <a:xfrm>
            <a:off x="6537960" y="1481328"/>
            <a:ext cx="4846320" cy="292608"/>
          </a:xfrm>
          <a:prstGeom prst="rect">
            <a:avLst/>
          </a:prstGeom>
          <a:noFill/>
          <a:ln/>
        </p:spPr>
        <p:txBody>
          <a:bodyPr wrap="square" lIns="0" tIns="0" rIns="0" bIns="0" rtlCol="0" anchor="ctr"/>
          <a:lstStyle/>
          <a:p>
            <a:pPr indent="0" marL="0">
              <a:buNone/>
            </a:pPr>
            <a:r>
              <a:rPr lang="en-US" sz="1300" b="1" spc="200" kern="0" dirty="0">
                <a:solidFill>
                  <a:srgbClr val="13293D"/>
                </a:solidFill>
                <a:latin typeface="Inter" pitchFamily="34" charset="0"/>
                <a:ea typeface="Inter" pitchFamily="34" charset="-122"/>
                <a:cs typeface="Inter" pitchFamily="34" charset="-120"/>
              </a:rPr>
              <a:t>PARAGRAPH B</a:t>
            </a:r>
            <a:endParaRPr lang="en-US" sz="1300" dirty="0"/>
          </a:p>
        </p:txBody>
      </p:sp>
      <p:sp>
        <p:nvSpPr>
          <p:cNvPr id="19" name="Text 16"/>
          <p:cNvSpPr/>
          <p:nvPr/>
        </p:nvSpPr>
        <p:spPr>
          <a:xfrm>
            <a:off x="6537960" y="1847088"/>
            <a:ext cx="4846320" cy="3291840"/>
          </a:xfrm>
          <a:prstGeom prst="rect">
            <a:avLst/>
          </a:prstGeom>
          <a:noFill/>
          <a:ln/>
        </p:spPr>
        <p:txBody>
          <a:bodyPr wrap="square" lIns="0" tIns="0" rIns="0" bIns="0" rtlCol="0" anchor="t"/>
          <a:lstStyle/>
          <a:p>
            <a:pPr indent="0" marL="0">
              <a:lnSpc>
                <a:spcPct val="116000"/>
              </a:lnSpc>
              <a:buNone/>
            </a:pPr>
            <a:r>
              <a:rPr lang="en-US" sz="1600" dirty="0">
                <a:solidFill>
                  <a:srgbClr val="1B1F24"/>
                </a:solidFill>
                <a:latin typeface="Inter" pitchFamily="34" charset="0"/>
                <a:ea typeface="Inter" pitchFamily="34" charset="-122"/>
                <a:cs typeface="Inter" pitchFamily="34" charset="-120"/>
              </a:rPr>
              <a:t>Starting the school day later would provide numerous benefits for students. Research consistently demonstrates that adolescents require additional sleep to perform at their best. A later start time would improve academic achievement, support mental health, and reduce tardiness. While some argue this would disrupt athletics and family schedules, these concerns can be addressed through careful planning. Ultimately, student well-being should guide this important decision.</a:t>
            </a:r>
            <a:endParaRPr lang="en-US" sz="1600" dirty="0"/>
          </a:p>
        </p:txBody>
      </p:sp>
      <p:sp>
        <p:nvSpPr>
          <p:cNvPr id="20" name="Shape 17"/>
          <p:cNvSpPr/>
          <p:nvPr/>
        </p:nvSpPr>
        <p:spPr>
          <a:xfrm>
            <a:off x="640080" y="5440680"/>
            <a:ext cx="10972800" cy="658368"/>
          </a:xfrm>
          <a:prstGeom prst="roundRect">
            <a:avLst>
              <a:gd name="adj" fmla="val 12500"/>
            </a:avLst>
          </a:prstGeom>
          <a:solidFill>
            <a:srgbClr val="13293D"/>
          </a:solidFill>
          <a:ln w="12700">
            <a:solidFill>
              <a:srgbClr val="13293D"/>
            </a:solidFill>
            <a:prstDash val="solid"/>
          </a:ln>
        </p:spPr>
      </p:sp>
      <p:sp>
        <p:nvSpPr>
          <p:cNvPr id="21" name="Text 18"/>
          <p:cNvSpPr/>
          <p:nvPr/>
        </p:nvSpPr>
        <p:spPr>
          <a:xfrm>
            <a:off x="960120" y="5440680"/>
            <a:ext cx="10332720" cy="658368"/>
          </a:xfrm>
          <a:prstGeom prst="rect">
            <a:avLst/>
          </a:prstGeom>
          <a:noFill/>
          <a:ln/>
        </p:spPr>
        <p:txBody>
          <a:bodyPr wrap="square" lIns="0" tIns="0" rIns="0" bIns="0" rtlCol="0" anchor="ctr"/>
          <a:lstStyle/>
          <a:p>
            <a:pPr algn="ctr" indent="0" marL="0">
              <a:buNone/>
            </a:pPr>
            <a:r>
              <a:rPr lang="en-US" sz="1700" dirty="0">
                <a:solidFill>
                  <a:srgbClr val="C9D4DE"/>
                </a:solidFill>
                <a:latin typeface="Inter" pitchFamily="34" charset="0"/>
                <a:ea typeface="Inter" pitchFamily="34" charset="-122"/>
                <a:cs typeface="Inter" pitchFamily="34" charset="-120"/>
              </a:rPr>
              <a:t>Same prompt: should our school day start later.  </a:t>
            </a:r>
            <a:pPr algn="ctr" indent="0" marL="0">
              <a:buNone/>
            </a:pPr>
            <a:r>
              <a:rPr lang="en-US" sz="1700" b="1" dirty="0">
                <a:solidFill>
                  <a:srgbClr val="FFFFFF"/>
                </a:solidFill>
                <a:latin typeface="Inter" pitchFamily="34" charset="0"/>
                <a:ea typeface="Inter" pitchFamily="34" charset="-122"/>
                <a:cs typeface="Inter" pitchFamily="34" charset="-120"/>
              </a:rPr>
              <a:t>One is a seventh grader. One took four seconds. Hands up for A. Now B.</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 answer: she picked wrong. So did most of the room.</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ANSWER, AND THE PART THAT MATTERS MORE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 was the bot</a:t>
            </a:r>
            <a:endParaRPr lang="en-US" sz="3200" dirty="0"/>
          </a:p>
        </p:txBody>
      </p:sp>
      <p:sp>
        <p:nvSpPr>
          <p:cNvPr id="14" name="Shape 11"/>
          <p:cNvSpPr/>
          <p:nvPr/>
        </p:nvSpPr>
        <p:spPr>
          <a:xfrm>
            <a:off x="640080" y="1325880"/>
            <a:ext cx="5394960" cy="3794760"/>
          </a:xfrm>
          <a:prstGeom prst="roundRect">
            <a:avLst>
              <a:gd name="adj" fmla="val 2169"/>
            </a:avLst>
          </a:prstGeom>
          <a:solidFill>
            <a:srgbClr val="EAF5F3"/>
          </a:solidFill>
          <a:ln w="12700">
            <a:solidFill>
              <a:srgbClr val="EAF5F3"/>
            </a:solidFill>
            <a:prstDash val="solid"/>
          </a:ln>
        </p:spPr>
      </p:sp>
      <p:sp>
        <p:nvSpPr>
          <p:cNvPr id="15" name="Text 12"/>
          <p:cNvSpPr/>
          <p:nvPr/>
        </p:nvSpPr>
        <p:spPr>
          <a:xfrm>
            <a:off x="914400" y="1481328"/>
            <a:ext cx="4846320" cy="292608"/>
          </a:xfrm>
          <a:prstGeom prst="rect">
            <a:avLst/>
          </a:prstGeom>
          <a:noFill/>
          <a:ln/>
        </p:spPr>
        <p:txBody>
          <a:bodyPr wrap="square" lIns="0" tIns="0" rIns="0" bIns="0" rtlCol="0" anchor="ctr"/>
          <a:lstStyle/>
          <a:p>
            <a:pPr indent="0" marL="0">
              <a:buNone/>
            </a:pPr>
            <a:r>
              <a:rPr lang="en-US" sz="1300" b="1" spc="160" kern="0" dirty="0">
                <a:solidFill>
                  <a:srgbClr val="2A9D8F"/>
                </a:solidFill>
                <a:latin typeface="Inter" pitchFamily="34" charset="0"/>
                <a:ea typeface="Inter" pitchFamily="34" charset="-122"/>
                <a:cs typeface="Inter" pitchFamily="34" charset="-120"/>
              </a:rPr>
              <a:t>WHAT GAVE IT AWAY, WHEN IT DID</a:t>
            </a:r>
            <a:endParaRPr lang="en-US" sz="1300" dirty="0"/>
          </a:p>
        </p:txBody>
      </p:sp>
      <p:sp>
        <p:nvSpPr>
          <p:cNvPr id="16" name="Text 13"/>
          <p:cNvSpPr/>
          <p:nvPr/>
        </p:nvSpPr>
        <p:spPr>
          <a:xfrm>
            <a:off x="914400" y="1874520"/>
            <a:ext cx="4846320" cy="3063240"/>
          </a:xfrm>
          <a:prstGeom prst="rect">
            <a:avLst/>
          </a:prstGeom>
          <a:noFill/>
          <a:ln/>
        </p:spPr>
        <p:txBody>
          <a:bodyPr wrap="square" lIns="0" tIns="0" rIns="0" bIns="0" rtlCol="0" anchor="t"/>
          <a:lstStyle/>
          <a:p>
            <a:pPr indent="0" marL="0">
              <a:lnSpc>
                <a:spcPct val="116000"/>
              </a:lnSpc>
              <a:buNone/>
            </a:pPr>
            <a:r>
              <a:rPr lang="en-US" sz="1600" dirty="0">
                <a:solidFill>
                  <a:srgbClr val="1B1F24"/>
                </a:solidFill>
                <a:latin typeface="Inter" pitchFamily="34" charset="0"/>
                <a:ea typeface="Inter" pitchFamily="34" charset="-122"/>
                <a:cs typeface="Inter" pitchFamily="34" charset="-120"/>
              </a:rPr>
              <a:t>Smooth all the way through.
</a:t>
            </a:r>
            <a:pPr indent="0" marL="0">
              <a:lnSpc>
                <a:spcPct val="116000"/>
              </a:lnSpc>
              <a:buNone/>
            </a:pPr>
            <a:r>
              <a:rPr lang="en-US" sz="1600" dirty="0">
                <a:solidFill>
                  <a:srgbClr val="1B1F24"/>
                </a:solidFill>
                <a:latin typeface="Inter" pitchFamily="34" charset="0"/>
                <a:ea typeface="Inter" pitchFamily="34" charset="-122"/>
                <a:cs typeface="Inter" pitchFamily="34" charset="-120"/>
              </a:rPr>
              <a:t>Every objection raised and dismissed in one polite sentence.
</a:t>
            </a:r>
            <a:pPr indent="0" marL="0">
              <a:lnSpc>
                <a:spcPct val="116000"/>
              </a:lnSpc>
              <a:buNone/>
            </a:pPr>
            <a:r>
              <a:rPr lang="en-US" sz="1600" dirty="0">
                <a:solidFill>
                  <a:srgbClr val="1B1F24"/>
                </a:solidFill>
                <a:latin typeface="Inter" pitchFamily="34" charset="0"/>
                <a:ea typeface="Inter" pitchFamily="34" charset="-122"/>
                <a:cs typeface="Inter" pitchFamily="34" charset="-120"/>
              </a:rPr>
              <a:t>Not one specific: no bus time, no third period, no name of anything.
</a:t>
            </a:r>
            <a:pPr indent="0" marL="0">
              <a:lnSpc>
                <a:spcPct val="116000"/>
              </a:lnSpc>
              <a:buNone/>
            </a:pPr>
            <a:r>
              <a:rPr lang="en-US" sz="1600" b="1" dirty="0">
                <a:solidFill>
                  <a:srgbClr val="13293D"/>
                </a:solidFill>
                <a:latin typeface="Inter" pitchFamily="34" charset="0"/>
                <a:ea typeface="Inter" pitchFamily="34" charset="-122"/>
                <a:cs typeface="Inter" pitchFamily="34" charset="-120"/>
              </a:rPr>
              <a:t>Paragraph A has a 6:35 bus in it. That is what a person sounds like.</a:t>
            </a:r>
            <a:endParaRPr lang="en-US" sz="1600" dirty="0"/>
          </a:p>
        </p:txBody>
      </p:sp>
      <p:sp>
        <p:nvSpPr>
          <p:cNvPr id="17" name="Shape 14"/>
          <p:cNvSpPr/>
          <p:nvPr/>
        </p:nvSpPr>
        <p:spPr>
          <a:xfrm>
            <a:off x="6263640" y="1325880"/>
            <a:ext cx="5394960" cy="3794760"/>
          </a:xfrm>
          <a:prstGeom prst="roundRect">
            <a:avLst>
              <a:gd name="adj" fmla="val 2169"/>
            </a:avLst>
          </a:prstGeom>
          <a:solidFill>
            <a:srgbClr val="F7F5F0"/>
          </a:solidFill>
          <a:ln w="12700">
            <a:solidFill>
              <a:srgbClr val="F7F5F0"/>
            </a:solidFill>
            <a:prstDash val="solid"/>
          </a:ln>
        </p:spPr>
      </p:sp>
      <p:sp>
        <p:nvSpPr>
          <p:cNvPr id="18" name="Text 15"/>
          <p:cNvSpPr/>
          <p:nvPr/>
        </p:nvSpPr>
        <p:spPr>
          <a:xfrm>
            <a:off x="6537960" y="1481328"/>
            <a:ext cx="4846320" cy="292608"/>
          </a:xfrm>
          <a:prstGeom prst="rect">
            <a:avLst/>
          </a:prstGeom>
          <a:noFill/>
          <a:ln/>
        </p:spPr>
        <p:txBody>
          <a:bodyPr wrap="square" lIns="0" tIns="0" rIns="0" bIns="0" rtlCol="0" anchor="ctr"/>
          <a:lstStyle/>
          <a:p>
            <a:pPr indent="0" marL="0">
              <a:buNone/>
            </a:pPr>
            <a:r>
              <a:rPr lang="en-US" sz="1300" b="1" spc="160" kern="0" dirty="0">
                <a:solidFill>
                  <a:srgbClr val="5B6B7A"/>
                </a:solidFill>
                <a:latin typeface="Inter" pitchFamily="34" charset="0"/>
                <a:ea typeface="Inter" pitchFamily="34" charset="-122"/>
                <a:cs typeface="Inter" pitchFamily="34" charset="-120"/>
              </a:rPr>
              <a:t>WHY BEING RIGHT DOES NOT HELP YOU</a:t>
            </a:r>
            <a:endParaRPr lang="en-US" sz="1300" dirty="0"/>
          </a:p>
        </p:txBody>
      </p:sp>
      <p:sp>
        <p:nvSpPr>
          <p:cNvPr id="19" name="Text 16"/>
          <p:cNvSpPr/>
          <p:nvPr/>
        </p:nvSpPr>
        <p:spPr>
          <a:xfrm>
            <a:off x="6537960" y="1874520"/>
            <a:ext cx="4846320" cy="3063240"/>
          </a:xfrm>
          <a:prstGeom prst="rect">
            <a:avLst/>
          </a:prstGeom>
          <a:noFill/>
          <a:ln/>
        </p:spPr>
        <p:txBody>
          <a:bodyPr wrap="square" lIns="0" tIns="0" rIns="0" bIns="0" rtlCol="0" anchor="t"/>
          <a:lstStyle/>
          <a:p>
            <a:pPr indent="0" marL="0">
              <a:lnSpc>
                <a:spcPct val="116000"/>
              </a:lnSpc>
              <a:buNone/>
            </a:pPr>
            <a:r>
              <a:rPr lang="en-US" sz="1600" dirty="0">
                <a:solidFill>
                  <a:srgbClr val="1B1F24"/>
                </a:solidFill>
                <a:latin typeface="Inter" pitchFamily="34" charset="0"/>
                <a:ea typeface="Inter" pitchFamily="34" charset="-122"/>
                <a:cs typeface="Inter" pitchFamily="34" charset="-120"/>
              </a:rPr>
              <a:t>You just spent ninety seconds on two paragraphs, with no grades attached and nothing else on your desk.
</a:t>
            </a:r>
            <a:pPr indent="0" marL="0">
              <a:lnSpc>
                <a:spcPct val="116000"/>
              </a:lnSpc>
              <a:buNone/>
            </a:pPr>
            <a:r>
              <a:rPr lang="en-US" sz="1600" dirty="0">
                <a:solidFill>
                  <a:srgbClr val="1B1F24"/>
                </a:solidFill>
                <a:latin typeface="Inter" pitchFamily="34" charset="0"/>
                <a:ea typeface="Inter" pitchFamily="34" charset="-122"/>
                <a:cs typeface="Inter" pitchFamily="34" charset="-120"/>
              </a:rPr>
              <a:t>Now do that a hundred and fifty times a week, at 9:40 at night, on writing by students you are still getting to know.</a:t>
            </a:r>
            <a:endParaRPr lang="en-US" sz="1600" dirty="0"/>
          </a:p>
        </p:txBody>
      </p:sp>
      <p:sp>
        <p:nvSpPr>
          <p:cNvPr id="20" name="Shape 17"/>
          <p:cNvSpPr/>
          <p:nvPr/>
        </p:nvSpPr>
        <p:spPr>
          <a:xfrm>
            <a:off x="640080" y="5349240"/>
            <a:ext cx="10972800" cy="658368"/>
          </a:xfrm>
          <a:prstGeom prst="roundRect">
            <a:avLst>
              <a:gd name="adj" fmla="val 12500"/>
            </a:avLst>
          </a:prstGeom>
          <a:solidFill>
            <a:srgbClr val="13293D"/>
          </a:solidFill>
          <a:ln w="12700">
            <a:solidFill>
              <a:srgbClr val="13293D"/>
            </a:solidFill>
            <a:prstDash val="solid"/>
          </a:ln>
        </p:spPr>
      </p:sp>
      <p:sp>
        <p:nvSpPr>
          <p:cNvPr id="21" name="Text 18"/>
          <p:cNvSpPr/>
          <p:nvPr/>
        </p:nvSpPr>
        <p:spPr>
          <a:xfrm>
            <a:off x="960120" y="5349240"/>
            <a:ext cx="10332720" cy="658368"/>
          </a:xfrm>
          <a:prstGeom prst="rect">
            <a:avLst/>
          </a:prstGeom>
          <a:noFill/>
          <a:ln/>
        </p:spPr>
        <p:txBody>
          <a:bodyPr wrap="square" lIns="0" tIns="0" rIns="0" bIns="0" rtlCol="0" anchor="ctr"/>
          <a:lstStyle/>
          <a:p>
            <a:pPr algn="ctr" indent="0" marL="0">
              <a:buNone/>
            </a:pPr>
            <a:r>
              <a:rPr lang="en-US" sz="1700" b="1" dirty="0">
                <a:solidFill>
                  <a:srgbClr val="2A9D8F"/>
                </a:solidFill>
                <a:latin typeface="Inter" pitchFamily="34" charset="0"/>
                <a:ea typeface="Inter" pitchFamily="34" charset="-122"/>
                <a:cs typeface="Inter" pitchFamily="34" charset="-120"/>
              </a:rPr>
              <a:t>Reading harder is not the plan. </a:t>
            </a:r>
            <a:pPr algn="ctr" indent="0" marL="0">
              <a:buNone/>
            </a:pPr>
            <a:r>
              <a:rPr lang="en-US" sz="1700" dirty="0">
                <a:solidFill>
                  <a:srgbClr val="FFFFFF"/>
                </a:solidFill>
                <a:latin typeface="Inter" pitchFamily="34" charset="0"/>
                <a:ea typeface="Inter" pitchFamily="34" charset="-122"/>
                <a:cs typeface="Inter" pitchFamily="34" charset="-120"/>
              </a:rPr>
              <a:t>Neither is buying software to do the reading, which is next.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one assignment leaves today asking for something AI can't hand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0:06</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Why catching it fails, and what the evidence says</a:t>
            </a:r>
            <a:endParaRPr lang="en-US" sz="19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0:14</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The one move, and the three places to find it</a:t>
            </a:r>
            <a:endParaRPr lang="en-US" sz="19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Practice out loud on three real assignments</a:t>
            </a:r>
            <a:endParaRPr lang="en-US" sz="19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0:27</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Lab: rebuild an assignment you are about to give</a:t>
            </a:r>
            <a:endParaRPr lang="en-US" sz="19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When it still seems off, and the line that does not move</a:t>
            </a:r>
            <a:endParaRPr lang="en-US" sz="19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holding one assignment sheet that asks for something a chatbot cannot hand in. Ready to photocopy.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note on detectors: the maker shut its own down. 26%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COMPANY THAT BUILT THE CHATBOT BUILT THE DETECTOR</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Then it shut its own detector down</a:t>
            </a:r>
            <a:endParaRPr lang="en-US" sz="2800" dirty="0"/>
          </a:p>
        </p:txBody>
      </p:sp>
      <p:sp>
        <p:nvSpPr>
          <p:cNvPr id="14" name="Shape 11"/>
          <p:cNvSpPr/>
          <p:nvPr/>
        </p:nvSpPr>
        <p:spPr>
          <a:xfrm>
            <a:off x="640080" y="1600200"/>
            <a:ext cx="539496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39496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AI TEXT IT CAUGHT</a:t>
            </a:r>
            <a:endParaRPr lang="en-US" sz="1300" dirty="0"/>
          </a:p>
        </p:txBody>
      </p:sp>
      <p:sp>
        <p:nvSpPr>
          <p:cNvPr id="16" name="Text 13"/>
          <p:cNvSpPr/>
          <p:nvPr/>
        </p:nvSpPr>
        <p:spPr>
          <a:xfrm>
            <a:off x="640080" y="2103120"/>
            <a:ext cx="5394960" cy="960120"/>
          </a:xfrm>
          <a:prstGeom prst="rect">
            <a:avLst/>
          </a:prstGeom>
          <a:noFill/>
          <a:ln/>
        </p:spPr>
        <p:txBody>
          <a:bodyPr wrap="square" lIns="0" tIns="0" rIns="0" bIns="0" rtlCol="0" anchor="ctr"/>
          <a:lstStyle/>
          <a:p>
            <a:pPr algn="ctr" indent="0" marL="0">
              <a:buNone/>
            </a:pPr>
            <a:r>
              <a:rPr lang="en-US" sz="5200" b="1" dirty="0">
                <a:solidFill>
                  <a:srgbClr val="B4453A"/>
                </a:solidFill>
                <a:latin typeface="Inter" pitchFamily="34" charset="0"/>
                <a:ea typeface="Inter" pitchFamily="34" charset="-122"/>
                <a:cs typeface="Inter" pitchFamily="34" charset="-120"/>
              </a:rPr>
              <a:t>26%</a:t>
            </a:r>
            <a:endParaRPr lang="en-US" sz="5200" dirty="0"/>
          </a:p>
        </p:txBody>
      </p:sp>
      <p:sp>
        <p:nvSpPr>
          <p:cNvPr id="17" name="Text 14"/>
          <p:cNvSpPr/>
          <p:nvPr/>
        </p:nvSpPr>
        <p:spPr>
          <a:xfrm>
            <a:off x="960120" y="3108960"/>
            <a:ext cx="475488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AI-written text was correctly flagged as likely AI-written. About three-quarters of it walked straight past. (OpenAI’s own published evaluation, 2023)</a:t>
            </a:r>
            <a:endParaRPr lang="en-US" sz="1600" dirty="0"/>
          </a:p>
        </p:txBody>
      </p:sp>
      <p:sp>
        <p:nvSpPr>
          <p:cNvPr id="18" name="Shape 15"/>
          <p:cNvSpPr/>
          <p:nvPr/>
        </p:nvSpPr>
        <p:spPr>
          <a:xfrm>
            <a:off x="6263640" y="1600200"/>
            <a:ext cx="5394960" cy="3383280"/>
          </a:xfrm>
          <a:prstGeom prst="roundRect">
            <a:avLst>
              <a:gd name="adj" fmla="val 2432"/>
            </a:avLst>
          </a:prstGeom>
          <a:solidFill>
            <a:srgbClr val="F7F5F0"/>
          </a:solidFill>
          <a:ln w="12700">
            <a:solidFill>
              <a:srgbClr val="F7F5F0"/>
            </a:solidFill>
            <a:prstDash val="solid"/>
          </a:ln>
        </p:spPr>
      </p:sp>
      <p:sp>
        <p:nvSpPr>
          <p:cNvPr id="19" name="Text 16"/>
          <p:cNvSpPr/>
          <p:nvPr/>
        </p:nvSpPr>
        <p:spPr>
          <a:xfrm>
            <a:off x="6263640" y="1783080"/>
            <a:ext cx="539496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HUMAN WRITING IT ACCUSED</a:t>
            </a:r>
            <a:endParaRPr lang="en-US" sz="1300" dirty="0"/>
          </a:p>
        </p:txBody>
      </p:sp>
      <p:sp>
        <p:nvSpPr>
          <p:cNvPr id="20" name="Text 17"/>
          <p:cNvSpPr/>
          <p:nvPr/>
        </p:nvSpPr>
        <p:spPr>
          <a:xfrm>
            <a:off x="6263640" y="2103120"/>
            <a:ext cx="5394960" cy="960120"/>
          </a:xfrm>
          <a:prstGeom prst="rect">
            <a:avLst/>
          </a:prstGeom>
          <a:noFill/>
          <a:ln/>
        </p:spPr>
        <p:txBody>
          <a:bodyPr wrap="square" lIns="0" tIns="0" rIns="0" bIns="0" rtlCol="0" anchor="ctr"/>
          <a:lstStyle/>
          <a:p>
            <a:pPr algn="ctr" indent="0" marL="0">
              <a:buNone/>
            </a:pPr>
            <a:r>
              <a:rPr lang="en-US" sz="5200" b="1" dirty="0">
                <a:solidFill>
                  <a:srgbClr val="B4453A"/>
                </a:solidFill>
                <a:latin typeface="Inter" pitchFamily="34" charset="0"/>
                <a:ea typeface="Inter" pitchFamily="34" charset="-122"/>
                <a:cs typeface="Inter" pitchFamily="34" charset="-120"/>
              </a:rPr>
              <a:t>9%</a:t>
            </a:r>
            <a:endParaRPr lang="en-US" sz="5200" dirty="0"/>
          </a:p>
        </p:txBody>
      </p:sp>
      <p:sp>
        <p:nvSpPr>
          <p:cNvPr id="21" name="Text 18"/>
          <p:cNvSpPr/>
          <p:nvPr/>
        </p:nvSpPr>
        <p:spPr>
          <a:xfrm>
            <a:off x="6583680" y="3108960"/>
            <a:ext cx="475488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human writing was labeled AI. Across two hundred essays, that is eighteen students accused of something they did not do. (Same evaluation)</a:t>
            </a:r>
            <a:endParaRPr lang="en-US" sz="1600" dirty="0"/>
          </a:p>
        </p:txBody>
      </p:sp>
      <p:sp>
        <p:nvSpPr>
          <p:cNvPr id="22" name="Shape 19"/>
          <p:cNvSpPr/>
          <p:nvPr/>
        </p:nvSpPr>
        <p:spPr>
          <a:xfrm>
            <a:off x="640080" y="5212080"/>
            <a:ext cx="10972800" cy="658368"/>
          </a:xfrm>
          <a:prstGeom prst="roundRect">
            <a:avLst>
              <a:gd name="adj" fmla="val 12500"/>
            </a:avLst>
          </a:prstGeom>
          <a:solidFill>
            <a:srgbClr val="13293D"/>
          </a:solidFill>
          <a:ln w="12700">
            <a:solidFill>
              <a:srgbClr val="13293D"/>
            </a:solidFill>
            <a:prstDash val="solid"/>
          </a:ln>
        </p:spPr>
      </p:sp>
      <p:sp>
        <p:nvSpPr>
          <p:cNvPr id="23" name="Text 20"/>
          <p:cNvSpPr/>
          <p:nvPr/>
        </p:nvSpPr>
        <p:spPr>
          <a:xfrm>
            <a:off x="960120" y="5212080"/>
            <a:ext cx="10332720" cy="658368"/>
          </a:xfrm>
          <a:prstGeom prst="rect">
            <a:avLst/>
          </a:prstGeom>
          <a:noFill/>
          <a:ln/>
        </p:spPr>
        <p:txBody>
          <a:bodyPr wrap="square" lIns="0" tIns="0" rIns="0" bIns="0" rtlCol="0" anchor="ctr"/>
          <a:lstStyle/>
          <a:p>
            <a:pPr algn="ctr" indent="0" marL="0">
              <a:buNone/>
            </a:pPr>
            <a:r>
              <a:rPr lang="en-US" sz="1700" dirty="0">
                <a:solidFill>
                  <a:srgbClr val="FFFFFF"/>
                </a:solidFill>
                <a:latin typeface="Inter" pitchFamily="34" charset="0"/>
                <a:ea typeface="Inter" pitchFamily="34" charset="-122"/>
                <a:cs typeface="Inter" pitchFamily="34" charset="-120"/>
              </a:rPr>
              <a:t>OpenAI withdrew the classifier after about six months, citing </a:t>
            </a:r>
            <a:pPr algn="ctr" indent="0" marL="0">
              <a:buNone/>
            </a:pPr>
            <a:r>
              <a:rPr lang="en-US" sz="1700" b="1" dirty="0">
                <a:solidFill>
                  <a:srgbClr val="2A9D8F"/>
                </a:solidFill>
                <a:latin typeface="Inter" pitchFamily="34" charset="0"/>
                <a:ea typeface="Inter" pitchFamily="34" charset="-122"/>
                <a:cs typeface="Inter" pitchFamily="34" charset="-120"/>
              </a:rPr>
              <a:t>“its low rate of accuracy.”</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equity read: the misfires land on her multilingual writers.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SEVEN COMMERCIAL DETECTORS, ONE STANFORD STUDY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And it does not misfire at random</a:t>
            </a:r>
            <a:endParaRPr lang="en-US" sz="2800" dirty="0"/>
          </a:p>
        </p:txBody>
      </p:sp>
      <p:sp>
        <p:nvSpPr>
          <p:cNvPr id="14" name="Shape 11"/>
          <p:cNvSpPr/>
          <p:nvPr/>
        </p:nvSpPr>
        <p:spPr>
          <a:xfrm>
            <a:off x="640080" y="1600200"/>
            <a:ext cx="539496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394960" cy="320040"/>
          </a:xfrm>
          <a:prstGeom prst="rect">
            <a:avLst/>
          </a:prstGeom>
          <a:noFill/>
          <a:ln/>
        </p:spPr>
        <p:txBody>
          <a:bodyPr wrap="square" lIns="0" tIns="0" rIns="0" bIns="0" rtlCol="0" anchor="ctr"/>
          <a:lstStyle/>
          <a:p>
            <a:pPr algn="ctr" indent="0" marL="0">
              <a:buNone/>
            </a:pPr>
            <a:r>
              <a:rPr lang="en-US" sz="1300" b="1" spc="140" kern="0" dirty="0">
                <a:solidFill>
                  <a:srgbClr val="5B6B7A"/>
                </a:solidFill>
                <a:latin typeface="Inter" pitchFamily="34" charset="0"/>
                <a:ea typeface="Inter" pitchFamily="34" charset="-122"/>
                <a:cs typeface="Inter" pitchFamily="34" charset="-120"/>
              </a:rPr>
              <a:t>91 TOEFL ESSAYS, ALL HUMAN-WRITTEN</a:t>
            </a:r>
            <a:endParaRPr lang="en-US" sz="1300" dirty="0"/>
          </a:p>
        </p:txBody>
      </p:sp>
      <p:sp>
        <p:nvSpPr>
          <p:cNvPr id="16" name="Text 13"/>
          <p:cNvSpPr/>
          <p:nvPr/>
        </p:nvSpPr>
        <p:spPr>
          <a:xfrm>
            <a:off x="640080" y="2103120"/>
            <a:ext cx="5394960" cy="960120"/>
          </a:xfrm>
          <a:prstGeom prst="rect">
            <a:avLst/>
          </a:prstGeom>
          <a:noFill/>
          <a:ln/>
        </p:spPr>
        <p:txBody>
          <a:bodyPr wrap="square" lIns="0" tIns="0" rIns="0" bIns="0" rtlCol="0" anchor="ctr"/>
          <a:lstStyle/>
          <a:p>
            <a:pPr algn="ctr" indent="0" marL="0">
              <a:buNone/>
            </a:pPr>
            <a:r>
              <a:rPr lang="en-US" sz="5200" b="1" dirty="0">
                <a:solidFill>
                  <a:srgbClr val="B4453A"/>
                </a:solidFill>
                <a:latin typeface="Inter" pitchFamily="34" charset="0"/>
                <a:ea typeface="Inter" pitchFamily="34" charset="-122"/>
                <a:cs typeface="Inter" pitchFamily="34" charset="-120"/>
              </a:rPr>
              <a:t>61.3%</a:t>
            </a:r>
            <a:endParaRPr lang="en-US" sz="5200" dirty="0"/>
          </a:p>
        </p:txBody>
      </p:sp>
      <p:sp>
        <p:nvSpPr>
          <p:cNvPr id="17" name="Text 14"/>
          <p:cNvSpPr/>
          <p:nvPr/>
        </p:nvSpPr>
        <p:spPr>
          <a:xfrm>
            <a:off x="960120" y="3108960"/>
            <a:ext cx="475488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average false-positive rate. More than half of these real essays by non-native English writers were called AI-generated. (Liang et al., Patterns, 2023)</a:t>
            </a:r>
            <a:endParaRPr lang="en-US" sz="1600" dirty="0"/>
          </a:p>
        </p:txBody>
      </p:sp>
      <p:sp>
        <p:nvSpPr>
          <p:cNvPr id="18" name="Shape 15"/>
          <p:cNvSpPr/>
          <p:nvPr/>
        </p:nvSpPr>
        <p:spPr>
          <a:xfrm>
            <a:off x="6263640" y="1600200"/>
            <a:ext cx="5394960" cy="3383280"/>
          </a:xfrm>
          <a:prstGeom prst="roundRect">
            <a:avLst>
              <a:gd name="adj" fmla="val 2432"/>
            </a:avLst>
          </a:prstGeom>
          <a:solidFill>
            <a:srgbClr val="EAF5F3"/>
          </a:solidFill>
          <a:ln w="12700">
            <a:solidFill>
              <a:srgbClr val="EAF5F3"/>
            </a:solidFill>
            <a:prstDash val="solid"/>
          </a:ln>
        </p:spPr>
      </p:sp>
      <p:sp>
        <p:nvSpPr>
          <p:cNvPr id="19" name="Text 16"/>
          <p:cNvSpPr/>
          <p:nvPr/>
        </p:nvSpPr>
        <p:spPr>
          <a:xfrm>
            <a:off x="6263640" y="1783080"/>
            <a:ext cx="5394960" cy="320040"/>
          </a:xfrm>
          <a:prstGeom prst="rect">
            <a:avLst/>
          </a:prstGeom>
          <a:noFill/>
          <a:ln/>
        </p:spPr>
        <p:txBody>
          <a:bodyPr wrap="square" lIns="0" tIns="0" rIns="0" bIns="0" rtlCol="0" anchor="ctr"/>
          <a:lstStyle/>
          <a:p>
            <a:pPr algn="ctr" indent="0" marL="0">
              <a:buNone/>
            </a:pPr>
            <a:r>
              <a:rPr lang="en-US" sz="1300" b="1" spc="140" kern="0" dirty="0">
                <a:solidFill>
                  <a:srgbClr val="2A9D8F"/>
                </a:solidFill>
                <a:latin typeface="Inter" pitchFamily="34" charset="0"/>
                <a:ea typeface="Inter" pitchFamily="34" charset="-122"/>
                <a:cs typeface="Inter" pitchFamily="34" charset="-120"/>
              </a:rPr>
              <a:t>88 US EIGHTH-GRADE ESSAYS</a:t>
            </a:r>
            <a:endParaRPr lang="en-US" sz="1300" dirty="0"/>
          </a:p>
        </p:txBody>
      </p:sp>
      <p:sp>
        <p:nvSpPr>
          <p:cNvPr id="20" name="Text 17"/>
          <p:cNvSpPr/>
          <p:nvPr/>
        </p:nvSpPr>
        <p:spPr>
          <a:xfrm>
            <a:off x="6263640" y="2103120"/>
            <a:ext cx="5394960" cy="960120"/>
          </a:xfrm>
          <a:prstGeom prst="rect">
            <a:avLst/>
          </a:prstGeom>
          <a:noFill/>
          <a:ln/>
        </p:spPr>
        <p:txBody>
          <a:bodyPr wrap="square" lIns="0" tIns="0" rIns="0" bIns="0" rtlCol="0" anchor="ctr"/>
          <a:lstStyle/>
          <a:p>
            <a:pPr algn="ctr" indent="0" marL="0">
              <a:buNone/>
            </a:pPr>
            <a:r>
              <a:rPr lang="en-US" sz="4000" b="1" dirty="0">
                <a:solidFill>
                  <a:srgbClr val="2A9D8F"/>
                </a:solidFill>
                <a:latin typeface="Inter" pitchFamily="34" charset="0"/>
                <a:ea typeface="Inter" pitchFamily="34" charset="-122"/>
                <a:cs typeface="Inter" pitchFamily="34" charset="-120"/>
              </a:rPr>
              <a:t>Near-perfect</a:t>
            </a:r>
            <a:endParaRPr lang="en-US" sz="4000" dirty="0"/>
          </a:p>
        </p:txBody>
      </p:sp>
      <p:sp>
        <p:nvSpPr>
          <p:cNvPr id="21" name="Text 18"/>
          <p:cNvSpPr/>
          <p:nvPr/>
        </p:nvSpPr>
        <p:spPr>
          <a:xfrm>
            <a:off x="6583680" y="3108960"/>
            <a:ext cx="475488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classified correctly almost every time, by the same seven detectors, in the same study. Plain writing reads as machine writing to these tools. (Same study)</a:t>
            </a:r>
            <a:endParaRPr lang="en-US" sz="1600" dirty="0"/>
          </a:p>
        </p:txBody>
      </p:sp>
      <p:sp>
        <p:nvSpPr>
          <p:cNvPr id="22" name="Shape 19"/>
          <p:cNvSpPr/>
          <p:nvPr/>
        </p:nvSpPr>
        <p:spPr>
          <a:xfrm>
            <a:off x="640080" y="5212080"/>
            <a:ext cx="10972800" cy="658368"/>
          </a:xfrm>
          <a:prstGeom prst="roundRect">
            <a:avLst>
              <a:gd name="adj" fmla="val 12500"/>
            </a:avLst>
          </a:prstGeom>
          <a:solidFill>
            <a:srgbClr val="13293D"/>
          </a:solidFill>
          <a:ln w="12700">
            <a:solidFill>
              <a:srgbClr val="13293D"/>
            </a:solidFill>
            <a:prstDash val="solid"/>
          </a:ln>
        </p:spPr>
      </p:sp>
      <p:sp>
        <p:nvSpPr>
          <p:cNvPr id="23" name="Text 20"/>
          <p:cNvSpPr/>
          <p:nvPr/>
        </p:nvSpPr>
        <p:spPr>
          <a:xfrm>
            <a:off x="960120" y="5212080"/>
            <a:ext cx="10332720" cy="658368"/>
          </a:xfrm>
          <a:prstGeom prst="rect">
            <a:avLst/>
          </a:prstGeom>
          <a:noFill/>
          <a:ln/>
        </p:spPr>
        <p:txBody>
          <a:bodyPr wrap="square" lIns="0" tIns="0" rIns="0" bIns="0" rtlCol="0" anchor="ctr"/>
          <a:lstStyle/>
          <a:p>
            <a:pPr algn="ctr" indent="0" marL="0">
              <a:buNone/>
            </a:pPr>
            <a:r>
              <a:rPr lang="en-US" sz="1700" b="1" dirty="0">
                <a:solidFill>
                  <a:srgbClr val="2A9D8F"/>
                </a:solidFill>
                <a:latin typeface="Inter" pitchFamily="34" charset="0"/>
                <a:ea typeface="Inter" pitchFamily="34" charset="-122"/>
                <a:cs typeface="Inter" pitchFamily="34" charset="-120"/>
              </a:rPr>
              <a:t>Detection is not a plan. </a:t>
            </a:r>
            <a:pPr algn="ctr" indent="0" marL="0">
              <a:buNone/>
            </a:pPr>
            <a:r>
              <a:rPr lang="en-US" sz="1700" dirty="0">
                <a:solidFill>
                  <a:srgbClr val="FFFFFF"/>
                </a:solidFill>
                <a:latin typeface="Inter" pitchFamily="34" charset="0"/>
                <a:ea typeface="Inter" pitchFamily="34" charset="-122"/>
                <a:cs typeface="Inter" pitchFamily="34" charset="-120"/>
              </a:rPr>
              <a:t>It is a plan that sends the bill to the students with the least protection.</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blood pressure, lowered: the rate didn't move. Three schools, self-report.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THREE HIGH SCHOOLS, SURVEYED BEFORE AND AFTER CHATGPT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rate did not move</a:t>
            </a:r>
            <a:endParaRPr lang="en-US" sz="3200" dirty="0"/>
          </a:p>
        </p:txBody>
      </p:sp>
      <p:sp>
        <p:nvSpPr>
          <p:cNvPr id="14" name="Shape 11"/>
          <p:cNvSpPr/>
          <p:nvPr/>
        </p:nvSpPr>
        <p:spPr>
          <a:xfrm>
            <a:off x="640080" y="1463040"/>
            <a:ext cx="539496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640080" y="1600200"/>
            <a:ext cx="539496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BEFORE CHATGPT EXISTED</a:t>
            </a:r>
            <a:endParaRPr lang="en-US" sz="1300" dirty="0"/>
          </a:p>
        </p:txBody>
      </p:sp>
      <p:sp>
        <p:nvSpPr>
          <p:cNvPr id="16" name="Text 13"/>
          <p:cNvSpPr/>
          <p:nvPr/>
        </p:nvSpPr>
        <p:spPr>
          <a:xfrm>
            <a:off x="640080" y="1901952"/>
            <a:ext cx="5394960" cy="914400"/>
          </a:xfrm>
          <a:prstGeom prst="rect">
            <a:avLst/>
          </a:prstGeom>
          <a:noFill/>
          <a:ln/>
        </p:spPr>
        <p:txBody>
          <a:bodyPr wrap="square" lIns="0" tIns="0" rIns="0" bIns="0" rtlCol="0" anchor="ctr"/>
          <a:lstStyle/>
          <a:p>
            <a:pPr algn="ctr" indent="0" marL="0">
              <a:buNone/>
            </a:pPr>
            <a:r>
              <a:rPr lang="en-US" sz="4600" b="1" dirty="0">
                <a:solidFill>
                  <a:srgbClr val="2A9D8F"/>
                </a:solidFill>
                <a:latin typeface="Inter" pitchFamily="34" charset="0"/>
                <a:ea typeface="Inter" pitchFamily="34" charset="-122"/>
                <a:cs typeface="Inter" pitchFamily="34" charset="-120"/>
              </a:rPr>
              <a:t>60–70%</a:t>
            </a:r>
            <a:endParaRPr lang="en-US" sz="4600" dirty="0"/>
          </a:p>
        </p:txBody>
      </p:sp>
      <p:sp>
        <p:nvSpPr>
          <p:cNvPr id="17" name="Text 14"/>
          <p:cNvSpPr/>
          <p:nvPr/>
        </p:nvSpPr>
        <p:spPr>
          <a:xfrm>
            <a:off x="822960" y="2834640"/>
            <a:ext cx="5029200" cy="77724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reported at least one dishonest behavior</a:t>
            </a:r>
            <a:endParaRPr lang="en-US" sz="1600" dirty="0"/>
          </a:p>
        </p:txBody>
      </p:sp>
      <p:sp>
        <p:nvSpPr>
          <p:cNvPr id="18" name="Shape 15"/>
          <p:cNvSpPr/>
          <p:nvPr/>
        </p:nvSpPr>
        <p:spPr>
          <a:xfrm>
            <a:off x="6263640" y="1463040"/>
            <a:ext cx="5394960" cy="2286000"/>
          </a:xfrm>
          <a:prstGeom prst="roundRect">
            <a:avLst>
              <a:gd name="adj" fmla="val 3600"/>
            </a:avLst>
          </a:prstGeom>
          <a:solidFill>
            <a:srgbClr val="EAF5F3"/>
          </a:solidFill>
          <a:ln w="12700">
            <a:solidFill>
              <a:srgbClr val="EAF5F3"/>
            </a:solidFill>
            <a:prstDash val="solid"/>
          </a:ln>
        </p:spPr>
      </p:sp>
      <p:sp>
        <p:nvSpPr>
          <p:cNvPr id="19" name="Text 16"/>
          <p:cNvSpPr/>
          <p:nvPr/>
        </p:nvSpPr>
        <p:spPr>
          <a:xfrm>
            <a:off x="6263640" y="1600200"/>
            <a:ext cx="539496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AFTER IT ARRIVED</a:t>
            </a:r>
            <a:endParaRPr lang="en-US" sz="1300" dirty="0"/>
          </a:p>
        </p:txBody>
      </p:sp>
      <p:sp>
        <p:nvSpPr>
          <p:cNvPr id="20" name="Text 17"/>
          <p:cNvSpPr/>
          <p:nvPr/>
        </p:nvSpPr>
        <p:spPr>
          <a:xfrm>
            <a:off x="6263640" y="1901952"/>
            <a:ext cx="5394960" cy="914400"/>
          </a:xfrm>
          <a:prstGeom prst="rect">
            <a:avLst/>
          </a:prstGeom>
          <a:noFill/>
          <a:ln/>
        </p:spPr>
        <p:txBody>
          <a:bodyPr wrap="square" lIns="0" tIns="0" rIns="0" bIns="0" rtlCol="0" anchor="ctr"/>
          <a:lstStyle/>
          <a:p>
            <a:pPr algn="ctr" indent="0" marL="0">
              <a:buNone/>
            </a:pPr>
            <a:r>
              <a:rPr lang="en-US" sz="4600" b="1" dirty="0">
                <a:solidFill>
                  <a:srgbClr val="2A9D8F"/>
                </a:solidFill>
                <a:latin typeface="Inter" pitchFamily="34" charset="0"/>
                <a:ea typeface="Inter" pitchFamily="34" charset="-122"/>
                <a:cs typeface="Inter" pitchFamily="34" charset="-120"/>
              </a:rPr>
              <a:t>60–70%</a:t>
            </a:r>
            <a:endParaRPr lang="en-US" sz="4600" dirty="0"/>
          </a:p>
        </p:txBody>
      </p:sp>
      <p:sp>
        <p:nvSpPr>
          <p:cNvPr id="21" name="Text 18"/>
          <p:cNvSpPr/>
          <p:nvPr/>
        </p:nvSpPr>
        <p:spPr>
          <a:xfrm>
            <a:off x="6446520" y="2834640"/>
            <a:ext cx="5029200" cy="77724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the same schools, the same question, relatively stable</a:t>
            </a:r>
            <a:endParaRPr lang="en-US" sz="1600" dirty="0"/>
          </a:p>
        </p:txBody>
      </p:sp>
      <p:sp>
        <p:nvSpPr>
          <p:cNvPr id="22" name="Shape 19"/>
          <p:cNvSpPr/>
          <p:nvPr/>
        </p:nvSpPr>
        <p:spPr>
          <a:xfrm>
            <a:off x="640080" y="3931920"/>
            <a:ext cx="10972800" cy="1463040"/>
          </a:xfrm>
          <a:prstGeom prst="roundRect">
            <a:avLst>
              <a:gd name="adj" fmla="val 5625"/>
            </a:avLst>
          </a:prstGeom>
          <a:solidFill>
            <a:srgbClr val="F7F5F0"/>
          </a:solidFill>
          <a:ln w="12700">
            <a:solidFill>
              <a:srgbClr val="F7F5F0"/>
            </a:solidFill>
            <a:prstDash val="solid"/>
          </a:ln>
        </p:spPr>
      </p:sp>
      <p:sp>
        <p:nvSpPr>
          <p:cNvPr id="23" name="Text 20"/>
          <p:cNvSpPr/>
          <p:nvPr/>
        </p:nvSpPr>
        <p:spPr>
          <a:xfrm>
            <a:off x="960120" y="4041648"/>
            <a:ext cx="10332720" cy="1243584"/>
          </a:xfrm>
          <a:prstGeom prst="rect">
            <a:avLst/>
          </a:prstGeom>
          <a:noFill/>
          <a:ln/>
        </p:spPr>
        <p:txBody>
          <a:bodyPr wrap="square" lIns="0" tIns="0" rIns="0" bIns="0" rtlCol="0" anchor="ctr"/>
          <a:lstStyle/>
          <a:p>
            <a:pPr indent="0" marL="0">
              <a:lnSpc>
                <a:spcPct val="112000"/>
              </a:lnSpc>
              <a:buNone/>
            </a:pPr>
            <a:r>
              <a:rPr lang="en-US" sz="1600" b="1" dirty="0">
                <a:solidFill>
                  <a:srgbClr val="13293D"/>
                </a:solidFill>
                <a:latin typeface="Inter" pitchFamily="34" charset="0"/>
                <a:ea typeface="Inter" pitchFamily="34" charset="-122"/>
                <a:cs typeface="Inter" pitchFamily="34" charset="-120"/>
              </a:rPr>
              <a:t>Say the scope out loud: </a:t>
            </a:r>
            <a:pPr indent="0" marL="0">
              <a:lnSpc>
                <a:spcPct val="112000"/>
              </a:lnSpc>
              <a:buNone/>
            </a:pPr>
            <a:r>
              <a:rPr lang="en-US" sz="1600" dirty="0">
                <a:solidFill>
                  <a:srgbClr val="1B1F24"/>
                </a:solidFill>
                <a:latin typeface="Inter" pitchFamily="34" charset="0"/>
                <a:ea typeface="Inter" pitchFamily="34" charset="-122"/>
                <a:cs typeface="Inter" pitchFamily="34" charset="-120"/>
              </a:rPr>
              <a:t>three high schools (one public, one private, one charter), anonymous self-report, before and after. Not national. Not causal proof of anything. It is still enough to put down the idea that a generation went bad in November 2022. (Lee, Pope, Miles &amp; Zárate, 2024)</a:t>
            </a:r>
            <a:endParaRPr lang="en-US" sz="1600" dirty="0"/>
          </a:p>
        </p:txBody>
      </p:sp>
      <p:sp>
        <p:nvSpPr>
          <p:cNvPr id="24" name="Shape 21"/>
          <p:cNvSpPr/>
          <p:nvPr/>
        </p:nvSpPr>
        <p:spPr>
          <a:xfrm>
            <a:off x="640080" y="5532120"/>
            <a:ext cx="10972800" cy="658368"/>
          </a:xfrm>
          <a:prstGeom prst="roundRect">
            <a:avLst>
              <a:gd name="adj" fmla="val 12500"/>
            </a:avLst>
          </a:prstGeom>
          <a:solidFill>
            <a:srgbClr val="13293D"/>
          </a:solidFill>
          <a:ln w="12700">
            <a:solidFill>
              <a:srgbClr val="13293D"/>
            </a:solidFill>
            <a:prstDash val="solid"/>
          </a:ln>
        </p:spPr>
      </p:sp>
      <p:sp>
        <p:nvSpPr>
          <p:cNvPr id="25" name="Text 22"/>
          <p:cNvSpPr/>
          <p:nvPr/>
        </p:nvSpPr>
        <p:spPr>
          <a:xfrm>
            <a:off x="960120" y="5532120"/>
            <a:ext cx="10332720" cy="658368"/>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The forms shift. The amount, where anyone has measured it, did not spike.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her essay asks for a product. AI is the fastest way to a product.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UNCOMFORTABLE, USEFUL ANSWER</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Because it is the fastest path to what you asked for</a:t>
            </a:r>
            <a:endParaRPr lang="en-US" sz="2800" dirty="0"/>
          </a:p>
        </p:txBody>
      </p:sp>
      <p:sp>
        <p:nvSpPr>
          <p:cNvPr id="14" name="Text 11"/>
          <p:cNvSpPr/>
          <p:nvPr/>
        </p:nvSpPr>
        <p:spPr>
          <a:xfrm>
            <a:off x="640080" y="1463040"/>
            <a:ext cx="10908792" cy="320040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You asked for a product: five paragraphs, a lab write-up, twenty problems with work shown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tool that makes products in four seconds is the fastest route to a product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Pope’s research points at pressure, disengagement and workload, not at tool access</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If the product is all you ask for, AI wins. And it will keep winning.</a:t>
            </a:r>
            <a:endParaRPr lang="en-US" sz="2000" dirty="0"/>
          </a:p>
        </p:txBody>
      </p:sp>
      <p:sp>
        <p:nvSpPr>
          <p:cNvPr id="15" name="Shape 12"/>
          <p:cNvSpPr/>
          <p:nvPr/>
        </p:nvSpPr>
        <p:spPr>
          <a:xfrm>
            <a:off x="640080" y="4526280"/>
            <a:ext cx="10972800" cy="1143000"/>
          </a:xfrm>
          <a:prstGeom prst="roundRect">
            <a:avLst>
              <a:gd name="adj" fmla="val 7200"/>
            </a:avLst>
          </a:prstGeom>
          <a:solidFill>
            <a:srgbClr val="F7F5F0"/>
          </a:solidFill>
          <a:ln w="12700">
            <a:solidFill>
              <a:srgbClr val="F7F5F0"/>
            </a:solidFill>
            <a:prstDash val="solid"/>
          </a:ln>
        </p:spPr>
      </p:sp>
      <p:sp>
        <p:nvSpPr>
          <p:cNvPr id="16" name="Text 13"/>
          <p:cNvSpPr/>
          <p:nvPr/>
        </p:nvSpPr>
        <p:spPr>
          <a:xfrm>
            <a:off x="960120" y="4617720"/>
            <a:ext cx="10332720" cy="96012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That is a design result, not a character collapse. You cannot out-run it by grading harder, because every year the products get faster. You can only ask for something else.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one move, on a sticky note: ask for one thing AI can't hand in.</a:t>
            </a:r>
            <a:endParaRPr lang="en-US" sz="1000" dirty="0"/>
          </a:p>
        </p:txBody>
      </p:sp>
      <p:sp>
        <p:nvSpPr>
          <p:cNvPr id="12" name="Text 9"/>
          <p:cNvSpPr/>
          <p:nvPr/>
        </p:nvSpPr>
        <p:spPr>
          <a:xfrm>
            <a:off x="822960" y="1417320"/>
            <a:ext cx="758952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ONE MOVE OF THIS SESSION</a:t>
            </a:r>
            <a:endParaRPr lang="en-US" sz="1500" dirty="0"/>
          </a:p>
        </p:txBody>
      </p:sp>
      <p:sp>
        <p:nvSpPr>
          <p:cNvPr id="13" name="Text 10"/>
          <p:cNvSpPr/>
          <p:nvPr/>
        </p:nvSpPr>
        <p:spPr>
          <a:xfrm>
            <a:off x="822960" y="2011680"/>
            <a:ext cx="10515600" cy="1920240"/>
          </a:xfrm>
          <a:prstGeom prst="rect">
            <a:avLst/>
          </a:prstGeom>
          <a:noFill/>
          <a:ln/>
        </p:spPr>
        <p:txBody>
          <a:bodyPr wrap="square" lIns="0" tIns="0" rIns="0" bIns="0" rtlCol="0" anchor="ctr"/>
          <a:lstStyle/>
          <a:p>
            <a:pPr indent="0" marL="0">
              <a:lnSpc>
                <a:spcPct val="110000"/>
              </a:lnSpc>
              <a:buNone/>
            </a:pPr>
            <a:r>
              <a:rPr lang="en-US" sz="4600" b="1" dirty="0">
                <a:solidFill>
                  <a:srgbClr val="FFFFFF"/>
                </a:solidFill>
                <a:latin typeface="Inter" pitchFamily="34" charset="0"/>
                <a:ea typeface="Inter" pitchFamily="34" charset="-122"/>
                <a:cs typeface="Inter" pitchFamily="34" charset="-120"/>
              </a:rPr>
              <a:t>Ask for one thing</a:t>
            </a:r>
            <a:endParaRPr lang="en-US" sz="4600" dirty="0"/>
          </a:p>
          <a:p>
            <a:pPr indent="0" marL="0">
              <a:lnSpc>
                <a:spcPct val="110000"/>
              </a:lnSpc>
              <a:buNone/>
            </a:pPr>
            <a:r>
              <a:rPr lang="en-US" sz="4600" b="1" dirty="0">
                <a:solidFill>
                  <a:srgbClr val="FFFFFF"/>
                </a:solidFill>
                <a:latin typeface="Inter" pitchFamily="34" charset="0"/>
                <a:ea typeface="Inter" pitchFamily="34" charset="-122"/>
                <a:cs typeface="Inter" pitchFamily="34" charset="-120"/>
              </a:rPr>
              <a:t>AI can’t hand in.</a:t>
            </a:r>
            <a:endParaRPr lang="en-US" sz="4600" dirty="0"/>
          </a:p>
        </p:txBody>
      </p:sp>
      <p:sp>
        <p:nvSpPr>
          <p:cNvPr id="14" name="Text 11"/>
          <p:cNvSpPr/>
          <p:nvPr/>
        </p:nvSpPr>
        <p:spPr>
          <a:xfrm>
            <a:off x="822960" y="4206240"/>
            <a:ext cx="10332720" cy="9144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Not “redesign your curriculum.” Not “AI-proof your assessments,” which nobody can do. One thing, on one assignment, that a chatbot is structurally unable to produce.</a:t>
            </a:r>
            <a:endParaRPr lang="en-US" sz="1900" dirty="0"/>
          </a:p>
        </p:txBody>
      </p:sp>
      <p:sp>
        <p:nvSpPr>
          <p:cNvPr id="15" name="Text 12"/>
          <p:cNvSpPr/>
          <p:nvPr/>
        </p:nvSpPr>
        <p:spPr>
          <a:xfrm>
            <a:off x="822960" y="5257800"/>
            <a:ext cx="10332720" cy="45720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Write that sentence down. It rebuilds an assignment on a Sunday night in about four minutes.</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pick of the three places: from this room. Tuesday's debate.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ONLY LIST IN THIS KIT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Three places to find that one thing</a:t>
            </a:r>
            <a:endParaRPr lang="en-US" sz="2800" dirty="0"/>
          </a:p>
        </p:txBody>
      </p:sp>
      <p:sp>
        <p:nvSpPr>
          <p:cNvPr id="14" name="Shape 11"/>
          <p:cNvSpPr/>
          <p:nvPr/>
        </p:nvSpPr>
        <p:spPr>
          <a:xfrm>
            <a:off x="640080" y="1371600"/>
            <a:ext cx="3529584" cy="3931920"/>
          </a:xfrm>
          <a:prstGeom prst="roundRect">
            <a:avLst>
              <a:gd name="adj" fmla="val 2332"/>
            </a:avLst>
          </a:prstGeom>
          <a:solidFill>
            <a:srgbClr val="F7F5F0"/>
          </a:solidFill>
          <a:ln w="12700">
            <a:solidFill>
              <a:srgbClr val="F7F5F0"/>
            </a:solidFill>
            <a:prstDash val="solid"/>
          </a:ln>
        </p:spPr>
      </p:sp>
      <p:sp>
        <p:nvSpPr>
          <p:cNvPr id="15" name="Shape 12"/>
          <p:cNvSpPr/>
          <p:nvPr/>
        </p:nvSpPr>
        <p:spPr>
          <a:xfrm>
            <a:off x="896112" y="1572768"/>
            <a:ext cx="457200" cy="457200"/>
          </a:xfrm>
          <a:prstGeom prst="ellipse">
            <a:avLst/>
          </a:prstGeom>
          <a:solidFill>
            <a:srgbClr val="2A9D8F"/>
          </a:solidFill>
          <a:ln w="12700">
            <a:solidFill>
              <a:srgbClr val="2A9D8F"/>
            </a:solidFill>
            <a:prstDash val="solid"/>
          </a:ln>
        </p:spPr>
      </p:sp>
      <p:sp>
        <p:nvSpPr>
          <p:cNvPr id="16" name="Text 13"/>
          <p:cNvSpPr/>
          <p:nvPr/>
        </p:nvSpPr>
        <p:spPr>
          <a:xfrm>
            <a:off x="896112" y="1572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1</a:t>
            </a:r>
            <a:endParaRPr lang="en-US" sz="1800" dirty="0"/>
          </a:p>
        </p:txBody>
      </p:sp>
      <p:sp>
        <p:nvSpPr>
          <p:cNvPr id="17" name="Text 14"/>
          <p:cNvSpPr/>
          <p:nvPr/>
        </p:nvSpPr>
        <p:spPr>
          <a:xfrm>
            <a:off x="1463040" y="1572768"/>
            <a:ext cx="2468880" cy="457200"/>
          </a:xfrm>
          <a:prstGeom prst="rect">
            <a:avLst/>
          </a:prstGeom>
          <a:noFill/>
          <a:ln/>
        </p:spPr>
        <p:txBody>
          <a:bodyPr wrap="square" lIns="0" tIns="0" rIns="0" bIns="0" rtlCol="0" anchor="ctr"/>
          <a:lstStyle/>
          <a:p>
            <a:pPr indent="0" marL="0">
              <a:buNone/>
            </a:pPr>
            <a:r>
              <a:rPr lang="en-US" sz="1400" b="1" spc="120" kern="0" dirty="0">
                <a:solidFill>
                  <a:srgbClr val="2A9D8F"/>
                </a:solidFill>
                <a:latin typeface="Inter" pitchFamily="34" charset="0"/>
                <a:ea typeface="Inter" pitchFamily="34" charset="-122"/>
                <a:cs typeface="Inter" pitchFamily="34" charset="-120"/>
              </a:rPr>
              <a:t>FROM THIS ROOM</a:t>
            </a:r>
            <a:endParaRPr lang="en-US" sz="1400" dirty="0"/>
          </a:p>
        </p:txBody>
      </p:sp>
      <p:sp>
        <p:nvSpPr>
          <p:cNvPr id="18" name="Text 15"/>
          <p:cNvSpPr/>
          <p:nvPr/>
        </p:nvSpPr>
        <p:spPr>
          <a:xfrm>
            <a:off x="896112" y="2194560"/>
            <a:ext cx="3017520" cy="1737360"/>
          </a:xfrm>
          <a:prstGeom prst="rect">
            <a:avLst/>
          </a:prstGeom>
          <a:noFill/>
          <a:ln/>
        </p:spPr>
        <p:txBody>
          <a:bodyPr wrap="square" lIns="0" tIns="0" rIns="0" bIns="0" rtlCol="0" anchor="t"/>
          <a:lstStyle/>
          <a:p>
            <a:pPr indent="0" marL="0">
              <a:lnSpc>
                <a:spcPct val="114000"/>
              </a:lnSpc>
              <a:buNone/>
            </a:pPr>
            <a:r>
              <a:rPr lang="en-US" sz="1600" dirty="0">
                <a:solidFill>
                  <a:srgbClr val="1B1F24"/>
                </a:solidFill>
                <a:latin typeface="Inter" pitchFamily="34" charset="0"/>
                <a:ea typeface="Inter" pitchFamily="34" charset="-122"/>
                <a:cs typeface="Inter" pitchFamily="34" charset="-120"/>
              </a:rPr>
              <a:t>Something that happened here. Tuesday’s discussion, the lab we ran, the text we annotated together, the data our own class collected.</a:t>
            </a:r>
            <a:endParaRPr lang="en-US" sz="1600" dirty="0"/>
          </a:p>
        </p:txBody>
      </p:sp>
      <p:sp>
        <p:nvSpPr>
          <p:cNvPr id="19" name="Text 16"/>
          <p:cNvSpPr/>
          <p:nvPr/>
        </p:nvSpPr>
        <p:spPr>
          <a:xfrm>
            <a:off x="896112" y="3931920"/>
            <a:ext cx="3017520" cy="1234440"/>
          </a:xfrm>
          <a:prstGeom prst="rect">
            <a:avLst/>
          </a:prstGeom>
          <a:noFill/>
          <a:ln/>
        </p:spPr>
        <p:txBody>
          <a:bodyPr wrap="square" lIns="0" tIns="0" rIns="0" bIns="0" rtlCol="0" anchor="t"/>
          <a:lstStyle/>
          <a:p>
            <a:pPr indent="0" marL="0">
              <a:lnSpc>
                <a:spcPct val="112000"/>
              </a:lnSpc>
              <a:buNone/>
            </a:pPr>
            <a:r>
              <a:rPr lang="en-US" sz="1450" i="1" dirty="0">
                <a:solidFill>
                  <a:srgbClr val="5B6B7A"/>
                </a:solidFill>
                <a:latin typeface="Inter" pitchFamily="34" charset="0"/>
                <a:ea typeface="Inter" pitchFamily="34" charset="-122"/>
                <a:cs typeface="Inter" pitchFamily="34" charset="-120"/>
              </a:rPr>
              <a:t>A chatbot was never in the room, and it cannot get in.</a:t>
            </a:r>
            <a:endParaRPr lang="en-US" sz="1450" dirty="0"/>
          </a:p>
        </p:txBody>
      </p:sp>
      <p:sp>
        <p:nvSpPr>
          <p:cNvPr id="20" name="Shape 17"/>
          <p:cNvSpPr/>
          <p:nvPr/>
        </p:nvSpPr>
        <p:spPr>
          <a:xfrm>
            <a:off x="4361688" y="1371600"/>
            <a:ext cx="3529584" cy="3931920"/>
          </a:xfrm>
          <a:prstGeom prst="roundRect">
            <a:avLst>
              <a:gd name="adj" fmla="val 2332"/>
            </a:avLst>
          </a:prstGeom>
          <a:solidFill>
            <a:srgbClr val="F7F5F0"/>
          </a:solidFill>
          <a:ln w="12700">
            <a:solidFill>
              <a:srgbClr val="F7F5F0"/>
            </a:solidFill>
            <a:prstDash val="solid"/>
          </a:ln>
        </p:spPr>
      </p:sp>
      <p:sp>
        <p:nvSpPr>
          <p:cNvPr id="21" name="Shape 18"/>
          <p:cNvSpPr/>
          <p:nvPr/>
        </p:nvSpPr>
        <p:spPr>
          <a:xfrm>
            <a:off x="4617720" y="1572768"/>
            <a:ext cx="457200" cy="457200"/>
          </a:xfrm>
          <a:prstGeom prst="ellipse">
            <a:avLst/>
          </a:prstGeom>
          <a:solidFill>
            <a:srgbClr val="13293D"/>
          </a:solidFill>
          <a:ln w="12700">
            <a:solidFill>
              <a:srgbClr val="13293D"/>
            </a:solidFill>
            <a:prstDash val="solid"/>
          </a:ln>
        </p:spPr>
      </p:sp>
      <p:sp>
        <p:nvSpPr>
          <p:cNvPr id="22" name="Text 19"/>
          <p:cNvSpPr/>
          <p:nvPr/>
        </p:nvSpPr>
        <p:spPr>
          <a:xfrm>
            <a:off x="4617720" y="1572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2</a:t>
            </a:r>
            <a:endParaRPr lang="en-US" sz="1800" dirty="0"/>
          </a:p>
        </p:txBody>
      </p:sp>
      <p:sp>
        <p:nvSpPr>
          <p:cNvPr id="23" name="Text 20"/>
          <p:cNvSpPr/>
          <p:nvPr/>
        </p:nvSpPr>
        <p:spPr>
          <a:xfrm>
            <a:off x="5184648" y="1572768"/>
            <a:ext cx="2468880" cy="457200"/>
          </a:xfrm>
          <a:prstGeom prst="rect">
            <a:avLst/>
          </a:prstGeom>
          <a:noFill/>
          <a:ln/>
        </p:spPr>
        <p:txBody>
          <a:bodyPr wrap="square" lIns="0" tIns="0" rIns="0" bIns="0" rtlCol="0" anchor="ctr"/>
          <a:lstStyle/>
          <a:p>
            <a:pPr indent="0" marL="0">
              <a:buNone/>
            </a:pPr>
            <a:r>
              <a:rPr lang="en-US" sz="1400" b="1" spc="120" kern="0" dirty="0">
                <a:solidFill>
                  <a:srgbClr val="13293D"/>
                </a:solidFill>
                <a:latin typeface="Inter" pitchFamily="34" charset="0"/>
                <a:ea typeface="Inter" pitchFamily="34" charset="-122"/>
                <a:cs typeface="Inter" pitchFamily="34" charset="-120"/>
              </a:rPr>
              <a:t>FROM THIS STUDENT</a:t>
            </a:r>
            <a:endParaRPr lang="en-US" sz="1400" dirty="0"/>
          </a:p>
        </p:txBody>
      </p:sp>
      <p:sp>
        <p:nvSpPr>
          <p:cNvPr id="24" name="Text 21"/>
          <p:cNvSpPr/>
          <p:nvPr/>
        </p:nvSpPr>
        <p:spPr>
          <a:xfrm>
            <a:off x="4617720" y="2194560"/>
            <a:ext cx="3017520" cy="1737360"/>
          </a:xfrm>
          <a:prstGeom prst="rect">
            <a:avLst/>
          </a:prstGeom>
          <a:noFill/>
          <a:ln/>
        </p:spPr>
        <p:txBody>
          <a:bodyPr wrap="square" lIns="0" tIns="0" rIns="0" bIns="0" rtlCol="0" anchor="t"/>
          <a:lstStyle/>
          <a:p>
            <a:pPr indent="0" marL="0">
              <a:lnSpc>
                <a:spcPct val="114000"/>
              </a:lnSpc>
              <a:buNone/>
            </a:pPr>
            <a:r>
              <a:rPr lang="en-US" sz="1600" dirty="0">
                <a:solidFill>
                  <a:srgbClr val="1B1F24"/>
                </a:solidFill>
                <a:latin typeface="Inter" pitchFamily="34" charset="0"/>
                <a:ea typeface="Inter" pitchFamily="34" charset="-122"/>
                <a:cs typeface="Inter" pitchFamily="34" charset="-120"/>
              </a:rPr>
              <a:t>Their own reasoning, choice or experience, pushed specific enough that a generic answer cannot fake it.</a:t>
            </a:r>
            <a:endParaRPr lang="en-US" sz="1600" dirty="0"/>
          </a:p>
        </p:txBody>
      </p:sp>
      <p:sp>
        <p:nvSpPr>
          <p:cNvPr id="25" name="Text 22"/>
          <p:cNvSpPr/>
          <p:nvPr/>
        </p:nvSpPr>
        <p:spPr>
          <a:xfrm>
            <a:off x="4617720" y="3931920"/>
            <a:ext cx="3017520" cy="1234440"/>
          </a:xfrm>
          <a:prstGeom prst="rect">
            <a:avLst/>
          </a:prstGeom>
          <a:noFill/>
          <a:ln/>
        </p:spPr>
        <p:txBody>
          <a:bodyPr wrap="square" lIns="0" tIns="0" rIns="0" bIns="0" rtlCol="0" anchor="t"/>
          <a:lstStyle/>
          <a:p>
            <a:pPr indent="0" marL="0">
              <a:lnSpc>
                <a:spcPct val="112000"/>
              </a:lnSpc>
              <a:buNone/>
            </a:pPr>
            <a:r>
              <a:rPr lang="en-US" sz="1450" i="1" dirty="0">
                <a:solidFill>
                  <a:srgbClr val="5B6B7A"/>
                </a:solidFill>
                <a:latin typeface="Inter" pitchFamily="34" charset="0"/>
                <a:ea typeface="Inter" pitchFamily="34" charset="-122"/>
                <a:cs typeface="Inter" pitchFamily="34" charset="-120"/>
              </a:rPr>
              <a:t>Not “how did the ending feel.” Try “which of your two drafts is better, and what did you give up?”</a:t>
            </a:r>
            <a:endParaRPr lang="en-US" sz="1450" dirty="0"/>
          </a:p>
        </p:txBody>
      </p:sp>
      <p:sp>
        <p:nvSpPr>
          <p:cNvPr id="26" name="Shape 23"/>
          <p:cNvSpPr/>
          <p:nvPr/>
        </p:nvSpPr>
        <p:spPr>
          <a:xfrm>
            <a:off x="8083296" y="1371600"/>
            <a:ext cx="3529584" cy="3931920"/>
          </a:xfrm>
          <a:prstGeom prst="roundRect">
            <a:avLst>
              <a:gd name="adj" fmla="val 2332"/>
            </a:avLst>
          </a:prstGeom>
          <a:solidFill>
            <a:srgbClr val="F7F5F0"/>
          </a:solidFill>
          <a:ln w="12700">
            <a:solidFill>
              <a:srgbClr val="F7F5F0"/>
            </a:solidFill>
            <a:prstDash val="solid"/>
          </a:ln>
        </p:spPr>
      </p:sp>
      <p:sp>
        <p:nvSpPr>
          <p:cNvPr id="27" name="Shape 24"/>
          <p:cNvSpPr/>
          <p:nvPr/>
        </p:nvSpPr>
        <p:spPr>
          <a:xfrm>
            <a:off x="8339328" y="1572768"/>
            <a:ext cx="457200" cy="457200"/>
          </a:xfrm>
          <a:prstGeom prst="ellipse">
            <a:avLst/>
          </a:prstGeom>
          <a:solidFill>
            <a:srgbClr val="B07914"/>
          </a:solidFill>
          <a:ln w="12700">
            <a:solidFill>
              <a:srgbClr val="B07914"/>
            </a:solidFill>
            <a:prstDash val="solid"/>
          </a:ln>
        </p:spPr>
      </p:sp>
      <p:sp>
        <p:nvSpPr>
          <p:cNvPr id="28" name="Text 25"/>
          <p:cNvSpPr/>
          <p:nvPr/>
        </p:nvSpPr>
        <p:spPr>
          <a:xfrm>
            <a:off x="8339328" y="1572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3</a:t>
            </a:r>
            <a:endParaRPr lang="en-US" sz="1800" dirty="0"/>
          </a:p>
        </p:txBody>
      </p:sp>
      <p:sp>
        <p:nvSpPr>
          <p:cNvPr id="29" name="Text 26"/>
          <p:cNvSpPr/>
          <p:nvPr/>
        </p:nvSpPr>
        <p:spPr>
          <a:xfrm>
            <a:off x="8906256" y="1572768"/>
            <a:ext cx="2468880" cy="457200"/>
          </a:xfrm>
          <a:prstGeom prst="rect">
            <a:avLst/>
          </a:prstGeom>
          <a:noFill/>
          <a:ln/>
        </p:spPr>
        <p:txBody>
          <a:bodyPr wrap="square" lIns="0" tIns="0" rIns="0" bIns="0" rtlCol="0" anchor="ctr"/>
          <a:lstStyle/>
          <a:p>
            <a:pPr indent="0" marL="0">
              <a:buNone/>
            </a:pPr>
            <a:r>
              <a:rPr lang="en-US" sz="1400" b="1" spc="120" kern="0" dirty="0">
                <a:solidFill>
                  <a:srgbClr val="B07914"/>
                </a:solidFill>
                <a:latin typeface="Inter" pitchFamily="34" charset="0"/>
                <a:ea typeface="Inter" pitchFamily="34" charset="-122"/>
                <a:cs typeface="Inter" pitchFamily="34" charset="-120"/>
              </a:rPr>
              <a:t>IN FRONT OF YOU</a:t>
            </a:r>
            <a:endParaRPr lang="en-US" sz="1400" dirty="0"/>
          </a:p>
        </p:txBody>
      </p:sp>
      <p:sp>
        <p:nvSpPr>
          <p:cNvPr id="30" name="Text 27"/>
          <p:cNvSpPr/>
          <p:nvPr/>
        </p:nvSpPr>
        <p:spPr>
          <a:xfrm>
            <a:off x="8339328" y="2194560"/>
            <a:ext cx="3017520" cy="1737360"/>
          </a:xfrm>
          <a:prstGeom prst="rect">
            <a:avLst/>
          </a:prstGeom>
          <a:noFill/>
          <a:ln/>
        </p:spPr>
        <p:txBody>
          <a:bodyPr wrap="square" lIns="0" tIns="0" rIns="0" bIns="0" rtlCol="0" anchor="t"/>
          <a:lstStyle/>
          <a:p>
            <a:pPr indent="0" marL="0">
              <a:lnSpc>
                <a:spcPct val="114000"/>
              </a:lnSpc>
              <a:buNone/>
            </a:pPr>
            <a:r>
              <a:rPr lang="en-US" sz="1600" dirty="0">
                <a:solidFill>
                  <a:srgbClr val="1B1F24"/>
                </a:solidFill>
                <a:latin typeface="Inter" pitchFamily="34" charset="0"/>
                <a:ea typeface="Inter" pitchFamily="34" charset="-122"/>
                <a:cs typeface="Inter" pitchFamily="34" charset="-120"/>
              </a:rPr>
              <a:t>A piece produced live: a five-minute quick-write, the plan before the draft, two minutes of “walk me through it.”</a:t>
            </a:r>
            <a:endParaRPr lang="en-US" sz="1600" dirty="0"/>
          </a:p>
        </p:txBody>
      </p:sp>
      <p:sp>
        <p:nvSpPr>
          <p:cNvPr id="31" name="Text 28"/>
          <p:cNvSpPr/>
          <p:nvPr/>
        </p:nvSpPr>
        <p:spPr>
          <a:xfrm>
            <a:off x="8339328" y="3931920"/>
            <a:ext cx="3017520" cy="1234440"/>
          </a:xfrm>
          <a:prstGeom prst="rect">
            <a:avLst/>
          </a:prstGeom>
          <a:noFill/>
          <a:ln/>
        </p:spPr>
        <p:txBody>
          <a:bodyPr wrap="square" lIns="0" tIns="0" rIns="0" bIns="0" rtlCol="0" anchor="t"/>
          <a:lstStyle/>
          <a:p>
            <a:pPr indent="0" marL="0">
              <a:lnSpc>
                <a:spcPct val="112000"/>
              </a:lnSpc>
              <a:buNone/>
            </a:pPr>
            <a:r>
              <a:rPr lang="en-US" sz="1450" i="1" dirty="0">
                <a:solidFill>
                  <a:srgbClr val="5B6B7A"/>
                </a:solidFill>
                <a:latin typeface="Inter" pitchFamily="34" charset="0"/>
                <a:ea typeface="Inter" pitchFamily="34" charset="-122"/>
                <a:cs typeface="Inter" pitchFamily="34" charset="-120"/>
              </a:rPr>
              <a:t>The timing is the security. Nothing else has to change.</a:t>
            </a:r>
            <a:endParaRPr lang="en-US" sz="1450" dirty="0"/>
          </a:p>
        </p:txBody>
      </p:sp>
      <p:sp>
        <p:nvSpPr>
          <p:cNvPr id="32" name="Shape 29"/>
          <p:cNvSpPr/>
          <p:nvPr/>
        </p:nvSpPr>
        <p:spPr>
          <a:xfrm>
            <a:off x="640080" y="5468112"/>
            <a:ext cx="10972800" cy="658368"/>
          </a:xfrm>
          <a:prstGeom prst="roundRect">
            <a:avLst>
              <a:gd name="adj" fmla="val 12500"/>
            </a:avLst>
          </a:prstGeom>
          <a:solidFill>
            <a:srgbClr val="13293D"/>
          </a:solidFill>
          <a:ln w="12700">
            <a:solidFill>
              <a:srgbClr val="13293D"/>
            </a:solidFill>
            <a:prstDash val="solid"/>
          </a:ln>
        </p:spPr>
      </p:sp>
      <p:sp>
        <p:nvSpPr>
          <p:cNvPr id="33" name="Text 30"/>
          <p:cNvSpPr/>
          <p:nvPr/>
        </p:nvSpPr>
        <p:spPr>
          <a:xfrm>
            <a:off x="960120" y="5468112"/>
            <a:ext cx="10332720" cy="658368"/>
          </a:xfrm>
          <a:prstGeom prst="rect">
            <a:avLst/>
          </a:prstGeom>
          <a:noFill/>
          <a:ln/>
        </p:spPr>
        <p:txBody>
          <a:bodyPr wrap="square" lIns="0" tIns="0" rIns="0" bIns="0" rtlCol="0" anchor="ctr"/>
          <a:lstStyle/>
          <a:p>
            <a:pPr algn="ctr" indent="0" marL="0">
              <a:buNone/>
            </a:pPr>
            <a:r>
              <a:rPr lang="en-US" sz="1700" b="1" dirty="0">
                <a:solidFill>
                  <a:srgbClr val="2A9D8F"/>
                </a:solidFill>
                <a:latin typeface="Inter" pitchFamily="34" charset="0"/>
                <a:ea typeface="Inter" pitchFamily="34" charset="-122"/>
                <a:cs typeface="Inter" pitchFamily="34" charset="-120"/>
              </a:rPr>
              <a:t>One move. Three places. </a:t>
            </a:r>
            <a:pPr algn="ctr" indent="0" marL="0">
              <a:buNone/>
            </a:pPr>
            <a:r>
              <a:rPr lang="en-US" sz="1700" dirty="0">
                <a:solidFill>
                  <a:srgbClr val="FFFFFF"/>
                </a:solidFill>
                <a:latin typeface="Inter" pitchFamily="34" charset="0"/>
                <a:ea typeface="Inter" pitchFamily="34" charset="-122"/>
                <a:cs typeface="Inter" pitchFamily="34" charset="-120"/>
              </a:rPr>
              <a:t>There is no fourth thing to remember, and no scale to memorize.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assignment as it stands: “Should our school day start later?” Nothing AI can't do.</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MS. RIVERA · OUR RUNNING EXAMPLE TEACHER (A COMPOSITE)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assignment as it stands today</a:t>
            </a:r>
            <a:endParaRPr lang="en-US" sz="2800" dirty="0"/>
          </a:p>
        </p:txBody>
      </p:sp>
      <p:sp>
        <p:nvSpPr>
          <p:cNvPr id="14" name="Shape 11"/>
          <p:cNvSpPr/>
          <p:nvPr/>
        </p:nvSpPr>
        <p:spPr>
          <a:xfrm>
            <a:off x="640080" y="1463040"/>
            <a:ext cx="10972800" cy="3246120"/>
          </a:xfrm>
          <a:prstGeom prst="roundRect">
            <a:avLst>
              <a:gd name="adj" fmla="val 2535"/>
            </a:avLst>
          </a:prstGeom>
          <a:solidFill>
            <a:srgbClr val="F7F5F0"/>
          </a:solidFill>
          <a:ln w="12700">
            <a:solidFill>
              <a:srgbClr val="F7F5F0"/>
            </a:solidFill>
            <a:prstDash val="solid"/>
          </a:ln>
        </p:spPr>
      </p:sp>
      <p:sp>
        <p:nvSpPr>
          <p:cNvPr id="15" name="Shape 12"/>
          <p:cNvSpPr/>
          <p:nvPr/>
        </p:nvSpPr>
        <p:spPr>
          <a:xfrm>
            <a:off x="640080" y="1463040"/>
            <a:ext cx="109728" cy="324612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1005840" y="1627632"/>
            <a:ext cx="10241280" cy="274320"/>
          </a:xfrm>
          <a:prstGeom prst="rect">
            <a:avLst/>
          </a:prstGeom>
          <a:noFill/>
          <a:ln/>
        </p:spPr>
        <p:txBody>
          <a:bodyPr wrap="square" lIns="0" tIns="0" rIns="0" bIns="0" rtlCol="0" anchor="ctr"/>
          <a:lstStyle/>
          <a:p>
            <a:pPr indent="0" marL="0">
              <a:buNone/>
            </a:pPr>
            <a:r>
              <a:rPr lang="en-US" sz="1200" b="1" spc="150" kern="0" dirty="0">
                <a:solidFill>
                  <a:srgbClr val="2A9D8F"/>
                </a:solidFill>
                <a:latin typeface="Inter" pitchFamily="34" charset="0"/>
                <a:ea typeface="Inter" pitchFamily="34" charset="-122"/>
                <a:cs typeface="Inter" pitchFamily="34" charset="-120"/>
              </a:rPr>
              <a:t>7TH GRADE ENGLISH · PERSUASIVE ESSAY · DUE FRIDAY</a:t>
            </a:r>
            <a:endParaRPr lang="en-US" sz="1200" dirty="0"/>
          </a:p>
        </p:txBody>
      </p:sp>
      <p:sp>
        <p:nvSpPr>
          <p:cNvPr id="17" name="Text 14"/>
          <p:cNvSpPr/>
          <p:nvPr/>
        </p:nvSpPr>
        <p:spPr>
          <a:xfrm>
            <a:off x="1005840" y="1975104"/>
            <a:ext cx="10241280" cy="5486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Should our school day start later?</a:t>
            </a:r>
            <a:endParaRPr lang="en-US" sz="2800" dirty="0"/>
          </a:p>
        </p:txBody>
      </p:sp>
      <p:sp>
        <p:nvSpPr>
          <p:cNvPr id="18" name="Text 15"/>
          <p:cNvSpPr/>
          <p:nvPr/>
        </p:nvSpPr>
        <p:spPr>
          <a:xfrm>
            <a:off x="1005840" y="2606040"/>
            <a:ext cx="10241280" cy="777240"/>
          </a:xfrm>
          <a:prstGeom prst="rect">
            <a:avLst/>
          </a:prstGeom>
          <a:noFill/>
          <a:ln/>
        </p:spPr>
        <p:txBody>
          <a:bodyPr wrap="square" lIns="0" tIns="0" rIns="0" bIns="0" rtlCol="0" anchor="t"/>
          <a:lstStyle/>
          <a:p>
            <a:pPr indent="0" marL="0">
              <a:lnSpc>
                <a:spcPct val="114000"/>
              </a:lnSpc>
              <a:buNone/>
            </a:pPr>
            <a:r>
              <a:rPr lang="en-US" sz="1900" dirty="0">
                <a:solidFill>
                  <a:srgbClr val="1B1F24"/>
                </a:solidFill>
                <a:latin typeface="Inter" pitchFamily="34" charset="0"/>
                <a:ea typeface="Inter" pitchFamily="34" charset="-122"/>
                <a:cs typeface="Inter" pitchFamily="34" charset="-120"/>
              </a:rPr>
              <a:t>Write a five-paragraph persuasive essay: an introduction with your claim, three body paragraphs with evidence, and a conclusion.</a:t>
            </a:r>
            <a:endParaRPr lang="en-US" sz="1900" dirty="0"/>
          </a:p>
        </p:txBody>
      </p:sp>
      <p:sp>
        <p:nvSpPr>
          <p:cNvPr id="19" name="Shape 16"/>
          <p:cNvSpPr/>
          <p:nvPr/>
        </p:nvSpPr>
        <p:spPr>
          <a:xfrm>
            <a:off x="1005840" y="3520440"/>
            <a:ext cx="10241280" cy="960120"/>
          </a:xfrm>
          <a:prstGeom prst="roundRect">
            <a:avLst>
              <a:gd name="adj" fmla="val 8571"/>
            </a:avLst>
          </a:prstGeom>
          <a:solidFill>
            <a:srgbClr val="FBEDEB"/>
          </a:solidFill>
          <a:ln w="12700">
            <a:solidFill>
              <a:srgbClr val="FBEDEB"/>
            </a:solidFill>
            <a:prstDash val="solid"/>
          </a:ln>
        </p:spPr>
      </p:sp>
      <p:sp>
        <p:nvSpPr>
          <p:cNvPr id="20" name="Text 17"/>
          <p:cNvSpPr/>
          <p:nvPr/>
        </p:nvSpPr>
        <p:spPr>
          <a:xfrm>
            <a:off x="1325880" y="3520440"/>
            <a:ext cx="9601200" cy="960120"/>
          </a:xfrm>
          <a:prstGeom prst="rect">
            <a:avLst/>
          </a:prstGeom>
          <a:noFill/>
          <a:ln/>
        </p:spPr>
        <p:txBody>
          <a:bodyPr wrap="square" lIns="0" tIns="0" rIns="0" bIns="0" rtlCol="0" anchor="ctr"/>
          <a:lstStyle/>
          <a:p>
            <a:pPr indent="0" marL="0">
              <a:lnSpc>
                <a:spcPct val="110000"/>
              </a:lnSpc>
              <a:buNone/>
            </a:pPr>
            <a:r>
              <a:rPr lang="en-US" sz="1700" b="1" dirty="0">
                <a:solidFill>
                  <a:srgbClr val="B4453A"/>
                </a:solidFill>
                <a:latin typeface="Inter" pitchFamily="34" charset="0"/>
                <a:ea typeface="Inter" pitchFamily="34" charset="-122"/>
                <a:cs typeface="Inter" pitchFamily="34" charset="-120"/>
              </a:rPr>
              <a:t>What is missing: </a:t>
            </a:r>
            <a:pPr indent="0" marL="0">
              <a:lnSpc>
                <a:spcPct val="110000"/>
              </a:lnSpc>
              <a:buNone/>
            </a:pPr>
            <a:r>
              <a:rPr lang="en-US" sz="1700" dirty="0">
                <a:solidFill>
                  <a:srgbClr val="1B1F24"/>
                </a:solidFill>
                <a:latin typeface="Inter" pitchFamily="34" charset="0"/>
                <a:ea typeface="Inter" pitchFamily="34" charset="-122"/>
                <a:cs typeface="Inter" pitchFamily="34" charset="-120"/>
              </a:rPr>
              <a:t>nothing on this sheet is out of reach for a chatbot. You read its version on slide 2, and it split the room.</a:t>
            </a:r>
            <a:endParaRPr lang="en-US" sz="1700" dirty="0"/>
          </a:p>
        </p:txBody>
      </p:sp>
      <p:sp>
        <p:nvSpPr>
          <p:cNvPr id="21" name="Shape 18"/>
          <p:cNvSpPr/>
          <p:nvPr/>
        </p:nvSpPr>
        <p:spPr>
          <a:xfrm>
            <a:off x="640080" y="4983480"/>
            <a:ext cx="10972800" cy="658368"/>
          </a:xfrm>
          <a:prstGeom prst="roundRect">
            <a:avLst>
              <a:gd name="adj" fmla="val 12500"/>
            </a:avLst>
          </a:prstGeom>
          <a:solidFill>
            <a:srgbClr val="13293D"/>
          </a:solidFill>
          <a:ln w="12700">
            <a:solidFill>
              <a:srgbClr val="13293D"/>
            </a:solidFill>
            <a:prstDash val="solid"/>
          </a:ln>
        </p:spPr>
      </p:sp>
      <p:sp>
        <p:nvSpPr>
          <p:cNvPr id="22" name="Text 19"/>
          <p:cNvSpPr/>
          <p:nvPr/>
        </p:nvSpPr>
        <p:spPr>
          <a:xfrm>
            <a:off x="960120" y="4983480"/>
            <a:ext cx="10332720" cy="658368"/>
          </a:xfrm>
          <a:prstGeom prst="rect">
            <a:avLst/>
          </a:prstGeom>
          <a:noFill/>
          <a:ln/>
        </p:spPr>
        <p:txBody>
          <a:bodyPr wrap="square" lIns="0" tIns="0" rIns="0" bIns="0" rtlCol="0" anchor="ctr"/>
          <a:lstStyle/>
          <a:p>
            <a:pPr algn="ctr" indent="0" marL="0">
              <a:buNone/>
            </a:pPr>
            <a:r>
              <a:rPr lang="en-US" sz="1700" b="1" dirty="0">
                <a:solidFill>
                  <a:srgbClr val="2A9D8F"/>
                </a:solidFill>
                <a:latin typeface="Inter" pitchFamily="34" charset="0"/>
                <a:ea typeface="Inter" pitchFamily="34" charset="-122"/>
                <a:cs typeface="Inter" pitchFamily="34" charset="-120"/>
              </a:rPr>
              <a:t>There is nothing wrong with this assignment. </a:t>
            </a:r>
            <a:pPr algn="ctr" indent="0" marL="0">
              <a:buNone/>
            </a:pPr>
            <a:r>
              <a:rPr lang="en-US" sz="1700" dirty="0">
                <a:solidFill>
                  <a:srgbClr val="FFFFFF"/>
                </a:solidFill>
                <a:latin typeface="Inter" pitchFamily="34" charset="0"/>
                <a:ea typeface="Inter" pitchFamily="34" charset="-122"/>
                <a:cs typeface="Inter" pitchFamily="34" charset="-120"/>
              </a:rPr>
              <a:t>It is clear, standards-aligned, and half this room gave one like it last month.</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change: one sentence added, one line added. Same essay.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SENTENCE ADDED. ONE LINE ADDED. SAME ESSAY.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changed</a:t>
            </a:r>
            <a:endParaRPr lang="en-US" sz="3200" dirty="0"/>
          </a:p>
        </p:txBody>
      </p:sp>
      <p:sp>
        <p:nvSpPr>
          <p:cNvPr id="14" name="Shape 11"/>
          <p:cNvSpPr/>
          <p:nvPr/>
        </p:nvSpPr>
        <p:spPr>
          <a:xfrm>
            <a:off x="640080" y="1234440"/>
            <a:ext cx="10972800" cy="960120"/>
          </a:xfrm>
          <a:prstGeom prst="roundRect">
            <a:avLst>
              <a:gd name="adj" fmla="val 8571"/>
            </a:avLst>
          </a:prstGeom>
          <a:solidFill>
            <a:srgbClr val="F7F5F0"/>
          </a:solidFill>
          <a:ln w="12700">
            <a:solidFill>
              <a:srgbClr val="F7F5F0"/>
            </a:solidFill>
            <a:prstDash val="solid"/>
          </a:ln>
        </p:spPr>
      </p:sp>
      <p:sp>
        <p:nvSpPr>
          <p:cNvPr id="15" name="Text 12"/>
          <p:cNvSpPr/>
          <p:nvPr/>
        </p:nvSpPr>
        <p:spPr>
          <a:xfrm>
            <a:off x="960120" y="1307592"/>
            <a:ext cx="4114800" cy="256032"/>
          </a:xfrm>
          <a:prstGeom prst="rect">
            <a:avLst/>
          </a:prstGeom>
          <a:noFill/>
          <a:ln/>
        </p:spPr>
        <p:txBody>
          <a:bodyPr wrap="square" lIns="0" tIns="0" rIns="0" bIns="0" rtlCol="0" anchor="ctr"/>
          <a:lstStyle/>
          <a:p>
            <a:pPr indent="0" marL="0">
              <a:buNone/>
            </a:pPr>
            <a:r>
              <a:rPr lang="en-US" sz="1150" b="1" spc="140" kern="0" dirty="0">
                <a:solidFill>
                  <a:srgbClr val="5B6B7A"/>
                </a:solidFill>
                <a:latin typeface="Inter" pitchFamily="34" charset="0"/>
                <a:ea typeface="Inter" pitchFamily="34" charset="-122"/>
                <a:cs typeface="Inter" pitchFamily="34" charset="-120"/>
              </a:rPr>
              <a:t>WHAT IT IS ACTUALLY FOR</a:t>
            </a:r>
            <a:endParaRPr lang="en-US" sz="1150" dirty="0"/>
          </a:p>
        </p:txBody>
      </p:sp>
      <p:sp>
        <p:nvSpPr>
          <p:cNvPr id="16" name="Text 13"/>
          <p:cNvSpPr/>
          <p:nvPr/>
        </p:nvSpPr>
        <p:spPr>
          <a:xfrm>
            <a:off x="960120" y="1572768"/>
            <a:ext cx="10332720" cy="5029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Whether my students can build an argument from evidence and answer the strongest objection to it.</a:t>
            </a:r>
            <a:endParaRPr lang="en-US" sz="1800" dirty="0"/>
          </a:p>
        </p:txBody>
      </p:sp>
      <p:sp>
        <p:nvSpPr>
          <p:cNvPr id="17" name="Shape 14"/>
          <p:cNvSpPr/>
          <p:nvPr/>
        </p:nvSpPr>
        <p:spPr>
          <a:xfrm>
            <a:off x="640080" y="2304288"/>
            <a:ext cx="10972800" cy="1325880"/>
          </a:xfrm>
          <a:prstGeom prst="roundRect">
            <a:avLst>
              <a:gd name="adj" fmla="val 6207"/>
            </a:avLst>
          </a:prstGeom>
          <a:solidFill>
            <a:srgbClr val="EAF5F3"/>
          </a:solidFill>
          <a:ln w="12700">
            <a:solidFill>
              <a:srgbClr val="EAF5F3"/>
            </a:solidFill>
            <a:prstDash val="solid"/>
          </a:ln>
        </p:spPr>
      </p:sp>
      <p:sp>
        <p:nvSpPr>
          <p:cNvPr id="18" name="Text 15"/>
          <p:cNvSpPr/>
          <p:nvPr/>
        </p:nvSpPr>
        <p:spPr>
          <a:xfrm>
            <a:off x="960120" y="2377440"/>
            <a:ext cx="6400800" cy="256032"/>
          </a:xfrm>
          <a:prstGeom prst="rect">
            <a:avLst/>
          </a:prstGeom>
          <a:noFill/>
          <a:ln/>
        </p:spPr>
        <p:txBody>
          <a:bodyPr wrap="square" lIns="0" tIns="0" rIns="0" bIns="0" rtlCol="0" anchor="ctr"/>
          <a:lstStyle/>
          <a:p>
            <a:pPr indent="0" marL="0">
              <a:buNone/>
            </a:pPr>
            <a:r>
              <a:rPr lang="en-US" sz="1150" b="1" spc="140" kern="0" dirty="0">
                <a:solidFill>
                  <a:srgbClr val="2A9D8F"/>
                </a:solidFill>
                <a:latin typeface="Inter" pitchFamily="34" charset="0"/>
                <a:ea typeface="Inter" pitchFamily="34" charset="-122"/>
                <a:cs typeface="Inter" pitchFamily="34" charset="-120"/>
              </a:rPr>
              <a:t>THE ONE THING AI CANNOT HAND IN · FROM THIS ROOM</a:t>
            </a:r>
            <a:endParaRPr lang="en-US" sz="1150" dirty="0"/>
          </a:p>
        </p:txBody>
      </p:sp>
      <p:sp>
        <p:nvSpPr>
          <p:cNvPr id="19" name="Text 16"/>
          <p:cNvSpPr/>
          <p:nvPr/>
        </p:nvSpPr>
        <p:spPr>
          <a:xfrm>
            <a:off x="960120" y="2651760"/>
            <a:ext cx="10332720" cy="896112"/>
          </a:xfrm>
          <a:prstGeom prst="rect">
            <a:avLst/>
          </a:prstGeom>
          <a:noFill/>
          <a:ln/>
        </p:spPr>
        <p:txBody>
          <a:bodyPr wrap="square" lIns="0" tIns="0" rIns="0" bIns="0" rtlCol="0" anchor="ctr"/>
          <a:lstStyle/>
          <a:p>
            <a:pPr indent="0" marL="0">
              <a:lnSpc>
                <a:spcPct val="110000"/>
              </a:lnSpc>
              <a:buNone/>
            </a:pPr>
            <a:r>
              <a:rPr lang="en-US" sz="1800" b="1" dirty="0">
                <a:solidFill>
                  <a:srgbClr val="13293D"/>
                </a:solidFill>
                <a:latin typeface="Inter" pitchFamily="34" charset="0"/>
                <a:ea typeface="Inter" pitchFamily="34" charset="-122"/>
                <a:cs typeface="Inter" pitchFamily="34" charset="-120"/>
              </a:rPr>
              <a:t>“Use at least two claims from our Tuesday debate and name who made them. Then explain why the strongest counter-argument in the room did not change your mind.”</a:t>
            </a:r>
            <a:endParaRPr lang="en-US" sz="1800" dirty="0"/>
          </a:p>
        </p:txBody>
      </p:sp>
      <p:sp>
        <p:nvSpPr>
          <p:cNvPr id="20" name="Shape 17"/>
          <p:cNvSpPr/>
          <p:nvPr/>
        </p:nvSpPr>
        <p:spPr>
          <a:xfrm>
            <a:off x="640080" y="3739896"/>
            <a:ext cx="10972800" cy="960120"/>
          </a:xfrm>
          <a:prstGeom prst="roundRect">
            <a:avLst>
              <a:gd name="adj" fmla="val 8571"/>
            </a:avLst>
          </a:prstGeom>
          <a:solidFill>
            <a:srgbClr val="F7F5F0"/>
          </a:solidFill>
          <a:ln w="12700">
            <a:solidFill>
              <a:srgbClr val="F7F5F0"/>
            </a:solidFill>
            <a:prstDash val="solid"/>
          </a:ln>
        </p:spPr>
      </p:sp>
      <p:sp>
        <p:nvSpPr>
          <p:cNvPr id="21" name="Text 18"/>
          <p:cNvSpPr/>
          <p:nvPr/>
        </p:nvSpPr>
        <p:spPr>
          <a:xfrm>
            <a:off x="960120" y="3813048"/>
            <a:ext cx="4114800" cy="256032"/>
          </a:xfrm>
          <a:prstGeom prst="rect">
            <a:avLst/>
          </a:prstGeom>
          <a:noFill/>
          <a:ln/>
        </p:spPr>
        <p:txBody>
          <a:bodyPr wrap="square" lIns="0" tIns="0" rIns="0" bIns="0" rtlCol="0" anchor="ctr"/>
          <a:lstStyle/>
          <a:p>
            <a:pPr indent="0" marL="0">
              <a:buNone/>
            </a:pPr>
            <a:r>
              <a:rPr lang="en-US" sz="1150" b="1" spc="140" kern="0" dirty="0">
                <a:solidFill>
                  <a:srgbClr val="B07914"/>
                </a:solidFill>
                <a:latin typeface="Inter" pitchFamily="34" charset="0"/>
                <a:ea typeface="Inter" pitchFamily="34" charset="-122"/>
                <a:cs typeface="Inter" pitchFamily="34" charset="-120"/>
              </a:rPr>
              <a:t>THE ONE LINE ABOUT AI</a:t>
            </a:r>
            <a:endParaRPr lang="en-US" sz="1150" dirty="0"/>
          </a:p>
        </p:txBody>
      </p:sp>
      <p:sp>
        <p:nvSpPr>
          <p:cNvPr id="22" name="Text 19"/>
          <p:cNvSpPr/>
          <p:nvPr/>
        </p:nvSpPr>
        <p:spPr>
          <a:xfrm>
            <a:off x="960120" y="4078224"/>
            <a:ext cx="10332720" cy="5029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“AI-assisted. Brainstorming and feedback are fine. The debate claims and your response to them have to be yours.”</a:t>
            </a:r>
            <a:endParaRPr lang="en-US" sz="1800" dirty="0"/>
          </a:p>
        </p:txBody>
      </p:sp>
      <p:sp>
        <p:nvSpPr>
          <p:cNvPr id="23" name="Shape 20"/>
          <p:cNvSpPr/>
          <p:nvPr/>
        </p:nvSpPr>
        <p:spPr>
          <a:xfrm>
            <a:off x="640080" y="4846320"/>
            <a:ext cx="10972800" cy="658368"/>
          </a:xfrm>
          <a:prstGeom prst="roundRect">
            <a:avLst>
              <a:gd name="adj" fmla="val 12500"/>
            </a:avLst>
          </a:prstGeom>
          <a:solidFill>
            <a:srgbClr val="13293D"/>
          </a:solidFill>
          <a:ln w="12700">
            <a:solidFill>
              <a:srgbClr val="13293D"/>
            </a:solidFill>
            <a:prstDash val="solid"/>
          </a:ln>
        </p:spPr>
      </p:sp>
      <p:sp>
        <p:nvSpPr>
          <p:cNvPr id="24" name="Text 21"/>
          <p:cNvSpPr/>
          <p:nvPr/>
        </p:nvSpPr>
        <p:spPr>
          <a:xfrm>
            <a:off x="960120" y="4846320"/>
            <a:ext cx="10332720" cy="658368"/>
          </a:xfrm>
          <a:prstGeom prst="rect">
            <a:avLst/>
          </a:prstGeom>
          <a:noFill/>
          <a:ln/>
        </p:spPr>
        <p:txBody>
          <a:bodyPr wrap="square" lIns="0" tIns="0" rIns="0" bIns="0" rtlCol="0" anchor="ctr"/>
          <a:lstStyle/>
          <a:p>
            <a:pPr algn="ctr" indent="0" marL="0">
              <a:buNone/>
            </a:pPr>
            <a:r>
              <a:rPr lang="en-US" sz="1700" dirty="0">
                <a:solidFill>
                  <a:srgbClr val="FFFFFF"/>
                </a:solidFill>
                <a:latin typeface="Inter" pitchFamily="34" charset="0"/>
                <a:ea typeface="Inter" pitchFamily="34" charset="-122"/>
                <a:cs typeface="Inter" pitchFamily="34" charset="-120"/>
              </a:rPr>
              <a:t>A chatbot writes a school-start-time essay in four seconds. </a:t>
            </a:r>
            <a:pPr algn="ctr" indent="0" marL="0">
              <a:buNone/>
            </a:pPr>
            <a:r>
              <a:rPr lang="en-US" sz="1700" b="1" dirty="0">
                <a:solidFill>
                  <a:srgbClr val="2A9D8F"/>
                </a:solidFill>
                <a:latin typeface="Inter" pitchFamily="34" charset="0"/>
                <a:ea typeface="Inter" pitchFamily="34" charset="-122"/>
                <a:cs typeface="Inter" pitchFamily="34" charset="-120"/>
              </a:rPr>
              <a:t>It cannot know what your third period argued on Tuesday.</a:t>
            </a:r>
            <a:endParaRPr lang="en-US" sz="1700" dirty="0"/>
          </a:p>
        </p:txBody>
      </p:sp>
      <p:sp>
        <p:nvSpPr>
          <p:cNvPr id="25" name="Text 22"/>
          <p:cNvSpPr/>
          <p:nvPr/>
        </p:nvSpPr>
        <p:spPr>
          <a:xfrm>
            <a:off x="640080" y="5596128"/>
            <a:ext cx="10972800" cy="566928"/>
          </a:xfrm>
          <a:prstGeom prst="rect">
            <a:avLst/>
          </a:prstGeom>
          <a:noFill/>
          <a:ln/>
        </p:spPr>
        <p:txBody>
          <a:bodyPr wrap="square" lIns="0" tIns="0" rIns="0" bIns="0" rtlCol="0" anchor="t"/>
          <a:lstStyle/>
          <a:p>
            <a:pPr indent="0" marL="0">
              <a:lnSpc>
                <a:spcPct val="110000"/>
              </a:lnSpc>
              <a:buNone/>
            </a:pPr>
            <a:r>
              <a:rPr lang="en-US" sz="1150" dirty="0">
                <a:solidFill>
                  <a:srgbClr val="5B6B7A"/>
                </a:solidFill>
                <a:latin typeface="Inter" pitchFamily="34" charset="0"/>
                <a:ea typeface="Inter" pitchFamily="34" charset="-122"/>
                <a:cs typeface="Inter" pitchFamily="34" charset="-120"/>
              </a:rPr>
              <a:t>Naming a level of allowed AI use is prior art, not ours: the AI Assessment Scale (Perkins, Furze, Roe &amp; MacVaugh, 2024) is the published five-level version, from “No AI” to “AI Exploration.” We use one line, not a scale, on purpose.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SHE TYPED HER OWN ASSIGNMENT INTO A CHAT TOOL, THE WAY A STUDENT WOULD</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four-second test</a:t>
            </a:r>
            <a:endParaRPr lang="en-US" sz="3200" dirty="0"/>
          </a:p>
        </p:txBody>
      </p:sp>
      <p:sp>
        <p:nvSpPr>
          <p:cNvPr id="7" name="Shape 4"/>
          <p:cNvSpPr/>
          <p:nvPr/>
        </p:nvSpPr>
        <p:spPr>
          <a:xfrm>
            <a:off x="640080" y="1234440"/>
            <a:ext cx="10972800" cy="2377440"/>
          </a:xfrm>
          <a:prstGeom prst="roundRect">
            <a:avLst>
              <a:gd name="adj" fmla="val 3846"/>
            </a:avLst>
          </a:prstGeom>
          <a:solidFill>
            <a:srgbClr val="FFFFFF"/>
          </a:solidFill>
          <a:ln w="19050">
            <a:solidFill>
              <a:srgbClr val="DCE3EA"/>
            </a:solidFill>
            <a:prstDash val="solid"/>
          </a:ln>
        </p:spPr>
      </p:sp>
      <p:sp>
        <p:nvSpPr>
          <p:cNvPr id="8" name="Shape 5"/>
          <p:cNvSpPr/>
          <p:nvPr/>
        </p:nvSpPr>
        <p:spPr>
          <a:xfrm>
            <a:off x="640080" y="123444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5331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5331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5331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3444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before</a:t>
            </a:r>
            <a:endParaRPr lang="en-US" sz="1100" dirty="0"/>
          </a:p>
        </p:txBody>
      </p:sp>
      <p:sp>
        <p:nvSpPr>
          <p:cNvPr id="13" name="Shape 10"/>
          <p:cNvSpPr/>
          <p:nvPr/>
        </p:nvSpPr>
        <p:spPr>
          <a:xfrm>
            <a:off x="1554480" y="1828800"/>
            <a:ext cx="9646920" cy="1554480"/>
          </a:xfrm>
          <a:prstGeom prst="roundRect">
            <a:avLst>
              <a:gd name="adj" fmla="val 7059"/>
            </a:avLst>
          </a:prstGeom>
          <a:solidFill>
            <a:srgbClr val="F7F5F0"/>
          </a:solidFill>
          <a:ln w="12700">
            <a:solidFill>
              <a:srgbClr val="F7F5F0"/>
            </a:solidFill>
            <a:prstDash val="solid"/>
          </a:ln>
        </p:spPr>
      </p:sp>
      <p:sp>
        <p:nvSpPr>
          <p:cNvPr id="14" name="Text 11"/>
          <p:cNvSpPr/>
          <p:nvPr/>
        </p:nvSpPr>
        <p:spPr>
          <a:xfrm>
            <a:off x="1783080" y="1965960"/>
            <a:ext cx="9189720" cy="137160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 7th grade student.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Write my persuasive essay for me.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The assignment is: should our school day start later. We have been talking about sleep schedules and bus times.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Five paragraphs: an introduction with a claim, three body paragraphs with evidence, and a conclusion.”</a:t>
            </a:r>
            <a:endParaRPr lang="en-US" sz="1600" dirty="0"/>
          </a:p>
        </p:txBody>
      </p:sp>
      <p:sp>
        <p:nvSpPr>
          <p:cNvPr id="15" name="Shape 12"/>
          <p:cNvSpPr/>
          <p:nvPr/>
        </p:nvSpPr>
        <p:spPr>
          <a:xfrm>
            <a:off x="640080" y="3886200"/>
            <a:ext cx="2606040" cy="457200"/>
          </a:xfrm>
          <a:prstGeom prst="roundRect">
            <a:avLst>
              <a:gd name="adj" fmla="val 50000"/>
            </a:avLst>
          </a:prstGeom>
          <a:solidFill>
            <a:srgbClr val="2A9D8F"/>
          </a:solidFill>
          <a:ln w="12700">
            <a:solidFill>
              <a:srgbClr val="2A9D8F"/>
            </a:solidFill>
            <a:prstDash val="solid"/>
          </a:ln>
        </p:spPr>
      </p:sp>
      <p:sp>
        <p:nvSpPr>
          <p:cNvPr id="16" name="Text 13"/>
          <p:cNvSpPr/>
          <p:nvPr/>
        </p:nvSpPr>
        <p:spPr>
          <a:xfrm>
            <a:off x="640080" y="388620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7" name="Shape 14"/>
          <p:cNvSpPr/>
          <p:nvPr/>
        </p:nvSpPr>
        <p:spPr>
          <a:xfrm>
            <a:off x="3456432" y="3886200"/>
            <a:ext cx="2606040" cy="457200"/>
          </a:xfrm>
          <a:prstGeom prst="roundRect">
            <a:avLst>
              <a:gd name="adj" fmla="val 50000"/>
            </a:avLst>
          </a:prstGeom>
          <a:solidFill>
            <a:srgbClr val="13293D"/>
          </a:solidFill>
          <a:ln w="12700">
            <a:solidFill>
              <a:srgbClr val="13293D"/>
            </a:solidFill>
            <a:prstDash val="solid"/>
          </a:ln>
        </p:spPr>
      </p:sp>
      <p:sp>
        <p:nvSpPr>
          <p:cNvPr id="18" name="Text 15"/>
          <p:cNvSpPr/>
          <p:nvPr/>
        </p:nvSpPr>
        <p:spPr>
          <a:xfrm>
            <a:off x="3456432" y="388620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19" name="Shape 16"/>
          <p:cNvSpPr/>
          <p:nvPr/>
        </p:nvSpPr>
        <p:spPr>
          <a:xfrm>
            <a:off x="6272784" y="3886200"/>
            <a:ext cx="2606040" cy="457200"/>
          </a:xfrm>
          <a:prstGeom prst="roundRect">
            <a:avLst>
              <a:gd name="adj" fmla="val 50000"/>
            </a:avLst>
          </a:prstGeom>
          <a:solidFill>
            <a:srgbClr val="B07914"/>
          </a:solidFill>
          <a:ln w="12700">
            <a:solidFill>
              <a:srgbClr val="B07914"/>
            </a:solidFill>
            <a:prstDash val="solid"/>
          </a:ln>
        </p:spPr>
      </p:sp>
      <p:sp>
        <p:nvSpPr>
          <p:cNvPr id="20" name="Text 17"/>
          <p:cNvSpPr/>
          <p:nvPr/>
        </p:nvSpPr>
        <p:spPr>
          <a:xfrm>
            <a:off x="6272784" y="388620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1" name="Shape 18"/>
          <p:cNvSpPr/>
          <p:nvPr/>
        </p:nvSpPr>
        <p:spPr>
          <a:xfrm>
            <a:off x="9089136" y="3886200"/>
            <a:ext cx="2606040" cy="457200"/>
          </a:xfrm>
          <a:prstGeom prst="roundRect">
            <a:avLst>
              <a:gd name="adj" fmla="val 50000"/>
            </a:avLst>
          </a:prstGeom>
          <a:solidFill>
            <a:srgbClr val="2E7D5B"/>
          </a:solidFill>
          <a:ln w="12700">
            <a:solidFill>
              <a:srgbClr val="2E7D5B"/>
            </a:solidFill>
            <a:prstDash val="solid"/>
          </a:ln>
        </p:spPr>
      </p:sp>
      <p:sp>
        <p:nvSpPr>
          <p:cNvPr id="22" name="Text 19"/>
          <p:cNvSpPr/>
          <p:nvPr/>
        </p:nvSpPr>
        <p:spPr>
          <a:xfrm>
            <a:off x="9089136" y="388620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
        <p:nvSpPr>
          <p:cNvPr id="23" name="Shape 20"/>
          <p:cNvSpPr/>
          <p:nvPr/>
        </p:nvSpPr>
        <p:spPr>
          <a:xfrm>
            <a:off x="640080" y="4617720"/>
            <a:ext cx="10972800" cy="1234440"/>
          </a:xfrm>
          <a:prstGeom prst="roundRect">
            <a:avLst>
              <a:gd name="adj" fmla="val 6667"/>
            </a:avLst>
          </a:prstGeom>
          <a:solidFill>
            <a:srgbClr val="FBEDEB"/>
          </a:solidFill>
          <a:ln w="12700">
            <a:solidFill>
              <a:srgbClr val="FBEDEB"/>
            </a:solidFill>
            <a:prstDash val="solid"/>
          </a:ln>
        </p:spPr>
      </p:sp>
      <p:sp>
        <p:nvSpPr>
          <p:cNvPr id="24" name="Text 21"/>
          <p:cNvSpPr/>
          <p:nvPr/>
        </p:nvSpPr>
        <p:spPr>
          <a:xfrm>
            <a:off x="960120" y="4617720"/>
            <a:ext cx="10332720" cy="1234440"/>
          </a:xfrm>
          <a:prstGeom prst="rect">
            <a:avLst/>
          </a:prstGeom>
          <a:noFill/>
          <a:ln/>
        </p:spPr>
        <p:txBody>
          <a:bodyPr wrap="square" lIns="0" tIns="0" rIns="0" bIns="0" rtlCol="0" anchor="ctr"/>
          <a:lstStyle/>
          <a:p>
            <a:pPr indent="0" marL="0">
              <a:lnSpc>
                <a:spcPct val="110000"/>
              </a:lnSpc>
              <a:buNone/>
            </a:pPr>
            <a:r>
              <a:rPr lang="en-US" sz="1200" b="1" spc="140" kern="0" dirty="0">
                <a:solidFill>
                  <a:srgbClr val="B4453A"/>
                </a:solidFill>
                <a:latin typeface="Inter" pitchFamily="34" charset="0"/>
                <a:ea typeface="Inter" pitchFamily="34" charset="-122"/>
                <a:cs typeface="Inter" pitchFamily="34" charset="-120"/>
              </a:rPr>
              <a:t>FOUR SECONDS LATER   </a:t>
            </a:r>
            <a:pPr indent="0" marL="0">
              <a:lnSpc>
                <a:spcPct val="110000"/>
              </a:lnSpc>
              <a:buNone/>
            </a:pPr>
            <a:r>
              <a:rPr lang="en-US" sz="1700" dirty="0">
                <a:solidFill>
                  <a:srgbClr val="1B1F24"/>
                </a:solidFill>
                <a:latin typeface="Inter" pitchFamily="34" charset="0"/>
                <a:ea typeface="Inter" pitchFamily="34" charset="-122"/>
                <a:cs typeface="Inter" pitchFamily="34" charset="-120"/>
              </a:rPr>
              <a:t>a complete, competent five-paragraph essay. Its opening paragraph is Paragraph B from slide 2, the one that split this room.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turn to watch: the room adds the one thing to three generic prompts.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GUIDED PRACTICE · SIXTY SECONDS EACH, OUT LOUD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Add the one thing</a:t>
            </a:r>
            <a:endParaRPr lang="en-US" sz="3200" dirty="0"/>
          </a:p>
        </p:txBody>
      </p:sp>
      <p:sp>
        <p:nvSpPr>
          <p:cNvPr id="14" name="Shape 11"/>
          <p:cNvSpPr/>
          <p:nvPr/>
        </p:nvSpPr>
        <p:spPr>
          <a:xfrm>
            <a:off x="640080" y="1325880"/>
            <a:ext cx="10972800" cy="1097280"/>
          </a:xfrm>
          <a:prstGeom prst="roundRect">
            <a:avLst>
              <a:gd name="adj" fmla="val 7500"/>
            </a:avLst>
          </a:prstGeom>
          <a:solidFill>
            <a:srgbClr val="F7F5F0"/>
          </a:solidFill>
          <a:ln w="12700">
            <a:solidFill>
              <a:srgbClr val="F7F5F0"/>
            </a:solidFill>
            <a:prstDash val="solid"/>
          </a:ln>
        </p:spPr>
      </p:sp>
      <p:sp>
        <p:nvSpPr>
          <p:cNvPr id="15" name="Text 12"/>
          <p:cNvSpPr/>
          <p:nvPr/>
        </p:nvSpPr>
        <p:spPr>
          <a:xfrm>
            <a:off x="914400" y="1325880"/>
            <a:ext cx="548640" cy="1097280"/>
          </a:xfrm>
          <a:prstGeom prst="rect">
            <a:avLst/>
          </a:prstGeom>
          <a:noFill/>
          <a:ln/>
        </p:spPr>
        <p:txBody>
          <a:bodyPr wrap="square" lIns="0" tIns="0" rIns="0" bIns="0" rtlCol="0" anchor="ctr"/>
          <a:lstStyle/>
          <a:p>
            <a:pPr algn="ctr" indent="0" marL="0">
              <a:buNone/>
            </a:pPr>
            <a:r>
              <a:rPr lang="en-US" sz="2600" b="1" dirty="0">
                <a:solidFill>
                  <a:srgbClr val="2A9D8F"/>
                </a:solidFill>
                <a:latin typeface="Inter" pitchFamily="34" charset="0"/>
                <a:ea typeface="Inter" pitchFamily="34" charset="-122"/>
                <a:cs typeface="Inter" pitchFamily="34" charset="-120"/>
              </a:rPr>
              <a:t>1</a:t>
            </a:r>
            <a:endParaRPr lang="en-US" sz="2600" dirty="0"/>
          </a:p>
        </p:txBody>
      </p:sp>
      <p:sp>
        <p:nvSpPr>
          <p:cNvPr id="16" name="Text 13"/>
          <p:cNvSpPr/>
          <p:nvPr/>
        </p:nvSpPr>
        <p:spPr>
          <a:xfrm>
            <a:off x="1600200" y="1325880"/>
            <a:ext cx="9509760" cy="109728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“Write a paragraph explaining photosynthesis.”</a:t>
            </a:r>
            <a:endParaRPr lang="en-US" sz="2100" dirty="0"/>
          </a:p>
        </p:txBody>
      </p:sp>
      <p:sp>
        <p:nvSpPr>
          <p:cNvPr id="17" name="Shape 14"/>
          <p:cNvSpPr/>
          <p:nvPr/>
        </p:nvSpPr>
        <p:spPr>
          <a:xfrm>
            <a:off x="640080" y="2560320"/>
            <a:ext cx="10972800" cy="1097280"/>
          </a:xfrm>
          <a:prstGeom prst="roundRect">
            <a:avLst>
              <a:gd name="adj" fmla="val 7500"/>
            </a:avLst>
          </a:prstGeom>
          <a:solidFill>
            <a:srgbClr val="F7F5F0"/>
          </a:solidFill>
          <a:ln w="12700">
            <a:solidFill>
              <a:srgbClr val="F7F5F0"/>
            </a:solidFill>
            <a:prstDash val="solid"/>
          </a:ln>
        </p:spPr>
      </p:sp>
      <p:sp>
        <p:nvSpPr>
          <p:cNvPr id="18" name="Text 15"/>
          <p:cNvSpPr/>
          <p:nvPr/>
        </p:nvSpPr>
        <p:spPr>
          <a:xfrm>
            <a:off x="914400" y="2560320"/>
            <a:ext cx="548640" cy="1097280"/>
          </a:xfrm>
          <a:prstGeom prst="rect">
            <a:avLst/>
          </a:prstGeom>
          <a:noFill/>
          <a:ln/>
        </p:spPr>
        <p:txBody>
          <a:bodyPr wrap="square" lIns="0" tIns="0" rIns="0" bIns="0" rtlCol="0" anchor="ctr"/>
          <a:lstStyle/>
          <a:p>
            <a:pPr algn="ctr" indent="0" marL="0">
              <a:buNone/>
            </a:pPr>
            <a:r>
              <a:rPr lang="en-US" sz="2600" b="1" dirty="0">
                <a:solidFill>
                  <a:srgbClr val="2A9D8F"/>
                </a:solidFill>
                <a:latin typeface="Inter" pitchFamily="34" charset="0"/>
                <a:ea typeface="Inter" pitchFamily="34" charset="-122"/>
                <a:cs typeface="Inter" pitchFamily="34" charset="-120"/>
              </a:rPr>
              <a:t>2</a:t>
            </a:r>
            <a:endParaRPr lang="en-US" sz="2600" dirty="0"/>
          </a:p>
        </p:txBody>
      </p:sp>
      <p:sp>
        <p:nvSpPr>
          <p:cNvPr id="19" name="Text 16"/>
          <p:cNvSpPr/>
          <p:nvPr/>
        </p:nvSpPr>
        <p:spPr>
          <a:xfrm>
            <a:off x="1600200" y="2560320"/>
            <a:ext cx="9509760" cy="109728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“Summarize chapter four.”</a:t>
            </a:r>
            <a:endParaRPr lang="en-US" sz="2100" dirty="0"/>
          </a:p>
        </p:txBody>
      </p:sp>
      <p:sp>
        <p:nvSpPr>
          <p:cNvPr id="20" name="Shape 17"/>
          <p:cNvSpPr/>
          <p:nvPr/>
        </p:nvSpPr>
        <p:spPr>
          <a:xfrm>
            <a:off x="640080" y="3794760"/>
            <a:ext cx="10972800" cy="1097280"/>
          </a:xfrm>
          <a:prstGeom prst="roundRect">
            <a:avLst>
              <a:gd name="adj" fmla="val 7500"/>
            </a:avLst>
          </a:prstGeom>
          <a:solidFill>
            <a:srgbClr val="F7F5F0"/>
          </a:solidFill>
          <a:ln w="12700">
            <a:solidFill>
              <a:srgbClr val="F7F5F0"/>
            </a:solidFill>
            <a:prstDash val="solid"/>
          </a:ln>
        </p:spPr>
      </p:sp>
      <p:sp>
        <p:nvSpPr>
          <p:cNvPr id="21" name="Text 18"/>
          <p:cNvSpPr/>
          <p:nvPr/>
        </p:nvSpPr>
        <p:spPr>
          <a:xfrm>
            <a:off x="914400" y="3794760"/>
            <a:ext cx="548640" cy="1097280"/>
          </a:xfrm>
          <a:prstGeom prst="rect">
            <a:avLst/>
          </a:prstGeom>
          <a:noFill/>
          <a:ln/>
        </p:spPr>
        <p:txBody>
          <a:bodyPr wrap="square" lIns="0" tIns="0" rIns="0" bIns="0" rtlCol="0" anchor="ctr"/>
          <a:lstStyle/>
          <a:p>
            <a:pPr algn="ctr" indent="0" marL="0">
              <a:buNone/>
            </a:pPr>
            <a:r>
              <a:rPr lang="en-US" sz="2600" b="1" dirty="0">
                <a:solidFill>
                  <a:srgbClr val="2A9D8F"/>
                </a:solidFill>
                <a:latin typeface="Inter" pitchFamily="34" charset="0"/>
                <a:ea typeface="Inter" pitchFamily="34" charset="-122"/>
                <a:cs typeface="Inter" pitchFamily="34" charset="-120"/>
              </a:rPr>
              <a:t>3</a:t>
            </a:r>
            <a:endParaRPr lang="en-US" sz="2600" dirty="0"/>
          </a:p>
        </p:txBody>
      </p:sp>
      <p:sp>
        <p:nvSpPr>
          <p:cNvPr id="22" name="Text 19"/>
          <p:cNvSpPr/>
          <p:nvPr/>
        </p:nvSpPr>
        <p:spPr>
          <a:xfrm>
            <a:off x="1600200" y="3794760"/>
            <a:ext cx="9509760" cy="109728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“Solve these twenty problems and show your work.”</a:t>
            </a:r>
            <a:endParaRPr lang="en-US" sz="2100" dirty="0"/>
          </a:p>
        </p:txBody>
      </p:sp>
      <p:sp>
        <p:nvSpPr>
          <p:cNvPr id="23" name="Shape 20"/>
          <p:cNvSpPr/>
          <p:nvPr/>
        </p:nvSpPr>
        <p:spPr>
          <a:xfrm>
            <a:off x="640080" y="5074920"/>
            <a:ext cx="10972800" cy="658368"/>
          </a:xfrm>
          <a:prstGeom prst="roundRect">
            <a:avLst>
              <a:gd name="adj" fmla="val 12500"/>
            </a:avLst>
          </a:prstGeom>
          <a:solidFill>
            <a:srgbClr val="13293D"/>
          </a:solidFill>
          <a:ln w="12700">
            <a:solidFill>
              <a:srgbClr val="13293D"/>
            </a:solidFill>
            <a:prstDash val="solid"/>
          </a:ln>
        </p:spPr>
      </p:sp>
      <p:sp>
        <p:nvSpPr>
          <p:cNvPr id="24" name="Text 21"/>
          <p:cNvSpPr/>
          <p:nvPr/>
        </p:nvSpPr>
        <p:spPr>
          <a:xfrm>
            <a:off x="960120" y="5074920"/>
            <a:ext cx="10332720" cy="658368"/>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Do not rewrite the assignment. Add one sentence, and name which of the three places it came from.</a:t>
            </a:r>
            <a:endParaRPr lang="en-US" sz="1700" dirty="0"/>
          </a:p>
        </p:txBody>
      </p:sp>
      <p:sp>
        <p:nvSpPr>
          <p:cNvPr id="25" name="Text 22"/>
          <p:cNvSpPr/>
          <p:nvPr/>
        </p:nvSpPr>
        <p:spPr>
          <a:xfrm>
            <a:off x="640080" y="5870448"/>
            <a:ext cx="10972800" cy="365760"/>
          </a:xfrm>
          <a:prstGeom prst="rect">
            <a:avLst/>
          </a:prstGeom>
          <a:noFill/>
          <a:ln/>
        </p:spPr>
        <p:txBody>
          <a:bodyPr wrap="square" lIns="0" tIns="0" rIns="0" bIns="0" rtlCol="0" anchor="ctr"/>
          <a:lstStyle/>
          <a:p>
            <a:pPr algn="ctr" indent="0" marL="0">
              <a:buNone/>
            </a:pPr>
            <a:r>
              <a:rPr lang="en-US" sz="1200" dirty="0">
                <a:solidFill>
                  <a:srgbClr val="5B6B7A"/>
                </a:solidFill>
                <a:latin typeface="Inter" pitchFamily="34" charset="0"/>
                <a:ea typeface="Inter" pitchFamily="34" charset="-122"/>
                <a:cs typeface="Inter" pitchFamily="34" charset="-120"/>
              </a:rPr>
              <a:t>Answers on the next slide: the plant on the window sill · which sentence would you delete · two minutes at the board. Reveal them only after the room has tried all three.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 all three answers came from one of the three places.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GOOD ANSWER EACH. YOURS WERE PROBABLY BETTER.</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Three answers, one from each place</a:t>
            </a:r>
            <a:endParaRPr lang="en-US" sz="2800" dirty="0"/>
          </a:p>
        </p:txBody>
      </p:sp>
      <p:sp>
        <p:nvSpPr>
          <p:cNvPr id="14" name="Shape 11"/>
          <p:cNvSpPr/>
          <p:nvPr/>
        </p:nvSpPr>
        <p:spPr>
          <a:xfrm>
            <a:off x="640080" y="1325880"/>
            <a:ext cx="10972800" cy="1325880"/>
          </a:xfrm>
          <a:prstGeom prst="roundRect">
            <a:avLst>
              <a:gd name="adj" fmla="val 6207"/>
            </a:avLst>
          </a:prstGeom>
          <a:solidFill>
            <a:srgbClr val="F7F5F0"/>
          </a:solidFill>
          <a:ln w="12700">
            <a:solidFill>
              <a:srgbClr val="F7F5F0"/>
            </a:solidFill>
            <a:prstDash val="solid"/>
          </a:ln>
        </p:spPr>
      </p:sp>
      <p:sp>
        <p:nvSpPr>
          <p:cNvPr id="15" name="Text 12"/>
          <p:cNvSpPr/>
          <p:nvPr/>
        </p:nvSpPr>
        <p:spPr>
          <a:xfrm>
            <a:off x="960120" y="1399032"/>
            <a:ext cx="6949440" cy="320040"/>
          </a:xfrm>
          <a:prstGeom prst="rect">
            <a:avLst/>
          </a:prstGeom>
          <a:noFill/>
          <a:ln/>
        </p:spPr>
        <p:txBody>
          <a:bodyPr wrap="square" lIns="0" tIns="0" rIns="0" bIns="0" rtlCol="0" anchor="ctr"/>
          <a:lstStyle/>
          <a:p>
            <a:pPr indent="0" marL="0">
              <a:buNone/>
            </a:pPr>
            <a:r>
              <a:rPr lang="en-US" sz="1350" i="1" dirty="0">
                <a:solidFill>
                  <a:srgbClr val="5B6B7A"/>
                </a:solidFill>
                <a:latin typeface="Inter" pitchFamily="34" charset="0"/>
                <a:ea typeface="Inter" pitchFamily="34" charset="-122"/>
                <a:cs typeface="Inter" pitchFamily="34" charset="-120"/>
              </a:rPr>
              <a:t>“Write a paragraph explaining photosynthesis.”</a:t>
            </a:r>
            <a:endParaRPr lang="en-US" sz="1350" dirty="0"/>
          </a:p>
        </p:txBody>
      </p:sp>
      <p:sp>
        <p:nvSpPr>
          <p:cNvPr id="16" name="Shape 13"/>
          <p:cNvSpPr/>
          <p:nvPr/>
        </p:nvSpPr>
        <p:spPr>
          <a:xfrm>
            <a:off x="8549640" y="1435608"/>
            <a:ext cx="2606040"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8549640" y="1435608"/>
            <a:ext cx="2606040"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FROM THIS ROOM</a:t>
            </a:r>
            <a:endParaRPr lang="en-US" sz="1100" dirty="0"/>
          </a:p>
        </p:txBody>
      </p:sp>
      <p:sp>
        <p:nvSpPr>
          <p:cNvPr id="18" name="Text 15"/>
          <p:cNvSpPr/>
          <p:nvPr/>
        </p:nvSpPr>
        <p:spPr>
          <a:xfrm>
            <a:off x="960120" y="1783080"/>
            <a:ext cx="10195560" cy="777240"/>
          </a:xfrm>
          <a:prstGeom prst="rect">
            <a:avLst/>
          </a:prstGeom>
          <a:noFill/>
          <a:ln/>
        </p:spPr>
        <p:txBody>
          <a:bodyPr wrap="square" lIns="0" tIns="0" rIns="0" bIns="0" rtlCol="0" anchor="ctr"/>
          <a:lstStyle/>
          <a:p>
            <a:pPr indent="0" marL="0">
              <a:lnSpc>
                <a:spcPct val="110000"/>
              </a:lnSpc>
              <a:buNone/>
            </a:pPr>
            <a:r>
              <a:rPr lang="en-US" sz="1700" b="1" dirty="0">
                <a:solidFill>
                  <a:srgbClr val="13293D"/>
                </a:solidFill>
                <a:latin typeface="Inter" pitchFamily="34" charset="0"/>
                <a:ea typeface="Inter" pitchFamily="34" charset="-122"/>
                <a:cs typeface="Inter" pitchFamily="34" charset="-120"/>
              </a:rPr>
              <a:t>“Use the plant on our window sill. Explain why the leaves facing the glass are green and the ones behind the cabinet are yellow.”</a:t>
            </a:r>
            <a:endParaRPr lang="en-US" sz="1700" dirty="0"/>
          </a:p>
        </p:txBody>
      </p:sp>
      <p:sp>
        <p:nvSpPr>
          <p:cNvPr id="19" name="Shape 16"/>
          <p:cNvSpPr/>
          <p:nvPr/>
        </p:nvSpPr>
        <p:spPr>
          <a:xfrm>
            <a:off x="640080" y="2788920"/>
            <a:ext cx="10972800" cy="1325880"/>
          </a:xfrm>
          <a:prstGeom prst="roundRect">
            <a:avLst>
              <a:gd name="adj" fmla="val 6207"/>
            </a:avLst>
          </a:prstGeom>
          <a:solidFill>
            <a:srgbClr val="F7F5F0"/>
          </a:solidFill>
          <a:ln w="12700">
            <a:solidFill>
              <a:srgbClr val="F7F5F0"/>
            </a:solidFill>
            <a:prstDash val="solid"/>
          </a:ln>
        </p:spPr>
      </p:sp>
      <p:sp>
        <p:nvSpPr>
          <p:cNvPr id="20" name="Text 17"/>
          <p:cNvSpPr/>
          <p:nvPr/>
        </p:nvSpPr>
        <p:spPr>
          <a:xfrm>
            <a:off x="960120" y="2862072"/>
            <a:ext cx="6949440" cy="320040"/>
          </a:xfrm>
          <a:prstGeom prst="rect">
            <a:avLst/>
          </a:prstGeom>
          <a:noFill/>
          <a:ln/>
        </p:spPr>
        <p:txBody>
          <a:bodyPr wrap="square" lIns="0" tIns="0" rIns="0" bIns="0" rtlCol="0" anchor="ctr"/>
          <a:lstStyle/>
          <a:p>
            <a:pPr indent="0" marL="0">
              <a:buNone/>
            </a:pPr>
            <a:r>
              <a:rPr lang="en-US" sz="1350" i="1" dirty="0">
                <a:solidFill>
                  <a:srgbClr val="5B6B7A"/>
                </a:solidFill>
                <a:latin typeface="Inter" pitchFamily="34" charset="0"/>
                <a:ea typeface="Inter" pitchFamily="34" charset="-122"/>
                <a:cs typeface="Inter" pitchFamily="34" charset="-120"/>
              </a:rPr>
              <a:t>“Summarize chapter four.”</a:t>
            </a:r>
            <a:endParaRPr lang="en-US" sz="1350" dirty="0"/>
          </a:p>
        </p:txBody>
      </p:sp>
      <p:sp>
        <p:nvSpPr>
          <p:cNvPr id="21" name="Shape 18"/>
          <p:cNvSpPr/>
          <p:nvPr/>
        </p:nvSpPr>
        <p:spPr>
          <a:xfrm>
            <a:off x="8549640" y="2898648"/>
            <a:ext cx="2606040"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8549640" y="2898648"/>
            <a:ext cx="2606040"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FROM THIS STUDENT</a:t>
            </a:r>
            <a:endParaRPr lang="en-US" sz="1100" dirty="0"/>
          </a:p>
        </p:txBody>
      </p:sp>
      <p:sp>
        <p:nvSpPr>
          <p:cNvPr id="23" name="Text 20"/>
          <p:cNvSpPr/>
          <p:nvPr/>
        </p:nvSpPr>
        <p:spPr>
          <a:xfrm>
            <a:off x="960120" y="3246120"/>
            <a:ext cx="10195560" cy="777240"/>
          </a:xfrm>
          <a:prstGeom prst="rect">
            <a:avLst/>
          </a:prstGeom>
          <a:noFill/>
          <a:ln/>
        </p:spPr>
        <p:txBody>
          <a:bodyPr wrap="square" lIns="0" tIns="0" rIns="0" bIns="0" rtlCol="0" anchor="ctr"/>
          <a:lstStyle/>
          <a:p>
            <a:pPr indent="0" marL="0">
              <a:lnSpc>
                <a:spcPct val="110000"/>
              </a:lnSpc>
              <a:buNone/>
            </a:pPr>
            <a:r>
              <a:rPr lang="en-US" sz="1700" b="1" dirty="0">
                <a:solidFill>
                  <a:srgbClr val="13293D"/>
                </a:solidFill>
                <a:latin typeface="Inter" pitchFamily="34" charset="0"/>
                <a:ea typeface="Inter" pitchFamily="34" charset="-122"/>
                <a:cs typeface="Inter" pitchFamily="34" charset="-120"/>
              </a:rPr>
              <a:t>“Summarize it in five sentences. Then tell me which sentence you would delete if you only had four, and why.”</a:t>
            </a:r>
            <a:endParaRPr lang="en-US" sz="1700" dirty="0"/>
          </a:p>
        </p:txBody>
      </p:sp>
      <p:sp>
        <p:nvSpPr>
          <p:cNvPr id="24" name="Shape 21"/>
          <p:cNvSpPr/>
          <p:nvPr/>
        </p:nvSpPr>
        <p:spPr>
          <a:xfrm>
            <a:off x="640080" y="4251960"/>
            <a:ext cx="10972800" cy="1325880"/>
          </a:xfrm>
          <a:prstGeom prst="roundRect">
            <a:avLst>
              <a:gd name="adj" fmla="val 6207"/>
            </a:avLst>
          </a:prstGeom>
          <a:solidFill>
            <a:srgbClr val="F7F5F0"/>
          </a:solidFill>
          <a:ln w="12700">
            <a:solidFill>
              <a:srgbClr val="F7F5F0"/>
            </a:solidFill>
            <a:prstDash val="solid"/>
          </a:ln>
        </p:spPr>
      </p:sp>
      <p:sp>
        <p:nvSpPr>
          <p:cNvPr id="25" name="Text 22"/>
          <p:cNvSpPr/>
          <p:nvPr/>
        </p:nvSpPr>
        <p:spPr>
          <a:xfrm>
            <a:off x="960120" y="4325112"/>
            <a:ext cx="6949440" cy="320040"/>
          </a:xfrm>
          <a:prstGeom prst="rect">
            <a:avLst/>
          </a:prstGeom>
          <a:noFill/>
          <a:ln/>
        </p:spPr>
        <p:txBody>
          <a:bodyPr wrap="square" lIns="0" tIns="0" rIns="0" bIns="0" rtlCol="0" anchor="ctr"/>
          <a:lstStyle/>
          <a:p>
            <a:pPr indent="0" marL="0">
              <a:buNone/>
            </a:pPr>
            <a:r>
              <a:rPr lang="en-US" sz="1350" i="1" dirty="0">
                <a:solidFill>
                  <a:srgbClr val="5B6B7A"/>
                </a:solidFill>
                <a:latin typeface="Inter" pitchFamily="34" charset="0"/>
                <a:ea typeface="Inter" pitchFamily="34" charset="-122"/>
                <a:cs typeface="Inter" pitchFamily="34" charset="-120"/>
              </a:rPr>
              <a:t>“Solve these twenty problems and show your work.”</a:t>
            </a:r>
            <a:endParaRPr lang="en-US" sz="1350" dirty="0"/>
          </a:p>
        </p:txBody>
      </p:sp>
      <p:sp>
        <p:nvSpPr>
          <p:cNvPr id="26" name="Shape 23"/>
          <p:cNvSpPr/>
          <p:nvPr/>
        </p:nvSpPr>
        <p:spPr>
          <a:xfrm>
            <a:off x="8549640" y="4361688"/>
            <a:ext cx="2606040"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8549640" y="4361688"/>
            <a:ext cx="2606040"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IN FRONT OF YOU</a:t>
            </a:r>
            <a:endParaRPr lang="en-US" sz="1100" dirty="0"/>
          </a:p>
        </p:txBody>
      </p:sp>
      <p:sp>
        <p:nvSpPr>
          <p:cNvPr id="28" name="Text 25"/>
          <p:cNvSpPr/>
          <p:nvPr/>
        </p:nvSpPr>
        <p:spPr>
          <a:xfrm>
            <a:off x="960120" y="4709160"/>
            <a:ext cx="10195560" cy="777240"/>
          </a:xfrm>
          <a:prstGeom prst="rect">
            <a:avLst/>
          </a:prstGeom>
          <a:noFill/>
          <a:ln/>
        </p:spPr>
        <p:txBody>
          <a:bodyPr wrap="square" lIns="0" tIns="0" rIns="0" bIns="0" rtlCol="0" anchor="ctr"/>
          <a:lstStyle/>
          <a:p>
            <a:pPr indent="0" marL="0">
              <a:lnSpc>
                <a:spcPct val="110000"/>
              </a:lnSpc>
              <a:buNone/>
            </a:pPr>
            <a:r>
              <a:rPr lang="en-US" sz="1700" b="1" dirty="0">
                <a:solidFill>
                  <a:srgbClr val="13293D"/>
                </a:solidFill>
                <a:latin typeface="Inter" pitchFamily="34" charset="0"/>
                <a:ea typeface="Inter" pitchFamily="34" charset="-122"/>
                <a:cs typeface="Inter" pitchFamily="34" charset="-120"/>
              </a:rPr>
              <a:t>“Pick the one that gave you the most trouble. Take two minutes at the board and walk us through where you got stuck.”</a:t>
            </a:r>
            <a:endParaRPr lang="en-US" sz="1700" dirty="0"/>
          </a:p>
        </p:txBody>
      </p:sp>
      <p:sp>
        <p:nvSpPr>
          <p:cNvPr id="29" name="Text 26"/>
          <p:cNvSpPr/>
          <p:nvPr/>
        </p:nvSpPr>
        <p:spPr>
          <a:xfrm>
            <a:off x="640080" y="5760720"/>
            <a:ext cx="10972800" cy="45720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Nobody redesigned a unit. Each one is a sentence, and none of them punishes the honest student who used AI to check their work.</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16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assignment start to finish: next week's persuasive essay.</a:t>
            </a:r>
            <a:endParaRPr lang="en-US" sz="1000" dirty="0"/>
          </a:p>
        </p:txBody>
      </p:sp>
      <p:sp>
        <p:nvSpPr>
          <p:cNvPr id="12" name="Text 9"/>
          <p:cNvSpPr/>
          <p:nvPr/>
        </p:nvSpPr>
        <p:spPr>
          <a:xfrm>
            <a:off x="822960" y="1234440"/>
            <a:ext cx="7589520" cy="41148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LAB · 15 MINUTES · PROTECTED</a:t>
            </a:r>
            <a:endParaRPr lang="en-US" sz="1500" dirty="0"/>
          </a:p>
        </p:txBody>
      </p:sp>
      <p:sp>
        <p:nvSpPr>
          <p:cNvPr id="13" name="Text 10"/>
          <p:cNvSpPr/>
          <p:nvPr/>
        </p:nvSpPr>
        <p:spPr>
          <a:xfrm>
            <a:off x="822960" y="1691640"/>
            <a:ext cx="10515600" cy="731520"/>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Rebuild one real assignment</a:t>
            </a:r>
            <a:endParaRPr lang="en-US" sz="3800" dirty="0"/>
          </a:p>
        </p:txBody>
      </p:sp>
      <p:sp>
        <p:nvSpPr>
          <p:cNvPr id="14" name="Text 11"/>
          <p:cNvSpPr/>
          <p:nvPr/>
        </p:nvSpPr>
        <p:spPr>
          <a:xfrm>
            <a:off x="868680" y="2651760"/>
            <a:ext cx="1920240" cy="54864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STEP 1 · 3 min</a:t>
            </a:r>
            <a:endParaRPr lang="en-US" sz="1500" dirty="0"/>
          </a:p>
        </p:txBody>
      </p:sp>
      <p:sp>
        <p:nvSpPr>
          <p:cNvPr id="15" name="Text 12"/>
          <p:cNvSpPr/>
          <p:nvPr/>
        </p:nvSpPr>
        <p:spPr>
          <a:xfrm>
            <a:off x="2926080" y="2651760"/>
            <a:ext cx="5943600" cy="54864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Put your next real assignment on the desk</a:t>
            </a:r>
            <a:endParaRPr lang="en-US" sz="2000" dirty="0"/>
          </a:p>
        </p:txBody>
      </p:sp>
      <p:sp>
        <p:nvSpPr>
          <p:cNvPr id="16" name="Text 13"/>
          <p:cNvSpPr/>
          <p:nvPr/>
        </p:nvSpPr>
        <p:spPr>
          <a:xfrm>
            <a:off x="868680" y="3310128"/>
            <a:ext cx="1920240" cy="54864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STEP 2 · 3 min</a:t>
            </a:r>
            <a:endParaRPr lang="en-US" sz="1500" dirty="0"/>
          </a:p>
        </p:txBody>
      </p:sp>
      <p:sp>
        <p:nvSpPr>
          <p:cNvPr id="17" name="Text 14"/>
          <p:cNvSpPr/>
          <p:nvPr/>
        </p:nvSpPr>
        <p:spPr>
          <a:xfrm>
            <a:off x="2926080" y="3310128"/>
            <a:ext cx="5943600" cy="54864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Name what it is actually for, in one sentence</a:t>
            </a:r>
            <a:endParaRPr lang="en-US" sz="2000" dirty="0"/>
          </a:p>
        </p:txBody>
      </p:sp>
      <p:sp>
        <p:nvSpPr>
          <p:cNvPr id="18" name="Text 15"/>
          <p:cNvSpPr/>
          <p:nvPr/>
        </p:nvSpPr>
        <p:spPr>
          <a:xfrm>
            <a:off x="868680" y="3968496"/>
            <a:ext cx="1920240" cy="54864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STEP 3 · 6 min</a:t>
            </a:r>
            <a:endParaRPr lang="en-US" sz="1500" dirty="0"/>
          </a:p>
        </p:txBody>
      </p:sp>
      <p:sp>
        <p:nvSpPr>
          <p:cNvPr id="19" name="Text 16"/>
          <p:cNvSpPr/>
          <p:nvPr/>
        </p:nvSpPr>
        <p:spPr>
          <a:xfrm>
            <a:off x="2926080" y="3968496"/>
            <a:ext cx="5943600" cy="54864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Add the one thing AI can’t hand in</a:t>
            </a:r>
            <a:endParaRPr lang="en-US" sz="2000" dirty="0"/>
          </a:p>
        </p:txBody>
      </p:sp>
      <p:sp>
        <p:nvSpPr>
          <p:cNvPr id="20" name="Text 17"/>
          <p:cNvSpPr/>
          <p:nvPr/>
        </p:nvSpPr>
        <p:spPr>
          <a:xfrm>
            <a:off x="868680" y="4626864"/>
            <a:ext cx="1920240" cy="54864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STEP 4 · 3 min</a:t>
            </a:r>
            <a:endParaRPr lang="en-US" sz="1500" dirty="0"/>
          </a:p>
        </p:txBody>
      </p:sp>
      <p:sp>
        <p:nvSpPr>
          <p:cNvPr id="21" name="Text 18"/>
          <p:cNvSpPr/>
          <p:nvPr/>
        </p:nvSpPr>
        <p:spPr>
          <a:xfrm>
            <a:off x="2926080" y="4626864"/>
            <a:ext cx="5943600" cy="54864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Write the one line about AI</a:t>
            </a:r>
            <a:endParaRPr lang="en-US" sz="2000" dirty="0"/>
          </a:p>
        </p:txBody>
      </p:sp>
      <p:sp>
        <p:nvSpPr>
          <p:cNvPr id="22" name="Shape 19"/>
          <p:cNvSpPr/>
          <p:nvPr/>
        </p:nvSpPr>
        <p:spPr>
          <a:xfrm>
            <a:off x="9052560" y="2606040"/>
            <a:ext cx="2606040" cy="2743200"/>
          </a:xfrm>
          <a:prstGeom prst="roundRect">
            <a:avLst>
              <a:gd name="adj" fmla="val 3158"/>
            </a:avLst>
          </a:prstGeom>
          <a:solidFill>
            <a:srgbClr val="1E3A50"/>
          </a:solidFill>
          <a:ln w="12700">
            <a:solidFill>
              <a:srgbClr val="1E3A50"/>
            </a:solidFill>
            <a:prstDash val="solid"/>
          </a:ln>
        </p:spPr>
      </p:sp>
      <p:sp>
        <p:nvSpPr>
          <p:cNvPr id="23" name="Text 20"/>
          <p:cNvSpPr/>
          <p:nvPr/>
        </p:nvSpPr>
        <p:spPr>
          <a:xfrm>
            <a:off x="9281160" y="2788920"/>
            <a:ext cx="2148840" cy="365760"/>
          </a:xfrm>
          <a:prstGeom prst="rect">
            <a:avLst/>
          </a:prstGeom>
          <a:noFill/>
          <a:ln/>
        </p:spPr>
        <p:txBody>
          <a:bodyPr wrap="square" lIns="0" tIns="0" rIns="0" bIns="0" rtlCol="0" anchor="ctr"/>
          <a:lstStyle/>
          <a:p>
            <a:pPr indent="0" marL="0">
              <a:buNone/>
            </a:pPr>
            <a:r>
              <a:rPr lang="en-US" sz="1500" b="1" dirty="0">
                <a:solidFill>
                  <a:srgbClr val="F4A825"/>
                </a:solidFill>
                <a:latin typeface="Inter" pitchFamily="34" charset="0"/>
                <a:ea typeface="Inter" pitchFamily="34" charset="-122"/>
                <a:cs typeface="Inter" pitchFamily="34" charset="-120"/>
              </a:rPr>
              <a:t>Ground rules</a:t>
            </a:r>
            <a:endParaRPr lang="en-US" sz="1500" dirty="0"/>
          </a:p>
        </p:txBody>
      </p:sp>
      <p:sp>
        <p:nvSpPr>
          <p:cNvPr id="24" name="Text 21"/>
          <p:cNvSpPr/>
          <p:nvPr/>
        </p:nvSpPr>
        <p:spPr>
          <a:xfrm>
            <a:off x="9281160" y="3200400"/>
            <a:ext cx="2148840" cy="1965960"/>
          </a:xfrm>
          <a:prstGeom prst="rect">
            <a:avLst/>
          </a:prstGeom>
          <a:noFill/>
          <a:ln/>
        </p:spPr>
        <p:txBody>
          <a:bodyPr wrap="square" lIns="0" tIns="0" rIns="0" bIns="0" rtlCol="0" anchor="t"/>
          <a:lstStyle/>
          <a:p>
            <a:pPr indent="0" marL="0">
              <a:buNone/>
            </a:pPr>
            <a:r>
              <a:rPr lang="en-US" sz="1350" dirty="0">
                <a:solidFill>
                  <a:srgbClr val="C9D4DE"/>
                </a:solidFill>
                <a:latin typeface="Inter" pitchFamily="34" charset="0"/>
                <a:ea typeface="Inter" pitchFamily="34" charset="-122"/>
                <a:cs typeface="Inter" pitchFamily="34" charset="-120"/>
              </a:rPr>
              <a:t>The real assignment, not a hypothetical. On paper. Ms. Rivera does every step on screen beside you, so copy her shape if you get stuck.</a:t>
            </a:r>
            <a:endParaRPr lang="en-US" sz="1350" dirty="0"/>
          </a:p>
        </p:txBody>
      </p:sp>
      <p:sp>
        <p:nvSpPr>
          <p:cNvPr id="25" name="Text 22"/>
          <p:cNvSpPr/>
          <p:nvPr/>
        </p:nvSpPr>
        <p:spPr>
          <a:xfrm>
            <a:off x="822960" y="5577840"/>
            <a:ext cx="7863840" cy="457200"/>
          </a:xfrm>
          <a:prstGeom prst="rect">
            <a:avLst/>
          </a:prstGeom>
          <a:noFill/>
          <a:ln/>
        </p:spPr>
        <p:txBody>
          <a:bodyPr wrap="square" lIns="0" tIns="0" rIns="0" bIns="0" rtlCol="0" anchor="ctr"/>
          <a:lstStyle/>
          <a:p>
            <a:pPr indent="0" marL="0">
              <a:buNone/>
            </a:pPr>
            <a:r>
              <a:rPr lang="en-US" sz="1800" b="1" dirty="0">
                <a:solidFill>
                  <a:srgbClr val="2A9D8F"/>
                </a:solidFill>
                <a:latin typeface="Inter" pitchFamily="34" charset="0"/>
                <a:ea typeface="Inter" pitchFamily="34" charset="-122"/>
                <a:cs typeface="Inter" pitchFamily="34" charset="-120"/>
              </a:rPr>
              <a:t>You walk out holding a sheet you can photocopy. That is the whole deal.</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Step 1 · on her desk: the persuasive essay, five paragraphs, due Friday.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4 · 3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Put it on the desk</a:t>
            </a:r>
            <a:endParaRPr lang="en-US" sz="3200" dirty="0"/>
          </a:p>
        </p:txBody>
      </p:sp>
      <p:sp>
        <p:nvSpPr>
          <p:cNvPr id="14" name="Text 11"/>
          <p:cNvSpPr/>
          <p:nvPr/>
        </p:nvSpPr>
        <p:spPr>
          <a:xfrm>
            <a:off x="640080" y="1554480"/>
            <a:ext cx="5394960" cy="393192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The assignment you are actually giving in the next two weeks</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Written out the way students will see it</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If it lives in your head, write the sentence you say when you assign it</a:t>
            </a:r>
            <a:endParaRPr lang="en-US" sz="1700" dirty="0"/>
          </a:p>
          <a:p>
            <a:pPr marL="342900" indent="-342900">
              <a:spcAft>
                <a:spcPts val="1000"/>
              </a:spcAft>
              <a:buSzPct val="100000"/>
              <a:buChar char="•"/>
            </a:pPr>
            <a:r>
              <a:rPr lang="en-US" sz="1700" b="1" dirty="0">
                <a:solidFill>
                  <a:srgbClr val="13293D"/>
                </a:solidFill>
                <a:latin typeface="Inter" pitchFamily="34" charset="0"/>
                <a:ea typeface="Inter" pitchFamily="34" charset="-122"/>
                <a:cs typeface="Inter" pitchFamily="34" charset="-120"/>
              </a:rPr>
              <a:t>Do not improve it yet. We need the honest starting version.</a:t>
            </a:r>
            <a:endParaRPr lang="en-US" sz="1700" dirty="0"/>
          </a:p>
        </p:txBody>
      </p:sp>
      <p:sp>
        <p:nvSpPr>
          <p:cNvPr id="15" name="Shape 12"/>
          <p:cNvSpPr/>
          <p:nvPr/>
        </p:nvSpPr>
        <p:spPr>
          <a:xfrm>
            <a:off x="6263640" y="1554480"/>
            <a:ext cx="5394960" cy="3931920"/>
          </a:xfrm>
          <a:prstGeom prst="roundRect">
            <a:avLst>
              <a:gd name="adj" fmla="val 2093"/>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ASSIGNMENT · STEP 1</a:t>
            </a:r>
            <a:endParaRPr lang="en-US" sz="1250" dirty="0"/>
          </a:p>
        </p:txBody>
      </p:sp>
      <p:sp>
        <p:nvSpPr>
          <p:cNvPr id="17" name="Text 14"/>
          <p:cNvSpPr/>
          <p:nvPr/>
        </p:nvSpPr>
        <p:spPr>
          <a:xfrm>
            <a:off x="6537960" y="2121408"/>
            <a:ext cx="4892040" cy="3200400"/>
          </a:xfrm>
          <a:prstGeom prst="rect">
            <a:avLst/>
          </a:prstGeom>
          <a:noFill/>
          <a:ln/>
        </p:spPr>
        <p:txBody>
          <a:bodyPr wrap="square" lIns="0" tIns="0" rIns="0" bIns="0" rtlCol="0" anchor="t"/>
          <a:lstStyle/>
          <a:p>
            <a:pPr indent="0" marL="0">
              <a:lnSpc>
                <a:spcPct val="118000"/>
              </a:lnSpc>
              <a:buNone/>
            </a:pPr>
            <a:r>
              <a:rPr lang="en-US" sz="1800" b="1" dirty="0">
                <a:solidFill>
                  <a:srgbClr val="13293D"/>
                </a:solidFill>
                <a:latin typeface="Inter" pitchFamily="34" charset="0"/>
                <a:ea typeface="Inter" pitchFamily="34" charset="-122"/>
                <a:cs typeface="Inter" pitchFamily="34" charset="-120"/>
              </a:rPr>
              <a:t>Should our school day start later?
</a:t>
            </a:r>
            <a:pPr indent="0" marL="0">
              <a:lnSpc>
                <a:spcPct val="118000"/>
              </a:lnSpc>
              <a:buNone/>
            </a:pPr>
            <a:r>
              <a:rPr lang="en-US" sz="1600" dirty="0">
                <a:solidFill>
                  <a:srgbClr val="1B1F24"/>
                </a:solidFill>
                <a:latin typeface="Inter" pitchFamily="34" charset="0"/>
                <a:ea typeface="Inter" pitchFamily="34" charset="-122"/>
                <a:cs typeface="Inter" pitchFamily="34" charset="-120"/>
              </a:rPr>
              <a:t>Write a five-paragraph persuasive essay: an introduction with your claim, three body paragraphs with evidence, and a conclusion.
</a:t>
            </a:r>
            <a:pPr indent="0" marL="0">
              <a:lnSpc>
                <a:spcPct val="118000"/>
              </a:lnSpc>
              <a:buNone/>
            </a:pPr>
            <a:r>
              <a:rPr lang="en-US" sz="1600" dirty="0">
                <a:solidFill>
                  <a:srgbClr val="1B1F24"/>
                </a:solidFill>
                <a:latin typeface="Inter" pitchFamily="34" charset="0"/>
                <a:ea typeface="Inter" pitchFamily="34" charset="-122"/>
                <a:cs typeface="Inter" pitchFamily="34" charset="-120"/>
              </a:rPr>
              <a:t>7th grade English. Due Friday. Exactly as it stands today.
</a:t>
            </a:r>
            <a:pPr indent="0" marL="0">
              <a:lnSpc>
                <a:spcPct val="118000"/>
              </a:lnSpc>
              <a:buNone/>
            </a:pPr>
            <a:r>
              <a:rPr lang="en-US" sz="1600" i="1" dirty="0">
                <a:solidFill>
                  <a:srgbClr val="5B6B7A"/>
                </a:solidFill>
                <a:latin typeface="Inter" pitchFamily="34" charset="0"/>
                <a:ea typeface="Inter" pitchFamily="34" charset="-122"/>
                <a:cs typeface="Inter" pitchFamily="34" charset="-120"/>
              </a:rPr>
              <a:t>“The honest starting version. Improving it is step three.”</a:t>
            </a:r>
            <a:endParaRPr lang="en-US" sz="1600" dirty="0"/>
          </a:p>
        </p:txBody>
      </p:sp>
      <p:sp>
        <p:nvSpPr>
          <p:cNvPr id="18" name="Text 15"/>
          <p:cNvSpPr/>
          <p:nvPr/>
        </p:nvSpPr>
        <p:spPr>
          <a:xfrm>
            <a:off x="640080" y="566928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Three minutes. The real one, not the one you wish you were giving.</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Step 2 · what it's for: build an argument from evidence, answer the strongest objection.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4 · 3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Name what it is for</a:t>
            </a:r>
            <a:endParaRPr lang="en-US" sz="3200" dirty="0"/>
          </a:p>
        </p:txBody>
      </p:sp>
      <p:sp>
        <p:nvSpPr>
          <p:cNvPr id="14" name="Text 11"/>
          <p:cNvSpPr/>
          <p:nvPr/>
        </p:nvSpPr>
        <p:spPr>
          <a:xfrm>
            <a:off x="640080" y="1554480"/>
            <a:ext cx="5394960" cy="393192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One sentence. Not the standard code, and not the format.</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What do you need to see that you cannot see any other way?</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If you cannot finish the sentence, that is the most useful thing you learn today</a:t>
            </a:r>
            <a:endParaRPr lang="en-US" sz="1700" dirty="0"/>
          </a:p>
          <a:p>
            <a:pPr marL="342900" indent="-342900">
              <a:spcAft>
                <a:spcPts val="1000"/>
              </a:spcAft>
              <a:buSzPct val="100000"/>
              <a:buChar char="•"/>
            </a:pPr>
            <a:r>
              <a:rPr lang="en-US" sz="1700" b="1" dirty="0">
                <a:solidFill>
                  <a:srgbClr val="13293D"/>
                </a:solidFill>
                <a:latin typeface="Inter" pitchFamily="34" charset="0"/>
                <a:ea typeface="Inter" pitchFamily="34" charset="-122"/>
                <a:cs typeface="Inter" pitchFamily="34" charset="-120"/>
              </a:rPr>
              <a:t>The person next to you can help you finish it.</a:t>
            </a:r>
            <a:endParaRPr lang="en-US" sz="1700" dirty="0"/>
          </a:p>
        </p:txBody>
      </p:sp>
      <p:sp>
        <p:nvSpPr>
          <p:cNvPr id="15" name="Shape 12"/>
          <p:cNvSpPr/>
          <p:nvPr/>
        </p:nvSpPr>
        <p:spPr>
          <a:xfrm>
            <a:off x="6263640" y="1554480"/>
            <a:ext cx="5394960" cy="3931920"/>
          </a:xfrm>
          <a:prstGeom prst="roundRect">
            <a:avLst>
              <a:gd name="adj" fmla="val 2093"/>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ASSIGNMENT · STEP 2</a:t>
            </a:r>
            <a:endParaRPr lang="en-US" sz="1250" dirty="0"/>
          </a:p>
        </p:txBody>
      </p:sp>
      <p:sp>
        <p:nvSpPr>
          <p:cNvPr id="17" name="Text 14"/>
          <p:cNvSpPr/>
          <p:nvPr/>
        </p:nvSpPr>
        <p:spPr>
          <a:xfrm>
            <a:off x="6537960" y="2121408"/>
            <a:ext cx="4892040" cy="3200400"/>
          </a:xfrm>
          <a:prstGeom prst="rect">
            <a:avLst/>
          </a:prstGeom>
          <a:noFill/>
          <a:ln/>
        </p:spPr>
        <p:txBody>
          <a:bodyPr wrap="square" lIns="0" tIns="0" rIns="0" bIns="0" rtlCol="0" anchor="t"/>
          <a:lstStyle/>
          <a:p>
            <a:pPr indent="0" marL="0">
              <a:lnSpc>
                <a:spcPct val="118000"/>
              </a:lnSpc>
              <a:buNone/>
            </a:pPr>
            <a:r>
              <a:rPr lang="en-US" sz="1600" b="1" dirty="0">
                <a:solidFill>
                  <a:srgbClr val="13293D"/>
                </a:solidFill>
                <a:latin typeface="Inter" pitchFamily="34" charset="0"/>
                <a:ea typeface="Inter" pitchFamily="34" charset="-122"/>
                <a:cs typeface="Inter" pitchFamily="34" charset="-120"/>
              </a:rPr>
              <a:t>What it is actually for:
</a:t>
            </a:r>
            <a:pPr indent="0" marL="0">
              <a:lnSpc>
                <a:spcPct val="118000"/>
              </a:lnSpc>
              <a:buNone/>
            </a:pPr>
            <a:r>
              <a:rPr lang="en-US" sz="1600" dirty="0">
                <a:solidFill>
                  <a:srgbClr val="1B1F24"/>
                </a:solidFill>
                <a:latin typeface="Inter" pitchFamily="34" charset="0"/>
                <a:ea typeface="Inter" pitchFamily="34" charset="-122"/>
                <a:cs typeface="Inter" pitchFamily="34" charset="-120"/>
              </a:rPr>
              <a:t>Whether my students can build an argument from evidence and answer the strongest objection to it.
</a:t>
            </a:r>
            <a:pPr indent="0" marL="0">
              <a:lnSpc>
                <a:spcPct val="118000"/>
              </a:lnSpc>
              <a:buNone/>
            </a:pPr>
            <a:r>
              <a:rPr lang="en-US" sz="1600" b="1" dirty="0">
                <a:solidFill>
                  <a:srgbClr val="13293D"/>
                </a:solidFill>
                <a:latin typeface="Inter" pitchFamily="34" charset="0"/>
                <a:ea typeface="Inter" pitchFamily="34" charset="-122"/>
                <a:cs typeface="Inter" pitchFamily="34" charset="-120"/>
              </a:rPr>
              <a:t>What that sentence told her: </a:t>
            </a:r>
            <a:pPr indent="0" marL="0">
              <a:lnSpc>
                <a:spcPct val="118000"/>
              </a:lnSpc>
              <a:buNone/>
            </a:pPr>
            <a:r>
              <a:rPr lang="en-US" sz="1600" dirty="0">
                <a:solidFill>
                  <a:srgbClr val="1B1F24"/>
                </a:solidFill>
                <a:latin typeface="Inter" pitchFamily="34" charset="0"/>
                <a:ea typeface="Inter" pitchFamily="34" charset="-122"/>
                <a:cs typeface="Inter" pitchFamily="34" charset="-120"/>
              </a:rPr>
              <a:t>the five-paragraph format is not the point. The argument is. So almost everything else can change.</a:t>
            </a:r>
            <a:endParaRPr lang="en-US" sz="1600" dirty="0"/>
          </a:p>
        </p:txBody>
      </p:sp>
      <p:sp>
        <p:nvSpPr>
          <p:cNvPr id="18" name="Text 15"/>
          <p:cNvSpPr/>
          <p:nvPr/>
        </p:nvSpPr>
        <p:spPr>
          <a:xfrm>
            <a:off x="640080" y="566928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Three minutes. Write the sentence down; do not just think it.</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Step 3 · her one thing: two claims from Tuesday's debate, and who made them.</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4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Add the one thing</a:t>
            </a:r>
            <a:endParaRPr lang="en-US" sz="3200" dirty="0"/>
          </a:p>
        </p:txBody>
      </p:sp>
      <p:sp>
        <p:nvSpPr>
          <p:cNvPr id="14" name="Shape 11"/>
          <p:cNvSpPr/>
          <p:nvPr/>
        </p:nvSpPr>
        <p:spPr>
          <a:xfrm>
            <a:off x="640080" y="1572768"/>
            <a:ext cx="384048" cy="384048"/>
          </a:xfrm>
          <a:prstGeom prst="roundRect">
            <a:avLst>
              <a:gd name="adj" fmla="val 50000"/>
            </a:avLst>
          </a:prstGeom>
          <a:solidFill>
            <a:srgbClr val="2A9D8F"/>
          </a:solidFill>
          <a:ln w="12700">
            <a:solidFill>
              <a:srgbClr val="2A9D8F"/>
            </a:solidFill>
            <a:prstDash val="solid"/>
          </a:ln>
        </p:spPr>
      </p:sp>
      <p:sp>
        <p:nvSpPr>
          <p:cNvPr id="15" name="Text 12"/>
          <p:cNvSpPr/>
          <p:nvPr/>
        </p:nvSpPr>
        <p:spPr>
          <a:xfrm>
            <a:off x="64008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16" name="Text 13"/>
          <p:cNvSpPr/>
          <p:nvPr/>
        </p:nvSpPr>
        <p:spPr>
          <a:xfrm>
            <a:off x="1170432" y="1572768"/>
            <a:ext cx="4846320" cy="384048"/>
          </a:xfrm>
          <a:prstGeom prst="rect">
            <a:avLst/>
          </a:prstGeom>
          <a:noFill/>
          <a:ln/>
        </p:spPr>
        <p:txBody>
          <a:bodyPr wrap="square" lIns="0" tIns="0" rIns="0" bIns="0" rtlCol="0" anchor="ctr"/>
          <a:lstStyle/>
          <a:p>
            <a:pPr indent="0" marL="0">
              <a:buNone/>
            </a:pPr>
            <a:r>
              <a:rPr lang="en-US" sz="1500" b="1" spc="100" kern="0" dirty="0">
                <a:solidFill>
                  <a:srgbClr val="2A9D8F"/>
                </a:solidFill>
                <a:latin typeface="Inter" pitchFamily="34" charset="0"/>
                <a:ea typeface="Inter" pitchFamily="34" charset="-122"/>
                <a:cs typeface="Inter" pitchFamily="34" charset="-120"/>
              </a:rPr>
              <a:t>FROM THIS ROOM</a:t>
            </a:r>
            <a:endParaRPr lang="en-US" sz="1500" dirty="0"/>
          </a:p>
        </p:txBody>
      </p:sp>
      <p:sp>
        <p:nvSpPr>
          <p:cNvPr id="17" name="Text 14"/>
          <p:cNvSpPr/>
          <p:nvPr/>
        </p:nvSpPr>
        <p:spPr>
          <a:xfrm>
            <a:off x="1170432" y="1956816"/>
            <a:ext cx="4846320" cy="36576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Tuesday’s discussion, our lab, our data</a:t>
            </a:r>
            <a:endParaRPr lang="en-US" sz="1500" dirty="0"/>
          </a:p>
        </p:txBody>
      </p:sp>
      <p:sp>
        <p:nvSpPr>
          <p:cNvPr id="18" name="Shape 15"/>
          <p:cNvSpPr/>
          <p:nvPr/>
        </p:nvSpPr>
        <p:spPr>
          <a:xfrm>
            <a:off x="640080" y="2441448"/>
            <a:ext cx="384048" cy="384048"/>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640080" y="2441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20" name="Text 17"/>
          <p:cNvSpPr/>
          <p:nvPr/>
        </p:nvSpPr>
        <p:spPr>
          <a:xfrm>
            <a:off x="1170432" y="2441448"/>
            <a:ext cx="4846320" cy="384048"/>
          </a:xfrm>
          <a:prstGeom prst="rect">
            <a:avLst/>
          </a:prstGeom>
          <a:noFill/>
          <a:ln/>
        </p:spPr>
        <p:txBody>
          <a:bodyPr wrap="square" lIns="0" tIns="0" rIns="0" bIns="0" rtlCol="0" anchor="ctr"/>
          <a:lstStyle/>
          <a:p>
            <a:pPr indent="0" marL="0">
              <a:buNone/>
            </a:pPr>
            <a:r>
              <a:rPr lang="en-US" sz="1500" b="1" spc="100" kern="0" dirty="0">
                <a:solidFill>
                  <a:srgbClr val="13293D"/>
                </a:solidFill>
                <a:latin typeface="Inter" pitchFamily="34" charset="0"/>
                <a:ea typeface="Inter" pitchFamily="34" charset="-122"/>
                <a:cs typeface="Inter" pitchFamily="34" charset="-120"/>
              </a:rPr>
              <a:t>FROM THIS STUDENT</a:t>
            </a:r>
            <a:endParaRPr lang="en-US" sz="1500" dirty="0"/>
          </a:p>
        </p:txBody>
      </p:sp>
      <p:sp>
        <p:nvSpPr>
          <p:cNvPr id="21" name="Text 18"/>
          <p:cNvSpPr/>
          <p:nvPr/>
        </p:nvSpPr>
        <p:spPr>
          <a:xfrm>
            <a:off x="1170432" y="2825496"/>
            <a:ext cx="4846320" cy="36576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Their reasoning, their choice, their trade-off</a:t>
            </a:r>
            <a:endParaRPr lang="en-US" sz="1500" dirty="0"/>
          </a:p>
        </p:txBody>
      </p:sp>
      <p:sp>
        <p:nvSpPr>
          <p:cNvPr id="22" name="Shape 19"/>
          <p:cNvSpPr/>
          <p:nvPr/>
        </p:nvSpPr>
        <p:spPr>
          <a:xfrm>
            <a:off x="640080" y="3310128"/>
            <a:ext cx="384048" cy="384048"/>
          </a:xfrm>
          <a:prstGeom prst="roundRect">
            <a:avLst>
              <a:gd name="adj" fmla="val 50000"/>
            </a:avLst>
          </a:prstGeom>
          <a:solidFill>
            <a:srgbClr val="B07914"/>
          </a:solidFill>
          <a:ln w="12700">
            <a:solidFill>
              <a:srgbClr val="B07914"/>
            </a:solidFill>
            <a:prstDash val="solid"/>
          </a:ln>
        </p:spPr>
      </p:sp>
      <p:sp>
        <p:nvSpPr>
          <p:cNvPr id="23" name="Text 20"/>
          <p:cNvSpPr/>
          <p:nvPr/>
        </p:nvSpPr>
        <p:spPr>
          <a:xfrm>
            <a:off x="64008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24" name="Text 21"/>
          <p:cNvSpPr/>
          <p:nvPr/>
        </p:nvSpPr>
        <p:spPr>
          <a:xfrm>
            <a:off x="1170432" y="3310128"/>
            <a:ext cx="4846320" cy="384048"/>
          </a:xfrm>
          <a:prstGeom prst="rect">
            <a:avLst/>
          </a:prstGeom>
          <a:noFill/>
          <a:ln/>
        </p:spPr>
        <p:txBody>
          <a:bodyPr wrap="square" lIns="0" tIns="0" rIns="0" bIns="0" rtlCol="0" anchor="ctr"/>
          <a:lstStyle/>
          <a:p>
            <a:pPr indent="0" marL="0">
              <a:buNone/>
            </a:pPr>
            <a:r>
              <a:rPr lang="en-US" sz="1500" b="1" spc="100" kern="0" dirty="0">
                <a:solidFill>
                  <a:srgbClr val="B07914"/>
                </a:solidFill>
                <a:latin typeface="Inter" pitchFamily="34" charset="0"/>
                <a:ea typeface="Inter" pitchFamily="34" charset="-122"/>
                <a:cs typeface="Inter" pitchFamily="34" charset="-120"/>
              </a:rPr>
              <a:t>IN FRONT OF YOU</a:t>
            </a:r>
            <a:endParaRPr lang="en-US" sz="1500" dirty="0"/>
          </a:p>
        </p:txBody>
      </p:sp>
      <p:sp>
        <p:nvSpPr>
          <p:cNvPr id="25" name="Text 22"/>
          <p:cNvSpPr/>
          <p:nvPr/>
        </p:nvSpPr>
        <p:spPr>
          <a:xfrm>
            <a:off x="1170432" y="3694176"/>
            <a:ext cx="4846320" cy="36576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 quick-write, the plan, two minutes out loud</a:t>
            </a:r>
            <a:endParaRPr lang="en-US" sz="1500" dirty="0"/>
          </a:p>
        </p:txBody>
      </p:sp>
      <p:sp>
        <p:nvSpPr>
          <p:cNvPr id="26" name="Shape 23"/>
          <p:cNvSpPr/>
          <p:nvPr/>
        </p:nvSpPr>
        <p:spPr>
          <a:xfrm>
            <a:off x="640080" y="4224528"/>
            <a:ext cx="5394960" cy="1234440"/>
          </a:xfrm>
          <a:prstGeom prst="roundRect">
            <a:avLst>
              <a:gd name="adj" fmla="val 6667"/>
            </a:avLst>
          </a:prstGeom>
          <a:solidFill>
            <a:srgbClr val="F7F5F0"/>
          </a:solidFill>
          <a:ln w="12700">
            <a:solidFill>
              <a:srgbClr val="F7F5F0"/>
            </a:solidFill>
            <a:prstDash val="solid"/>
          </a:ln>
        </p:spPr>
      </p:sp>
      <p:sp>
        <p:nvSpPr>
          <p:cNvPr id="27" name="Text 24"/>
          <p:cNvSpPr/>
          <p:nvPr/>
        </p:nvSpPr>
        <p:spPr>
          <a:xfrm>
            <a:off x="914400" y="4224528"/>
            <a:ext cx="4846320" cy="1234440"/>
          </a:xfrm>
          <a:prstGeom prst="rect">
            <a:avLst/>
          </a:prstGeom>
          <a:noFill/>
          <a:ln/>
        </p:spPr>
        <p:txBody>
          <a:bodyPr wrap="square" lIns="0" tIns="0" rIns="0" bIns="0" rtlCol="0" anchor="ctr"/>
          <a:lstStyle/>
          <a:p>
            <a:pPr indent="0" marL="0">
              <a:lnSpc>
                <a:spcPct val="110000"/>
              </a:lnSpc>
              <a:buNone/>
            </a:pPr>
            <a:r>
              <a:rPr lang="en-US" sz="1600" b="1" dirty="0">
                <a:solidFill>
                  <a:srgbClr val="13293D"/>
                </a:solidFill>
                <a:latin typeface="Inter" pitchFamily="34" charset="0"/>
                <a:ea typeface="Inter" pitchFamily="34" charset="-122"/>
                <a:cs typeface="Inter" pitchFamily="34" charset="-120"/>
              </a:rPr>
              <a:t>The test I will ask as I come around: </a:t>
            </a:r>
            <a:pPr indent="0" marL="0">
              <a:lnSpc>
                <a:spcPct val="110000"/>
              </a:lnSpc>
              <a:buNone/>
            </a:pPr>
            <a:r>
              <a:rPr lang="en-US" sz="1600" i="1" dirty="0">
                <a:solidFill>
                  <a:srgbClr val="1B1F24"/>
                </a:solidFill>
                <a:latin typeface="Inter" pitchFamily="34" charset="0"/>
                <a:ea typeface="Inter" pitchFamily="34" charset="-122"/>
                <a:cs typeface="Inter" pitchFamily="34" charset="-120"/>
              </a:rPr>
              <a:t>could a chatbot fake this?</a:t>
            </a:r>
            <a:endParaRPr lang="en-US" sz="1600" dirty="0"/>
          </a:p>
        </p:txBody>
      </p:sp>
      <p:sp>
        <p:nvSpPr>
          <p:cNvPr id="28" name="Shape 25"/>
          <p:cNvSpPr/>
          <p:nvPr/>
        </p:nvSpPr>
        <p:spPr>
          <a:xfrm>
            <a:off x="6263640" y="1554480"/>
            <a:ext cx="5394960" cy="3931920"/>
          </a:xfrm>
          <a:prstGeom prst="roundRect">
            <a:avLst>
              <a:gd name="adj" fmla="val 2093"/>
            </a:avLst>
          </a:prstGeom>
          <a:solidFill>
            <a:srgbClr val="EAF5F3"/>
          </a:solidFill>
          <a:ln w="12700">
            <a:solidFill>
              <a:srgbClr val="EAF5F3"/>
            </a:solidFill>
            <a:prstDash val="solid"/>
          </a:ln>
        </p:spPr>
      </p:sp>
      <p:sp>
        <p:nvSpPr>
          <p:cNvPr id="29" name="Text 26"/>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ASSIGNMENT · STEP 3</a:t>
            </a:r>
            <a:endParaRPr lang="en-US" sz="1250" dirty="0"/>
          </a:p>
        </p:txBody>
      </p:sp>
      <p:sp>
        <p:nvSpPr>
          <p:cNvPr id="30" name="Text 27"/>
          <p:cNvSpPr/>
          <p:nvPr/>
        </p:nvSpPr>
        <p:spPr>
          <a:xfrm>
            <a:off x="6537960" y="2121408"/>
            <a:ext cx="4892040" cy="3200400"/>
          </a:xfrm>
          <a:prstGeom prst="rect">
            <a:avLst/>
          </a:prstGeom>
          <a:noFill/>
          <a:ln/>
        </p:spPr>
        <p:txBody>
          <a:bodyPr wrap="square" lIns="0" tIns="0" rIns="0" bIns="0" rtlCol="0" anchor="t"/>
          <a:lstStyle/>
          <a:p>
            <a:pPr indent="0" marL="0">
              <a:lnSpc>
                <a:spcPct val="118000"/>
              </a:lnSpc>
              <a:buNone/>
            </a:pPr>
            <a:r>
              <a:rPr lang="en-US" sz="1600" dirty="0">
                <a:solidFill>
                  <a:srgbClr val="1B1F24"/>
                </a:solidFill>
                <a:latin typeface="Inter" pitchFamily="34" charset="0"/>
                <a:ea typeface="Inter" pitchFamily="34" charset="-122"/>
                <a:cs typeface="Inter" pitchFamily="34" charset="-120"/>
              </a:rPr>
              <a:t>She took door number one, from this room:
</a:t>
            </a:r>
            <a:pPr indent="0" marL="0">
              <a:lnSpc>
                <a:spcPct val="118000"/>
              </a:lnSpc>
              <a:buNone/>
            </a:pPr>
            <a:r>
              <a:rPr lang="en-US" sz="1600" b="1" dirty="0">
                <a:solidFill>
                  <a:srgbClr val="13293D"/>
                </a:solidFill>
                <a:latin typeface="Inter" pitchFamily="34" charset="0"/>
                <a:ea typeface="Inter" pitchFamily="34" charset="-122"/>
                <a:cs typeface="Inter" pitchFamily="34" charset="-120"/>
              </a:rPr>
              <a:t>“Use at least two claims from our Tuesday debate and name who made them. Then explain why the strongest counter-argument in the room did not change your mind.”
</a:t>
            </a:r>
            <a:pPr indent="0" marL="0">
              <a:lnSpc>
                <a:spcPct val="118000"/>
              </a:lnSpc>
              <a:buNone/>
            </a:pPr>
            <a:r>
              <a:rPr lang="en-US" sz="1600" i="1" dirty="0">
                <a:solidFill>
                  <a:srgbClr val="5B6B7A"/>
                </a:solidFill>
                <a:latin typeface="Inter" pitchFamily="34" charset="0"/>
                <a:ea typeface="Inter" pitchFamily="34" charset="-122"/>
                <a:cs typeface="Inter" pitchFamily="34" charset="-120"/>
              </a:rPr>
              <a:t>“If the answer is ‘only if it was in my room,’ you are done.”</a:t>
            </a:r>
            <a:endParaRPr lang="en-US" sz="1600" dirty="0"/>
          </a:p>
        </p:txBody>
      </p:sp>
      <p:sp>
        <p:nvSpPr>
          <p:cNvPr id="31" name="Text 28"/>
          <p:cNvSpPr/>
          <p:nvPr/>
        </p:nvSpPr>
        <p:spPr>
          <a:xfrm>
            <a:off x="640080" y="566928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Six minutes, the longest step. One sentence added to your assignment.</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Step 4 · her label: AI-assisted; the debate claims have to be yours.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4 OF 4 · 3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Write the one line</a:t>
            </a:r>
            <a:endParaRPr lang="en-US" sz="3200" dirty="0"/>
          </a:p>
        </p:txBody>
      </p:sp>
      <p:sp>
        <p:nvSpPr>
          <p:cNvPr id="14" name="Text 11"/>
          <p:cNvSpPr/>
          <p:nvPr/>
        </p:nvSpPr>
        <p:spPr>
          <a:xfrm>
            <a:off x="640080" y="1554480"/>
            <a:ext cx="5394960" cy="393192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Where AI stands on this assignment, in words a twelve-year-old repeats back</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“AI-free, this one is in class on paper” is a complete answer</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One line. Not a policy, not a paragraph, not a form.</a:t>
            </a:r>
            <a:endParaRPr lang="en-US" sz="1700" dirty="0"/>
          </a:p>
          <a:p>
            <a:pPr marL="342900" indent="-342900">
              <a:spcAft>
                <a:spcPts val="1000"/>
              </a:spcAft>
              <a:buSzPct val="100000"/>
              <a:buChar char="•"/>
            </a:pPr>
            <a:r>
              <a:rPr lang="en-US" sz="1700" b="1" dirty="0">
                <a:solidFill>
                  <a:srgbClr val="13293D"/>
                </a:solidFill>
                <a:latin typeface="Inter" pitchFamily="34" charset="0"/>
                <a:ea typeface="Inter" pitchFamily="34" charset="-122"/>
                <a:cs typeface="Inter" pitchFamily="34" charset="-120"/>
              </a:rPr>
              <a:t>The only wrong version is no line at all.</a:t>
            </a:r>
            <a:endParaRPr lang="en-US" sz="1700" dirty="0"/>
          </a:p>
        </p:txBody>
      </p:sp>
      <p:sp>
        <p:nvSpPr>
          <p:cNvPr id="15" name="Shape 12"/>
          <p:cNvSpPr/>
          <p:nvPr/>
        </p:nvSpPr>
        <p:spPr>
          <a:xfrm>
            <a:off x="6263640" y="1554480"/>
            <a:ext cx="5394960" cy="3931920"/>
          </a:xfrm>
          <a:prstGeom prst="roundRect">
            <a:avLst>
              <a:gd name="adj" fmla="val 2093"/>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ASSIGNMENT · STEP 4</a:t>
            </a:r>
            <a:endParaRPr lang="en-US" sz="1250" dirty="0"/>
          </a:p>
        </p:txBody>
      </p:sp>
      <p:sp>
        <p:nvSpPr>
          <p:cNvPr id="17" name="Text 14"/>
          <p:cNvSpPr/>
          <p:nvPr/>
        </p:nvSpPr>
        <p:spPr>
          <a:xfrm>
            <a:off x="6537960" y="2121408"/>
            <a:ext cx="4892040" cy="3200400"/>
          </a:xfrm>
          <a:prstGeom prst="rect">
            <a:avLst/>
          </a:prstGeom>
          <a:noFill/>
          <a:ln/>
        </p:spPr>
        <p:txBody>
          <a:bodyPr wrap="square" lIns="0" tIns="0" rIns="0" bIns="0" rtlCol="0" anchor="t"/>
          <a:lstStyle/>
          <a:p>
            <a:pPr indent="0" marL="0">
              <a:lnSpc>
                <a:spcPct val="118000"/>
              </a:lnSpc>
              <a:buNone/>
            </a:pPr>
            <a:r>
              <a:rPr lang="en-US" sz="1600" dirty="0">
                <a:solidFill>
                  <a:srgbClr val="1B1F24"/>
                </a:solidFill>
                <a:latin typeface="Inter" pitchFamily="34" charset="0"/>
                <a:ea typeface="Inter" pitchFamily="34" charset="-122"/>
                <a:cs typeface="Inter" pitchFamily="34" charset="-120"/>
              </a:rPr>
              <a:t>Her one line, printed at the bottom of the sheet:
</a:t>
            </a:r>
            <a:pPr indent="0" marL="0">
              <a:lnSpc>
                <a:spcPct val="118000"/>
              </a:lnSpc>
              <a:buNone/>
            </a:pPr>
            <a:r>
              <a:rPr lang="en-US" sz="1600" b="1" dirty="0">
                <a:solidFill>
                  <a:srgbClr val="13293D"/>
                </a:solidFill>
                <a:latin typeface="Inter" pitchFamily="34" charset="0"/>
                <a:ea typeface="Inter" pitchFamily="34" charset="-122"/>
                <a:cs typeface="Inter" pitchFamily="34" charset="-120"/>
              </a:rPr>
              <a:t>“AI-assisted. Brainstorming and feedback are fine. The debate claims and your response to them have to be yours.”
</a:t>
            </a:r>
            <a:pPr indent="0" marL="0">
              <a:lnSpc>
                <a:spcPct val="118000"/>
              </a:lnSpc>
              <a:buNone/>
            </a:pPr>
            <a:r>
              <a:rPr lang="en-US" sz="1600" i="1" dirty="0">
                <a:solidFill>
                  <a:srgbClr val="5B6B7A"/>
                </a:solidFill>
                <a:latin typeface="Inter" pitchFamily="34" charset="0"/>
                <a:ea typeface="Inter" pitchFamily="34" charset="-122"/>
                <a:cs typeface="Inter" pitchFamily="34" charset="-120"/>
              </a:rPr>
              <a:t>“Thirty students inventing thirty different rules is how honest kids guess wrong.”</a:t>
            </a:r>
            <a:endParaRPr lang="en-US" sz="1600" dirty="0"/>
          </a:p>
        </p:txBody>
      </p:sp>
      <p:sp>
        <p:nvSpPr>
          <p:cNvPr id="18" name="Text 15"/>
          <p:cNvSpPr/>
          <p:nvPr/>
        </p:nvSpPr>
        <p:spPr>
          <a:xfrm>
            <a:off x="640080" y="566928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Three minutes. One line, in student words.</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TOOL, SAME FOUR SECONDS, THE REBUILT ASSIGNMENT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came back this time</a:t>
            </a:r>
            <a:endParaRPr lang="en-US" sz="3200" dirty="0"/>
          </a:p>
        </p:txBody>
      </p:sp>
      <p:sp>
        <p:nvSpPr>
          <p:cNvPr id="7" name="Shape 4"/>
          <p:cNvSpPr/>
          <p:nvPr/>
        </p:nvSpPr>
        <p:spPr>
          <a:xfrm>
            <a:off x="640080" y="1188720"/>
            <a:ext cx="10972800" cy="3931920"/>
          </a:xfrm>
          <a:prstGeom prst="roundRect">
            <a:avLst>
              <a:gd name="adj" fmla="val 2326"/>
            </a:avLst>
          </a:prstGeom>
          <a:solidFill>
            <a:srgbClr val="FFFFFF"/>
          </a:solidFill>
          <a:ln w="19050">
            <a:solidFill>
              <a:srgbClr val="DCE3EA"/>
            </a:solidFill>
            <a:prstDash val="solid"/>
          </a:ln>
        </p:spPr>
      </p:sp>
      <p:sp>
        <p:nvSpPr>
          <p:cNvPr id="8" name="Shape 5"/>
          <p:cNvSpPr/>
          <p:nvPr/>
        </p:nvSpPr>
        <p:spPr>
          <a:xfrm>
            <a:off x="640080" y="11887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075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075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075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1887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after</a:t>
            </a:r>
            <a:endParaRPr lang="en-US" sz="1100" dirty="0"/>
          </a:p>
        </p:txBody>
      </p:sp>
      <p:sp>
        <p:nvSpPr>
          <p:cNvPr id="13" name="Shape 10"/>
          <p:cNvSpPr/>
          <p:nvPr/>
        </p:nvSpPr>
        <p:spPr>
          <a:xfrm>
            <a:off x="1554480" y="1783080"/>
            <a:ext cx="9646920" cy="3108960"/>
          </a:xfrm>
          <a:prstGeom prst="roundRect">
            <a:avLst>
              <a:gd name="adj" fmla="val 3529"/>
            </a:avLst>
          </a:prstGeom>
          <a:solidFill>
            <a:srgbClr val="F7F5F0"/>
          </a:solidFill>
          <a:ln w="12700">
            <a:solidFill>
              <a:srgbClr val="F7F5F0"/>
            </a:solidFill>
            <a:prstDash val="solid"/>
          </a:ln>
        </p:spPr>
      </p:sp>
      <p:sp>
        <p:nvSpPr>
          <p:cNvPr id="14" name="Text 11"/>
          <p:cNvSpPr/>
          <p:nvPr/>
        </p:nvSpPr>
        <p:spPr>
          <a:xfrm>
            <a:off x="1783080" y="1874520"/>
            <a:ext cx="9189720" cy="274320"/>
          </a:xfrm>
          <a:prstGeom prst="rect">
            <a:avLst/>
          </a:prstGeom>
          <a:noFill/>
          <a:ln/>
        </p:spPr>
        <p:txBody>
          <a:bodyPr wrap="square" lIns="0" tIns="0" rIns="0" bIns="0" rtlCol="0" anchor="ctr"/>
          <a:lstStyle/>
          <a:p>
            <a:pPr indent="0" marL="0">
              <a:buNone/>
            </a:pPr>
            <a:r>
              <a:rPr lang="en-US" sz="1150" b="1" spc="140" kern="0" dirty="0">
                <a:solidFill>
                  <a:srgbClr val="5B6B7A"/>
                </a:solidFill>
                <a:latin typeface="Inter" pitchFamily="34" charset="0"/>
                <a:ea typeface="Inter" pitchFamily="34" charset="-122"/>
                <a:cs typeface="Inter" pitchFamily="34" charset="-120"/>
              </a:rPr>
              <a:t>WHAT THE TOOL SENT BACK · BODY PARAGRAPH 3</a:t>
            </a:r>
            <a:endParaRPr lang="en-US" sz="1150" dirty="0"/>
          </a:p>
        </p:txBody>
      </p:sp>
      <p:sp>
        <p:nvSpPr>
          <p:cNvPr id="15" name="Text 12"/>
          <p:cNvSpPr/>
          <p:nvPr/>
        </p:nvSpPr>
        <p:spPr>
          <a:xfrm>
            <a:off x="1783080" y="2194560"/>
            <a:ext cx="9189720" cy="1371600"/>
          </a:xfrm>
          <a:prstGeom prst="rect">
            <a:avLst/>
          </a:prstGeom>
          <a:noFill/>
          <a:ln/>
        </p:spPr>
        <p:txBody>
          <a:bodyPr wrap="square" lIns="0" tIns="0" rIns="0" bIns="0" rtlCol="0" anchor="t"/>
          <a:lstStyle/>
          <a:p>
            <a:pPr indent="0" marL="0">
              <a:lnSpc>
                <a:spcPct val="114000"/>
              </a:lnSpc>
              <a:buNone/>
            </a:pPr>
            <a:r>
              <a:rPr lang="en-US" sz="1700" dirty="0">
                <a:solidFill>
                  <a:srgbClr val="1B1F24"/>
                </a:solidFill>
                <a:latin typeface="Inter" pitchFamily="34" charset="0"/>
                <a:ea typeface="Inter" pitchFamily="34" charset="-122"/>
                <a:cs typeface="Inter" pitchFamily="34" charset="-120"/>
              </a:rPr>
              <a:t>“Furthermore, as </a:t>
            </a:r>
            <a:pPr indent="0" marL="0">
              <a:lnSpc>
                <a:spcPct val="114000"/>
              </a:lnSpc>
              <a:buNone/>
            </a:pPr>
            <a:r>
              <a:rPr lang="en-US" sz="1700" b="1" dirty="0">
                <a:solidFill>
                  <a:srgbClr val="B4453A"/>
                </a:solidFill>
                <a:latin typeface="Inter" pitchFamily="34" charset="0"/>
                <a:ea typeface="Inter" pitchFamily="34" charset="-122"/>
                <a:cs typeface="Inter" pitchFamily="34" charset="-120"/>
              </a:rPr>
              <a:t>[classmate’s name]</a:t>
            </a:r>
            <a:pPr indent="0" marL="0">
              <a:lnSpc>
                <a:spcPct val="114000"/>
              </a:lnSpc>
              <a:buNone/>
            </a:pPr>
            <a:r>
              <a:rPr lang="en-US" sz="1700" dirty="0">
                <a:solidFill>
                  <a:srgbClr val="1B1F24"/>
                </a:solidFill>
                <a:latin typeface="Inter" pitchFamily="34" charset="0"/>
                <a:ea typeface="Inter" pitchFamily="34" charset="-122"/>
                <a:cs typeface="Inter" pitchFamily="34" charset="-120"/>
              </a:rPr>
              <a:t> argued in our debate, a later start would let students arrive alert and prepared. Another classmate pointed out that </a:t>
            </a:r>
            <a:pPr indent="0" marL="0">
              <a:lnSpc>
                <a:spcPct val="114000"/>
              </a:lnSpc>
              <a:buNone/>
            </a:pPr>
            <a:r>
              <a:rPr lang="en-US" sz="1700" b="1" dirty="0">
                <a:solidFill>
                  <a:srgbClr val="B4453A"/>
                </a:solidFill>
                <a:latin typeface="Inter" pitchFamily="34" charset="0"/>
                <a:ea typeface="Inter" pitchFamily="34" charset="-122"/>
                <a:cs typeface="Inter" pitchFamily="34" charset="-120"/>
              </a:rPr>
              <a:t>running the buses later would actually reduce district costs</a:t>
            </a:r>
            <a:pPr indent="0" marL="0">
              <a:lnSpc>
                <a:spcPct val="114000"/>
              </a:lnSpc>
              <a:buNone/>
            </a:pPr>
            <a:r>
              <a:rPr lang="en-US" sz="1700" dirty="0">
                <a:solidFill>
                  <a:srgbClr val="1B1F24"/>
                </a:solidFill>
                <a:latin typeface="Inter" pitchFamily="34" charset="0"/>
                <a:ea typeface="Inter" pitchFamily="34" charset="-122"/>
                <a:cs typeface="Inter" pitchFamily="34" charset="-120"/>
              </a:rPr>
              <a:t>, which strengthens the practical case for the change.”</a:t>
            </a:r>
            <a:endParaRPr lang="en-US" sz="1700" dirty="0"/>
          </a:p>
        </p:txBody>
      </p:sp>
      <p:sp>
        <p:nvSpPr>
          <p:cNvPr id="16" name="Text 13"/>
          <p:cNvSpPr/>
          <p:nvPr/>
        </p:nvSpPr>
        <p:spPr>
          <a:xfrm>
            <a:off x="1783080" y="3657600"/>
            <a:ext cx="9189720" cy="822960"/>
          </a:xfrm>
          <a:prstGeom prst="rect">
            <a:avLst/>
          </a:prstGeom>
          <a:noFill/>
          <a:ln/>
        </p:spPr>
        <p:txBody>
          <a:bodyPr wrap="square" lIns="0" tIns="0" rIns="0" bIns="0" rtlCol="0" anchor="t"/>
          <a:lstStyle/>
          <a:p>
            <a:pPr indent="0" marL="0">
              <a:lnSpc>
                <a:spcPct val="110000"/>
              </a:lnSpc>
              <a:buNone/>
            </a:pPr>
            <a:r>
              <a:rPr lang="en-US" sz="1500" b="1" dirty="0">
                <a:solidFill>
                  <a:srgbClr val="B4453A"/>
                </a:solidFill>
                <a:latin typeface="Inter" pitchFamily="34" charset="0"/>
                <a:ea typeface="Inter" pitchFamily="34" charset="-122"/>
                <a:cs typeface="Inter" pitchFamily="34" charset="-120"/>
              </a:rPr>
              <a:t>It left her a blank, because it was not in the room. </a:t>
            </a:r>
            <a:pPr indent="0" marL="0">
              <a:lnSpc>
                <a:spcPct val="110000"/>
              </a:lnSpc>
              <a:buNone/>
            </a:pPr>
            <a:r>
              <a:rPr lang="en-US" sz="1500" dirty="0">
                <a:solidFill>
                  <a:srgbClr val="1B1F24"/>
                </a:solidFill>
                <a:latin typeface="Inter" pitchFamily="34" charset="0"/>
                <a:ea typeface="Inter" pitchFamily="34" charset="-122"/>
                <a:cs typeface="Inter" pitchFamily="34" charset="-120"/>
              </a:rPr>
              <a:t>Then it guessed, confidently, about the buses. Nobody said that. She was there.</a:t>
            </a:r>
            <a:endParaRPr lang="en-US" sz="1500" dirty="0"/>
          </a:p>
        </p:txBody>
      </p:sp>
      <p:sp>
        <p:nvSpPr>
          <p:cNvPr id="17" name="Text 14"/>
          <p:cNvSpPr/>
          <p:nvPr/>
        </p:nvSpPr>
        <p:spPr>
          <a:xfrm>
            <a:off x="1783080" y="4526280"/>
            <a:ext cx="9189720" cy="274320"/>
          </a:xfrm>
          <a:prstGeom prst="rect">
            <a:avLst/>
          </a:prstGeom>
          <a:noFill/>
          <a:ln/>
        </p:spPr>
        <p:txBody>
          <a:bodyPr wrap="square" lIns="0" tIns="0" rIns="0" bIns="0" rtlCol="0" anchor="ctr"/>
          <a:lstStyle/>
          <a:p>
            <a:pPr indent="0" marL="0">
              <a:buNone/>
            </a:pPr>
            <a:r>
              <a:rPr lang="en-US" sz="1100" i="1" dirty="0">
                <a:solidFill>
                  <a:srgbClr val="5B6B7A"/>
                </a:solidFill>
                <a:latin typeface="Inter" pitchFamily="34" charset="0"/>
                <a:ea typeface="Inter" pitchFamily="34" charset="-122"/>
                <a:cs typeface="Inter" pitchFamily="34" charset="-120"/>
              </a:rPr>
              <a:t>Illustration of a typical response. Your tool’s wording will differ; the failure will not.</a:t>
            </a:r>
            <a:endParaRPr lang="en-US" sz="1100" dirty="0"/>
          </a:p>
        </p:txBody>
      </p:sp>
      <p:sp>
        <p:nvSpPr>
          <p:cNvPr id="18" name="Shape 15"/>
          <p:cNvSpPr/>
          <p:nvPr/>
        </p:nvSpPr>
        <p:spPr>
          <a:xfrm>
            <a:off x="640080" y="5349240"/>
            <a:ext cx="10972800" cy="658368"/>
          </a:xfrm>
          <a:prstGeom prst="roundRect">
            <a:avLst>
              <a:gd name="adj" fmla="val 12500"/>
            </a:avLst>
          </a:prstGeom>
          <a:solidFill>
            <a:srgbClr val="13293D"/>
          </a:solidFill>
          <a:ln w="12700">
            <a:solidFill>
              <a:srgbClr val="13293D"/>
            </a:solidFill>
            <a:prstDash val="solid"/>
          </a:ln>
        </p:spPr>
      </p:sp>
      <p:sp>
        <p:nvSpPr>
          <p:cNvPr id="19" name="Text 16"/>
          <p:cNvSpPr/>
          <p:nvPr/>
        </p:nvSpPr>
        <p:spPr>
          <a:xfrm>
            <a:off x="960120" y="5349240"/>
            <a:ext cx="10332720" cy="658368"/>
          </a:xfrm>
          <a:prstGeom prst="rect">
            <a:avLst/>
          </a:prstGeom>
          <a:noFill/>
          <a:ln/>
        </p:spPr>
        <p:txBody>
          <a:bodyPr wrap="square" lIns="0" tIns="0" rIns="0" bIns="0" rtlCol="0" anchor="ctr"/>
          <a:lstStyle/>
          <a:p>
            <a:pPr algn="ctr" indent="0" marL="0">
              <a:buNone/>
            </a:pPr>
            <a:r>
              <a:rPr lang="en-US" sz="1700" b="1" dirty="0">
                <a:solidFill>
                  <a:srgbClr val="2A9D8F"/>
                </a:solidFill>
                <a:latin typeface="Inter" pitchFamily="34" charset="0"/>
                <a:ea typeface="Inter" pitchFamily="34" charset="-122"/>
                <a:cs typeface="Inter" pitchFamily="34" charset="-120"/>
              </a:rPr>
              <a:t>Notice what this is not: catching anybody. </a:t>
            </a:r>
            <a:pPr algn="ctr" indent="0" marL="0">
              <a:buNone/>
            </a:pPr>
            <a:r>
              <a:rPr lang="en-US" sz="1700" dirty="0">
                <a:solidFill>
                  <a:srgbClr val="FFFFFF"/>
                </a:solidFill>
                <a:latin typeface="Inter" pitchFamily="34" charset="0"/>
                <a:ea typeface="Inter" pitchFamily="34" charset="-122"/>
                <a:cs typeface="Inter" pitchFamily="34" charset="-120"/>
              </a:rPr>
              <a:t>It is an assignment a machine cannot finish, read the normal way.</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finished sheet: one sentence longer than it was on Monday.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FINISHED PRODUCT · HER SHEET, WORD FOR WORD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prints Monday morning</a:t>
            </a:r>
            <a:endParaRPr lang="en-US" sz="3200" dirty="0"/>
          </a:p>
        </p:txBody>
      </p:sp>
      <p:sp>
        <p:nvSpPr>
          <p:cNvPr id="14" name="Shape 11"/>
          <p:cNvSpPr/>
          <p:nvPr/>
        </p:nvSpPr>
        <p:spPr>
          <a:xfrm>
            <a:off x="640080" y="1188720"/>
            <a:ext cx="10972800" cy="4160520"/>
          </a:xfrm>
          <a:prstGeom prst="roundRect">
            <a:avLst>
              <a:gd name="adj" fmla="val 1978"/>
            </a:avLst>
          </a:prstGeom>
          <a:solidFill>
            <a:srgbClr val="F7F5F0"/>
          </a:solidFill>
          <a:ln w="12700">
            <a:solidFill>
              <a:srgbClr val="F7F5F0"/>
            </a:solidFill>
            <a:prstDash val="solid"/>
          </a:ln>
        </p:spPr>
      </p:sp>
      <p:sp>
        <p:nvSpPr>
          <p:cNvPr id="15" name="Shape 12"/>
          <p:cNvSpPr/>
          <p:nvPr/>
        </p:nvSpPr>
        <p:spPr>
          <a:xfrm>
            <a:off x="640080" y="1188720"/>
            <a:ext cx="109728" cy="416052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960120" y="1335024"/>
            <a:ext cx="10332720" cy="274320"/>
          </a:xfrm>
          <a:prstGeom prst="rect">
            <a:avLst/>
          </a:prstGeom>
          <a:noFill/>
          <a:ln/>
        </p:spPr>
        <p:txBody>
          <a:bodyPr wrap="square" lIns="0" tIns="0" rIns="0" bIns="0" rtlCol="0" anchor="ctr"/>
          <a:lstStyle/>
          <a:p>
            <a:pPr indent="0" marL="0">
              <a:buNone/>
            </a:pPr>
            <a:r>
              <a:rPr lang="en-US" sz="1150" b="1" spc="140" kern="0" dirty="0">
                <a:solidFill>
                  <a:srgbClr val="2A9D8F"/>
                </a:solidFill>
                <a:latin typeface="Inter" pitchFamily="34" charset="0"/>
                <a:ea typeface="Inter" pitchFamily="34" charset="-122"/>
                <a:cs typeface="Inter" pitchFamily="34" charset="-120"/>
              </a:rPr>
              <a:t>MS. RIVERA · 7TH GRADE ENGLISH · PERSUASIVE ESSAY · DUE FRIDAY</a:t>
            </a:r>
            <a:endParaRPr lang="en-US" sz="1150" dirty="0"/>
          </a:p>
        </p:txBody>
      </p:sp>
      <p:sp>
        <p:nvSpPr>
          <p:cNvPr id="17" name="Text 14"/>
          <p:cNvSpPr/>
          <p:nvPr/>
        </p:nvSpPr>
        <p:spPr>
          <a:xfrm>
            <a:off x="960120" y="1645920"/>
            <a:ext cx="10332720" cy="475488"/>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Should our school day start later?</a:t>
            </a:r>
            <a:endParaRPr lang="en-US" sz="2600" dirty="0"/>
          </a:p>
        </p:txBody>
      </p:sp>
      <p:sp>
        <p:nvSpPr>
          <p:cNvPr id="18" name="Text 15"/>
          <p:cNvSpPr/>
          <p:nvPr/>
        </p:nvSpPr>
        <p:spPr>
          <a:xfrm>
            <a:off x="960120" y="2176272"/>
            <a:ext cx="10332720" cy="731520"/>
          </a:xfrm>
          <a:prstGeom prst="rect">
            <a:avLst/>
          </a:prstGeom>
          <a:noFill/>
          <a:ln/>
        </p:spPr>
        <p:txBody>
          <a:bodyPr wrap="square" lIns="0" tIns="0" rIns="0" bIns="0" rtlCol="0" anchor="t"/>
          <a:lstStyle/>
          <a:p>
            <a:pPr indent="0" marL="0">
              <a:lnSpc>
                <a:spcPct val="114000"/>
              </a:lnSpc>
              <a:buNone/>
            </a:pPr>
            <a:r>
              <a:rPr lang="en-US" sz="1700" dirty="0">
                <a:solidFill>
                  <a:srgbClr val="1B1F24"/>
                </a:solidFill>
                <a:latin typeface="Inter" pitchFamily="34" charset="0"/>
                <a:ea typeface="Inter" pitchFamily="34" charset="-122"/>
                <a:cs typeface="Inter" pitchFamily="34" charset="-120"/>
              </a:rPr>
              <a:t>Write a five-paragraph persuasive essay: an introduction with your claim, three body paragraphs with evidence, and a conclusion.</a:t>
            </a:r>
            <a:endParaRPr lang="en-US" sz="1700" dirty="0"/>
          </a:p>
        </p:txBody>
      </p:sp>
      <p:sp>
        <p:nvSpPr>
          <p:cNvPr id="19" name="Shape 16"/>
          <p:cNvSpPr/>
          <p:nvPr/>
        </p:nvSpPr>
        <p:spPr>
          <a:xfrm>
            <a:off x="960120" y="2962656"/>
            <a:ext cx="10332720" cy="1097280"/>
          </a:xfrm>
          <a:prstGeom prst="roundRect">
            <a:avLst>
              <a:gd name="adj" fmla="val 7500"/>
            </a:avLst>
          </a:prstGeom>
          <a:solidFill>
            <a:srgbClr val="EAF5F3"/>
          </a:solidFill>
          <a:ln w="12700">
            <a:solidFill>
              <a:srgbClr val="EAF5F3"/>
            </a:solidFill>
            <a:prstDash val="solid"/>
          </a:ln>
        </p:spPr>
      </p:sp>
      <p:sp>
        <p:nvSpPr>
          <p:cNvPr id="20" name="Text 17"/>
          <p:cNvSpPr/>
          <p:nvPr/>
        </p:nvSpPr>
        <p:spPr>
          <a:xfrm>
            <a:off x="1234440" y="3035808"/>
            <a:ext cx="5943600" cy="256032"/>
          </a:xfrm>
          <a:prstGeom prst="rect">
            <a:avLst/>
          </a:prstGeom>
          <a:noFill/>
          <a:ln/>
        </p:spPr>
        <p:txBody>
          <a:bodyPr wrap="square" lIns="0" tIns="0" rIns="0" bIns="0" rtlCol="0" anchor="ctr"/>
          <a:lstStyle/>
          <a:p>
            <a:pPr indent="0" marL="0">
              <a:buNone/>
            </a:pPr>
            <a:r>
              <a:rPr lang="en-US" sz="1100" b="1" spc="140" kern="0" dirty="0">
                <a:solidFill>
                  <a:srgbClr val="2A9D8F"/>
                </a:solidFill>
                <a:latin typeface="Inter" pitchFamily="34" charset="0"/>
                <a:ea typeface="Inter" pitchFamily="34" charset="-122"/>
                <a:cs typeface="Inter" pitchFamily="34" charset="-120"/>
              </a:rPr>
              <a:t>ADDED · THE ONE THING AI CANNOT HAND IN</a:t>
            </a:r>
            <a:endParaRPr lang="en-US" sz="1100" dirty="0"/>
          </a:p>
        </p:txBody>
      </p:sp>
      <p:sp>
        <p:nvSpPr>
          <p:cNvPr id="21" name="Text 18"/>
          <p:cNvSpPr/>
          <p:nvPr/>
        </p:nvSpPr>
        <p:spPr>
          <a:xfrm>
            <a:off x="1234440" y="3310128"/>
            <a:ext cx="9784080" cy="676656"/>
          </a:xfrm>
          <a:prstGeom prst="rect">
            <a:avLst/>
          </a:prstGeom>
          <a:noFill/>
          <a:ln/>
        </p:spPr>
        <p:txBody>
          <a:bodyPr wrap="square" lIns="0" tIns="0" rIns="0" bIns="0" rtlCol="0" anchor="ctr"/>
          <a:lstStyle/>
          <a:p>
            <a:pPr indent="0" marL="0">
              <a:lnSpc>
                <a:spcPct val="110000"/>
              </a:lnSpc>
              <a:buNone/>
            </a:pPr>
            <a:r>
              <a:rPr lang="en-US" sz="1700" b="1" dirty="0">
                <a:solidFill>
                  <a:srgbClr val="13293D"/>
                </a:solidFill>
                <a:latin typeface="Inter" pitchFamily="34" charset="0"/>
                <a:ea typeface="Inter" pitchFamily="34" charset="-122"/>
                <a:cs typeface="Inter" pitchFamily="34" charset="-120"/>
              </a:rPr>
              <a:t>“Use at least two claims from our Tuesday debate and name who made them. Then explain why the strongest counter-argument in the room did not change your mind.”</a:t>
            </a:r>
            <a:endParaRPr lang="en-US" sz="1700" dirty="0"/>
          </a:p>
        </p:txBody>
      </p:sp>
      <p:sp>
        <p:nvSpPr>
          <p:cNvPr id="22" name="Shape 19"/>
          <p:cNvSpPr/>
          <p:nvPr/>
        </p:nvSpPr>
        <p:spPr>
          <a:xfrm>
            <a:off x="960120" y="4133088"/>
            <a:ext cx="10332720" cy="960120"/>
          </a:xfrm>
          <a:prstGeom prst="roundRect">
            <a:avLst>
              <a:gd name="adj" fmla="val 8571"/>
            </a:avLst>
          </a:prstGeom>
          <a:solidFill>
            <a:srgbClr val="FDF6E7"/>
          </a:solidFill>
          <a:ln w="12700">
            <a:solidFill>
              <a:srgbClr val="FDF6E7"/>
            </a:solidFill>
            <a:prstDash val="solid"/>
          </a:ln>
        </p:spPr>
      </p:sp>
      <p:sp>
        <p:nvSpPr>
          <p:cNvPr id="23" name="Text 20"/>
          <p:cNvSpPr/>
          <p:nvPr/>
        </p:nvSpPr>
        <p:spPr>
          <a:xfrm>
            <a:off x="1234440" y="4206240"/>
            <a:ext cx="5943600" cy="256032"/>
          </a:xfrm>
          <a:prstGeom prst="rect">
            <a:avLst/>
          </a:prstGeom>
          <a:noFill/>
          <a:ln/>
        </p:spPr>
        <p:txBody>
          <a:bodyPr wrap="square" lIns="0" tIns="0" rIns="0" bIns="0" rtlCol="0" anchor="ctr"/>
          <a:lstStyle/>
          <a:p>
            <a:pPr indent="0" marL="0">
              <a:buNone/>
            </a:pPr>
            <a:r>
              <a:rPr lang="en-US" sz="1100" b="1" spc="140" kern="0" dirty="0">
                <a:solidFill>
                  <a:srgbClr val="B07914"/>
                </a:solidFill>
                <a:latin typeface="Inter" pitchFamily="34" charset="0"/>
                <a:ea typeface="Inter" pitchFamily="34" charset="-122"/>
                <a:cs typeface="Inter" pitchFamily="34" charset="-120"/>
              </a:rPr>
              <a:t>ADDED · AI ON THIS ASSIGNMENT</a:t>
            </a:r>
            <a:endParaRPr lang="en-US" sz="1100" dirty="0"/>
          </a:p>
        </p:txBody>
      </p:sp>
      <p:sp>
        <p:nvSpPr>
          <p:cNvPr id="24" name="Text 21"/>
          <p:cNvSpPr/>
          <p:nvPr/>
        </p:nvSpPr>
        <p:spPr>
          <a:xfrm>
            <a:off x="1234440" y="4462272"/>
            <a:ext cx="9784080" cy="54864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“AI-assisted. Brainstorming and feedback are fine. The debate claims and your response to them have to be yours.”</a:t>
            </a:r>
            <a:endParaRPr lang="en-US" sz="1700" dirty="0"/>
          </a:p>
        </p:txBody>
      </p:sp>
      <p:sp>
        <p:nvSpPr>
          <p:cNvPr id="25" name="Shape 22"/>
          <p:cNvSpPr/>
          <p:nvPr/>
        </p:nvSpPr>
        <p:spPr>
          <a:xfrm>
            <a:off x="640080" y="5486400"/>
            <a:ext cx="10972800" cy="658368"/>
          </a:xfrm>
          <a:prstGeom prst="roundRect">
            <a:avLst>
              <a:gd name="adj" fmla="val 12500"/>
            </a:avLst>
          </a:prstGeom>
          <a:solidFill>
            <a:srgbClr val="13293D"/>
          </a:solidFill>
          <a:ln w="12700">
            <a:solidFill>
              <a:srgbClr val="13293D"/>
            </a:solidFill>
            <a:prstDash val="solid"/>
          </a:ln>
        </p:spPr>
      </p:sp>
      <p:sp>
        <p:nvSpPr>
          <p:cNvPr id="26" name="Text 23"/>
          <p:cNvSpPr/>
          <p:nvPr/>
        </p:nvSpPr>
        <p:spPr>
          <a:xfrm>
            <a:off x="960120" y="5486400"/>
            <a:ext cx="10332720" cy="658368"/>
          </a:xfrm>
          <a:prstGeom prst="rect">
            <a:avLst/>
          </a:prstGeom>
          <a:noFill/>
          <a:ln/>
        </p:spPr>
        <p:txBody>
          <a:bodyPr wrap="square" lIns="0" tIns="0" rIns="0" bIns="0" rtlCol="0" anchor="ctr"/>
          <a:lstStyle/>
          <a:p>
            <a:pPr algn="ctr" indent="0" marL="0">
              <a:buNone/>
            </a:pPr>
            <a:r>
              <a:rPr lang="en-US" sz="1700" dirty="0">
                <a:solidFill>
                  <a:srgbClr val="FFFFFF"/>
                </a:solidFill>
                <a:latin typeface="Inter" pitchFamily="34" charset="0"/>
                <a:ea typeface="Inter" pitchFamily="34" charset="-122"/>
                <a:cs typeface="Inter" pitchFamily="34" charset="-120"/>
              </a:rPr>
              <a:t>Two lines are new. Everything else is the assignment she already had. </a:t>
            </a:r>
            <a:pPr algn="ctr" indent="0" marL="0">
              <a:buNone/>
            </a:pPr>
            <a:r>
              <a:rPr lang="en-US" sz="1700" b="1" dirty="0">
                <a:solidFill>
                  <a:srgbClr val="2A9D8F"/>
                </a:solidFill>
                <a:latin typeface="Inter" pitchFamily="34" charset="0"/>
                <a:ea typeface="Inter" pitchFamily="34" charset="-122"/>
                <a:cs typeface="Inter" pitchFamily="34" charset="-120"/>
              </a:rPr>
              <a:t>It took about four minutes.</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the sentence she added, read aloud.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FOUR VOICES, ONE MINUTE EACH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Read us your sentence</a:t>
            </a:r>
            <a:endParaRPr lang="en-US" sz="3200" dirty="0"/>
          </a:p>
        </p:txBody>
      </p:sp>
      <p:sp>
        <p:nvSpPr>
          <p:cNvPr id="14" name="Text 11"/>
          <p:cNvSpPr/>
          <p:nvPr/>
        </p:nvSpPr>
        <p:spPr>
          <a:xfrm>
            <a:off x="640080" y="1554480"/>
            <a:ext cx="10908792" cy="274320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sentence you added, and which of the three places it came from</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What you almost wrote first, and why you changed it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If a chatbot could still fake it, say so. That is the most useful minute in the room.</a:t>
            </a:r>
            <a:endParaRPr lang="en-US" sz="2100" dirty="0"/>
          </a:p>
        </p:txBody>
      </p:sp>
      <p:sp>
        <p:nvSpPr>
          <p:cNvPr id="15" name="Shape 12"/>
          <p:cNvSpPr/>
          <p:nvPr/>
        </p:nvSpPr>
        <p:spPr>
          <a:xfrm>
            <a:off x="640080" y="3931920"/>
            <a:ext cx="10972800" cy="1234440"/>
          </a:xfrm>
          <a:prstGeom prst="roundRect">
            <a:avLst>
              <a:gd name="adj" fmla="val 6667"/>
            </a:avLst>
          </a:prstGeom>
          <a:solidFill>
            <a:srgbClr val="F7F5F0"/>
          </a:solidFill>
          <a:ln w="12700">
            <a:solidFill>
              <a:srgbClr val="F7F5F0"/>
            </a:solidFill>
            <a:prstDash val="solid"/>
          </a:ln>
        </p:spPr>
      </p:sp>
      <p:sp>
        <p:nvSpPr>
          <p:cNvPr id="16" name="Text 13"/>
          <p:cNvSpPr/>
          <p:nvPr/>
        </p:nvSpPr>
        <p:spPr>
          <a:xfrm>
            <a:off x="960120" y="3931920"/>
            <a:ext cx="10332720" cy="1234440"/>
          </a:xfrm>
          <a:prstGeom prst="rect">
            <a:avLst/>
          </a:prstGeom>
          <a:noFill/>
          <a:ln/>
        </p:spPr>
        <p:txBody>
          <a:bodyPr wrap="square" lIns="0" tIns="0" rIns="0" bIns="0" rtlCol="0" anchor="ctr"/>
          <a:lstStyle/>
          <a:p>
            <a:pPr indent="0" marL="0">
              <a:lnSpc>
                <a:spcPct val="112000"/>
              </a:lnSpc>
              <a:buNone/>
            </a:pPr>
            <a:r>
              <a:rPr lang="en-US" sz="1600" dirty="0">
                <a:solidFill>
                  <a:srgbClr val="1B1F24"/>
                </a:solidFill>
                <a:latin typeface="Inter" pitchFamily="34" charset="0"/>
                <a:ea typeface="Inter" pitchFamily="34" charset="-122"/>
                <a:cs typeface="Inter" pitchFamily="34" charset="-120"/>
              </a:rPr>
              <a:t>Listen for how different this sounds by subject. In a shop class it is “in front of you” almost every time. In history it is usually “from this room.” Same move, completely different sentence, which is how you know it is a move and not a template.</a:t>
            </a:r>
            <a:endParaRPr lang="en-US" sz="1600" dirty="0"/>
          </a:p>
        </p:txBody>
      </p:sp>
      <p:sp>
        <p:nvSpPr>
          <p:cNvPr id="17" name="Text 14"/>
          <p:cNvSpPr/>
          <p:nvPr/>
        </p:nvSpPr>
        <p:spPr>
          <a:xfrm>
            <a:off x="640080" y="5349240"/>
            <a:ext cx="10972800" cy="320040"/>
          </a:xfrm>
          <a:prstGeom prst="rect">
            <a:avLst/>
          </a:prstGeom>
          <a:noFill/>
          <a:ln/>
        </p:spPr>
        <p:txBody>
          <a:bodyPr wrap="square" lIns="0" tIns="0" rIns="0" bIns="0" rtlCol="0" anchor="ctr"/>
          <a:lstStyle/>
          <a:p>
            <a:pPr algn="ctr" indent="0" marL="0">
              <a:buNone/>
            </a:pPr>
            <a:r>
              <a:rPr lang="en-US" sz="1200" dirty="0">
                <a:solidFill>
                  <a:srgbClr val="5B6B7A"/>
                </a:solidFill>
                <a:latin typeface="Inter" pitchFamily="34" charset="0"/>
                <a:ea typeface="Inter" pitchFamily="34" charset="-122"/>
                <a:cs typeface="Inter" pitchFamily="34" charset="-120"/>
              </a:rPr>
              <a:t>45-min cut: two voices. Take a math or CTE answer if one is offered.</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opener, rehearsed: “walk me through how you made this.”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IT WILL STILL HAPPEN. HERE IS THE MOVE.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When it still seems off</a:t>
            </a:r>
            <a:endParaRPr lang="en-US" sz="3200" dirty="0"/>
          </a:p>
        </p:txBody>
      </p:sp>
      <p:sp>
        <p:nvSpPr>
          <p:cNvPr id="14" name="Shape 11"/>
          <p:cNvSpPr/>
          <p:nvPr/>
        </p:nvSpPr>
        <p:spPr>
          <a:xfrm>
            <a:off x="640080" y="1554480"/>
            <a:ext cx="2697480" cy="384048"/>
          </a:xfrm>
          <a:prstGeom prst="roundRect">
            <a:avLst>
              <a:gd name="adj" fmla="val 50000"/>
            </a:avLst>
          </a:prstGeom>
          <a:solidFill>
            <a:srgbClr val="2A9D8F"/>
          </a:solidFill>
          <a:ln w="12700">
            <a:solidFill>
              <a:srgbClr val="2A9D8F"/>
            </a:solidFill>
            <a:prstDash val="solid"/>
          </a:ln>
        </p:spPr>
      </p:sp>
      <p:sp>
        <p:nvSpPr>
          <p:cNvPr id="15" name="Text 12"/>
          <p:cNvSpPr/>
          <p:nvPr/>
        </p:nvSpPr>
        <p:spPr>
          <a:xfrm>
            <a:off x="640080" y="1554480"/>
            <a:ext cx="2697480" cy="384048"/>
          </a:xfrm>
          <a:prstGeom prst="rect">
            <a:avLst/>
          </a:prstGeom>
          <a:noFill/>
          <a:ln/>
        </p:spPr>
        <p:txBody>
          <a:bodyPr wrap="square" lIns="0" tIns="0" rIns="0" bIns="0" rtlCol="0" anchor="ctr"/>
          <a:lstStyle/>
          <a:p>
            <a:pPr algn="ctr" indent="0" marL="0">
              <a:buNone/>
            </a:pPr>
            <a:r>
              <a:rPr lang="en-US" sz="1050" b="1" spc="50" kern="0" dirty="0">
                <a:solidFill>
                  <a:srgbClr val="FFFFFF"/>
                </a:solidFill>
                <a:latin typeface="Inter" pitchFamily="34" charset="0"/>
                <a:ea typeface="Inter" pitchFamily="34" charset="-122"/>
                <a:cs typeface="Inter" pitchFamily="34" charset="-120"/>
              </a:rPr>
              <a:t>OPEN WITH CURIOSITY</a:t>
            </a:r>
            <a:endParaRPr lang="en-US" sz="1050" dirty="0"/>
          </a:p>
        </p:txBody>
      </p:sp>
      <p:sp>
        <p:nvSpPr>
          <p:cNvPr id="16" name="Text 13"/>
          <p:cNvSpPr/>
          <p:nvPr/>
        </p:nvSpPr>
        <p:spPr>
          <a:xfrm>
            <a:off x="3566160" y="1371600"/>
            <a:ext cx="8001000" cy="777240"/>
          </a:xfrm>
          <a:prstGeom prst="rect">
            <a:avLst/>
          </a:prstGeom>
          <a:noFill/>
          <a:ln/>
        </p:spPr>
        <p:txBody>
          <a:bodyPr wrap="square" lIns="0" tIns="0" rIns="0" bIns="0" rtlCol="0" anchor="ctr"/>
          <a:lstStyle/>
          <a:p>
            <a:pPr indent="0" marL="0">
              <a:lnSpc>
                <a:spcPct val="110000"/>
              </a:lnSpc>
              <a:buNone/>
            </a:pPr>
            <a:r>
              <a:rPr lang="en-US" sz="1700" dirty="0">
                <a:solidFill>
                  <a:srgbClr val="1B1F24"/>
                </a:solidFill>
                <a:latin typeface="Inter" pitchFamily="34" charset="0"/>
                <a:ea typeface="Inter" pitchFamily="34" charset="-122"/>
                <a:cs typeface="Inter" pitchFamily="34" charset="-120"/>
              </a:rPr>
              <a:t>“Walk me through how you made this. What did you start with?”</a:t>
            </a:r>
            <a:endParaRPr lang="en-US" sz="1700" dirty="0"/>
          </a:p>
        </p:txBody>
      </p:sp>
      <p:sp>
        <p:nvSpPr>
          <p:cNvPr id="17" name="Shape 14"/>
          <p:cNvSpPr/>
          <p:nvPr/>
        </p:nvSpPr>
        <p:spPr>
          <a:xfrm>
            <a:off x="640080" y="2606040"/>
            <a:ext cx="2697480" cy="384048"/>
          </a:xfrm>
          <a:prstGeom prst="roundRect">
            <a:avLst>
              <a:gd name="adj" fmla="val 50000"/>
            </a:avLst>
          </a:prstGeom>
          <a:solidFill>
            <a:srgbClr val="13293D"/>
          </a:solidFill>
          <a:ln w="12700">
            <a:solidFill>
              <a:srgbClr val="13293D"/>
            </a:solidFill>
            <a:prstDash val="solid"/>
          </a:ln>
        </p:spPr>
      </p:sp>
      <p:sp>
        <p:nvSpPr>
          <p:cNvPr id="18" name="Text 15"/>
          <p:cNvSpPr/>
          <p:nvPr/>
        </p:nvSpPr>
        <p:spPr>
          <a:xfrm>
            <a:off x="640080" y="2606040"/>
            <a:ext cx="2697480" cy="384048"/>
          </a:xfrm>
          <a:prstGeom prst="rect">
            <a:avLst/>
          </a:prstGeom>
          <a:noFill/>
          <a:ln/>
        </p:spPr>
        <p:txBody>
          <a:bodyPr wrap="square" lIns="0" tIns="0" rIns="0" bIns="0" rtlCol="0" anchor="ctr"/>
          <a:lstStyle/>
          <a:p>
            <a:pPr algn="ctr" indent="0" marL="0">
              <a:buNone/>
            </a:pPr>
            <a:r>
              <a:rPr lang="en-US" sz="1050" b="1" spc="50" kern="0" dirty="0">
                <a:solidFill>
                  <a:srgbClr val="FFFFFF"/>
                </a:solidFill>
                <a:latin typeface="Inter" pitchFamily="34" charset="0"/>
                <a:ea typeface="Inter" pitchFamily="34" charset="-122"/>
                <a:cs typeface="Inter" pitchFamily="34" charset="-120"/>
              </a:rPr>
              <a:t>GET SPECIFIC</a:t>
            </a:r>
            <a:endParaRPr lang="en-US" sz="1050" dirty="0"/>
          </a:p>
        </p:txBody>
      </p:sp>
      <p:sp>
        <p:nvSpPr>
          <p:cNvPr id="19" name="Text 16"/>
          <p:cNvSpPr/>
          <p:nvPr/>
        </p:nvSpPr>
        <p:spPr>
          <a:xfrm>
            <a:off x="3566160" y="2423160"/>
            <a:ext cx="8001000" cy="777240"/>
          </a:xfrm>
          <a:prstGeom prst="rect">
            <a:avLst/>
          </a:prstGeom>
          <a:noFill/>
          <a:ln/>
        </p:spPr>
        <p:txBody>
          <a:bodyPr wrap="square" lIns="0" tIns="0" rIns="0" bIns="0" rtlCol="0" anchor="ctr"/>
          <a:lstStyle/>
          <a:p>
            <a:pPr indent="0" marL="0">
              <a:lnSpc>
                <a:spcPct val="110000"/>
              </a:lnSpc>
              <a:buNone/>
            </a:pPr>
            <a:r>
              <a:rPr lang="en-US" sz="1700" dirty="0">
                <a:solidFill>
                  <a:srgbClr val="1B1F24"/>
                </a:solidFill>
                <a:latin typeface="Inter" pitchFamily="34" charset="0"/>
                <a:ea typeface="Inter" pitchFamily="34" charset="-122"/>
                <a:cs typeface="Inter" pitchFamily="34" charset="-120"/>
              </a:rPr>
              <a:t>“Tell me about this paragraph. Why this claim and not the other one?”</a:t>
            </a:r>
            <a:endParaRPr lang="en-US" sz="1700" dirty="0"/>
          </a:p>
        </p:txBody>
      </p:sp>
      <p:sp>
        <p:nvSpPr>
          <p:cNvPr id="20" name="Shape 17"/>
          <p:cNvSpPr/>
          <p:nvPr/>
        </p:nvSpPr>
        <p:spPr>
          <a:xfrm>
            <a:off x="640080" y="3657600"/>
            <a:ext cx="2697480" cy="384048"/>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40080" y="3657600"/>
            <a:ext cx="2697480" cy="384048"/>
          </a:xfrm>
          <a:prstGeom prst="rect">
            <a:avLst/>
          </a:prstGeom>
          <a:noFill/>
          <a:ln/>
        </p:spPr>
        <p:txBody>
          <a:bodyPr wrap="square" lIns="0" tIns="0" rIns="0" bIns="0" rtlCol="0" anchor="ctr"/>
          <a:lstStyle/>
          <a:p>
            <a:pPr algn="ctr" indent="0" marL="0">
              <a:buNone/>
            </a:pPr>
            <a:r>
              <a:rPr lang="en-US" sz="1050" b="1" spc="50" kern="0" dirty="0">
                <a:solidFill>
                  <a:srgbClr val="FFFFFF"/>
                </a:solidFill>
                <a:latin typeface="Inter" pitchFamily="34" charset="0"/>
                <a:ea typeface="Inter" pitchFamily="34" charset="-122"/>
                <a:cs typeface="Inter" pitchFamily="34" charset="-120"/>
              </a:rPr>
              <a:t>GATHER PROCESS EVIDENCE</a:t>
            </a:r>
            <a:endParaRPr lang="en-US" sz="1050" dirty="0"/>
          </a:p>
        </p:txBody>
      </p:sp>
      <p:sp>
        <p:nvSpPr>
          <p:cNvPr id="22" name="Text 19"/>
          <p:cNvSpPr/>
          <p:nvPr/>
        </p:nvSpPr>
        <p:spPr>
          <a:xfrm>
            <a:off x="3566160" y="3474720"/>
            <a:ext cx="8001000" cy="777240"/>
          </a:xfrm>
          <a:prstGeom prst="rect">
            <a:avLst/>
          </a:prstGeom>
          <a:noFill/>
          <a:ln/>
        </p:spPr>
        <p:txBody>
          <a:bodyPr wrap="square" lIns="0" tIns="0" rIns="0" bIns="0" rtlCol="0" anchor="ctr"/>
          <a:lstStyle/>
          <a:p>
            <a:pPr indent="0" marL="0">
              <a:lnSpc>
                <a:spcPct val="110000"/>
              </a:lnSpc>
              <a:buNone/>
            </a:pPr>
            <a:r>
              <a:rPr lang="en-US" sz="1700" dirty="0">
                <a:solidFill>
                  <a:srgbClr val="1B1F24"/>
                </a:solidFill>
                <a:latin typeface="Inter" pitchFamily="34" charset="0"/>
                <a:ea typeface="Inter" pitchFamily="34" charset="-122"/>
                <a:cs typeface="Inter" pitchFamily="34" charset="-120"/>
              </a:rPr>
              <a:t>The plan, the quick-write, the two claims from Tuesday, what they can explain out loud. You built this into the assignment an hour ago.</a:t>
            </a:r>
            <a:endParaRPr lang="en-US" sz="1700" dirty="0"/>
          </a:p>
        </p:txBody>
      </p:sp>
      <p:sp>
        <p:nvSpPr>
          <p:cNvPr id="23" name="Shape 20"/>
          <p:cNvSpPr/>
          <p:nvPr/>
        </p:nvSpPr>
        <p:spPr>
          <a:xfrm>
            <a:off x="640080" y="4709160"/>
            <a:ext cx="2697480" cy="384048"/>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640080" y="4709160"/>
            <a:ext cx="2697480" cy="384048"/>
          </a:xfrm>
          <a:prstGeom prst="rect">
            <a:avLst/>
          </a:prstGeom>
          <a:noFill/>
          <a:ln/>
        </p:spPr>
        <p:txBody>
          <a:bodyPr wrap="square" lIns="0" tIns="0" rIns="0" bIns="0" rtlCol="0" anchor="ctr"/>
          <a:lstStyle/>
          <a:p>
            <a:pPr algn="ctr" indent="0" marL="0">
              <a:buNone/>
            </a:pPr>
            <a:r>
              <a:rPr lang="en-US" sz="1050" b="1" spc="50" kern="0" dirty="0">
                <a:solidFill>
                  <a:srgbClr val="FFFFFF"/>
                </a:solidFill>
                <a:latin typeface="Inter" pitchFamily="34" charset="0"/>
                <a:ea typeface="Inter" pitchFamily="34" charset="-122"/>
                <a:cs typeface="Inter" pitchFamily="34" charset="-120"/>
              </a:rPr>
              <a:t>LAND IT AS TEACHING</a:t>
            </a:r>
            <a:endParaRPr lang="en-US" sz="1050" dirty="0"/>
          </a:p>
        </p:txBody>
      </p:sp>
      <p:sp>
        <p:nvSpPr>
          <p:cNvPr id="25" name="Text 22"/>
          <p:cNvSpPr/>
          <p:nvPr/>
        </p:nvSpPr>
        <p:spPr>
          <a:xfrm>
            <a:off x="3566160" y="4526280"/>
            <a:ext cx="8001000" cy="777240"/>
          </a:xfrm>
          <a:prstGeom prst="rect">
            <a:avLst/>
          </a:prstGeom>
          <a:noFill/>
          <a:ln/>
        </p:spPr>
        <p:txBody>
          <a:bodyPr wrap="square" lIns="0" tIns="0" rIns="0" bIns="0" rtlCol="0" anchor="ctr"/>
          <a:lstStyle/>
          <a:p>
            <a:pPr indent="0" marL="0">
              <a:lnSpc>
                <a:spcPct val="110000"/>
              </a:lnSpc>
              <a:buNone/>
            </a:pPr>
            <a:r>
              <a:rPr lang="en-US" sz="1700" dirty="0">
                <a:solidFill>
                  <a:srgbClr val="1B1F24"/>
                </a:solidFill>
                <a:latin typeface="Inter" pitchFamily="34" charset="0"/>
                <a:ea typeface="Inter" pitchFamily="34" charset="-122"/>
                <a:cs typeface="Inter" pitchFamily="34" charset="-120"/>
              </a:rPr>
              <a:t>First offense: name what was allowed on that assignment, reset, move on. A student who learns the rule beats a student who learns to hide.</a:t>
            </a:r>
            <a:endParaRPr lang="en-US" sz="17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Rehearse it now, because the version of you who reads that essay at 9:40 at night is not the calm version.</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25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red line, adopted: no accusation on a detector score alone.</a:t>
            </a:r>
            <a:endParaRPr lang="en-US" sz="1000" dirty="0"/>
          </a:p>
        </p:txBody>
      </p:sp>
      <p:sp>
        <p:nvSpPr>
          <p:cNvPr id="12" name="Text 9"/>
          <p:cNvSpPr/>
          <p:nvPr/>
        </p:nvSpPr>
        <p:spPr>
          <a:xfrm>
            <a:off x="822960" y="1463040"/>
            <a:ext cx="758952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ONE RULE THIS ROOM ADOPTS TODAY</a:t>
            </a:r>
            <a:endParaRPr lang="en-US" sz="1500" dirty="0"/>
          </a:p>
        </p:txBody>
      </p:sp>
      <p:sp>
        <p:nvSpPr>
          <p:cNvPr id="13" name="Text 10"/>
          <p:cNvSpPr/>
          <p:nvPr/>
        </p:nvSpPr>
        <p:spPr>
          <a:xfrm>
            <a:off x="822960" y="205740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No accusation ever rests on</a:t>
            </a:r>
            <a:endParaRPr lang="en-US" sz="4000" dirty="0"/>
          </a:p>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a detector score alone.</a:t>
            </a:r>
            <a:endParaRPr lang="en-US" sz="4000" dirty="0"/>
          </a:p>
        </p:txBody>
      </p:sp>
      <p:sp>
        <p:nvSpPr>
          <p:cNvPr id="14" name="Text 11"/>
          <p:cNvSpPr/>
          <p:nvPr/>
        </p:nvSpPr>
        <p:spPr>
          <a:xfrm>
            <a:off x="822960" y="3977640"/>
            <a:ext cx="10332720" cy="45720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Not “mostly.” Not “unless the score is really high.” Alone means alone.</a:t>
            </a:r>
            <a:endParaRPr lang="en-US" sz="2000" dirty="0"/>
          </a:p>
        </p:txBody>
      </p:sp>
      <p:sp>
        <p:nvSpPr>
          <p:cNvPr id="15" name="Text 12"/>
          <p:cNvSpPr/>
          <p:nvPr/>
        </p:nvSpPr>
        <p:spPr>
          <a:xfrm>
            <a:off x="822960" y="4572000"/>
            <a:ext cx="10332720" cy="109728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26% of AI text caught. 9% of honest work flagged. 61% false positives on real essays by non-native English writers. If a score is the only thing you have, what you have is a conversation to go start, not a case.</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one assignment, one sentence, one label. Printed.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TWENTY MINUTES AGO THIS DID NOT EXIST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is on your desk now</a:t>
            </a:r>
            <a:endParaRPr lang="en-US" sz="3200" dirty="0"/>
          </a:p>
        </p:txBody>
      </p:sp>
      <p:sp>
        <p:nvSpPr>
          <p:cNvPr id="14" name="Shape 11"/>
          <p:cNvSpPr/>
          <p:nvPr/>
        </p:nvSpPr>
        <p:spPr>
          <a:xfrm>
            <a:off x="640080" y="155448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828800"/>
            <a:ext cx="10241280" cy="2743200"/>
          </a:xfrm>
          <a:prstGeom prst="rect">
            <a:avLst/>
          </a:prstGeom>
          <a:noFill/>
          <a:ln/>
        </p:spPr>
        <p:txBody>
          <a:bodyPr wrap="square" lIns="0" tIns="0" rIns="0" bIns="0" rtlCol="0" anchor="ctr"/>
          <a:lstStyle/>
          <a:p>
            <a:pPr indent="0" marL="0">
              <a:lnSpc>
                <a:spcPct val="115000"/>
              </a:lnSpc>
              <a:buNone/>
            </a:pPr>
            <a:r>
              <a:rPr lang="en-US" sz="2000" b="1" dirty="0">
                <a:solidFill>
                  <a:srgbClr val="13293D"/>
                </a:solidFill>
                <a:latin typeface="Inter" pitchFamily="34" charset="0"/>
                <a:ea typeface="Inter" pitchFamily="34" charset="-122"/>
                <a:cs typeface="Inter" pitchFamily="34" charset="-120"/>
              </a:rPr>
              <a:t>A real assignment, with a sentence in it that a chatbot cannot answer, and one line telling students exactly where AI stands.
</a:t>
            </a:r>
            <a:pPr indent="0" marL="0">
              <a:lnSpc>
                <a:spcPct val="115000"/>
              </a:lnSpc>
              <a:buNone/>
            </a:pPr>
            <a:r>
              <a:rPr lang="en-US" sz="2000" dirty="0">
                <a:solidFill>
                  <a:srgbClr val="1B1F24"/>
                </a:solidFill>
                <a:latin typeface="Inter" pitchFamily="34" charset="0"/>
                <a:ea typeface="Inter" pitchFamily="34" charset="-122"/>
                <a:cs typeface="Inter" pitchFamily="34" charset="-120"/>
              </a:rPr>
              <a:t>Multiply that by everyone in this room, then by the next assignment, and by December this building has something no subscription sells: work worth handing in, and students who know what is allowed.</a:t>
            </a:r>
            <a:endParaRPr lang="en-US" sz="2000" dirty="0"/>
          </a:p>
        </p:txBody>
      </p:sp>
      <p:sp>
        <p:nvSpPr>
          <p:cNvPr id="16" name="Shape 13"/>
          <p:cNvSpPr/>
          <p:nvPr/>
        </p:nvSpPr>
        <p:spPr>
          <a:xfrm>
            <a:off x="640080" y="5120640"/>
            <a:ext cx="10972800" cy="658368"/>
          </a:xfrm>
          <a:prstGeom prst="roundRect">
            <a:avLst>
              <a:gd name="adj" fmla="val 12500"/>
            </a:avLst>
          </a:prstGeom>
          <a:solidFill>
            <a:srgbClr val="13293D"/>
          </a:solidFill>
          <a:ln w="12700">
            <a:solidFill>
              <a:srgbClr val="13293D"/>
            </a:solidFill>
            <a:prstDash val="solid"/>
          </a:ln>
        </p:spPr>
      </p:sp>
      <p:sp>
        <p:nvSpPr>
          <p:cNvPr id="17" name="Text 14"/>
          <p:cNvSpPr/>
          <p:nvPr/>
        </p:nvSpPr>
        <p:spPr>
          <a:xfrm>
            <a:off x="960120" y="5120640"/>
            <a:ext cx="10332720" cy="658368"/>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Nothing was bought. Nothing was installed. One sentence was written.</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honesty: some will still hand in AI work. This one got harder to fake.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THIS SERIES DOES NOT OVERSELL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this does not fix</a:t>
            </a:r>
            <a:endParaRPr lang="en-US" sz="3200" dirty="0"/>
          </a:p>
        </p:txBody>
      </p:sp>
      <p:sp>
        <p:nvSpPr>
          <p:cNvPr id="14" name="Text 11"/>
          <p:cNvSpPr/>
          <p:nvPr/>
        </p:nvSpPr>
        <p:spPr>
          <a:xfrm>
            <a:off x="640080" y="1463040"/>
            <a:ext cx="10908792" cy="3291840"/>
          </a:xfrm>
          <a:prstGeom prst="rect">
            <a:avLst/>
          </a:prstGeom>
          <a:noFill/>
          <a:ln/>
        </p:spPr>
        <p:txBody>
          <a:bodyPr wrap="square" rtlCol="0" anchor="t"/>
          <a:lstStyle/>
          <a:p>
            <a:pPr marL="342900" indent="-342900">
              <a:spcAft>
                <a:spcPts val="1000"/>
              </a:spcAft>
              <a:buSzPct val="100000"/>
              <a:buChar char="•"/>
            </a:pPr>
            <a:r>
              <a:rPr lang="en-US" sz="1950" dirty="0">
                <a:solidFill>
                  <a:srgbClr val="1B1F24"/>
                </a:solidFill>
                <a:latin typeface="Inter" pitchFamily="34" charset="0"/>
                <a:ea typeface="Inter" pitchFamily="34" charset="-122"/>
                <a:cs typeface="Inter" pitchFamily="34" charset="-120"/>
              </a:rPr>
              <a:t>One sentence does not rescue an assignment that was already thin</a:t>
            </a:r>
            <a:endParaRPr lang="en-US" sz="1950" dirty="0"/>
          </a:p>
          <a:p>
            <a:pPr marL="342900" indent="-342900">
              <a:spcAft>
                <a:spcPts val="1000"/>
              </a:spcAft>
              <a:buSzPct val="100000"/>
              <a:buChar char="•"/>
            </a:pPr>
            <a:r>
              <a:rPr lang="en-US" sz="1950" dirty="0">
                <a:solidFill>
                  <a:srgbClr val="1B1F24"/>
                </a:solidFill>
                <a:latin typeface="Inter" pitchFamily="34" charset="0"/>
                <a:ea typeface="Inter" pitchFamily="34" charset="-122"/>
                <a:cs typeface="Inter" pitchFamily="34" charset="-120"/>
              </a:rPr>
              <a:t>It does not touch the pressure and workload the research points at</a:t>
            </a:r>
            <a:endParaRPr lang="en-US" sz="1950" dirty="0"/>
          </a:p>
          <a:p>
            <a:pPr marL="342900" indent="-342900">
              <a:spcAft>
                <a:spcPts val="1000"/>
              </a:spcAft>
              <a:buSzPct val="100000"/>
              <a:buChar char="•"/>
            </a:pPr>
            <a:r>
              <a:rPr lang="en-US" sz="1950" dirty="0">
                <a:solidFill>
                  <a:srgbClr val="1B1F24"/>
                </a:solidFill>
                <a:latin typeface="Inter" pitchFamily="34" charset="0"/>
                <a:ea typeface="Inter" pitchFamily="34" charset="-122"/>
                <a:cs typeface="Inter" pitchFamily="34" charset="-120"/>
              </a:rPr>
              <a:t>Some students will still hand in AI work. Some always did the equivalent.</a:t>
            </a:r>
            <a:endParaRPr lang="en-US" sz="1950" dirty="0"/>
          </a:p>
          <a:p>
            <a:pPr marL="342900" indent="-342900">
              <a:spcAft>
                <a:spcPts val="1000"/>
              </a:spcAft>
              <a:buSzPct val="100000"/>
              <a:buChar char="•"/>
            </a:pPr>
            <a:r>
              <a:rPr lang="en-US" sz="1950" dirty="0">
                <a:solidFill>
                  <a:srgbClr val="1B1F24"/>
                </a:solidFill>
                <a:latin typeface="Inter" pitchFamily="34" charset="0"/>
                <a:ea typeface="Inter" pitchFamily="34" charset="-122"/>
                <a:cs typeface="Inter" pitchFamily="34" charset="-120"/>
              </a:rPr>
              <a:t>It costs you something: work anchored to your room has to be read by someone who was in it</a:t>
            </a:r>
            <a:endParaRPr lang="en-US" sz="1950" dirty="0"/>
          </a:p>
        </p:txBody>
      </p:sp>
      <p:sp>
        <p:nvSpPr>
          <p:cNvPr id="15" name="Shape 12"/>
          <p:cNvSpPr/>
          <p:nvPr/>
        </p:nvSpPr>
        <p:spPr>
          <a:xfrm>
            <a:off x="640080" y="4206240"/>
            <a:ext cx="10972800" cy="1097280"/>
          </a:xfrm>
          <a:prstGeom prst="roundRect">
            <a:avLst>
              <a:gd name="adj" fmla="val 7500"/>
            </a:avLst>
          </a:prstGeom>
          <a:solidFill>
            <a:srgbClr val="EAF5F3"/>
          </a:solidFill>
          <a:ln w="12700">
            <a:solidFill>
              <a:srgbClr val="EAF5F3"/>
            </a:solidFill>
            <a:prstDash val="solid"/>
          </a:ln>
        </p:spPr>
      </p:sp>
      <p:sp>
        <p:nvSpPr>
          <p:cNvPr id="16" name="Text 13"/>
          <p:cNvSpPr/>
          <p:nvPr/>
        </p:nvSpPr>
        <p:spPr>
          <a:xfrm>
            <a:off x="960120" y="4206240"/>
            <a:ext cx="10332720" cy="109728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You cannot do this to every assignment by Friday. Do it to one. Then the next one.</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28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commitments: ask for one thing, label every assignment, never score-only.</a:t>
            </a:r>
            <a:endParaRPr lang="en-US" sz="1000" dirty="0"/>
          </a:p>
        </p:txBody>
      </p:sp>
      <p:sp>
        <p:nvSpPr>
          <p:cNvPr id="12" name="Text 9"/>
          <p:cNvSpPr/>
          <p:nvPr/>
        </p:nvSpPr>
        <p:spPr>
          <a:xfrm>
            <a:off x="822960" y="1234440"/>
            <a:ext cx="7589520" cy="41148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BEFORE YOU LEAVE</a:t>
            </a:r>
            <a:endParaRPr lang="en-US" sz="1500" dirty="0"/>
          </a:p>
        </p:txBody>
      </p:sp>
      <p:sp>
        <p:nvSpPr>
          <p:cNvPr id="13" name="Text 10"/>
          <p:cNvSpPr/>
          <p:nvPr/>
        </p:nvSpPr>
        <p:spPr>
          <a:xfrm>
            <a:off x="822960" y="1691640"/>
            <a:ext cx="10515600" cy="731520"/>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Three commitments</a:t>
            </a:r>
            <a:endParaRPr lang="en-US" sz="3800" dirty="0"/>
          </a:p>
        </p:txBody>
      </p:sp>
      <p:sp>
        <p:nvSpPr>
          <p:cNvPr id="14" name="Shape 11"/>
          <p:cNvSpPr/>
          <p:nvPr/>
        </p:nvSpPr>
        <p:spPr>
          <a:xfrm>
            <a:off x="868680" y="2770632"/>
            <a:ext cx="502920" cy="502920"/>
          </a:xfrm>
          <a:prstGeom prst="ellipse">
            <a:avLst/>
          </a:prstGeom>
          <a:solidFill>
            <a:srgbClr val="2A9D8F"/>
          </a:solidFill>
          <a:ln w="12700">
            <a:solidFill>
              <a:srgbClr val="2A9D8F"/>
            </a:solidFill>
            <a:prstDash val="solid"/>
          </a:ln>
        </p:spPr>
      </p:sp>
      <p:sp>
        <p:nvSpPr>
          <p:cNvPr id="15" name="Text 12"/>
          <p:cNvSpPr/>
          <p:nvPr/>
        </p:nvSpPr>
        <p:spPr>
          <a:xfrm>
            <a:off x="868680" y="277063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6" name="Text 13"/>
          <p:cNvSpPr/>
          <p:nvPr/>
        </p:nvSpPr>
        <p:spPr>
          <a:xfrm>
            <a:off x="1600200" y="2697480"/>
            <a:ext cx="6949440" cy="658368"/>
          </a:xfrm>
          <a:prstGeom prst="rect">
            <a:avLst/>
          </a:prstGeom>
          <a:noFill/>
          <a:ln/>
        </p:spPr>
        <p:txBody>
          <a:bodyPr wrap="square" lIns="0" tIns="0" rIns="0" bIns="0" rtlCol="0" anchor="ctr"/>
          <a:lstStyle/>
          <a:p>
            <a:pPr indent="0" marL="0">
              <a:lnSpc>
                <a:spcPct val="105000"/>
              </a:lnSpc>
              <a:buNone/>
            </a:pPr>
            <a:r>
              <a:rPr lang="en-US" sz="2000" dirty="0">
                <a:solidFill>
                  <a:srgbClr val="FFFFFF"/>
                </a:solidFill>
                <a:latin typeface="Inter" pitchFamily="34" charset="0"/>
                <a:ea typeface="Inter" pitchFamily="34" charset="-122"/>
                <a:cs typeface="Inter" pitchFamily="34" charset="-120"/>
              </a:rPr>
              <a:t>The assignment I just rebuilt goes out this week, sentence included.</a:t>
            </a:r>
            <a:endParaRPr lang="en-US" sz="2000" dirty="0"/>
          </a:p>
        </p:txBody>
      </p:sp>
      <p:sp>
        <p:nvSpPr>
          <p:cNvPr id="17" name="Shape 14"/>
          <p:cNvSpPr/>
          <p:nvPr/>
        </p:nvSpPr>
        <p:spPr>
          <a:xfrm>
            <a:off x="868680" y="3685032"/>
            <a:ext cx="502920" cy="502920"/>
          </a:xfrm>
          <a:prstGeom prst="ellipse">
            <a:avLst/>
          </a:prstGeom>
          <a:solidFill>
            <a:srgbClr val="2A9D8F"/>
          </a:solidFill>
          <a:ln w="12700">
            <a:solidFill>
              <a:srgbClr val="2A9D8F"/>
            </a:solidFill>
            <a:prstDash val="solid"/>
          </a:ln>
        </p:spPr>
      </p:sp>
      <p:sp>
        <p:nvSpPr>
          <p:cNvPr id="18" name="Text 15"/>
          <p:cNvSpPr/>
          <p:nvPr/>
        </p:nvSpPr>
        <p:spPr>
          <a:xfrm>
            <a:off x="868680" y="368503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19" name="Text 16"/>
          <p:cNvSpPr/>
          <p:nvPr/>
        </p:nvSpPr>
        <p:spPr>
          <a:xfrm>
            <a:off x="1600200" y="3611880"/>
            <a:ext cx="6949440" cy="658368"/>
          </a:xfrm>
          <a:prstGeom prst="rect">
            <a:avLst/>
          </a:prstGeom>
          <a:noFill/>
          <a:ln/>
        </p:spPr>
        <p:txBody>
          <a:bodyPr wrap="square" lIns="0" tIns="0" rIns="0" bIns="0" rtlCol="0" anchor="ctr"/>
          <a:lstStyle/>
          <a:p>
            <a:pPr indent="0" marL="0">
              <a:lnSpc>
                <a:spcPct val="105000"/>
              </a:lnSpc>
              <a:buNone/>
            </a:pPr>
            <a:r>
              <a:rPr lang="en-US" sz="2000" dirty="0">
                <a:solidFill>
                  <a:srgbClr val="FFFFFF"/>
                </a:solidFill>
                <a:latin typeface="Inter" pitchFamily="34" charset="0"/>
                <a:ea typeface="Inter" pitchFamily="34" charset="-122"/>
                <a:cs typeface="Inter" pitchFamily="34" charset="-120"/>
              </a:rPr>
              <a:t>Every assignment I give carries one line about AI, in student words.</a:t>
            </a:r>
            <a:endParaRPr lang="en-US" sz="2000" dirty="0"/>
          </a:p>
        </p:txBody>
      </p:sp>
      <p:sp>
        <p:nvSpPr>
          <p:cNvPr id="20" name="Shape 17"/>
          <p:cNvSpPr/>
          <p:nvPr/>
        </p:nvSpPr>
        <p:spPr>
          <a:xfrm>
            <a:off x="868680" y="4599432"/>
            <a:ext cx="502920" cy="502920"/>
          </a:xfrm>
          <a:prstGeom prst="ellipse">
            <a:avLst/>
          </a:prstGeom>
          <a:solidFill>
            <a:srgbClr val="2A9D8F"/>
          </a:solidFill>
          <a:ln w="12700">
            <a:solidFill>
              <a:srgbClr val="2A9D8F"/>
            </a:solidFill>
            <a:prstDash val="solid"/>
          </a:ln>
        </p:spPr>
      </p:sp>
      <p:sp>
        <p:nvSpPr>
          <p:cNvPr id="21" name="Text 18"/>
          <p:cNvSpPr/>
          <p:nvPr/>
        </p:nvSpPr>
        <p:spPr>
          <a:xfrm>
            <a:off x="868680" y="459943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2" name="Text 19"/>
          <p:cNvSpPr/>
          <p:nvPr/>
        </p:nvSpPr>
        <p:spPr>
          <a:xfrm>
            <a:off x="1600200" y="4526280"/>
            <a:ext cx="6949440" cy="658368"/>
          </a:xfrm>
          <a:prstGeom prst="rect">
            <a:avLst/>
          </a:prstGeom>
          <a:noFill/>
          <a:ln/>
        </p:spPr>
        <p:txBody>
          <a:bodyPr wrap="square" lIns="0" tIns="0" rIns="0" bIns="0" rtlCol="0" anchor="ctr"/>
          <a:lstStyle/>
          <a:p>
            <a:pPr indent="0" marL="0">
              <a:lnSpc>
                <a:spcPct val="105000"/>
              </a:lnSpc>
              <a:buNone/>
            </a:pPr>
            <a:r>
              <a:rPr lang="en-US" sz="2000" dirty="0">
                <a:solidFill>
                  <a:srgbClr val="FFFFFF"/>
                </a:solidFill>
                <a:latin typeface="Inter" pitchFamily="34" charset="0"/>
                <a:ea typeface="Inter" pitchFamily="34" charset="-122"/>
                <a:cs typeface="Inter" pitchFamily="34" charset="-120"/>
              </a:rPr>
              <a:t>I never accuse on a detector score alone. My evidence is process and conversation.</a:t>
            </a:r>
            <a:endParaRPr lang="en-US" sz="2000" dirty="0"/>
          </a:p>
        </p:txBody>
      </p:sp>
      <p:sp>
        <p:nvSpPr>
          <p:cNvPr id="23" name="Text 20"/>
          <p:cNvSpPr/>
          <p:nvPr/>
        </p:nvSpPr>
        <p:spPr>
          <a:xfrm>
            <a:off x="822960" y="5623560"/>
            <a:ext cx="10332720" cy="45720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Nothing to buy, nothing to install. Three agreements, which is what integrity always was.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hand out the sheet, read the label aloud, pick assignment two.</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SHEETS ON YOUR WAY OUT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48 hours</a:t>
            </a:r>
            <a:endParaRPr lang="en-US" sz="3200" dirty="0"/>
          </a:p>
        </p:txBody>
      </p:sp>
      <p:sp>
        <p:nvSpPr>
          <p:cNvPr id="14" name="Shape 11"/>
          <p:cNvSpPr/>
          <p:nvPr/>
        </p:nvSpPr>
        <p:spPr>
          <a:xfrm>
            <a:off x="640080" y="1371600"/>
            <a:ext cx="7818120" cy="1170432"/>
          </a:xfrm>
          <a:prstGeom prst="roundRect">
            <a:avLst>
              <a:gd name="adj" fmla="val 7031"/>
            </a:avLst>
          </a:prstGeom>
          <a:solidFill>
            <a:srgbClr val="F7F5F0"/>
          </a:solidFill>
          <a:ln w="12700">
            <a:solidFill>
              <a:srgbClr val="F7F5F0"/>
            </a:solidFill>
            <a:prstDash val="solid"/>
          </a:ln>
        </p:spPr>
      </p:sp>
      <p:sp>
        <p:nvSpPr>
          <p:cNvPr id="15" name="Text 12"/>
          <p:cNvSpPr/>
          <p:nvPr/>
        </p:nvSpPr>
        <p:spPr>
          <a:xfrm>
            <a:off x="914400" y="1444752"/>
            <a:ext cx="2743200" cy="274320"/>
          </a:xfrm>
          <a:prstGeom prst="rect">
            <a:avLst/>
          </a:prstGeom>
          <a:noFill/>
          <a:ln/>
        </p:spPr>
        <p:txBody>
          <a:bodyPr wrap="square" lIns="0" tIns="0" rIns="0" bIns="0" rtlCol="0" anchor="ctr"/>
          <a:lstStyle/>
          <a:p>
            <a:pPr indent="0" marL="0">
              <a:buNone/>
            </a:pPr>
            <a:r>
              <a:rPr lang="en-US" sz="1200" b="1" spc="140" kern="0" dirty="0">
                <a:solidFill>
                  <a:srgbClr val="2A9D8F"/>
                </a:solidFill>
                <a:latin typeface="Inter" pitchFamily="34" charset="0"/>
                <a:ea typeface="Inter" pitchFamily="34" charset="-122"/>
                <a:cs typeface="Inter" pitchFamily="34" charset="-120"/>
              </a:rPr>
              <a:t>ACTION 1 · 10 min</a:t>
            </a:r>
            <a:endParaRPr lang="en-US" sz="1200" dirty="0"/>
          </a:p>
        </p:txBody>
      </p:sp>
      <p:sp>
        <p:nvSpPr>
          <p:cNvPr id="16" name="Text 13"/>
          <p:cNvSpPr/>
          <p:nvPr/>
        </p:nvSpPr>
        <p:spPr>
          <a:xfrm>
            <a:off x="914400" y="1737360"/>
            <a:ext cx="7315200" cy="731520"/>
          </a:xfrm>
          <a:prstGeom prst="rect">
            <a:avLst/>
          </a:prstGeom>
          <a:noFill/>
          <a:ln/>
        </p:spPr>
        <p:txBody>
          <a:bodyPr wrap="square" lIns="0" tIns="0" rIns="0" bIns="0" rtlCol="0" anchor="ctr"/>
          <a:lstStyle/>
          <a:p>
            <a:pPr indent="0" marL="0">
              <a:lnSpc>
                <a:spcPct val="110000"/>
              </a:lnSpc>
              <a:buNone/>
            </a:pPr>
            <a:r>
              <a:rPr lang="en-US" sz="1550" dirty="0">
                <a:solidFill>
                  <a:srgbClr val="1B1F24"/>
                </a:solidFill>
                <a:latin typeface="Inter" pitchFamily="34" charset="0"/>
                <a:ea typeface="Inter" pitchFamily="34" charset="-122"/>
                <a:cs typeface="Inter" pitchFamily="34" charset="-120"/>
              </a:rPr>
              <a:t>Hand out the assignment you just rebuilt, and read the AI line aloud when you assign it. Sixty seconds is the whole rollout.</a:t>
            </a:r>
            <a:endParaRPr lang="en-US" sz="1550" dirty="0"/>
          </a:p>
        </p:txBody>
      </p:sp>
      <p:sp>
        <p:nvSpPr>
          <p:cNvPr id="17" name="Shape 14"/>
          <p:cNvSpPr/>
          <p:nvPr/>
        </p:nvSpPr>
        <p:spPr>
          <a:xfrm>
            <a:off x="640080" y="2670048"/>
            <a:ext cx="7818120" cy="1170432"/>
          </a:xfrm>
          <a:prstGeom prst="roundRect">
            <a:avLst>
              <a:gd name="adj" fmla="val 7031"/>
            </a:avLst>
          </a:prstGeom>
          <a:solidFill>
            <a:srgbClr val="F7F5F0"/>
          </a:solidFill>
          <a:ln w="12700">
            <a:solidFill>
              <a:srgbClr val="F7F5F0"/>
            </a:solidFill>
            <a:prstDash val="solid"/>
          </a:ln>
        </p:spPr>
      </p:sp>
      <p:sp>
        <p:nvSpPr>
          <p:cNvPr id="18" name="Text 15"/>
          <p:cNvSpPr/>
          <p:nvPr/>
        </p:nvSpPr>
        <p:spPr>
          <a:xfrm>
            <a:off x="914400" y="2743200"/>
            <a:ext cx="2743200" cy="274320"/>
          </a:xfrm>
          <a:prstGeom prst="rect">
            <a:avLst/>
          </a:prstGeom>
          <a:noFill/>
          <a:ln/>
        </p:spPr>
        <p:txBody>
          <a:bodyPr wrap="square" lIns="0" tIns="0" rIns="0" bIns="0" rtlCol="0" anchor="ctr"/>
          <a:lstStyle/>
          <a:p>
            <a:pPr indent="0" marL="0">
              <a:buNone/>
            </a:pPr>
            <a:r>
              <a:rPr lang="en-US" sz="1200" b="1" spc="140" kern="0" dirty="0">
                <a:solidFill>
                  <a:srgbClr val="2A9D8F"/>
                </a:solidFill>
                <a:latin typeface="Inter" pitchFamily="34" charset="0"/>
                <a:ea typeface="Inter" pitchFamily="34" charset="-122"/>
                <a:cs typeface="Inter" pitchFamily="34" charset="-120"/>
              </a:rPr>
              <a:t>ACTION 2 · 10 min</a:t>
            </a:r>
            <a:endParaRPr lang="en-US" sz="1200" dirty="0"/>
          </a:p>
        </p:txBody>
      </p:sp>
      <p:sp>
        <p:nvSpPr>
          <p:cNvPr id="19" name="Text 16"/>
          <p:cNvSpPr/>
          <p:nvPr/>
        </p:nvSpPr>
        <p:spPr>
          <a:xfrm>
            <a:off x="914400" y="3035808"/>
            <a:ext cx="7315200" cy="731520"/>
          </a:xfrm>
          <a:prstGeom prst="rect">
            <a:avLst/>
          </a:prstGeom>
          <a:noFill/>
          <a:ln/>
        </p:spPr>
        <p:txBody>
          <a:bodyPr wrap="square" lIns="0" tIns="0" rIns="0" bIns="0" rtlCol="0" anchor="ctr"/>
          <a:lstStyle/>
          <a:p>
            <a:pPr indent="0" marL="0">
              <a:lnSpc>
                <a:spcPct val="110000"/>
              </a:lnSpc>
              <a:buNone/>
            </a:pPr>
            <a:r>
              <a:rPr lang="en-US" sz="1550" dirty="0">
                <a:solidFill>
                  <a:srgbClr val="1B1F24"/>
                </a:solidFill>
                <a:latin typeface="Inter" pitchFamily="34" charset="0"/>
                <a:ea typeface="Inter" pitchFamily="34" charset="-122"/>
                <a:cs typeface="Inter" pitchFamily="34" charset="-120"/>
              </a:rPr>
              <a:t>Pick assignment number two and add its one thing. The second one takes half as long as the first.</a:t>
            </a:r>
            <a:endParaRPr lang="en-US" sz="1550" dirty="0"/>
          </a:p>
        </p:txBody>
      </p:sp>
      <p:sp>
        <p:nvSpPr>
          <p:cNvPr id="20" name="Shape 17"/>
          <p:cNvSpPr/>
          <p:nvPr/>
        </p:nvSpPr>
        <p:spPr>
          <a:xfrm>
            <a:off x="640080" y="3968496"/>
            <a:ext cx="7818120" cy="1170432"/>
          </a:xfrm>
          <a:prstGeom prst="roundRect">
            <a:avLst>
              <a:gd name="adj" fmla="val 7031"/>
            </a:avLst>
          </a:prstGeom>
          <a:solidFill>
            <a:srgbClr val="F7F5F0"/>
          </a:solidFill>
          <a:ln w="12700">
            <a:solidFill>
              <a:srgbClr val="F7F5F0"/>
            </a:solidFill>
            <a:prstDash val="solid"/>
          </a:ln>
        </p:spPr>
      </p:sp>
      <p:sp>
        <p:nvSpPr>
          <p:cNvPr id="21" name="Text 18"/>
          <p:cNvSpPr/>
          <p:nvPr/>
        </p:nvSpPr>
        <p:spPr>
          <a:xfrm>
            <a:off x="914400" y="4041648"/>
            <a:ext cx="2743200" cy="274320"/>
          </a:xfrm>
          <a:prstGeom prst="rect">
            <a:avLst/>
          </a:prstGeom>
          <a:noFill/>
          <a:ln/>
        </p:spPr>
        <p:txBody>
          <a:bodyPr wrap="square" lIns="0" tIns="0" rIns="0" bIns="0" rtlCol="0" anchor="ctr"/>
          <a:lstStyle/>
          <a:p>
            <a:pPr indent="0" marL="0">
              <a:buNone/>
            </a:pPr>
            <a:r>
              <a:rPr lang="en-US" sz="1200" b="1" spc="140" kern="0" dirty="0">
                <a:solidFill>
                  <a:srgbClr val="2A9D8F"/>
                </a:solidFill>
                <a:latin typeface="Inter" pitchFamily="34" charset="0"/>
                <a:ea typeface="Inter" pitchFamily="34" charset="-122"/>
                <a:cs typeface="Inter" pitchFamily="34" charset="-120"/>
              </a:rPr>
              <a:t>ACTION 3 · 2 min</a:t>
            </a:r>
            <a:endParaRPr lang="en-US" sz="1200" dirty="0"/>
          </a:p>
        </p:txBody>
      </p:sp>
      <p:sp>
        <p:nvSpPr>
          <p:cNvPr id="22" name="Text 19"/>
          <p:cNvSpPr/>
          <p:nvPr/>
        </p:nvSpPr>
        <p:spPr>
          <a:xfrm>
            <a:off x="914400" y="4334256"/>
            <a:ext cx="7315200" cy="731520"/>
          </a:xfrm>
          <a:prstGeom prst="rect">
            <a:avLst/>
          </a:prstGeom>
          <a:noFill/>
          <a:ln/>
        </p:spPr>
        <p:txBody>
          <a:bodyPr wrap="square" lIns="0" tIns="0" rIns="0" bIns="0" rtlCol="0" anchor="ctr"/>
          <a:lstStyle/>
          <a:p>
            <a:pPr indent="0" marL="0">
              <a:lnSpc>
                <a:spcPct val="110000"/>
              </a:lnSpc>
              <a:buNone/>
            </a:pPr>
            <a:r>
              <a:rPr lang="en-US" sz="1550" dirty="0">
                <a:solidFill>
                  <a:srgbClr val="1B1F24"/>
                </a:solidFill>
                <a:latin typeface="Inter" pitchFamily="34" charset="0"/>
                <a:ea typeface="Inter" pitchFamily="34" charset="-122"/>
                <a:cs typeface="Inter" pitchFamily="34" charset="-120"/>
              </a:rPr>
              <a:t>Put the conversation opener where the tired version of you will find it: inside the gradebook, pinned in your notes app.</a:t>
            </a:r>
            <a:endParaRPr lang="en-US" sz="1550" dirty="0"/>
          </a:p>
        </p:txBody>
      </p:sp>
      <p:sp>
        <p:nvSpPr>
          <p:cNvPr id="23" name="Shape 20"/>
          <p:cNvSpPr/>
          <p:nvPr/>
        </p:nvSpPr>
        <p:spPr>
          <a:xfrm>
            <a:off x="8732520" y="1371600"/>
            <a:ext cx="2926080" cy="3712464"/>
          </a:xfrm>
          <a:prstGeom prst="roundRect">
            <a:avLst>
              <a:gd name="adj" fmla="val 2813"/>
            </a:avLst>
          </a:prstGeom>
          <a:solidFill>
            <a:srgbClr val="13293D"/>
          </a:solidFill>
          <a:ln w="12700">
            <a:solidFill>
              <a:srgbClr val="13293D"/>
            </a:solidFill>
            <a:prstDash val="solid"/>
          </a:ln>
        </p:spPr>
      </p:sp>
      <p:sp>
        <p:nvSpPr>
          <p:cNvPr id="24" name="Text 21"/>
          <p:cNvSpPr/>
          <p:nvPr/>
        </p:nvSpPr>
        <p:spPr>
          <a:xfrm>
            <a:off x="9006840" y="1554480"/>
            <a:ext cx="2468880" cy="365760"/>
          </a:xfrm>
          <a:prstGeom prst="rect">
            <a:avLst/>
          </a:prstGeom>
          <a:noFill/>
          <a:ln/>
        </p:spPr>
        <p:txBody>
          <a:bodyPr wrap="square" lIns="0" tIns="0" rIns="0" bIns="0" rtlCol="0" anchor="ctr"/>
          <a:lstStyle/>
          <a:p>
            <a:pPr indent="0" marL="0">
              <a:buNone/>
            </a:pPr>
            <a:r>
              <a:rPr lang="en-US" sz="1700" b="1" dirty="0">
                <a:solidFill>
                  <a:srgbClr val="F4A825"/>
                </a:solidFill>
                <a:latin typeface="Inter" pitchFamily="34" charset="0"/>
                <a:ea typeface="Inter" pitchFamily="34" charset="-122"/>
                <a:cs typeface="Inter" pitchFamily="34" charset="-120"/>
              </a:rPr>
              <a:t>Exit ticket</a:t>
            </a:r>
            <a:endParaRPr lang="en-US" sz="1700" dirty="0"/>
          </a:p>
        </p:txBody>
      </p:sp>
      <p:sp>
        <p:nvSpPr>
          <p:cNvPr id="25" name="Text 22"/>
          <p:cNvSpPr/>
          <p:nvPr/>
        </p:nvSpPr>
        <p:spPr>
          <a:xfrm>
            <a:off x="9006840" y="1965960"/>
            <a:ext cx="2468880" cy="292608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Inter" pitchFamily="34" charset="0"/>
                <a:ea typeface="Inter" pitchFamily="34" charset="-122"/>
                <a:cs typeface="Inter" pitchFamily="34" charset="-120"/>
              </a:rPr>
              <a:t>Your assignment. The sentence you added. Which of the three places it came from. Your one line about AI.</a:t>
            </a:r>
            <a:endParaRPr lang="en-US" sz="1400" dirty="0"/>
          </a:p>
          <a:p>
            <a:pPr indent="0" marL="0">
              <a:lnSpc>
                <a:spcPct val="110000"/>
              </a:lnSpc>
              <a:buNone/>
            </a:pPr>
            <a:endParaRPr lang="en-US" sz="1400" dirty="0"/>
          </a:p>
          <a:p>
            <a:pPr indent="0" marL="0">
              <a:lnSpc>
                <a:spcPct val="110000"/>
              </a:lnSpc>
              <a:buNone/>
            </a:pPr>
            <a:r>
              <a:rPr lang="en-US" sz="1400" dirty="0">
                <a:solidFill>
                  <a:srgbClr val="FFFFFF"/>
                </a:solidFill>
                <a:latin typeface="Inter" pitchFamily="34" charset="0"/>
                <a:ea typeface="Inter" pitchFamily="34" charset="-122"/>
                <a:cs typeface="Inter" pitchFamily="34" charset="-120"/>
              </a:rPr>
              <a:t>It doubles as your PD documentation, and it sets the agenda for the follow-ups, so make it real.</a:t>
            </a:r>
            <a:endParaRPr lang="en-US" sz="1400" dirty="0"/>
          </a:p>
        </p:txBody>
      </p:sp>
      <p:sp>
        <p:nvSpPr>
          <p:cNvPr id="26" name="Shape 23"/>
          <p:cNvSpPr/>
          <p:nvPr/>
        </p:nvSpPr>
        <p:spPr>
          <a:xfrm>
            <a:off x="640080" y="5303520"/>
            <a:ext cx="10972800" cy="658368"/>
          </a:xfrm>
          <a:prstGeom prst="roundRect">
            <a:avLst>
              <a:gd name="adj" fmla="val 12500"/>
            </a:avLst>
          </a:prstGeom>
          <a:solidFill>
            <a:srgbClr val="13293D"/>
          </a:solidFill>
          <a:ln w="12700">
            <a:solidFill>
              <a:srgbClr val="13293D"/>
            </a:solidFill>
            <a:prstDash val="solid"/>
          </a:ln>
        </p:spPr>
      </p:sp>
      <p:sp>
        <p:nvSpPr>
          <p:cNvPr id="27" name="Text 24"/>
          <p:cNvSpPr/>
          <p:nvPr/>
        </p:nvSpPr>
        <p:spPr>
          <a:xfrm>
            <a:off x="960120" y="5303520"/>
            <a:ext cx="10332720" cy="658368"/>
          </a:xfrm>
          <a:prstGeom prst="rect">
            <a:avLst/>
          </a:prstGeom>
          <a:noFill/>
          <a:ln/>
        </p:spPr>
        <p:txBody>
          <a:bodyPr wrap="square" lIns="0" tIns="0" rIns="0" bIns="0" rtlCol="0" anchor="ctr"/>
          <a:lstStyle/>
          <a:p>
            <a:pPr algn="ctr" indent="0" marL="0">
              <a:buNone/>
            </a:pPr>
            <a:r>
              <a:rPr lang="en-US" sz="1700" b="1" dirty="0">
                <a:solidFill>
                  <a:srgbClr val="2A9D8F"/>
                </a:solidFill>
                <a:latin typeface="Inter" pitchFamily="34" charset="0"/>
                <a:ea typeface="Inter" pitchFamily="34" charset="-122"/>
                <a:cs typeface="Inter" pitchFamily="34" charset="-120"/>
              </a:rPr>
              <a:t>Three actions, none over fifteen minutes. </a:t>
            </a:r>
            <a:pPr algn="ctr" indent="0" marL="0">
              <a:buNone/>
            </a:pPr>
            <a:r>
              <a:rPr lang="en-US" sz="1700" dirty="0">
                <a:solidFill>
                  <a:srgbClr val="FFFFFF"/>
                </a:solidFill>
                <a:latin typeface="Inter" pitchFamily="34" charset="0"/>
                <a:ea typeface="Inter" pitchFamily="34" charset="-122"/>
                <a:cs typeface="Inter" pitchFamily="34" charset="-120"/>
              </a:rPr>
              <a:t>The difference between a PD hour and a changed classroom.</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30</a:t>
            </a:r>
            <a:endParaRPr lang="en-US" sz="900" dirty="0"/>
          </a:p>
        </p:txBody>
      </p:sp>
      <p:sp>
        <p:nvSpPr>
          <p:cNvPr id="5" name="Text 2"/>
          <p:cNvSpPr/>
          <p:nvPr/>
        </p:nvSpPr>
        <p:spPr>
          <a:xfrm>
            <a:off x="822960" y="1463040"/>
            <a:ext cx="10515600" cy="1554480"/>
          </a:xfrm>
          <a:prstGeom prst="rect">
            <a:avLst/>
          </a:prstGeom>
          <a:noFill/>
          <a:ln/>
        </p:spPr>
        <p:txBody>
          <a:bodyPr wrap="square" lIns="0" tIns="0" rIns="0" bIns="0" rtlCol="0" anchor="ctr"/>
          <a:lstStyle/>
          <a:p>
            <a:pPr indent="0" marL="0">
              <a:lnSpc>
                <a:spcPct val="115000"/>
              </a:lnSpc>
              <a:buNone/>
            </a:pPr>
            <a:r>
              <a:rPr lang="en-US" sz="3400" b="1" dirty="0">
                <a:solidFill>
                  <a:srgbClr val="FFFFFF"/>
                </a:solidFill>
                <a:latin typeface="Inter" pitchFamily="34" charset="0"/>
                <a:ea typeface="Inter" pitchFamily="34" charset="-122"/>
                <a:cs typeface="Inter" pitchFamily="34" charset="-120"/>
              </a:rPr>
              <a:t>Nobody in this building is going to win</a:t>
            </a:r>
            <a:endParaRPr lang="en-US" sz="3400" dirty="0"/>
          </a:p>
          <a:p>
            <a:pPr indent="0" marL="0">
              <a:lnSpc>
                <a:spcPct val="115000"/>
              </a:lnSpc>
              <a:buNone/>
            </a:pPr>
            <a:r>
              <a:rPr lang="en-US" sz="3400" b="1" dirty="0">
                <a:solidFill>
                  <a:srgbClr val="FFFFFF"/>
                </a:solidFill>
                <a:latin typeface="Inter" pitchFamily="34" charset="0"/>
                <a:ea typeface="Inter" pitchFamily="34" charset="-122"/>
                <a:cs typeface="Inter" pitchFamily="34" charset="-120"/>
              </a:rPr>
              <a:t>a detection arms race.</a:t>
            </a:r>
            <a:endParaRPr lang="en-US" sz="3400" dirty="0"/>
          </a:p>
        </p:txBody>
      </p:sp>
      <p:sp>
        <p:nvSpPr>
          <p:cNvPr id="6" name="Text 3"/>
          <p:cNvSpPr/>
          <p:nvPr/>
        </p:nvSpPr>
        <p:spPr>
          <a:xfrm>
            <a:off x="822960" y="3200400"/>
            <a:ext cx="10332720" cy="13716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What you can do is ask for the one thing that was only ever available in your room, from your students, in front of you. That is not a workaround. That is the reason a class meets in person at all, and you just wrote it onto an assignment.</a:t>
            </a:r>
            <a:endParaRPr lang="en-US" sz="2000" dirty="0"/>
          </a:p>
        </p:txBody>
      </p:sp>
      <p:sp>
        <p:nvSpPr>
          <p:cNvPr id="7" name="Text 4"/>
          <p:cNvSpPr/>
          <p:nvPr/>
        </p:nvSpPr>
        <p:spPr>
          <a:xfrm>
            <a:off x="822960" y="5120640"/>
            <a:ext cx="10332720" cy="45720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Next: Kit 6 · AI for Communication: Parent Messages, Translation, and Tone</a:t>
            </a:r>
            <a:endParaRPr lang="en-US" sz="1600" dirty="0"/>
          </a:p>
        </p:txBody>
      </p:sp>
      <p:sp>
        <p:nvSpPr>
          <p:cNvPr id="8" name="Text 5"/>
          <p:cNvSpPr/>
          <p:nvPr/>
        </p:nvSpPr>
        <p:spPr>
          <a:xfrm>
            <a:off x="822960" y="5623560"/>
            <a:ext cx="10332720" cy="45720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Thanks for the hour. Go hand out that sheet.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5: AI &amp; Academic Integrity: Ask for One Thing AI Can't Hand In</dc:title>
  <dc:subject>PptxGenJS Presentation</dc:subject>
  <dc:creator>Adam &amp; Katelyn Spinozzi</dc:creator>
  <cp:lastModifiedBy>Adam &amp; Katelyn Spinozzi</cp:lastModifiedBy>
  <cp:revision>1</cp:revision>
  <dcterms:created xsi:type="dcterms:W3CDTF">2026-08-17T11:38:19Z</dcterms:created>
  <dcterms:modified xsi:type="dcterms:W3CDTF">2026-08-17T11:38:19Z</dcterms:modified>
</cp:coreProperties>
</file>