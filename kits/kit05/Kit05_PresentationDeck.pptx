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arrive. Start on time. The founders' note at the front of the script is an optional moment before slide 2 if you want to share their perspective.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numbers verified: Pew (2026) 54% of teens use AI for schoolwork; RAND RR-A4180-1 (2025) 54% of students, guidance lagging. The framing: use is normal, rules are absent.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Lee, Pope, Miles &amp; Zárate (2024), Computers and Education: AI. Same-school before/after comparison. The deliberate visual: the two numbers are identical.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quick. The promise: a real assignment leaves this room with its AI rules written.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Stanford GSE / Challenge Success: 15+ years of student surveys. Cheating correlates with disengagement, pressure, stress, feeling disrespected; rarely tool access.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OpenAI Terms of Use: 13+, parental permission under 18. The ban critique is structural, not moral: it punishes honesty and forfeits the teaching opportunity.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stats verified. Land the equity point: think about which students get accused under detector policing. This slide sets up the session red line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slide, said slowly. This is the line staff must carry out of the room. Everything after this slide is the constructive alternative.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framework. Lanes are per assignment, and parts of one assignment can sit in different lanes (that lands on slide 12 and in the lab).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labels are on the handout verbatim, ready to copy onto assignments.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soft landing is load-bearing: punish disclosure once and the whole class learns to hide. Say that sentence explicitly.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 after the room calls each one. 45-min cut: scenarios 1 and 3 only. Scenario 4 sets up the design segment: when a rule is unenforceable, design carries the integrity.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of four moves. Emphasize: these are better teaching regardless of AI; integrity is a side effect of good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Warn against overcorrecting: four moves on every assignment is burnout. One is enough.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script staff will actually use. Process evidence stands up with parents and admin; vibes and scores don't.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slide, read slowly. Never trim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ICAI Fundamental Values (3rd ed., 2021). One minute, then the lab. Frame: we're building conditions where honest work is normal, not a surveillance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slide. Pairs formed inside two minutes. This lab is thinking and writing, not prompting; Wi-Fi optional. Protect every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minutes. Circulate. The common stall is an assignment with parts in different lanes; the fix is naming a lane per 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template on the left; on the right is Ms. Rivera's finished box for her persuasive essay (our running composite example, same teacher whose screen you saw in Kits 1-4). Mimic her box with your own assignment: at worst, copy its shape line for line. 6 minutes. Push for student language, not policy language. 45-min cut: lane line + disclosure line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minutes. One move only. Weakest results come from bolting on a quiz; strongest from local anchors and visible thinking.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minutes, quiet writing, alone. This is the step people thank you for later. The handout has a box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 cut: two voices. If a box is excellent, name it as the staff model on the spot.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inventory land. The consistency point is the school-level win.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honest-limits slide every kit carries. End on the relationships line; it's the one they'll repeat.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slide. Read all three, then the closing line. These commitments echo Kit 1's format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Week 4 classroom agreement is where this takes root; flag it as the destination.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the sheet out as you talk. Small actions; the difference between a PD hour and a changed school.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gray-area answers set follow-up #2's calibration case. Collect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You just wrote the answers to those three questions for your classroom.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5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Academic Integrity: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Setting Clear Expectations with Students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session. You leave with your next assignment's AI rules written, in language students can quote back.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reality check: half her students use AI; nobody told them the rules.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STUDENTS USE AI. MOST WERE NEVER TOLD THE RULES.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elephant, measured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MANY TEENS USE AI FOR SCHOOL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54%</a:t>
            </a:r>
            <a:endParaRPr lang="en-US" sz="5200" dirty="0"/>
          </a:p>
        </p:txBody>
      </p:sp>
      <p:sp>
        <p:nvSpPr>
          <p:cNvPr id="17" name="Text 14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U.S. teens say they use AI to help with schoolwork. (Pew Research Center, 2026)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SCHOOLS HAVE TOLD THEM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much</a:t>
            </a:r>
            <a:endParaRPr lang="en-US" sz="4400" dirty="0"/>
          </a:p>
        </p:txBody>
      </p:sp>
      <p:sp>
        <p:nvSpPr>
          <p:cNvPr id="21" name="Text 18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RAND finds student AI use at 54% while school guidance lags far behind adoption. Most students are guessing at the rules. (RAND, 2025)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silence is the problem we can fix today.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blood pressure, lowered: the cheating rate didn't move.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CHATGPT VS. AFTER: THE STANFORD SURVEYS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number that should lower your blood pressure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CHEATING BEFORE CHATGPT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60–70%</a:t>
            </a:r>
            <a:endParaRPr lang="en-US" sz="5200" dirty="0"/>
          </a:p>
        </p:txBody>
      </p:sp>
      <p:sp>
        <p:nvSpPr>
          <p:cNvPr id="17" name="Text 14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high schoolers self-reported some cheating behavior in the years before ChatGPT existed. (Lee, Pope et al., 2024)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CHEATING AFTER CHATGPT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60–70%</a:t>
            </a:r>
            <a:endParaRPr lang="en-US" sz="5200" dirty="0"/>
          </a:p>
        </p:txBody>
      </p:sp>
      <p:sp>
        <p:nvSpPr>
          <p:cNvPr id="21" name="Text 18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schools, surveyed after: the rate did not move. The forms shift; the amount doesn't. (Same study)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 is older than the bot. Panic is not a policy; clarity is.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goal: her next assignment leaves with its AI rules written on it.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0:05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actually happening, and the two traps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three lanes + the disclosure norm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0:20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moves + the hard conversation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the integrity plan for a real assignment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0:49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+ first 48 hours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with your next assignment's lane named, its AI-expectation box written, and your words for the hard conversation. Ready before you need them.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lens: kids cheat from pressure and disengagement, not tool access.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FIFTEEN YEARS OF ASKING STUDENTS DIRECTLY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students actually cheat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Disengagement: the work feels like busywork with a due date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Pressure: grades, college, family expectations, not enough sleep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feeling respected or connected to the teacher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Almost never: "because a new tool exists"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44805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1772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changes what a stressed, disengaged kid does at 11 p.m. It doesn't create the stress or the disengagement. So the strategy can't just be about AI.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verdict on bans: honest kids lose, teaching stops. Not her policy.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TRAP #1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pretend ban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"No AI, ever," announced to a hallway where half the students already use it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kids follow it, and compete against classmates who don't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Dishonest use goes underground, where nobody can teach about it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school's official rule becomes one everyone knows is fake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44805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1772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knowing: </a:t>
            </a:r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major chatbots' own terms require users 13+, with parent permission under 18. Age rules are real and belong in your expectations. "Banned because we said so" is not a strategy.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verdict on detectors: the maker shut its own down. Not evidence.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TRAP #2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Detector policing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OPENAI'S OWN DETECTOR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Shut down</a:t>
            </a:r>
            <a:endParaRPr lang="en-US" sz="4400" dirty="0"/>
          </a:p>
        </p:txBody>
      </p:sp>
      <p:sp>
        <p:nvSpPr>
          <p:cNvPr id="17" name="Text 14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OpenAI retired its own AI-text detector within six months "due to its low rate of accuracy": it caught 26% of AI text and falsely flagged human writing 9% of the time. (OpenAI, 2023)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GETS FALSELY FLAGGED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&gt;50%</a:t>
            </a:r>
            <a:endParaRPr lang="en-US" sz="5200" dirty="0"/>
          </a:p>
        </p:txBody>
      </p:sp>
      <p:sp>
        <p:nvSpPr>
          <p:cNvPr id="21" name="Text 18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real essays by non-native English speakers were misclassified as AI by commercial detectors. Native speakers: almost never. (Liang et al., Patterns, 2023)</a:t>
            </a:r>
            <a:endParaRPr lang="en-US" sz="1550" dirty="0"/>
          </a:p>
        </p:txBody>
      </p:sp>
      <p:sp>
        <p:nvSpPr>
          <p:cNvPr id="22" name="Text 19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detector score is not evidence.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red line, adopted: no accusation on a detector score alone.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RED LINE OF THIS SESSION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21031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accusation ever rests on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detector score alone.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822960" y="411480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works instead: clear expectations per assignment · assignments where the thinking is visible · a fair conversation when something feels wrong. Nothing to buy. That's the rest of this hour.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framework: three lanes. AI-free, AI-assisted, AI-included.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FRAMEWORK OF THE DAY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lanes, no fog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3520440" cy="393192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868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AI-FREE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68680" y="2286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point is your own thinking, from scratch.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68680" y="40233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In-class essays · skills checks · diagnostic drafts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4343400" y="1554480"/>
            <a:ext cx="3520440" cy="393192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7200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AI-ASSISTED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4572000" y="2286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Brainstorm, feedback, polish allowed; thinking stays yours; use is disclosed.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4572000" y="40233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take-home writing · projects · prep work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8046720" y="1554480"/>
            <a:ext cx="3520440" cy="393192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7532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AI-INCLUDED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8275320" y="2286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Using AI well is part of the task; your judgment is what's graded.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275320" y="40233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 comparisons · prompt-craft tasks · AI critiques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"Is this cheating?" becomes "what lane is this assignment in?"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labels, ready to print: one line per lane, in student words.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DELIVERY MECHANISM: ONE PRINTED LINE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one-line label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6916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1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377440" y="169164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"AI-free. This one is all you; I need to see your own thinking to teach you well."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40080" y="278892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2926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2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2377440" y="292608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"AI-assisted. Brainstorming and feedback are fine; write the final yourself and note what you used."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40080" y="402336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416052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2377440" y="416052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"AI-included. Use the tool; show your prompts; your judgment is what's being graded."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640080" y="54864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can follow rules they can see. They can't follow rules that change teacher to teacher.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disclosure norm: two lines: what tool, what it did. Honesty lands soft.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2'S ENGINE: CITATION, POINTED AT AI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disclosure norm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0876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6916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lines at the end of the work: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914400" y="210312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"I used a chatbot to brainstorm three opening ideas and picked one."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"I pasted my draft in and used two of its suggestions."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40080" y="3474720"/>
            <a:ext cx="1090879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Disclosure turns AI use from a secret into a skill: the habit professionals need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culture where disclosure is normal makes hiding the exception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soft-landing rule: if a student disclosed it, the conversation is coaching, not consequences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calls: quiz lane 1, essay lane 2, research lane 3, homework = design.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 · CALL IT OUT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 the lane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731520" y="15544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371600" y="150876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vocabulary quiz, taken in class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7315200" y="150876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1: the point is what's in their heads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31520" y="265176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1371600" y="26060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Persuasive essay; you care about the argument, not drafting stamina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7315200" y="26060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Usually lane 2: assisted, disclosed, final draft theirs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31520" y="37490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371600" y="370332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Career-research project comparing AI answers to real sources</a:t>
            </a:r>
            <a:endParaRPr lang="en-US" sz="1650" dirty="0"/>
          </a:p>
        </p:txBody>
      </p:sp>
      <p:sp>
        <p:nvSpPr>
          <p:cNvPr id="22" name="Text 19"/>
          <p:cNvSpPr/>
          <p:nvPr/>
        </p:nvSpPr>
        <p:spPr>
          <a:xfrm>
            <a:off x="7315200" y="3703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3: questioning the tool IS the skill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31520" y="48463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371600" y="4800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Math practice problems for tomorrow (the trick one)</a:t>
            </a:r>
            <a:endParaRPr lang="en-US" sz="1650" dirty="0"/>
          </a:p>
        </p:txBody>
      </p:sp>
      <p:sp>
        <p:nvSpPr>
          <p:cNvPr id="25" name="Text 22"/>
          <p:cNvSpPr/>
          <p:nvPr/>
        </p:nvSpPr>
        <p:spPr>
          <a:xfrm>
            <a:off x="7315200" y="48006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1 by intent, unenforceable at home: design must carry it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design moves: visible thinking, plus anchors from Tuesday's class.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MOVES · HONEST WORK AS THE EASY PATH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1: visible thinking · Move 2: local anchors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525780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868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THE THINKING VISIBLE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6868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 the outline, the messy draft, the version history. Grade the journey, not just the destination.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finished essay is easy to fake. A thinking trail is hard to fake, and better assessment anyway.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263640" y="1554480"/>
            <a:ext cx="525780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9224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ANCHOR IT LOCALLY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49224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 the task to Tuesday's discussion, the lab you ran, their own experience, the guest speaker.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chatbot has never been in your classroom. The more the task depends on the room, the less a generic tool can do it.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other moves: a two-minute live defense; the process in the rubric.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MOVES · HONEST WORK AS THE EASY PATH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3: live thinking · Move 4: assessed process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525780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868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SOME THINKING LIVE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6868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two-minute "defend your choice," an in-class quick-write, a cold question about their own essay.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gotcha: a normal part of how work gets finished here. Students who did the thinking enjoy it.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263640" y="1554480"/>
            <a:ext cx="525780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9224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 THE PROCESS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49224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AI is allowed, grade the disclosure line, the prompts, and a short accept/reject reflection.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use becomes work you can see and teach, instead of a shortcut you have to suspect.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move per assignment is usually enough to change the honesty math.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opener, rehearsed: 'walk me through how you made this.'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SOMETHING FEELS WRONG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conversation: curiosity first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6304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65760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"Walk me through how you made this. What did you start with? What was the hardest part?"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40080" y="251460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2606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specific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3657600" y="26060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"Tell me more about this paragraph. What does this word mean here?"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40080" y="356616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36576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Gather process evidence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657600" y="36576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they explain their choices? Is there a draft? Does in-class writing match?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40080" y="461772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4400" y="4709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 it fairly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3657600" y="47091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offense under a new rule: teach the lane, reset. Pattern: your school's process, evidence in hand.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student who did the work answers easily. A student who didn't will show you, gently.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never list: no confession-first, no score-only, never public.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NEVER LIST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14400" y="178308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554480" y="178308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open with "did you use AI?": it asks for a confession before a conversation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914400" y="27432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1554480" y="274320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accuse on a detector score alone: you've seen the accuracy and the bias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914400" y="37033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1554480" y="37033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make it public: integrity conversations happen one-on-one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914400" y="4663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1554480" y="46634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forget: until the lane was labeled, many students were never told the rule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822960" y="5715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offense under a brand-new expectation is a teaching moment, almost every time.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why: six values a false accusation breaks and clear rules build.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BIGGER THAN CATCHING ANYBODY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integrity protects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459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6459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Honesty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4343400" y="16459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343400" y="16459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8046720" y="16459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46720" y="16459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Fairness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640080" y="30175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" y="30175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4343400" y="30175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343400" y="30175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Responsibility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8046720" y="30175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046720" y="30175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Courage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640080" y="46634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six fundamental values of academic integrity (International Center for Academic Integrity). Every one is damaged by a false accusation, and strengthened by clear rules fairly applied.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lab pick: the persuasive essay she assigns next week.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828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~19 MINUTES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your next real assignment.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658368" y="23774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something you'll actually give in the next two weeks: an essay, a project, a problem set, a shop build. Pairs; paper or device both fine.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68680" y="348386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34838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600200" y="342900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 of any kind</a:t>
            </a:r>
            <a:endParaRPr lang="en-US" sz="2100" dirty="0"/>
          </a:p>
        </p:txBody>
      </p:sp>
      <p:sp>
        <p:nvSpPr>
          <p:cNvPr id="18" name="Shape 15"/>
          <p:cNvSpPr/>
          <p:nvPr/>
        </p:nvSpPr>
        <p:spPr>
          <a:xfrm>
            <a:off x="868680" y="430682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43068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600200" y="42519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plan gets a second set of eyes: work in pairs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868680" y="512978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68680" y="5129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600200" y="50749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deliverables: the lane, the box, one design move, your two sentences</a:t>
            </a:r>
            <a:endParaRPr lang="en-US" sz="2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lanes: research lane 3, final draft lane 1. Defended in one sentence.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4 · 3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lane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lane for the whole assignment, or a lane per part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"Research lane 3, final draft lane 1" is a perfectly good answer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 your lane out loud to your partner and defend it in one sentence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Can't defend it? The assignment might not know what it's assessing yet.</a:t>
            </a:r>
            <a:endParaRPr lang="en-US" sz="2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4 · 6 MINUTES · THE HEART OF THE LAB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AI-expectation box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94960" cy="3566160"/>
          </a:xfrm>
          <a:prstGeom prst="roundRect">
            <a:avLst>
              <a:gd name="adj" fmla="val 230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276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TEMPLATE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196596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[1 / 2 / 3], because [what this assignment teaches]
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Okay: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[what's allowed, in student words]
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okay: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[what's not, in student words]
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used AI: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lines: what tool, what it did
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something seems off: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walk through the work together.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94960" cy="3566160"/>
          </a:xfrm>
          <a:prstGeom prst="roundRect">
            <a:avLst>
              <a:gd name="adj" fmla="val 230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16276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BOX · PERSUASIVE ESSAY (COMPOSITE EXAMPLE)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537960" y="196596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AI-assisted, because I'm grading your argument, not your typing.
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Okay: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brainstorming ideas; feedback on your draft.
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okay: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turning in sentences you didn't write.
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used AI: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lines at the end.
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something seems off: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we'll talk it through, not write it up.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" y="52578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test: could a ninth grader read your box and know exactly what's okay tonight?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design change: outline due Thursday, worth ten points.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4 · 6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one design move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visible-thinking checkpoint (outline, draft, version history)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Anchor a prompt to something that happened in your room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a two-minute live defense as a normal step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Fold disclosure + a short reflection into the rubric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44805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1772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actual change: what's due, when, worth how much. Then tell your partner why this move makes honest work easier than faking it.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two sentences: written calm, filed where frustrated-her will look.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4 OF 4 · 4 MINUTES · ALONE, QUIET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your two sentences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2377440"/>
          </a:xfrm>
          <a:prstGeom prst="roundRect">
            <a:avLst>
              <a:gd name="adj" fmla="val 346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182880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two sentences you'll say when work feels wrong.</a:t>
            </a:r>
            <a:endParaRPr lang="en-US" sz="2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your voice. Starting with curiosity. Written now, calm, instead of improvised upset.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640080" y="42976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sentences you'd want said to your own child.</a:t>
            </a:r>
            <a:endParaRPr lang="en-US" sz="2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share-out: the box, read aloud, in student words.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SHARE-OUT · 4 VOICES, 1 MINUTE EACH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us your box, or your sentences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voices, one minute each: your expectation box or your two sentences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for how different subjects landed in different lanes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 lane mixes across departments isn't inconsistency; it's the framework working.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inventory: lane, box, one design move, two sentences.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NINETEEN MINUTES OF WORK, ON THE RECORD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inventory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real assignment with its lane named. An AI-expectation box in student language. One design change that makes thinking visible. And your own two sentences for the hard moment, written calm.
</a:t>
            </a:r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Multiply by this room: five teachers, one answer to "what's allowed?" That consistency is something no detector subscription sells.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honesty: some will still cheat. Honest kids now know the rules.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SERIES DOESN'T OVERSELL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limits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students will still cheat; 60–70% did long before the chatbot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will not catch everything, and that was never the goal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goal: honest students know the rules, and dishonest work stops paying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this survives without relationships. Lanes and boxes are paper unless students believe you'd rather teach them than catch them.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commitments: label, disclose with a soft landing, never score-only.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THREE COMMITMENTS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68680" y="189280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1892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783080" y="17830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assignment I give names its lane, starting with the one I built today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868680" y="308152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" y="3081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1783080" y="29718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teach the disclosure norm, and honesty gets a soft landing, every time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868680" y="427024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68680" y="42702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1783080" y="416052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never accuse on a detector score alone; my evidence is process and conversation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822960" y="55778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to buy. Nothing to install. Just agreements, which is what integrity has always been.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month: box swap, gray-area calibration, a class-written agreement.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30-DAY PLAN, IN ONE SLIDE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goes next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822960" y="15544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week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2926080" y="155448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labels and boxes go out on real assignments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822960" y="2514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2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2926080" y="251460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PLC · Box Swap: the ninth-grader test on each other's boxes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822960" y="3474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3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2926080" y="347472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PLC · Gray-Area Calibration: one tricky case, one shared answer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822960" y="44348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4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2926080" y="44348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PLC · The Classroom Agreement: students co-write the rules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follow rules they helped write.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48 hours: box out, norm taught once, sentences filed.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48 hours: three actions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7373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737360" y="16916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 out the labeled assignment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737360" y="212140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Box printed on it; read it aloud, ~60 seconds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950976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40080" y="283464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14400" y="30175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1737360" y="29718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 the disclosure norm to one class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737360" y="340156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lines + the soft-landing rule, said out loud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9509760" y="3154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 min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40080" y="411480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14400" y="429768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1737360" y="425196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 your two sentences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737360" y="468172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frustrated version of you will find them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9509760" y="4434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 min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exit ticket: lane, box line, one gray area for the staff.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MINUTES, AT THE DOOR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assignment you built for, and the lane it landed in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line from your expectation box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gray-area case you still want the staff to answer together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doubles as the school's PD documentation</a:t>
            </a:r>
            <a:endParaRPr lang="en-US" sz="2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822960" y="146304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schools that get this right won't be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ones with the best detectors.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2004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They'll be the ones where every student can answer three questions: what's allowed on this assignment, how do I say what I used, and what happens if I'm honest?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22960" y="51206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Kit 6 · AI for Communication: Parent Messages, Translation, and Tone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56235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Thanks for the hour. Go label an assignment.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5: AI &amp; Academic Integrity: Setting Clear Expectations with Students</dc:title>
  <dc:subject>PptxGenJS Presentation</dc:subject>
  <dc:creator>Adam &amp; Katelyn Spinozzi</dc:creator>
  <cp:lastModifiedBy>Adam &amp; Katelyn Spinozzi</cp:lastModifiedBy>
  <cp:revision>1</cp:revision>
  <dcterms:created xsi:type="dcterms:W3CDTF">2026-08-10T11:52:28Z</dcterms:created>
  <dcterms:modified xsi:type="dcterms:W3CDTF">2026-08-10T11:52:28Z</dcterms:modified>
</cp:coreProperties>
</file>