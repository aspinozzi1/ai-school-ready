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up as people arrive. Start on time. The founders' note at the front of the script is an optional moment before slide 2 if you want to share their perspective.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numbers verified: Pew (2026) 54% of teens use AI for schoolwork; RAND RR-A4180-1 (2025) 54% of students, guidance lagging. The framing: use is normal, rules are absent.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Lee, Pope, Miles &amp; Zárate (2024), Computers and Education: AI. Same-school before/after comparison. The deliberate visual: the two numbers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quick. The promise: a real assignment leaves this room with its AI rules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Stanford GSE / Challenge Success: 15+ years of student surveys. Cheating correlates with disengagement, pressure, stress, feeling disrespected; rarely tool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 Terms of Use: 13+, parental permission under 18. The ban critique is structural, not moral: it punishes honesty and forfeits the teaching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stats verified. Land the equity point: think about which students get accused under detector policing. This slide sets up the session red line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slide, said slowly. This is the line staff must carry out of the room. Everything after this slide is the constructive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framework. Lanes are per assignment, and parts of one assignment can sit in different lanes (that lands on slide 12 and in the lab).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labels are on the handout verbatim, ready to copy onto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fixed templates instead of free writing: ask thirty students for two honest sentences and you get thirty different things. Checkboxes make honesty the same size for everyone and identical building-wide. The soft landing is load-bearing: punish disclosure once and the whole class learns to hide. Say that sentence explicitly. Both templates are on the handout, copy-ready.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answers after the room calls each one. 45-min cut: scenarios 1 and 3 only. Scenario 4 sets up the upgrades segment: when a rule is unenforceable, the upgrade carries the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four upgrades. Emphasize: these are better teaching regardless of AI; integrity is a side effect of good design. Plain words, no jargon: the room should hear four simple things they could do to any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against overcorrecting: four upgrades on every assignment is burnout. One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script staff will actually use. Process evidence stands up with parents and admin; vibes and scores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slide, read slowly. Never trim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ICAI Fundamental Values (3rd ed., 2021). One minute, then the lab. Frame: we're building conditions where honest work is normal, not a surveillance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slide. Pairs formed inside two minutes. This lab is thinking and writing, not prompting; Wi-Fi optional. Protect every minute. Ms. Rivera builds ONE persuasive essay across all four steps; her exemplar appears large on every step slide, so anyone lost can copy her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Circulate. Rivera's essay is the running exemplar for the whole lab: three parts, three lanes, one defense sentence. The common stall is an assignment with parts in different lanes; the fix is naming a lane per part, exactly as her card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school template on the left is the one from slide 11; the big card is Ms. Rivera's finished Box for her persuasive essay, the same essay from step 1. Mimic her box with your own assignment: at worst, copy its shape line for line. 6 minutes. Push for student language, not policy language. 45-min cut: check the lane boxes and fill the okay line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One upgrade only. Rivera's pick is a visible-thinking checkpoint on the same essay. Weakest results come from bolting on a quiz; strongest from anchoring to the room and collecting the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minutes, quiet writing, alone. This is the step people thank you for later. The handout has a box for it. Rivera's sentences stay on screen as the model: curiosity first, no accusation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45-min cut: two voices. If a box is excellent, name it as the staff model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inventory land. The consistency point is the school-level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honest-limits slide every kit carries. End on the relationships line; it's the one they'll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slide. Read all three, then the closing line. These commitments echo Kit 1's format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 4 classroom agreement is where this takes root; flag it as the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sheet out as you talk. Small actions; the difference between a PD hour and a changed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gray-area answers set follow-up #2's calibration case. Collect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warm. You just wrote the answers to those three questions for your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051560" cy="9692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· AI FOUNDATIONS · KIT 5 OF 20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Academic Integrity: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 Clear Expectations with Students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45–60 minute working session. You leave with your next assignment's AI rules written, in language students can quote back.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Adam &amp; Katelyn Spinozzi · certified educators · 20+ combined years in the classroom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reality check: half her students use AI; nobody told them the rules.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STUDENTS USE AI. MOST WERE NEVER TOLD THE RULES.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elephant, measured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TEENS USE AI FOR SCHOOL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54%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U.S. teens say they use AI to help with schoolwork. (Pew Research Center, 2026)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SCHOOLS HAVE TOLD THEM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much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653796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 finds student AI use at 54% while school guidance lags far behind adoption. Most students are guessing at the rules. (RAND, 2025)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silence is the problem we can fix today.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blood pressure, lowered: the cheating rate didn't move.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CHATGPT VS. AFTER: THE STANFORD SURVEYS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 that should lower your blood pressure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CHEATING BEFORE CHATGPT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60–70%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high schoolers self-reported some cheating behavior in the years before ChatGPT existed. (Lee, Pope et al., 2024)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CHEATING AFTER CHATGPT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60–70%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653796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schools, surveyed after: the rate did not move. The forms shift; the amount doesn't. (Same study)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is older than the bot. Panic is not a policy; clarity is.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goal: her next assignment leaves with its AI rules written on it.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AHEAD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Agenda, and one promise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92024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actually happening, and the two traps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0:12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lanes + the two school-wide boxes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0:20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92024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upgrades + the hard conversation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92024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the integrity plan for a real assignment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22960" y="4389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0:49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920240" y="4389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it stick + first 48 hours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52560" y="192024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promise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25603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with your next assignment's lane named, its AI Box filled in, and your words for the hard conversation. Ready before you need them.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lens: kids cheat from pressure and disengagement, not tool access.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FIFTEEN YEARS OF ASKING STUDENTS DIRECTLY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students actually cheat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Disengagement: the work feels like busywork with a due date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Pressure: grades, college, family expectations, not enough sleep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feeling respected or connected to the teacher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Almost never: "because a new tool exists"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617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changes what a stressed, disengaged kid does at 11 p.m. It doesn't create the stress or the disengagement. So the strategy can't just be about AI.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verdict on bans: honest kids lose, teaching stops. Not her policy.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TRAP #1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pretend ban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AI, ever," announced to a hallway where half the students already use it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kids follow it, and compete against classmates who don't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Dishonest use goes underground, where nobody can teach about it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school's official rule becomes one everyone knows is fake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617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Worth knowing: </a:t>
            </a:r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chatbots' own terms require users 13+, with parent permission under 18. Age rules are real and belong in your expectations. "Banned because we said so" is not a strategy.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verdict on detectors: the maker shut its own down. Not evidence.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TRAP #2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Detector policing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OPENAI'S OWN DETECTOR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Shut down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retired its own AI-text detector within six months "due to its low rate of accuracy": it caught 26% of AI text and falsely flagged human writing 9% of the time. (OpenAI, 2023)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GETS FALSELY FLAGGED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&gt;50%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653796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real essays by non-native English speakers were misclassified as AI by commercial detectors. Native speakers: almost never. (Liang et al., Patterns, 2023)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detector score is not evidence.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red line, adopted: no accusation on a detector score alone.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RED LINE OF THIS SESSION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accusation ever rests 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detector score alone.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2960" y="41148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works instead: clear expectations per assignment · assignments where the thinking is visible · a fair conversation when something feels wrong. Nothing to buy. That's the rest of this hour.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framework: three lanes. AI-free, AI-assisted, AI-included.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OF THE DAY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lanes, no fog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AI-FREE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2286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point is your own thinking, from scratch.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8680" y="4023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In-class essays · skills checks · diagnostic drafts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343400" y="155448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AI-ASSISTED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72000" y="2286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Brainstorm, feedback, polish allowed; thinking stays yours; use is disclosed.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72000" y="4023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take-home writing · projects · prep work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AI-INCLUDED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275320" y="2286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AI well is part of the task; your judgment is what's graded.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5320" y="4023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comparisons · prompt-craft tasks · AI critiques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this cheating?" becomes "what lane is this assignment in?"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labels, ready to print: one line per lane, in student words.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DELIVERY MECHANISM: ONE PRINTED 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one-line label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377440" y="16916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"AI-free. This one is all you; I need to see your own thinking to teach you well."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40080" y="27889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377440" y="29260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"AI-assisted. Brainstorming and feedback are fine; write the final yourself and note what you used."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40080" y="40233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160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377440" y="41605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"AI-included. Use the tool; show your prompts; your judgment is what's being graded."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can follow rules they can see. They can't follow rules that change teacher to teacher.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system: the AI Box on the assignment, the Disclosure block at the end. Fixed, school-wide.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TEMPLATES, IDENTICAL IN EVERY CLASSROOM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system, two boxes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463040"/>
            <a:ext cx="5394960" cy="4069080"/>
          </a:xfrm>
          <a:prstGeom prst="roundRect">
            <a:avLst>
              <a:gd name="adj" fmla="val 202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BOX · PRINTS ON THE ASSIGNMENT (TEACHER'S HALF)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20116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□ 1 AI-free   □ 2 AI-assisted   □ 3 AI-included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Okay: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[what's allowed, in student words]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okay: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[what's not, in student words]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in the Disclosure block. Every time.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something seems off: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walk through the work together.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63640" y="1463040"/>
            <a:ext cx="5394960" cy="4069080"/>
          </a:xfrm>
          <a:prstGeom prst="roundRect">
            <a:avLst>
              <a:gd name="adj" fmla="val 202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DISCLOSURE BLOCK · END OF THE WORK (STUDENT'S HALF)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37960" y="20116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DISCLOSURE (check all that apply)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□ No AI used
□ AI helped me brainstorm or outline
□ AI gave me feedback on a draft
□ AI drafted text that I revised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I used: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____________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asked it to do: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____________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Checkboxes beat "write two honest sentences": ten seconds to fill, identical in every room. And honesty gets a soft landing.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calls: quiz lane 1, essay lane 2, research lane 3, homework = the upgrades.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· CALL IT OUT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lane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31520" y="15544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1508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vocabulary quiz, taken in class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31520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1: the point is what's in their heads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3152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2606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Persuasive essay; you care about the argument, not drafting stamina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315200" y="2606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Usually lane 2: assisted, disclosed, final draft theirs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31520" y="3749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37033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Career-research project comparing AI answers to real sources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315200" y="3703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3: questioning the tool IS the skill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31520" y="4846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71600" y="4800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 practice problems for tomorrow (the trick one)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315200" y="4800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1 by intent, unenforceable at home: the upgrades must carry it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upgrades so far: collect the outline, anchor to Tuesday's class.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UPGRADES · HONEST WORK AS THE EASY PATH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1: collect the thinking · Upgrade 2: anchor it to your room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THINKING VISIBLE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the outline, the messy draft, the version history. Grade the journey, not just the destination.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finished essay is easy to fake. A thinking trail is hard to fake, and better assessment anyway.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63640" y="155448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IT LOCALLY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9224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 the task to Tuesday's discussion, the lab you ran, their own experience, the guest speaker.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chatbot has never been in your classroom. The more the task depends on the room, the less a generic tool can do it.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other upgrades: a two-minute live defense; the process in the rubric.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UPGRADES · HONEST WORK AS THE EASY PATH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3: add a live moment · Upgrade 4: grade the process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SOME THINKING LIVE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two-minute "defend your choice," an in-class quick-write, a cold question about their own essay.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gotcha: a normal part of how work gets finished here. Students who did the thinking enjoy it.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63640" y="155448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THE PROCESS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9224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AI is allowed, grade the Disclosure block, the prompts, and a short accept/reject reflection.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 becomes work you can see and teach, instead of a shortcut you have to suspect.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upgrade per assignment is usually enough to change the honesty math.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opener, rehearsed: 'walk me through how you made this.'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SOMETHING FEELS WRONG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conversation: curiosity first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463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5760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"Walk me through how you made this. What did you start with? What was the hardest part?"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25146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specific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600" y="2606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"Tell me more about this paragraph. What does this word mean here?"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" y="35661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process evidence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65760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they explain their choices? Is there a draft? Does in-class writing match?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" y="46177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709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it fairly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57600" y="4709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offense under a new rule: teach the lane, reset. Pattern: your school's process, evidence in hand.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student who did the work answers easily. A student who didn't will show you, gently.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never list: no confession-first, no score-only, never public.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NEVER LIST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1783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54480" y="1783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open with "did you use AI?": it asks for a confession before a conversation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1440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554480" y="2743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accuse on a detector score alone: you've seen the accuracy and the bias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14400" y="3703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5544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make it public: integrity conversations happen one-on-one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14400" y="4663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55448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forget: until the lane was labeled, many students were never told the rule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offense under a brand-new expectation is a teaching moment, almost every time.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why: six values a false accusation breaks and clear rules build.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BIGGER THAN CATCHING ANYBODY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integrity protects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459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6459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Honesty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343400" y="16459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16459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046720" y="16459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6459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Fairness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40080" y="30175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0175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4343400" y="30175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400" y="30175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Responsibility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8046720" y="30175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0" y="30175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Courage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40080" y="4663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six fundamental values of academic integrity (International Center for Academic Integrity). Every one is damaged by a false accusation, and strengthened by clear rules fairly applied.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lab pick, one assignment all the way through: next week's persuasive essay.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82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· ~19 MINUTES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your next real assignment.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58368" y="23774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something you'll actually give in the next two weeks: an essay, a project, a problem set, a shop build. Pairs; paper or device both fine.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348386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information of any kind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68680" y="430682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4251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plan gets a second set of eyes: work in pairs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68680" y="512978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600200" y="5074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deliverables: the lane, the filled-in AI Box, one upgrade, your two sentences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19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essay's lanes, on screen big: research 3, outline 2, final draft 1.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1 OF 4 · 3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lane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lane for the whole assignment, or a lane per part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your lane out loud to your partner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 it in one sentence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Can't defend it? The assignment might not know what it's assessing yet.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ESSAY · STEP 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 Lane 3
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 Lane 2
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draft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 Lane 1
</a:t>
            </a:r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"I'm grading the argument, not the typing."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2 OF 4 · 6 MINUTES · THE HEART OF THE LAB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in the AI Box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4160520" cy="3703320"/>
          </a:xfrm>
          <a:prstGeom prst="roundRect">
            <a:avLst>
              <a:gd name="adj" fmla="val 222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SCHOOL TEMPLATE (SLIDE 11)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□ 1  □ 2  □ 3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Okay: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[student words]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okay: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[student words]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block, every time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something seems off: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talk it through.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0" y="1463040"/>
            <a:ext cx="6629400" cy="3703320"/>
          </a:xfrm>
          <a:prstGeom prst="roundRect">
            <a:avLst>
              <a:gd name="adj" fmla="val 222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16276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ESSAY · STEP 2 · HER BOX, FILLED IN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03520" y="1965960"/>
            <a:ext cx="6080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Lane: </a:t>
            </a:r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part · Research ☒ 3 · Outline ☒ 2 · Final draft ☒ 1, because I'm grading your argument, not your typing.
</a:t>
            </a:r>
            <a:pPr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Okay: </a:t>
            </a:r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 compare sources; brainstorming and feedback on your outline.
</a:t>
            </a:r>
            <a:pPr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okay: </a:t>
            </a:r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AI-written sentences in your final draft.
</a:t>
            </a:r>
            <a:pPr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Disclosure: </a:t>
            </a:r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in the Disclosure block at the end. Every time.
</a:t>
            </a:r>
            <a:pPr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something seems off: </a:t>
            </a:r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talk it through, not write it up.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test: could a ninth grader read your box and know exactly what's okay tonight?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essay's upgrade, on screen: outline due Thursday, worth ten points.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3 OF 4 · 6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one upgrade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the thinking: an outline or draft checkpoint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it to something that happened in your room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two-minute live moment as a normal step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the process: Disclosure block + prompts + reflection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ESSAY · STEP 3 · HER UPGRADE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 due Thursday.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points.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drafting begins.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40080" y="45262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663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actual change: what's due, when, worth how much. Then tell your partner why this upgrade makes honest work easier than faking it.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essay plan's last piece, two sentences: written calm, filed for later.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4 OF 4 · 4 MINUTES · ALONE, QUIET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your two sentences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830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two sentences you'll say when work feels wrong. In your voice. Starting with curiosity. Written now, calm, instead of improvised upset.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63640" y="155448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ESSAY · STEP 4 · HER TWO SENTENCES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37960" y="219456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"Walk me through how you made this. What was the hardest part?"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sentences you'd want said to your own child.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share-out: her essay's AI Box, read aloud, in student words.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SHARE-OUT · 4 VOICES, 1 MINUTE 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us your AI Box, or your sentences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voices, one minute each: your AI Box or your two sentences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for how different subjects landed in different lanes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lane mixes across departments isn't inconsistency; it's the framework working.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inventory, one essay: lane, Box, one upgrade, two sentences.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NINETEEN MINUTES OF WORK, ON THE RECORD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inventory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4592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assignment with its lane named. A filled-in AI Box in student language. One upgrade that makes thinking visible. And your own two sentences for the hard moment, written calm.
</a:t>
            </a:r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Multiply by this room: five teachers, one answer to "what's allowed?" That consistency is something no detector subscription sells.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honesty: some will still cheat. Honest kids now know the rules.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SERIES DOESN'T OVERSELL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students will still cheat; 60–70% did long before the chatbot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will not catch everything, and that was never the goal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goal: honest students know the rules, and dishonest work stops paying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this survives without relationships. Lanes and boxes are paper unless students believe you'd rather teach them than catch them.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commitments: label, disclose with a soft landing, never score-only.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THREE COMMITMENTS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189280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78308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assignment I give names its lane, starting with the one I built today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868680" y="308152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081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783080" y="2971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teach the Disclosure block, and honesty gets a soft landing, every time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868680" y="427024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70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783080" y="4160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never accuse on a detector score alone; my evidence is process and conversation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to buy. Nothing to install. Just agreements, which is what integrity has always been.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month: box swap, gray-area calibration, a class-written agreement.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30-DAY PLAN, IN ONE SLIDE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2926080" y="15544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labels and boxes go out on real assignments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2960" y="2514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2926080" y="25146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· Box Swap: the ninth-grader test on each other's boxes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2296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926080" y="34747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· Gray-Area Calibration: one tricky case, one shared answer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22960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2926080" y="44348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· The Classroom Agreement: students co-write the rules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follow rules they helped write.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48 hours: Box printed, Disclosure block taught once, sentences filed.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FRIDAY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48 hours: three actions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37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737360" y="1691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out the labeled assignment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37360" y="21214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printed on it; read it aloud, ~60 seconds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5097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min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28346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737360" y="2971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the Disclosure block to one class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37360" y="34015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checkboxes + the soft-landing rule, said out loud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50976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 min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297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737360" y="42519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your two sentences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737360" y="46817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frustrated version of you will find them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50976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 min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29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exit ticket: lane, box line, one gray area for the staff.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MINUTES, AT THE DOOR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assignment you built for, and the lane it landed in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from your AI Box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gray-area case you still want the staff to answer together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doubles as the school's PD documentation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 · Academic Integrity   |   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schools that get this right won't be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ones with the best detectors.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They'll be the ones where every student can answer three questions: what's allowed on this assignment, how do I say what I used, and what happens if I'm honest?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Kit 6 · AI for Communication: Parent Messages, Translation, and Tone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for the hour. Go label an assignment.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AI-Ready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5: AI &amp; Academic Integrity: Setting Clear Expectations with Students</dc:title>
  <dc:subject>PptxGenJS Presentation</dc:subject>
  <dc:creator>Adam &amp; Katelyn Spinozzi</dc:creator>
  <cp:lastModifiedBy>Adam &amp; Katelyn Spinozzi</cp:lastModifiedBy>
  <cp:revision>1</cp:revision>
  <dcterms:created xsi:type="dcterms:W3CDTF">2026-08-12T15:47:23Z</dcterms:created>
  <dcterms:modified xsi:type="dcterms:W3CDTF">2026-08-12T15:47:23Z</dcterms:modified>
</cp:coreProperties>
</file>