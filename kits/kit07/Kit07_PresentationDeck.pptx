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Say: today is about the week itself: the pile handed off, the human parts protected on purpose.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numbers plainly, not performed; the room lives them. Both verified: Merrimack/EdWeek 2022; Gallup Panel Workforce Study 2022.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not from teaching: from the drafting share. The savings compound when you can see the whole pile in one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you leave with the hour located, not with advice about finding one.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be honest and specific per task. The bottom line is the sentence to repeat.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one-off is worth a good prompt; a repeater is worth a template, because it pays every week. Only the top-left quadrant matters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distinction in the callout is the whole game; say it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said slowly. The protected list later makes this permanent.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a template is a prompt with the thinking done once. If you've templated a repeater of your own, name it here; the local example lands best. This is the shape to mimic in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recipe is the lab's engine and it's on the handout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library is the school-level win; the personal templates are the personal one. Both get built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right column. 45-min cut: rows 1 and 4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the drift plainly; it's the one way this session's wins turn into losses.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why the session isn't a productivity workshop. Never trim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this is the trimmable slide (0:26). The lab's protected-list step keeps the idea alive.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slide, read slowly. Never trim. If leadership is in the room, invite them to endorse line three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beat, then the lab. The honest framing (workload is one contributor, not the cure) is deliberate;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Devices out, pairs formed inside two minutes, announce the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minutes. The handout has the quadrant grid. The common miss is the fifteen-minute repeaters; they're where the hours hide.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Push for testing on a REAL instance, not admiring the template. Circulate.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minutes. 45-min cut: skip #2 (it moves to the First 48 Hours sheet) and post #1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minutes, quiet, alone, in ink. This is the step people remember; give it silence.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voices. 45-min cut: two voices. Prioritize a protected-list line if time is short.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it land, then honest limits.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framing throughout: workload is one contributor the tool can touch; the rest is human and structural.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Dark slide. Read all three, ask for the visible nod, same ritual as every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hour only stays won if somebody asks; week 4's reckoning is that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the sheet out as you talk. The noticing in action 3 is what keeps the hour from evaporating.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"still want help" answers set follow-up #1's agenda. Collect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warm. Collect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7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for Workload: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Winning Back an Hour a Week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your week audited, your two worst repeaters automated, and the human work protected in ink.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week: 54 hours, and the pile that isn't teaching keeps growing.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PLACE, IN THE WRONG RACE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pile, measured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4008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~54 hrs</a:t>
            </a:r>
            <a:endParaRPr lang="en-US" sz="5200" dirty="0"/>
          </a:p>
        </p:txBody>
      </p:sp>
      <p:sp>
        <p:nvSpPr>
          <p:cNvPr id="17" name="Text 14"/>
          <p:cNvSpPr/>
          <p:nvPr/>
        </p:nvSpPr>
        <p:spPr>
          <a:xfrm>
            <a:off x="91440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 work week, less than half of it direct teaching. The rest is the pile. (Merrimack College/EdWeek, 2022)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63640" y="1783080"/>
            <a:ext cx="5257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BURNOUT, RANKED BY INDUSTRY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263640" y="2103120"/>
            <a:ext cx="5257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#1: K-12</a:t>
            </a:r>
            <a:endParaRPr lang="en-US" sz="5200" dirty="0"/>
          </a:p>
        </p:txBody>
      </p:sp>
      <p:sp>
        <p:nvSpPr>
          <p:cNvPr id="21" name="Text 18"/>
          <p:cNvSpPr/>
          <p:nvPr/>
        </p:nvSpPr>
        <p:spPr>
          <a:xfrm>
            <a:off x="6537960" y="310896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44% of K-12 workers, and 52% of teachers, feel burned out "always" or "very often": the highest of any U.S. industry, vs. 30% of all other workers. (Gallup, 2022)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is not a personal failing. It's the job's design flaw, and today we go after it.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recoverable hours: the drafting share of documentation, planning admin, boilerplate.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HOPEFUL NUMBER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recoverable share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00200"/>
            <a:ext cx="10972800" cy="3017520"/>
          </a:xfrm>
          <a:prstGeom prst="roundRect">
            <a:avLst>
              <a:gd name="adj" fmla="val 272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196596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~5.9 hrs / week</a:t>
            </a:r>
            <a:endParaRPr lang="en-US" sz="5800" dirty="0"/>
          </a:p>
        </p:txBody>
      </p:sp>
      <p:sp>
        <p:nvSpPr>
          <p:cNvPr id="16" name="Text 13"/>
          <p:cNvSpPr/>
          <p:nvPr/>
        </p:nvSpPr>
        <p:spPr>
          <a:xfrm>
            <a:off x="1280160" y="32004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reported back by teachers who've made AI a weekly habit: roughly six weeks a year, recovered from the drafting share of the pile: documentation, planning admin, reformatting, routine writing. (Gallup &amp; Walton Family Foundation, 2025)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kit so far handed you one piece. Today we audit the whole week at once.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goal: week audited, two tasks automated, protected list written.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0:06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two-question sort: what's delegable, what never was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automation moves: templates, batching, the library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0:21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Keeping it honest: the drift, the protected list, the hour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real week, audited and automated</a:t>
            </a:r>
            <a:endParaRPr lang="en-US" sz="2000" dirty="0"/>
          </a:p>
        </p:txBody>
      </p:sp>
      <p:sp>
        <p:nvSpPr>
          <p:cNvPr id="22" name="Text 19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0:53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with the hour already located: week audited, two templates built and tested, protected list in ink.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sort, question 1: does this task require knowing my kids?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SORT · QUESTION 1 OF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require knowing my kids?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YES · STAYS YOURS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the room mid-lesson. Noticing the quiet kid got quieter. Feedback conversations. Which group a struggling reader joins. Judgment about real children.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· DRAFTABLE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weekly newsletter shell. The third sub plan of the semester. Turning your notes into a rubric. Reformatting anything. Tasks that need your time, not your judgment.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survives on tasks pretending they need your judgment when they only need your time.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sort, question 2: does it repeat? Repeating + generic = automate it.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SORT · QUESTION 2 OF 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repeat?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4630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Repeats + doesn't need my kids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14400" y="20574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260604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Today's quadrant: the six weeks a year live here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6263640" y="14630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7960" y="162763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One-off + doesn't need my kids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6537960" y="20574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Good prompt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260604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style, worth two minutes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640080" y="35661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37307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Repeats + needs my kids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14400" y="41605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Yours, AI-assisted shells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914400" y="4709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 in; personalize everything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6263640" y="356616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37960" y="3730752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One-off + needs my kids</a:t>
            </a:r>
            <a:endParaRPr lang="en-US" sz="1500" dirty="0"/>
          </a:p>
        </p:txBody>
      </p:sp>
      <p:sp>
        <p:nvSpPr>
          <p:cNvPr id="28" name="Text 25"/>
          <p:cNvSpPr/>
          <p:nvPr/>
        </p:nvSpPr>
        <p:spPr>
          <a:xfrm>
            <a:off x="6537960" y="416052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 entirely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6537960" y="470916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teaching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delegate pile: sub plans, reformatting, boilerplate, first drafts.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REAL CLASSROOMS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lands in the delegate pile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 plans · station directions · quiz shells and exit tickets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Newsletter frames · materials lists · syllabus updates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Documentation summaries (de-identified) · rubric drafts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Recommendation-letter outlines, personalized after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572000"/>
            <a:ext cx="10972800" cy="1188720"/>
          </a:xfrm>
          <a:prstGeom prst="roundRect">
            <a:avLst>
              <a:gd name="adj" fmla="val 692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709160"/>
            <a:ext cx="10332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need your judgment to draft; all need your review to ship. Drafting is delegable. Deciding never is.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banner: save time ON teaching, not FROM teaching.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BANNER OVER TODAY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210312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 time ON teaching,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FROM teaching.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822960" y="411480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we recover comes out of the pile, never out of the classroom. If a shortcut starts taking time from kids instead of paperwork, it's not a shortcut we teach.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FLAGSHIP MOVE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sub plan she never writes again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1097280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37160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" y="149047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15568" y="149047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362456" y="149047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783080" y="137160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554480" y="1965960"/>
            <a:ext cx="9646920" cy="3108960"/>
          </a:xfrm>
          <a:prstGeom prst="roundRect">
            <a:avLst>
              <a:gd name="adj" fmla="val 3529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83080" y="2103120"/>
            <a:ext cx="9189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"You are an experienced teacher writing for a substitute who has never met these students.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a one-page sub plan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[GRADE] class covering [TOPIC]. Context: the class routine that works is [ROUTINE].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a bell-ringer, a main activity with simple numbered directions, an early-finisher task, and management notes."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783080" y="4526280"/>
            <a:ext cx="9189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brackets are the template: she fills three and runs it. Ninety seconds, every absence, forever.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recipe: template any repeating task with [PLACEHOLDERS], build once, reuse forever.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GENERALIZE IT TO ANY REPEATER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template recipe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822960" y="166420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166420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Shape 13"/>
          <p:cNvSpPr/>
          <p:nvPr/>
        </p:nvSpPr>
        <p:spPr>
          <a:xfrm>
            <a:off x="1783080" y="146304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103120" y="157276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it once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2103120" y="199339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Four-part prompt for one real instance of the task, Kit 2 style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822960" y="299008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299008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783080" y="278892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103120" y="289864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Bracket the changes</a:t>
            </a:r>
            <a:endParaRPr lang="en-US" sz="1900" dirty="0"/>
          </a:p>
        </p:txBody>
      </p:sp>
      <p:sp>
        <p:nvSpPr>
          <p:cNvPr id="23" name="Text 20"/>
          <p:cNvSpPr/>
          <p:nvPr/>
        </p:nvSpPr>
        <p:spPr>
          <a:xfrm>
            <a:off x="2103120" y="331927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that varies week to week becomes [TOPIC], [GRADE], [DATE], [SKILL]</a:t>
            </a:r>
            <a:endParaRPr lang="en-US" sz="1550" dirty="0"/>
          </a:p>
        </p:txBody>
      </p:sp>
      <p:sp>
        <p:nvSpPr>
          <p:cNvPr id="24" name="Shape 21"/>
          <p:cNvSpPr/>
          <p:nvPr/>
        </p:nvSpPr>
        <p:spPr>
          <a:xfrm>
            <a:off x="822960" y="4315968"/>
            <a:ext cx="731520" cy="7315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" y="431596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1783080" y="4114800"/>
            <a:ext cx="9784080" cy="1143000"/>
          </a:xfrm>
          <a:prstGeom prst="roundRect">
            <a:avLst>
              <a:gd name="adj" fmla="val 72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2103120" y="4224528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 it twice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2103120" y="4645152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a second real instance; where it wobbles, add context. Works twice = template. Save it.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You've just deleted a recurring task from your future.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batching move: one sitting, five artifacts; plus the staff doc so nobody solves twice.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MULTIPLIERS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Batching, and the library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BATCHING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96012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Same-kind tasks, one sitting, one template: five exit-ticket sets in one go instead of five late-night sessions. The setup cost is paid once; the batch rides free.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263640" y="1554480"/>
            <a:ext cx="5394960" cy="3931920"/>
          </a:xfrm>
          <a:prstGeom prst="roundRect">
            <a:avLst>
              <a:gd name="adj" fmla="val 209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0" y="178308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LIBRARY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583680" y="2240280"/>
            <a:ext cx="4800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working template goes in the staff doc's Workload section, name attached. Thirty teachers, two templates each: sixty deleted repeaters. One person's Tuesday night becomes everyone's.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quadrant calls: relational stays, repetitive-generic goes.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PRACTICE · CALL IT OUT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Delegate the draft, or keep it entirely?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731520" y="150876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weekly parent newsletter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315200" y="146304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it: template + your voice pass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31520" y="2606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371600" y="256032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Deciding which reading group a struggling student joins</a:t>
            </a:r>
            <a:endParaRPr lang="en-US" sz="1650" dirty="0"/>
          </a:p>
        </p:txBody>
      </p:sp>
      <p:sp>
        <p:nvSpPr>
          <p:cNvPr id="19" name="Text 16"/>
          <p:cNvSpPr/>
          <p:nvPr/>
        </p:nvSpPr>
        <p:spPr>
          <a:xfrm>
            <a:off x="7315200" y="2560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it: that's knowing your kids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731520" y="370332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1371600" y="36576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gradebook notes into progress-report comments</a:t>
            </a:r>
            <a:endParaRPr lang="en-US" sz="1650" dirty="0"/>
          </a:p>
        </p:txBody>
      </p:sp>
      <p:sp>
        <p:nvSpPr>
          <p:cNvPr id="22" name="Text 19"/>
          <p:cNvSpPr/>
          <p:nvPr/>
        </p:nvSpPr>
        <p:spPr>
          <a:xfrm>
            <a:off x="7315200" y="365760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Split it: generic shells drafted, every comment personalized, no student info in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731520" y="480060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371600" y="47548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phone call after a rough day</a:t>
            </a:r>
            <a:endParaRPr lang="en-US" sz="1650" dirty="0"/>
          </a:p>
        </p:txBody>
      </p:sp>
      <p:sp>
        <p:nvSpPr>
          <p:cNvPr id="25" name="Text 22"/>
          <p:cNvSpPr/>
          <p:nvPr/>
        </p:nvSpPr>
        <p:spPr>
          <a:xfrm>
            <a:off x="7315200" y="475488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it, always: Kit 6's human-only list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guardrail: 'AI drafts it' never drifts into 'AI decides it.'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EFFICIENCY'S FAILURE MODE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drift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"AI drafts it" quietly becoming "AI decides it."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starts innocently: an unreviewed sub plan here, an unread comment there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antidote is the rule you've carried since Kit 1: everything reviewed, everything touching a real student personalized. Efficiency never outranks judgment.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protected list: feedback conversations, grading judgment, greeting kids at the door.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PRODUCTIVITY WORKSHOPS SKIP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0876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73736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relational work stays yours by decision, written down, not by accident.
</a:t>
            </a:r>
            <a:pPr indent="0" marL="0">
              <a:lnSpc>
                <a:spcPct val="125000"/>
              </a:lnSpc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list: feedback conversations with students · grading judgment · greeting kids at the door · the phone calls that matter.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640080" y="4069080"/>
            <a:ext cx="1090879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Yours will differ; writing it is the point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day you're tired and tempted, the list is the line you already drew. In the lab, you'll write it in ink.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hour, spent on purpose: planning she enjoys, and leaving at a human time.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PARKINSON'S LAW RUNS SCHOOLS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needs a name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417320"/>
            <a:ext cx="10908792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Unspent recovered time refills with pile; decide now what your hour is for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Legitimate answers: the planning you enjoy · the student who needs ten minutes · leaving at a human time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wrong answer is "unassigned."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0120" y="448056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isn't about doing more. It's about doing the job you signed up for, sustainably.</a:t>
            </a:r>
            <a:endParaRPr lang="en-US" sz="2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never list: no delegating the relational, no skipping review, no new busywork.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NEVER LIST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914400" y="192024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554480" y="192024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delegate the relational: if it requires knowing your kids, it's yours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2971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554480" y="297180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skip the review: unread output is the drift, and the drift is how trust dies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14400" y="40233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83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✕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554480" y="4023360"/>
            <a:ext cx="9875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let the saved hour become new busywork: that defeats the entire point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Leadership: the third line is partly yours to protect, out loud.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why: the sustainable version of this job is the one she can keep.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STAKE, PLAINLY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this protects: careers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burnout ranking isn't a mood; it's the profession's leading indicator, and workload is the piece a tool can actually touch.
</a:t>
            </a:r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Nobody's claiming a chatbot fixes burnout. But six weeks a year, handed back and spent on purpose, is the difference between the version of this job that empties people out and the version a person can keep.</a:t>
            </a:r>
            <a:endParaRPr lang="en-US" sz="2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lab: audit the real week, pick two, build both.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828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~22 MINUTES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your week, taken back.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58368" y="22860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the real week. Pick the two worst repeaters. Build both templates. Write the protected list.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868680" y="348386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68680" y="34838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1600200" y="342900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 of any kind</a:t>
            </a:r>
            <a:endParaRPr lang="en-US" sz="2100" dirty="0"/>
          </a:p>
        </p:txBody>
      </p:sp>
      <p:sp>
        <p:nvSpPr>
          <p:cNvPr id="18" name="Shape 15"/>
          <p:cNvSpPr/>
          <p:nvPr/>
        </p:nvSpPr>
        <p:spPr>
          <a:xfrm>
            <a:off x="868680" y="430682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3068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600200" y="425196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 tasks from your real week, not hypotheticals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868680" y="5129784"/>
            <a:ext cx="502920" cy="50292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68680" y="51297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600200" y="5074920"/>
            <a:ext cx="9875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template counts only after it's tested on a real instance</a:t>
            </a:r>
            <a:endParaRPr lang="en-US" sz="2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19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her screen: the audit: every recurring task, sorted in ten minutes.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4 · 5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the week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 every task from last week that you'll do again, small ones included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two questions on each: needs my kids? repeats?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 everything that repeats and doesn't need your kids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people find six to ten stars. Each is a candidate.</a:t>
            </a:r>
            <a:endParaRPr lang="en-US" sz="2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20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 #1: the sub plan, built and tested on a real instance.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template #1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Take your worst starred task: the one that costs the most evenings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recipe: write it once (four parts) → bracket the changes → test on a second instance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Mimic the sub-plan shape on Ms. Rivera's screen from slide 9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 twice, it's real. Save it.</a:t>
            </a:r>
            <a:endParaRPr lang="en-US" sz="2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template #2: exit tickets from any objective; both saved to the staff doc.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4 · 6 MINUTES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template #2, share both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recipe, second-worst repeater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templates go to the staff doc's Workload section: name attached, one line each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Sixty deleted repeaters, remember. Your Tuesday night is about to become everyone's.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protected list, written: the work that stays hers on purpose.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4 OF 4 · 3 MINUTES · ALONE, IN INK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Write the protected list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2377440"/>
          </a:xfrm>
          <a:prstGeom prst="roundRect">
            <a:avLst>
              <a:gd name="adj" fmla="val 346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1828800"/>
            <a:ext cx="10332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to five pieces of this job you are keeping, by decision, no matter how good the tools get.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40080" y="42976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Put it where you'll see it. This list is why the efficiency is safe: you've named what it will never touch.</a:t>
            </a:r>
            <a:endParaRPr lang="en-US" sz="2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23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share-out: the task she's taking back, and the hour it frees.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SHARE-OUT · 3 VOICES, 1 MINUTE EACH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you're taking back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 templated, and the hours it was eating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from your protected list, read aloud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protected lists are this faculty saying what teaching is for. Let them land.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inventory: audit done, two templates live, protected list written.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TWENTY-TWO MINUTES OF WORK, ON THE RECORD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inventory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week audited honestly. Two repeaters templated, tested, and shared. A protected list in ink. And an hour with a name on it.
</a:t>
            </a:r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last one is the difference between this session and a productivity poster.</a:t>
            </a:r>
            <a:endParaRPr lang="en-US" sz="2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25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honest limits: the tool saves time; it doesn't set boundaries. She does.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SERIES DOESN'T OVERSELL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tool saves drafting time; it doesn't set boundaries, fix schedules, or say no to the fourth new initiative. Humans do those.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5.9 hours is the average for weekly users; your number is yours. The audit, not the average, is what's real.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tool cures burnout; it returns some hours. What the building does with that truth is a leadership question worth asking out loud.</a:t>
            </a:r>
            <a:endParaRPr lang="en-US" sz="2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26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1E3A50"/>
          </a:solidFill>
          <a:ln w="12700">
            <a:solidFill>
              <a:srgbClr val="2A4A63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commitments: two templates in use, review always, the protected list protected.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" y="1005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THREE COMMITMENTS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868680" y="189280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68680" y="18928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783080" y="1783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two templates get used this week, for real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868680" y="308152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3081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1783080" y="29718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AI drafts gets reviewed; the drift stops with me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868680" y="4270248"/>
            <a:ext cx="640080" cy="64008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68680" y="427024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8"/>
          <p:cNvSpPr/>
          <p:nvPr/>
        </p:nvSpPr>
        <p:spPr>
          <a:xfrm>
            <a:off x="1783080" y="416052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 protected list is law: the relational work stays mine on purpose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822960" y="55778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those three?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27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month: template check-ins, a shared library sprint, an hours reckoning.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30-DAY PLAN, IN ONE SLIDE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goes next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22960" y="15544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week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2926080" y="155448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templates run on real tasks; the hour gets spent on purpose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22960" y="251460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</a:t>
            </a:r>
            <a:endParaRPr lang="en-US" sz="1900" dirty="0"/>
          </a:p>
        </p:txBody>
      </p:sp>
      <p:sp>
        <p:nvSpPr>
          <p:cNvPr id="17" name="Text 14"/>
          <p:cNvSpPr/>
          <p:nvPr/>
        </p:nvSpPr>
        <p:spPr>
          <a:xfrm>
            <a:off x="2926080" y="251460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Template Clinic: fix the wobbles, template one request together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82296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3</a:t>
            </a:r>
            <a:endParaRPr lang="en-US" sz="1900" dirty="0"/>
          </a:p>
        </p:txBody>
      </p:sp>
      <p:sp>
        <p:nvSpPr>
          <p:cNvPr id="19" name="Text 16"/>
          <p:cNvSpPr/>
          <p:nvPr/>
        </p:nvSpPr>
        <p:spPr>
          <a:xfrm>
            <a:off x="2926080" y="347472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Library Sprint: every working template into the Workload section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22960" y="443484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4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2926080" y="4434840"/>
            <a:ext cx="8595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PLC · The Reckoning: where did the recovered time actually go?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Kit 8 closes the series: everything this built, made culture instead of a season.</a:t>
            </a:r>
            <a:endParaRPr lang="en-US" sz="1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28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48 hours: run both templates for real; put the hour somewhere human.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 48 hours: three actions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640080" y="155448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173736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737360" y="169164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template #1 for real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737360" y="212140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its actual task; fold any fix back into the template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9509760" y="18745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283464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14400" y="30175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1737360" y="297180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(or build) template #2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1737360" y="340156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Then post both to the staff doc's Workload section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9509760" y="3154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40080" y="4114800"/>
            <a:ext cx="10972800" cy="1097280"/>
          </a:xfrm>
          <a:prstGeom prst="roundRect">
            <a:avLst>
              <a:gd name="adj" fmla="val 7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14400" y="42976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1737360" y="425196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Spend the first minutes on purpose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1737360" y="4681728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you said they'd go. Then notice you did.</a:t>
            </a:r>
            <a:endParaRPr lang="en-US" sz="1450" dirty="0"/>
          </a:p>
        </p:txBody>
      </p:sp>
      <p:sp>
        <p:nvSpPr>
          <p:cNvPr id="28" name="Text 25"/>
          <p:cNvSpPr/>
          <p:nvPr/>
        </p:nvSpPr>
        <p:spPr>
          <a:xfrm>
            <a:off x="9509760" y="4434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~15 min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29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8732520" y="109728"/>
            <a:ext cx="2926080" cy="896112"/>
          </a:xfrm>
          <a:prstGeom prst="roundRect">
            <a:avLst>
              <a:gd name="adj" fmla="val 7143"/>
            </a:avLst>
          </a:prstGeom>
          <a:solidFill>
            <a:srgbClr val="F7F5F0"/>
          </a:solidFill>
          <a:ln w="12700">
            <a:solidFill>
              <a:srgbClr val="DCE3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732520" y="109728"/>
            <a:ext cx="2926080" cy="237744"/>
          </a:xfrm>
          <a:prstGeom prst="roundRect">
            <a:avLst>
              <a:gd name="adj" fmla="val 26923"/>
            </a:avLst>
          </a:prstGeom>
          <a:solidFill>
            <a:srgbClr val="0D1E2E"/>
          </a:solidFill>
          <a:ln w="12700">
            <a:solidFill>
              <a:srgbClr val="0D1E2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823960" y="182880"/>
            <a:ext cx="91440" cy="91440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970264" y="182880"/>
            <a:ext cx="91440" cy="91440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116568" y="182880"/>
            <a:ext cx="91440" cy="91440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299448" y="10972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MS. RIVERA'S SCREEN · SO FAR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860536" y="365760"/>
            <a:ext cx="26700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Her exit ticket: her two tasks, her protected list's first line.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MINUTES, AT THE DOOR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640080" y="1371600"/>
            <a:ext cx="10908792" cy="4297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two templated tasks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line of your protected list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b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task you still want help automating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doubles as the school's PD documentation</a:t>
            </a:r>
            <a:endParaRPr lang="en-US" sz="2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622792" y="64282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7 · AI for Workload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822960" y="16459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became a teacher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feed the pile.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pile just got cheaper to feed, and the hours it was eating are on their way back. Spend them like they matter, because they always did.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22960" y="51206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8 · Building Your School's AI Culture (the Track A capstone)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562356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Thanks for the hour. Go take one back.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7: AI for Workload: Winning Back an Hour a Week</dc:title>
  <dc:subject>PptxGenJS Presentation</dc:subject>
  <dc:creator>Adam &amp; Katelyn Spinozzi</dc:creator>
  <cp:lastModifiedBy>Adam &amp; Katelyn Spinozzi</cp:lastModifiedBy>
  <cp:revision>1</cp:revision>
  <dcterms:created xsi:type="dcterms:W3CDTF">2026-08-10T13:48:49Z</dcterms:created>
  <dcterms:modified xsi:type="dcterms:W3CDTF">2026-08-10T13:48:49Z</dcterms:modified>
</cp:coreProperties>
</file>