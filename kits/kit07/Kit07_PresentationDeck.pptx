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Say: today is about the week itself: the pile handed off, the human parts protected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numbers plainly, not performed; the room lives them. Both verified: Merrimack/EdWeek 2022; Gallup Panel Workforce Study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not from teaching: from the drafting share. The savings compound when you can see the whole pile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leave with the hour located, not with advice about finding one.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 honest and specific per task. The bottom line is the sentence to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one-off is worth a good prompt; a repeater is worth a template, because it pays every week. Only the top-left quadrant matters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in the callout is the whole game; say it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The protected list later makes this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template is a prompt with the thinking done once. If you've templated a repeater of your own, name it here; the local example lands best. This is the shape to mimic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recipe is the lab's engine and it's on the handout verbatim.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library is the school-level win; the personal templates are the personal one. Both get built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call each one before you confirm with the right column. 45-min cut: rows 1 and 4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drift plainly; it's the one way this session's wins turn into losses.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why the session isn't a productivity workshop. Never trim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this is the trimmable slide (0:26). The lab's protected-list step keeps the idea 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Never trim. If leadership is in the room, invite them to endorse line three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beat, then the lab. The honest framing (workload is one contributor, not the cure) is deliberate;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Devices out, pairs formed inside two minutes, announce the tool. Say: Ms. Rivera works ONE artifact through all four steps, her own week audit; her exemplar appears large on every step slide, so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five minutes, list every task from last week you will do again and run the two questions on each. The handout has the quadrant grid. The common miss is the fifteen-minute repeaters; they're where the hours hide. Ms. Rivera's audit is summarized here and printed in full on the next slide: one sheet she carries through all four steps. Stars are her delegable repeaters; the unstarred lines stay hers. Anyone lost copies her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Ms. Rivera's audit in full, so nobody has to imagine what one looks like. Read the left column with the minutes attached, because the minutes are the argument: sixty-five a week before she is ever absent. Then read the right column and say plainly that none of it is going anywhere. Point at the last line: the worst star is the sub plan, and the whole rest of her lab comes off this page. Keep it up while pairs finish their own audit; the format is copyable 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six minutes, take your worst starred task and build its template with the three-step recipe. Push for testing on a REAL instance, not admiring the template. Circulate. Ms. Rivera's card shows the same audit narrowing to her worst star, the sub plan; the next two slides show the exact prompt she typed and every follow-up after it, so mimicking her is possible from the screen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step one of the recipe, write it once, and it is the same four parts from Kit 2 aimed at one real absence. Role in teal, task in navy, context in dark amber, format in green. Read the before line first, then the real one, and let the room hear the difference. Notice the context is doing the heavy lifting: where the class actually is, the routine that works, and the privacy line, because no student information goes in. There are no brackets yet; brackets are the next step. At worst, copy this shape with your own repeating task and you will finish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and here the recipe you learned on slide 10 is running line by line. Write it once, bracket it, test it twice, save it. Read the right-hand column out loud: that is what each follow-up bought her. The third row is the one to dwell on, because the second test is where the wobble showed up, on her screen instead of on a substitute's desk. Tell the room the honest timing: this whole thread ran in about six minutes, which is exactly what they have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six minutes, same recipe on your second-worst repeater, then both templates go in the staff doc's Workload section with your name and one line on what each is for. 45-min cut: skip #2 (it moves to the First 48 Hours sheet) and post #1 now. Ms. Rivera's card: star #2 off the same audit, exit tickets, templated the same way. Her two finished templates are printed word for word on the next two slides; tell the room they can copy either one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and it is the output of the recipe you can watch on the last two slides. Read it aloud straight down the color code: role, task, context, format, exactly as she saved it. Point at the brackets, because the brackets are the template: everything that changes week to week is a blank, and everything that does not is already written. Then the white strip: five blanks, ninety seconds, every absence, forever. Tell them to copy this structure with their own repeater and change nothing but the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second template is shorter, and that is the point; a template is only as long as the thinking it saves. Read the left card as the saved artifact, then the right card as one real run with the blanks filled in. Read question five aloud: it is aimed straight at the mistake she named in the context line, which is what that blank is for. Then the navy strip, which is the recipe stamped on both: written once, bracketed, tested twice. Anyone who finishes early builds template #3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step, three minutes, alone and in ink: three to five pieces of this job you are keeping by decision. Quiet room; this is the step people remember, so give it silence. Ms. Rivera's card closes the loop: the lines she never starred in step 1 are exactly what her protected list protects. Her finished list is on the next slide if anyone stalls on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 list, word for word, and notice the second line under each one, because the reason is what makes it hold on a tired Thursday. Read line three aloud, the eight seconds at the door, and let it sit. Then say the plain thing: this list is not a mood, it is the same unstarred column from her audit, moved into ink. Templates are how the hour comes back; this page is what the hour is for. Do not rush past this slide even when the clock is tight.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voices. 45-min cut: two voices. Prioritize a protected-list line if time is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it land, then honest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throughout: workload is one contributor the tool can touch; the rest is human and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all three, ask for the visible nod, same ritual as every 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hour only stays won if somebody asks; week 4's reckoning is that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The noticing in action 3 is what keeps the hour from evaporating.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"still want help" answers set follow-up #1's agenda. Collect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Collect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7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Workload:</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Winning Back an Hour a Week</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your week audited, your two worst repeaters automated, and the human work protected in ink.</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54 hours, and the pile that isn't teaching keeps growing.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FIRST PLACE, IN THE WRONG RACE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pile, measured</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13293D"/>
                </a:solidFill>
                <a:latin typeface="Inter" pitchFamily="34" charset="0"/>
                <a:ea typeface="Inter" pitchFamily="34" charset="-122"/>
                <a:cs typeface="Inter" pitchFamily="34" charset="-120"/>
              </a:rPr>
              <a:t>THE WEEK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13293D"/>
                </a:solidFill>
                <a:latin typeface="Inter" pitchFamily="34" charset="0"/>
                <a:ea typeface="Inter" pitchFamily="34" charset="-122"/>
                <a:cs typeface="Inter" pitchFamily="34" charset="-120"/>
              </a:rPr>
              <a:t>~54 hrs</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 less than half of it direct teaching. The rest is the pile. (Merrimack College/EdWeek, 2022)</a:t>
            </a:r>
            <a:endParaRPr lang="en-US" sz="1600" dirty="0"/>
          </a:p>
        </p:txBody>
      </p:sp>
      <p:sp>
        <p:nvSpPr>
          <p:cNvPr id="18" name="Shape 15"/>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B4453A"/>
                </a:solidFill>
                <a:latin typeface="Inter" pitchFamily="34" charset="0"/>
                <a:ea typeface="Inter" pitchFamily="34" charset="-122"/>
                <a:cs typeface="Inter" pitchFamily="34" charset="-120"/>
              </a:rPr>
              <a:t>BURNOUT, RANKED BY INDUSTRY</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B4453A"/>
                </a:solidFill>
                <a:latin typeface="Inter" pitchFamily="34" charset="0"/>
                <a:ea typeface="Inter" pitchFamily="34" charset="-122"/>
                <a:cs typeface="Inter" pitchFamily="34" charset="-120"/>
              </a:rPr>
              <a:t>#1: K-12</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44% of K-12 workers, and 52% of teachers, feel burned out "always" or "very often": the highest of any U.S. industry, vs. 30% of all other workers. (Gallup, 2022)</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The pile is not a personal failing. It's the job's design flaw, and today we go after it.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recoverable hours: the drafting share of documentation, planning admin, boilerplate.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HOPEFUL NUMBER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recoverable share</a:t>
            </a:r>
            <a:endParaRPr lang="en-US" sz="3200" dirty="0"/>
          </a:p>
        </p:txBody>
      </p:sp>
      <p:sp>
        <p:nvSpPr>
          <p:cNvPr id="14" name="Shape 11"/>
          <p:cNvSpPr/>
          <p:nvPr/>
        </p:nvSpPr>
        <p:spPr>
          <a:xfrm>
            <a:off x="640080" y="1600200"/>
            <a:ext cx="10972800" cy="3017520"/>
          </a:xfrm>
          <a:prstGeom prst="roundRect">
            <a:avLst>
              <a:gd name="adj" fmla="val 2727"/>
            </a:avLst>
          </a:prstGeom>
          <a:solidFill>
            <a:srgbClr val="EAF5F3"/>
          </a:solidFill>
          <a:ln w="12700">
            <a:solidFill>
              <a:srgbClr val="EAF5F3"/>
            </a:solidFill>
            <a:prstDash val="solid"/>
          </a:ln>
        </p:spPr>
      </p:sp>
      <p:sp>
        <p:nvSpPr>
          <p:cNvPr id="15" name="Text 12"/>
          <p:cNvSpPr/>
          <p:nvPr/>
        </p:nvSpPr>
        <p:spPr>
          <a:xfrm>
            <a:off x="640080" y="1965960"/>
            <a:ext cx="10972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~5.9 hrs / week</a:t>
            </a:r>
            <a:endParaRPr lang="en-US" sz="5800" dirty="0"/>
          </a:p>
        </p:txBody>
      </p:sp>
      <p:sp>
        <p:nvSpPr>
          <p:cNvPr id="16" name="Text 13"/>
          <p:cNvSpPr/>
          <p:nvPr/>
        </p:nvSpPr>
        <p:spPr>
          <a:xfrm>
            <a:off x="1280160" y="3200400"/>
            <a:ext cx="9601200" cy="128016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reported back by teachers who've made AI a weekly habit: roughly six weeks a year, recovered from the drafting share of the pile: documentation, planning admin, reformatting, routine writing. (Gallup &amp; Walton Family Foundation, 2025)</a:t>
            </a:r>
            <a:endParaRPr lang="en-US" sz="1700" dirty="0"/>
          </a:p>
        </p:txBody>
      </p:sp>
      <p:sp>
        <p:nvSpPr>
          <p:cNvPr id="17" name="Text 14"/>
          <p:cNvSpPr/>
          <p:nvPr/>
        </p:nvSpPr>
        <p:spPr>
          <a:xfrm>
            <a:off x="640080" y="502920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Every kit so far handed you one piece. Today we audit the whole week at once.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week audited, two tasks automated, protected list written.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0:06</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two-question sort: what's delegable, what never was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automation moves: templates, batching, the library</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0:21</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Keeping it honest: the drift, the protected list, the hour</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your real week, audited and automated</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0:53</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the hour already located: week audited, two templates built and tested, protected list in ink.</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sort, question 1: does this task require knowing my kids?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SORT · QUESTION 1 OF 2</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Does it require knowing my kids?</a:t>
            </a:r>
            <a:endParaRPr lang="en-US" sz="2800" dirty="0"/>
          </a:p>
        </p:txBody>
      </p:sp>
      <p:sp>
        <p:nvSpPr>
          <p:cNvPr id="14" name="Shape 11"/>
          <p:cNvSpPr/>
          <p:nvPr/>
        </p:nvSpPr>
        <p:spPr>
          <a:xfrm>
            <a:off x="640080" y="1554480"/>
            <a:ext cx="5394960" cy="3931920"/>
          </a:xfrm>
          <a:prstGeom prst="roundRect">
            <a:avLst>
              <a:gd name="adj" fmla="val 2093"/>
            </a:avLst>
          </a:prstGeom>
          <a:solidFill>
            <a:srgbClr val="EAF5F3"/>
          </a:solidFill>
          <a:ln w="12700">
            <a:solidFill>
              <a:srgbClr val="EAF5F3"/>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E7D5B"/>
                </a:solidFill>
                <a:latin typeface="Inter" pitchFamily="34" charset="0"/>
                <a:ea typeface="Inter" pitchFamily="34" charset="-122"/>
                <a:cs typeface="Inter" pitchFamily="34" charset="-120"/>
              </a:rPr>
              <a:t>YES · STAYS YOURS</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Reading the room mid-lesson. Noticing the quiet kid got quieter. Feedback conversations. Which group a struggling reader joins. Judgment about real children.</a:t>
            </a:r>
            <a:endParaRPr lang="en-US" sz="1700" dirty="0"/>
          </a:p>
        </p:txBody>
      </p:sp>
      <p:sp>
        <p:nvSpPr>
          <p:cNvPr id="17" name="Shape 14"/>
          <p:cNvSpPr/>
          <p:nvPr/>
        </p:nvSpPr>
        <p:spPr>
          <a:xfrm>
            <a:off x="6263640" y="155448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NO · DRAFTABLE</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The weekly newsletter shell. The third sub plan of the semester. Turning your notes into a rubric. Reformatting anything. Tasks that need your time, not your judgment.</a:t>
            </a:r>
            <a:endParaRPr lang="en-US" sz="17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pile survives on tasks pretending they need your judgment when they only need your time.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sort, question 2: does it repeat? Repeating + generic = automate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SORT · QUESTION 2 OF 2</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Does it repeat?</a:t>
            </a:r>
            <a:endParaRPr lang="en-US" sz="3200" dirty="0"/>
          </a:p>
        </p:txBody>
      </p:sp>
      <p:sp>
        <p:nvSpPr>
          <p:cNvPr id="14" name="Shape 11"/>
          <p:cNvSpPr/>
          <p:nvPr/>
        </p:nvSpPr>
        <p:spPr>
          <a:xfrm>
            <a:off x="640080" y="1463040"/>
            <a:ext cx="5349240" cy="1920240"/>
          </a:xfrm>
          <a:prstGeom prst="roundRect">
            <a:avLst>
              <a:gd name="adj" fmla="val 4286"/>
            </a:avLst>
          </a:prstGeom>
          <a:solidFill>
            <a:srgbClr val="EAF5F3"/>
          </a:solidFill>
          <a:ln w="12700">
            <a:solidFill>
              <a:srgbClr val="EAF5F3"/>
            </a:solidFill>
            <a:prstDash val="solid"/>
          </a:ln>
        </p:spPr>
      </p:sp>
      <p:sp>
        <p:nvSpPr>
          <p:cNvPr id="15" name="Text 12"/>
          <p:cNvSpPr/>
          <p:nvPr/>
        </p:nvSpPr>
        <p:spPr>
          <a:xfrm>
            <a:off x="914400" y="1627632"/>
            <a:ext cx="4800600" cy="411480"/>
          </a:xfrm>
          <a:prstGeom prst="rect">
            <a:avLst/>
          </a:prstGeom>
          <a:noFill/>
          <a:ln/>
        </p:spPr>
        <p:txBody>
          <a:bodyPr wrap="square" lIns="0" tIns="0" rIns="0" bIns="0" rtlCol="0" anchor="ctr"/>
          <a:lstStyle/>
          <a:p>
            <a:pPr indent="0" marL="0">
              <a:buNone/>
            </a:pPr>
            <a:r>
              <a:rPr lang="en-US" sz="1500" b="1" dirty="0">
                <a:solidFill>
                  <a:srgbClr val="5B6B7A"/>
                </a:solidFill>
                <a:latin typeface="Inter" pitchFamily="34" charset="0"/>
                <a:ea typeface="Inter" pitchFamily="34" charset="-122"/>
                <a:cs typeface="Inter" pitchFamily="34" charset="-120"/>
              </a:rPr>
              <a:t>Repeats + doesn't need my kids</a:t>
            </a:r>
            <a:endParaRPr lang="en-US" sz="1500" dirty="0"/>
          </a:p>
        </p:txBody>
      </p:sp>
      <p:sp>
        <p:nvSpPr>
          <p:cNvPr id="16" name="Text 13"/>
          <p:cNvSpPr/>
          <p:nvPr/>
        </p:nvSpPr>
        <p:spPr>
          <a:xfrm>
            <a:off x="914400" y="2057400"/>
            <a:ext cx="4800600" cy="502920"/>
          </a:xfrm>
          <a:prstGeom prst="rect">
            <a:avLst/>
          </a:prstGeom>
          <a:noFill/>
          <a:ln/>
        </p:spPr>
        <p:txBody>
          <a:bodyPr wrap="square" lIns="0" tIns="0" rIns="0" bIns="0" rtlCol="0" anchor="ctr"/>
          <a:lstStyle/>
          <a:p>
            <a:pPr indent="0" marL="0">
              <a:buNone/>
            </a:pPr>
            <a:r>
              <a:rPr lang="en-US" sz="2200" b="1" dirty="0">
                <a:solidFill>
                  <a:srgbClr val="2E7D5B"/>
                </a:solidFill>
                <a:latin typeface="Inter" pitchFamily="34" charset="0"/>
                <a:ea typeface="Inter" pitchFamily="34" charset="-122"/>
                <a:cs typeface="Inter" pitchFamily="34" charset="-120"/>
              </a:rPr>
              <a:t>TEMPLATE IT</a:t>
            </a:r>
            <a:endParaRPr lang="en-US" sz="2200" dirty="0"/>
          </a:p>
        </p:txBody>
      </p:sp>
      <p:sp>
        <p:nvSpPr>
          <p:cNvPr id="17" name="Text 14"/>
          <p:cNvSpPr/>
          <p:nvPr/>
        </p:nvSpPr>
        <p:spPr>
          <a:xfrm>
            <a:off x="914400" y="2606040"/>
            <a:ext cx="4800600" cy="68580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Today's quadrant: the six weeks a year live here</a:t>
            </a:r>
            <a:endParaRPr lang="en-US" sz="1450" dirty="0"/>
          </a:p>
        </p:txBody>
      </p:sp>
      <p:sp>
        <p:nvSpPr>
          <p:cNvPr id="18" name="Shape 15"/>
          <p:cNvSpPr/>
          <p:nvPr/>
        </p:nvSpPr>
        <p:spPr>
          <a:xfrm>
            <a:off x="6263640" y="1463040"/>
            <a:ext cx="5349240" cy="1920240"/>
          </a:xfrm>
          <a:prstGeom prst="roundRect">
            <a:avLst>
              <a:gd name="adj" fmla="val 4286"/>
            </a:avLst>
          </a:prstGeom>
          <a:solidFill>
            <a:srgbClr val="F7F5F0"/>
          </a:solidFill>
          <a:ln w="12700">
            <a:solidFill>
              <a:srgbClr val="F7F5F0"/>
            </a:solidFill>
            <a:prstDash val="solid"/>
          </a:ln>
        </p:spPr>
      </p:sp>
      <p:sp>
        <p:nvSpPr>
          <p:cNvPr id="19" name="Text 16"/>
          <p:cNvSpPr/>
          <p:nvPr/>
        </p:nvSpPr>
        <p:spPr>
          <a:xfrm>
            <a:off x="6537960" y="1627632"/>
            <a:ext cx="4800600" cy="411480"/>
          </a:xfrm>
          <a:prstGeom prst="rect">
            <a:avLst/>
          </a:prstGeom>
          <a:noFill/>
          <a:ln/>
        </p:spPr>
        <p:txBody>
          <a:bodyPr wrap="square" lIns="0" tIns="0" rIns="0" bIns="0" rtlCol="0" anchor="ctr"/>
          <a:lstStyle/>
          <a:p>
            <a:pPr indent="0" marL="0">
              <a:buNone/>
            </a:pPr>
            <a:r>
              <a:rPr lang="en-US" sz="1500" b="1" dirty="0">
                <a:solidFill>
                  <a:srgbClr val="5B6B7A"/>
                </a:solidFill>
                <a:latin typeface="Inter" pitchFamily="34" charset="0"/>
                <a:ea typeface="Inter" pitchFamily="34" charset="-122"/>
                <a:cs typeface="Inter" pitchFamily="34" charset="-120"/>
              </a:rPr>
              <a:t>One-off + doesn't need my kids</a:t>
            </a:r>
            <a:endParaRPr lang="en-US" sz="1500" dirty="0"/>
          </a:p>
        </p:txBody>
      </p:sp>
      <p:sp>
        <p:nvSpPr>
          <p:cNvPr id="20" name="Text 17"/>
          <p:cNvSpPr/>
          <p:nvPr/>
        </p:nvSpPr>
        <p:spPr>
          <a:xfrm>
            <a:off x="6537960" y="2057400"/>
            <a:ext cx="4800600" cy="5029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Good prompt</a:t>
            </a:r>
            <a:endParaRPr lang="en-US" sz="2200" dirty="0"/>
          </a:p>
        </p:txBody>
      </p:sp>
      <p:sp>
        <p:nvSpPr>
          <p:cNvPr id="21" name="Text 18"/>
          <p:cNvSpPr/>
          <p:nvPr/>
        </p:nvSpPr>
        <p:spPr>
          <a:xfrm>
            <a:off x="6537960" y="2606040"/>
            <a:ext cx="4800600" cy="68580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Kit 2 style, worth two minutes</a:t>
            </a:r>
            <a:endParaRPr lang="en-US" sz="1450" dirty="0"/>
          </a:p>
        </p:txBody>
      </p:sp>
      <p:sp>
        <p:nvSpPr>
          <p:cNvPr id="22" name="Shape 19"/>
          <p:cNvSpPr/>
          <p:nvPr/>
        </p:nvSpPr>
        <p:spPr>
          <a:xfrm>
            <a:off x="640080" y="3566160"/>
            <a:ext cx="5349240" cy="1920240"/>
          </a:xfrm>
          <a:prstGeom prst="roundRect">
            <a:avLst>
              <a:gd name="adj" fmla="val 4286"/>
            </a:avLst>
          </a:prstGeom>
          <a:solidFill>
            <a:srgbClr val="F7F5F0"/>
          </a:solidFill>
          <a:ln w="12700">
            <a:solidFill>
              <a:srgbClr val="F7F5F0"/>
            </a:solidFill>
            <a:prstDash val="solid"/>
          </a:ln>
        </p:spPr>
      </p:sp>
      <p:sp>
        <p:nvSpPr>
          <p:cNvPr id="23" name="Text 20"/>
          <p:cNvSpPr/>
          <p:nvPr/>
        </p:nvSpPr>
        <p:spPr>
          <a:xfrm>
            <a:off x="914400" y="3730752"/>
            <a:ext cx="4800600" cy="411480"/>
          </a:xfrm>
          <a:prstGeom prst="rect">
            <a:avLst/>
          </a:prstGeom>
          <a:noFill/>
          <a:ln/>
        </p:spPr>
        <p:txBody>
          <a:bodyPr wrap="square" lIns="0" tIns="0" rIns="0" bIns="0" rtlCol="0" anchor="ctr"/>
          <a:lstStyle/>
          <a:p>
            <a:pPr indent="0" marL="0">
              <a:buNone/>
            </a:pPr>
            <a:r>
              <a:rPr lang="en-US" sz="1500" b="1" dirty="0">
                <a:solidFill>
                  <a:srgbClr val="5B6B7A"/>
                </a:solidFill>
                <a:latin typeface="Inter" pitchFamily="34" charset="0"/>
                <a:ea typeface="Inter" pitchFamily="34" charset="-122"/>
                <a:cs typeface="Inter" pitchFamily="34" charset="-120"/>
              </a:rPr>
              <a:t>Repeats + needs my kids</a:t>
            </a:r>
            <a:endParaRPr lang="en-US" sz="1500" dirty="0"/>
          </a:p>
        </p:txBody>
      </p:sp>
      <p:sp>
        <p:nvSpPr>
          <p:cNvPr id="24" name="Text 21"/>
          <p:cNvSpPr/>
          <p:nvPr/>
        </p:nvSpPr>
        <p:spPr>
          <a:xfrm>
            <a:off x="914400" y="4160520"/>
            <a:ext cx="4800600" cy="5029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Yours, AI-assisted shells</a:t>
            </a:r>
            <a:endParaRPr lang="en-US" sz="2200" dirty="0"/>
          </a:p>
        </p:txBody>
      </p:sp>
      <p:sp>
        <p:nvSpPr>
          <p:cNvPr id="25" name="Text 22"/>
          <p:cNvSpPr/>
          <p:nvPr/>
        </p:nvSpPr>
        <p:spPr>
          <a:xfrm>
            <a:off x="914400" y="4709160"/>
            <a:ext cx="4800600" cy="68580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No student info in; personalize everything</a:t>
            </a:r>
            <a:endParaRPr lang="en-US" sz="1450" dirty="0"/>
          </a:p>
        </p:txBody>
      </p:sp>
      <p:sp>
        <p:nvSpPr>
          <p:cNvPr id="26" name="Shape 23"/>
          <p:cNvSpPr/>
          <p:nvPr/>
        </p:nvSpPr>
        <p:spPr>
          <a:xfrm>
            <a:off x="6263640" y="3566160"/>
            <a:ext cx="5349240" cy="1920240"/>
          </a:xfrm>
          <a:prstGeom prst="roundRect">
            <a:avLst>
              <a:gd name="adj" fmla="val 4286"/>
            </a:avLst>
          </a:prstGeom>
          <a:solidFill>
            <a:srgbClr val="F7F5F0"/>
          </a:solidFill>
          <a:ln w="12700">
            <a:solidFill>
              <a:srgbClr val="F7F5F0"/>
            </a:solidFill>
            <a:prstDash val="solid"/>
          </a:ln>
        </p:spPr>
      </p:sp>
      <p:sp>
        <p:nvSpPr>
          <p:cNvPr id="27" name="Text 24"/>
          <p:cNvSpPr/>
          <p:nvPr/>
        </p:nvSpPr>
        <p:spPr>
          <a:xfrm>
            <a:off x="6537960" y="3730752"/>
            <a:ext cx="4800600" cy="411480"/>
          </a:xfrm>
          <a:prstGeom prst="rect">
            <a:avLst/>
          </a:prstGeom>
          <a:noFill/>
          <a:ln/>
        </p:spPr>
        <p:txBody>
          <a:bodyPr wrap="square" lIns="0" tIns="0" rIns="0" bIns="0" rtlCol="0" anchor="ctr"/>
          <a:lstStyle/>
          <a:p>
            <a:pPr indent="0" marL="0">
              <a:buNone/>
            </a:pPr>
            <a:r>
              <a:rPr lang="en-US" sz="1500" b="1" dirty="0">
                <a:solidFill>
                  <a:srgbClr val="5B6B7A"/>
                </a:solidFill>
                <a:latin typeface="Inter" pitchFamily="34" charset="0"/>
                <a:ea typeface="Inter" pitchFamily="34" charset="-122"/>
                <a:cs typeface="Inter" pitchFamily="34" charset="-120"/>
              </a:rPr>
              <a:t>One-off + needs my kids</a:t>
            </a:r>
            <a:endParaRPr lang="en-US" sz="1500" dirty="0"/>
          </a:p>
        </p:txBody>
      </p:sp>
      <p:sp>
        <p:nvSpPr>
          <p:cNvPr id="28" name="Text 25"/>
          <p:cNvSpPr/>
          <p:nvPr/>
        </p:nvSpPr>
        <p:spPr>
          <a:xfrm>
            <a:off x="6537960" y="4160520"/>
            <a:ext cx="4800600" cy="502920"/>
          </a:xfrm>
          <a:prstGeom prst="rect">
            <a:avLst/>
          </a:prstGeom>
          <a:noFill/>
          <a:ln/>
        </p:spPr>
        <p:txBody>
          <a:bodyPr wrap="square" lIns="0" tIns="0" rIns="0" bIns="0" rtlCol="0" anchor="ctr"/>
          <a:lstStyle/>
          <a:p>
            <a:pPr indent="0" marL="0">
              <a:buNone/>
            </a:pPr>
            <a:r>
              <a:rPr lang="en-US" sz="2200" b="1" dirty="0">
                <a:solidFill>
                  <a:srgbClr val="13293D"/>
                </a:solidFill>
                <a:latin typeface="Inter" pitchFamily="34" charset="0"/>
                <a:ea typeface="Inter" pitchFamily="34" charset="-122"/>
                <a:cs typeface="Inter" pitchFamily="34" charset="-120"/>
              </a:rPr>
              <a:t>Yours entirely</a:t>
            </a:r>
            <a:endParaRPr lang="en-US" sz="2200" dirty="0"/>
          </a:p>
        </p:txBody>
      </p:sp>
      <p:sp>
        <p:nvSpPr>
          <p:cNvPr id="29" name="Text 26"/>
          <p:cNvSpPr/>
          <p:nvPr/>
        </p:nvSpPr>
        <p:spPr>
          <a:xfrm>
            <a:off x="6537960" y="4709160"/>
            <a:ext cx="4800600" cy="685800"/>
          </a:xfrm>
          <a:prstGeom prst="rect">
            <a:avLst/>
          </a:prstGeom>
          <a:noFill/>
          <a:ln/>
        </p:spPr>
        <p:txBody>
          <a:bodyPr wrap="square" lIns="0" tIns="0" rIns="0" bIns="0" rtlCol="0" anchor="ctr"/>
          <a:lstStyle/>
          <a:p>
            <a:pPr indent="0" marL="0">
              <a:buNone/>
            </a:pPr>
            <a:r>
              <a:rPr lang="en-US" sz="1450" dirty="0">
                <a:solidFill>
                  <a:srgbClr val="1B1F24"/>
                </a:solidFill>
                <a:latin typeface="Inter" pitchFamily="34" charset="0"/>
                <a:ea typeface="Inter" pitchFamily="34" charset="-122"/>
                <a:cs typeface="Inter" pitchFamily="34" charset="-120"/>
              </a:rPr>
              <a:t>That's teaching</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delegate pile: sub plans, reformatting, boilerplate, first drafts.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FROM REAL CLASSROOMS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lands in the delegate pile</a:t>
            </a:r>
            <a:endParaRPr lang="en-US" sz="2800" dirty="0"/>
          </a:p>
        </p:txBody>
      </p:sp>
      <p:sp>
        <p:nvSpPr>
          <p:cNvPr id="14" name="Text 11"/>
          <p:cNvSpPr/>
          <p:nvPr/>
        </p:nvSpPr>
        <p:spPr>
          <a:xfrm>
            <a:off x="640080" y="1417320"/>
            <a:ext cx="10908792" cy="30175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Sub plans · station directions · quiz shells and exit tickets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Newsletter frames · materials lists · syllabus updates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Documentation summaries (de-identified) · rubric drafts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Recommendation-letter outlines, personalized after</a:t>
            </a:r>
            <a:endParaRPr lang="en-US" sz="2100" dirty="0"/>
          </a:p>
        </p:txBody>
      </p:sp>
      <p:sp>
        <p:nvSpPr>
          <p:cNvPr id="15" name="Shape 12"/>
          <p:cNvSpPr/>
          <p:nvPr/>
        </p:nvSpPr>
        <p:spPr>
          <a:xfrm>
            <a:off x="640080" y="4572000"/>
            <a:ext cx="10972800" cy="1188720"/>
          </a:xfrm>
          <a:prstGeom prst="roundRect">
            <a:avLst>
              <a:gd name="adj" fmla="val 6923"/>
            </a:avLst>
          </a:prstGeom>
          <a:solidFill>
            <a:srgbClr val="EAF5F3"/>
          </a:solidFill>
          <a:ln w="12700">
            <a:solidFill>
              <a:srgbClr val="EAF5F3"/>
            </a:solidFill>
            <a:prstDash val="solid"/>
          </a:ln>
        </p:spPr>
      </p:sp>
      <p:sp>
        <p:nvSpPr>
          <p:cNvPr id="16" name="Text 13"/>
          <p:cNvSpPr/>
          <p:nvPr/>
        </p:nvSpPr>
        <p:spPr>
          <a:xfrm>
            <a:off x="960120" y="4709160"/>
            <a:ext cx="10332720" cy="9144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None need your judgment to draft; all need your review to ship. Drafting is delegable. Deciding never is.</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banner: save time ON teaching, not FROM teaching.</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BANNER OVER TODAY</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Save time ON teaching,</a:t>
            </a:r>
            <a:endParaRPr lang="en-US" sz="4400" dirty="0"/>
          </a:p>
          <a:p>
            <a:pPr indent="0" marL="0">
              <a:lnSpc>
                <a:spcPct val="110000"/>
              </a:lnSpc>
              <a:buNone/>
            </a:pPr>
            <a:r>
              <a:rPr lang="en-US" sz="4400" b="1" dirty="0">
                <a:solidFill>
                  <a:srgbClr val="FFFFFF"/>
                </a:solidFill>
                <a:latin typeface="Inter" pitchFamily="34" charset="0"/>
                <a:ea typeface="Inter" pitchFamily="34" charset="-122"/>
                <a:cs typeface="Inter" pitchFamily="34" charset="-120"/>
              </a:rPr>
              <a:t>not FROM teaching.</a:t>
            </a:r>
            <a:endParaRPr lang="en-US" sz="4400" dirty="0"/>
          </a:p>
        </p:txBody>
      </p:sp>
      <p:sp>
        <p:nvSpPr>
          <p:cNvPr id="14" name="Text 11"/>
          <p:cNvSpPr/>
          <p:nvPr/>
        </p:nvSpPr>
        <p:spPr>
          <a:xfrm>
            <a:off x="822960" y="4114800"/>
            <a:ext cx="10332720" cy="109728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The hour we recover comes out of the pile, never out of the classroom. If a shortcut starts taking time from kids instead of paperwork, it's not a shortcut we teach.</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FLAGSHIP MOVE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sub plan she never writes again</a:t>
            </a:r>
            <a:endParaRPr lang="en-US" sz="3200" dirty="0"/>
          </a:p>
        </p:txBody>
      </p:sp>
      <p:sp>
        <p:nvSpPr>
          <p:cNvPr id="7" name="Shape 4"/>
          <p:cNvSpPr/>
          <p:nvPr/>
        </p:nvSpPr>
        <p:spPr>
          <a:xfrm>
            <a:off x="640080" y="1371600"/>
            <a:ext cx="10972800" cy="3931920"/>
          </a:xfrm>
          <a:prstGeom prst="roundRect">
            <a:avLst>
              <a:gd name="adj" fmla="val 2326"/>
            </a:avLst>
          </a:prstGeom>
          <a:solidFill>
            <a:srgbClr val="FFFFFF"/>
          </a:solidFill>
          <a:ln w="19050">
            <a:solidFill>
              <a:srgbClr val="DCE3EA"/>
            </a:solidFill>
            <a:prstDash val="solid"/>
          </a:ln>
        </p:spPr>
      </p:sp>
      <p:sp>
        <p:nvSpPr>
          <p:cNvPr id="8" name="Shape 5"/>
          <p:cNvSpPr/>
          <p:nvPr/>
        </p:nvSpPr>
        <p:spPr>
          <a:xfrm>
            <a:off x="640080" y="137160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49047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49047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49047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37160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3" name="Shape 10"/>
          <p:cNvSpPr/>
          <p:nvPr/>
        </p:nvSpPr>
        <p:spPr>
          <a:xfrm>
            <a:off x="1554480" y="1965960"/>
            <a:ext cx="9646920" cy="3108960"/>
          </a:xfrm>
          <a:prstGeom prst="roundRect">
            <a:avLst>
              <a:gd name="adj" fmla="val 3529"/>
            </a:avLst>
          </a:prstGeom>
          <a:solidFill>
            <a:srgbClr val="F7F5F0"/>
          </a:solidFill>
          <a:ln w="12700">
            <a:solidFill>
              <a:srgbClr val="F7F5F0"/>
            </a:solidFill>
            <a:prstDash val="solid"/>
          </a:ln>
        </p:spPr>
      </p:sp>
      <p:sp>
        <p:nvSpPr>
          <p:cNvPr id="14" name="Text 11"/>
          <p:cNvSpPr/>
          <p:nvPr/>
        </p:nvSpPr>
        <p:spPr>
          <a:xfrm>
            <a:off x="1783080" y="2103120"/>
            <a:ext cx="9189720" cy="2194560"/>
          </a:xfrm>
          <a:prstGeom prst="rect">
            <a:avLst/>
          </a:prstGeom>
          <a:noFill/>
          <a:ln/>
        </p:spPr>
        <p:txBody>
          <a:bodyPr wrap="square" lIns="0" tIns="0" rIns="0" bIns="0" rtlCol="0" anchor="t"/>
          <a:lstStyle/>
          <a:p>
            <a:pPr indent="0" marL="0">
              <a:lnSpc>
                <a:spcPct val="112000"/>
              </a:lnSpc>
              <a:buNone/>
            </a:pPr>
            <a:r>
              <a:rPr lang="en-US" sz="1600" b="1" dirty="0">
                <a:solidFill>
                  <a:srgbClr val="2A9D8F"/>
                </a:solidFill>
                <a:latin typeface="Inter" pitchFamily="34" charset="0"/>
                <a:ea typeface="Inter" pitchFamily="34" charset="-122"/>
                <a:cs typeface="Inter" pitchFamily="34" charset="-120"/>
              </a:rPr>
              <a:t>"You are an experienced teacher writing for a substitute who has never met these students. </a:t>
            </a:r>
            <a:pPr indent="0" marL="0">
              <a:lnSpc>
                <a:spcPct val="112000"/>
              </a:lnSpc>
              <a:buNone/>
            </a:pPr>
            <a:r>
              <a:rPr lang="en-US" sz="1600" b="1" dirty="0">
                <a:solidFill>
                  <a:srgbClr val="13293D"/>
                </a:solidFill>
                <a:latin typeface="Inter" pitchFamily="34" charset="0"/>
                <a:ea typeface="Inter" pitchFamily="34" charset="-122"/>
                <a:cs typeface="Inter" pitchFamily="34" charset="-120"/>
              </a:rPr>
              <a:t>Write a one-page sub plan </a:t>
            </a:r>
            <a:pPr indent="0" marL="0">
              <a:lnSpc>
                <a:spcPct val="112000"/>
              </a:lnSpc>
              <a:buNone/>
            </a:pPr>
            <a:r>
              <a:rPr lang="en-US" sz="1600" b="1" dirty="0">
                <a:solidFill>
                  <a:srgbClr val="B07914"/>
                </a:solidFill>
                <a:latin typeface="Inter" pitchFamily="34" charset="0"/>
                <a:ea typeface="Inter" pitchFamily="34" charset="-122"/>
                <a:cs typeface="Inter" pitchFamily="34" charset="-120"/>
              </a:rPr>
              <a:t>for a [GRADE] class covering [TOPIC]. Context: the class routine that works is [ROUTINE]. </a:t>
            </a:r>
            <a:pPr indent="0" marL="0">
              <a:lnSpc>
                <a:spcPct val="112000"/>
              </a:lnSpc>
              <a:buNone/>
            </a:pPr>
            <a:r>
              <a:rPr lang="en-US" sz="1600" b="1" dirty="0">
                <a:solidFill>
                  <a:srgbClr val="2E7D5B"/>
                </a:solidFill>
                <a:latin typeface="Inter" pitchFamily="34" charset="0"/>
                <a:ea typeface="Inter" pitchFamily="34" charset="-122"/>
                <a:cs typeface="Inter" pitchFamily="34" charset="-120"/>
              </a:rPr>
              <a:t>Format: a bell-ringer, a main activity with simple numbered directions, an early-finisher task, and management notes."</a:t>
            </a:r>
            <a:endParaRPr lang="en-US" sz="1600" dirty="0"/>
          </a:p>
        </p:txBody>
      </p:sp>
      <p:sp>
        <p:nvSpPr>
          <p:cNvPr id="15" name="Text 12"/>
          <p:cNvSpPr/>
          <p:nvPr/>
        </p:nvSpPr>
        <p:spPr>
          <a:xfrm>
            <a:off x="1783080" y="4526280"/>
            <a:ext cx="9189720" cy="457200"/>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The brackets are the template: she fills three and runs it. Ninety seconds, every absence, forever.</a:t>
            </a:r>
            <a:endParaRPr lang="en-US" sz="14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recipe: template any repeating task with [PLACEHOLDERS], build once, reuse forever.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GENERALIZE IT TO ANY REPEATER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template recipe</a:t>
            </a:r>
            <a:endParaRPr lang="en-US" sz="3200" dirty="0"/>
          </a:p>
        </p:txBody>
      </p:sp>
      <p:sp>
        <p:nvSpPr>
          <p:cNvPr id="14" name="Shape 11"/>
          <p:cNvSpPr/>
          <p:nvPr/>
        </p:nvSpPr>
        <p:spPr>
          <a:xfrm>
            <a:off x="822960" y="1664208"/>
            <a:ext cx="731520" cy="731520"/>
          </a:xfrm>
          <a:prstGeom prst="ellipse">
            <a:avLst/>
          </a:prstGeom>
          <a:solidFill>
            <a:srgbClr val="2A9D8F"/>
          </a:solidFill>
          <a:ln w="12700">
            <a:solidFill>
              <a:srgbClr val="2A9D8F"/>
            </a:solidFill>
            <a:prstDash val="solid"/>
          </a:ln>
        </p:spPr>
      </p:sp>
      <p:sp>
        <p:nvSpPr>
          <p:cNvPr id="15" name="Text 12"/>
          <p:cNvSpPr/>
          <p:nvPr/>
        </p:nvSpPr>
        <p:spPr>
          <a:xfrm>
            <a:off x="822960" y="1664208"/>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1</a:t>
            </a:r>
            <a:endParaRPr lang="en-US" sz="2600" dirty="0"/>
          </a:p>
        </p:txBody>
      </p:sp>
      <p:sp>
        <p:nvSpPr>
          <p:cNvPr id="16" name="Shape 13"/>
          <p:cNvSpPr/>
          <p:nvPr/>
        </p:nvSpPr>
        <p:spPr>
          <a:xfrm>
            <a:off x="1783080" y="1463040"/>
            <a:ext cx="9784080" cy="1143000"/>
          </a:xfrm>
          <a:prstGeom prst="roundRect">
            <a:avLst>
              <a:gd name="adj" fmla="val 7200"/>
            </a:avLst>
          </a:prstGeom>
          <a:solidFill>
            <a:srgbClr val="F7F5F0"/>
          </a:solidFill>
          <a:ln w="12700">
            <a:solidFill>
              <a:srgbClr val="F7F5F0"/>
            </a:solidFill>
            <a:prstDash val="solid"/>
          </a:ln>
        </p:spPr>
      </p:sp>
      <p:sp>
        <p:nvSpPr>
          <p:cNvPr id="17" name="Text 14"/>
          <p:cNvSpPr/>
          <p:nvPr/>
        </p:nvSpPr>
        <p:spPr>
          <a:xfrm>
            <a:off x="2103120" y="1572768"/>
            <a:ext cx="91440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Write it once</a:t>
            </a:r>
            <a:endParaRPr lang="en-US" sz="1900" dirty="0"/>
          </a:p>
        </p:txBody>
      </p:sp>
      <p:sp>
        <p:nvSpPr>
          <p:cNvPr id="18" name="Text 15"/>
          <p:cNvSpPr/>
          <p:nvPr/>
        </p:nvSpPr>
        <p:spPr>
          <a:xfrm>
            <a:off x="2103120" y="1993392"/>
            <a:ext cx="9144000" cy="5486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Four-part prompt for one real instance of the task, Kit 2 style</a:t>
            </a:r>
            <a:endParaRPr lang="en-US" sz="1550" dirty="0"/>
          </a:p>
        </p:txBody>
      </p:sp>
      <p:sp>
        <p:nvSpPr>
          <p:cNvPr id="19" name="Shape 16"/>
          <p:cNvSpPr/>
          <p:nvPr/>
        </p:nvSpPr>
        <p:spPr>
          <a:xfrm>
            <a:off x="822960" y="2990088"/>
            <a:ext cx="731520" cy="731520"/>
          </a:xfrm>
          <a:prstGeom prst="ellipse">
            <a:avLst/>
          </a:prstGeom>
          <a:solidFill>
            <a:srgbClr val="2A9D8F"/>
          </a:solidFill>
          <a:ln w="12700">
            <a:solidFill>
              <a:srgbClr val="2A9D8F"/>
            </a:solidFill>
            <a:prstDash val="solid"/>
          </a:ln>
        </p:spPr>
      </p:sp>
      <p:sp>
        <p:nvSpPr>
          <p:cNvPr id="20" name="Text 17"/>
          <p:cNvSpPr/>
          <p:nvPr/>
        </p:nvSpPr>
        <p:spPr>
          <a:xfrm>
            <a:off x="822960" y="2990088"/>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2</a:t>
            </a:r>
            <a:endParaRPr lang="en-US" sz="2600" dirty="0"/>
          </a:p>
        </p:txBody>
      </p:sp>
      <p:sp>
        <p:nvSpPr>
          <p:cNvPr id="21" name="Shape 18"/>
          <p:cNvSpPr/>
          <p:nvPr/>
        </p:nvSpPr>
        <p:spPr>
          <a:xfrm>
            <a:off x="1783080" y="2788920"/>
            <a:ext cx="9784080" cy="1143000"/>
          </a:xfrm>
          <a:prstGeom prst="roundRect">
            <a:avLst>
              <a:gd name="adj" fmla="val 7200"/>
            </a:avLst>
          </a:prstGeom>
          <a:solidFill>
            <a:srgbClr val="F7F5F0"/>
          </a:solidFill>
          <a:ln w="12700">
            <a:solidFill>
              <a:srgbClr val="F7F5F0"/>
            </a:solidFill>
            <a:prstDash val="solid"/>
          </a:ln>
        </p:spPr>
      </p:sp>
      <p:sp>
        <p:nvSpPr>
          <p:cNvPr id="22" name="Text 19"/>
          <p:cNvSpPr/>
          <p:nvPr/>
        </p:nvSpPr>
        <p:spPr>
          <a:xfrm>
            <a:off x="2103120" y="2898648"/>
            <a:ext cx="91440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Bracket the changes</a:t>
            </a:r>
            <a:endParaRPr lang="en-US" sz="1900" dirty="0"/>
          </a:p>
        </p:txBody>
      </p:sp>
      <p:sp>
        <p:nvSpPr>
          <p:cNvPr id="23" name="Text 20"/>
          <p:cNvSpPr/>
          <p:nvPr/>
        </p:nvSpPr>
        <p:spPr>
          <a:xfrm>
            <a:off x="2103120" y="3319272"/>
            <a:ext cx="9144000" cy="5486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Everything that varies week to week becomes [TOPIC], [GRADE], [DATE], [SKILL]</a:t>
            </a:r>
            <a:endParaRPr lang="en-US" sz="1550" dirty="0"/>
          </a:p>
        </p:txBody>
      </p:sp>
      <p:sp>
        <p:nvSpPr>
          <p:cNvPr id="24" name="Shape 21"/>
          <p:cNvSpPr/>
          <p:nvPr/>
        </p:nvSpPr>
        <p:spPr>
          <a:xfrm>
            <a:off x="822960" y="4315968"/>
            <a:ext cx="731520" cy="731520"/>
          </a:xfrm>
          <a:prstGeom prst="ellipse">
            <a:avLst/>
          </a:prstGeom>
          <a:solidFill>
            <a:srgbClr val="2A9D8F"/>
          </a:solidFill>
          <a:ln w="12700">
            <a:solidFill>
              <a:srgbClr val="2A9D8F"/>
            </a:solidFill>
            <a:prstDash val="solid"/>
          </a:ln>
        </p:spPr>
      </p:sp>
      <p:sp>
        <p:nvSpPr>
          <p:cNvPr id="25" name="Text 22"/>
          <p:cNvSpPr/>
          <p:nvPr/>
        </p:nvSpPr>
        <p:spPr>
          <a:xfrm>
            <a:off x="822960" y="4315968"/>
            <a:ext cx="73152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Inter" pitchFamily="34" charset="0"/>
                <a:ea typeface="Inter" pitchFamily="34" charset="-122"/>
                <a:cs typeface="Inter" pitchFamily="34" charset="-120"/>
              </a:rPr>
              <a:t>3</a:t>
            </a:r>
            <a:endParaRPr lang="en-US" sz="2600" dirty="0"/>
          </a:p>
        </p:txBody>
      </p:sp>
      <p:sp>
        <p:nvSpPr>
          <p:cNvPr id="26" name="Shape 23"/>
          <p:cNvSpPr/>
          <p:nvPr/>
        </p:nvSpPr>
        <p:spPr>
          <a:xfrm>
            <a:off x="1783080" y="4114800"/>
            <a:ext cx="9784080" cy="1143000"/>
          </a:xfrm>
          <a:prstGeom prst="roundRect">
            <a:avLst>
              <a:gd name="adj" fmla="val 7200"/>
            </a:avLst>
          </a:prstGeom>
          <a:solidFill>
            <a:srgbClr val="F7F5F0"/>
          </a:solidFill>
          <a:ln w="12700">
            <a:solidFill>
              <a:srgbClr val="F7F5F0"/>
            </a:solidFill>
            <a:prstDash val="solid"/>
          </a:ln>
        </p:spPr>
      </p:sp>
      <p:sp>
        <p:nvSpPr>
          <p:cNvPr id="27" name="Text 24"/>
          <p:cNvSpPr/>
          <p:nvPr/>
        </p:nvSpPr>
        <p:spPr>
          <a:xfrm>
            <a:off x="2103120" y="4224528"/>
            <a:ext cx="9144000" cy="41148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Test it twice</a:t>
            </a:r>
            <a:endParaRPr lang="en-US" sz="1900" dirty="0"/>
          </a:p>
        </p:txBody>
      </p:sp>
      <p:sp>
        <p:nvSpPr>
          <p:cNvPr id="28" name="Text 25"/>
          <p:cNvSpPr/>
          <p:nvPr/>
        </p:nvSpPr>
        <p:spPr>
          <a:xfrm>
            <a:off x="2103120" y="4645152"/>
            <a:ext cx="9144000" cy="5486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Run a second real instance; where it wobbles, add context. Works twice = template. Save it.</a:t>
            </a:r>
            <a:endParaRPr lang="en-US" sz="1550" dirty="0"/>
          </a:p>
        </p:txBody>
      </p:sp>
      <p:sp>
        <p:nvSpPr>
          <p:cNvPr id="29" name="Text 26"/>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You've just deleted a recurring task from your future.</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batching move: one sitting, five artifacts; plus the staff doc so nobody solves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MULTIPLIERS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Batching, and the library</a:t>
            </a:r>
            <a:endParaRPr lang="en-US" sz="3200" dirty="0"/>
          </a:p>
        </p:txBody>
      </p:sp>
      <p:sp>
        <p:nvSpPr>
          <p:cNvPr id="14" name="Shape 11"/>
          <p:cNvSpPr/>
          <p:nvPr/>
        </p:nvSpPr>
        <p:spPr>
          <a:xfrm>
            <a:off x="640080" y="1554480"/>
            <a:ext cx="539496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96012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BATCHING</a:t>
            </a:r>
            <a:endParaRPr lang="en-US" sz="1500" dirty="0"/>
          </a:p>
        </p:txBody>
      </p:sp>
      <p:sp>
        <p:nvSpPr>
          <p:cNvPr id="16" name="Text 13"/>
          <p:cNvSpPr/>
          <p:nvPr/>
        </p:nvSpPr>
        <p:spPr>
          <a:xfrm>
            <a:off x="96012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Same-kind tasks, one sitting, one template: five exit-ticket sets in one go instead of five late-night sessions. The setup cost is paid once; the batch rides free.</a:t>
            </a:r>
            <a:endParaRPr lang="en-US" sz="1700" dirty="0"/>
          </a:p>
        </p:txBody>
      </p:sp>
      <p:sp>
        <p:nvSpPr>
          <p:cNvPr id="17" name="Shape 14"/>
          <p:cNvSpPr/>
          <p:nvPr/>
        </p:nvSpPr>
        <p:spPr>
          <a:xfrm>
            <a:off x="6263640" y="1554480"/>
            <a:ext cx="539496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583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THE LIBRARY</a:t>
            </a:r>
            <a:endParaRPr lang="en-US" sz="1500" dirty="0"/>
          </a:p>
        </p:txBody>
      </p:sp>
      <p:sp>
        <p:nvSpPr>
          <p:cNvPr id="19" name="Text 16"/>
          <p:cNvSpPr/>
          <p:nvPr/>
        </p:nvSpPr>
        <p:spPr>
          <a:xfrm>
            <a:off x="6583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Every working template goes in the staff doc's Workload section, name attached. Thirty teachers, two templates each: sixty deleted repeaters. One person's Tuesday night becomes everyone's.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quadrant calls: relational stays, repetitive-generic goes.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CALL IT OUT</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Delegate the draft, or keep it entirely?</a:t>
            </a:r>
            <a:endParaRPr lang="en-US" sz="2800" dirty="0"/>
          </a:p>
        </p:txBody>
      </p:sp>
      <p:sp>
        <p:nvSpPr>
          <p:cNvPr id="14" name="Text 11"/>
          <p:cNvSpPr/>
          <p:nvPr/>
        </p:nvSpPr>
        <p:spPr>
          <a:xfrm>
            <a:off x="731520" y="1508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46304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The weekly parent newsletter</a:t>
            </a:r>
            <a:endParaRPr lang="en-US" sz="1650" dirty="0"/>
          </a:p>
        </p:txBody>
      </p:sp>
      <p:sp>
        <p:nvSpPr>
          <p:cNvPr id="16" name="Text 13"/>
          <p:cNvSpPr/>
          <p:nvPr/>
        </p:nvSpPr>
        <p:spPr>
          <a:xfrm>
            <a:off x="7315200" y="1463040"/>
            <a:ext cx="4297680" cy="914400"/>
          </a:xfrm>
          <a:prstGeom prst="rect">
            <a:avLst/>
          </a:prstGeom>
          <a:noFill/>
          <a:ln/>
        </p:spPr>
        <p:txBody>
          <a:bodyPr wrap="square" lIns="0" tIns="0" rIns="0" bIns="0" rtlCol="0" anchor="ctr"/>
          <a:lstStyle/>
          <a:p>
            <a:pPr indent="0" marL="0">
              <a:buNone/>
            </a:pPr>
            <a:r>
              <a:rPr lang="en-US" sz="1400" dirty="0">
                <a:solidFill>
                  <a:srgbClr val="5B6B7A"/>
                </a:solidFill>
                <a:latin typeface="Inter" pitchFamily="34" charset="0"/>
                <a:ea typeface="Inter" pitchFamily="34" charset="-122"/>
                <a:cs typeface="Inter" pitchFamily="34" charset="-120"/>
              </a:rPr>
              <a:t>Draft it: template + your voice pass</a:t>
            </a:r>
            <a:endParaRPr lang="en-US" sz="1400" dirty="0"/>
          </a:p>
        </p:txBody>
      </p:sp>
      <p:sp>
        <p:nvSpPr>
          <p:cNvPr id="17" name="Text 14"/>
          <p:cNvSpPr/>
          <p:nvPr/>
        </p:nvSpPr>
        <p:spPr>
          <a:xfrm>
            <a:off x="731520" y="2606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56032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Deciding which reading group a struggling student joins</a:t>
            </a:r>
            <a:endParaRPr lang="en-US" sz="1650" dirty="0"/>
          </a:p>
        </p:txBody>
      </p:sp>
      <p:sp>
        <p:nvSpPr>
          <p:cNvPr id="19" name="Text 16"/>
          <p:cNvSpPr/>
          <p:nvPr/>
        </p:nvSpPr>
        <p:spPr>
          <a:xfrm>
            <a:off x="7315200" y="2560320"/>
            <a:ext cx="4297680" cy="914400"/>
          </a:xfrm>
          <a:prstGeom prst="rect">
            <a:avLst/>
          </a:prstGeom>
          <a:noFill/>
          <a:ln/>
        </p:spPr>
        <p:txBody>
          <a:bodyPr wrap="square" lIns="0" tIns="0" rIns="0" bIns="0" rtlCol="0" anchor="ctr"/>
          <a:lstStyle/>
          <a:p>
            <a:pPr indent="0" marL="0">
              <a:buNone/>
            </a:pPr>
            <a:r>
              <a:rPr lang="en-US" sz="1400" dirty="0">
                <a:solidFill>
                  <a:srgbClr val="5B6B7A"/>
                </a:solidFill>
                <a:latin typeface="Inter" pitchFamily="34" charset="0"/>
                <a:ea typeface="Inter" pitchFamily="34" charset="-122"/>
                <a:cs typeface="Inter" pitchFamily="34" charset="-120"/>
              </a:rPr>
              <a:t>Keep it: that's knowing your kids</a:t>
            </a:r>
            <a:endParaRPr lang="en-US" sz="1400" dirty="0"/>
          </a:p>
        </p:txBody>
      </p:sp>
      <p:sp>
        <p:nvSpPr>
          <p:cNvPr id="20" name="Text 17"/>
          <p:cNvSpPr/>
          <p:nvPr/>
        </p:nvSpPr>
        <p:spPr>
          <a:xfrm>
            <a:off x="731520" y="3703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65760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Turning gradebook notes into progress-report comments</a:t>
            </a:r>
            <a:endParaRPr lang="en-US" sz="1650" dirty="0"/>
          </a:p>
        </p:txBody>
      </p:sp>
      <p:sp>
        <p:nvSpPr>
          <p:cNvPr id="22" name="Text 19"/>
          <p:cNvSpPr/>
          <p:nvPr/>
        </p:nvSpPr>
        <p:spPr>
          <a:xfrm>
            <a:off x="7315200" y="3657600"/>
            <a:ext cx="4297680" cy="914400"/>
          </a:xfrm>
          <a:prstGeom prst="rect">
            <a:avLst/>
          </a:prstGeom>
          <a:noFill/>
          <a:ln/>
        </p:spPr>
        <p:txBody>
          <a:bodyPr wrap="square" lIns="0" tIns="0" rIns="0" bIns="0" rtlCol="0" anchor="ctr"/>
          <a:lstStyle/>
          <a:p>
            <a:pPr indent="0" marL="0">
              <a:buNone/>
            </a:pPr>
            <a:r>
              <a:rPr lang="en-US" sz="1400" dirty="0">
                <a:solidFill>
                  <a:srgbClr val="5B6B7A"/>
                </a:solidFill>
                <a:latin typeface="Inter" pitchFamily="34" charset="0"/>
                <a:ea typeface="Inter" pitchFamily="34" charset="-122"/>
                <a:cs typeface="Inter" pitchFamily="34" charset="-120"/>
              </a:rPr>
              <a:t>Split it: generic shells drafted, every comment personalized, no student info in</a:t>
            </a:r>
            <a:endParaRPr lang="en-US" sz="1400" dirty="0"/>
          </a:p>
        </p:txBody>
      </p:sp>
      <p:sp>
        <p:nvSpPr>
          <p:cNvPr id="23" name="Text 20"/>
          <p:cNvSpPr/>
          <p:nvPr/>
        </p:nvSpPr>
        <p:spPr>
          <a:xfrm>
            <a:off x="731520" y="480060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75488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The phone call after a rough day</a:t>
            </a:r>
            <a:endParaRPr lang="en-US" sz="1650" dirty="0"/>
          </a:p>
        </p:txBody>
      </p:sp>
      <p:sp>
        <p:nvSpPr>
          <p:cNvPr id="25" name="Text 22"/>
          <p:cNvSpPr/>
          <p:nvPr/>
        </p:nvSpPr>
        <p:spPr>
          <a:xfrm>
            <a:off x="7315200" y="4754880"/>
            <a:ext cx="4297680" cy="914400"/>
          </a:xfrm>
          <a:prstGeom prst="rect">
            <a:avLst/>
          </a:prstGeom>
          <a:noFill/>
          <a:ln/>
        </p:spPr>
        <p:txBody>
          <a:bodyPr wrap="square" lIns="0" tIns="0" rIns="0" bIns="0" rtlCol="0" anchor="ctr"/>
          <a:lstStyle/>
          <a:p>
            <a:pPr indent="0" marL="0">
              <a:buNone/>
            </a:pPr>
            <a:r>
              <a:rPr lang="en-US" sz="1400" dirty="0">
                <a:solidFill>
                  <a:srgbClr val="5B6B7A"/>
                </a:solidFill>
                <a:latin typeface="Inter" pitchFamily="34" charset="0"/>
                <a:ea typeface="Inter" pitchFamily="34" charset="-122"/>
                <a:cs typeface="Inter" pitchFamily="34" charset="-120"/>
              </a:rPr>
              <a:t>Keep it, always: Kit 6's human-only list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guardrail: 'AI drafts it' never drifts into 'AI decides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EFFICIENCY'S FAILURE MODE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drift</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600" b="1" dirty="0">
                <a:solidFill>
                  <a:srgbClr val="FFFFFF"/>
                </a:solidFill>
                <a:latin typeface="Inter" pitchFamily="34" charset="0"/>
                <a:ea typeface="Inter" pitchFamily="34" charset="-122"/>
                <a:cs typeface="Inter" pitchFamily="34" charset="-120"/>
              </a:rPr>
              <a:t>"AI drafts it" quietly becoming "AI decides it."</a:t>
            </a:r>
            <a:endParaRPr lang="en-US" sz="2600" dirty="0"/>
          </a:p>
        </p:txBody>
      </p:sp>
      <p:sp>
        <p:nvSpPr>
          <p:cNvPr id="16" name="Text 13"/>
          <p:cNvSpPr/>
          <p:nvPr/>
        </p:nvSpPr>
        <p:spPr>
          <a:xfrm>
            <a:off x="640080" y="3840480"/>
            <a:ext cx="10908792" cy="173736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It starts innocently: an unreviewed sub plan here, an unread comment there</a:t>
            </a:r>
            <a:endParaRPr lang="en-US" sz="2000" dirty="0"/>
          </a:p>
          <a:p>
            <a:pPr marL="342900" indent="-342900">
              <a:spcAft>
                <a:spcPts val="1000"/>
              </a:spcAft>
              <a:buSzPct val="100000"/>
              <a:buChar char="•"/>
            </a:pPr>
            <a:r>
              <a:rPr lang="en-US" sz="2000" b="1" dirty="0">
                <a:solidFill>
                  <a:srgbClr val="1B1F24"/>
                </a:solidFill>
                <a:latin typeface="Inter" pitchFamily="34" charset="0"/>
                <a:ea typeface="Inter" pitchFamily="34" charset="-122"/>
                <a:cs typeface="Inter" pitchFamily="34" charset="-120"/>
              </a:rPr>
              <a:t>The antidote is the rule you've carried since Kit 1: everything reviewed, everything touching a real student personalized. Efficiency never outranks judgment.</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protected list: feedback conversations, grading judgment, greeting kids at the door.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PRODUCTIVITY WORKSHOPS SKIP</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protected list</a:t>
            </a:r>
            <a:endParaRPr lang="en-US" sz="3200" dirty="0"/>
          </a:p>
        </p:txBody>
      </p:sp>
      <p:sp>
        <p:nvSpPr>
          <p:cNvPr id="14" name="Shape 11"/>
          <p:cNvSpPr/>
          <p:nvPr/>
        </p:nvSpPr>
        <p:spPr>
          <a:xfrm>
            <a:off x="640080" y="1508760"/>
            <a:ext cx="10972800" cy="2286000"/>
          </a:xfrm>
          <a:prstGeom prst="roundRect">
            <a:avLst>
              <a:gd name="adj" fmla="val 3600"/>
            </a:avLst>
          </a:prstGeom>
          <a:solidFill>
            <a:srgbClr val="EAF5F3"/>
          </a:solidFill>
          <a:ln w="12700">
            <a:solidFill>
              <a:srgbClr val="EAF5F3"/>
            </a:solidFill>
            <a:prstDash val="solid"/>
          </a:ln>
        </p:spPr>
      </p:sp>
      <p:sp>
        <p:nvSpPr>
          <p:cNvPr id="15" name="Text 12"/>
          <p:cNvSpPr/>
          <p:nvPr/>
        </p:nvSpPr>
        <p:spPr>
          <a:xfrm>
            <a:off x="960120" y="1737360"/>
            <a:ext cx="10332720" cy="1828800"/>
          </a:xfrm>
          <a:prstGeom prst="rect">
            <a:avLst/>
          </a:prstGeom>
          <a:noFill/>
          <a:ln/>
        </p:spPr>
        <p:txBody>
          <a:bodyPr wrap="square" lIns="0" tIns="0" rIns="0" bIns="0" rtlCol="0" anchor="ctr"/>
          <a:lstStyle/>
          <a:p>
            <a:pPr indent="0" marL="0">
              <a:lnSpc>
                <a:spcPct val="125000"/>
              </a:lnSpc>
              <a:buNone/>
            </a:pPr>
            <a:r>
              <a:rPr lang="en-US" sz="1900" b="1" dirty="0">
                <a:solidFill>
                  <a:srgbClr val="13293D"/>
                </a:solidFill>
                <a:latin typeface="Inter" pitchFamily="34" charset="0"/>
                <a:ea typeface="Inter" pitchFamily="34" charset="-122"/>
                <a:cs typeface="Inter" pitchFamily="34" charset="-120"/>
              </a:rPr>
              <a:t>The relational work stays yours by decision, written down, not by accident.
</a:t>
            </a:r>
            <a:pPr indent="0" marL="0">
              <a:lnSpc>
                <a:spcPct val="125000"/>
              </a:lnSpc>
              <a:buNone/>
            </a:pPr>
            <a:r>
              <a:rPr lang="en-US" sz="1900" dirty="0">
                <a:solidFill>
                  <a:srgbClr val="1B1F24"/>
                </a:solidFill>
                <a:latin typeface="Inter" pitchFamily="34" charset="0"/>
                <a:ea typeface="Inter" pitchFamily="34" charset="-122"/>
                <a:cs typeface="Inter" pitchFamily="34" charset="-120"/>
              </a:rPr>
              <a:t>Ms. Rivera's list: feedback conversations with students · grading judgment · greeting kids at the door · the phone calls that matter.</a:t>
            </a:r>
            <a:endParaRPr lang="en-US" sz="1900" dirty="0"/>
          </a:p>
        </p:txBody>
      </p:sp>
      <p:sp>
        <p:nvSpPr>
          <p:cNvPr id="16" name="Text 13"/>
          <p:cNvSpPr/>
          <p:nvPr/>
        </p:nvSpPr>
        <p:spPr>
          <a:xfrm>
            <a:off x="640080" y="4069080"/>
            <a:ext cx="10908792" cy="155448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Yours will differ; writing it is the point</a:t>
            </a:r>
            <a:endParaRPr lang="en-US" sz="2000" dirty="0"/>
          </a:p>
          <a:p>
            <a:pPr marL="342900" indent="-342900">
              <a:spcAft>
                <a:spcPts val="1000"/>
              </a:spcAft>
              <a:buSzPct val="100000"/>
              <a:buChar char="•"/>
            </a:pPr>
            <a:r>
              <a:rPr lang="en-US" sz="2000" b="1" dirty="0">
                <a:solidFill>
                  <a:srgbClr val="1B1F24"/>
                </a:solidFill>
                <a:latin typeface="Inter" pitchFamily="34" charset="0"/>
                <a:ea typeface="Inter" pitchFamily="34" charset="-122"/>
                <a:cs typeface="Inter" pitchFamily="34" charset="-120"/>
              </a:rPr>
              <a:t>The day you're tired and tempted, the list is the line you already drew. In the lab, you'll write it in ink.</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hour, spent on purpose: planning she enjoys, and leaving at a human time.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PARKINSON'S LAW RUNS SCHOOLS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hour needs a name</a:t>
            </a:r>
            <a:endParaRPr lang="en-US" sz="3200" dirty="0"/>
          </a:p>
        </p:txBody>
      </p:sp>
      <p:sp>
        <p:nvSpPr>
          <p:cNvPr id="14" name="Text 11"/>
          <p:cNvSpPr/>
          <p:nvPr/>
        </p:nvSpPr>
        <p:spPr>
          <a:xfrm>
            <a:off x="640080" y="1417320"/>
            <a:ext cx="10908792" cy="265176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Unspent recovered time refills with pile; decide now what your hour is for</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Legitimate answers: the planning you enjoy · the student who needs ten minutes · leaving at a human time</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only wrong answer is "unassigned."</a:t>
            </a:r>
            <a:endParaRPr lang="en-US" sz="2100" dirty="0"/>
          </a:p>
        </p:txBody>
      </p:sp>
      <p:sp>
        <p:nvSpPr>
          <p:cNvPr id="15" name="Shape 12"/>
          <p:cNvSpPr/>
          <p:nvPr/>
        </p:nvSpPr>
        <p:spPr>
          <a:xfrm>
            <a:off x="640080" y="429768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48056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This isn't about doing more. It's about doing the job you signed up for, sustainably.</a:t>
            </a:r>
            <a:endParaRPr lang="en-US" sz="2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never list: no delegating the relational, no skipping review, no new busywork.</a:t>
            </a:r>
            <a:endParaRPr lang="en-US" sz="1000" dirty="0"/>
          </a:p>
        </p:txBody>
      </p:sp>
      <p:sp>
        <p:nvSpPr>
          <p:cNvPr id="12" name="Text 9"/>
          <p:cNvSpPr/>
          <p:nvPr/>
        </p:nvSpPr>
        <p:spPr>
          <a:xfrm>
            <a:off x="822960" y="118872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NEVER LIST</a:t>
            </a:r>
            <a:endParaRPr lang="en-US" sz="1500" dirty="0"/>
          </a:p>
        </p:txBody>
      </p:sp>
      <p:sp>
        <p:nvSpPr>
          <p:cNvPr id="13" name="Text 10"/>
          <p:cNvSpPr/>
          <p:nvPr/>
        </p:nvSpPr>
        <p:spPr>
          <a:xfrm>
            <a:off x="914400" y="192024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920240"/>
            <a:ext cx="9875520" cy="7772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Never delegate the relational: if it requires knowing your kids, it's yours</a:t>
            </a:r>
            <a:endParaRPr lang="en-US" sz="2000" dirty="0"/>
          </a:p>
        </p:txBody>
      </p:sp>
      <p:sp>
        <p:nvSpPr>
          <p:cNvPr id="15" name="Text 12"/>
          <p:cNvSpPr/>
          <p:nvPr/>
        </p:nvSpPr>
        <p:spPr>
          <a:xfrm>
            <a:off x="914400" y="297180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971800"/>
            <a:ext cx="9875520" cy="7772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Never skip the review: unread output is the drift, and the drift is how trust dies</a:t>
            </a:r>
            <a:endParaRPr lang="en-US" sz="2000" dirty="0"/>
          </a:p>
        </p:txBody>
      </p:sp>
      <p:sp>
        <p:nvSpPr>
          <p:cNvPr id="17" name="Text 14"/>
          <p:cNvSpPr/>
          <p:nvPr/>
        </p:nvSpPr>
        <p:spPr>
          <a:xfrm>
            <a:off x="914400" y="4023360"/>
            <a:ext cx="457200" cy="77724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4023360"/>
            <a:ext cx="9875520" cy="777240"/>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Never let the saved hour become new busywork: that defeats the entire point</a:t>
            </a:r>
            <a:endParaRPr lang="en-US" sz="2000" dirty="0"/>
          </a:p>
        </p:txBody>
      </p:sp>
      <p:sp>
        <p:nvSpPr>
          <p:cNvPr id="19" name="Text 16"/>
          <p:cNvSpPr/>
          <p:nvPr/>
        </p:nvSpPr>
        <p:spPr>
          <a:xfrm>
            <a:off x="822960" y="5394960"/>
            <a:ext cx="1051560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Leadership: the third line is partly yours to protect, out loud.</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the sustainable version of this job is the one she can keep.</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STAKE, PLAINLY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this protects: careers</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The burnout ranking isn't a mood; it's the profession's leading indicator, and workload is the piece a tool can actually touch.
</a:t>
            </a:r>
            <a:pPr indent="0" marL="0">
              <a:buNone/>
            </a:pPr>
            <a:r>
              <a:rPr lang="en-US" sz="2000" dirty="0">
                <a:solidFill>
                  <a:srgbClr val="1B1F24"/>
                </a:solidFill>
                <a:latin typeface="Inter" pitchFamily="34" charset="0"/>
                <a:ea typeface="Inter" pitchFamily="34" charset="-122"/>
                <a:cs typeface="Inter" pitchFamily="34" charset="-120"/>
              </a:rPr>
              <a:t>Nobody's claiming a chatbot fixes burnout. But six weeks a year, handed back and spent on purpose, is the difference between the version of this job that empties people out and the version a person can keep.</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artifact: her own week audit, one sheet worked through all four steps.</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HANDS-ON · ~22 MINUTES</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your week, taken back.</a:t>
            </a:r>
            <a:endParaRPr lang="en-US" sz="4400" dirty="0"/>
          </a:p>
        </p:txBody>
      </p:sp>
      <p:sp>
        <p:nvSpPr>
          <p:cNvPr id="14" name="Text 11"/>
          <p:cNvSpPr/>
          <p:nvPr/>
        </p:nvSpPr>
        <p:spPr>
          <a:xfrm>
            <a:off x="658368" y="228600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Audit the real week. Pick the two worst repeaters. Build both templates. Write the protected list.</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of any kind</a:t>
            </a:r>
            <a:endParaRPr lang="en-US" sz="210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Real tasks from your real week, not hypotheticals</a:t>
            </a:r>
            <a:endParaRPr lang="en-US" sz="210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A template counts only after it's tested on a real instance</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step 1: every repeater listed and starred; worst star, the sub plan.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Audit the week</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List every task from last week that you'll do again, small ones included</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Run the two questions on each: needs my kids? repeats?</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Star everything that repeats and doesn't need your kids</a:t>
            </a:r>
            <a:endParaRPr lang="en-US" sz="1800" dirty="0"/>
          </a:p>
          <a:p>
            <a:pPr marL="342900" indent="-342900">
              <a:spcAft>
                <a:spcPts val="1000"/>
              </a:spcAft>
              <a:buSzPct val="100000"/>
              <a:buChar char="•"/>
            </a:pPr>
            <a:r>
              <a:rPr lang="en-US" sz="1800" b="1" dirty="0">
                <a:solidFill>
                  <a:srgbClr val="1B1F24"/>
                </a:solidFill>
                <a:latin typeface="Inter" pitchFamily="34" charset="0"/>
                <a:ea typeface="Inter" pitchFamily="34" charset="-122"/>
                <a:cs typeface="Inter" pitchFamily="34" charset="-120"/>
              </a:rPr>
              <a:t>Most people find six to ten stars. Each is a candidate.</a:t>
            </a:r>
            <a:endParaRPr lang="en-US" sz="18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WEEK AUDIT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900" b="1" dirty="0">
                <a:solidFill>
                  <a:srgbClr val="13293D"/>
                </a:solidFill>
                <a:latin typeface="Inter" pitchFamily="34" charset="0"/>
                <a:ea typeface="Inter" pitchFamily="34" charset="-122"/>
                <a:cs typeface="Inter" pitchFamily="34" charset="-120"/>
              </a:rPr>
              <a:t>★ Sub plans, every absence
</a:t>
            </a:r>
            <a:pPr indent="0" marL="0">
              <a:lnSpc>
                <a:spcPct val="120000"/>
              </a:lnSpc>
              <a:buNone/>
            </a:pPr>
            <a:r>
              <a:rPr lang="en-US" sz="1900" b="1" dirty="0">
                <a:solidFill>
                  <a:srgbClr val="13293D"/>
                </a:solidFill>
                <a:latin typeface="Inter" pitchFamily="34" charset="0"/>
                <a:ea typeface="Inter" pitchFamily="34" charset="-122"/>
                <a:cs typeface="Inter" pitchFamily="34" charset="-120"/>
              </a:rPr>
              <a:t>★ Exit tickets, weekly
</a:t>
            </a:r>
            <a:pPr indent="0" marL="0">
              <a:lnSpc>
                <a:spcPct val="120000"/>
              </a:lnSpc>
              <a:buNone/>
            </a:pPr>
            <a:r>
              <a:rPr lang="en-US" sz="1900" b="1" dirty="0">
                <a:solidFill>
                  <a:srgbClr val="13293D"/>
                </a:solidFill>
                <a:latin typeface="Inter" pitchFamily="34" charset="0"/>
                <a:ea typeface="Inter" pitchFamily="34" charset="-122"/>
                <a:cs typeface="Inter" pitchFamily="34" charset="-120"/>
              </a:rPr>
              <a:t>★ Newsletter shell
</a:t>
            </a:r>
            <a:pPr indent="0" marL="0">
              <a:lnSpc>
                <a:spcPct val="120000"/>
              </a:lnSpc>
              <a:buNone/>
            </a:pPr>
            <a:r>
              <a:rPr lang="en-US" sz="1900" b="1" dirty="0">
                <a:solidFill>
                  <a:srgbClr val="13293D"/>
                </a:solidFill>
                <a:latin typeface="Inter" pitchFamily="34" charset="0"/>
                <a:ea typeface="Inter" pitchFamily="34" charset="-122"/>
                <a:cs typeface="Inter" pitchFamily="34" charset="-120"/>
              </a:rPr>
              <a:t>★ Materials lists
</a:t>
            </a:r>
            <a:pPr indent="0" marL="0">
              <a:lnSpc>
                <a:spcPct val="120000"/>
              </a:lnSpc>
              <a:buNone/>
            </a:pPr>
            <a:r>
              <a:rPr lang="en-US" sz="1900" dirty="0">
                <a:solidFill>
                  <a:srgbClr val="1B1F24"/>
                </a:solidFill>
                <a:latin typeface="Inter" pitchFamily="34" charset="0"/>
                <a:ea typeface="Inter" pitchFamily="34" charset="-122"/>
                <a:cs typeface="Inter" pitchFamily="34" charset="-120"/>
              </a:rPr>
              <a:t>Reading groups: hers
</a:t>
            </a:r>
            <a:pPr indent="0" marL="0">
              <a:lnSpc>
                <a:spcPct val="120000"/>
              </a:lnSpc>
              <a:buNone/>
            </a:pPr>
            <a:r>
              <a:rPr lang="en-US" sz="1900" dirty="0">
                <a:solidFill>
                  <a:srgbClr val="1B1F24"/>
                </a:solidFill>
                <a:latin typeface="Inter" pitchFamily="34" charset="0"/>
                <a:ea typeface="Inter" pitchFamily="34" charset="-122"/>
                <a:cs typeface="Inter" pitchFamily="34" charset="-120"/>
              </a:rPr>
              <a:t>Feedback chats: hers
</a:t>
            </a:r>
            <a:pPr indent="0" marL="0">
              <a:lnSpc>
                <a:spcPct val="120000"/>
              </a:lnSpc>
              <a:buNone/>
            </a:pPr>
            <a:r>
              <a:rPr lang="en-US" sz="1900" i="1" dirty="0">
                <a:solidFill>
                  <a:srgbClr val="5B6B7A"/>
                </a:solidFill>
                <a:latin typeface="Inter" pitchFamily="34" charset="0"/>
                <a:ea typeface="Inter" pitchFamily="34" charset="-122"/>
                <a:cs typeface="Inter" pitchFamily="34" charset="-120"/>
              </a:rPr>
              <a:t>Worst star: the sub plan.</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in full: four stars, one column that stays hers, one worst offender.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STARTING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week she starts with</a:t>
            </a:r>
            <a:endParaRPr lang="en-US" sz="3200" dirty="0"/>
          </a:p>
        </p:txBody>
      </p:sp>
      <p:sp>
        <p:nvSpPr>
          <p:cNvPr id="14" name="Shape 11"/>
          <p:cNvSpPr/>
          <p:nvPr/>
        </p:nvSpPr>
        <p:spPr>
          <a:xfrm>
            <a:off x="640080" y="1225296"/>
            <a:ext cx="10972800" cy="4069080"/>
          </a:xfrm>
          <a:prstGeom prst="roundRect">
            <a:avLst>
              <a:gd name="adj" fmla="val 2022"/>
            </a:avLst>
          </a:prstGeom>
          <a:solidFill>
            <a:srgbClr val="F7F5F0"/>
          </a:solidFill>
          <a:ln w="12700">
            <a:solidFill>
              <a:srgbClr val="F7F5F0"/>
            </a:solidFill>
            <a:prstDash val="solid"/>
          </a:ln>
        </p:spPr>
      </p:sp>
      <p:sp>
        <p:nvSpPr>
          <p:cNvPr id="15" name="Shape 12"/>
          <p:cNvSpPr/>
          <p:nvPr/>
        </p:nvSpPr>
        <p:spPr>
          <a:xfrm>
            <a:off x="640080" y="1225296"/>
            <a:ext cx="109728" cy="406908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71600"/>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WEEK AUDIT · ONE SHEET, WRITTEN BY HAND · 6TH GRADE SCIENCE</a:t>
            </a:r>
            <a:endParaRPr lang="en-US" sz="1200" dirty="0"/>
          </a:p>
        </p:txBody>
      </p:sp>
      <p:sp>
        <p:nvSpPr>
          <p:cNvPr id="17" name="Text 14"/>
          <p:cNvSpPr/>
          <p:nvPr/>
        </p:nvSpPr>
        <p:spPr>
          <a:xfrm>
            <a:off x="1005840" y="1691640"/>
            <a:ext cx="10241280" cy="45720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"Last week, every task I will do again"</a:t>
            </a:r>
            <a:endParaRPr lang="en-US" sz="2600" dirty="0"/>
          </a:p>
        </p:txBody>
      </p:sp>
      <p:sp>
        <p:nvSpPr>
          <p:cNvPr id="18" name="Text 15"/>
          <p:cNvSpPr/>
          <p:nvPr/>
        </p:nvSpPr>
        <p:spPr>
          <a:xfrm>
            <a:off x="1005840" y="2240280"/>
            <a:ext cx="5943600" cy="292608"/>
          </a:xfrm>
          <a:prstGeom prst="rect">
            <a:avLst/>
          </a:prstGeom>
          <a:noFill/>
          <a:ln/>
        </p:spPr>
        <p:txBody>
          <a:bodyPr wrap="square" lIns="0" tIns="0" rIns="0" bIns="0" rtlCol="0" anchor="ctr"/>
          <a:lstStyle/>
          <a:p>
            <a:pPr indent="0" marL="0">
              <a:buNone/>
            </a:pPr>
            <a:r>
              <a:rPr lang="en-US" sz="1300" b="1" spc="120" kern="0" dirty="0">
                <a:solidFill>
                  <a:srgbClr val="2A9D8F"/>
                </a:solidFill>
                <a:latin typeface="Inter" pitchFamily="34" charset="0"/>
                <a:ea typeface="Inter" pitchFamily="34" charset="-122"/>
                <a:cs typeface="Inter" pitchFamily="34" charset="-120"/>
              </a:rPr>
              <a:t>★  REPEATS · DOES NOT NEED MY KIDS</a:t>
            </a:r>
            <a:endParaRPr lang="en-US" sz="1300" dirty="0"/>
          </a:p>
        </p:txBody>
      </p:sp>
      <p:sp>
        <p:nvSpPr>
          <p:cNvPr id="19" name="Text 16"/>
          <p:cNvSpPr/>
          <p:nvPr/>
        </p:nvSpPr>
        <p:spPr>
          <a:xfrm>
            <a:off x="1005840" y="2606040"/>
            <a:ext cx="5943600" cy="2103120"/>
          </a:xfrm>
          <a:prstGeom prst="rect">
            <a:avLst/>
          </a:prstGeom>
          <a:noFill/>
          <a:ln/>
        </p:spPr>
        <p:txBody>
          <a:bodyPr wrap="square" lIns="0" tIns="0" rIns="0" bIns="0" rtlCol="0" anchor="t"/>
          <a:lstStyle/>
          <a:p>
            <a:pPr indent="0" marL="0">
              <a:lnSpc>
                <a:spcPct val="120000"/>
              </a:lnSpc>
              <a:buNone/>
            </a:pPr>
            <a:r>
              <a:rPr lang="en-US" sz="1650" b="1" dirty="0">
                <a:solidFill>
                  <a:srgbClr val="13293D"/>
                </a:solidFill>
                <a:latin typeface="Inter" pitchFamily="34" charset="0"/>
                <a:ea typeface="Inter" pitchFamily="34" charset="-122"/>
                <a:cs typeface="Inter" pitchFamily="34" charset="-120"/>
              </a:rPr>
              <a:t>★ Sub plans, every absence</a:t>
            </a:r>
            <a:pPr indent="0" marL="0">
              <a:lnSpc>
                <a:spcPct val="120000"/>
              </a:lnSpc>
              <a:buNone/>
            </a:pPr>
            <a:r>
              <a:rPr lang="en-US" sz="1650" dirty="0">
                <a:solidFill>
                  <a:srgbClr val="5B6B7A"/>
                </a:solidFill>
                <a:latin typeface="Inter" pitchFamily="34" charset="0"/>
                <a:ea typeface="Inter" pitchFamily="34" charset="-122"/>
                <a:cs typeface="Inter" pitchFamily="34" charset="-120"/>
              </a:rPr>
              <a:t>   45 min each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 Exit tickets, weekly</a:t>
            </a:r>
            <a:pPr indent="0" marL="0">
              <a:lnSpc>
                <a:spcPct val="120000"/>
              </a:lnSpc>
              <a:buNone/>
            </a:pPr>
            <a:r>
              <a:rPr lang="en-US" sz="1650" dirty="0">
                <a:solidFill>
                  <a:srgbClr val="5B6B7A"/>
                </a:solidFill>
                <a:latin typeface="Inter" pitchFamily="34" charset="0"/>
                <a:ea typeface="Inter" pitchFamily="34" charset="-122"/>
                <a:cs typeface="Inter" pitchFamily="34" charset="-120"/>
              </a:rPr>
              <a:t>   30 min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 Newsletter shell, weekly</a:t>
            </a:r>
            <a:pPr indent="0" marL="0">
              <a:lnSpc>
                <a:spcPct val="120000"/>
              </a:lnSpc>
              <a:buNone/>
            </a:pPr>
            <a:r>
              <a:rPr lang="en-US" sz="1650" dirty="0">
                <a:solidFill>
                  <a:srgbClr val="5B6B7A"/>
                </a:solidFill>
                <a:latin typeface="Inter" pitchFamily="34" charset="0"/>
                <a:ea typeface="Inter" pitchFamily="34" charset="-122"/>
                <a:cs typeface="Inter" pitchFamily="34" charset="-120"/>
              </a:rPr>
              <a:t>   20 min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 Materials lists, weekly</a:t>
            </a:r>
            <a:pPr indent="0" marL="0">
              <a:lnSpc>
                <a:spcPct val="120000"/>
              </a:lnSpc>
              <a:buNone/>
            </a:pPr>
            <a:r>
              <a:rPr lang="en-US" sz="1650" dirty="0">
                <a:solidFill>
                  <a:srgbClr val="5B6B7A"/>
                </a:solidFill>
                <a:latin typeface="Inter" pitchFamily="34" charset="0"/>
                <a:ea typeface="Inter" pitchFamily="34" charset="-122"/>
                <a:cs typeface="Inter" pitchFamily="34" charset="-120"/>
              </a:rPr>
              <a:t>   15 min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65 minutes a week, before a single absence.</a:t>
            </a:r>
            <a:endParaRPr lang="en-US" sz="1650" dirty="0"/>
          </a:p>
        </p:txBody>
      </p:sp>
      <p:sp>
        <p:nvSpPr>
          <p:cNvPr id="20" name="Text 17"/>
          <p:cNvSpPr/>
          <p:nvPr/>
        </p:nvSpPr>
        <p:spPr>
          <a:xfrm>
            <a:off x="7315200" y="2240280"/>
            <a:ext cx="3977640" cy="292608"/>
          </a:xfrm>
          <a:prstGeom prst="rect">
            <a:avLst/>
          </a:prstGeom>
          <a:noFill/>
          <a:ln/>
        </p:spPr>
        <p:txBody>
          <a:bodyPr wrap="square" lIns="0" tIns="0" rIns="0" bIns="0" rtlCol="0" anchor="ctr"/>
          <a:lstStyle/>
          <a:p>
            <a:pPr indent="0" marL="0">
              <a:buNone/>
            </a:pPr>
            <a:r>
              <a:rPr lang="en-US" sz="1300" b="1" spc="120" kern="0" dirty="0">
                <a:solidFill>
                  <a:srgbClr val="5B6B7A"/>
                </a:solidFill>
                <a:latin typeface="Inter" pitchFamily="34" charset="0"/>
                <a:ea typeface="Inter" pitchFamily="34" charset="-122"/>
                <a:cs typeface="Inter" pitchFamily="34" charset="-120"/>
              </a:rPr>
              <a:t>NEEDS MY KIDS · STAYS MINE</a:t>
            </a:r>
            <a:endParaRPr lang="en-US" sz="1300" dirty="0"/>
          </a:p>
        </p:txBody>
      </p:sp>
      <p:sp>
        <p:nvSpPr>
          <p:cNvPr id="21" name="Text 18"/>
          <p:cNvSpPr/>
          <p:nvPr/>
        </p:nvSpPr>
        <p:spPr>
          <a:xfrm>
            <a:off x="7315200" y="2606040"/>
            <a:ext cx="3977640" cy="2103120"/>
          </a:xfrm>
          <a:prstGeom prst="rect">
            <a:avLst/>
          </a:prstGeom>
          <a:noFill/>
          <a:ln/>
        </p:spPr>
        <p:txBody>
          <a:bodyPr wrap="square" lIns="0" tIns="0" rIns="0" bIns="0" rtlCol="0" anchor="t"/>
          <a:lstStyle/>
          <a:p>
            <a:pPr indent="0" marL="0">
              <a:lnSpc>
                <a:spcPct val="120000"/>
              </a:lnSpc>
              <a:buNone/>
            </a:pPr>
            <a:r>
              <a:rPr lang="en-US" sz="1650" dirty="0">
                <a:solidFill>
                  <a:srgbClr val="1B1F24"/>
                </a:solidFill>
                <a:latin typeface="Inter" pitchFamily="34" charset="0"/>
                <a:ea typeface="Inter" pitchFamily="34" charset="-122"/>
                <a:cs typeface="Inter" pitchFamily="34" charset="-120"/>
              </a:rPr>
              <a:t>Reading group calls
Feedback conversations
Grading judgment
The Tuesday phone call
Greeting them at the door
</a:t>
            </a:r>
            <a:pPr indent="0" marL="0">
              <a:lnSpc>
                <a:spcPct val="120000"/>
              </a:lnSpc>
              <a:buNone/>
            </a:pPr>
            <a:r>
              <a:rPr lang="en-US" sz="1650" i="1" dirty="0">
                <a:solidFill>
                  <a:srgbClr val="5B6B7A"/>
                </a:solidFill>
                <a:latin typeface="Inter" pitchFamily="34" charset="0"/>
                <a:ea typeface="Inter" pitchFamily="34" charset="-122"/>
                <a:cs typeface="Inter" pitchFamily="34" charset="-120"/>
              </a:rPr>
              <a:t>Never starred. Not once.</a:t>
            </a:r>
            <a:endParaRPr lang="en-US" sz="1650" dirty="0"/>
          </a:p>
        </p:txBody>
      </p:sp>
      <p:sp>
        <p:nvSpPr>
          <p:cNvPr id="22" name="Text 19"/>
          <p:cNvSpPr/>
          <p:nvPr/>
        </p:nvSpPr>
        <p:spPr>
          <a:xfrm>
            <a:off x="1005840" y="4709160"/>
            <a:ext cx="10241280" cy="411480"/>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"Worst star: the sub plan. Forty-five minutes, and it never starts before nine at night."</a:t>
            </a:r>
            <a:endParaRPr lang="en-US" sz="1400" dirty="0"/>
          </a:p>
        </p:txBody>
      </p:sp>
      <p:sp>
        <p:nvSpPr>
          <p:cNvPr id="23" name="Text 20"/>
          <p:cNvSpPr/>
          <p:nvPr/>
        </p:nvSpPr>
        <p:spPr>
          <a:xfrm>
            <a:off x="640080" y="544068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Four stars, one protected column. Every template today starts from this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step 2: the worst star, the sub plan, is now template #1, tested twice.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template #1</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Take your worst starred task: the one that costs the most evenings</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The recipe: write it once (four parts) → bracket the changes → test on a second instance</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Mimic Ms. Rivera: the prompt she typed is on the next slide, her follow-ups on the one after</a:t>
            </a:r>
            <a:endParaRPr lang="en-US" sz="1700" dirty="0"/>
          </a:p>
          <a:p>
            <a:pPr marL="342900" indent="-342900">
              <a:spcAft>
                <a:spcPts val="1000"/>
              </a:spcAft>
              <a:buSzPct val="100000"/>
              <a:buChar char="•"/>
            </a:pPr>
            <a:r>
              <a:rPr lang="en-US" sz="1700" b="1" dirty="0">
                <a:solidFill>
                  <a:srgbClr val="1B1F24"/>
                </a:solidFill>
                <a:latin typeface="Inter" pitchFamily="34" charset="0"/>
                <a:ea typeface="Inter" pitchFamily="34" charset="-122"/>
                <a:cs typeface="Inter" pitchFamily="34" charset="-120"/>
              </a:rPr>
              <a:t>When it works twice, it's real. Save it.</a:t>
            </a:r>
            <a:endParaRPr lang="en-US" sz="17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WEEK AUDIT · STEP 2</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900" b="1" dirty="0">
                <a:solidFill>
                  <a:srgbClr val="13293D"/>
                </a:solidFill>
                <a:latin typeface="Inter" pitchFamily="34" charset="0"/>
                <a:ea typeface="Inter" pitchFamily="34" charset="-122"/>
                <a:cs typeface="Inter" pitchFamily="34" charset="-120"/>
              </a:rPr>
              <a:t>Worst star → template #1: the sub plan.
</a:t>
            </a:r>
            <a:pPr indent="0" marL="0">
              <a:lnSpc>
                <a:spcPct val="120000"/>
              </a:lnSpc>
              <a:buNone/>
            </a:pPr>
            <a:r>
              <a:rPr lang="en-US" sz="1900" dirty="0">
                <a:solidFill>
                  <a:srgbClr val="1B1F24"/>
                </a:solidFill>
                <a:latin typeface="Inter" pitchFamily="34" charset="0"/>
                <a:ea typeface="Inter" pitchFamily="34" charset="-122"/>
                <a:cs typeface="Inter" pitchFamily="34" charset="-120"/>
              </a:rPr>
              <a:t>She writes it once for one real absence, brackets what changes, then runs it again on a second one.
</a:t>
            </a:r>
            <a:pPr indent="0" marL="0">
              <a:lnSpc>
                <a:spcPct val="120000"/>
              </a:lnSpc>
              <a:buNone/>
            </a:pPr>
            <a:r>
              <a:rPr lang="en-US" sz="1900" i="1" dirty="0">
                <a:solidFill>
                  <a:srgbClr val="5B6B7A"/>
                </a:solidFill>
                <a:latin typeface="Inter" pitchFamily="34" charset="0"/>
                <a:ea typeface="Inter" pitchFamily="34" charset="-122"/>
                <a:cs typeface="Inter" pitchFamily="34" charset="-120"/>
              </a:rPr>
              <a:t>Her prompt: next slide. Her finished template: slide 25.</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me a sub plan for tomorrow."</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step 1: write it once</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6th grade science teacher writing for a substitute who has never met this class.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Write the one-page sub plan for tomorrow.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We are three days into food webs: they can name producers and consumers, not decomposers. The routine that works is a bell-ringer on the board, partners for the middle stretch, cleanup with five minutes left. No student names; the sub gets the seating chart from the office.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One page. A bell-ringer, a main activity with numbered directions a stranger can follow, an early-finisher task, and three management notes. Plain language, no jargon."</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FOLLOW-UPS, ONE CHAT, NO RE-PASTING</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the recipe, running</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700784"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700784" cy="310896"/>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WRITE IT ONCE</a:t>
            </a:r>
            <a:endParaRPr lang="en-US" sz="1050" dirty="0"/>
          </a:p>
        </p:txBody>
      </p:sp>
      <p:sp>
        <p:nvSpPr>
          <p:cNvPr id="18" name="Text 15"/>
          <p:cNvSpPr/>
          <p:nvPr/>
        </p:nvSpPr>
        <p:spPr>
          <a:xfrm>
            <a:off x="3154680" y="2194560"/>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(the prompt on the last slide, run for one real absence)</a:t>
            </a:r>
            <a:endParaRPr lang="en-US" sz="140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A usable sub plan for one Tuesday. Good, and useless next month.</a:t>
            </a:r>
            <a:endParaRPr lang="en-US" sz="1400" dirty="0"/>
          </a:p>
        </p:txBody>
      </p:sp>
      <p:sp>
        <p:nvSpPr>
          <p:cNvPr id="21" name="Shape 18"/>
          <p:cNvSpPr/>
          <p:nvPr/>
        </p:nvSpPr>
        <p:spPr>
          <a:xfrm>
            <a:off x="1234440" y="2980944"/>
            <a:ext cx="1700784"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700784" cy="310896"/>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BRACKET IT</a:t>
            </a:r>
            <a:endParaRPr lang="en-US" sz="1050" dirty="0"/>
          </a:p>
        </p:txBody>
      </p:sp>
      <p:sp>
        <p:nvSpPr>
          <p:cNvPr id="23" name="Text 20"/>
          <p:cNvSpPr/>
          <p:nvPr/>
        </p:nvSpPr>
        <p:spPr>
          <a:xfrm>
            <a:off x="3154680" y="2944368"/>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"Now rewrite that as a reusable template. Bracket the grade, the topic, where we are, and my class routine."</a:t>
            </a:r>
            <a:endParaRPr lang="en-US" sz="140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One Tuesday's plan became a form: four blanks she fills in.</a:t>
            </a:r>
            <a:endParaRPr lang="en-US" sz="1400" dirty="0"/>
          </a:p>
        </p:txBody>
      </p:sp>
      <p:sp>
        <p:nvSpPr>
          <p:cNvPr id="26" name="Shape 23"/>
          <p:cNvSpPr/>
          <p:nvPr/>
        </p:nvSpPr>
        <p:spPr>
          <a:xfrm>
            <a:off x="1234440" y="3730752"/>
            <a:ext cx="1700784"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700784" cy="310896"/>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TEST IT TWICE</a:t>
            </a:r>
            <a:endParaRPr lang="en-US" sz="1050" dirty="0"/>
          </a:p>
        </p:txBody>
      </p:sp>
      <p:sp>
        <p:nvSpPr>
          <p:cNvPr id="28" name="Text 25"/>
          <p:cNvSpPr/>
          <p:nvPr/>
        </p:nvSpPr>
        <p:spPr>
          <a:xfrm>
            <a:off x="3154680" y="3694176"/>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"Run it again with [GRADE] = 8th and [TOPIC] = simple machines, two days before a quiz."</a:t>
            </a:r>
            <a:endParaRPr lang="en-US" sz="140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It held, except the bell-ringer assumed a lab table.</a:t>
            </a:r>
            <a:endParaRPr lang="en-US" sz="1400" dirty="0"/>
          </a:p>
        </p:txBody>
      </p:sp>
      <p:sp>
        <p:nvSpPr>
          <p:cNvPr id="31" name="Shape 28"/>
          <p:cNvSpPr/>
          <p:nvPr/>
        </p:nvSpPr>
        <p:spPr>
          <a:xfrm>
            <a:off x="1234440" y="4480560"/>
            <a:ext cx="1700784"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700784" cy="310896"/>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Inter" pitchFamily="34" charset="0"/>
                <a:ea typeface="Inter" pitchFamily="34" charset="-122"/>
                <a:cs typeface="Inter" pitchFamily="34" charset="-120"/>
              </a:rPr>
              <a:t>SAVE IT</a:t>
            </a:r>
            <a:endParaRPr lang="en-US" sz="1050" dirty="0"/>
          </a:p>
        </p:txBody>
      </p:sp>
      <p:sp>
        <p:nvSpPr>
          <p:cNvPr id="33" name="Text 30"/>
          <p:cNvSpPr/>
          <p:nvPr/>
        </p:nvSpPr>
        <p:spPr>
          <a:xfrm>
            <a:off x="3154680" y="4443984"/>
            <a:ext cx="452628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a line for when the technology fails, keep it to one page, and give it back as plain text with the brackets in."</a:t>
            </a:r>
            <a:endParaRPr lang="en-US" sz="140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Wobble patched, one page, saved and posted to the staff doc.</a:t>
            </a:r>
            <a:endParaRPr lang="en-US" sz="140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WRITE IT ONCE</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BRACKET IT</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TEST IT TWICE</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SAVE IT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step 3: star #2, exit tickets, is template #2; both go to the staff doc.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template #2, share both</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Same recipe, second-worst repeater</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Both templates go to the staff doc's Workload section: name attached, one line each</a:t>
            </a:r>
            <a:endParaRPr lang="en-US" sz="1800" dirty="0"/>
          </a:p>
          <a:p>
            <a:pPr marL="342900" indent="-342900">
              <a:spcAft>
                <a:spcPts val="1000"/>
              </a:spcAft>
              <a:buSzPct val="100000"/>
              <a:buChar char="•"/>
            </a:pPr>
            <a:r>
              <a:rPr lang="en-US" sz="1800" b="1" dirty="0">
                <a:solidFill>
                  <a:srgbClr val="1B1F24"/>
                </a:solidFill>
                <a:latin typeface="Inter" pitchFamily="34" charset="0"/>
                <a:ea typeface="Inter" pitchFamily="34" charset="-122"/>
                <a:cs typeface="Inter" pitchFamily="34" charset="-120"/>
              </a:rPr>
              <a:t>Sixty deleted repeaters, remember. Your Tuesday night is about to become everyone's.</a:t>
            </a:r>
            <a:endParaRPr lang="en-US" sz="18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WEEK AUDIT · STEP 3</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900" b="1" dirty="0">
                <a:solidFill>
                  <a:srgbClr val="13293D"/>
                </a:solidFill>
                <a:latin typeface="Inter" pitchFamily="34" charset="0"/>
                <a:ea typeface="Inter" pitchFamily="34" charset="-122"/>
                <a:cs typeface="Inter" pitchFamily="34" charset="-120"/>
              </a:rPr>
              <a:t>Star #2 → template #2: exit tickets.
</a:t>
            </a:r>
            <a:pPr indent="0" marL="0">
              <a:lnSpc>
                <a:spcPct val="120000"/>
              </a:lnSpc>
              <a:buNone/>
            </a:pPr>
            <a:r>
              <a:rPr lang="en-US" sz="1900" dirty="0">
                <a:solidFill>
                  <a:srgbClr val="1B1F24"/>
                </a:solidFill>
                <a:latin typeface="Inter" pitchFamily="34" charset="0"/>
                <a:ea typeface="Inter" pitchFamily="34" charset="-122"/>
                <a:cs typeface="Inter" pitchFamily="34" charset="-120"/>
              </a:rPr>
              <a:t>Same recipe, same four parts, four blanks this time. Tested on a real week before it counted.
</a:t>
            </a:r>
            <a:pPr indent="0" marL="0">
              <a:lnSpc>
                <a:spcPct val="120000"/>
              </a:lnSpc>
              <a:buNone/>
            </a:pPr>
            <a:r>
              <a:rPr lang="en-US" sz="1900" i="1" dirty="0">
                <a:solidFill>
                  <a:srgbClr val="5B6B7A"/>
                </a:solidFill>
                <a:latin typeface="Inter" pitchFamily="34" charset="0"/>
                <a:ea typeface="Inter" pitchFamily="34" charset="-122"/>
                <a:cs typeface="Inter" pitchFamily="34" charset="-120"/>
              </a:rPr>
              <a:t>Both finished templates: slides 25 and 26.</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sub plan template, finished: five blanks, ninety seconds, never written from scratch again.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TEMPLATE #1</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 #1, word for word</a:t>
            </a:r>
            <a:endParaRPr lang="en-US" sz="3200" dirty="0"/>
          </a:p>
        </p:txBody>
      </p:sp>
      <p:sp>
        <p:nvSpPr>
          <p:cNvPr id="14" name="Shape 11"/>
          <p:cNvSpPr/>
          <p:nvPr/>
        </p:nvSpPr>
        <p:spPr>
          <a:xfrm>
            <a:off x="640080" y="1152144"/>
            <a:ext cx="10972800" cy="4114800"/>
          </a:xfrm>
          <a:prstGeom prst="roundRect">
            <a:avLst>
              <a:gd name="adj" fmla="val 2000"/>
            </a:avLst>
          </a:prstGeom>
          <a:solidFill>
            <a:srgbClr val="F7F5F0"/>
          </a:solidFill>
          <a:ln w="12700">
            <a:solidFill>
              <a:srgbClr val="F7F5F0"/>
            </a:solidFill>
            <a:prstDash val="solid"/>
          </a:ln>
        </p:spPr>
      </p:sp>
      <p:sp>
        <p:nvSpPr>
          <p:cNvPr id="15" name="Text 12"/>
          <p:cNvSpPr/>
          <p:nvPr/>
        </p:nvSpPr>
        <p:spPr>
          <a:xfrm>
            <a:off x="914400" y="1280160"/>
            <a:ext cx="1042416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SAVED AS "SUB PLAN TEMPLATE v1"  ·  POSTED TO THE STAFF DOC  ·  FIVE BLANKS, ABOUT NINETY SECONDS</a:t>
            </a:r>
            <a:endParaRPr lang="en-US" sz="1100" dirty="0"/>
          </a:p>
        </p:txBody>
      </p:sp>
      <p:sp>
        <p:nvSpPr>
          <p:cNvPr id="16" name="Text 13"/>
          <p:cNvSpPr/>
          <p:nvPr/>
        </p:nvSpPr>
        <p:spPr>
          <a:xfrm>
            <a:off x="914400" y="1664208"/>
            <a:ext cx="1051560" cy="274320"/>
          </a:xfrm>
          <a:prstGeom prst="rect">
            <a:avLst/>
          </a:prstGeom>
          <a:noFill/>
          <a:ln/>
        </p:spPr>
        <p:txBody>
          <a:bodyPr wrap="square" lIns="0" tIns="0" rIns="0" bIns="0" rtlCol="0" anchor="ctr"/>
          <a:lstStyle/>
          <a:p>
            <a:pPr indent="0" marL="0">
              <a:buNone/>
            </a:pPr>
            <a:r>
              <a:rPr lang="en-US" sz="1100" b="1" spc="120" kern="0" dirty="0">
                <a:solidFill>
                  <a:srgbClr val="2A9D8F"/>
                </a:solidFill>
                <a:latin typeface="Inter" pitchFamily="34" charset="0"/>
                <a:ea typeface="Inter" pitchFamily="34" charset="-122"/>
                <a:cs typeface="Inter" pitchFamily="34" charset="-120"/>
              </a:rPr>
              <a:t>ROLE</a:t>
            </a:r>
            <a:endParaRPr lang="en-US" sz="1100" dirty="0"/>
          </a:p>
        </p:txBody>
      </p:sp>
      <p:sp>
        <p:nvSpPr>
          <p:cNvPr id="17" name="Text 14"/>
          <p:cNvSpPr/>
          <p:nvPr/>
        </p:nvSpPr>
        <p:spPr>
          <a:xfrm>
            <a:off x="2057400" y="1618488"/>
            <a:ext cx="9235440" cy="530352"/>
          </a:xfrm>
          <a:prstGeom prst="rect">
            <a:avLst/>
          </a:prstGeom>
          <a:noFill/>
          <a:ln/>
        </p:spPr>
        <p:txBody>
          <a:bodyPr wrap="square" lIns="0" tIns="0" rIns="0" bIns="0" rtlCol="0" anchor="t"/>
          <a:lstStyle/>
          <a:p>
            <a:pPr indent="0" marL="0">
              <a:lnSpc>
                <a:spcPct val="114000"/>
              </a:lnSpc>
              <a:buNone/>
            </a:pPr>
            <a:r>
              <a:rPr lang="en-US" sz="1550" dirty="0">
                <a:solidFill>
                  <a:srgbClr val="1B1F24"/>
                </a:solidFill>
                <a:latin typeface="Inter" pitchFamily="34" charset="0"/>
                <a:ea typeface="Inter" pitchFamily="34" charset="-122"/>
                <a:cs typeface="Inter" pitchFamily="34" charset="-120"/>
              </a:rPr>
              <a:t>You are an experienced [GRADE] teacher writing for a substitute who has never met this class.</a:t>
            </a:r>
            <a:endParaRPr lang="en-US" sz="1550" dirty="0"/>
          </a:p>
        </p:txBody>
      </p:sp>
      <p:sp>
        <p:nvSpPr>
          <p:cNvPr id="18" name="Text 15"/>
          <p:cNvSpPr/>
          <p:nvPr/>
        </p:nvSpPr>
        <p:spPr>
          <a:xfrm>
            <a:off x="914400" y="2304288"/>
            <a:ext cx="105156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TASK</a:t>
            </a:r>
            <a:endParaRPr lang="en-US" sz="1100" dirty="0"/>
          </a:p>
        </p:txBody>
      </p:sp>
      <p:sp>
        <p:nvSpPr>
          <p:cNvPr id="19" name="Text 16"/>
          <p:cNvSpPr/>
          <p:nvPr/>
        </p:nvSpPr>
        <p:spPr>
          <a:xfrm>
            <a:off x="2057400" y="2258568"/>
            <a:ext cx="9235440" cy="411480"/>
          </a:xfrm>
          <a:prstGeom prst="rect">
            <a:avLst/>
          </a:prstGeom>
          <a:noFill/>
          <a:ln/>
        </p:spPr>
        <p:txBody>
          <a:bodyPr wrap="square" lIns="0" tIns="0" rIns="0" bIns="0" rtlCol="0" anchor="t"/>
          <a:lstStyle/>
          <a:p>
            <a:pPr indent="0" marL="0">
              <a:lnSpc>
                <a:spcPct val="114000"/>
              </a:lnSpc>
              <a:buNone/>
            </a:pPr>
            <a:r>
              <a:rPr lang="en-US" sz="1550" dirty="0">
                <a:solidFill>
                  <a:srgbClr val="1B1F24"/>
                </a:solidFill>
                <a:latin typeface="Inter" pitchFamily="34" charset="0"/>
                <a:ea typeface="Inter" pitchFamily="34" charset="-122"/>
                <a:cs typeface="Inter" pitchFamily="34" charset="-120"/>
              </a:rPr>
              <a:t>Write a one-page sub plan for [DATE], covering [TOPIC].</a:t>
            </a:r>
            <a:endParaRPr lang="en-US" sz="1550" dirty="0"/>
          </a:p>
        </p:txBody>
      </p:sp>
      <p:sp>
        <p:nvSpPr>
          <p:cNvPr id="20" name="Text 17"/>
          <p:cNvSpPr/>
          <p:nvPr/>
        </p:nvSpPr>
        <p:spPr>
          <a:xfrm>
            <a:off x="914400" y="2825496"/>
            <a:ext cx="1051560" cy="274320"/>
          </a:xfrm>
          <a:prstGeom prst="rect">
            <a:avLst/>
          </a:prstGeom>
          <a:noFill/>
          <a:ln/>
        </p:spPr>
        <p:txBody>
          <a:bodyPr wrap="square" lIns="0" tIns="0" rIns="0" bIns="0" rtlCol="0" anchor="ctr"/>
          <a:lstStyle/>
          <a:p>
            <a:pPr indent="0" marL="0">
              <a:buNone/>
            </a:pPr>
            <a:r>
              <a:rPr lang="en-US" sz="1100" b="1" spc="120" kern="0" dirty="0">
                <a:solidFill>
                  <a:srgbClr val="B07914"/>
                </a:solidFill>
                <a:latin typeface="Inter" pitchFamily="34" charset="0"/>
                <a:ea typeface="Inter" pitchFamily="34" charset="-122"/>
                <a:cs typeface="Inter" pitchFamily="34" charset="-120"/>
              </a:rPr>
              <a:t>CONTEXT</a:t>
            </a:r>
            <a:endParaRPr lang="en-US" sz="1100" dirty="0"/>
          </a:p>
        </p:txBody>
      </p:sp>
      <p:sp>
        <p:nvSpPr>
          <p:cNvPr id="21" name="Text 18"/>
          <p:cNvSpPr/>
          <p:nvPr/>
        </p:nvSpPr>
        <p:spPr>
          <a:xfrm>
            <a:off x="2057400" y="2779776"/>
            <a:ext cx="9235440" cy="932688"/>
          </a:xfrm>
          <a:prstGeom prst="rect">
            <a:avLst/>
          </a:prstGeom>
          <a:noFill/>
          <a:ln/>
        </p:spPr>
        <p:txBody>
          <a:bodyPr wrap="square" lIns="0" tIns="0" rIns="0" bIns="0" rtlCol="0" anchor="t"/>
          <a:lstStyle/>
          <a:p>
            <a:pPr indent="0" marL="0">
              <a:lnSpc>
                <a:spcPct val="114000"/>
              </a:lnSpc>
              <a:buNone/>
            </a:pPr>
            <a:r>
              <a:rPr lang="en-US" sz="1550" dirty="0">
                <a:solidFill>
                  <a:srgbClr val="1B1F24"/>
                </a:solidFill>
                <a:latin typeface="Inter" pitchFamily="34" charset="0"/>
                <a:ea typeface="Inter" pitchFamily="34" charset="-122"/>
                <a:cs typeface="Inter" pitchFamily="34" charset="-120"/>
              </a:rPr>
              <a:t>We are [WHERE WE ARE IN THE UNIT]. The routine that works in this room is [ROUTINE]. No student names and nothing identifying; the sub gets the seating chart from the office. If the technology fails, say what to do instead.</a:t>
            </a:r>
            <a:endParaRPr lang="en-US" sz="1550" dirty="0"/>
          </a:p>
        </p:txBody>
      </p:sp>
      <p:sp>
        <p:nvSpPr>
          <p:cNvPr id="22" name="Text 19"/>
          <p:cNvSpPr/>
          <p:nvPr/>
        </p:nvSpPr>
        <p:spPr>
          <a:xfrm>
            <a:off x="914400" y="3867912"/>
            <a:ext cx="105156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FORMAT</a:t>
            </a:r>
            <a:endParaRPr lang="en-US" sz="1100" dirty="0"/>
          </a:p>
        </p:txBody>
      </p:sp>
      <p:sp>
        <p:nvSpPr>
          <p:cNvPr id="23" name="Text 20"/>
          <p:cNvSpPr/>
          <p:nvPr/>
        </p:nvSpPr>
        <p:spPr>
          <a:xfrm>
            <a:off x="2057400" y="3822192"/>
            <a:ext cx="9235440" cy="731520"/>
          </a:xfrm>
          <a:prstGeom prst="rect">
            <a:avLst/>
          </a:prstGeom>
          <a:noFill/>
          <a:ln/>
        </p:spPr>
        <p:txBody>
          <a:bodyPr wrap="square" lIns="0" tIns="0" rIns="0" bIns="0" rtlCol="0" anchor="t"/>
          <a:lstStyle/>
          <a:p>
            <a:pPr indent="0" marL="0">
              <a:lnSpc>
                <a:spcPct val="114000"/>
              </a:lnSpc>
              <a:buNone/>
            </a:pPr>
            <a:r>
              <a:rPr lang="en-US" sz="1550" dirty="0">
                <a:solidFill>
                  <a:srgbClr val="1B1F24"/>
                </a:solidFill>
                <a:latin typeface="Inter" pitchFamily="34" charset="0"/>
                <a:ea typeface="Inter" pitchFamily="34" charset="-122"/>
                <a:cs typeface="Inter" pitchFamily="34" charset="-120"/>
              </a:rPr>
              <a:t>One page. A bell-ringer, a main activity with numbered directions a stranger can follow, an early-finisher task, and three management notes. Plain language, no jargon.</a:t>
            </a:r>
            <a:endParaRPr lang="en-US" sz="1550" dirty="0"/>
          </a:p>
        </p:txBody>
      </p:sp>
      <p:sp>
        <p:nvSpPr>
          <p:cNvPr id="24" name="Shape 21"/>
          <p:cNvSpPr/>
          <p:nvPr/>
        </p:nvSpPr>
        <p:spPr>
          <a:xfrm>
            <a:off x="914400" y="4590288"/>
            <a:ext cx="10424160" cy="548640"/>
          </a:xfrm>
          <a:prstGeom prst="roundRect">
            <a:avLst>
              <a:gd name="adj" fmla="val 15000"/>
            </a:avLst>
          </a:prstGeom>
          <a:solidFill>
            <a:srgbClr val="FFFFFF"/>
          </a:solidFill>
          <a:ln w="12700">
            <a:solidFill>
              <a:srgbClr val="FFFFFF"/>
            </a:solidFill>
            <a:prstDash val="solid"/>
          </a:ln>
        </p:spPr>
      </p:sp>
      <p:sp>
        <p:nvSpPr>
          <p:cNvPr id="25" name="Text 22"/>
          <p:cNvSpPr/>
          <p:nvPr/>
        </p:nvSpPr>
        <p:spPr>
          <a:xfrm>
            <a:off x="914400" y="4590288"/>
            <a:ext cx="10424160" cy="548640"/>
          </a:xfrm>
          <a:prstGeom prst="rect">
            <a:avLst/>
          </a:prstGeom>
          <a:noFill/>
          <a:ln/>
        </p:spPr>
        <p:txBody>
          <a:bodyPr wrap="square" lIns="0" tIns="0" rIns="0" bIns="0" rtlCol="0" anchor="ctr"/>
          <a:lstStyle/>
          <a:p>
            <a:pPr algn="ctr" indent="0" marL="0">
              <a:buNone/>
            </a:pPr>
            <a:r>
              <a:rPr lang="en-US" sz="1250" b="1" dirty="0">
                <a:solidFill>
                  <a:srgbClr val="13293D"/>
                </a:solidFill>
                <a:latin typeface="Inter" pitchFamily="34" charset="0"/>
                <a:ea typeface="Inter" pitchFamily="34" charset="-122"/>
                <a:cs typeface="Inter" pitchFamily="34" charset="-120"/>
              </a:rPr>
              <a:t>THE FIVE BLANKS SHE FILLS: [GRADE] · [DATE] · [TOPIC] · [WHERE WE ARE IN THE UNIT] · [ROUTINE]</a:t>
            </a:r>
            <a:endParaRPr lang="en-US" sz="1250" dirty="0"/>
          </a:p>
        </p:txBody>
      </p:sp>
      <p:sp>
        <p:nvSpPr>
          <p:cNvPr id="26" name="Text 23"/>
          <p:cNvSpPr/>
          <p:nvPr/>
        </p:nvSpPr>
        <p:spPr>
          <a:xfrm>
            <a:off x="640080" y="544068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Written once, bracketed, tested twice. No sub plan written from scratch since.</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template, finished: four blanks, tested on a real week.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TEMPLATE #2</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Template #2, and its output</a:t>
            </a:r>
            <a:endParaRPr lang="en-US" sz="3200" dirty="0"/>
          </a:p>
        </p:txBody>
      </p:sp>
      <p:sp>
        <p:nvSpPr>
          <p:cNvPr id="14" name="Shape 11"/>
          <p:cNvSpPr/>
          <p:nvPr/>
        </p:nvSpPr>
        <p:spPr>
          <a:xfrm>
            <a:off x="640080" y="1152144"/>
            <a:ext cx="5806440" cy="3703320"/>
          </a:xfrm>
          <a:prstGeom prst="roundRect">
            <a:avLst>
              <a:gd name="adj" fmla="val 2222"/>
            </a:avLst>
          </a:prstGeom>
          <a:solidFill>
            <a:srgbClr val="F7F5F0"/>
          </a:solidFill>
          <a:ln w="12700">
            <a:solidFill>
              <a:srgbClr val="F7F5F0"/>
            </a:solidFill>
            <a:prstDash val="solid"/>
          </a:ln>
        </p:spPr>
      </p:sp>
      <p:sp>
        <p:nvSpPr>
          <p:cNvPr id="15" name="Text 12"/>
          <p:cNvSpPr/>
          <p:nvPr/>
        </p:nvSpPr>
        <p:spPr>
          <a:xfrm>
            <a:off x="914400" y="1280160"/>
            <a:ext cx="5257800" cy="274320"/>
          </a:xfrm>
          <a:prstGeom prst="rect">
            <a:avLst/>
          </a:prstGeom>
          <a:noFill/>
          <a:ln/>
        </p:spPr>
        <p:txBody>
          <a:bodyPr wrap="square" lIns="0" tIns="0" rIns="0" bIns="0" rtlCol="0" anchor="ctr"/>
          <a:lstStyle/>
          <a:p>
            <a:pPr indent="0" marL="0">
              <a:buNone/>
            </a:pPr>
            <a:r>
              <a:rPr lang="en-US" sz="1100" b="1" spc="120" kern="0" dirty="0">
                <a:solidFill>
                  <a:srgbClr val="2E7D5B"/>
                </a:solidFill>
                <a:latin typeface="Inter" pitchFamily="34" charset="0"/>
                <a:ea typeface="Inter" pitchFamily="34" charset="-122"/>
                <a:cs typeface="Inter" pitchFamily="34" charset="-120"/>
              </a:rPr>
              <a:t>SAVED AS "EXIT TICKET TEMPLATE v1"  ·  FOUR BLANKS</a:t>
            </a:r>
            <a:endParaRPr lang="en-US" sz="1100" dirty="0"/>
          </a:p>
        </p:txBody>
      </p:sp>
      <p:sp>
        <p:nvSpPr>
          <p:cNvPr id="16" name="Text 13"/>
          <p:cNvSpPr/>
          <p:nvPr/>
        </p:nvSpPr>
        <p:spPr>
          <a:xfrm>
            <a:off x="914400" y="1645920"/>
            <a:ext cx="5257800" cy="3017520"/>
          </a:xfrm>
          <a:prstGeom prst="rect">
            <a:avLst/>
          </a:prstGeom>
          <a:noFill/>
          <a:ln/>
        </p:spPr>
        <p:txBody>
          <a:bodyPr wrap="square" lIns="0" tIns="0" rIns="0" bIns="0" rtlCol="0" anchor="t"/>
          <a:lstStyle/>
          <a:p>
            <a:pPr indent="0" marL="0">
              <a:lnSpc>
                <a:spcPct val="114000"/>
              </a:lnSpc>
              <a:buNone/>
            </a:pPr>
            <a:r>
              <a:rPr lang="en-US" sz="1100" b="1" dirty="0">
                <a:solidFill>
                  <a:srgbClr val="2A9D8F"/>
                </a:solidFill>
                <a:latin typeface="Inter" pitchFamily="34" charset="0"/>
                <a:ea typeface="Inter" pitchFamily="34" charset="-122"/>
                <a:cs typeface="Inter" pitchFamily="34" charset="-120"/>
              </a:rPr>
              <a:t>ROLE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You are a [GRADE] teacher writing a quick end-of-class check.
</a:t>
            </a:r>
            <a:pPr indent="0" marL="0">
              <a:lnSpc>
                <a:spcPct val="114000"/>
              </a:lnSpc>
              <a:buNone/>
            </a:pPr>
            <a:r>
              <a:rPr lang="en-US" sz="1100" b="1" dirty="0">
                <a:solidFill>
                  <a:srgbClr val="13293D"/>
                </a:solidFill>
                <a:latin typeface="Inter" pitchFamily="34" charset="0"/>
                <a:ea typeface="Inter" pitchFamily="34" charset="-122"/>
                <a:cs typeface="Inter" pitchFamily="34" charset="-120"/>
              </a:rPr>
              <a:t>TASK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Write five exit-ticket questions for [OBJECTIVE].
</a:t>
            </a:r>
            <a:pPr indent="0" marL="0">
              <a:lnSpc>
                <a:spcPct val="114000"/>
              </a:lnSpc>
              <a:buNone/>
            </a:pPr>
            <a:r>
              <a:rPr lang="en-US" sz="1100" b="1" dirty="0">
                <a:solidFill>
                  <a:srgbClr val="B07914"/>
                </a:solidFill>
                <a:latin typeface="Inter" pitchFamily="34" charset="0"/>
                <a:ea typeface="Inter" pitchFamily="34" charset="-122"/>
                <a:cs typeface="Inter" pitchFamily="34" charset="-120"/>
              </a:rPr>
              <a:t>CONTEXT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Students have had [HOW LONG] with this. The thing they usually get wrong is [COMMON MISTAKE]. No student names.
</a:t>
            </a:r>
            <a:pPr indent="0" marL="0">
              <a:lnSpc>
                <a:spcPct val="114000"/>
              </a:lnSpc>
              <a:buNone/>
            </a:pPr>
            <a:r>
              <a:rPr lang="en-US" sz="1100" b="1" dirty="0">
                <a:solidFill>
                  <a:srgbClr val="2E7D5B"/>
                </a:solidFill>
                <a:latin typeface="Inter" pitchFamily="34" charset="0"/>
                <a:ea typeface="Inter" pitchFamily="34" charset="-122"/>
                <a:cs typeface="Inter" pitchFamily="34" charset="-120"/>
              </a:rPr>
              <a:t>FORMAT   </a:t>
            </a:r>
            <a:pPr indent="0" marL="0">
              <a:lnSpc>
                <a:spcPct val="114000"/>
              </a:lnSpc>
              <a:buNone/>
            </a:pPr>
            <a:r>
              <a:rPr lang="en-US" sz="1400" dirty="0">
                <a:solidFill>
                  <a:srgbClr val="1B1F24"/>
                </a:solidFill>
                <a:latin typeface="Inter" pitchFamily="34" charset="0"/>
                <a:ea typeface="Inter" pitchFamily="34" charset="-122"/>
                <a:cs typeface="Inter" pitchFamily="34" charset="-120"/>
              </a:rPr>
              <a:t>Three recall questions, then two reasoning questions. Numbered, one page, answer key at the end. Plain language.</a:t>
            </a:r>
            <a:endParaRPr lang="en-US" sz="1100" dirty="0"/>
          </a:p>
        </p:txBody>
      </p:sp>
      <p:sp>
        <p:nvSpPr>
          <p:cNvPr id="17" name="Shape 14"/>
          <p:cNvSpPr/>
          <p:nvPr/>
        </p:nvSpPr>
        <p:spPr>
          <a:xfrm>
            <a:off x="6720840" y="1152144"/>
            <a:ext cx="4892040" cy="3703320"/>
          </a:xfrm>
          <a:prstGeom prst="roundRect">
            <a:avLst>
              <a:gd name="adj" fmla="val 2222"/>
            </a:avLst>
          </a:prstGeom>
          <a:solidFill>
            <a:srgbClr val="F7F5F0"/>
          </a:solidFill>
          <a:ln w="12700">
            <a:solidFill>
              <a:srgbClr val="F7F5F0"/>
            </a:solidFill>
            <a:prstDash val="solid"/>
          </a:ln>
        </p:spPr>
      </p:sp>
      <p:sp>
        <p:nvSpPr>
          <p:cNvPr id="18" name="Text 15"/>
          <p:cNvSpPr/>
          <p:nvPr/>
        </p:nvSpPr>
        <p:spPr>
          <a:xfrm>
            <a:off x="6995160" y="1280160"/>
            <a:ext cx="4343400" cy="274320"/>
          </a:xfrm>
          <a:prstGeom prst="rect">
            <a:avLst/>
          </a:prstGeom>
          <a:noFill/>
          <a:ln/>
        </p:spPr>
        <p:txBody>
          <a:bodyPr wrap="square" lIns="0" tIns="0" rIns="0" bIns="0" rtlCol="0" anchor="ctr"/>
          <a:lstStyle/>
          <a:p>
            <a:pPr indent="0" marL="0">
              <a:buNone/>
            </a:pPr>
            <a:r>
              <a:rPr lang="en-US" sz="1100" b="1" spc="120" kern="0" dirty="0">
                <a:solidFill>
                  <a:srgbClr val="13293D"/>
                </a:solidFill>
                <a:latin typeface="Inter" pitchFamily="34" charset="0"/>
                <a:ea typeface="Inter" pitchFamily="34" charset="-122"/>
                <a:cs typeface="Inter" pitchFamily="34" charset="-120"/>
              </a:rPr>
              <a:t>WHAT IT PRODUCED  ·  RUN #2</a:t>
            </a:r>
            <a:endParaRPr lang="en-US" sz="1100" dirty="0"/>
          </a:p>
        </p:txBody>
      </p:sp>
      <p:sp>
        <p:nvSpPr>
          <p:cNvPr id="19" name="Text 16"/>
          <p:cNvSpPr/>
          <p:nvPr/>
        </p:nvSpPr>
        <p:spPr>
          <a:xfrm>
            <a:off x="6995160" y="1645920"/>
            <a:ext cx="4343400" cy="3017520"/>
          </a:xfrm>
          <a:prstGeom prst="rect">
            <a:avLst/>
          </a:prstGeom>
          <a:noFill/>
          <a:ln/>
        </p:spPr>
        <p:txBody>
          <a:bodyPr wrap="square" lIns="0" tIns="0" rIns="0" bIns="0" rtlCol="0" anchor="t"/>
          <a:lstStyle/>
          <a:p>
            <a:pPr indent="0" marL="0">
              <a:lnSpc>
                <a:spcPct val="114000"/>
              </a:lnSpc>
              <a:buNone/>
            </a:pPr>
            <a:r>
              <a:rPr lang="en-US" sz="1200" dirty="0">
                <a:solidFill>
                  <a:srgbClr val="5B6B7A"/>
                </a:solidFill>
                <a:latin typeface="Inter" pitchFamily="34" charset="0"/>
                <a:ea typeface="Inter" pitchFamily="34" charset="-122"/>
                <a:cs typeface="Inter" pitchFamily="34" charset="-120"/>
              </a:rPr>
              <a:t>[GRADE] = 6th · [HOW LONG] = three days
[OBJECTIVE] = how energy moves through a food web
[COMMON MISTAKE] = arrows drawn backward
</a:t>
            </a:r>
            <a:pPr indent="0" marL="0">
              <a:lnSpc>
                <a:spcPct val="114000"/>
              </a:lnSpc>
              <a:buNone/>
            </a:pPr>
            <a:r>
              <a:rPr lang="en-US" sz="1300" b="1" dirty="0">
                <a:solidFill>
                  <a:srgbClr val="13293D"/>
                </a:solidFill>
                <a:latin typeface="Inter" pitchFamily="34" charset="0"/>
                <a:ea typeface="Inter" pitchFamily="34" charset="-122"/>
                <a:cs typeface="Inter" pitchFamily="34" charset="-120"/>
              </a:rPr>
              <a:t>1. </a:t>
            </a:r>
            <a:pPr indent="0" marL="0">
              <a:lnSpc>
                <a:spcPct val="114000"/>
              </a:lnSpc>
              <a:buNone/>
            </a:pPr>
            <a:r>
              <a:rPr lang="en-US" sz="1300" dirty="0">
                <a:solidFill>
                  <a:srgbClr val="1B1F24"/>
                </a:solidFill>
                <a:latin typeface="Inter" pitchFamily="34" charset="0"/>
                <a:ea typeface="Inter" pitchFamily="34" charset="-122"/>
                <a:cs typeface="Inter" pitchFamily="34" charset="-120"/>
              </a:rPr>
              <a:t>Name one producer and one consumer in our schoolyard web.
</a:t>
            </a:r>
            <a:pPr indent="0" marL="0">
              <a:lnSpc>
                <a:spcPct val="114000"/>
              </a:lnSpc>
              <a:buNone/>
            </a:pPr>
            <a:r>
              <a:rPr lang="en-US" sz="1300" b="1" dirty="0">
                <a:solidFill>
                  <a:srgbClr val="13293D"/>
                </a:solidFill>
                <a:latin typeface="Inter" pitchFamily="34" charset="0"/>
                <a:ea typeface="Inter" pitchFamily="34" charset="-122"/>
                <a:cs typeface="Inter" pitchFamily="34" charset="-120"/>
              </a:rPr>
              <a:t>4. </a:t>
            </a:r>
            <a:pPr indent="0" marL="0">
              <a:lnSpc>
                <a:spcPct val="114000"/>
              </a:lnSpc>
              <a:buNone/>
            </a:pPr>
            <a:r>
              <a:rPr lang="en-US" sz="1300" dirty="0">
                <a:solidFill>
                  <a:srgbClr val="1B1F24"/>
                </a:solidFill>
                <a:latin typeface="Inter" pitchFamily="34" charset="0"/>
                <a:ea typeface="Inter" pitchFamily="34" charset="-122"/>
                <a:cs typeface="Inter" pitchFamily="34" charset="-120"/>
              </a:rPr>
              <a:t>The hawks disappear. Name two things that change, and why.
</a:t>
            </a:r>
            <a:pPr indent="0" marL="0">
              <a:lnSpc>
                <a:spcPct val="114000"/>
              </a:lnSpc>
              <a:buNone/>
            </a:pPr>
            <a:r>
              <a:rPr lang="en-US" sz="1300" b="1" dirty="0">
                <a:solidFill>
                  <a:srgbClr val="13293D"/>
                </a:solidFill>
                <a:latin typeface="Inter" pitchFamily="34" charset="0"/>
                <a:ea typeface="Inter" pitchFamily="34" charset="-122"/>
                <a:cs typeface="Inter" pitchFamily="34" charset="-120"/>
              </a:rPr>
              <a:t>5. </a:t>
            </a:r>
            <a:pPr indent="0" marL="0">
              <a:lnSpc>
                <a:spcPct val="114000"/>
              </a:lnSpc>
              <a:buNone/>
            </a:pPr>
            <a:r>
              <a:rPr lang="en-US" sz="1300" dirty="0">
                <a:solidFill>
                  <a:srgbClr val="1B1F24"/>
                </a:solidFill>
                <a:latin typeface="Inter" pitchFamily="34" charset="0"/>
                <a:ea typeface="Inter" pitchFamily="34" charset="-122"/>
                <a:cs typeface="Inter" pitchFamily="34" charset="-120"/>
              </a:rPr>
              <a:t>A student draws the arrow from hawk to rabbit. What is wrong?
</a:t>
            </a:r>
            <a:pPr indent="0" marL="0">
              <a:lnSpc>
                <a:spcPct val="114000"/>
              </a:lnSpc>
              <a:buNone/>
            </a:pPr>
            <a:r>
              <a:rPr lang="en-US" sz="1200" i="1" dirty="0">
                <a:solidFill>
                  <a:srgbClr val="5B6B7A"/>
                </a:solidFill>
                <a:latin typeface="Inter" pitchFamily="34" charset="0"/>
                <a:ea typeface="Inter" pitchFamily="34" charset="-122"/>
                <a:cs typeface="Inter" pitchFamily="34" charset="-120"/>
              </a:rPr>
              <a:t>Questions 2 and 3 run the same way. The answer key prints last.</a:t>
            </a:r>
            <a:endParaRPr lang="en-US" sz="1200" dirty="0"/>
          </a:p>
        </p:txBody>
      </p:sp>
      <p:sp>
        <p:nvSpPr>
          <p:cNvPr id="20" name="Shape 17"/>
          <p:cNvSpPr/>
          <p:nvPr/>
        </p:nvSpPr>
        <p:spPr>
          <a:xfrm>
            <a:off x="640080" y="5074920"/>
            <a:ext cx="10972800" cy="658368"/>
          </a:xfrm>
          <a:prstGeom prst="roundRect">
            <a:avLst>
              <a:gd name="adj" fmla="val 12500"/>
            </a:avLst>
          </a:prstGeom>
          <a:solidFill>
            <a:srgbClr val="13293D"/>
          </a:solidFill>
          <a:ln w="12700">
            <a:solidFill>
              <a:srgbClr val="13293D"/>
            </a:solidFill>
            <a:prstDash val="solid"/>
          </a:ln>
        </p:spPr>
      </p:sp>
      <p:sp>
        <p:nvSpPr>
          <p:cNvPr id="21" name="Text 18"/>
          <p:cNvSpPr/>
          <p:nvPr/>
        </p:nvSpPr>
        <p:spPr>
          <a:xfrm>
            <a:off x="960120" y="5074920"/>
            <a:ext cx="10332720" cy="658368"/>
          </a:xfrm>
          <a:prstGeom prst="rect">
            <a:avLst/>
          </a:prstGeom>
          <a:noFill/>
          <a:ln/>
        </p:spPr>
        <p:txBody>
          <a:bodyPr wrap="square" lIns="0" tIns="0" rIns="0" bIns="0" rtlCol="0" anchor="ctr"/>
          <a:lstStyle/>
          <a:p>
            <a:pPr algn="ctr" indent="0" marL="0">
              <a:buNone/>
            </a:pPr>
            <a:r>
              <a:rPr lang="en-US" sz="1600" b="1" dirty="0">
                <a:solidFill>
                  <a:srgbClr val="2A9D8F"/>
                </a:solidFill>
                <a:latin typeface="Inter" pitchFamily="34" charset="0"/>
                <a:ea typeface="Inter" pitchFamily="34" charset="-122"/>
                <a:cs typeface="Inter" pitchFamily="34" charset="-120"/>
              </a:rPr>
              <a:t>Write it once · bracket the changes · test it twice.  </a:t>
            </a:r>
            <a:pPr algn="ctr" indent="0" marL="0">
              <a:buNone/>
            </a:pPr>
            <a:r>
              <a:rPr lang="en-US" sz="1600" dirty="0">
                <a:solidFill>
                  <a:srgbClr val="FFFFFF"/>
                </a:solidFill>
                <a:latin typeface="Inter" pitchFamily="34" charset="0"/>
                <a:ea typeface="Inter" pitchFamily="34" charset="-122"/>
                <a:cs typeface="Inter" pitchFamily="34" charset="-120"/>
              </a:rPr>
              <a:t>Two templates saved, both tested on a real week, both in the staff doc with her name on them.</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week audit, step 4: the unstarred column becomes her protected list, in ink.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3 MINUTES · ALONE, IN INK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Write the protected list</a:t>
            </a:r>
            <a:endParaRPr lang="en-US" sz="3200" dirty="0"/>
          </a:p>
        </p:txBody>
      </p:sp>
      <p:sp>
        <p:nvSpPr>
          <p:cNvPr id="14" name="Shape 11"/>
          <p:cNvSpPr/>
          <p:nvPr/>
        </p:nvSpPr>
        <p:spPr>
          <a:xfrm>
            <a:off x="640080" y="1554480"/>
            <a:ext cx="5394960" cy="2651760"/>
          </a:xfrm>
          <a:prstGeom prst="roundRect">
            <a:avLst>
              <a:gd name="adj" fmla="val 3103"/>
            </a:avLst>
          </a:prstGeom>
          <a:solidFill>
            <a:srgbClr val="F7F5F0"/>
          </a:solidFill>
          <a:ln w="12700">
            <a:solidFill>
              <a:srgbClr val="F7F5F0"/>
            </a:solidFill>
            <a:prstDash val="solid"/>
          </a:ln>
        </p:spPr>
      </p:sp>
      <p:sp>
        <p:nvSpPr>
          <p:cNvPr id="15" name="Text 12"/>
          <p:cNvSpPr/>
          <p:nvPr/>
        </p:nvSpPr>
        <p:spPr>
          <a:xfrm>
            <a:off x="914400" y="1783080"/>
            <a:ext cx="4846320" cy="2194560"/>
          </a:xfrm>
          <a:prstGeom prst="rect">
            <a:avLst/>
          </a:prstGeom>
          <a:noFill/>
          <a:ln/>
        </p:spPr>
        <p:txBody>
          <a:bodyPr wrap="square" lIns="0" tIns="0" rIns="0" bIns="0" rtlCol="0" anchor="ctr"/>
          <a:lstStyle/>
          <a:p>
            <a:pPr indent="0" marL="0">
              <a:lnSpc>
                <a:spcPct val="125000"/>
              </a:lnSpc>
              <a:buNone/>
            </a:pPr>
            <a:r>
              <a:rPr lang="en-US" sz="1900" dirty="0">
                <a:solidFill>
                  <a:srgbClr val="1B1F24"/>
                </a:solidFill>
                <a:latin typeface="Inter" pitchFamily="34" charset="0"/>
                <a:ea typeface="Inter" pitchFamily="34" charset="-122"/>
                <a:cs typeface="Inter" pitchFamily="34" charset="-120"/>
              </a:rPr>
              <a:t>Three to five pieces of this job you are keeping, by decision, no matter how good the tools get.</a:t>
            </a:r>
            <a:endParaRPr lang="en-US" sz="1900" dirty="0"/>
          </a:p>
        </p:txBody>
      </p:sp>
      <p:sp>
        <p:nvSpPr>
          <p:cNvPr id="16" name="Shape 13"/>
          <p:cNvSpPr/>
          <p:nvPr/>
        </p:nvSpPr>
        <p:spPr>
          <a:xfrm>
            <a:off x="6263640" y="1554480"/>
            <a:ext cx="5394960" cy="2651760"/>
          </a:xfrm>
          <a:prstGeom prst="roundRect">
            <a:avLst>
              <a:gd name="adj" fmla="val 3103"/>
            </a:avLst>
          </a:prstGeom>
          <a:solidFill>
            <a:srgbClr val="EAF5F3"/>
          </a:solidFill>
          <a:ln w="12700">
            <a:solidFill>
              <a:srgbClr val="EAF5F3"/>
            </a:solidFill>
            <a:prstDash val="solid"/>
          </a:ln>
        </p:spPr>
      </p:sp>
      <p:sp>
        <p:nvSpPr>
          <p:cNvPr id="17" name="Text 14"/>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WEEK AUDIT · STEP 4</a:t>
            </a:r>
            <a:endParaRPr lang="en-US" sz="1250" dirty="0"/>
          </a:p>
        </p:txBody>
      </p:sp>
      <p:sp>
        <p:nvSpPr>
          <p:cNvPr id="18" name="Text 15"/>
          <p:cNvSpPr/>
          <p:nvPr/>
        </p:nvSpPr>
        <p:spPr>
          <a:xfrm>
            <a:off x="6537960" y="2148840"/>
            <a:ext cx="4892040" cy="1920240"/>
          </a:xfrm>
          <a:prstGeom prst="rect">
            <a:avLst/>
          </a:prstGeom>
          <a:noFill/>
          <a:ln/>
        </p:spPr>
        <p:txBody>
          <a:bodyPr wrap="square" lIns="0" tIns="0" rIns="0" bIns="0" rtlCol="0" anchor="t"/>
          <a:lstStyle/>
          <a:p>
            <a:pPr indent="0" marL="0">
              <a:lnSpc>
                <a:spcPct val="120000"/>
              </a:lnSpc>
              <a:buNone/>
            </a:pPr>
            <a:r>
              <a:rPr lang="en-US" sz="2000" b="1" dirty="0">
                <a:solidFill>
                  <a:srgbClr val="13293D"/>
                </a:solidFill>
                <a:latin typeface="Inter" pitchFamily="34" charset="0"/>
                <a:ea typeface="Inter" pitchFamily="34" charset="-122"/>
                <a:cs typeface="Inter" pitchFamily="34" charset="-120"/>
              </a:rPr>
              <a:t>Feedback conversations.
Grading judgment.
Greeting kids at the door.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Her protected list: the unstarred column of her audit, kept on purpose.</a:t>
            </a:r>
            <a:endParaRPr lang="en-US" sz="2000" dirty="0"/>
          </a:p>
        </p:txBody>
      </p:sp>
      <p:sp>
        <p:nvSpPr>
          <p:cNvPr id="19" name="Text 16"/>
          <p:cNvSpPr/>
          <p:nvPr/>
        </p:nvSpPr>
        <p:spPr>
          <a:xfrm>
            <a:off x="640080" y="4526280"/>
            <a:ext cx="10972800" cy="54864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Put it where you'll see it. This list is why the efficiency is safe: you've named what it will never touch.</a:t>
            </a:r>
            <a:endParaRPr lang="en-US"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protected list, finished: five lines, in ink, taped inside her planner.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PROTECTED LIST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list she wrote in ink</a:t>
            </a:r>
            <a:endParaRPr lang="en-US" sz="3200" dirty="0"/>
          </a:p>
        </p:txBody>
      </p:sp>
      <p:sp>
        <p:nvSpPr>
          <p:cNvPr id="14" name="Shape 11"/>
          <p:cNvSpPr/>
          <p:nvPr/>
        </p:nvSpPr>
        <p:spPr>
          <a:xfrm>
            <a:off x="640080" y="1188720"/>
            <a:ext cx="10972800" cy="4023360"/>
          </a:xfrm>
          <a:prstGeom prst="roundRect">
            <a:avLst>
              <a:gd name="adj" fmla="val 2045"/>
            </a:avLst>
          </a:prstGeom>
          <a:solidFill>
            <a:srgbClr val="F7F5F0"/>
          </a:solidFill>
          <a:ln w="12700">
            <a:solidFill>
              <a:srgbClr val="F7F5F0"/>
            </a:solidFill>
            <a:prstDash val="solid"/>
          </a:ln>
        </p:spPr>
      </p:sp>
      <p:sp>
        <p:nvSpPr>
          <p:cNvPr id="15" name="Shape 12"/>
          <p:cNvSpPr/>
          <p:nvPr/>
        </p:nvSpPr>
        <p:spPr>
          <a:xfrm>
            <a:off x="640080" y="1188720"/>
            <a:ext cx="109728" cy="4023360"/>
          </a:xfrm>
          <a:prstGeom prst="roundRect">
            <a:avLst>
              <a:gd name="adj" fmla="val 41667"/>
            </a:avLst>
          </a:prstGeom>
          <a:solidFill>
            <a:srgbClr val="F4A825"/>
          </a:solidFill>
          <a:ln w="12700">
            <a:solidFill>
              <a:srgbClr val="F4A825"/>
            </a:solidFill>
            <a:prstDash val="solid"/>
          </a:ln>
        </p:spPr>
      </p:sp>
      <p:sp>
        <p:nvSpPr>
          <p:cNvPr id="16" name="Text 13"/>
          <p:cNvSpPr/>
          <p:nvPr/>
        </p:nvSpPr>
        <p:spPr>
          <a:xfrm>
            <a:off x="1143000" y="1335024"/>
            <a:ext cx="10149840" cy="274320"/>
          </a:xfrm>
          <a:prstGeom prst="rect">
            <a:avLst/>
          </a:prstGeom>
          <a:noFill/>
          <a:ln/>
        </p:spPr>
        <p:txBody>
          <a:bodyPr wrap="square" lIns="0" tIns="0" rIns="0" bIns="0" rtlCol="0" anchor="ctr"/>
          <a:lstStyle/>
          <a:p>
            <a:pPr indent="0" marL="0">
              <a:buNone/>
            </a:pPr>
            <a:r>
              <a:rPr lang="en-US" sz="1200" b="1" spc="150" kern="0" dirty="0">
                <a:solidFill>
                  <a:srgbClr val="B07914"/>
                </a:solidFill>
                <a:latin typeface="Inter" pitchFamily="34" charset="0"/>
                <a:ea typeface="Inter" pitchFamily="34" charset="-122"/>
                <a:cs typeface="Inter" pitchFamily="34" charset="-120"/>
              </a:rPr>
              <a:t>MS. RIVERA'S PROTECTED LIST · WRITTEN BY HAND, TAPED INSIDE THE PLANNER</a:t>
            </a:r>
            <a:endParaRPr lang="en-US" sz="1200" dirty="0"/>
          </a:p>
        </p:txBody>
      </p:sp>
      <p:sp>
        <p:nvSpPr>
          <p:cNvPr id="17" name="Text 14"/>
          <p:cNvSpPr/>
          <p:nvPr/>
        </p:nvSpPr>
        <p:spPr>
          <a:xfrm>
            <a:off x="1143000" y="1719072"/>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1. Feedback conversations.</a:t>
            </a:r>
            <a:endParaRPr lang="en-US" sz="1700" dirty="0"/>
          </a:p>
        </p:txBody>
      </p:sp>
      <p:sp>
        <p:nvSpPr>
          <p:cNvPr id="18" name="Text 15"/>
          <p:cNvSpPr/>
          <p:nvPr/>
        </p:nvSpPr>
        <p:spPr>
          <a:xfrm>
            <a:off x="1143000" y="1993392"/>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The two minutes at a desk where a kid finds out somebody actually read it.</a:t>
            </a:r>
            <a:endParaRPr lang="en-US" sz="1400" dirty="0"/>
          </a:p>
        </p:txBody>
      </p:sp>
      <p:sp>
        <p:nvSpPr>
          <p:cNvPr id="19" name="Text 16"/>
          <p:cNvSpPr/>
          <p:nvPr/>
        </p:nvSpPr>
        <p:spPr>
          <a:xfrm>
            <a:off x="1143000" y="2377440"/>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2. Grading judgment.</a:t>
            </a:r>
            <a:endParaRPr lang="en-US" sz="1700" dirty="0"/>
          </a:p>
        </p:txBody>
      </p:sp>
      <p:sp>
        <p:nvSpPr>
          <p:cNvPr id="20" name="Text 17"/>
          <p:cNvSpPr/>
          <p:nvPr/>
        </p:nvSpPr>
        <p:spPr>
          <a:xfrm>
            <a:off x="1143000" y="2651760"/>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A tool can sort the pile. It cannot decide what this student needed to hear.</a:t>
            </a:r>
            <a:endParaRPr lang="en-US" sz="1400" dirty="0"/>
          </a:p>
        </p:txBody>
      </p:sp>
      <p:sp>
        <p:nvSpPr>
          <p:cNvPr id="21" name="Text 18"/>
          <p:cNvSpPr/>
          <p:nvPr/>
        </p:nvSpPr>
        <p:spPr>
          <a:xfrm>
            <a:off x="1143000" y="3035808"/>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3. Greeting them at the door.</a:t>
            </a:r>
            <a:endParaRPr lang="en-US" sz="1700" dirty="0"/>
          </a:p>
        </p:txBody>
      </p:sp>
      <p:sp>
        <p:nvSpPr>
          <p:cNvPr id="22" name="Text 19"/>
          <p:cNvSpPr/>
          <p:nvPr/>
        </p:nvSpPr>
        <p:spPr>
          <a:xfrm>
            <a:off x="1143000" y="3310128"/>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Eight seconds each. It is how I know who is having a bad day before class starts.</a:t>
            </a:r>
            <a:endParaRPr lang="en-US" sz="1400" dirty="0"/>
          </a:p>
        </p:txBody>
      </p:sp>
      <p:sp>
        <p:nvSpPr>
          <p:cNvPr id="23" name="Text 20"/>
          <p:cNvSpPr/>
          <p:nvPr/>
        </p:nvSpPr>
        <p:spPr>
          <a:xfrm>
            <a:off x="1143000" y="3694176"/>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4. The phone call after a hard day.</a:t>
            </a:r>
            <a:endParaRPr lang="en-US" sz="1700" dirty="0"/>
          </a:p>
        </p:txBody>
      </p:sp>
      <p:sp>
        <p:nvSpPr>
          <p:cNvPr id="24" name="Text 21"/>
          <p:cNvSpPr/>
          <p:nvPr/>
        </p:nvSpPr>
        <p:spPr>
          <a:xfrm>
            <a:off x="1143000" y="3968496"/>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The one that repairs something. It has to be my voice on the other end.</a:t>
            </a:r>
            <a:endParaRPr lang="en-US" sz="1400" dirty="0"/>
          </a:p>
        </p:txBody>
      </p:sp>
      <p:sp>
        <p:nvSpPr>
          <p:cNvPr id="25" name="Text 22"/>
          <p:cNvSpPr/>
          <p:nvPr/>
        </p:nvSpPr>
        <p:spPr>
          <a:xfrm>
            <a:off x="1143000" y="4352544"/>
            <a:ext cx="10149840" cy="2743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5. Which reading group a struggling reader joins.</a:t>
            </a:r>
            <a:endParaRPr lang="en-US" sz="1700" dirty="0"/>
          </a:p>
        </p:txBody>
      </p:sp>
      <p:sp>
        <p:nvSpPr>
          <p:cNvPr id="26" name="Text 23"/>
          <p:cNvSpPr/>
          <p:nvPr/>
        </p:nvSpPr>
        <p:spPr>
          <a:xfrm>
            <a:off x="1143000" y="4626864"/>
            <a:ext cx="10149840" cy="292608"/>
          </a:xfrm>
          <a:prstGeom prst="rect">
            <a:avLst/>
          </a:prstGeom>
          <a:noFill/>
          <a:ln/>
        </p:spPr>
        <p:txBody>
          <a:bodyPr wrap="square" lIns="0" tIns="0" rIns="0" bIns="0" rtlCol="0" anchor="ctr"/>
          <a:lstStyle/>
          <a:p>
            <a:pPr indent="0" marL="0">
              <a:buNone/>
            </a:pPr>
            <a:r>
              <a:rPr lang="en-US" sz="1400" i="1" dirty="0">
                <a:solidFill>
                  <a:srgbClr val="5B6B7A"/>
                </a:solidFill>
                <a:latin typeface="Inter" pitchFamily="34" charset="0"/>
                <a:ea typeface="Inter" pitchFamily="34" charset="-122"/>
                <a:cs typeface="Inter" pitchFamily="34" charset="-120"/>
              </a:rPr>
              <a:t>That call takes a year of knowing the kid, not a week of data.</a:t>
            </a:r>
            <a:endParaRPr lang="en-US" sz="1400" dirty="0"/>
          </a:p>
        </p:txBody>
      </p:sp>
      <p:sp>
        <p:nvSpPr>
          <p:cNvPr id="27" name="Text 24"/>
          <p:cNvSpPr/>
          <p:nvPr/>
        </p:nvSpPr>
        <p:spPr>
          <a:xfrm>
            <a:off x="640080" y="53949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unstarred column of her audit, now the work efficiency never touches.</a:t>
            </a:r>
            <a:endParaRPr lang="en-US" sz="1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from the same audit: the sub plan star, and the evenings it frees.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3 VOICES, 1 MINUTE EACH</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task you're taking back</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task you templated, and the hours it was eating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line from your protected list, read aloud</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protected lists are this faculty saying what teaching is for. Let them land.</a:t>
            </a:r>
            <a:endParaRPr lang="en-US" sz="2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audit done, two templates live, protected list written.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TWENTY-TWO MINUTES OF WORK, ON THE RECORD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week audited honestly. Two repeaters templated, tested, and shared. A protected list in ink. And an hour with a name on it.
</a:t>
            </a:r>
            <a:pPr indent="0" marL="0">
              <a:buNone/>
            </a:pPr>
            <a:r>
              <a:rPr lang="en-US" sz="2000" b="1" dirty="0">
                <a:solidFill>
                  <a:srgbClr val="13293D"/>
                </a:solidFill>
                <a:latin typeface="Inter" pitchFamily="34" charset="0"/>
                <a:ea typeface="Inter" pitchFamily="34" charset="-122"/>
                <a:cs typeface="Inter" pitchFamily="34" charset="-120"/>
              </a:rPr>
              <a:t>That last one is the difference between this session and a productivity poster.</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 limits: the tool saves time; it doesn't set boundaries. She does.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THIS SERIES DOESN'T OVERSELL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tool saves drafting time; it doesn't set boundaries, fix schedules, or say no to the fourth new initiative. Humans do those.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5.9 hours is the average for weekly users; your number is yours. The audit, not the average, is what's real.</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 tool cures burnout; it returns some hours. What the building does with that truth is a leadership question worth asking out loud.</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32</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two templates in use, review always, the protected list protected.</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OUR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My two templates get used this week, for real</a:t>
            </a:r>
            <a:endParaRPr lang="en-US" sz="21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Everything AI drafts gets reviewed; the drift stops with me</a:t>
            </a:r>
            <a:endParaRPr lang="en-US" sz="21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My protected list is law: the relational work stays mine on purpose</a:t>
            </a:r>
            <a:endParaRPr lang="en-US" sz="21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i="1" dirty="0">
                <a:solidFill>
                  <a:srgbClr val="2A9D8F"/>
                </a:solidFill>
                <a:latin typeface="Inter" pitchFamily="34" charset="0"/>
                <a:ea typeface="Inter" pitchFamily="34" charset="-122"/>
                <a:cs typeface="Inter" pitchFamily="34" charset="-120"/>
              </a:rPr>
              <a:t>Can I get a nod on those three?</a:t>
            </a:r>
            <a:endParaRPr lang="en-US"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month: template check-ins, a shared library sprint, an hours reckoning.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30-DAY PLAN, IN ONE SLIDE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Text 11"/>
          <p:cNvSpPr/>
          <p:nvPr/>
        </p:nvSpPr>
        <p:spPr>
          <a:xfrm>
            <a:off x="822960" y="155448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This week</a:t>
            </a:r>
            <a:endParaRPr lang="en-US" sz="1900" dirty="0"/>
          </a:p>
        </p:txBody>
      </p:sp>
      <p:sp>
        <p:nvSpPr>
          <p:cNvPr id="15" name="Text 12"/>
          <p:cNvSpPr/>
          <p:nvPr/>
        </p:nvSpPr>
        <p:spPr>
          <a:xfrm>
            <a:off x="2926080" y="155448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Both templates run on real tasks; the hour gets spent on purpose</a:t>
            </a:r>
            <a:endParaRPr lang="en-US" sz="1800" dirty="0"/>
          </a:p>
        </p:txBody>
      </p:sp>
      <p:sp>
        <p:nvSpPr>
          <p:cNvPr id="16" name="Text 13"/>
          <p:cNvSpPr/>
          <p:nvPr/>
        </p:nvSpPr>
        <p:spPr>
          <a:xfrm>
            <a:off x="822960" y="251460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2</a:t>
            </a:r>
            <a:endParaRPr lang="en-US" sz="1900" dirty="0"/>
          </a:p>
        </p:txBody>
      </p:sp>
      <p:sp>
        <p:nvSpPr>
          <p:cNvPr id="17" name="Text 14"/>
          <p:cNvSpPr/>
          <p:nvPr/>
        </p:nvSpPr>
        <p:spPr>
          <a:xfrm>
            <a:off x="2926080" y="251460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Template Clinic: fix the wobbles, template one request together</a:t>
            </a:r>
            <a:endParaRPr lang="en-US" sz="1800" dirty="0"/>
          </a:p>
        </p:txBody>
      </p:sp>
      <p:sp>
        <p:nvSpPr>
          <p:cNvPr id="18" name="Text 15"/>
          <p:cNvSpPr/>
          <p:nvPr/>
        </p:nvSpPr>
        <p:spPr>
          <a:xfrm>
            <a:off x="822960" y="347472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3</a:t>
            </a:r>
            <a:endParaRPr lang="en-US" sz="1900" dirty="0"/>
          </a:p>
        </p:txBody>
      </p:sp>
      <p:sp>
        <p:nvSpPr>
          <p:cNvPr id="19" name="Text 16"/>
          <p:cNvSpPr/>
          <p:nvPr/>
        </p:nvSpPr>
        <p:spPr>
          <a:xfrm>
            <a:off x="2926080" y="347472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Library Sprint: every working template into the Workload section</a:t>
            </a:r>
            <a:endParaRPr lang="en-US" sz="1800" dirty="0"/>
          </a:p>
        </p:txBody>
      </p:sp>
      <p:sp>
        <p:nvSpPr>
          <p:cNvPr id="20" name="Text 17"/>
          <p:cNvSpPr/>
          <p:nvPr/>
        </p:nvSpPr>
        <p:spPr>
          <a:xfrm>
            <a:off x="822960" y="443484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4</a:t>
            </a:r>
            <a:endParaRPr lang="en-US" sz="1900" dirty="0"/>
          </a:p>
        </p:txBody>
      </p:sp>
      <p:sp>
        <p:nvSpPr>
          <p:cNvPr id="21" name="Text 18"/>
          <p:cNvSpPr/>
          <p:nvPr/>
        </p:nvSpPr>
        <p:spPr>
          <a:xfrm>
            <a:off x="2926080" y="4434840"/>
            <a:ext cx="8595360" cy="731520"/>
          </a:xfrm>
          <a:prstGeom prst="rect">
            <a:avLst/>
          </a:prstGeom>
          <a:noFill/>
          <a:ln/>
        </p:spPr>
        <p:txBody>
          <a:bodyPr wrap="square" lIns="0" tIns="0" rIns="0" bIns="0" rtlCol="0" anchor="ctr"/>
          <a:lstStyle/>
          <a:p>
            <a:pPr indent="0" marL="0">
              <a:buNone/>
            </a:pPr>
            <a:r>
              <a:rPr lang="en-US" sz="1800" dirty="0">
                <a:solidFill>
                  <a:srgbClr val="1B1F24"/>
                </a:solidFill>
                <a:latin typeface="Inter" pitchFamily="34" charset="0"/>
                <a:ea typeface="Inter" pitchFamily="34" charset="-122"/>
                <a:cs typeface="Inter" pitchFamily="34" charset="-120"/>
              </a:rPr>
              <a:t>PLC · The Reckoning: where did the recovered time actually go?</a:t>
            </a:r>
            <a:endParaRPr lang="en-US" sz="1800" dirty="0"/>
          </a:p>
        </p:txBody>
      </p:sp>
      <p:sp>
        <p:nvSpPr>
          <p:cNvPr id="22" name="Text 19"/>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Then Kit 8 closes the series: everything this built, made culture instead of a season.</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run both templates for real; put the hour somewhere human.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First 48 hours: three actions</a:t>
            </a:r>
            <a:endParaRPr lang="en-US" sz="32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Run template #1 for real</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On its actual task; fold any fix back into the template</a:t>
            </a:r>
            <a:endParaRPr lang="en-US" sz="1450" dirty="0"/>
          </a:p>
        </p:txBody>
      </p:sp>
      <p:sp>
        <p:nvSpPr>
          <p:cNvPr id="18" name="Text 15"/>
          <p:cNvSpPr/>
          <p:nvPr/>
        </p:nvSpPr>
        <p:spPr>
          <a:xfrm>
            <a:off x="9509760" y="187452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Run (or build) template #2</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Then post both to the staff doc's Workload section</a:t>
            </a:r>
            <a:endParaRPr lang="en-US" sz="1450" dirty="0"/>
          </a:p>
        </p:txBody>
      </p:sp>
      <p:sp>
        <p:nvSpPr>
          <p:cNvPr id="23" name="Text 20"/>
          <p:cNvSpPr/>
          <p:nvPr/>
        </p:nvSpPr>
        <p:spPr>
          <a:xfrm>
            <a:off x="9509760" y="315468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Spend the first minutes on purpose</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Where you said they'd go. Then notice you did.</a:t>
            </a:r>
            <a:endParaRPr lang="en-US" sz="1450" dirty="0"/>
          </a:p>
        </p:txBody>
      </p:sp>
      <p:sp>
        <p:nvSpPr>
          <p:cNvPr id="28" name="Text 25"/>
          <p:cNvSpPr/>
          <p:nvPr/>
        </p:nvSpPr>
        <p:spPr>
          <a:xfrm>
            <a:off x="9509760" y="443484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~15 min</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7 · AI for Workload   |   35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her two tasks, her protected list's first line.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 AT THE DOOR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Your two templated tasks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first line of your protected list</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The task you still want help automating</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doubles as the school's PD documentation</a:t>
            </a:r>
            <a:endParaRPr lang="en-US" sz="2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622792" y="6428232"/>
            <a:ext cx="315468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7 · AI for Workload   |   36</a:t>
            </a:r>
            <a:endParaRPr lang="en-US" sz="900" dirty="0"/>
          </a:p>
        </p:txBody>
      </p:sp>
      <p:sp>
        <p:nvSpPr>
          <p:cNvPr id="5" name="Text 2"/>
          <p:cNvSpPr/>
          <p:nvPr/>
        </p:nvSpPr>
        <p:spPr>
          <a:xfrm>
            <a:off x="822960" y="1645920"/>
            <a:ext cx="10515600" cy="1554480"/>
          </a:xfrm>
          <a:prstGeom prst="rect">
            <a:avLst/>
          </a:prstGeom>
          <a:noFill/>
          <a:ln/>
        </p:spPr>
        <p:txBody>
          <a:bodyPr wrap="square" lIns="0" tIns="0" rIns="0" bIns="0" rtlCol="0" anchor="ctr"/>
          <a:lstStyle/>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Nobody became a teacher</a:t>
            </a:r>
            <a:endParaRPr lang="en-US" sz="3800" dirty="0"/>
          </a:p>
          <a:p>
            <a:pPr indent="0" marL="0">
              <a:lnSpc>
                <a:spcPct val="115000"/>
              </a:lnSpc>
              <a:buNone/>
            </a:pPr>
            <a:r>
              <a:rPr lang="en-US" sz="3800" b="1" dirty="0">
                <a:solidFill>
                  <a:srgbClr val="FFFFFF"/>
                </a:solidFill>
                <a:latin typeface="Inter" pitchFamily="34" charset="0"/>
                <a:ea typeface="Inter" pitchFamily="34" charset="-122"/>
                <a:cs typeface="Inter" pitchFamily="34" charset="-120"/>
              </a:rPr>
              <a:t>to feed the pile.</a:t>
            </a:r>
            <a:endParaRPr lang="en-US" sz="3800" dirty="0"/>
          </a:p>
        </p:txBody>
      </p:sp>
      <p:sp>
        <p:nvSpPr>
          <p:cNvPr id="6" name="Text 3"/>
          <p:cNvSpPr/>
          <p:nvPr/>
        </p:nvSpPr>
        <p:spPr>
          <a:xfrm>
            <a:off x="822960" y="3474720"/>
            <a:ext cx="10332720" cy="1005840"/>
          </a:xfrm>
          <a:prstGeom prst="rect">
            <a:avLst/>
          </a:prstGeom>
          <a:noFill/>
          <a:ln/>
        </p:spPr>
        <p:txBody>
          <a:bodyPr wrap="square" lIns="0" tIns="0" rIns="0" bIns="0" rtlCol="0" anchor="ctr"/>
          <a:lstStyle/>
          <a:p>
            <a:pPr indent="0" marL="0">
              <a:buNone/>
            </a:pPr>
            <a:r>
              <a:rPr lang="en-US" sz="2100" dirty="0">
                <a:solidFill>
                  <a:srgbClr val="C9D4DE"/>
                </a:solidFill>
                <a:latin typeface="Inter" pitchFamily="34" charset="0"/>
                <a:ea typeface="Inter" pitchFamily="34" charset="-122"/>
                <a:cs typeface="Inter" pitchFamily="34" charset="-120"/>
              </a:rPr>
              <a:t>The pile just got cheaper to feed, and the hours it was eating are on their way back. Spend them like they matter, because they always did.</a:t>
            </a:r>
            <a:endParaRPr lang="en-US" sz="2100" dirty="0"/>
          </a:p>
        </p:txBody>
      </p:sp>
      <p:sp>
        <p:nvSpPr>
          <p:cNvPr id="7" name="Text 4"/>
          <p:cNvSpPr/>
          <p:nvPr/>
        </p:nvSpPr>
        <p:spPr>
          <a:xfrm>
            <a:off x="822960" y="5120640"/>
            <a:ext cx="10332720" cy="45720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Next: Kit 8 · Building Your School's AI Culture (the Track A capstone)</a:t>
            </a:r>
            <a:endParaRPr lang="en-US" sz="1600" dirty="0"/>
          </a:p>
        </p:txBody>
      </p:sp>
      <p:sp>
        <p:nvSpPr>
          <p:cNvPr id="8" name="Text 5"/>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the hour. Go take one back.</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7: AI for Workload: Winning Back an Hour a Week</dc:title>
  <dc:subject>PptxGenJS Presentation</dc:subject>
  <dc:creator>Adam &amp; Katelyn Spinozzi</dc:creator>
  <cp:lastModifiedBy>Adam &amp; Katelyn Spinozzi</cp:lastModifiedBy>
  <cp:revision>1</cp:revision>
  <dcterms:created xsi:type="dcterms:W3CDTF">2026-08-15T13:52:09Z</dcterms:created>
  <dcterms:modified xsi:type="dcterms:W3CDTF">2026-08-15T13:52:09Z</dcterms:modified>
</cp:coreProperties>
</file>