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one hard rule on data and the four-part prompt formula are both in force and will be reused, not retaught.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Maryland Senate Bill 720, now Chapter 634 of the 2026 Laws of Maryland, requires statewide teacher AI training through a train-the-trainer model, with the law’s own stated intent of finishing by July 1, 2027. It also requires every local school system to name an AI coordinator and requires the state to publish a rubric districts use to evaluate AI tools before buying them. Virginia’s HB 1186 and SB 394, effective July 1, 2026, direct the state to issue AI guidance that includes professional development for educators. Ohio’s HB 96 requires every public district to adopt a formal AI policy by July 1, 2026 (a policy mandate, not a training one; keep those two separate if asked). The 77-bills-27-states figure is FutureEd’s legislative tracker, not an estimate. Full citations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not a sales pitch, it is context for why a principal or PD coordinator is in the room. If the law in your state is different, the shape is the same everywhere: districts are being told to fund this, and a session that ends in a working tool is the easiest line item to defend at a budget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2026 surveys, two different angles, same finding: almost nobody has gotten real AI training yet. That is not a knock on this staff; it is the honest starting line. Agenda in one breath: the one rule, what vibe coding is, a live demo of the loop, one change together, then a 30-minute protected lab where everyone builds their own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rule as Kit 1, restated because this session is hands-on and hands-on is where rules get forgotten. Today’s tool has nowhere for a child’s data to even go: a review game holds questions, answers, and a title. Say that out loud before a single laptop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term because the room already has an opinion about it. Vibe coding, coined by Andrej Karpathy in early 2025, describes building software by describing it in natural language and letting an AI model write and revise the code, with the human testing and directing rather than typing syntax.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protects the session’s credibility. Every product in this series says plainly what the teacher did and did not build; today is no exception. Landing this early means nobody feels misled in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loop is the entire session compressed to four words, and it is what every step from here forward demonstrates, then lets the room practice, then hands off. Point back to this slide anytime someone asks "what do I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you build your own, watch one built end to end. Ms. Rivera is our running example teacher across this whole series, a composite and not a real person. Her screen is the thing to copy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parts: her first instinct was too vague to act on, so she rewrote it with her real content pasted in and a boundary telling the tool what NOT to touch. That boundary line is the single most useful sentence in the whole session; it prevents almost every bad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what just happened plainly: the tool rewrote a block of the file. It did not invent a new program, and it did not touch the parts she told it to leave alone. That is the whole "build" step, every single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skip when they are in a hurry, and it is the one that catches real problems before forty students see them. Ms. Rivera’s typo is a normal, boring bug, exactly the kind testing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describe, build, test, change one thing, and then you are back at test. That loop is the entire skill. Everything in the lab is this same loop, run by each of you, on your own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this up honestly before the live mistake on the next slide, so it lands as expected rather than alarming. The Kit 1 rule rides along here too: you verify before you rely on anything it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on the projector, with your own account. Type "make my game better" and let the room watch the AI respond usefully to nothing in particular. This is scripted because it is the single most valuable ninety seconds in the session: name out loud exactly what was missing from the request, the same way you would coach a colleague. A vague result is not the tool failing; it is a teaching gift. Use the recovery line from the script if the demo produces something odd rather than merely unhelpful: acknowledge it, undo, and move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this as a step, not a tip, exactly like the script says. It is the answer to the most common thing that goes wrong in this lab, and it costs nothing to do every single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word before hands go on keyboards. This game architecturally cannot hold student data: there is no name field, no roster, no login. Say that out loud; it is a selling point, not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Devices out, files open, six minutes. This is the last checkpoint before independent work, so do not skip it even if the room is eager to jump ahead. Anyone stuck here gets help now, while the whole room is watching the same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off the slide, word for word, then give the room three minutes to run it. Circulate. This is deliberately small and low-risk: the point is proving the loop works on their machine, not making a meaningful game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to catch anyone who is stuck before the room splits up into the 30-minute lab, where a facilitator cannot debug forty screens at once. Do not move to the lab slide until every hand that went up has been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and the six support slides after it, stay up as reference for the whole 30-minute lab; you do not need to advance every minute. Track 1 is the default and is presented as the normal path, never the easier one. Circulate; the support slides answer most questions without you saying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leave-up reference slide. Point new arrivals or lost participants back to it rather than re-explaining verbally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block from the starter file, shown large so nobody has to hunt for it. The "idea" field is what lets the game bring a missed question back later; the "why" field is what it shows after a wrong answer. Both matter and both are one line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starting templates, not the only options; the handout lists three or four of each. The boundary sentence, "keep everything else the same," is doing real work in both examples; say that out loud if you have a spare moment while circulating.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this out by name at lab start, not as a footnote: "if you did not bring questions, that is normal, take three minutes right now." The prep guide asks for eight to ten in advance; expect a third of the room to arrive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in the handout carries this in full. Three or four people in most rooms will want this path; let them take it and check in rather than steering them back to Track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recovery line out loud the first time it happens in the room, then let the next person self-serve from the slide. A blank page is not a crisis; it is the single most common, single most fixable thing that happens in this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failure the whole "save a copy first" habit exists for. If someone did not save a copy, they re-paste their original questions into the current file rather than starting over; either way, stay calm and visible about it, since a live recovery is more reassuring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rather than letting the room infer it. Honesty about what happened is worth more here than a bigger claim would be, and it matches what the deck has said since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upsell, stated once: the pattern taught here is the whole product of the Lane A build-along sessions already in the store, applied to a new classroom tool each time. Never promise a specific future session by number or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to three volunteers, a minute each, projected from their own laptop if the room allows it. A real recovery story lands better here than a clean success story; ask for one directly if nobody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A tool that never gets used in the room was a demo, not a commitment, and this session is built to avoid that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Distribute exit tickets and collect at the door; check with your district or state whether this hour qualifies for local PD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658368"/>
            <a:ext cx="1051560" cy="969264"/>
          </a:xfrm>
          <a:prstGeom prst="rect">
            <a:avLst/>
          </a:prstGeom>
        </p:spPr>
      </p:pic>
      <p:sp>
        <p:nvSpPr>
          <p:cNvPr id="3" name="Text 0"/>
          <p:cNvSpPr/>
          <p:nvPr/>
        </p:nvSpPr>
        <p:spPr>
          <a:xfrm>
            <a:off x="1965960" y="886968"/>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514600"/>
            <a:ext cx="91440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2926080"/>
            <a:ext cx="10789920" cy="17373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Build Your First</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Classroom Tool</a:t>
            </a:r>
            <a:endParaRPr lang="en-US" sz="4400" dirty="0"/>
          </a:p>
        </p:txBody>
      </p:sp>
      <p:sp>
        <p:nvSpPr>
          <p:cNvPr id="6" name="Text 3"/>
          <p:cNvSpPr/>
          <p:nvPr/>
        </p:nvSpPr>
        <p:spPr>
          <a:xfrm>
            <a:off x="822960" y="4709160"/>
            <a:ext cx="10241280" cy="777240"/>
          </a:xfrm>
          <a:prstGeom prst="rect">
            <a:avLst/>
          </a:prstGeom>
          <a:noFill/>
          <a:ln/>
        </p:spPr>
        <p:txBody>
          <a:bodyPr wrap="square" lIns="0" tIns="0" rIns="0" bIns="0" rtlCol="0" anchor="ctr"/>
          <a:lstStyle/>
          <a:p>
            <a:pPr indent="0" marL="0">
              <a:lnSpc>
                <a:spcPct val="120000"/>
              </a:lnSpc>
              <a:buNone/>
            </a:pPr>
            <a:r>
              <a:rPr lang="en-US" sz="1700" dirty="0">
                <a:solidFill>
                  <a:srgbClr val="C9D4DE"/>
                </a:solidFill>
                <a:latin typeface="Inter" pitchFamily="34" charset="0"/>
                <a:ea typeface="Inter" pitchFamily="34" charset="-122"/>
                <a:cs typeface="Inter" pitchFamily="34" charset="-120"/>
              </a:rPr>
              <a:t>A 45–60 minute working session. Every teacher in the room leaves holding a review game they built, on their own device, that still runs with the wifi off.</a:t>
            </a:r>
            <a:endParaRPr lang="en-US" sz="1700" dirty="0"/>
          </a:p>
        </p:txBody>
      </p:sp>
      <p:sp>
        <p:nvSpPr>
          <p:cNvPr id="7" name="Text 4"/>
          <p:cNvSpPr/>
          <p:nvPr/>
        </p:nvSpPr>
        <p:spPr>
          <a:xfrm>
            <a:off x="822960" y="612648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mandate: the state just funded this hour. Her building goes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ROOM, THIS YEAR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This is not optional anymore</a:t>
            </a:r>
            <a:endParaRPr lang="en-US" sz="3200" dirty="0"/>
          </a:p>
        </p:txBody>
      </p:sp>
      <p:sp>
        <p:nvSpPr>
          <p:cNvPr id="14" name="Shape 11"/>
          <p:cNvSpPr/>
          <p:nvPr/>
        </p:nvSpPr>
        <p:spPr>
          <a:xfrm>
            <a:off x="640080" y="1554480"/>
            <a:ext cx="10972800" cy="1965960"/>
          </a:xfrm>
          <a:prstGeom prst="roundRect">
            <a:avLst>
              <a:gd name="adj" fmla="val 4186"/>
            </a:avLst>
          </a:prstGeom>
          <a:solidFill>
            <a:srgbClr val="F7F5F0"/>
          </a:solidFill>
          <a:ln w="12700">
            <a:solidFill>
              <a:srgbClr val="F7F5F0"/>
            </a:solidFill>
            <a:prstDash val="solid"/>
          </a:ln>
        </p:spPr>
      </p:sp>
      <p:sp>
        <p:nvSpPr>
          <p:cNvPr id="15" name="Text 12"/>
          <p:cNvSpPr/>
          <p:nvPr/>
        </p:nvSpPr>
        <p:spPr>
          <a:xfrm>
            <a:off x="960120" y="1737360"/>
            <a:ext cx="10332720" cy="16459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Maryland’s AI Ready Schools Act (SB 720) is now law: every local school system trains its teachers on AI, with the state’s own goal of finishing by July 1, 2027. Virginia and Ohio passed their own 2026 laws the same year.</a:t>
            </a:r>
            <a:endParaRPr lang="en-US" sz="1900" dirty="0"/>
          </a:p>
        </p:txBody>
      </p:sp>
      <p:sp>
        <p:nvSpPr>
          <p:cNvPr id="16" name="Shape 13"/>
          <p:cNvSpPr/>
          <p:nvPr/>
        </p:nvSpPr>
        <p:spPr>
          <a:xfrm>
            <a:off x="640080" y="3703320"/>
            <a:ext cx="10972800" cy="1600200"/>
          </a:xfrm>
          <a:prstGeom prst="roundRect">
            <a:avLst>
              <a:gd name="adj" fmla="val 5143"/>
            </a:avLst>
          </a:prstGeom>
          <a:solidFill>
            <a:srgbClr val="EAF5F3"/>
          </a:solidFill>
          <a:ln w="12700">
            <a:solidFill>
              <a:srgbClr val="EAF5F3"/>
            </a:solidFill>
            <a:prstDash val="solid"/>
          </a:ln>
        </p:spPr>
      </p:sp>
      <p:sp>
        <p:nvSpPr>
          <p:cNvPr id="17" name="Text 14"/>
          <p:cNvSpPr/>
          <p:nvPr/>
        </p:nvSpPr>
        <p:spPr>
          <a:xfrm>
            <a:off x="960120" y="3886200"/>
            <a:ext cx="4206240" cy="1234440"/>
          </a:xfrm>
          <a:prstGeom prst="rect">
            <a:avLst/>
          </a:prstGeom>
          <a:noFill/>
          <a:ln/>
        </p:spPr>
        <p:txBody>
          <a:bodyPr wrap="square" lIns="0" tIns="0" rIns="0" bIns="0" rtlCol="0" anchor="ctr"/>
          <a:lstStyle/>
          <a:p>
            <a:pPr indent="0" marL="0">
              <a:buNone/>
            </a:pPr>
            <a:r>
              <a:rPr lang="en-US" sz="3200" b="1" dirty="0">
                <a:solidFill>
                  <a:srgbClr val="2A9D8F"/>
                </a:solidFill>
                <a:latin typeface="Inter" pitchFamily="34" charset="0"/>
                <a:ea typeface="Inter" pitchFamily="34" charset="-122"/>
                <a:cs typeface="Inter" pitchFamily="34" charset="-120"/>
              </a:rPr>
              <a:t>77 bills, 27 states</a:t>
            </a:r>
            <a:endParaRPr lang="en-US" sz="3200" dirty="0"/>
          </a:p>
        </p:txBody>
      </p:sp>
      <p:sp>
        <p:nvSpPr>
          <p:cNvPr id="18" name="Text 15"/>
          <p:cNvSpPr/>
          <p:nvPr/>
        </p:nvSpPr>
        <p:spPr>
          <a:xfrm>
            <a:off x="5303520" y="3886200"/>
            <a:ext cx="6035040" cy="12344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That is how many AI-in-education bills moved through state legislatures in the 2026 session alone. This is not one state. It is a direction.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math: one purchase, the whole staff, half price after the first seat.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THIS ROOM DOES NOT HAVE TO FUND IT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money is already district money</a:t>
            </a:r>
            <a:endParaRPr lang="en-US" sz="2800" dirty="0"/>
          </a:p>
        </p:txBody>
      </p:sp>
      <p:sp>
        <p:nvSpPr>
          <p:cNvPr id="14" name="Text 11"/>
          <p:cNvSpPr/>
          <p:nvPr/>
        </p:nvSpPr>
        <p:spPr>
          <a:xfrm>
            <a:off x="640080" y="1508760"/>
            <a:ext cx="10908792" cy="30175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Maryland’s law is explicit: teachers must be compensated for this training with time, money, or recertification credits, and may not be charged to attend</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district that owes its staff this training can buy it once, for the whole building, on a single purchase order</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session, every license half price after the first: a 40-person staff is one transaction, not 40</a:t>
            </a:r>
            <a:endParaRPr lang="en-US" sz="2100" dirty="0"/>
          </a:p>
        </p:txBody>
      </p:sp>
      <p:sp>
        <p:nvSpPr>
          <p:cNvPr id="15" name="Shape 12"/>
          <p:cNvSpPr/>
          <p:nvPr/>
        </p:nvSpPr>
        <p:spPr>
          <a:xfrm>
            <a:off x="640080" y="4709160"/>
            <a:ext cx="10972800" cy="960120"/>
          </a:xfrm>
          <a:prstGeom prst="roundRect">
            <a:avLst>
              <a:gd name="adj" fmla="val 8571"/>
            </a:avLst>
          </a:prstGeom>
          <a:solidFill>
            <a:srgbClr val="13293D"/>
          </a:solidFill>
          <a:ln w="12700">
            <a:solidFill>
              <a:srgbClr val="13293D"/>
            </a:solidFill>
            <a:prstDash val="solid"/>
          </a:ln>
        </p:spPr>
      </p:sp>
      <p:sp>
        <p:nvSpPr>
          <p:cNvPr id="16" name="Text 13"/>
          <p:cNvSpPr/>
          <p:nvPr/>
        </p:nvSpPr>
        <p:spPr>
          <a:xfrm>
            <a:off x="960120" y="4709160"/>
            <a:ext cx="10332720" cy="960120"/>
          </a:xfrm>
          <a:prstGeom prst="rect">
            <a:avLst/>
          </a:prstGeom>
          <a:noFill/>
          <a:ln/>
        </p:spPr>
        <p:txBody>
          <a:bodyPr wrap="square" lIns="0" tIns="0" rIns="0" bIns="0" rtlCol="0" anchor="ctr"/>
          <a:lstStyle/>
          <a:p>
            <a:pPr indent="0" marL="0">
              <a:buNone/>
            </a:pPr>
            <a:r>
              <a:rPr lang="en-US" sz="2100" b="1" dirty="0">
                <a:solidFill>
                  <a:srgbClr val="FFFFFF"/>
                </a:solidFill>
                <a:latin typeface="Inter" pitchFamily="34" charset="0"/>
                <a:ea typeface="Inter" pitchFamily="34" charset="-122"/>
                <a:cs typeface="Inter" pitchFamily="34" charset="-120"/>
              </a:rPr>
              <a:t>This kit is written for exactly that purchase order.</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gap: no formal guidance yet, same as most of the room.</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MOST ROOMS ARE STARTING FROM ZERO</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gap this hour closes</a:t>
            </a:r>
            <a:endParaRPr lang="en-US" sz="3200" dirty="0"/>
          </a:p>
        </p:txBody>
      </p:sp>
      <p:sp>
        <p:nvSpPr>
          <p:cNvPr id="14" name="Shape 11"/>
          <p:cNvSpPr/>
          <p:nvPr/>
        </p:nvSpPr>
        <p:spPr>
          <a:xfrm>
            <a:off x="640080" y="1554480"/>
            <a:ext cx="5257800" cy="3200400"/>
          </a:xfrm>
          <a:prstGeom prst="roundRect">
            <a:avLst>
              <a:gd name="adj" fmla="val 2571"/>
            </a:avLst>
          </a:prstGeom>
          <a:solidFill>
            <a:srgbClr val="F7F5F0"/>
          </a:solidFill>
          <a:ln w="12700">
            <a:solidFill>
              <a:srgbClr val="F7F5F0"/>
            </a:solidFill>
            <a:prstDash val="solid"/>
          </a:ln>
        </p:spPr>
      </p:sp>
      <p:sp>
        <p:nvSpPr>
          <p:cNvPr id="15" name="Text 12"/>
          <p:cNvSpPr/>
          <p:nvPr/>
        </p:nvSpPr>
        <p:spPr>
          <a:xfrm>
            <a:off x="640080" y="182880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82%</a:t>
            </a:r>
            <a:endParaRPr lang="en-US" sz="5800" dirty="0"/>
          </a:p>
        </p:txBody>
      </p:sp>
      <p:sp>
        <p:nvSpPr>
          <p:cNvPr id="16" name="Text 13"/>
          <p:cNvSpPr/>
          <p:nvPr/>
        </p:nvSpPr>
        <p:spPr>
          <a:xfrm>
            <a:off x="914400" y="2971800"/>
            <a:ext cx="4709160" cy="160020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report receiving no formal guidance on using AI in their work (Gallup &amp; Walton Family Fdn., 2026)</a:t>
            </a:r>
            <a:endParaRPr lang="en-US" sz="1600" dirty="0"/>
          </a:p>
        </p:txBody>
      </p:sp>
      <p:sp>
        <p:nvSpPr>
          <p:cNvPr id="17" name="Shape 14"/>
          <p:cNvSpPr/>
          <p:nvPr/>
        </p:nvSpPr>
        <p:spPr>
          <a:xfrm>
            <a:off x="6263640" y="1554480"/>
            <a:ext cx="5257800" cy="3200400"/>
          </a:xfrm>
          <a:prstGeom prst="roundRect">
            <a:avLst>
              <a:gd name="adj" fmla="val 2571"/>
            </a:avLst>
          </a:prstGeom>
          <a:solidFill>
            <a:srgbClr val="F7F5F0"/>
          </a:solidFill>
          <a:ln w="12700">
            <a:solidFill>
              <a:srgbClr val="F7F5F0"/>
            </a:solidFill>
            <a:prstDash val="solid"/>
          </a:ln>
        </p:spPr>
      </p:sp>
      <p:sp>
        <p:nvSpPr>
          <p:cNvPr id="18" name="Text 15"/>
          <p:cNvSpPr/>
          <p:nvPr/>
        </p:nvSpPr>
        <p:spPr>
          <a:xfrm>
            <a:off x="6263640" y="182880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20%</a:t>
            </a:r>
            <a:endParaRPr lang="en-US" sz="5800" dirty="0"/>
          </a:p>
        </p:txBody>
      </p:sp>
      <p:sp>
        <p:nvSpPr>
          <p:cNvPr id="19" name="Text 16"/>
          <p:cNvSpPr/>
          <p:nvPr/>
        </p:nvSpPr>
        <p:spPr>
          <a:xfrm>
            <a:off x="6537960" y="2971800"/>
            <a:ext cx="4709160" cy="160020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report receiving extensive AI training; 42% name a lack of training as their top barrier (IBM/Morning Consult, 2026)</a:t>
            </a:r>
            <a:endParaRPr lang="en-US" sz="1600" dirty="0"/>
          </a:p>
        </p:txBody>
      </p:sp>
      <p:sp>
        <p:nvSpPr>
          <p:cNvPr id="20" name="Text 17"/>
          <p:cNvSpPr/>
          <p:nvPr/>
        </p:nvSpPr>
        <p:spPr>
          <a:xfrm>
            <a:off x="640080" y="507492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Today this room stops being part of that number.</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Build Your First Classroom Tool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 rule, before anything opens: no student data in any prompt, ever.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OPENS</a:t>
            </a:r>
            <a:endParaRPr lang="en-US" sz="1200" dirty="0"/>
          </a:p>
        </p:txBody>
      </p:sp>
      <p:sp>
        <p:nvSpPr>
          <p:cNvPr id="13" name="Text 10"/>
          <p:cNvSpPr/>
          <p:nvPr/>
        </p:nvSpPr>
        <p:spPr>
          <a:xfrm>
            <a:off x="640080" y="137160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one hard rule</a:t>
            </a:r>
            <a:endParaRPr lang="en-US" sz="4000" dirty="0"/>
          </a:p>
        </p:txBody>
      </p:sp>
      <p:sp>
        <p:nvSpPr>
          <p:cNvPr id="14" name="Text 11"/>
          <p:cNvSpPr/>
          <p:nvPr/>
        </p:nvSpPr>
        <p:spPr>
          <a:xfrm>
            <a:off x="640080" y="2377440"/>
            <a:ext cx="10972800" cy="137160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 student’s name, score, grade, IEP status, behavior record, or writing sample ever enters a prompt. Not today, not with your own class, not as an example.</a:t>
            </a:r>
            <a:endParaRPr lang="en-US" sz="2400" dirty="0"/>
          </a:p>
        </p:txBody>
      </p:sp>
      <p:sp>
        <p:nvSpPr>
          <p:cNvPr id="15" name="Text 12"/>
          <p:cNvSpPr/>
          <p:nvPr/>
        </p:nvSpPr>
        <p:spPr>
          <a:xfrm>
            <a:off x="640080" y="4114800"/>
            <a:ext cx="10972800" cy="9144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Everything you build today is questions, answers, and a title. Nothing about a child.</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definition: describe what you want, in English, and test what comes back.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WORD EVERYONE WILL ASK ABOUT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“vibe coding” actually means</a:t>
            </a:r>
            <a:endParaRPr lang="en-US" sz="2800" dirty="0"/>
          </a:p>
        </p:txBody>
      </p:sp>
      <p:sp>
        <p:nvSpPr>
          <p:cNvPr id="14" name="Shape 11"/>
          <p:cNvSpPr/>
          <p:nvPr/>
        </p:nvSpPr>
        <p:spPr>
          <a:xfrm>
            <a:off x="640080" y="1600200"/>
            <a:ext cx="10972800" cy="1828800"/>
          </a:xfrm>
          <a:prstGeom prst="roundRect">
            <a:avLst>
              <a:gd name="adj" fmla="val 4500"/>
            </a:avLst>
          </a:prstGeom>
          <a:solidFill>
            <a:srgbClr val="EAF5F3"/>
          </a:solidFill>
          <a:ln w="12700">
            <a:solidFill>
              <a:srgbClr val="EAF5F3"/>
            </a:solidFill>
            <a:prstDash val="solid"/>
          </a:ln>
        </p:spPr>
      </p:sp>
      <p:sp>
        <p:nvSpPr>
          <p:cNvPr id="15" name="Text 12"/>
          <p:cNvSpPr/>
          <p:nvPr/>
        </p:nvSpPr>
        <p:spPr>
          <a:xfrm>
            <a:off x="960120" y="1783080"/>
            <a:ext cx="10332720" cy="14630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describe what you want, in plain English. The AI writes the code. You test what it made, and you keep describing changes until it does what you need.</a:t>
            </a:r>
            <a:endParaRPr lang="en-US" sz="2100" dirty="0"/>
          </a:p>
        </p:txBody>
      </p:sp>
      <p:sp>
        <p:nvSpPr>
          <p:cNvPr id="16" name="Text 13"/>
          <p:cNvSpPr/>
          <p:nvPr/>
        </p:nvSpPr>
        <p:spPr>
          <a:xfrm>
            <a:off x="640080" y="3749040"/>
            <a:ext cx="10908792" cy="146304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 programming class, no syntax to memorize, no semicolons to get right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You already know how to describe what you want. That is the whole skill.</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correction: still her content, her questions, her class. The AI types.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BECAUSE THE HONEST VERSION SELLS BETTER THAN THE MYTH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is not</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54864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Not magic</a:t>
            </a:r>
            <a:endParaRPr lang="en-US" sz="1900" dirty="0"/>
          </a:p>
        </p:txBody>
      </p:sp>
      <p:sp>
        <p:nvSpPr>
          <p:cNvPr id="16" name="Text 13"/>
          <p:cNvSpPr/>
          <p:nvPr/>
        </p:nvSpPr>
        <p:spPr>
          <a:xfrm>
            <a:off x="896112" y="2423160"/>
            <a:ext cx="3017520" cy="219456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Every good result traces to a clear, specific description. Vague in, broken out, same as any prompt.</a:t>
            </a:r>
            <a:endParaRPr lang="en-US" sz="16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54864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Not hands-off</a:t>
            </a:r>
            <a:endParaRPr lang="en-US" sz="1900" dirty="0"/>
          </a:p>
        </p:txBody>
      </p:sp>
      <p:sp>
        <p:nvSpPr>
          <p:cNvPr id="19" name="Text 16"/>
          <p:cNvSpPr/>
          <p:nvPr/>
        </p:nvSpPr>
        <p:spPr>
          <a:xfrm>
            <a:off x="4663440" y="2423160"/>
            <a:ext cx="3017520" cy="219456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read every line it changes, you test every change, and you decide what ships.</a:t>
            </a:r>
            <a:endParaRPr lang="en-US" sz="16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54864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Not "from scratch"</a:t>
            </a:r>
            <a:endParaRPr lang="en-US" sz="1900" dirty="0"/>
          </a:p>
        </p:txBody>
      </p:sp>
      <p:sp>
        <p:nvSpPr>
          <p:cNvPr id="22" name="Text 19"/>
          <p:cNvSpPr/>
          <p:nvPr/>
        </p:nvSpPr>
        <p:spPr>
          <a:xfrm>
            <a:off x="8430768" y="2423160"/>
            <a:ext cx="3017520" cy="219456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Today you change a working program by describing what you want. That is the real, transferable skill.</a:t>
            </a:r>
            <a:endParaRPr lang="en-US" sz="1600" dirty="0"/>
          </a:p>
        </p:txBody>
      </p:sp>
      <p:sp>
        <p:nvSpPr>
          <p:cNvPr id="23" name="Text 20"/>
          <p:cNvSpPr/>
          <p:nvPr/>
        </p:nvSpPr>
        <p:spPr>
          <a:xfrm>
            <a:off x="640080" y="5074920"/>
            <a:ext cx="10972800" cy="54864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Claiming you wrote this from nothing would be a lie your buyer, or your class, catches in a minute. Say what really happened. It is the better story anyway.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Build Your First Classroom Tool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loop, named: describe, build, test, change one thing.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ONE LOOP, FOUR WORDS</a:t>
            </a:r>
            <a:endParaRPr lang="en-US" sz="1200" dirty="0"/>
          </a:p>
        </p:txBody>
      </p:sp>
      <p:sp>
        <p:nvSpPr>
          <p:cNvPr id="13" name="Text 10"/>
          <p:cNvSpPr/>
          <p:nvPr/>
        </p:nvSpPr>
        <p:spPr>
          <a:xfrm>
            <a:off x="640080" y="1463040"/>
            <a:ext cx="10972800" cy="118872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Inter" pitchFamily="34" charset="0"/>
                <a:ea typeface="Inter" pitchFamily="34" charset="-122"/>
                <a:cs typeface="Inter" pitchFamily="34" charset="-120"/>
              </a:rPr>
              <a:t>Describe. Build. Test. Change one thing.</a:t>
            </a:r>
            <a:endParaRPr lang="en-US" sz="3800" dirty="0"/>
          </a:p>
        </p:txBody>
      </p:sp>
      <p:sp>
        <p:nvSpPr>
          <p:cNvPr id="14" name="Text 11"/>
          <p:cNvSpPr/>
          <p:nvPr/>
        </p:nvSpPr>
        <p:spPr>
          <a:xfrm>
            <a:off x="640080" y="2926080"/>
            <a:ext cx="5349240" cy="1508760"/>
          </a:xfrm>
          <a:prstGeom prst="rect">
            <a:avLst/>
          </a:prstGeom>
          <a:noFill/>
          <a:ln/>
        </p:spPr>
        <p:txBody>
          <a:bodyPr wrap="square" lIns="0" tIns="0" rIns="0" bIns="0" rtlCol="0" anchor="t"/>
          <a:lstStyle/>
          <a:p>
            <a:pPr indent="0" marL="0">
              <a:lnSpc>
                <a:spcPct val="120000"/>
              </a:lnSpc>
              <a:buNone/>
            </a:pPr>
            <a:r>
              <a:rPr lang="en-US" sz="1600" b="1" dirty="0">
                <a:solidFill>
                  <a:srgbClr val="2A9D8F"/>
                </a:solidFill>
                <a:latin typeface="Inter" pitchFamily="34" charset="0"/>
                <a:ea typeface="Inter" pitchFamily="34" charset="-122"/>
                <a:cs typeface="Inter" pitchFamily="34" charset="-120"/>
              </a:rPr>
              <a:t>Describe  </a:t>
            </a:r>
            <a:pPr indent="0" marL="0">
              <a:lnSpc>
                <a:spcPct val="120000"/>
              </a:lnSpc>
              <a:buNone/>
            </a:pPr>
            <a:r>
              <a:rPr lang="en-US" sz="1600" dirty="0">
                <a:solidFill>
                  <a:srgbClr val="C9D4DE"/>
                </a:solidFill>
                <a:latin typeface="Inter" pitchFamily="34" charset="0"/>
                <a:ea typeface="Inter" pitchFamily="34" charset="-122"/>
                <a:cs typeface="Inter" pitchFamily="34" charset="-120"/>
              </a:rPr>
              <a:t>Tell the AI what you want, specifically. Your questions, your subject, your rule.</a:t>
            </a:r>
            <a:endParaRPr lang="en-US" sz="1600" dirty="0"/>
          </a:p>
        </p:txBody>
      </p:sp>
      <p:sp>
        <p:nvSpPr>
          <p:cNvPr id="15" name="Text 12"/>
          <p:cNvSpPr/>
          <p:nvPr/>
        </p:nvSpPr>
        <p:spPr>
          <a:xfrm>
            <a:off x="6263640" y="2926080"/>
            <a:ext cx="5349240" cy="1508760"/>
          </a:xfrm>
          <a:prstGeom prst="rect">
            <a:avLst/>
          </a:prstGeom>
          <a:noFill/>
          <a:ln/>
        </p:spPr>
        <p:txBody>
          <a:bodyPr wrap="square" lIns="0" tIns="0" rIns="0" bIns="0" rtlCol="0" anchor="t"/>
          <a:lstStyle/>
          <a:p>
            <a:pPr indent="0" marL="0">
              <a:lnSpc>
                <a:spcPct val="120000"/>
              </a:lnSpc>
              <a:buNone/>
            </a:pPr>
            <a:r>
              <a:rPr lang="en-US" sz="1600" b="1" dirty="0">
                <a:solidFill>
                  <a:srgbClr val="2A9D8F"/>
                </a:solidFill>
                <a:latin typeface="Inter" pitchFamily="34" charset="0"/>
                <a:ea typeface="Inter" pitchFamily="34" charset="-122"/>
                <a:cs typeface="Inter" pitchFamily="34" charset="-120"/>
              </a:rPr>
              <a:t>Build  </a:t>
            </a:r>
            <a:pPr indent="0" marL="0">
              <a:lnSpc>
                <a:spcPct val="120000"/>
              </a:lnSpc>
              <a:buNone/>
            </a:pPr>
            <a:r>
              <a:rPr lang="en-US" sz="1600" dirty="0">
                <a:solidFill>
                  <a:srgbClr val="C9D4DE"/>
                </a:solidFill>
                <a:latin typeface="Inter" pitchFamily="34" charset="0"/>
                <a:ea typeface="Inter" pitchFamily="34" charset="-122"/>
                <a:cs typeface="Inter" pitchFamily="34" charset="-120"/>
              </a:rPr>
              <a:t>It writes the code. You watch it happen; you do not have to understand every line.</a:t>
            </a:r>
            <a:endParaRPr lang="en-US" sz="1600" dirty="0"/>
          </a:p>
        </p:txBody>
      </p:sp>
      <p:sp>
        <p:nvSpPr>
          <p:cNvPr id="16" name="Text 13"/>
          <p:cNvSpPr/>
          <p:nvPr/>
        </p:nvSpPr>
        <p:spPr>
          <a:xfrm>
            <a:off x="640080" y="4617720"/>
            <a:ext cx="5349240" cy="1508760"/>
          </a:xfrm>
          <a:prstGeom prst="rect">
            <a:avLst/>
          </a:prstGeom>
          <a:noFill/>
          <a:ln/>
        </p:spPr>
        <p:txBody>
          <a:bodyPr wrap="square" lIns="0" tIns="0" rIns="0" bIns="0" rtlCol="0" anchor="t"/>
          <a:lstStyle/>
          <a:p>
            <a:pPr indent="0" marL="0">
              <a:lnSpc>
                <a:spcPct val="120000"/>
              </a:lnSpc>
              <a:buNone/>
            </a:pPr>
            <a:r>
              <a:rPr lang="en-US" sz="1600" b="1" dirty="0">
                <a:solidFill>
                  <a:srgbClr val="2A9D8F"/>
                </a:solidFill>
                <a:latin typeface="Inter" pitchFamily="34" charset="0"/>
                <a:ea typeface="Inter" pitchFamily="34" charset="-122"/>
                <a:cs typeface="Inter" pitchFamily="34" charset="-120"/>
              </a:rPr>
              <a:t>Test  </a:t>
            </a:r>
            <a:pPr indent="0" marL="0">
              <a:lnSpc>
                <a:spcPct val="120000"/>
              </a:lnSpc>
              <a:buNone/>
            </a:pPr>
            <a:r>
              <a:rPr lang="en-US" sz="1600" dirty="0">
                <a:solidFill>
                  <a:srgbClr val="C9D4DE"/>
                </a:solidFill>
                <a:latin typeface="Inter" pitchFamily="34" charset="0"/>
                <a:ea typeface="Inter" pitchFamily="34" charset="-122"/>
                <a:cs typeface="Inter" pitchFamily="34" charset="-120"/>
              </a:rPr>
              <a:t>Play it yourself before anyone else does. Click every button.</a:t>
            </a:r>
            <a:endParaRPr lang="en-US" sz="1600" dirty="0"/>
          </a:p>
        </p:txBody>
      </p:sp>
      <p:sp>
        <p:nvSpPr>
          <p:cNvPr id="17" name="Text 14"/>
          <p:cNvSpPr/>
          <p:nvPr/>
        </p:nvSpPr>
        <p:spPr>
          <a:xfrm>
            <a:off x="6263640" y="4617720"/>
            <a:ext cx="5349240" cy="1508760"/>
          </a:xfrm>
          <a:prstGeom prst="rect">
            <a:avLst/>
          </a:prstGeom>
          <a:noFill/>
          <a:ln/>
        </p:spPr>
        <p:txBody>
          <a:bodyPr wrap="square" lIns="0" tIns="0" rIns="0" bIns="0" rtlCol="0" anchor="t"/>
          <a:lstStyle/>
          <a:p>
            <a:pPr indent="0" marL="0">
              <a:lnSpc>
                <a:spcPct val="120000"/>
              </a:lnSpc>
              <a:buNone/>
            </a:pPr>
            <a:r>
              <a:rPr lang="en-US" sz="1600" b="1" dirty="0">
                <a:solidFill>
                  <a:srgbClr val="2A9D8F"/>
                </a:solidFill>
                <a:latin typeface="Inter" pitchFamily="34" charset="0"/>
                <a:ea typeface="Inter" pitchFamily="34" charset="-122"/>
                <a:cs typeface="Inter" pitchFamily="34" charset="-120"/>
              </a:rPr>
              <a:t>Change one thing  </a:t>
            </a:r>
            <a:pPr indent="0" marL="0">
              <a:lnSpc>
                <a:spcPct val="120000"/>
              </a:lnSpc>
              <a:buNone/>
            </a:pPr>
            <a:r>
              <a:rPr lang="en-US" sz="1600" dirty="0">
                <a:solidFill>
                  <a:srgbClr val="C9D4DE"/>
                </a:solidFill>
                <a:latin typeface="Inter" pitchFamily="34" charset="0"/>
                <a:ea typeface="Inter" pitchFamily="34" charset="-122"/>
                <a:cs typeface="Inter" pitchFamily="34" charset="-120"/>
              </a:rPr>
              <a:t>Describe one change. Test again. One change at a time, every time.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for today: a multiplication-facts review game, her own 4th graders.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WATCH IT HAPPEN ONCE, LIVE, BEFORE YOU TRY IT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Ms. Rivera builds one game, start to finish</a:t>
            </a:r>
            <a:endParaRPr lang="en-US" sz="28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Her pick for today: a multiplication-facts review game for her own 4th graders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artifact, the whole way through the loop, on her actual screen</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Nothing she does here is faster than what you will do in the lab. Watch the moves, not the speed.</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LOOP, STEP 1 OF 4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Describe what you want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a review game.”</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coding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5000"/>
              </a:lnSpc>
              <a:buNone/>
            </a:pPr>
            <a:r>
              <a:rPr lang="en-US" sz="1700" b="1" dirty="0">
                <a:solidFill>
                  <a:srgbClr val="2A9D8F"/>
                </a:solidFill>
                <a:latin typeface="Inter" pitchFamily="34" charset="0"/>
                <a:ea typeface="Inter" pitchFamily="34" charset="-122"/>
                <a:cs typeface="Inter" pitchFamily="34" charset="-120"/>
              </a:rPr>
              <a:t>“I have a starter review game file. Replace the sample questions with these eight multiplication-facts questions </a:t>
            </a:r>
            <a:pPr indent="0" marL="0">
              <a:lnSpc>
                <a:spcPct val="125000"/>
              </a:lnSpc>
              <a:buNone/>
            </a:pPr>
            <a:r>
              <a:rPr lang="en-US" sz="1700" b="1" dirty="0">
                <a:solidFill>
                  <a:srgbClr val="13293D"/>
                </a:solidFill>
                <a:latin typeface="Inter" pitchFamily="34" charset="0"/>
                <a:ea typeface="Inter" pitchFamily="34" charset="-122"/>
                <a:cs typeface="Inter" pitchFamily="34" charset="-120"/>
              </a:rPr>
              <a:t>[she pastes her eight questions and answers], and change the title to “Multiplication Match-Up.” </a:t>
            </a:r>
            <a:pPr indent="0" marL="0">
              <a:lnSpc>
                <a:spcPct val="125000"/>
              </a:lnSpc>
              <a:buNone/>
            </a:pPr>
            <a:r>
              <a:rPr lang="en-US" sz="1700" b="1" dirty="0">
                <a:solidFill>
                  <a:srgbClr val="B07914"/>
                </a:solidFill>
                <a:latin typeface="Inter" pitchFamily="34" charset="0"/>
                <a:ea typeface="Inter" pitchFamily="34" charset="-122"/>
                <a:cs typeface="Inter" pitchFamily="34" charset="-120"/>
              </a:rPr>
              <a:t>Keep everything else in the file exactly the way it works now.”</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Specific beats clever: her own questions, pasted in full, one clear title, one clear boundary (don’t touch what already works).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LOOP, STEP 2 OF 4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it writes, she watches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COMES BACK   </a:t>
            </a:r>
            <a:pPr indent="0" marL="0">
              <a:buNone/>
            </a:pPr>
            <a:r>
              <a:rPr lang="en-US" sz="1600" i="1" dirty="0">
                <a:solidFill>
                  <a:srgbClr val="5B6B7A"/>
                </a:solidFill>
                <a:latin typeface="Inter" pitchFamily="34" charset="0"/>
                <a:ea typeface="Inter" pitchFamily="34" charset="-122"/>
                <a:cs typeface="Inter" pitchFamily="34" charset="-120"/>
              </a:rPr>
              <a:t>the file, updated, with her eight questions in the block at the top and her new title in the title bar.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coding tool (any of them) · responding to Ms. Rivera</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5000"/>
              </a:lnSpc>
              <a:buNone/>
            </a:pPr>
            <a:r>
              <a:rPr lang="en-US" sz="1700" dirty="0">
                <a:solidFill>
                  <a:srgbClr val="1B1F24"/>
                </a:solidFill>
                <a:latin typeface="Inter" pitchFamily="34" charset="0"/>
                <a:ea typeface="Inter" pitchFamily="34" charset="-122"/>
                <a:cs typeface="Inter" pitchFamily="34" charset="-120"/>
              </a:rPr>
              <a:t>“Done. I replaced the QUESTIONS block with your eight multiplication questions and updated the title to “Multiplication Match-Up.” Everything else in the file is unchanged. Want to open it and try it?”</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She does not need to read the code. She needs to open the file and click around, which is the next step.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LOOP, STEP 3 OF 4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Test: she plays it herself, first</a:t>
            </a:r>
            <a:endParaRPr lang="en-US" sz="3200" dirty="0"/>
          </a:p>
        </p:txBody>
      </p:sp>
      <p:sp>
        <p:nvSpPr>
          <p:cNvPr id="7" name="Text 4"/>
          <p:cNvSpPr/>
          <p:nvPr/>
        </p:nvSpPr>
        <p:spPr>
          <a:xfrm>
            <a:off x="640080" y="1508760"/>
            <a:ext cx="10908792" cy="329184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She double-clicks the file. No install, no account, no wifi required</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She answers a question wrong on purpose, to see what happens</a:t>
            </a:r>
            <a:endParaRPr lang="en-US" sz="2000" dirty="0"/>
          </a:p>
          <a:p>
            <a:pPr marL="342900" indent="-342900">
              <a:spcAft>
                <a:spcPts val="1000"/>
              </a:spcAft>
              <a:buSzPct val="100000"/>
              <a:buChar char="•"/>
            </a:pPr>
            <a:r>
              <a:rPr lang="en-US" sz="2000" b="1" dirty="0">
                <a:solidFill>
                  <a:srgbClr val="2E7D5B"/>
                </a:solidFill>
                <a:latin typeface="Inter" pitchFamily="34" charset="0"/>
                <a:ea typeface="Inter" pitchFamily="34" charset="-122"/>
                <a:cs typeface="Inter" pitchFamily="34" charset="-120"/>
              </a:rPr>
              <a:t>She finds it: the game holds the correct answer on screen and says why, exactly like it should</a:t>
            </a:r>
            <a:endParaRPr lang="en-US" sz="2000" dirty="0"/>
          </a:p>
          <a:p>
            <a:pPr marL="342900" indent="-342900">
              <a:spcAft>
                <a:spcPts val="1000"/>
              </a:spcAft>
              <a:buSzPct val="100000"/>
              <a:buChar char="•"/>
            </a:pPr>
            <a:r>
              <a:rPr lang="en-US" sz="2000" b="1" dirty="0">
                <a:solidFill>
                  <a:srgbClr val="B4453A"/>
                </a:solidFill>
                <a:latin typeface="Inter" pitchFamily="34" charset="0"/>
                <a:ea typeface="Inter" pitchFamily="34" charset="-122"/>
                <a:cs typeface="Inter" pitchFamily="34" charset="-120"/>
              </a:rPr>
              <a:t>She also finds a problem: one of her answer choices is missing a word</a:t>
            </a:r>
            <a:endParaRPr lang="en-US" sz="2000" dirty="0"/>
          </a:p>
        </p:txBody>
      </p:sp>
      <p:sp>
        <p:nvSpPr>
          <p:cNvPr id="8" name="Shape 5"/>
          <p:cNvSpPr/>
          <p:nvPr/>
        </p:nvSpPr>
        <p:spPr>
          <a:xfrm>
            <a:off x="640080" y="5029200"/>
            <a:ext cx="10972800" cy="868680"/>
          </a:xfrm>
          <a:prstGeom prst="roundRect">
            <a:avLst>
              <a:gd name="adj" fmla="val 9474"/>
            </a:avLst>
          </a:prstGeom>
          <a:solidFill>
            <a:srgbClr val="EAF5F3"/>
          </a:solidFill>
          <a:ln w="12700">
            <a:solidFill>
              <a:srgbClr val="EAF5F3"/>
            </a:solidFill>
            <a:prstDash val="solid"/>
          </a:ln>
        </p:spPr>
      </p:sp>
      <p:sp>
        <p:nvSpPr>
          <p:cNvPr id="9" name="Text 6"/>
          <p:cNvSpPr/>
          <p:nvPr/>
        </p:nvSpPr>
        <p:spPr>
          <a:xfrm>
            <a:off x="960120" y="5029200"/>
            <a:ext cx="10332720" cy="8686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The rule: you play it before anyone else does. Every time.</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LOOP, STEP 4 OF 4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Change one thing, then test again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FIX   </a:t>
            </a:r>
            <a:pPr indent="0" marL="0">
              <a:buNone/>
            </a:pPr>
            <a:r>
              <a:rPr lang="en-US" sz="1600" i="1" dirty="0">
                <a:solidFill>
                  <a:srgbClr val="5B6B7A"/>
                </a:solidFill>
                <a:latin typeface="Inter" pitchFamily="34" charset="0"/>
                <a:ea typeface="Inter" pitchFamily="34" charset="-122"/>
                <a:cs typeface="Inter" pitchFamily="34" charset="-120"/>
              </a:rPr>
              <a:t>“In the second question, the third answer choice is missing the word ‘of.’ Fix that one answer choice and nothing else.”</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 verifying</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5000"/>
              </a:lnSpc>
              <a:buNone/>
            </a:pPr>
            <a:r>
              <a:rPr lang="en-US" sz="1700" dirty="0">
                <a:solidFill>
                  <a:srgbClr val="1B1F24"/>
                </a:solidFill>
                <a:latin typeface="Inter" pitchFamily="34" charset="0"/>
                <a:ea typeface="Inter" pitchFamily="34" charset="-122"/>
                <a:cs typeface="Inter" pitchFamily="34" charset="-120"/>
              </a:rPr>
              <a:t>She runs it. The typo is fixed. She plays the whole game again, start to finish, before she calls it done.</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One change, described precisely, tested again immediately. That is the loop, closed.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 it renamed a button she never asked it to touch.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YOU TRY IT YOURSELF</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gets wrong, honestly</a:t>
            </a:r>
            <a:endParaRPr lang="en-US" sz="3200" dirty="0"/>
          </a:p>
        </p:txBody>
      </p:sp>
      <p:sp>
        <p:nvSpPr>
          <p:cNvPr id="14" name="Text 11"/>
          <p:cNvSpPr/>
          <p:nvPr/>
        </p:nvSpPr>
        <p:spPr>
          <a:xfrm>
            <a:off x="640080" y="150876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can rename or move something you never asked it to touch</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can "fix" the wrong line if your request was ambiguous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cannot tell when it has misunderstood you. It will sound confident either way.</a:t>
            </a:r>
            <a:endParaRPr lang="en-US" sz="2100" dirty="0"/>
          </a:p>
        </p:txBody>
      </p:sp>
      <p:sp>
        <p:nvSpPr>
          <p:cNvPr id="15" name="Shape 12"/>
          <p:cNvSpPr/>
          <p:nvPr/>
        </p:nvSpPr>
        <p:spPr>
          <a:xfrm>
            <a:off x="640080" y="4206240"/>
            <a:ext cx="10972800" cy="1371600"/>
          </a:xfrm>
          <a:prstGeom prst="roundRect">
            <a:avLst>
              <a:gd name="adj" fmla="val 6000"/>
            </a:avLst>
          </a:prstGeom>
          <a:solidFill>
            <a:srgbClr val="13293D"/>
          </a:solidFill>
          <a:ln w="12700">
            <a:solidFill>
              <a:srgbClr val="13293D"/>
            </a:solidFill>
            <a:prstDash val="solid"/>
          </a:ln>
        </p:spPr>
      </p:sp>
      <p:sp>
        <p:nvSpPr>
          <p:cNvPr id="16" name="Text 13"/>
          <p:cNvSpPr/>
          <p:nvPr/>
        </p:nvSpPr>
        <p:spPr>
          <a:xfrm>
            <a:off x="960120" y="4206240"/>
            <a:ext cx="10332720" cy="1371600"/>
          </a:xfrm>
          <a:prstGeom prst="rect">
            <a:avLst/>
          </a:prstGeom>
          <a:noFill/>
          <a:ln/>
        </p:spPr>
        <p:txBody>
          <a:bodyPr wrap="square" lIns="0" tIns="0" rIns="0" bIns="0" rtlCol="0" anchor="ctr"/>
          <a:lstStyle/>
          <a:p>
            <a:pPr indent="0" marL="0">
              <a:buNone/>
            </a:pPr>
            <a:r>
              <a:rPr lang="en-US" sz="2000" b="1" dirty="0">
                <a:solidFill>
                  <a:srgbClr val="FFFFFF"/>
                </a:solidFill>
                <a:latin typeface="Inter" pitchFamily="34" charset="0"/>
                <a:ea typeface="Inter" pitchFamily="34" charset="-122"/>
                <a:cs typeface="Inter" pitchFamily="34" charset="-120"/>
              </a:rPr>
              <a:t>None of this is a reason not to build. It is the reason you always test before you trust.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live mistake: a vague ask got a vague fix. Watch her name what was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WATCH THIS GO WRONG, ON PURPOSE, RIGHT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 vague ask gets a vague fix</a:t>
            </a:r>
            <a:endParaRPr lang="en-US" sz="3200" dirty="0"/>
          </a:p>
        </p:txBody>
      </p:sp>
      <p:sp>
        <p:nvSpPr>
          <p:cNvPr id="14" name="Text 11"/>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THE VAGUE ASK   </a:t>
            </a:r>
            <a:pPr indent="0" marL="0">
              <a:buNone/>
            </a:pPr>
            <a:r>
              <a:rPr lang="en-US" sz="1600" i="1" dirty="0">
                <a:solidFill>
                  <a:srgbClr val="5B6B7A"/>
                </a:solidFill>
                <a:latin typeface="Inter" pitchFamily="34" charset="0"/>
                <a:ea typeface="Inter" pitchFamily="34" charset="-122"/>
                <a:cs typeface="Inter" pitchFamily="34" charset="-120"/>
              </a:rPr>
              <a:t>“Make my game better.”</a:t>
            </a:r>
            <a:endParaRPr lang="en-US" sz="1600" dirty="0"/>
          </a:p>
        </p:txBody>
      </p:sp>
      <p:sp>
        <p:nvSpPr>
          <p:cNvPr id="15" name="Shape 12"/>
          <p:cNvSpPr/>
          <p:nvPr/>
        </p:nvSpPr>
        <p:spPr>
          <a:xfrm>
            <a:off x="640080" y="1828800"/>
            <a:ext cx="10972800" cy="1828800"/>
          </a:xfrm>
          <a:prstGeom prst="roundRect">
            <a:avLst>
              <a:gd name="adj" fmla="val 4500"/>
            </a:avLst>
          </a:prstGeom>
          <a:solidFill>
            <a:srgbClr val="FBEFED"/>
          </a:solidFill>
          <a:ln w="12700">
            <a:solidFill>
              <a:srgbClr val="FBEFED"/>
            </a:solidFill>
            <a:prstDash val="solid"/>
          </a:ln>
        </p:spPr>
      </p:sp>
      <p:sp>
        <p:nvSpPr>
          <p:cNvPr id="16" name="Text 13"/>
          <p:cNvSpPr/>
          <p:nvPr/>
        </p:nvSpPr>
        <p:spPr>
          <a:xfrm>
            <a:off x="960120" y="2011680"/>
            <a:ext cx="10332720" cy="14630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What comes back: a generic change to something that was already fine, plus a paragraph of suggestions nobody asked for. Nothing is actually broken, but nothing useful happened either.</a:t>
            </a:r>
            <a:endParaRPr lang="en-US" sz="1800" dirty="0"/>
          </a:p>
        </p:txBody>
      </p:sp>
      <p:sp>
        <p:nvSpPr>
          <p:cNvPr id="17" name="Shape 14"/>
          <p:cNvSpPr/>
          <p:nvPr/>
        </p:nvSpPr>
        <p:spPr>
          <a:xfrm>
            <a:off x="640080" y="3886200"/>
            <a:ext cx="10972800" cy="1645920"/>
          </a:xfrm>
          <a:prstGeom prst="roundRect">
            <a:avLst>
              <a:gd name="adj" fmla="val 5000"/>
            </a:avLst>
          </a:prstGeom>
          <a:solidFill>
            <a:srgbClr val="EAF5F3"/>
          </a:solidFill>
          <a:ln w="12700">
            <a:solidFill>
              <a:srgbClr val="EAF5F3"/>
            </a:solidFill>
            <a:prstDash val="solid"/>
          </a:ln>
        </p:spPr>
      </p:sp>
      <p:sp>
        <p:nvSpPr>
          <p:cNvPr id="18" name="Text 15"/>
          <p:cNvSpPr/>
          <p:nvPr/>
        </p:nvSpPr>
        <p:spPr>
          <a:xfrm>
            <a:off x="960120" y="4069080"/>
            <a:ext cx="10332720" cy="128016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What was missing: a specific thing to change. "Better" is not an instruction. Compare it to slide 13: one sentence, one target, one test.</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now: save a copy before every prompt. Thirty seconds, no exceptions.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HABIT THAT MAKES EVERY MISTAKE REVERSIBLE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Save a copy before you prompt</a:t>
            </a:r>
            <a:endParaRPr lang="en-US" sz="3200" dirty="0"/>
          </a:p>
        </p:txBody>
      </p:sp>
      <p:sp>
        <p:nvSpPr>
          <p:cNvPr id="14" name="Shape 11"/>
          <p:cNvSpPr/>
          <p:nvPr/>
        </p:nvSpPr>
        <p:spPr>
          <a:xfrm>
            <a:off x="640080" y="1600200"/>
            <a:ext cx="10972800" cy="1920240"/>
          </a:xfrm>
          <a:prstGeom prst="roundRect">
            <a:avLst>
              <a:gd name="adj" fmla="val 4286"/>
            </a:avLst>
          </a:prstGeom>
          <a:solidFill>
            <a:srgbClr val="EAF5F3"/>
          </a:solidFill>
          <a:ln w="12700">
            <a:solidFill>
              <a:srgbClr val="EAF5F3"/>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Before any change you are not sure about, save a second copy of the file first. Thirty seconds, no exceptions. If a change goes wrong, you close the broken one and reopen the copy.</a:t>
            </a:r>
            <a:endParaRPr lang="en-US" sz="2000" dirty="0"/>
          </a:p>
        </p:txBody>
      </p:sp>
      <p:sp>
        <p:nvSpPr>
          <p:cNvPr id="16" name="Text 13"/>
          <p:cNvSpPr/>
          <p:nvPr/>
        </p:nvSpPr>
        <p:spPr>
          <a:xfrm>
            <a:off x="640080" y="3794760"/>
            <a:ext cx="10908792" cy="146304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The single most likely real failure in today’s lab: a change that rewrites the whole file and loses your questions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 saved copy turns that from a disaster into a thirty-second reset</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Build Your First Classroom Tool   |   17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rule slide, same as Kit 1: no child's name, score, or record in any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RESTATED, BECAUSE THE LAB STARTS NEXT</a:t>
            </a:r>
            <a:endParaRPr lang="en-US" sz="1200" dirty="0"/>
          </a:p>
        </p:txBody>
      </p:sp>
      <p:sp>
        <p:nvSpPr>
          <p:cNvPr id="13" name="Text 10"/>
          <p:cNvSpPr/>
          <p:nvPr/>
        </p:nvSpPr>
        <p:spPr>
          <a:xfrm>
            <a:off x="640080" y="1737360"/>
            <a:ext cx="10972800" cy="10058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No child’s data. Ever.</a:t>
            </a:r>
            <a:endParaRPr lang="en-US" sz="4400" dirty="0"/>
          </a:p>
        </p:txBody>
      </p:sp>
      <p:sp>
        <p:nvSpPr>
          <p:cNvPr id="14" name="Text 11"/>
          <p:cNvSpPr/>
          <p:nvPr/>
        </p:nvSpPr>
        <p:spPr>
          <a:xfrm>
            <a:off x="640080" y="2880360"/>
            <a:ext cx="10972800" cy="1371600"/>
          </a:xfrm>
          <a:prstGeom prst="rect">
            <a:avLst/>
          </a:prstGeom>
          <a:noFill/>
          <a:ln/>
        </p:spPr>
        <p:txBody>
          <a:bodyPr wrap="square" lIns="0" tIns="0" rIns="0" bIns="0" rtlCol="0" anchor="ctr"/>
          <a:lstStyle/>
          <a:p>
            <a:pPr indent="0" marL="0">
              <a:lnSpc>
                <a:spcPct val="125000"/>
              </a:lnSpc>
              <a:buNone/>
            </a:pPr>
            <a:r>
              <a:rPr lang="en-US" sz="2400" dirty="0">
                <a:solidFill>
                  <a:srgbClr val="C9D4DE"/>
                </a:solidFill>
                <a:latin typeface="Inter" pitchFamily="34" charset="0"/>
                <a:ea typeface="Inter" pitchFamily="34" charset="-122"/>
                <a:cs typeface="Inter" pitchFamily="34" charset="-120"/>
              </a:rPr>
              <a:t>Not a name, a score, a grade, an IEP note, a behavior record, or a writing sample. Not in your prompts today, and not in your classroom tomorrow. Including yours.</a:t>
            </a:r>
            <a:endParaRPr lang="en-US" sz="2400" dirty="0"/>
          </a:p>
        </p:txBody>
      </p:sp>
      <p:sp>
        <p:nvSpPr>
          <p:cNvPr id="15" name="Text 12"/>
          <p:cNvSpPr/>
          <p:nvPr/>
        </p:nvSpPr>
        <p:spPr>
          <a:xfrm>
            <a:off x="640080" y="4572000"/>
            <a:ext cx="10972800" cy="822960"/>
          </a:xfrm>
          <a:prstGeom prst="rect">
            <a:avLst/>
          </a:prstGeom>
          <a:noFill/>
          <a:ln/>
        </p:spPr>
        <p:txBody>
          <a:bodyPr wrap="square" lIns="0" tIns="0" rIns="0" bIns="0" rtlCol="0" anchor="ctr"/>
          <a:lstStyle/>
          <a:p>
            <a:pPr indent="0" marL="0">
              <a:buNone/>
            </a:pPr>
            <a:r>
              <a:rPr lang="en-US" sz="1900" i="1" dirty="0">
                <a:solidFill>
                  <a:srgbClr val="2A9D8F"/>
                </a:solidFill>
                <a:latin typeface="Inter" pitchFamily="34" charset="0"/>
                <a:ea typeface="Inter" pitchFamily="34" charset="-122"/>
                <a:cs typeface="Inter" pitchFamily="34" charset="-120"/>
              </a:rPr>
              <a:t>This game holds questions, answers, and a title. There is nowhere for a child’s data to go, and that is by design.</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hand up first: one change, together, before anyone works alone.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CHANGE, TOGETHER, BEFORE ANYONE WORKS ALONE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Guided practice: everyone makes the same move</a:t>
            </a:r>
            <a:endParaRPr lang="en-US" sz="28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Open your starter file. Everyone, right now.</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We are going to make one small change together, on the board, projected</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Then you confirm it worked on your own screen before the lab opens up</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19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GUIDED PRACTICE · THE GROUP’S ONE PROMPT · DO THIS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Change the destination name</a:t>
            </a:r>
            <a:endParaRPr lang="en-US" sz="3200" dirty="0"/>
          </a:p>
        </p:txBody>
      </p:sp>
      <p:sp>
        <p:nvSpPr>
          <p:cNvPr id="7" name="Shape 4"/>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8" name="Shape 5"/>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90195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90195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90195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Type this into your AI tool, exactly as written, with your own name in the brackets</a:t>
            </a:r>
            <a:endParaRPr lang="en-US" sz="1100" dirty="0"/>
          </a:p>
        </p:txBody>
      </p:sp>
      <p:sp>
        <p:nvSpPr>
          <p:cNvPr id="13" name="Shape 10"/>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4" name="Text 11"/>
          <p:cNvSpPr/>
          <p:nvPr/>
        </p:nvSpPr>
        <p:spPr>
          <a:xfrm>
            <a:off x="1783080" y="2514600"/>
            <a:ext cx="9189720" cy="1874520"/>
          </a:xfrm>
          <a:prstGeom prst="rect">
            <a:avLst/>
          </a:prstGeom>
          <a:noFill/>
          <a:ln/>
        </p:spPr>
        <p:txBody>
          <a:bodyPr wrap="square" lIns="0" tIns="0" rIns="0" bIns="0" rtlCol="0" anchor="t"/>
          <a:lstStyle/>
          <a:p>
            <a:pPr indent="0" marL="0">
              <a:lnSpc>
                <a:spcPct val="130000"/>
              </a:lnSpc>
              <a:buNone/>
            </a:pPr>
            <a:r>
              <a:rPr lang="en-US" sz="1900" b="1" dirty="0">
                <a:solidFill>
                  <a:srgbClr val="13293D"/>
                </a:solidFill>
                <a:latin typeface="Inter" pitchFamily="34" charset="0"/>
                <a:ea typeface="Inter" pitchFamily="34" charset="-122"/>
                <a:cs typeface="Inter" pitchFamily="34" charset="-120"/>
              </a:rPr>
              <a:t>“Change the DESTINATION at the top of the file from ‘Fort Verity’ to [your school mascot or a place from your own subject]. Change nothing else.”</a:t>
            </a:r>
            <a:endParaRPr lang="en-US" sz="1900" dirty="0"/>
          </a:p>
        </p:txBody>
      </p:sp>
      <p:sp>
        <p:nvSpPr>
          <p:cNvPr id="15" name="Text 12"/>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 small, safe, visible change: everyone in the room can see whether it worked.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checkpoint: did the room's one change actually show up? Confirmed.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CHECKPOINT, BEFORE THE LAB OPENS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Raise a hand if it worked</a:t>
            </a:r>
            <a:endParaRPr lang="en-US" sz="32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Open your file. Does the new name show up on the title screen?</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If yes: you have the whole loop. Everything in the lab is this, repeated.</a:t>
            </a:r>
            <a:endParaRPr lang="en-US" sz="2200" dirty="0"/>
          </a:p>
          <a:p>
            <a:pPr marL="342900" indent="-342900">
              <a:spcAft>
                <a:spcPts val="1000"/>
              </a:spcAft>
              <a:buSzPct val="100000"/>
              <a:buChar char="•"/>
            </a:pPr>
            <a:r>
              <a:rPr lang="en-US" sz="2200" b="1" dirty="0">
                <a:solidFill>
                  <a:srgbClr val="B4453A"/>
                </a:solidFill>
                <a:latin typeface="Inter" pitchFamily="34" charset="0"/>
                <a:ea typeface="Inter" pitchFamily="34" charset="-122"/>
                <a:cs typeface="Inter" pitchFamily="34" charset="-120"/>
              </a:rPr>
              <a:t>If no: hands up, help is coming to you, not the other way around</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Build Your First Classroom Tool   |   21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same as yours: the starter file, her questions, two real changes.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30 MINUTES, PROTECTED</a:t>
            </a:r>
            <a:endParaRPr lang="en-US" sz="1200" dirty="0"/>
          </a:p>
        </p:txBody>
      </p:sp>
      <p:sp>
        <p:nvSpPr>
          <p:cNvPr id="13" name="Text 10"/>
          <p:cNvSpPr/>
          <p:nvPr/>
        </p:nvSpPr>
        <p:spPr>
          <a:xfrm>
            <a:off x="640080" y="123444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The lab: build your game.</a:t>
            </a:r>
            <a:endParaRPr lang="en-US" sz="4200" dirty="0"/>
          </a:p>
        </p:txBody>
      </p:sp>
      <p:sp>
        <p:nvSpPr>
          <p:cNvPr id="14" name="Shape 11"/>
          <p:cNvSpPr/>
          <p:nvPr/>
        </p:nvSpPr>
        <p:spPr>
          <a:xfrm>
            <a:off x="777240" y="2514600"/>
            <a:ext cx="457200" cy="457200"/>
          </a:xfrm>
          <a:prstGeom prst="ellipse">
            <a:avLst/>
          </a:prstGeom>
          <a:solidFill>
            <a:srgbClr val="2A9D8F"/>
          </a:solidFill>
          <a:ln w="12700">
            <a:solidFill>
              <a:srgbClr val="2A9D8F"/>
            </a:solidFill>
            <a:prstDash val="solid"/>
          </a:ln>
        </p:spPr>
      </p:sp>
      <p:sp>
        <p:nvSpPr>
          <p:cNvPr id="15" name="Text 12"/>
          <p:cNvSpPr/>
          <p:nvPr/>
        </p:nvSpPr>
        <p:spPr>
          <a:xfrm>
            <a:off x="777240"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16" name="Text 13"/>
          <p:cNvSpPr/>
          <p:nvPr/>
        </p:nvSpPr>
        <p:spPr>
          <a:xfrm>
            <a:off x="1417320" y="2468880"/>
            <a:ext cx="10058400" cy="1143000"/>
          </a:xfrm>
          <a:prstGeom prst="rect">
            <a:avLst/>
          </a:prstGeom>
          <a:noFill/>
          <a:ln/>
        </p:spPr>
        <p:txBody>
          <a:bodyPr wrap="square" lIns="0" tIns="0" rIns="0" bIns="0" rtlCol="0" anchor="t"/>
          <a:lstStyle/>
          <a:p>
            <a:pPr indent="0" marL="0">
              <a:lnSpc>
                <a:spcPct val="120000"/>
              </a:lnSpc>
              <a:buNone/>
            </a:pPr>
            <a:r>
              <a:rPr lang="en-US" sz="1700" b="1" dirty="0">
                <a:solidFill>
                  <a:srgbClr val="F4A825"/>
                </a:solidFill>
                <a:latin typeface="Inter" pitchFamily="34" charset="0"/>
                <a:ea typeface="Inter" pitchFamily="34" charset="-122"/>
                <a:cs typeface="Inter" pitchFamily="34" charset="-120"/>
              </a:rPr>
              <a:t>Track 1 (most of you)  </a:t>
            </a:r>
            <a:pPr indent="0" marL="0">
              <a:lnSpc>
                <a:spcPct val="120000"/>
              </a:lnSpc>
              <a:buNone/>
            </a:pPr>
            <a:r>
              <a:rPr lang="en-US" sz="1700" dirty="0">
                <a:solidFill>
                  <a:srgbClr val="C9D4DE"/>
                </a:solidFill>
                <a:latin typeface="Inter" pitchFamily="34" charset="0"/>
                <a:ea typeface="Inter" pitchFamily="34" charset="-122"/>
                <a:cs typeface="Inter" pitchFamily="34" charset="-120"/>
              </a:rPr>
              <a:t>Start from the starter file. Swap in your questions, then make two real changes by describing them.</a:t>
            </a:r>
            <a:endParaRPr lang="en-US" sz="1700" dirty="0"/>
          </a:p>
        </p:txBody>
      </p:sp>
      <p:sp>
        <p:nvSpPr>
          <p:cNvPr id="17" name="Shape 14"/>
          <p:cNvSpPr/>
          <p:nvPr/>
        </p:nvSpPr>
        <p:spPr>
          <a:xfrm>
            <a:off x="777240" y="3794760"/>
            <a:ext cx="457200" cy="457200"/>
          </a:xfrm>
          <a:prstGeom prst="ellipse">
            <a:avLst/>
          </a:prstGeom>
          <a:solidFill>
            <a:srgbClr val="2A9D8F"/>
          </a:solidFill>
          <a:ln w="12700">
            <a:solidFill>
              <a:srgbClr val="2A9D8F"/>
            </a:solidFill>
            <a:prstDash val="solid"/>
          </a:ln>
        </p:spPr>
      </p:sp>
      <p:sp>
        <p:nvSpPr>
          <p:cNvPr id="18" name="Text 15"/>
          <p:cNvSpPr/>
          <p:nvPr/>
        </p:nvSpPr>
        <p:spPr>
          <a:xfrm>
            <a:off x="777240" y="37947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a:t>
            </a:r>
            <a:endParaRPr lang="en-US" sz="1800" dirty="0"/>
          </a:p>
        </p:txBody>
      </p:sp>
      <p:sp>
        <p:nvSpPr>
          <p:cNvPr id="19" name="Text 16"/>
          <p:cNvSpPr/>
          <p:nvPr/>
        </p:nvSpPr>
        <p:spPr>
          <a:xfrm>
            <a:off x="1417320" y="3749040"/>
            <a:ext cx="10058400" cy="1143000"/>
          </a:xfrm>
          <a:prstGeom prst="rect">
            <a:avLst/>
          </a:prstGeom>
          <a:noFill/>
          <a:ln/>
        </p:spPr>
        <p:txBody>
          <a:bodyPr wrap="square" lIns="0" tIns="0" rIns="0" bIns="0" rtlCol="0" anchor="t"/>
          <a:lstStyle/>
          <a:p>
            <a:pPr indent="0" marL="0">
              <a:lnSpc>
                <a:spcPct val="120000"/>
              </a:lnSpc>
              <a:buNone/>
            </a:pPr>
            <a:r>
              <a:rPr lang="en-US" sz="1700" b="1" dirty="0">
                <a:solidFill>
                  <a:srgbClr val="F4A825"/>
                </a:solidFill>
                <a:latin typeface="Inter" pitchFamily="34" charset="0"/>
                <a:ea typeface="Inter" pitchFamily="34" charset="-122"/>
                <a:cs typeface="Inter" pitchFamily="34" charset="-120"/>
              </a:rPr>
              <a:t>Track 2 (a few of you)  </a:t>
            </a:r>
            <a:pPr indent="0" marL="0">
              <a:lnSpc>
                <a:spcPct val="120000"/>
              </a:lnSpc>
              <a:buNone/>
            </a:pPr>
            <a:r>
              <a:rPr lang="en-US" sz="1700" dirty="0">
                <a:solidFill>
                  <a:srgbClr val="C9D4DE"/>
                </a:solidFill>
                <a:latin typeface="Inter" pitchFamily="34" charset="0"/>
                <a:ea typeface="Inter" pitchFamily="34" charset="-122"/>
                <a:cs typeface="Inter" pitchFamily="34" charset="-120"/>
              </a:rPr>
              <a:t>Start from nothing, with the first prompt on the handout. Raise a hand; this is the normal path for you.</a:t>
            </a:r>
            <a:endParaRPr lang="en-US" sz="1700" dirty="0"/>
          </a:p>
        </p:txBody>
      </p:sp>
      <p:sp>
        <p:nvSpPr>
          <p:cNvPr id="20" name="Shape 17"/>
          <p:cNvSpPr/>
          <p:nvPr/>
        </p:nvSpPr>
        <p:spPr>
          <a:xfrm>
            <a:off x="777240" y="5074920"/>
            <a:ext cx="457200" cy="457200"/>
          </a:xfrm>
          <a:prstGeom prst="ellipse">
            <a:avLst/>
          </a:prstGeom>
          <a:solidFill>
            <a:srgbClr val="2A9D8F"/>
          </a:solidFill>
          <a:ln w="12700">
            <a:solidFill>
              <a:srgbClr val="2A9D8F"/>
            </a:solidFill>
            <a:prstDash val="solid"/>
          </a:ln>
        </p:spPr>
      </p:sp>
      <p:sp>
        <p:nvSpPr>
          <p:cNvPr id="21" name="Text 18"/>
          <p:cNvSpPr/>
          <p:nvPr/>
        </p:nvSpPr>
        <p:spPr>
          <a:xfrm>
            <a:off x="777240" y="5074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a:t>
            </a:r>
            <a:endParaRPr lang="en-US" sz="1800" dirty="0"/>
          </a:p>
        </p:txBody>
      </p:sp>
      <p:sp>
        <p:nvSpPr>
          <p:cNvPr id="22" name="Text 19"/>
          <p:cNvSpPr/>
          <p:nvPr/>
        </p:nvSpPr>
        <p:spPr>
          <a:xfrm>
            <a:off x="1417320" y="5029200"/>
            <a:ext cx="10058400" cy="1143000"/>
          </a:xfrm>
          <a:prstGeom prst="rect">
            <a:avLst/>
          </a:prstGeom>
          <a:noFill/>
          <a:ln/>
        </p:spPr>
        <p:txBody>
          <a:bodyPr wrap="square" lIns="0" tIns="0" rIns="0" bIns="0" rtlCol="0" anchor="t"/>
          <a:lstStyle/>
          <a:p>
            <a:pPr indent="0" marL="0">
              <a:lnSpc>
                <a:spcPct val="120000"/>
              </a:lnSpc>
              <a:buNone/>
            </a:pPr>
            <a:r>
              <a:rPr lang="en-US" sz="1700" b="1" dirty="0">
                <a:solidFill>
                  <a:srgbClr val="F4A825"/>
                </a:solidFill>
                <a:latin typeface="Inter" pitchFamily="34" charset="0"/>
                <a:ea typeface="Inter" pitchFamily="34" charset="-122"/>
                <a:cs typeface="Inter" pitchFamily="34" charset="-120"/>
              </a:rPr>
              <a:t>The one rule  </a:t>
            </a:r>
            <a:pPr indent="0" marL="0">
              <a:lnSpc>
                <a:spcPct val="120000"/>
              </a:lnSpc>
              <a:buNone/>
            </a:pPr>
            <a:r>
              <a:rPr lang="en-US" sz="1700" dirty="0">
                <a:solidFill>
                  <a:srgbClr val="C9D4DE"/>
                </a:solidFill>
                <a:latin typeface="Inter" pitchFamily="34" charset="0"/>
                <a:ea typeface="Inter" pitchFamily="34" charset="-122"/>
                <a:cs typeface="Inter" pitchFamily="34" charset="-120"/>
              </a:rPr>
              <a:t>No student information, ever. Save a copy before any change you are unsure about.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1: open the file, find the block at the top, replace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TRACK 1, STEP BY STEP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three moves</a:t>
            </a:r>
            <a:endParaRPr lang="en-US" sz="3200" dirty="0"/>
          </a:p>
        </p:txBody>
      </p:sp>
      <p:sp>
        <p:nvSpPr>
          <p:cNvPr id="14" name="Shape 11"/>
          <p:cNvSpPr/>
          <p:nvPr/>
        </p:nvSpPr>
        <p:spPr>
          <a:xfrm>
            <a:off x="640080" y="1508760"/>
            <a:ext cx="10972800" cy="1234440"/>
          </a:xfrm>
          <a:prstGeom prst="roundRect">
            <a:avLst>
              <a:gd name="adj" fmla="val 6667"/>
            </a:avLst>
          </a:prstGeom>
          <a:solidFill>
            <a:srgbClr val="F7F5F0"/>
          </a:solidFill>
          <a:ln w="12700">
            <a:solidFill>
              <a:srgbClr val="F7F5F0"/>
            </a:solidFill>
            <a:prstDash val="solid"/>
          </a:ln>
        </p:spPr>
      </p:sp>
      <p:sp>
        <p:nvSpPr>
          <p:cNvPr id="15" name="Shape 12"/>
          <p:cNvSpPr/>
          <p:nvPr/>
        </p:nvSpPr>
        <p:spPr>
          <a:xfrm>
            <a:off x="914400" y="1892808"/>
            <a:ext cx="502920" cy="502920"/>
          </a:xfrm>
          <a:prstGeom prst="ellipse">
            <a:avLst/>
          </a:prstGeom>
          <a:solidFill>
            <a:srgbClr val="2A9D8F"/>
          </a:solidFill>
          <a:ln w="12700">
            <a:solidFill>
              <a:srgbClr val="2A9D8F"/>
            </a:solidFill>
            <a:prstDash val="solid"/>
          </a:ln>
        </p:spPr>
      </p:sp>
      <p:sp>
        <p:nvSpPr>
          <p:cNvPr id="16" name="Text 13"/>
          <p:cNvSpPr/>
          <p:nvPr/>
        </p:nvSpPr>
        <p:spPr>
          <a:xfrm>
            <a:off x="914400" y="189280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45920" y="1655064"/>
            <a:ext cx="969264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Open the starter file</a:t>
            </a:r>
            <a:endParaRPr lang="en-US" sz="1900" dirty="0"/>
          </a:p>
        </p:txBody>
      </p:sp>
      <p:sp>
        <p:nvSpPr>
          <p:cNvPr id="18" name="Text 15"/>
          <p:cNvSpPr/>
          <p:nvPr/>
        </p:nvSpPr>
        <p:spPr>
          <a:xfrm>
            <a:off x="1645920" y="2130552"/>
            <a:ext cx="969264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Double-click it. It opens in your browser. Nothing to install.</a:t>
            </a:r>
            <a:endParaRPr lang="en-US" sz="1600" dirty="0"/>
          </a:p>
        </p:txBody>
      </p:sp>
      <p:sp>
        <p:nvSpPr>
          <p:cNvPr id="19" name="Shape 16"/>
          <p:cNvSpPr/>
          <p:nvPr/>
        </p:nvSpPr>
        <p:spPr>
          <a:xfrm>
            <a:off x="640080" y="2926080"/>
            <a:ext cx="10972800" cy="1234440"/>
          </a:xfrm>
          <a:prstGeom prst="roundRect">
            <a:avLst>
              <a:gd name="adj" fmla="val 6667"/>
            </a:avLst>
          </a:prstGeom>
          <a:solidFill>
            <a:srgbClr val="F7F5F0"/>
          </a:solidFill>
          <a:ln w="12700">
            <a:solidFill>
              <a:srgbClr val="F7F5F0"/>
            </a:solidFill>
            <a:prstDash val="solid"/>
          </a:ln>
        </p:spPr>
      </p:sp>
      <p:sp>
        <p:nvSpPr>
          <p:cNvPr id="20" name="Shape 17"/>
          <p:cNvSpPr/>
          <p:nvPr/>
        </p:nvSpPr>
        <p:spPr>
          <a:xfrm>
            <a:off x="914400" y="3310128"/>
            <a:ext cx="502920" cy="502920"/>
          </a:xfrm>
          <a:prstGeom prst="ellipse">
            <a:avLst/>
          </a:prstGeom>
          <a:solidFill>
            <a:srgbClr val="2A9D8F"/>
          </a:solidFill>
          <a:ln w="12700">
            <a:solidFill>
              <a:srgbClr val="2A9D8F"/>
            </a:solidFill>
            <a:prstDash val="solid"/>
          </a:ln>
        </p:spPr>
      </p:sp>
      <p:sp>
        <p:nvSpPr>
          <p:cNvPr id="21" name="Text 18"/>
          <p:cNvSpPr/>
          <p:nvPr/>
        </p:nvSpPr>
        <p:spPr>
          <a:xfrm>
            <a:off x="914400" y="33101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2" name="Text 19"/>
          <p:cNvSpPr/>
          <p:nvPr/>
        </p:nvSpPr>
        <p:spPr>
          <a:xfrm>
            <a:off x="1645920" y="3072384"/>
            <a:ext cx="969264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Replace the question block</a:t>
            </a:r>
            <a:endParaRPr lang="en-US" sz="1900" dirty="0"/>
          </a:p>
        </p:txBody>
      </p:sp>
      <p:sp>
        <p:nvSpPr>
          <p:cNvPr id="23" name="Text 20"/>
          <p:cNvSpPr/>
          <p:nvPr/>
        </p:nvSpPr>
        <p:spPr>
          <a:xfrm>
            <a:off x="1645920" y="3547872"/>
            <a:ext cx="969264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Find the block at the very top of the file. Swap in your eight to ten questions.</a:t>
            </a:r>
            <a:endParaRPr lang="en-US" sz="1600" dirty="0"/>
          </a:p>
        </p:txBody>
      </p:sp>
      <p:sp>
        <p:nvSpPr>
          <p:cNvPr id="24" name="Shape 21"/>
          <p:cNvSpPr/>
          <p:nvPr/>
        </p:nvSpPr>
        <p:spPr>
          <a:xfrm>
            <a:off x="640080" y="4343400"/>
            <a:ext cx="10972800" cy="1234440"/>
          </a:xfrm>
          <a:prstGeom prst="roundRect">
            <a:avLst>
              <a:gd name="adj" fmla="val 6667"/>
            </a:avLst>
          </a:prstGeom>
          <a:solidFill>
            <a:srgbClr val="F7F5F0"/>
          </a:solidFill>
          <a:ln w="12700">
            <a:solidFill>
              <a:srgbClr val="F7F5F0"/>
            </a:solidFill>
            <a:prstDash val="solid"/>
          </a:ln>
        </p:spPr>
      </p:sp>
      <p:sp>
        <p:nvSpPr>
          <p:cNvPr id="25" name="Shape 22"/>
          <p:cNvSpPr/>
          <p:nvPr/>
        </p:nvSpPr>
        <p:spPr>
          <a:xfrm>
            <a:off x="914400" y="4727448"/>
            <a:ext cx="502920" cy="502920"/>
          </a:xfrm>
          <a:prstGeom prst="ellipse">
            <a:avLst/>
          </a:prstGeom>
          <a:solidFill>
            <a:srgbClr val="2A9D8F"/>
          </a:solidFill>
          <a:ln w="12700">
            <a:solidFill>
              <a:srgbClr val="2A9D8F"/>
            </a:solidFill>
            <a:prstDash val="solid"/>
          </a:ln>
        </p:spPr>
      </p:sp>
      <p:sp>
        <p:nvSpPr>
          <p:cNvPr id="26" name="Text 23"/>
          <p:cNvSpPr/>
          <p:nvPr/>
        </p:nvSpPr>
        <p:spPr>
          <a:xfrm>
            <a:off x="914400" y="472744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7" name="Text 24"/>
          <p:cNvSpPr/>
          <p:nvPr/>
        </p:nvSpPr>
        <p:spPr>
          <a:xfrm>
            <a:off x="1645920" y="4489704"/>
            <a:ext cx="969264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Make two changes by describing them</a:t>
            </a:r>
            <a:endParaRPr lang="en-US" sz="1900" dirty="0"/>
          </a:p>
        </p:txBody>
      </p:sp>
      <p:sp>
        <p:nvSpPr>
          <p:cNvPr id="28" name="Text 25"/>
          <p:cNvSpPr/>
          <p:nvPr/>
        </p:nvSpPr>
        <p:spPr>
          <a:xfrm>
            <a:off x="1645920" y="4965192"/>
            <a:ext cx="969264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cosmetic (how it looks). One behavioral (how it plays). Test after each one.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block: eight to ten entries, the same shape every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WHERE YOUR CONTENT LIVES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question block, up close</a:t>
            </a:r>
            <a:endParaRPr lang="en-US" sz="3200" dirty="0"/>
          </a:p>
        </p:txBody>
      </p:sp>
      <p:sp>
        <p:nvSpPr>
          <p:cNvPr id="14" name="Shape 11"/>
          <p:cNvSpPr/>
          <p:nvPr/>
        </p:nvSpPr>
        <p:spPr>
          <a:xfrm>
            <a:off x="640080" y="1554480"/>
            <a:ext cx="10972800" cy="3200400"/>
          </a:xfrm>
          <a:prstGeom prst="roundRect">
            <a:avLst>
              <a:gd name="adj" fmla="val 2571"/>
            </a:avLst>
          </a:prstGeom>
          <a:solidFill>
            <a:srgbClr val="13293D"/>
          </a:solidFill>
          <a:ln w="12700">
            <a:solidFill>
              <a:srgbClr val="13293D"/>
            </a:solidFill>
            <a:prstDash val="solid"/>
          </a:ln>
        </p:spPr>
      </p:sp>
      <p:sp>
        <p:nvSpPr>
          <p:cNvPr id="15" name="Text 12"/>
          <p:cNvSpPr/>
          <p:nvPr/>
        </p:nvSpPr>
        <p:spPr>
          <a:xfrm>
            <a:off x="960120" y="1783080"/>
            <a:ext cx="10332720" cy="2743200"/>
          </a:xfrm>
          <a:prstGeom prst="rect">
            <a:avLst/>
          </a:prstGeom>
          <a:noFill/>
          <a:ln/>
        </p:spPr>
        <p:txBody>
          <a:bodyPr wrap="square" lIns="0" tIns="0" rIns="0" bIns="0" rtlCol="0" anchor="t"/>
          <a:lstStyle/>
          <a:p>
            <a:pPr indent="0" marL="0">
              <a:lnSpc>
                <a:spcPct val="130000"/>
              </a:lnSpc>
              <a:buNone/>
            </a:pPr>
            <a:r>
              <a:rPr lang="en-US" sz="1500" dirty="0">
                <a:solidFill>
                  <a:srgbClr val="9FB2C2"/>
                </a:solidFill>
                <a:latin typeface="Courier New" pitchFamily="34" charset="0"/>
                <a:ea typeface="Courier New" pitchFamily="34" charset="-122"/>
                <a:cs typeface="Courier New" pitchFamily="34" charset="-120"/>
              </a:rPr>
              <a:t>const QUESTIONS = [
</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 q: </a:t>
            </a:r>
            <a:pPr indent="0" marL="0">
              <a:lnSpc>
                <a:spcPct val="130000"/>
              </a:lnSpc>
              <a:buNone/>
            </a:pPr>
            <a:r>
              <a:rPr lang="en-US" sz="1500" dirty="0">
                <a:solidFill>
                  <a:srgbClr val="F4A825"/>
                </a:solidFill>
                <a:latin typeface="Courier New" pitchFamily="34" charset="0"/>
                <a:ea typeface="Courier New" pitchFamily="34" charset="-122"/>
                <a:cs typeface="Courier New" pitchFamily="34" charset="-120"/>
              </a:rPr>
              <a:t>your question here</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a: [</a:t>
            </a:r>
            <a:pPr indent="0" marL="0">
              <a:lnSpc>
                <a:spcPct val="130000"/>
              </a:lnSpc>
              <a:buNone/>
            </a:pPr>
            <a:r>
              <a:rPr lang="en-US" sz="1500" dirty="0">
                <a:solidFill>
                  <a:srgbClr val="F4A825"/>
                </a:solidFill>
                <a:latin typeface="Courier New" pitchFamily="34" charset="0"/>
                <a:ea typeface="Courier New" pitchFamily="34" charset="-122"/>
                <a:cs typeface="Courier New" pitchFamily="34" charset="-120"/>
              </a:rPr>
              <a:t>four answer choices</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ok: 0,
</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idea: </a:t>
            </a:r>
            <a:pPr indent="0" marL="0">
              <a:lnSpc>
                <a:spcPct val="130000"/>
              </a:lnSpc>
              <a:buNone/>
            </a:pPr>
            <a:r>
              <a:rPr lang="en-US" sz="1500" dirty="0">
                <a:solidFill>
                  <a:srgbClr val="F4A825"/>
                </a:solidFill>
                <a:latin typeface="Courier New" pitchFamily="34" charset="0"/>
                <a:ea typeface="Courier New" pitchFamily="34" charset="-122"/>
                <a:cs typeface="Courier New" pitchFamily="34" charset="-120"/>
              </a:rPr>
              <a:t>the concept it tests</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level: 1,
</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why: </a:t>
            </a:r>
            <a:pPr indent="0" marL="0">
              <a:lnSpc>
                <a:spcPct val="130000"/>
              </a:lnSpc>
              <a:buNone/>
            </a:pPr>
            <a:r>
              <a:rPr lang="en-US" sz="1500" dirty="0">
                <a:solidFill>
                  <a:srgbClr val="F4A825"/>
                </a:solidFill>
                <a:latin typeface="Courier New" pitchFamily="34" charset="0"/>
                <a:ea typeface="Courier New" pitchFamily="34" charset="-122"/>
                <a:cs typeface="Courier New" pitchFamily="34" charset="-120"/>
              </a:rPr>
              <a:t>one line saying why it is right</a:t>
            </a:r>
            <a:pPr indent="0" marL="0">
              <a:lnSpc>
                <a:spcPct val="130000"/>
              </a:lnSpc>
              <a:buNone/>
            </a:pPr>
            <a:r>
              <a:rPr lang="en-US" sz="1500" dirty="0">
                <a:solidFill>
                  <a:srgbClr val="C9D4DE"/>
                </a:solidFill>
                <a:latin typeface="Courier New" pitchFamily="34" charset="0"/>
                <a:ea typeface="Courier New" pitchFamily="34" charset="-122"/>
                <a:cs typeface="Courier New" pitchFamily="34" charset="-120"/>
              </a:rPr>
              <a:t> },
</a:t>
            </a:r>
            <a:pPr indent="0" marL="0">
              <a:lnSpc>
                <a:spcPct val="130000"/>
              </a:lnSpc>
              <a:buNone/>
            </a:pPr>
            <a:r>
              <a:rPr lang="en-US" sz="1500" i="1" dirty="0">
                <a:solidFill>
                  <a:srgbClr val="9FB2C2"/>
                </a:solidFill>
                <a:latin typeface="Courier New" pitchFamily="34" charset="0"/>
                <a:ea typeface="Courier New" pitchFamily="34" charset="-122"/>
                <a:cs typeface="Courier New" pitchFamily="34" charset="-120"/>
              </a:rPr>
              <a:t>  … eight to ten of these</a:t>
            </a:r>
            <a:endParaRPr lang="en-US" sz="1500" dirty="0"/>
          </a:p>
        </p:txBody>
      </p:sp>
      <p:sp>
        <p:nvSpPr>
          <p:cNvPr id="16" name="Text 13"/>
          <p:cNvSpPr/>
          <p:nvPr/>
        </p:nvSpPr>
        <p:spPr>
          <a:xfrm>
            <a:off x="640080" y="4937760"/>
            <a:ext cx="10972800" cy="54864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Same shape, every entry. Type your own questions directly, or describe them to the AI and let it fill the shape in for you.</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two prompts: one cosmetic, one behavioral, both hers to choose.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YOUR TWO REQUIRED CHANGES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cosmetic. One behavioral.</a:t>
            </a:r>
            <a:endParaRPr lang="en-US" sz="3200" dirty="0"/>
          </a:p>
        </p:txBody>
      </p:sp>
      <p:sp>
        <p:nvSpPr>
          <p:cNvPr id="14" name="Shape 11"/>
          <p:cNvSpPr/>
          <p:nvPr/>
        </p:nvSpPr>
        <p:spPr>
          <a:xfrm>
            <a:off x="640080" y="1554480"/>
            <a:ext cx="5349240" cy="3291840"/>
          </a:xfrm>
          <a:prstGeom prst="roundRect">
            <a:avLst>
              <a:gd name="adj" fmla="val 2500"/>
            </a:avLst>
          </a:prstGeom>
          <a:solidFill>
            <a:srgbClr val="EAF5F3"/>
          </a:solidFill>
          <a:ln w="12700">
            <a:solidFill>
              <a:srgbClr val="EAF5F3"/>
            </a:solidFill>
            <a:prstDash val="solid"/>
          </a:ln>
        </p:spPr>
      </p:sp>
      <p:sp>
        <p:nvSpPr>
          <p:cNvPr id="15" name="Text 12"/>
          <p:cNvSpPr/>
          <p:nvPr/>
        </p:nvSpPr>
        <p:spPr>
          <a:xfrm>
            <a:off x="914400" y="1783080"/>
            <a:ext cx="48006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COSMETIC</a:t>
            </a:r>
            <a:endParaRPr lang="en-US" sz="1600" dirty="0"/>
          </a:p>
        </p:txBody>
      </p:sp>
      <p:sp>
        <p:nvSpPr>
          <p:cNvPr id="16" name="Text 13"/>
          <p:cNvSpPr/>
          <p:nvPr/>
        </p:nvSpPr>
        <p:spPr>
          <a:xfrm>
            <a:off x="914400" y="2194560"/>
            <a:ext cx="4800600" cy="2468880"/>
          </a:xfrm>
          <a:prstGeom prst="rect">
            <a:avLst/>
          </a:prstGeom>
          <a:noFill/>
          <a:ln/>
        </p:spPr>
        <p:txBody>
          <a:bodyPr wrap="square" lIns="0" tIns="0" rIns="0" bIns="0" rtlCol="0" anchor="t"/>
          <a:lstStyle/>
          <a:p>
            <a:pPr indent="0" marL="0">
              <a:lnSpc>
                <a:spcPct val="125000"/>
              </a:lnSpc>
              <a:buNone/>
            </a:pPr>
            <a:r>
              <a:rPr lang="en-US" sz="1700" i="1" dirty="0">
                <a:solidFill>
                  <a:srgbClr val="1B1F24"/>
                </a:solidFill>
                <a:latin typeface="Inter" pitchFamily="34" charset="0"/>
                <a:ea typeface="Inter" pitchFamily="34" charset="-122"/>
                <a:cs typeface="Inter" pitchFamily="34" charset="-120"/>
              </a:rPr>
              <a:t>“Change the color palette to my school colors, [color] and [color]. Keep everything else the same.”</a:t>
            </a:r>
            <a:endParaRPr lang="en-US" sz="1700" dirty="0"/>
          </a:p>
        </p:txBody>
      </p:sp>
      <p:sp>
        <p:nvSpPr>
          <p:cNvPr id="17" name="Shape 14"/>
          <p:cNvSpPr/>
          <p:nvPr/>
        </p:nvSpPr>
        <p:spPr>
          <a:xfrm>
            <a:off x="6263640" y="1554480"/>
            <a:ext cx="534924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37960" y="1783080"/>
            <a:ext cx="48006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BEHAVIORAL</a:t>
            </a:r>
            <a:endParaRPr lang="en-US" sz="1600" dirty="0"/>
          </a:p>
        </p:txBody>
      </p:sp>
      <p:sp>
        <p:nvSpPr>
          <p:cNvPr id="19" name="Text 16"/>
          <p:cNvSpPr/>
          <p:nvPr/>
        </p:nvSpPr>
        <p:spPr>
          <a:xfrm>
            <a:off x="6537960" y="2194560"/>
            <a:ext cx="4800600" cy="2468880"/>
          </a:xfrm>
          <a:prstGeom prst="rect">
            <a:avLst/>
          </a:prstGeom>
          <a:noFill/>
          <a:ln/>
        </p:spPr>
        <p:txBody>
          <a:bodyPr wrap="square" lIns="0" tIns="0" rIns="0" bIns="0" rtlCol="0" anchor="t"/>
          <a:lstStyle/>
          <a:p>
            <a:pPr indent="0" marL="0">
              <a:lnSpc>
                <a:spcPct val="125000"/>
              </a:lnSpc>
              <a:buNone/>
            </a:pPr>
            <a:r>
              <a:rPr lang="en-US" sz="1700" i="1" dirty="0">
                <a:solidFill>
                  <a:srgbClr val="1B1F24"/>
                </a:solidFill>
                <a:latin typeface="Inter" pitchFamily="34" charset="0"/>
                <a:ea typeface="Inter" pitchFamily="34" charset="-122"/>
                <a:cs typeface="Inter" pitchFamily="34" charset="-120"/>
              </a:rPr>
              <a:t>“Give the player one more road to choose from at every fork. Keep the rest of the game exactly the way it works now.”</a:t>
            </a:r>
            <a:endParaRPr lang="en-US" sz="1700" dirty="0"/>
          </a:p>
        </p:txBody>
      </p:sp>
      <p:sp>
        <p:nvSpPr>
          <p:cNvPr id="20" name="Text 17"/>
          <p:cNvSpPr/>
          <p:nvPr/>
        </p:nvSpPr>
        <p:spPr>
          <a:xfrm>
            <a:off x="640080" y="5074920"/>
            <a:ext cx="10972800" cy="50292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Test after every change, not after both. One at a time, same as the loop.</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three minutes: four questions, roughed out, good enough to start.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CAME EMPTY-HANDED? START HERE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Three minutes: write four questions now</a:t>
            </a:r>
            <a:endParaRPr lang="en-US" sz="28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Pick one thing your students need to know cold, right now, this unit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four questions on it. Rough is fine. You will refine them while the game runs.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That is enough to start Track 1 with real content instead of the sample set</a:t>
            </a:r>
            <a:endParaRPr lang="en-US" sz="2100" dirty="0"/>
          </a:p>
        </p:txBody>
      </p:sp>
      <p:sp>
        <p:nvSpPr>
          <p:cNvPr id="15" name="Shape 12"/>
          <p:cNvSpPr/>
          <p:nvPr/>
        </p:nvSpPr>
        <p:spPr>
          <a:xfrm>
            <a:off x="640080" y="4572000"/>
            <a:ext cx="10972800" cy="960120"/>
          </a:xfrm>
          <a:prstGeom prst="roundRect">
            <a:avLst>
              <a:gd name="adj" fmla="val 8571"/>
            </a:avLst>
          </a:prstGeom>
          <a:solidFill>
            <a:srgbClr val="EAF5F3"/>
          </a:solidFill>
          <a:ln w="12700">
            <a:solidFill>
              <a:srgbClr val="EAF5F3"/>
            </a:solidFill>
            <a:prstDash val="solid"/>
          </a:ln>
        </p:spPr>
      </p:sp>
      <p:sp>
        <p:nvSpPr>
          <p:cNvPr id="16" name="Text 13"/>
          <p:cNvSpPr/>
          <p:nvPr/>
        </p:nvSpPr>
        <p:spPr>
          <a:xfrm>
            <a:off x="960120" y="4572000"/>
            <a:ext cx="10332720" cy="96012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The starter file already ships with a working sample game. Nobody is stuck. This just gets you to your own content faster.</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2 path: the one she didn't need, but some in her building will.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TRACK 2, STARTING FROM NOTHING</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For the few who want to build from zero</a:t>
            </a:r>
            <a:endParaRPr lang="en-US" sz="2800" dirty="0"/>
          </a:p>
        </p:txBody>
      </p:sp>
      <p:sp>
        <p:nvSpPr>
          <p:cNvPr id="14" name="Shape 11"/>
          <p:cNvSpPr/>
          <p:nvPr/>
        </p:nvSpPr>
        <p:spPr>
          <a:xfrm>
            <a:off x="640080" y="1600200"/>
            <a:ext cx="10972800" cy="2103120"/>
          </a:xfrm>
          <a:prstGeom prst="roundRect">
            <a:avLst>
              <a:gd name="adj" fmla="val 3913"/>
            </a:avLst>
          </a:prstGeom>
          <a:solidFill>
            <a:srgbClr val="F7F5F0"/>
          </a:solidFill>
          <a:ln w="12700">
            <a:solidFill>
              <a:srgbClr val="F7F5F0"/>
            </a:solidFill>
            <a:prstDash val="solid"/>
          </a:ln>
        </p:spPr>
      </p:sp>
      <p:sp>
        <p:nvSpPr>
          <p:cNvPr id="15" name="Text 12"/>
          <p:cNvSpPr/>
          <p:nvPr/>
        </p:nvSpPr>
        <p:spPr>
          <a:xfrm>
            <a:off x="960120" y="1783080"/>
            <a:ext cx="10332720" cy="1737360"/>
          </a:xfrm>
          <a:prstGeom prst="rect">
            <a:avLst/>
          </a:prstGeom>
          <a:noFill/>
          <a:ln/>
        </p:spPr>
        <p:txBody>
          <a:bodyPr wrap="square" lIns="0" tIns="0" rIns="0" bIns="0" rtlCol="0" anchor="ctr"/>
          <a:lstStyle/>
          <a:p>
            <a:pPr indent="0" marL="0">
              <a:buNone/>
            </a:pPr>
            <a:r>
              <a:rPr lang="en-US" sz="1650" i="1" dirty="0">
                <a:solidFill>
                  <a:srgbClr val="1B1F24"/>
                </a:solidFill>
                <a:latin typeface="Inter" pitchFamily="34" charset="0"/>
                <a:ea typeface="Inter" pitchFamily="34" charset="-122"/>
                <a:cs typeface="Inter" pitchFamily="34" charset="-120"/>
              </a:rPr>
              <a:t>“Build me a browser-based review game in one HTML file, no installs, that works offline. It should track which questions I get wrong and bring them back later in the same game, never let one student’s wrong answer end the game for the group, and never show a public list of student names or scores.”</a:t>
            </a:r>
            <a:endParaRPr lang="en-US" sz="1650" dirty="0"/>
          </a:p>
        </p:txBody>
      </p:sp>
      <p:sp>
        <p:nvSpPr>
          <p:cNvPr id="16" name="Text 13"/>
          <p:cNvSpPr/>
          <p:nvPr/>
        </p:nvSpPr>
        <p:spPr>
          <a:xfrm>
            <a:off x="640080" y="3931920"/>
            <a:ext cx="10908792" cy="12801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This is the full first prompt from the handout, ready to paste</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The facilitator does not hover here. Ask for help when you want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fix for a blank page: read the error out loud to the AI, try again.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WHEN IT BREAKS (1 OF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gave me a blank page."</a:t>
            </a:r>
            <a:endParaRPr lang="en-US" sz="3200" dirty="0"/>
          </a:p>
        </p:txBody>
      </p:sp>
      <p:sp>
        <p:nvSpPr>
          <p:cNvPr id="14" name="Shape 11"/>
          <p:cNvSpPr/>
          <p:nvPr/>
        </p:nvSpPr>
        <p:spPr>
          <a:xfrm>
            <a:off x="640080" y="1645920"/>
            <a:ext cx="10972800" cy="1554480"/>
          </a:xfrm>
          <a:prstGeom prst="roundRect">
            <a:avLst>
              <a:gd name="adj" fmla="val 5294"/>
            </a:avLst>
          </a:prstGeom>
          <a:solidFill>
            <a:srgbClr val="FBEFED"/>
          </a:solidFill>
          <a:ln w="12700">
            <a:solidFill>
              <a:srgbClr val="FBEFED"/>
            </a:solidFill>
            <a:prstDash val="solid"/>
          </a:ln>
        </p:spPr>
      </p:sp>
      <p:sp>
        <p:nvSpPr>
          <p:cNvPr id="15" name="Text 12"/>
          <p:cNvSpPr/>
          <p:nvPr/>
        </p:nvSpPr>
        <p:spPr>
          <a:xfrm>
            <a:off x="960120" y="1828800"/>
            <a:ext cx="10332720" cy="118872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Almost always a small typo in the code the AI just wrote.</a:t>
            </a:r>
            <a:endParaRPr lang="en-US" sz="2000" dirty="0"/>
          </a:p>
        </p:txBody>
      </p:sp>
      <p:sp>
        <p:nvSpPr>
          <p:cNvPr id="16" name="Shape 13"/>
          <p:cNvSpPr/>
          <p:nvPr/>
        </p:nvSpPr>
        <p:spPr>
          <a:xfrm>
            <a:off x="640080" y="3383280"/>
            <a:ext cx="10972800" cy="1737360"/>
          </a:xfrm>
          <a:prstGeom prst="roundRect">
            <a:avLst>
              <a:gd name="adj" fmla="val 4737"/>
            </a:avLst>
          </a:prstGeom>
          <a:solidFill>
            <a:srgbClr val="EAF5F3"/>
          </a:solidFill>
          <a:ln w="12700">
            <a:solidFill>
              <a:srgbClr val="EAF5F3"/>
            </a:solidFill>
            <a:prstDash val="solid"/>
          </a:ln>
        </p:spPr>
      </p:sp>
      <p:sp>
        <p:nvSpPr>
          <p:cNvPr id="17" name="Text 14"/>
          <p:cNvSpPr/>
          <p:nvPr/>
        </p:nvSpPr>
        <p:spPr>
          <a:xfrm>
            <a:off x="960120" y="3566160"/>
            <a:ext cx="10332720" cy="13716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The fix: copy the exact error message from the browser (or just say "it’s a blank page, nothing shows up") and paste it back to the AI. Say "fix this." It almost always can.</a:t>
            </a:r>
            <a:endParaRPr lang="en-US" sz="1900" dirty="0"/>
          </a:p>
        </p:txBody>
      </p:sp>
      <p:sp>
        <p:nvSpPr>
          <p:cNvPr id="18" name="Text 15"/>
          <p:cNvSpPr/>
          <p:nvPr/>
        </p:nvSpPr>
        <p:spPr>
          <a:xfrm>
            <a:off x="640080" y="534924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Under thirty seconds, every time this has happened in testing.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fix for a wrong change: undo, narrow the ask, try again.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SUPPORT · WHEN IT BREAKS (2 OF 2)</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"It changed the wrong thing." / "My questions disappeared."</a:t>
            </a:r>
            <a:endParaRPr lang="en-US" sz="2800" dirty="0"/>
          </a:p>
        </p:txBody>
      </p:sp>
      <p:sp>
        <p:nvSpPr>
          <p:cNvPr id="14" name="Shape 11"/>
          <p:cNvSpPr/>
          <p:nvPr/>
        </p:nvSpPr>
        <p:spPr>
          <a:xfrm>
            <a:off x="640080" y="1691640"/>
            <a:ext cx="10972800" cy="1554480"/>
          </a:xfrm>
          <a:prstGeom prst="roundRect">
            <a:avLst>
              <a:gd name="adj" fmla="val 5294"/>
            </a:avLst>
          </a:prstGeom>
          <a:solidFill>
            <a:srgbClr val="FBEFED"/>
          </a:solidFill>
          <a:ln w="12700">
            <a:solidFill>
              <a:srgbClr val="FBEFED"/>
            </a:solidFill>
            <a:prstDash val="solid"/>
          </a:ln>
        </p:spPr>
      </p:sp>
      <p:sp>
        <p:nvSpPr>
          <p:cNvPr id="15" name="Text 12"/>
          <p:cNvSpPr/>
          <p:nvPr/>
        </p:nvSpPr>
        <p:spPr>
          <a:xfrm>
            <a:off x="960120" y="1874520"/>
            <a:ext cx="10332720" cy="1188720"/>
          </a:xfrm>
          <a:prstGeom prst="rect">
            <a:avLst/>
          </a:prstGeom>
          <a:noFill/>
          <a:ln/>
        </p:spPr>
        <p:txBody>
          <a:bodyPr wrap="square" lIns="0" tIns="0" rIns="0" bIns="0" rtlCol="0" anchor="ctr"/>
          <a:lstStyle/>
          <a:p>
            <a:pPr indent="0" marL="0">
              <a:buNone/>
            </a:pPr>
            <a:r>
              <a:rPr lang="en-US" sz="1850" b="1" dirty="0">
                <a:solidFill>
                  <a:srgbClr val="B4453A"/>
                </a:solidFill>
                <a:latin typeface="Inter" pitchFamily="34" charset="0"/>
                <a:ea typeface="Inter" pitchFamily="34" charset="-122"/>
                <a:cs typeface="Inter" pitchFamily="34" charset="-120"/>
              </a:rPr>
              <a:t>The AI rewrote more of the file than you asked for. This is the single most likely real failure in this lab.</a:t>
            </a:r>
            <a:endParaRPr lang="en-US" sz="1850" dirty="0"/>
          </a:p>
        </p:txBody>
      </p:sp>
      <p:sp>
        <p:nvSpPr>
          <p:cNvPr id="16" name="Shape 13"/>
          <p:cNvSpPr/>
          <p:nvPr/>
        </p:nvSpPr>
        <p:spPr>
          <a:xfrm>
            <a:off x="640080" y="3429000"/>
            <a:ext cx="10972800" cy="1737360"/>
          </a:xfrm>
          <a:prstGeom prst="roundRect">
            <a:avLst>
              <a:gd name="adj" fmla="val 4737"/>
            </a:avLst>
          </a:prstGeom>
          <a:solidFill>
            <a:srgbClr val="EAF5F3"/>
          </a:solidFill>
          <a:ln w="12700">
            <a:solidFill>
              <a:srgbClr val="EAF5F3"/>
            </a:solidFill>
            <a:prstDash val="solid"/>
          </a:ln>
        </p:spPr>
      </p:sp>
      <p:sp>
        <p:nvSpPr>
          <p:cNvPr id="17" name="Text 14"/>
          <p:cNvSpPr/>
          <p:nvPr/>
        </p:nvSpPr>
        <p:spPr>
          <a:xfrm>
            <a:off x="960120" y="3611880"/>
            <a:ext cx="10332720" cy="1371600"/>
          </a:xfrm>
          <a:prstGeom prst="rect">
            <a:avLst/>
          </a:prstGeom>
          <a:noFill/>
          <a:ln/>
        </p:spPr>
        <p:txBody>
          <a:bodyPr wrap="square" lIns="0" tIns="0" rIns="0" bIns="0" rtlCol="0" anchor="ctr"/>
          <a:lstStyle/>
          <a:p>
            <a:pPr indent="0" marL="0">
              <a:buNone/>
            </a:pPr>
            <a:r>
              <a:rPr lang="en-US" sz="1750" b="1" dirty="0">
                <a:solidFill>
                  <a:srgbClr val="13293D"/>
                </a:solidFill>
                <a:latin typeface="Inter" pitchFamily="34" charset="0"/>
                <a:ea typeface="Inter" pitchFamily="34" charset="-122"/>
                <a:cs typeface="Inter" pitchFamily="34" charset="-120"/>
              </a:rPr>
              <a:t>The fix: close the file without saving, reopen your saved copy from before the change (slide 16), and try again with a narrower request: "change only the title text, nothing else in the file."</a:t>
            </a:r>
            <a:endParaRPr lang="en-US" sz="1750" dirty="0"/>
          </a:p>
        </p:txBody>
      </p:sp>
      <p:sp>
        <p:nvSpPr>
          <p:cNvPr id="18" name="Text 15"/>
          <p:cNvSpPr/>
          <p:nvPr/>
        </p:nvSpPr>
        <p:spPr>
          <a:xfrm>
            <a:off x="640080" y="539496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This is exactly why you saved a copy first. Nothing here is ever unrecoverable.</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tally: she changed a working program. She did not write one.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THIRTY MINUTES AGO THIS FILE WAS A STRANGER’S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you actually built, honestly</a:t>
            </a:r>
            <a:endParaRPr lang="en-US" sz="2800" dirty="0"/>
          </a:p>
        </p:txBody>
      </p:sp>
      <p:sp>
        <p:nvSpPr>
          <p:cNvPr id="14" name="Shape 11"/>
          <p:cNvSpPr/>
          <p:nvPr/>
        </p:nvSpPr>
        <p:spPr>
          <a:xfrm>
            <a:off x="640080" y="1600200"/>
            <a:ext cx="1097280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960120" y="1828800"/>
            <a:ext cx="10241280" cy="265176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You changed a working program by describing what you wanted, tested every change yourself, and ended with your own questions in a game your students can play with the wifi off.
</a:t>
            </a:r>
            <a:pPr indent="0" marL="0">
              <a:buNone/>
            </a:pPr>
            <a:r>
              <a:rPr lang="en-US" sz="1900" dirty="0">
                <a:solidFill>
                  <a:srgbClr val="1B1F24"/>
                </a:solidFill>
                <a:latin typeface="Inter" pitchFamily="34" charset="0"/>
                <a:ea typeface="Inter" pitchFamily="34" charset="-122"/>
                <a:cs typeface="Inter" pitchFamily="34" charset="-120"/>
              </a:rPr>
              <a:t>You did not write this program from a blank file, and this kit never claimed you would. What you own now is the loop: describe, build, test, change one thing. That loop works on this game, and it works on the next tool you build.</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transfer: the pattern moves to spreadsheets, forms, anything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FILE TODAY. A HABIT FROM NOW 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pattern goes next</a:t>
            </a:r>
            <a:endParaRPr lang="en-US" sz="32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seating chart. A sign-out log. A reading tracker. Any small tool your room needs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loop does not change: describe, build, test, change one thing</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Our full build-along sessions in the store teach the pattern on a new tool each time, start to finish</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three screens up, her game one of them.</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2–3 SCREENS, PROJECTED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Show us what you made</a:t>
            </a:r>
            <a:endParaRPr lang="en-US" sz="3200" dirty="0"/>
          </a:p>
        </p:txBody>
      </p:sp>
      <p:sp>
        <p:nvSpPr>
          <p:cNvPr id="14" name="Text 11"/>
          <p:cNvSpPr/>
          <p:nvPr/>
        </p:nvSpPr>
        <p:spPr>
          <a:xfrm>
            <a:off x="640080" y="1554480"/>
            <a:ext cx="10908792" cy="274320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Who wants their game on the big screen?</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was your one behavioral change, and what did it do?</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hit the blank-page fix or the wrong-change fix for real? Tell us.</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Build Your First Classroom Tool   |   32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said out loud: one game, live with her class, by Friday.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KITS 1 AND 2 GAVE US THREE; TODAY ADDS A FOURTH</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This game gets played with real students by Friday, not filed away.</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Build Your First Classroom Tool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first 48 hours: play it with students, fix the first real bug live.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First 48 hours, then the exit ticket</a:t>
            </a:r>
            <a:endParaRPr lang="en-US" sz="2800" dirty="0"/>
          </a:p>
        </p:txBody>
      </p:sp>
      <p:sp>
        <p:nvSpPr>
          <p:cNvPr id="14" name="Shape 11"/>
          <p:cNvSpPr/>
          <p:nvPr/>
        </p:nvSpPr>
        <p:spPr>
          <a:xfrm>
            <a:off x="640080" y="1417320"/>
            <a:ext cx="10972800" cy="1188720"/>
          </a:xfrm>
          <a:prstGeom prst="roundRect">
            <a:avLst>
              <a:gd name="adj" fmla="val 6923"/>
            </a:avLst>
          </a:prstGeom>
          <a:solidFill>
            <a:srgbClr val="F7F5F0"/>
          </a:solidFill>
          <a:ln w="12700">
            <a:solidFill>
              <a:srgbClr val="F7F5F0"/>
            </a:solidFill>
            <a:prstDash val="solid"/>
          </a:ln>
        </p:spPr>
      </p:sp>
      <p:sp>
        <p:nvSpPr>
          <p:cNvPr id="15" name="Text 12"/>
          <p:cNvSpPr/>
          <p:nvPr/>
        </p:nvSpPr>
        <p:spPr>
          <a:xfrm>
            <a:off x="914400" y="1783080"/>
            <a:ext cx="1371600" cy="45720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16" name="Text 13"/>
          <p:cNvSpPr/>
          <p:nvPr/>
        </p:nvSpPr>
        <p:spPr>
          <a:xfrm>
            <a:off x="2377440" y="1545336"/>
            <a:ext cx="905256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Play your game with one real class</a:t>
            </a:r>
            <a:endParaRPr lang="en-US" sz="1900" dirty="0"/>
          </a:p>
        </p:txBody>
      </p:sp>
      <p:sp>
        <p:nvSpPr>
          <p:cNvPr id="17" name="Text 14"/>
          <p:cNvSpPr/>
          <p:nvPr/>
        </p:nvSpPr>
        <p:spPr>
          <a:xfrm>
            <a:off x="2377440" y="2002536"/>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Or with a colleague standing in for your students, if timing does not line up</a:t>
            </a:r>
            <a:endParaRPr lang="en-US" sz="1600" dirty="0"/>
          </a:p>
        </p:txBody>
      </p:sp>
      <p:sp>
        <p:nvSpPr>
          <p:cNvPr id="18" name="Shape 15"/>
          <p:cNvSpPr/>
          <p:nvPr/>
        </p:nvSpPr>
        <p:spPr>
          <a:xfrm>
            <a:off x="640080" y="2788920"/>
            <a:ext cx="10972800" cy="1188720"/>
          </a:xfrm>
          <a:prstGeom prst="roundRect">
            <a:avLst>
              <a:gd name="adj" fmla="val 6923"/>
            </a:avLst>
          </a:prstGeom>
          <a:solidFill>
            <a:srgbClr val="F7F5F0"/>
          </a:solidFill>
          <a:ln w="12700">
            <a:solidFill>
              <a:srgbClr val="F7F5F0"/>
            </a:solidFill>
            <a:prstDash val="solid"/>
          </a:ln>
        </p:spPr>
      </p:sp>
      <p:sp>
        <p:nvSpPr>
          <p:cNvPr id="19" name="Text 16"/>
          <p:cNvSpPr/>
          <p:nvPr/>
        </p:nvSpPr>
        <p:spPr>
          <a:xfrm>
            <a:off x="914400" y="3154680"/>
            <a:ext cx="1371600" cy="45720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20" name="Text 17"/>
          <p:cNvSpPr/>
          <p:nvPr/>
        </p:nvSpPr>
        <p:spPr>
          <a:xfrm>
            <a:off x="2377440" y="2916936"/>
            <a:ext cx="905256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Fix the first real bug that shows up</a:t>
            </a:r>
            <a:endParaRPr lang="en-US" sz="1900" dirty="0"/>
          </a:p>
        </p:txBody>
      </p:sp>
      <p:sp>
        <p:nvSpPr>
          <p:cNvPr id="21" name="Text 18"/>
          <p:cNvSpPr/>
          <p:nvPr/>
        </p:nvSpPr>
        <p:spPr>
          <a:xfrm>
            <a:off x="2377440" y="3374136"/>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Using slide 27 or 28’s recovery line. There will be one; that is normal.</a:t>
            </a:r>
            <a:endParaRPr lang="en-US" sz="1600" dirty="0"/>
          </a:p>
        </p:txBody>
      </p:sp>
      <p:sp>
        <p:nvSpPr>
          <p:cNvPr id="22" name="Shape 19"/>
          <p:cNvSpPr/>
          <p:nvPr/>
        </p:nvSpPr>
        <p:spPr>
          <a:xfrm>
            <a:off x="640080" y="4160520"/>
            <a:ext cx="10972800" cy="1188720"/>
          </a:xfrm>
          <a:prstGeom prst="roundRect">
            <a:avLst>
              <a:gd name="adj" fmla="val 6923"/>
            </a:avLst>
          </a:prstGeom>
          <a:solidFill>
            <a:srgbClr val="F7F5F0"/>
          </a:solidFill>
          <a:ln w="12700">
            <a:solidFill>
              <a:srgbClr val="F7F5F0"/>
            </a:solidFill>
            <a:prstDash val="solid"/>
          </a:ln>
        </p:spPr>
      </p:sp>
      <p:sp>
        <p:nvSpPr>
          <p:cNvPr id="23" name="Text 20"/>
          <p:cNvSpPr/>
          <p:nvPr/>
        </p:nvSpPr>
        <p:spPr>
          <a:xfrm>
            <a:off x="914400" y="4526280"/>
            <a:ext cx="1371600" cy="45720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~2 min</a:t>
            </a:r>
            <a:endParaRPr lang="en-US" sz="1600" dirty="0"/>
          </a:p>
        </p:txBody>
      </p:sp>
      <p:sp>
        <p:nvSpPr>
          <p:cNvPr id="24" name="Text 21"/>
          <p:cNvSpPr/>
          <p:nvPr/>
        </p:nvSpPr>
        <p:spPr>
          <a:xfrm>
            <a:off x="2377440" y="4288536"/>
            <a:ext cx="905256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Complete the exit ticket</a:t>
            </a:r>
            <a:endParaRPr lang="en-US" sz="1900" dirty="0"/>
          </a:p>
        </p:txBody>
      </p:sp>
      <p:sp>
        <p:nvSpPr>
          <p:cNvPr id="25" name="Text 22"/>
          <p:cNvSpPr/>
          <p:nvPr/>
        </p:nvSpPr>
        <p:spPr>
          <a:xfrm>
            <a:off x="2377440" y="4745736"/>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technique you are taking, one thing you will try, doubling as this hour’s PD documentation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257032" y="6428232"/>
            <a:ext cx="352044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Build Your First Classroom Tool   |   34</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You just described software into existence.</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That is not a small thing.</a:t>
            </a:r>
            <a:endParaRPr lang="en-US" sz="3400" dirty="0"/>
          </a:p>
        </p:txBody>
      </p:sp>
      <p:sp>
        <p:nvSpPr>
          <p:cNvPr id="6" name="Text 3"/>
          <p:cNvSpPr/>
          <p:nvPr/>
        </p:nvSpPr>
        <p:spPr>
          <a:xfrm>
            <a:off x="640080" y="3749040"/>
            <a:ext cx="10972800" cy="914400"/>
          </a:xfrm>
          <a:prstGeom prst="rect">
            <a:avLst/>
          </a:prstGeom>
          <a:noFill/>
          <a:ln/>
        </p:spPr>
        <p:txBody>
          <a:bodyPr wrap="square" lIns="0" tIns="0" rIns="0" bIns="0" rtlCol="0" anchor="ctr"/>
          <a:lstStyle/>
          <a:p>
            <a:pPr algn="ctr" indent="0" marL="0">
              <a:lnSpc>
                <a:spcPct val="125000"/>
              </a:lnSpc>
              <a:buNone/>
            </a:pPr>
            <a:r>
              <a:rPr lang="en-US" sz="2200" b="1" dirty="0">
                <a:solidFill>
                  <a:srgbClr val="2A9D8F"/>
                </a:solidFill>
                <a:latin typeface="Inter" pitchFamily="34" charset="0"/>
                <a:ea typeface="Inter" pitchFamily="34" charset="-122"/>
                <a:cs typeface="Inter" pitchFamily="34" charset="-120"/>
              </a:rPr>
              <a:t>The pattern is yours now. Use it on the next thing your room needs.</a:t>
            </a:r>
            <a:endParaRPr lang="en-US" sz="2200" dirty="0"/>
          </a:p>
        </p:txBody>
      </p:sp>
      <p:sp>
        <p:nvSpPr>
          <p:cNvPr id="7" name="Text 4"/>
          <p:cNvSpPr/>
          <p:nvPr/>
        </p:nvSpPr>
        <p:spPr>
          <a:xfrm>
            <a:off x="640080" y="5212080"/>
            <a:ext cx="10972800" cy="365760"/>
          </a:xfrm>
          <a:prstGeom prst="rect">
            <a:avLst/>
          </a:prstGeom>
          <a:noFill/>
          <a:ln/>
        </p:spPr>
        <p:txBody>
          <a:bodyPr wrap="square" lIns="0" tIns="0" rIns="0" bIns="0" rtlCol="0" anchor="ctr"/>
          <a:lstStyle/>
          <a:p>
            <a:pPr algn="ctr" indent="0" marL="0">
              <a:buNone/>
            </a:pPr>
            <a:r>
              <a:rPr lang="en-US" sz="1300" dirty="0">
                <a:solidFill>
                  <a:srgbClr val="9FB2C2"/>
                </a:solidFill>
                <a:latin typeface="Inter" pitchFamily="34" charset="0"/>
                <a:ea typeface="Inter" pitchFamily="34" charset="-122"/>
                <a:cs typeface="Inter" pitchFamily="34" charset="-120"/>
              </a:rPr>
              <a:t>Built by Adam &amp; Katelyn Spinozzi · certified educators · sources in the References file</a:t>
            </a:r>
            <a:endParaRPr lang="en-US" sz="1300" dirty="0"/>
          </a:p>
        </p:txBody>
      </p:sp>
      <p:sp>
        <p:nvSpPr>
          <p:cNvPr id="8" name="Text 5"/>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Build Your First Classroom Tool</dc:title>
  <dc:subject>PptxGenJS Presentation</dc:subject>
  <dc:creator>Adam &amp; Katelyn Spinozzi</dc:creator>
  <cp:lastModifiedBy>Adam &amp; Katelyn Spinozzi</cp:lastModifiedBy>
  <cp:revision>1</cp:revision>
  <dcterms:created xsi:type="dcterms:W3CDTF">2026-09-23T07:22:19Z</dcterms:created>
  <dcterms:modified xsi:type="dcterms:W3CDTF">2026-09-23T07:22:19Z</dcterms:modified>
</cp:coreProperties>
</file>