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up as people arrive. Start on time. Say: today is about what goes home, and by the end next week's real message is written and sounding like you.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Say: the time is real and recoverable; the risk is your voice. Both stats verified: Merrimack/EdWeek 2022; Gallup-Walton 2025.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Kraft &amp; Rogers 2015, Economics of Education Review: one individualized sentence per week, 41% failure reduction, improvement-focused messages strongest. This study powers the positive-note batch on slide 11.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Say: real messages ready to send, not notes about messages. Keep this quick.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Say: four jobs the tool does well, and the one it can't: knowing the family. That line sets up the whole session.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Say: Kit 2's voice round is about to become the most important skill in this session. The beige risk is real and families are the first to notice.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Both rules are Kit 1 carryovers: no student PII in public tools; nothing AI-drafted reaches a family unread (U.S. DoE humans-in-the-loop, 2023).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Dark slide, said slowly. Every technique in the next twenty minutes serves this banner.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Say: count the four color-coded parts with me: role in teal, task in navy, context in amber (look how much she gives it), format in green. Ninety seconds of typing; the draft comes back needing only her voice pass. This is the shape to mimic in lab step 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Say: let the tool absorb the heat; the emotion comes out, the relationship stays intact. Specifics and names get added in her own email. The 24-hour rule needs no AI: it's wisdom with a timestamp.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Say: this is Kraft &amp; Rogers turned into five minutes a week: improvement-focused, individualized, personalized by you. The personalizing step is not optional; it's the mechanism.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Let the room call each problem before you confirm with the right column. 45-min cut: rows 1 and 3 only.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Both verified: NCES Condition of Education (fall 2021 data); ED/DOJ 2015 Dear Colleague Letter (Title VI). Frame as obligation AND opportunity: the one-sentence research from slide 3 applies to every family.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Name your district's translation office/channel here if you know it. Never trim this slide. If asked "is AI translation good enough?": for routine messages with these rules, it beats sending nothing a family can read; official documents always go district.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Expect real feeling on the 24-hour rule; someone in the room has sent the email they regret. Give it a beat.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Dark slide, read slowly. This is the line that makes all the efficiency defensible; say so out loud. Never trim this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beat, then the lab. Say: AI made deposits cheap. The lab starts now.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Dark slide. Pairs formed inside two minutes; announce the tool. Everything built today actually sends this week.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 minutes. Circulate. Weak drafts lack context; nudge with "what does a family actually need to know and do this week?"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 minutes. Pairs read ALOUD; the partner's ear is the voice test. Done means send-ready.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 minutes. 45-min cut: skip; the batch moves to the First 48 Hours sheet. The prompt is on the handout.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 minutes, quiet writing; the template is on the handout. Gaps teachers can't close (no liaison, no channel) get routed to leadership in the 30-day plan; that's their job to close.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 voices, one minute each. 45-min cut: two voices. The voice diversity IS the lesson; name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Let the inventory land. Everything on it sends this week; that's what separates this from PD that evaporates.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honest-limits slide every kit carries. End on the consistency line.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Dark slide. Read all three, ask for the visible nod, same ritual as every kit.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 inside existing PLC time. The translation audit routes leadership-level gaps up, where they belong.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Hand the sheet out as you talk. Three sends, and families actually feel this PD.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"still want help with" answers set the follow-ups' agenda. Collect at the door.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warm. Collect exit tickets at the door.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329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731520"/>
            <a:ext cx="1051560" cy="96926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965960" y="96012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2600" dirty="0"/>
          </a:p>
        </p:txBody>
      </p:sp>
      <p:sp>
        <p:nvSpPr>
          <p:cNvPr id="4" name="Text 1"/>
          <p:cNvSpPr/>
          <p:nvPr/>
        </p:nvSpPr>
        <p:spPr>
          <a:xfrm>
            <a:off x="822960" y="27432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F4A8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TRACK A · AI FOUNDATIONS · KIT 6 OF 20</a:t>
            </a:r>
            <a:endParaRPr lang="en-US" sz="1500" dirty="0"/>
          </a:p>
        </p:txBody>
      </p:sp>
      <p:sp>
        <p:nvSpPr>
          <p:cNvPr id="5" name="Text 2"/>
          <p:cNvSpPr/>
          <p:nvPr/>
        </p:nvSpPr>
        <p:spPr>
          <a:xfrm>
            <a:off x="777240" y="3063240"/>
            <a:ext cx="107899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for Communication:</a:t>
            </a:r>
            <a:endParaRPr lang="en-US" sz="4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Parent Messages, Translation, and Tone</a:t>
            </a:r>
            <a:endParaRPr lang="en-US" sz="4000" dirty="0"/>
          </a:p>
        </p:txBody>
      </p:sp>
      <p:sp>
        <p:nvSpPr>
          <p:cNvPr id="6" name="Text 3"/>
          <p:cNvSpPr/>
          <p:nvPr/>
        </p:nvSpPr>
        <p:spPr>
          <a:xfrm>
            <a:off x="822960" y="4983480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9D4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45–60 minute working session. You leave with next week's real family message written, voiced, and ready to send.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822960" y="60350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Built by Adam &amp; Katelyn Spinozzi · certified educators · 20+ combined years in the classroom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622792" y="6428232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6 · AI for Communication   |   2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8732520" y="109728"/>
            <a:ext cx="2926080" cy="896112"/>
          </a:xfrm>
          <a:prstGeom prst="roundRect">
            <a:avLst>
              <a:gd name="adj" fmla="val 7143"/>
            </a:avLst>
          </a:prstGeom>
          <a:solidFill>
            <a:srgbClr val="F7F5F0"/>
          </a:solidFill>
          <a:ln w="12700">
            <a:solidFill>
              <a:srgbClr val="DCE3E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732520" y="109728"/>
            <a:ext cx="2926080" cy="237744"/>
          </a:xfrm>
          <a:prstGeom prst="roundRect">
            <a:avLst>
              <a:gd name="adj" fmla="val 26923"/>
            </a:avLst>
          </a:prstGeom>
          <a:solidFill>
            <a:srgbClr val="0D1E2E"/>
          </a:solidFill>
          <a:ln w="12700">
            <a:solidFill>
              <a:srgbClr val="0D1E2E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823960" y="182880"/>
            <a:ext cx="91440" cy="91440"/>
          </a:xfrm>
          <a:prstGeom prst="ellipse">
            <a:avLst/>
          </a:prstGeom>
          <a:solidFill>
            <a:srgbClr val="E8837A"/>
          </a:solidFill>
          <a:ln w="12700">
            <a:solidFill>
              <a:srgbClr val="E8837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970264" y="182880"/>
            <a:ext cx="91440" cy="91440"/>
          </a:xfrm>
          <a:prstGeom prst="ellipse">
            <a:avLst/>
          </a:prstGeom>
          <a:solidFill>
            <a:srgbClr val="F4A825"/>
          </a:solidFill>
          <a:ln w="12700">
            <a:solidFill>
              <a:srgbClr val="F4A82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116568" y="182880"/>
            <a:ext cx="91440" cy="91440"/>
          </a:xfrm>
          <a:prstGeom prst="ellipse">
            <a:avLst/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299448" y="109728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MS. RIVERA'S SCREEN · SO FAR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860536" y="365760"/>
            <a:ext cx="26700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Her math: one wave of messages a week, drafted in the margins after dinner.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COMMUNICATION ACTUALLY LIVES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margin problem</a:t>
            </a:r>
            <a:endParaRPr lang="en-US" sz="3200" dirty="0"/>
          </a:p>
        </p:txBody>
      </p:sp>
      <p:sp>
        <p:nvSpPr>
          <p:cNvPr id="14" name="Shape 11"/>
          <p:cNvSpPr/>
          <p:nvPr/>
        </p:nvSpPr>
        <p:spPr>
          <a:xfrm>
            <a:off x="640080" y="1600200"/>
            <a:ext cx="5257800" cy="3383280"/>
          </a:xfrm>
          <a:prstGeom prst="roundRect">
            <a:avLst>
              <a:gd name="adj" fmla="val 2432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40080" y="1783080"/>
            <a:ext cx="5257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WEEK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640080" y="2103120"/>
            <a:ext cx="5257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~54 hrs</a:t>
            </a:r>
            <a:endParaRPr lang="en-US" sz="5200" dirty="0"/>
          </a:p>
        </p:txBody>
      </p:sp>
      <p:sp>
        <p:nvSpPr>
          <p:cNvPr id="17" name="Text 14"/>
          <p:cNvSpPr/>
          <p:nvPr/>
        </p:nvSpPr>
        <p:spPr>
          <a:xfrm>
            <a:off x="914400" y="3108960"/>
            <a:ext cx="47091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teacher work week, with less than half spent directly teaching. Family communication lives in the rest: the after-dinner margins. (Merrimack College/EdWeek, 2022)</a:t>
            </a:r>
            <a:endParaRPr lang="en-US" sz="1600" dirty="0"/>
          </a:p>
        </p:txBody>
      </p:sp>
      <p:sp>
        <p:nvSpPr>
          <p:cNvPr id="18" name="Shape 15"/>
          <p:cNvSpPr/>
          <p:nvPr/>
        </p:nvSpPr>
        <p:spPr>
          <a:xfrm>
            <a:off x="6263640" y="1600200"/>
            <a:ext cx="5257800" cy="3383280"/>
          </a:xfrm>
          <a:prstGeom prst="roundRect">
            <a:avLst>
              <a:gd name="adj" fmla="val 2432"/>
            </a:avLst>
          </a:prstGeom>
          <a:solidFill>
            <a:srgbClr val="EAF5F3"/>
          </a:solidFill>
          <a:ln w="12700">
            <a:solidFill>
              <a:srgbClr val="EAF5F3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263640" y="1783080"/>
            <a:ext cx="5257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RECOVERABLE PART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6263640" y="2103120"/>
            <a:ext cx="5257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~5.9 hrs</a:t>
            </a:r>
            <a:endParaRPr lang="en-US" sz="5200" dirty="0"/>
          </a:p>
        </p:txBody>
      </p:sp>
      <p:sp>
        <p:nvSpPr>
          <p:cNvPr id="21" name="Text 18"/>
          <p:cNvSpPr/>
          <p:nvPr/>
        </p:nvSpPr>
        <p:spPr>
          <a:xfrm>
            <a:off x="6537960" y="3108960"/>
            <a:ext cx="47091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Weekly time saved by teachers who've made AI a habit, with communication drafting among the most common uses. (Gallup &amp; Walton Family Foundation, 2025)</a:t>
            </a:r>
            <a:endParaRPr lang="en-US" sz="1600" dirty="0"/>
          </a:p>
        </p:txBody>
      </p:sp>
      <p:sp>
        <p:nvSpPr>
          <p:cNvPr id="22" name="Text 19"/>
          <p:cNvSpPr/>
          <p:nvPr/>
        </p:nvSpPr>
        <p:spPr>
          <a:xfrm>
            <a:off x="640080" y="5349240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question of this hour: recover the time without families noticing a robot moved in.</a:t>
            </a:r>
            <a:endParaRPr lang="en-US" sz="2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622792" y="6428232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6 · AI for Communication   |   3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8732520" y="109728"/>
            <a:ext cx="2926080" cy="896112"/>
          </a:xfrm>
          <a:prstGeom prst="roundRect">
            <a:avLst>
              <a:gd name="adj" fmla="val 7143"/>
            </a:avLst>
          </a:prstGeom>
          <a:solidFill>
            <a:srgbClr val="F7F5F0"/>
          </a:solidFill>
          <a:ln w="12700">
            <a:solidFill>
              <a:srgbClr val="DCE3E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732520" y="109728"/>
            <a:ext cx="2926080" cy="237744"/>
          </a:xfrm>
          <a:prstGeom prst="roundRect">
            <a:avLst>
              <a:gd name="adj" fmla="val 26923"/>
            </a:avLst>
          </a:prstGeom>
          <a:solidFill>
            <a:srgbClr val="0D1E2E"/>
          </a:solidFill>
          <a:ln w="12700">
            <a:solidFill>
              <a:srgbClr val="0D1E2E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823960" y="182880"/>
            <a:ext cx="91440" cy="91440"/>
          </a:xfrm>
          <a:prstGeom prst="ellipse">
            <a:avLst/>
          </a:prstGeom>
          <a:solidFill>
            <a:srgbClr val="E8837A"/>
          </a:solidFill>
          <a:ln w="12700">
            <a:solidFill>
              <a:srgbClr val="E8837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970264" y="182880"/>
            <a:ext cx="91440" cy="91440"/>
          </a:xfrm>
          <a:prstGeom prst="ellipse">
            <a:avLst/>
          </a:prstGeom>
          <a:solidFill>
            <a:srgbClr val="F4A825"/>
          </a:solidFill>
          <a:ln w="12700">
            <a:solidFill>
              <a:srgbClr val="F4A82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116568" y="182880"/>
            <a:ext cx="91440" cy="91440"/>
          </a:xfrm>
          <a:prstGeom prst="ellipse">
            <a:avLst/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299448" y="109728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MS. RIVERA'S SCREEN · SO FAR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860536" y="365760"/>
            <a:ext cx="26700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Her lever: one sentence home per week moved real outcomes. She wants that at scale.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BEST EVIDENCE IN FAMILY COMMUNICATION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384048"/>
            <a:ext cx="7955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sentence moves the needle</a:t>
            </a:r>
            <a:endParaRPr lang="en-US" sz="3200" dirty="0"/>
          </a:p>
        </p:txBody>
      </p:sp>
      <p:sp>
        <p:nvSpPr>
          <p:cNvPr id="14" name="Shape 11"/>
          <p:cNvSpPr/>
          <p:nvPr/>
        </p:nvSpPr>
        <p:spPr>
          <a:xfrm>
            <a:off x="640080" y="1600200"/>
            <a:ext cx="5257800" cy="3383280"/>
          </a:xfrm>
          <a:prstGeom prst="roundRect">
            <a:avLst>
              <a:gd name="adj" fmla="val 2432"/>
            </a:avLst>
          </a:prstGeom>
          <a:solidFill>
            <a:srgbClr val="EAF5F3"/>
          </a:solidFill>
          <a:ln w="12700">
            <a:solidFill>
              <a:srgbClr val="EAF5F3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40080" y="1783080"/>
            <a:ext cx="5257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COURSE FAILURE, BEFORE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640080" y="2103120"/>
            <a:ext cx="5257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15.8%</a:t>
            </a:r>
            <a:endParaRPr lang="en-US" sz="5200" dirty="0"/>
          </a:p>
        </p:txBody>
      </p:sp>
      <p:sp>
        <p:nvSpPr>
          <p:cNvPr id="17" name="Text 14"/>
          <p:cNvSpPr/>
          <p:nvPr/>
        </p:nvSpPr>
        <p:spPr>
          <a:xfrm>
            <a:off x="914400" y="3108960"/>
            <a:ext cx="47091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of credit-recovery students failed to earn course credit with no weekly message home. (Kraft &amp; Rogers, 2015)</a:t>
            </a:r>
            <a:endParaRPr lang="en-US" sz="1600" dirty="0"/>
          </a:p>
        </p:txBody>
      </p:sp>
      <p:sp>
        <p:nvSpPr>
          <p:cNvPr id="18" name="Shape 15"/>
          <p:cNvSpPr/>
          <p:nvPr/>
        </p:nvSpPr>
        <p:spPr>
          <a:xfrm>
            <a:off x="6263640" y="1600200"/>
            <a:ext cx="5257800" cy="3383280"/>
          </a:xfrm>
          <a:prstGeom prst="roundRect">
            <a:avLst>
              <a:gd name="adj" fmla="val 2432"/>
            </a:avLst>
          </a:prstGeom>
          <a:solidFill>
            <a:srgbClr val="EAF5F3"/>
          </a:solidFill>
          <a:ln w="12700">
            <a:solidFill>
              <a:srgbClr val="EAF5F3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263640" y="1783080"/>
            <a:ext cx="5257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WITH ONE SENTENCE A WEEK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6263640" y="2103120"/>
            <a:ext cx="5257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9.3%</a:t>
            </a:r>
            <a:endParaRPr lang="en-US" sz="5200" dirty="0"/>
          </a:p>
        </p:txBody>
      </p:sp>
      <p:sp>
        <p:nvSpPr>
          <p:cNvPr id="21" name="Text 18"/>
          <p:cNvSpPr/>
          <p:nvPr/>
        </p:nvSpPr>
        <p:spPr>
          <a:xfrm>
            <a:off x="6537960" y="3108960"/>
            <a:ext cx="47091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failed when teachers sent one individualized sentence home weekly: a 41% reduction, strongest for improvement-focused messages. (Same study)</a:t>
            </a:r>
            <a:endParaRPr lang="en-US" sz="1600" dirty="0"/>
          </a:p>
        </p:txBody>
      </p:sp>
      <p:sp>
        <p:nvSpPr>
          <p:cNvPr id="22" name="Text 19"/>
          <p:cNvSpPr/>
          <p:nvPr/>
        </p:nvSpPr>
        <p:spPr>
          <a:xfrm>
            <a:off x="640080" y="5349240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Personal-at-scale used to cost hours nobody had. That cost just changed.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622792" y="6428232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6 · AI for Communication   |   4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8732520" y="109728"/>
            <a:ext cx="2926080" cy="896112"/>
          </a:xfrm>
          <a:prstGeom prst="roundRect">
            <a:avLst>
              <a:gd name="adj" fmla="val 7143"/>
            </a:avLst>
          </a:prstGeom>
          <a:solidFill>
            <a:srgbClr val="F7F5F0"/>
          </a:solidFill>
          <a:ln w="12700">
            <a:solidFill>
              <a:srgbClr val="DCE3E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732520" y="109728"/>
            <a:ext cx="2926080" cy="237744"/>
          </a:xfrm>
          <a:prstGeom prst="roundRect">
            <a:avLst>
              <a:gd name="adj" fmla="val 26923"/>
            </a:avLst>
          </a:prstGeom>
          <a:solidFill>
            <a:srgbClr val="0D1E2E"/>
          </a:solidFill>
          <a:ln w="12700">
            <a:solidFill>
              <a:srgbClr val="0D1E2E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823960" y="182880"/>
            <a:ext cx="91440" cy="91440"/>
          </a:xfrm>
          <a:prstGeom prst="ellipse">
            <a:avLst/>
          </a:prstGeom>
          <a:solidFill>
            <a:srgbClr val="E8837A"/>
          </a:solidFill>
          <a:ln w="12700">
            <a:solidFill>
              <a:srgbClr val="E8837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970264" y="182880"/>
            <a:ext cx="91440" cy="91440"/>
          </a:xfrm>
          <a:prstGeom prst="ellipse">
            <a:avLst/>
          </a:prstGeom>
          <a:solidFill>
            <a:srgbClr val="F4A825"/>
          </a:solidFill>
          <a:ln w="12700">
            <a:solidFill>
              <a:srgbClr val="F4A82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116568" y="182880"/>
            <a:ext cx="91440" cy="91440"/>
          </a:xfrm>
          <a:prstGeom prst="ellipse">
            <a:avLst/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299448" y="109728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MS. RIVERA'S SCREEN · SO FAR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860536" y="365760"/>
            <a:ext cx="26700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Her goal: next week's real message drafted, a positive-note batch, a translation plan.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HOUR AHEAD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Agenda, and one promise</a:t>
            </a:r>
            <a:endParaRPr lang="en-US" sz="3200" dirty="0"/>
          </a:p>
        </p:txBody>
      </p:sp>
      <p:sp>
        <p:nvSpPr>
          <p:cNvPr id="14" name="Text 11"/>
          <p:cNvSpPr/>
          <p:nvPr/>
        </p:nvSpPr>
        <p:spPr>
          <a:xfrm>
            <a:off x="822960" y="1463040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0:05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1920240" y="146304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AI does well here, and the voice it threatens</a:t>
            </a:r>
            <a:endParaRPr lang="en-US" sz="2000" dirty="0"/>
          </a:p>
        </p:txBody>
      </p:sp>
      <p:sp>
        <p:nvSpPr>
          <p:cNvPr id="16" name="Text 13"/>
          <p:cNvSpPr/>
          <p:nvPr/>
        </p:nvSpPr>
        <p:spPr>
          <a:xfrm>
            <a:off x="822960" y="2194560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0:12</a:t>
            </a:r>
            <a:endParaRPr lang="en-US" sz="2000" dirty="0"/>
          </a:p>
        </p:txBody>
      </p:sp>
      <p:sp>
        <p:nvSpPr>
          <p:cNvPr id="17" name="Text 14"/>
          <p:cNvSpPr/>
          <p:nvPr/>
        </p:nvSpPr>
        <p:spPr>
          <a:xfrm>
            <a:off x="1920240" y="219456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Three makeovers: newsletter, hard email, note batch</a:t>
            </a:r>
            <a:endParaRPr lang="en-US" sz="2000" dirty="0"/>
          </a:p>
        </p:txBody>
      </p:sp>
      <p:sp>
        <p:nvSpPr>
          <p:cNvPr id="18" name="Text 15"/>
          <p:cNvSpPr/>
          <p:nvPr/>
        </p:nvSpPr>
        <p:spPr>
          <a:xfrm>
            <a:off x="822960" y="2926080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0:24</a:t>
            </a:r>
            <a:endParaRPr lang="en-US" sz="2000" dirty="0"/>
          </a:p>
        </p:txBody>
      </p:sp>
      <p:sp>
        <p:nvSpPr>
          <p:cNvPr id="19" name="Text 16"/>
          <p:cNvSpPr/>
          <p:nvPr/>
        </p:nvSpPr>
        <p:spPr>
          <a:xfrm>
            <a:off x="1920240" y="292608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Reaching every family: translation, tone, the human-only list</a:t>
            </a:r>
            <a:endParaRPr lang="en-US" sz="2000" dirty="0"/>
          </a:p>
        </p:txBody>
      </p:sp>
      <p:sp>
        <p:nvSpPr>
          <p:cNvPr id="20" name="Text 17"/>
          <p:cNvSpPr/>
          <p:nvPr/>
        </p:nvSpPr>
        <p:spPr>
          <a:xfrm>
            <a:off x="822960" y="3657600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0:30</a:t>
            </a:r>
            <a:endParaRPr lang="en-US" sz="2000" dirty="0"/>
          </a:p>
        </p:txBody>
      </p:sp>
      <p:sp>
        <p:nvSpPr>
          <p:cNvPr id="21" name="Text 18"/>
          <p:cNvSpPr/>
          <p:nvPr/>
        </p:nvSpPr>
        <p:spPr>
          <a:xfrm>
            <a:off x="1920240" y="365760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Lab: real messages, really sent</a:t>
            </a:r>
            <a:endParaRPr lang="en-US" sz="2000" dirty="0"/>
          </a:p>
        </p:txBody>
      </p:sp>
      <p:sp>
        <p:nvSpPr>
          <p:cNvPr id="22" name="Text 19"/>
          <p:cNvSpPr/>
          <p:nvPr/>
        </p:nvSpPr>
        <p:spPr>
          <a:xfrm>
            <a:off x="822960" y="4389120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0:52</a:t>
            </a:r>
            <a:endParaRPr lang="en-US" sz="2000" dirty="0"/>
          </a:p>
        </p:txBody>
      </p:sp>
      <p:sp>
        <p:nvSpPr>
          <p:cNvPr id="23" name="Text 20"/>
          <p:cNvSpPr/>
          <p:nvPr/>
        </p:nvSpPr>
        <p:spPr>
          <a:xfrm>
            <a:off x="1920240" y="438912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Making it stick + first 48 hours</a:t>
            </a:r>
            <a:endParaRPr lang="en-US" sz="2000" dirty="0"/>
          </a:p>
        </p:txBody>
      </p:sp>
      <p:sp>
        <p:nvSpPr>
          <p:cNvPr id="24" name="Shape 21"/>
          <p:cNvSpPr/>
          <p:nvPr/>
        </p:nvSpPr>
        <p:spPr>
          <a:xfrm>
            <a:off x="9052560" y="1920240"/>
            <a:ext cx="2606040" cy="2926080"/>
          </a:xfrm>
          <a:prstGeom prst="roundRect">
            <a:avLst>
              <a:gd name="adj" fmla="val 3158"/>
            </a:avLst>
          </a:prstGeom>
          <a:solidFill>
            <a:srgbClr val="13293D"/>
          </a:solidFill>
          <a:ln w="12700">
            <a:solidFill>
              <a:srgbClr val="13293D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9281160" y="214884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4A8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promise</a:t>
            </a:r>
            <a:endParaRPr lang="en-US" sz="1600" dirty="0"/>
          </a:p>
        </p:txBody>
      </p:sp>
      <p:sp>
        <p:nvSpPr>
          <p:cNvPr id="26" name="Text 23"/>
          <p:cNvSpPr/>
          <p:nvPr/>
        </p:nvSpPr>
        <p:spPr>
          <a:xfrm>
            <a:off x="9281160" y="2560320"/>
            <a:ext cx="21488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 leave with next week's real message written and voiced, a positive-note batch started, and a translation plan for your roster.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622792" y="6428232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6 · AI for Communication   |   5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8732520" y="109728"/>
            <a:ext cx="2926080" cy="896112"/>
          </a:xfrm>
          <a:prstGeom prst="roundRect">
            <a:avLst>
              <a:gd name="adj" fmla="val 7143"/>
            </a:avLst>
          </a:prstGeom>
          <a:solidFill>
            <a:srgbClr val="F7F5F0"/>
          </a:solidFill>
          <a:ln w="12700">
            <a:solidFill>
              <a:srgbClr val="DCE3E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732520" y="109728"/>
            <a:ext cx="2926080" cy="237744"/>
          </a:xfrm>
          <a:prstGeom prst="roundRect">
            <a:avLst>
              <a:gd name="adj" fmla="val 26923"/>
            </a:avLst>
          </a:prstGeom>
          <a:solidFill>
            <a:srgbClr val="0D1E2E"/>
          </a:solidFill>
          <a:ln w="12700">
            <a:solidFill>
              <a:srgbClr val="0D1E2E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823960" y="182880"/>
            <a:ext cx="91440" cy="91440"/>
          </a:xfrm>
          <a:prstGeom prst="ellipse">
            <a:avLst/>
          </a:prstGeom>
          <a:solidFill>
            <a:srgbClr val="E8837A"/>
          </a:solidFill>
          <a:ln w="12700">
            <a:solidFill>
              <a:srgbClr val="E8837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970264" y="182880"/>
            <a:ext cx="91440" cy="91440"/>
          </a:xfrm>
          <a:prstGeom prst="ellipse">
            <a:avLst/>
          </a:prstGeom>
          <a:solidFill>
            <a:srgbClr val="F4A825"/>
          </a:solidFill>
          <a:ln w="12700">
            <a:solidFill>
              <a:srgbClr val="F4A82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116568" y="182880"/>
            <a:ext cx="91440" cy="91440"/>
          </a:xfrm>
          <a:prstGeom prst="ellipse">
            <a:avLst/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299448" y="109728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MS. RIVERA'S SCREEN · SO FAR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860536" y="365760"/>
            <a:ext cx="26700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Her shortlist: newsletters, updates, tone repair, reading level, reformatting.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THE INTERN EARNS ITS KEEP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it's genuinely good at here</a:t>
            </a:r>
            <a:endParaRPr lang="en-US" sz="3200" dirty="0"/>
          </a:p>
        </p:txBody>
      </p:sp>
      <p:sp>
        <p:nvSpPr>
          <p:cNvPr id="14" name="Shape 11"/>
          <p:cNvSpPr/>
          <p:nvPr/>
        </p:nvSpPr>
        <p:spPr>
          <a:xfrm>
            <a:off x="640080" y="1463040"/>
            <a:ext cx="5349240" cy="1600200"/>
          </a:xfrm>
          <a:prstGeom prst="roundRect">
            <a:avLst>
              <a:gd name="adj" fmla="val 5143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14400" y="1627632"/>
            <a:ext cx="4800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First drafts</a:t>
            </a:r>
            <a:endParaRPr lang="en-US" sz="2000" dirty="0"/>
          </a:p>
        </p:txBody>
      </p:sp>
      <p:sp>
        <p:nvSpPr>
          <p:cNvPr id="16" name="Text 13"/>
          <p:cNvSpPr/>
          <p:nvPr/>
        </p:nvSpPr>
        <p:spPr>
          <a:xfrm>
            <a:off x="914400" y="2084832"/>
            <a:ext cx="4800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Newsletters, updates, reminders: the routine wave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6263640" y="1463040"/>
            <a:ext cx="5349240" cy="1600200"/>
          </a:xfrm>
          <a:prstGeom prst="roundRect">
            <a:avLst>
              <a:gd name="adj" fmla="val 5143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537960" y="1627632"/>
            <a:ext cx="4800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Tone repair</a:t>
            </a:r>
            <a:endParaRPr lang="en-US" sz="2000" dirty="0"/>
          </a:p>
        </p:txBody>
      </p:sp>
      <p:sp>
        <p:nvSpPr>
          <p:cNvPr id="19" name="Text 16"/>
          <p:cNvSpPr/>
          <p:nvPr/>
        </p:nvSpPr>
        <p:spPr>
          <a:xfrm>
            <a:off x="6537960" y="2084832"/>
            <a:ext cx="4800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When you're too tired or too angry to find the words</a:t>
            </a:r>
            <a:endParaRPr lang="en-US" sz="1600" dirty="0"/>
          </a:p>
        </p:txBody>
      </p:sp>
      <p:sp>
        <p:nvSpPr>
          <p:cNvPr id="20" name="Shape 17"/>
          <p:cNvSpPr/>
          <p:nvPr/>
        </p:nvSpPr>
        <p:spPr>
          <a:xfrm>
            <a:off x="640080" y="3246120"/>
            <a:ext cx="5349240" cy="1600200"/>
          </a:xfrm>
          <a:prstGeom prst="roundRect">
            <a:avLst>
              <a:gd name="adj" fmla="val 5143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914400" y="3410712"/>
            <a:ext cx="4800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Reading level</a:t>
            </a:r>
            <a:endParaRPr lang="en-US" sz="2000" dirty="0"/>
          </a:p>
        </p:txBody>
      </p:sp>
      <p:sp>
        <p:nvSpPr>
          <p:cNvPr id="22" name="Text 19"/>
          <p:cNvSpPr/>
          <p:nvPr/>
        </p:nvSpPr>
        <p:spPr>
          <a:xfrm>
            <a:off x="914400" y="3867912"/>
            <a:ext cx="4800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Plain, skimmable messages that land for every family</a:t>
            </a:r>
            <a:endParaRPr lang="en-US" sz="1600" dirty="0"/>
          </a:p>
        </p:txBody>
      </p:sp>
      <p:sp>
        <p:nvSpPr>
          <p:cNvPr id="23" name="Shape 20"/>
          <p:cNvSpPr/>
          <p:nvPr/>
        </p:nvSpPr>
        <p:spPr>
          <a:xfrm>
            <a:off x="6263640" y="3246120"/>
            <a:ext cx="5349240" cy="1600200"/>
          </a:xfrm>
          <a:prstGeom prst="roundRect">
            <a:avLst>
              <a:gd name="adj" fmla="val 5143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6537960" y="3410712"/>
            <a:ext cx="4800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Reformatting</a:t>
            </a:r>
            <a:endParaRPr lang="en-US" sz="2000" dirty="0"/>
          </a:p>
        </p:txBody>
      </p:sp>
      <p:sp>
        <p:nvSpPr>
          <p:cNvPr id="25" name="Text 22"/>
          <p:cNvSpPr/>
          <p:nvPr/>
        </p:nvSpPr>
        <p:spPr>
          <a:xfrm>
            <a:off x="6537960" y="3867912"/>
            <a:ext cx="4800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update as an email, a text blurb, and a flyer</a:t>
            </a:r>
            <a:endParaRPr lang="en-US" sz="1600" dirty="0"/>
          </a:p>
        </p:txBody>
      </p:sp>
      <p:sp>
        <p:nvSpPr>
          <p:cNvPr id="26" name="Text 23"/>
          <p:cNvSpPr/>
          <p:nvPr/>
        </p:nvSpPr>
        <p:spPr>
          <a:xfrm>
            <a:off x="640080" y="516636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 on the list: anything that requires knowing the family. That was never draftable.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622792" y="6428232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6 · AI for Communication   |   6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8732520" y="109728"/>
            <a:ext cx="2926080" cy="896112"/>
          </a:xfrm>
          <a:prstGeom prst="roundRect">
            <a:avLst>
              <a:gd name="adj" fmla="val 7143"/>
            </a:avLst>
          </a:prstGeom>
          <a:solidFill>
            <a:srgbClr val="F7F5F0"/>
          </a:solidFill>
          <a:ln w="12700">
            <a:solidFill>
              <a:srgbClr val="DCE3E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732520" y="109728"/>
            <a:ext cx="2926080" cy="237744"/>
          </a:xfrm>
          <a:prstGeom prst="roundRect">
            <a:avLst>
              <a:gd name="adj" fmla="val 26923"/>
            </a:avLst>
          </a:prstGeom>
          <a:solidFill>
            <a:srgbClr val="0D1E2E"/>
          </a:solidFill>
          <a:ln w="12700">
            <a:solidFill>
              <a:srgbClr val="0D1E2E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823960" y="182880"/>
            <a:ext cx="91440" cy="91440"/>
          </a:xfrm>
          <a:prstGeom prst="ellipse">
            <a:avLst/>
          </a:prstGeom>
          <a:solidFill>
            <a:srgbClr val="E8837A"/>
          </a:solidFill>
          <a:ln w="12700">
            <a:solidFill>
              <a:srgbClr val="E8837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970264" y="182880"/>
            <a:ext cx="91440" cy="91440"/>
          </a:xfrm>
          <a:prstGeom prst="ellipse">
            <a:avLst/>
          </a:prstGeom>
          <a:solidFill>
            <a:srgbClr val="F4A825"/>
          </a:solidFill>
          <a:ln w="12700">
            <a:solidFill>
              <a:srgbClr val="F4A82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116568" y="182880"/>
            <a:ext cx="91440" cy="91440"/>
          </a:xfrm>
          <a:prstGeom prst="ellipse">
            <a:avLst/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299448" y="109728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MS. RIVERA'S SCREEN · SO FAR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860536" y="365760"/>
            <a:ext cx="26700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Her worry, named: if every note sounds like every other note, families notice.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ONE THING IT THREATENS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voice problem</a:t>
            </a:r>
            <a:endParaRPr lang="en-US" sz="3200" dirty="0"/>
          </a:p>
        </p:txBody>
      </p:sp>
      <p:sp>
        <p:nvSpPr>
          <p:cNvPr id="14" name="Text 11"/>
          <p:cNvSpPr/>
          <p:nvPr/>
        </p:nvSpPr>
        <p:spPr>
          <a:xfrm>
            <a:off x="640080" y="1417320"/>
            <a:ext cx="10908792" cy="2651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output has a house style: smooth, pleasant, beige</a:t>
            </a:r>
            <a:endParaRPr lang="en-US" sz="2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 a lesson plan, beige is fine. In a message to a family who knows you, beige is noticeable</a:t>
            </a:r>
            <a:endParaRPr lang="en-US" sz="2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Across a school it compounds: if every newsletter sounds like the same cheerful robot, families stop reading all of them</a:t>
            </a:r>
            <a:endParaRPr lang="en-US" sz="2100" dirty="0"/>
          </a:p>
        </p:txBody>
      </p:sp>
      <p:sp>
        <p:nvSpPr>
          <p:cNvPr id="15" name="Shape 12"/>
          <p:cNvSpPr/>
          <p:nvPr/>
        </p:nvSpPr>
        <p:spPr>
          <a:xfrm>
            <a:off x="640080" y="4297680"/>
            <a:ext cx="10972800" cy="1371600"/>
          </a:xfrm>
          <a:prstGeom prst="roundRect">
            <a:avLst>
              <a:gd name="adj" fmla="val 6000"/>
            </a:avLst>
          </a:prstGeom>
          <a:solidFill>
            <a:srgbClr val="EAF5F3"/>
          </a:solidFill>
          <a:ln w="12700">
            <a:solidFill>
              <a:srgbClr val="EAF5F3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960120" y="4480560"/>
            <a:ext cx="10332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 slightly imperfect, recognizable, human voice is not a flaw to polish out. It's the asset.</a:t>
            </a:r>
            <a:endParaRPr lang="en-US" sz="2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622792" y="6428232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6 · AI for Communication   |   7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8732520" y="109728"/>
            <a:ext cx="2926080" cy="896112"/>
          </a:xfrm>
          <a:prstGeom prst="roundRect">
            <a:avLst>
              <a:gd name="adj" fmla="val 7143"/>
            </a:avLst>
          </a:prstGeom>
          <a:solidFill>
            <a:srgbClr val="F7F5F0"/>
          </a:solidFill>
          <a:ln w="12700">
            <a:solidFill>
              <a:srgbClr val="DCE3E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732520" y="109728"/>
            <a:ext cx="2926080" cy="237744"/>
          </a:xfrm>
          <a:prstGeom prst="roundRect">
            <a:avLst>
              <a:gd name="adj" fmla="val 26923"/>
            </a:avLst>
          </a:prstGeom>
          <a:solidFill>
            <a:srgbClr val="0D1E2E"/>
          </a:solidFill>
          <a:ln w="12700">
            <a:solidFill>
              <a:srgbClr val="0D1E2E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823960" y="182880"/>
            <a:ext cx="91440" cy="91440"/>
          </a:xfrm>
          <a:prstGeom prst="ellipse">
            <a:avLst/>
          </a:prstGeom>
          <a:solidFill>
            <a:srgbClr val="E8837A"/>
          </a:solidFill>
          <a:ln w="12700">
            <a:solidFill>
              <a:srgbClr val="E8837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970264" y="182880"/>
            <a:ext cx="91440" cy="91440"/>
          </a:xfrm>
          <a:prstGeom prst="ellipse">
            <a:avLst/>
          </a:prstGeom>
          <a:solidFill>
            <a:srgbClr val="F4A825"/>
          </a:solidFill>
          <a:ln w="12700">
            <a:solidFill>
              <a:srgbClr val="F4A82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116568" y="182880"/>
            <a:ext cx="91440" cy="91440"/>
          </a:xfrm>
          <a:prstGeom prst="ellipse">
            <a:avLst/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299448" y="109728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MS. RIVERA'S SCREEN · SO FAR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860536" y="365760"/>
            <a:ext cx="26700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Her two rules, still on: the situation, never the child; nothing goes out unread.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1, POINTED AT THE INBOX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two rules ride along</a:t>
            </a:r>
            <a:endParaRPr lang="en-US" sz="3200" dirty="0"/>
          </a:p>
        </p:txBody>
      </p:sp>
      <p:sp>
        <p:nvSpPr>
          <p:cNvPr id="14" name="Shape 11"/>
          <p:cNvSpPr/>
          <p:nvPr/>
        </p:nvSpPr>
        <p:spPr>
          <a:xfrm>
            <a:off x="640080" y="1554480"/>
            <a:ext cx="5394960" cy="3931920"/>
          </a:xfrm>
          <a:prstGeom prst="roundRect">
            <a:avLst>
              <a:gd name="adj" fmla="val 2093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60120" y="1783080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SITUATION, NEVER THE CHILD</a:t>
            </a:r>
            <a:endParaRPr lang="en-US" sz="1500" dirty="0"/>
          </a:p>
        </p:txBody>
      </p:sp>
      <p:sp>
        <p:nvSpPr>
          <p:cNvPr id="16" name="Text 13"/>
          <p:cNvSpPr/>
          <p:nvPr/>
        </p:nvSpPr>
        <p:spPr>
          <a:xfrm>
            <a:off x="960120" y="2240280"/>
            <a:ext cx="48006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Family messages are about specific kids, so the temptation is strongest here. Describe the situation to the tool ("a middle schooler with several missing assignments"); add the name after the draft is back in your own email.</a:t>
            </a:r>
            <a:endParaRPr lang="en-US" sz="1700" dirty="0"/>
          </a:p>
        </p:txBody>
      </p:sp>
      <p:sp>
        <p:nvSpPr>
          <p:cNvPr id="17" name="Shape 14"/>
          <p:cNvSpPr/>
          <p:nvPr/>
        </p:nvSpPr>
        <p:spPr>
          <a:xfrm>
            <a:off x="6263640" y="1554480"/>
            <a:ext cx="5394960" cy="3931920"/>
          </a:xfrm>
          <a:prstGeom prst="roundRect">
            <a:avLst>
              <a:gd name="adj" fmla="val 2093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583680" y="1783080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NOTHING GOES OUT UNREAD</a:t>
            </a:r>
            <a:endParaRPr lang="en-US" sz="1500" dirty="0"/>
          </a:p>
        </p:txBody>
      </p:sp>
      <p:sp>
        <p:nvSpPr>
          <p:cNvPr id="19" name="Text 16"/>
          <p:cNvSpPr/>
          <p:nvPr/>
        </p:nvSpPr>
        <p:spPr>
          <a:xfrm>
            <a:off x="6583680" y="2240280"/>
            <a:ext cx="48006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 name is on it. A family can't tell what you wrote from what you approved, and they shouldn't have to. Review, personalize, then send: the humans-in-the-loop habit, applied to the send button.</a:t>
            </a:r>
            <a:endParaRPr lang="en-US" sz="1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329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622792" y="6428232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6 · AI for Communication   |   8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8732520" y="109728"/>
            <a:ext cx="2926080" cy="896112"/>
          </a:xfrm>
          <a:prstGeom prst="roundRect">
            <a:avLst>
              <a:gd name="adj" fmla="val 7143"/>
            </a:avLst>
          </a:prstGeom>
          <a:solidFill>
            <a:srgbClr val="1E3A50"/>
          </a:solidFill>
          <a:ln w="12700">
            <a:solidFill>
              <a:srgbClr val="2A4A63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732520" y="109728"/>
            <a:ext cx="2926080" cy="237744"/>
          </a:xfrm>
          <a:prstGeom prst="roundRect">
            <a:avLst>
              <a:gd name="adj" fmla="val 26923"/>
            </a:avLst>
          </a:prstGeom>
          <a:solidFill>
            <a:srgbClr val="0D1E2E"/>
          </a:solidFill>
          <a:ln w="12700">
            <a:solidFill>
              <a:srgbClr val="0D1E2E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823960" y="182880"/>
            <a:ext cx="91440" cy="91440"/>
          </a:xfrm>
          <a:prstGeom prst="ellipse">
            <a:avLst/>
          </a:prstGeom>
          <a:solidFill>
            <a:srgbClr val="E8837A"/>
          </a:solidFill>
          <a:ln w="12700">
            <a:solidFill>
              <a:srgbClr val="E8837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970264" y="182880"/>
            <a:ext cx="91440" cy="91440"/>
          </a:xfrm>
          <a:prstGeom prst="ellipse">
            <a:avLst/>
          </a:prstGeom>
          <a:solidFill>
            <a:srgbClr val="F4A825"/>
          </a:solidFill>
          <a:ln w="12700">
            <a:solidFill>
              <a:srgbClr val="F4A82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116568" y="182880"/>
            <a:ext cx="91440" cy="91440"/>
          </a:xfrm>
          <a:prstGeom prst="ellipse">
            <a:avLst/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299448" y="109728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MS. RIVERA'S SCREEN · SO FAR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860536" y="365760"/>
            <a:ext cx="26700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9D4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Her banner: families hear HER, not the tool.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822960" y="155448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F4A8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BANNER OVER EVERYTHING TODAY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822960" y="2103120"/>
            <a:ext cx="10515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Families hear you,</a:t>
            </a:r>
            <a:endParaRPr lang="en-US" sz="4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 the tool.</a:t>
            </a:r>
            <a:endParaRPr lang="en-US" sz="4400" dirty="0"/>
          </a:p>
        </p:txBody>
      </p:sp>
      <p:sp>
        <p:nvSpPr>
          <p:cNvPr id="14" name="Text 11"/>
          <p:cNvSpPr/>
          <p:nvPr/>
        </p:nvSpPr>
        <p:spPr>
          <a:xfrm>
            <a:off x="822960" y="4114800"/>
            <a:ext cx="10332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C9D4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drafts; you review, personalize, and send. If a message wouldn't survive you reading it aloud in your own voice at a conference, it isn't done.</a:t>
            </a:r>
            <a:endParaRPr lang="en-US" sz="1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622792" y="6428232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6 · AI for Communication   |   9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MAKEOVER #1 · THE NEWSLETTER · ON MS. RIVERA'S SCREEN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weekly newsletter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640080" y="1298448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445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BEFORE   </a:t>
            </a:r>
            <a:pPr indent="0" marL="0">
              <a:buNone/>
            </a:pPr>
            <a:r>
              <a:rPr lang="en-US" sz="1600" i="1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"Write my newsletter."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640080" y="1783080"/>
            <a:ext cx="10972800" cy="3520440"/>
          </a:xfrm>
          <a:prstGeom prst="roundRect">
            <a:avLst>
              <a:gd name="adj" fmla="val 2597"/>
            </a:avLst>
          </a:prstGeom>
          <a:solidFill>
            <a:srgbClr val="FFFFFF"/>
          </a:solidFill>
          <a:ln w="19050">
            <a:solidFill>
              <a:srgbClr val="DCE3EA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640080" y="1783080"/>
            <a:ext cx="10972800" cy="384048"/>
          </a:xfrm>
          <a:prstGeom prst="roundRect">
            <a:avLst>
              <a:gd name="adj" fmla="val 23810"/>
            </a:avLst>
          </a:prstGeom>
          <a:solidFill>
            <a:srgbClr val="13293D"/>
          </a:solidFill>
          <a:ln w="12700">
            <a:solidFill>
              <a:srgbClr val="13293D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68680" y="1901952"/>
            <a:ext cx="146304" cy="146304"/>
          </a:xfrm>
          <a:prstGeom prst="ellipse">
            <a:avLst/>
          </a:prstGeom>
          <a:solidFill>
            <a:srgbClr val="E8837A"/>
          </a:solidFill>
          <a:ln w="12700">
            <a:solidFill>
              <a:srgbClr val="E8837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115568" y="1901952"/>
            <a:ext cx="146304" cy="146304"/>
          </a:xfrm>
          <a:prstGeom prst="ellipse">
            <a:avLst/>
          </a:prstGeom>
          <a:solidFill>
            <a:srgbClr val="F4A825"/>
          </a:solidFill>
          <a:ln w="12700">
            <a:solidFill>
              <a:srgbClr val="F4A825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362456" y="1901952"/>
            <a:ext cx="146304" cy="146304"/>
          </a:xfrm>
          <a:prstGeom prst="ellipse">
            <a:avLst/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783080" y="1783080"/>
            <a:ext cx="9692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chat tool (any of them) · Ms. Rivera, our running example teacher (a composite, not a real person)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1554480" y="2377440"/>
            <a:ext cx="9646920" cy="2697480"/>
          </a:xfrm>
          <a:prstGeom prst="roundRect">
            <a:avLst>
              <a:gd name="adj" fmla="val 4068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783080" y="2514600"/>
            <a:ext cx="91897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"You are a warm, organized teacher. </a:t>
            </a:r>
            <a:pPr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Draft this week's family newsletter for my class. </a:t>
            </a:r>
            <a:pPr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rgbClr val="B079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Context: we finished our fractions unit, the science fair is Thursday at 6 p.m. in the gym, picture day is Friday, and the blue permission slip is due Wednesday. </a:t>
            </a:r>
            <a:pPr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rgbClr val="2E7D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Format: under 150 words, warm but skimmable on a phone, action items as a short bulleted list, one positive line about the class's week."</a:t>
            </a:r>
            <a:endParaRPr lang="en-US" sz="1600" dirty="0"/>
          </a:p>
        </p:txBody>
      </p:sp>
      <p:sp>
        <p:nvSpPr>
          <p:cNvPr id="16" name="Shape 13"/>
          <p:cNvSpPr/>
          <p:nvPr/>
        </p:nvSpPr>
        <p:spPr>
          <a:xfrm>
            <a:off x="640080" y="5532120"/>
            <a:ext cx="2606040" cy="457200"/>
          </a:xfrm>
          <a:prstGeom prst="roundRect">
            <a:avLst>
              <a:gd name="adj" fmla="val 50000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40080" y="5532120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200" kern="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ROLE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3456432" y="5532120"/>
            <a:ext cx="2606040" cy="457200"/>
          </a:xfrm>
          <a:prstGeom prst="roundRect">
            <a:avLst>
              <a:gd name="adj" fmla="val 50000"/>
            </a:avLst>
          </a:prstGeom>
          <a:solidFill>
            <a:srgbClr val="13293D"/>
          </a:solidFill>
          <a:ln w="12700">
            <a:solidFill>
              <a:srgbClr val="13293D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3456432" y="5532120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200" kern="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TASK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6272784" y="5532120"/>
            <a:ext cx="2606040" cy="457200"/>
          </a:xfrm>
          <a:prstGeom prst="roundRect">
            <a:avLst>
              <a:gd name="adj" fmla="val 50000"/>
            </a:avLst>
          </a:prstGeom>
          <a:solidFill>
            <a:srgbClr val="B07914"/>
          </a:solidFill>
          <a:ln w="12700">
            <a:solidFill>
              <a:srgbClr val="B07914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6272784" y="5532120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200" kern="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CONTEXT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9089136" y="5532120"/>
            <a:ext cx="2606040" cy="457200"/>
          </a:xfrm>
          <a:prstGeom prst="roundRect">
            <a:avLst>
              <a:gd name="adj" fmla="val 50000"/>
            </a:avLst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9089136" y="5532120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200" kern="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FORMAT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622792" y="6428232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6 · AI for Communication   |   10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8732520" y="109728"/>
            <a:ext cx="2926080" cy="896112"/>
          </a:xfrm>
          <a:prstGeom prst="roundRect">
            <a:avLst>
              <a:gd name="adj" fmla="val 7143"/>
            </a:avLst>
          </a:prstGeom>
          <a:solidFill>
            <a:srgbClr val="F7F5F0"/>
          </a:solidFill>
          <a:ln w="12700">
            <a:solidFill>
              <a:srgbClr val="DCE3E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732520" y="109728"/>
            <a:ext cx="2926080" cy="237744"/>
          </a:xfrm>
          <a:prstGeom prst="roundRect">
            <a:avLst>
              <a:gd name="adj" fmla="val 26923"/>
            </a:avLst>
          </a:prstGeom>
          <a:solidFill>
            <a:srgbClr val="0D1E2E"/>
          </a:solidFill>
          <a:ln w="12700">
            <a:solidFill>
              <a:srgbClr val="0D1E2E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823960" y="182880"/>
            <a:ext cx="91440" cy="91440"/>
          </a:xfrm>
          <a:prstGeom prst="ellipse">
            <a:avLst/>
          </a:prstGeom>
          <a:solidFill>
            <a:srgbClr val="E8837A"/>
          </a:solidFill>
          <a:ln w="12700">
            <a:solidFill>
              <a:srgbClr val="E8837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970264" y="182880"/>
            <a:ext cx="91440" cy="91440"/>
          </a:xfrm>
          <a:prstGeom prst="ellipse">
            <a:avLst/>
          </a:prstGeom>
          <a:solidFill>
            <a:srgbClr val="F4A825"/>
          </a:solidFill>
          <a:ln w="12700">
            <a:solidFill>
              <a:srgbClr val="F4A82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116568" y="182880"/>
            <a:ext cx="91440" cy="91440"/>
          </a:xfrm>
          <a:prstGeom prst="ellipse">
            <a:avLst/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299448" y="109728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MS. RIVERA'S SCREEN · SO FAR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860536" y="365760"/>
            <a:ext cx="26700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Her difficult email: vent draft deleted, professional draft sent, relationship intact.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MAKEOVER #2 · THE EMAIL YOU SHOULDN'T SEND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difficult email</a:t>
            </a:r>
            <a:endParaRPr lang="en-US" sz="3200" dirty="0"/>
          </a:p>
        </p:txBody>
      </p:sp>
      <p:sp>
        <p:nvSpPr>
          <p:cNvPr id="14" name="Shape 11"/>
          <p:cNvSpPr/>
          <p:nvPr/>
        </p:nvSpPr>
        <p:spPr>
          <a:xfrm>
            <a:off x="640080" y="1463040"/>
            <a:ext cx="10972800" cy="1371600"/>
          </a:xfrm>
          <a:prstGeom prst="roundRect">
            <a:avLst>
              <a:gd name="adj" fmla="val 6000"/>
            </a:avLst>
          </a:prstGeom>
          <a:solidFill>
            <a:srgbClr val="FBEFED"/>
          </a:solidFill>
          <a:ln w="12700">
            <a:solidFill>
              <a:srgbClr val="FBEFED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14400" y="1600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50" kern="0" dirty="0">
                <a:solidFill>
                  <a:srgbClr val="B445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SHE WANTED TO WRITE, 9 P.M.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914400" y="1938528"/>
            <a:ext cx="10424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Honest in exactly the way careers end. The vent draft gets deleted, never sent.</a:t>
            </a:r>
            <a:endParaRPr lang="en-US" sz="1700" dirty="0"/>
          </a:p>
        </p:txBody>
      </p:sp>
      <p:sp>
        <p:nvSpPr>
          <p:cNvPr id="17" name="Shape 14"/>
          <p:cNvSpPr/>
          <p:nvPr/>
        </p:nvSpPr>
        <p:spPr>
          <a:xfrm>
            <a:off x="640080" y="3063240"/>
            <a:ext cx="10972800" cy="2103120"/>
          </a:xfrm>
          <a:prstGeom prst="roundRect">
            <a:avLst>
              <a:gd name="adj" fmla="val 3913"/>
            </a:avLst>
          </a:prstGeom>
          <a:solidFill>
            <a:srgbClr val="EAF5F3"/>
          </a:solidFill>
          <a:ln w="12700">
            <a:solidFill>
              <a:srgbClr val="EAF5F3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914400" y="32004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50" kern="0" dirty="0">
                <a:solidFill>
                  <a:srgbClr val="2E7D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SHE ASKED THE TOOL INSTEAD (NO NAMES)</a:t>
            </a:r>
            <a:endParaRPr lang="en-US" sz="1150" dirty="0"/>
          </a:p>
        </p:txBody>
      </p:sp>
      <p:sp>
        <p:nvSpPr>
          <p:cNvPr id="19" name="Text 16"/>
          <p:cNvSpPr/>
          <p:nvPr/>
        </p:nvSpPr>
        <p:spPr>
          <a:xfrm>
            <a:off x="914400" y="3566160"/>
            <a:ext cx="1042416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"Draft a calm, professional reply to a frustrated parent who believes their child's grade is unfair. Acknowledge the frustration, explain that specifics belong in a conversation, offer two meeting times, under 120 words, firm and warm."</a:t>
            </a:r>
            <a:endParaRPr lang="en-US" sz="1700" dirty="0"/>
          </a:p>
        </p:txBody>
      </p:sp>
      <p:sp>
        <p:nvSpPr>
          <p:cNvPr id="20" name="Text 17"/>
          <p:cNvSpPr/>
          <p:nvPr/>
        </p:nvSpPr>
        <p:spPr>
          <a:xfrm>
            <a:off x="640080" y="54406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tool absorbs the heat. The 24-hour rule handles the rest: written angry waits a day.</a:t>
            </a:r>
            <a:endParaRPr lang="en-US" sz="1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622792" y="6428232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6 · AI for Communication   |   11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8732520" y="109728"/>
            <a:ext cx="2926080" cy="896112"/>
          </a:xfrm>
          <a:prstGeom prst="roundRect">
            <a:avLst>
              <a:gd name="adj" fmla="val 7143"/>
            </a:avLst>
          </a:prstGeom>
          <a:solidFill>
            <a:srgbClr val="F7F5F0"/>
          </a:solidFill>
          <a:ln w="12700">
            <a:solidFill>
              <a:srgbClr val="DCE3E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732520" y="109728"/>
            <a:ext cx="2926080" cy="237744"/>
          </a:xfrm>
          <a:prstGeom prst="roundRect">
            <a:avLst>
              <a:gd name="adj" fmla="val 26923"/>
            </a:avLst>
          </a:prstGeom>
          <a:solidFill>
            <a:srgbClr val="0D1E2E"/>
          </a:solidFill>
          <a:ln w="12700">
            <a:solidFill>
              <a:srgbClr val="0D1E2E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823960" y="182880"/>
            <a:ext cx="91440" cy="91440"/>
          </a:xfrm>
          <a:prstGeom prst="ellipse">
            <a:avLst/>
          </a:prstGeom>
          <a:solidFill>
            <a:srgbClr val="E8837A"/>
          </a:solidFill>
          <a:ln w="12700">
            <a:solidFill>
              <a:srgbClr val="E8837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970264" y="182880"/>
            <a:ext cx="91440" cy="91440"/>
          </a:xfrm>
          <a:prstGeom prst="ellipse">
            <a:avLst/>
          </a:prstGeom>
          <a:solidFill>
            <a:srgbClr val="F4A825"/>
          </a:solidFill>
          <a:ln w="12700">
            <a:solidFill>
              <a:srgbClr val="F4A82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116568" y="182880"/>
            <a:ext cx="91440" cy="91440"/>
          </a:xfrm>
          <a:prstGeom prst="ellipse">
            <a:avLst/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299448" y="109728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MS. RIVERA'S SCREEN · SO FAR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860536" y="365760"/>
            <a:ext cx="26700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Her batch: three one-sentence positive notes, each personalized before sending.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MAKEOVER #3 · THE RESEARCH, TURNED INTO A HABIT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positive-note batch</a:t>
            </a:r>
            <a:endParaRPr lang="en-US" sz="3200" dirty="0"/>
          </a:p>
        </p:txBody>
      </p:sp>
      <p:sp>
        <p:nvSpPr>
          <p:cNvPr id="14" name="Shape 11"/>
          <p:cNvSpPr/>
          <p:nvPr/>
        </p:nvSpPr>
        <p:spPr>
          <a:xfrm>
            <a:off x="822960" y="1600200"/>
            <a:ext cx="640080" cy="64008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16002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2400" dirty="0"/>
          </a:p>
        </p:txBody>
      </p:sp>
      <p:sp>
        <p:nvSpPr>
          <p:cNvPr id="16" name="Shape 13"/>
          <p:cNvSpPr/>
          <p:nvPr/>
        </p:nvSpPr>
        <p:spPr>
          <a:xfrm>
            <a:off x="1691640" y="1463040"/>
            <a:ext cx="9875520" cy="960120"/>
          </a:xfrm>
          <a:prstGeom prst="roundRect">
            <a:avLst>
              <a:gd name="adj" fmla="val 8571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1965960" y="1536192"/>
            <a:ext cx="9326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Once a week, ask for a page of one-sentence note starters: warm, improvement-focused, grouped by situation. No names near the tool.</a:t>
            </a:r>
            <a:endParaRPr lang="en-US" sz="1650" dirty="0"/>
          </a:p>
        </p:txBody>
      </p:sp>
      <p:sp>
        <p:nvSpPr>
          <p:cNvPr id="18" name="Shape 15"/>
          <p:cNvSpPr/>
          <p:nvPr/>
        </p:nvSpPr>
        <p:spPr>
          <a:xfrm>
            <a:off x="822960" y="2743200"/>
            <a:ext cx="640080" cy="64008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822960" y="27432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2400" dirty="0"/>
          </a:p>
        </p:txBody>
      </p:sp>
      <p:sp>
        <p:nvSpPr>
          <p:cNvPr id="20" name="Shape 17"/>
          <p:cNvSpPr/>
          <p:nvPr/>
        </p:nvSpPr>
        <p:spPr>
          <a:xfrm>
            <a:off x="1691640" y="2606040"/>
            <a:ext cx="9875520" cy="960120"/>
          </a:xfrm>
          <a:prstGeom prst="roundRect">
            <a:avLst>
              <a:gd name="adj" fmla="val 8571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1965960" y="2679192"/>
            <a:ext cx="9326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Pick three. Match each to a real student in your head.</a:t>
            </a:r>
            <a:endParaRPr lang="en-US" sz="1650" dirty="0"/>
          </a:p>
        </p:txBody>
      </p:sp>
      <p:sp>
        <p:nvSpPr>
          <p:cNvPr id="22" name="Shape 19"/>
          <p:cNvSpPr/>
          <p:nvPr/>
        </p:nvSpPr>
        <p:spPr>
          <a:xfrm>
            <a:off x="822960" y="3886200"/>
            <a:ext cx="640080" cy="64008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22960" y="38862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2400" dirty="0"/>
          </a:p>
        </p:txBody>
      </p:sp>
      <p:sp>
        <p:nvSpPr>
          <p:cNvPr id="24" name="Shape 21"/>
          <p:cNvSpPr/>
          <p:nvPr/>
        </p:nvSpPr>
        <p:spPr>
          <a:xfrm>
            <a:off x="1691640" y="3749040"/>
            <a:ext cx="9875520" cy="960120"/>
          </a:xfrm>
          <a:prstGeom prst="roundRect">
            <a:avLst>
              <a:gd name="adj" fmla="val 8571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1965960" y="3822192"/>
            <a:ext cx="9326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Personalize each in your own words, in your own email, and send. Five minutes, three families.</a:t>
            </a:r>
            <a:endParaRPr lang="en-US" sz="1650" dirty="0"/>
          </a:p>
        </p:txBody>
      </p:sp>
      <p:sp>
        <p:nvSpPr>
          <p:cNvPr id="26" name="Shape 23"/>
          <p:cNvSpPr/>
          <p:nvPr/>
        </p:nvSpPr>
        <p:spPr>
          <a:xfrm>
            <a:off x="640080" y="5029200"/>
            <a:ext cx="10972800" cy="914400"/>
          </a:xfrm>
          <a:prstGeom prst="roundRect">
            <a:avLst>
              <a:gd name="adj" fmla="val 9000"/>
            </a:avLst>
          </a:prstGeom>
          <a:solidFill>
            <a:srgbClr val="EAF5F3"/>
          </a:solidFill>
          <a:ln w="12700">
            <a:solidFill>
              <a:srgbClr val="EAF5F3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960120" y="5138928"/>
            <a:ext cx="10332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tool made the blank page cheap. The sentence that lands is still yours: that's the mechanism the research measured.</a:t>
            </a:r>
            <a:endParaRPr lang="en-US" sz="17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622792" y="6428232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6 · AI for Communication   |   12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8732520" y="109728"/>
            <a:ext cx="2926080" cy="896112"/>
          </a:xfrm>
          <a:prstGeom prst="roundRect">
            <a:avLst>
              <a:gd name="adj" fmla="val 7143"/>
            </a:avLst>
          </a:prstGeom>
          <a:solidFill>
            <a:srgbClr val="F7F5F0"/>
          </a:solidFill>
          <a:ln w="12700">
            <a:solidFill>
              <a:srgbClr val="DCE3E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732520" y="109728"/>
            <a:ext cx="2926080" cy="237744"/>
          </a:xfrm>
          <a:prstGeom prst="roundRect">
            <a:avLst>
              <a:gd name="adj" fmla="val 26923"/>
            </a:avLst>
          </a:prstGeom>
          <a:solidFill>
            <a:srgbClr val="0D1E2E"/>
          </a:solidFill>
          <a:ln w="12700">
            <a:solidFill>
              <a:srgbClr val="0D1E2E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823960" y="182880"/>
            <a:ext cx="91440" cy="91440"/>
          </a:xfrm>
          <a:prstGeom prst="ellipse">
            <a:avLst/>
          </a:prstGeom>
          <a:solidFill>
            <a:srgbClr val="E8837A"/>
          </a:solidFill>
          <a:ln w="12700">
            <a:solidFill>
              <a:srgbClr val="E8837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970264" y="182880"/>
            <a:ext cx="91440" cy="91440"/>
          </a:xfrm>
          <a:prstGeom prst="ellipse">
            <a:avLst/>
          </a:prstGeom>
          <a:solidFill>
            <a:srgbClr val="F4A825"/>
          </a:solidFill>
          <a:ln w="12700">
            <a:solidFill>
              <a:srgbClr val="F4A82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116568" y="182880"/>
            <a:ext cx="91440" cy="91440"/>
          </a:xfrm>
          <a:prstGeom prst="ellipse">
            <a:avLst/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299448" y="109728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MS. RIVERA'S SCREEN · SO FAR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860536" y="365760"/>
            <a:ext cx="26700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Her diagnosis eye: no audience, no action item, buried lede. Now she can fix all three.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PRACTICE · CALL OUT THE PROBLEM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Diagnose the message</a:t>
            </a:r>
            <a:endParaRPr lang="en-US" sz="3200" dirty="0"/>
          </a:p>
        </p:txBody>
      </p:sp>
      <p:sp>
        <p:nvSpPr>
          <p:cNvPr id="14" name="Text 11"/>
          <p:cNvSpPr/>
          <p:nvPr/>
        </p:nvSpPr>
        <p:spPr>
          <a:xfrm>
            <a:off x="731520" y="1508760"/>
            <a:ext cx="548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2200" dirty="0"/>
          </a:p>
        </p:txBody>
      </p:sp>
      <p:sp>
        <p:nvSpPr>
          <p:cNvPr id="15" name="Text 12"/>
          <p:cNvSpPr/>
          <p:nvPr/>
        </p:nvSpPr>
        <p:spPr>
          <a:xfrm>
            <a:off x="1371600" y="1463040"/>
            <a:ext cx="5760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400-word newsletter; the permission slip is in the last paragraph</a:t>
            </a:r>
            <a:endParaRPr lang="en-US" sz="1650" dirty="0"/>
          </a:p>
        </p:txBody>
      </p:sp>
      <p:sp>
        <p:nvSpPr>
          <p:cNvPr id="16" name="Text 13"/>
          <p:cNvSpPr/>
          <p:nvPr/>
        </p:nvSpPr>
        <p:spPr>
          <a:xfrm>
            <a:off x="7315200" y="1463040"/>
            <a:ext cx="4297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Buried lede: the action item leads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731520" y="2606040"/>
            <a:ext cx="548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2200" dirty="0"/>
          </a:p>
        </p:txBody>
      </p:sp>
      <p:sp>
        <p:nvSpPr>
          <p:cNvPr id="18" name="Text 15"/>
          <p:cNvSpPr/>
          <p:nvPr/>
        </p:nvSpPr>
        <p:spPr>
          <a:xfrm>
            <a:off x="1371600" y="2560320"/>
            <a:ext cx="5760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"Formative assessment data indicates…" to families</a:t>
            </a:r>
            <a:endParaRPr lang="en-US" sz="1650" dirty="0"/>
          </a:p>
        </p:txBody>
      </p:sp>
      <p:sp>
        <p:nvSpPr>
          <p:cNvPr id="19" name="Text 16"/>
          <p:cNvSpPr/>
          <p:nvPr/>
        </p:nvSpPr>
        <p:spPr>
          <a:xfrm>
            <a:off x="7315200" y="2560320"/>
            <a:ext cx="4297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Audience miss: plain words, phone-skimmable</a:t>
            </a:r>
            <a:endParaRPr lang="en-US" sz="1450" dirty="0"/>
          </a:p>
        </p:txBody>
      </p:sp>
      <p:sp>
        <p:nvSpPr>
          <p:cNvPr id="20" name="Text 17"/>
          <p:cNvSpPr/>
          <p:nvPr/>
        </p:nvSpPr>
        <p:spPr>
          <a:xfrm>
            <a:off x="731520" y="3703320"/>
            <a:ext cx="548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2200" dirty="0"/>
          </a:p>
        </p:txBody>
      </p:sp>
      <p:sp>
        <p:nvSpPr>
          <p:cNvPr id="21" name="Text 18"/>
          <p:cNvSpPr/>
          <p:nvPr/>
        </p:nvSpPr>
        <p:spPr>
          <a:xfrm>
            <a:off x="1371600" y="3657600"/>
            <a:ext cx="5760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Three updates, nothing for families to do</a:t>
            </a:r>
            <a:endParaRPr lang="en-US" sz="1650" dirty="0"/>
          </a:p>
        </p:txBody>
      </p:sp>
      <p:sp>
        <p:nvSpPr>
          <p:cNvPr id="22" name="Text 19"/>
          <p:cNvSpPr/>
          <p:nvPr/>
        </p:nvSpPr>
        <p:spPr>
          <a:xfrm>
            <a:off x="7315200" y="3657600"/>
            <a:ext cx="4297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action item: end with what to do, by when</a:t>
            </a:r>
            <a:endParaRPr lang="en-US" sz="1450" dirty="0"/>
          </a:p>
        </p:txBody>
      </p:sp>
      <p:sp>
        <p:nvSpPr>
          <p:cNvPr id="23" name="Text 20"/>
          <p:cNvSpPr/>
          <p:nvPr/>
        </p:nvSpPr>
        <p:spPr>
          <a:xfrm>
            <a:off x="731520" y="4800600"/>
            <a:ext cx="548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2200" dirty="0"/>
          </a:p>
        </p:txBody>
      </p:sp>
      <p:sp>
        <p:nvSpPr>
          <p:cNvPr id="24" name="Text 21"/>
          <p:cNvSpPr/>
          <p:nvPr/>
        </p:nvSpPr>
        <p:spPr>
          <a:xfrm>
            <a:off x="1371600" y="4754880"/>
            <a:ext cx="5760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Polished, but it sounds like a bank wrote it</a:t>
            </a:r>
            <a:endParaRPr lang="en-US" sz="1650" dirty="0"/>
          </a:p>
        </p:txBody>
      </p:sp>
      <p:sp>
        <p:nvSpPr>
          <p:cNvPr id="25" name="Text 22"/>
          <p:cNvSpPr/>
          <p:nvPr/>
        </p:nvSpPr>
        <p:spPr>
          <a:xfrm>
            <a:off x="7315200" y="4754880"/>
            <a:ext cx="4297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Voice: warm it up before it goes out</a:t>
            </a:r>
            <a:endParaRPr lang="en-US" sz="1450" dirty="0"/>
          </a:p>
        </p:txBody>
      </p:sp>
      <p:sp>
        <p:nvSpPr>
          <p:cNvPr id="26" name="Text 23"/>
          <p:cNvSpPr/>
          <p:nvPr/>
        </p:nvSpPr>
        <p:spPr>
          <a:xfrm>
            <a:off x="640080" y="580644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fix kit is four prompts: shorter · plainer · lead with the action · sound like me.</a:t>
            </a:r>
            <a:endParaRPr lang="en-US" sz="1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622792" y="6428232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6 · AI for Communication   |   13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8732520" y="109728"/>
            <a:ext cx="2926080" cy="896112"/>
          </a:xfrm>
          <a:prstGeom prst="roundRect">
            <a:avLst>
              <a:gd name="adj" fmla="val 7143"/>
            </a:avLst>
          </a:prstGeom>
          <a:solidFill>
            <a:srgbClr val="F7F5F0"/>
          </a:solidFill>
          <a:ln w="12700">
            <a:solidFill>
              <a:srgbClr val="DCE3E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732520" y="109728"/>
            <a:ext cx="2926080" cy="237744"/>
          </a:xfrm>
          <a:prstGeom prst="roundRect">
            <a:avLst>
              <a:gd name="adj" fmla="val 26923"/>
            </a:avLst>
          </a:prstGeom>
          <a:solidFill>
            <a:srgbClr val="0D1E2E"/>
          </a:solidFill>
          <a:ln w="12700">
            <a:solidFill>
              <a:srgbClr val="0D1E2E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823960" y="182880"/>
            <a:ext cx="91440" cy="91440"/>
          </a:xfrm>
          <a:prstGeom prst="ellipse">
            <a:avLst/>
          </a:prstGeom>
          <a:solidFill>
            <a:srgbClr val="E8837A"/>
          </a:solidFill>
          <a:ln w="12700">
            <a:solidFill>
              <a:srgbClr val="E8837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970264" y="182880"/>
            <a:ext cx="91440" cy="91440"/>
          </a:xfrm>
          <a:prstGeom prst="ellipse">
            <a:avLst/>
          </a:prstGeom>
          <a:solidFill>
            <a:srgbClr val="F4A825"/>
          </a:solidFill>
          <a:ln w="12700">
            <a:solidFill>
              <a:srgbClr val="F4A82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116568" y="182880"/>
            <a:ext cx="91440" cy="91440"/>
          </a:xfrm>
          <a:prstGeom prst="ellipse">
            <a:avLst/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299448" y="109728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MS. RIVERA'S SCREEN · SO FAR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860536" y="365760"/>
            <a:ext cx="26700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Her roster: several families who read other languages. Access is the assignment.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FAMILIES OUR MESSAGES NEVER REACH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access gap</a:t>
            </a:r>
            <a:endParaRPr lang="en-US" sz="3200" dirty="0"/>
          </a:p>
        </p:txBody>
      </p:sp>
      <p:sp>
        <p:nvSpPr>
          <p:cNvPr id="14" name="Shape 11"/>
          <p:cNvSpPr/>
          <p:nvPr/>
        </p:nvSpPr>
        <p:spPr>
          <a:xfrm>
            <a:off x="640080" y="1600200"/>
            <a:ext cx="5257800" cy="3383280"/>
          </a:xfrm>
          <a:prstGeom prst="roundRect">
            <a:avLst>
              <a:gd name="adj" fmla="val 2432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40080" y="1783080"/>
            <a:ext cx="5257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ENGLISH LEARNERS, U.S. SCHOOLS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640080" y="2103120"/>
            <a:ext cx="5257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5.3M</a:t>
            </a:r>
            <a:endParaRPr lang="en-US" sz="5200" dirty="0"/>
          </a:p>
        </p:txBody>
      </p:sp>
      <p:sp>
        <p:nvSpPr>
          <p:cNvPr id="17" name="Text 14"/>
          <p:cNvSpPr/>
          <p:nvPr/>
        </p:nvSpPr>
        <p:spPr>
          <a:xfrm>
            <a:off x="914400" y="3108960"/>
            <a:ext cx="47091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students, 10.6% of U.S. public school enrollment, are English learners; behind many is a family that reads another language. (NCES, 2024)</a:t>
            </a:r>
            <a:endParaRPr lang="en-US" sz="1600" dirty="0"/>
          </a:p>
        </p:txBody>
      </p:sp>
      <p:sp>
        <p:nvSpPr>
          <p:cNvPr id="18" name="Shape 15"/>
          <p:cNvSpPr/>
          <p:nvPr/>
        </p:nvSpPr>
        <p:spPr>
          <a:xfrm>
            <a:off x="6263640" y="1600200"/>
            <a:ext cx="5257800" cy="3383280"/>
          </a:xfrm>
          <a:prstGeom prst="roundRect">
            <a:avLst>
              <a:gd name="adj" fmla="val 2432"/>
            </a:avLst>
          </a:prstGeom>
          <a:solidFill>
            <a:srgbClr val="EAF5F3"/>
          </a:solidFill>
          <a:ln w="12700">
            <a:solidFill>
              <a:srgbClr val="EAF5F3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263640" y="1783080"/>
            <a:ext cx="5257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FEDERAL GUIDANCE REQUIRES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6263640" y="2121408"/>
            <a:ext cx="52578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26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language they</a:t>
            </a:r>
            <a:endParaRPr lang="en-US" sz="26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26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can understand</a:t>
            </a:r>
            <a:endParaRPr lang="en-US" sz="2600" dirty="0"/>
          </a:p>
        </p:txBody>
      </p:sp>
      <p:sp>
        <p:nvSpPr>
          <p:cNvPr id="21" name="Text 18"/>
          <p:cNvSpPr/>
          <p:nvPr/>
        </p:nvSpPr>
        <p:spPr>
          <a:xfrm>
            <a:off x="6537960" y="3200400"/>
            <a:ext cx="47091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Schools must communicate with limited-English-proficient parents in a language they can understand: the same information other families get. (ED/DOJ, 2015)</a:t>
            </a:r>
            <a:endParaRPr lang="en-US" sz="1600" dirty="0"/>
          </a:p>
        </p:txBody>
      </p:sp>
      <p:sp>
        <p:nvSpPr>
          <p:cNvPr id="22" name="Text 19"/>
          <p:cNvSpPr/>
          <p:nvPr/>
        </p:nvSpPr>
        <p:spPr>
          <a:xfrm>
            <a:off x="640080" y="5349240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English-only newsletter quietly leaves families out of the conversation that changes outcomes.</a:t>
            </a:r>
            <a:endParaRPr lang="en-US" sz="1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622792" y="6428232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6 · AI for Communication   |   14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8732520" y="109728"/>
            <a:ext cx="2926080" cy="896112"/>
          </a:xfrm>
          <a:prstGeom prst="roundRect">
            <a:avLst>
              <a:gd name="adj" fmla="val 7143"/>
            </a:avLst>
          </a:prstGeom>
          <a:solidFill>
            <a:srgbClr val="F7F5F0"/>
          </a:solidFill>
          <a:ln w="12700">
            <a:solidFill>
              <a:srgbClr val="DCE3E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732520" y="109728"/>
            <a:ext cx="2926080" cy="237744"/>
          </a:xfrm>
          <a:prstGeom prst="roundRect">
            <a:avLst>
              <a:gd name="adj" fmla="val 26923"/>
            </a:avLst>
          </a:prstGeom>
          <a:solidFill>
            <a:srgbClr val="0D1E2E"/>
          </a:solidFill>
          <a:ln w="12700">
            <a:solidFill>
              <a:srgbClr val="0D1E2E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823960" y="182880"/>
            <a:ext cx="91440" cy="91440"/>
          </a:xfrm>
          <a:prstGeom prst="ellipse">
            <a:avLst/>
          </a:prstGeom>
          <a:solidFill>
            <a:srgbClr val="E8837A"/>
          </a:solidFill>
          <a:ln w="12700">
            <a:solidFill>
              <a:srgbClr val="E8837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970264" y="182880"/>
            <a:ext cx="91440" cy="91440"/>
          </a:xfrm>
          <a:prstGeom prst="ellipse">
            <a:avLst/>
          </a:prstGeom>
          <a:solidFill>
            <a:srgbClr val="F4A825"/>
          </a:solidFill>
          <a:ln w="12700">
            <a:solidFill>
              <a:srgbClr val="F4A82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116568" y="182880"/>
            <a:ext cx="91440" cy="91440"/>
          </a:xfrm>
          <a:prstGeom prst="ellipse">
            <a:avLst/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299448" y="109728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MS. RIVERA'S SCREEN · SO FAR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860536" y="365760"/>
            <a:ext cx="26700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Her translation plan: plain language first, district channel for official, human check.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FOUR RULES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Translation, responsibly</a:t>
            </a:r>
            <a:endParaRPr lang="en-US" sz="3200" dirty="0"/>
          </a:p>
        </p:txBody>
      </p:sp>
      <p:sp>
        <p:nvSpPr>
          <p:cNvPr id="14" name="Shape 11"/>
          <p:cNvSpPr/>
          <p:nvPr/>
        </p:nvSpPr>
        <p:spPr>
          <a:xfrm>
            <a:off x="640080" y="1417320"/>
            <a:ext cx="5349240" cy="1920240"/>
          </a:xfrm>
          <a:prstGeom prst="roundRect">
            <a:avLst>
              <a:gd name="adj" fmla="val 4286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14400" y="1600200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 · Plain language first</a:t>
            </a:r>
            <a:endParaRPr lang="en-US" sz="1900" dirty="0"/>
          </a:p>
        </p:txBody>
      </p:sp>
      <p:sp>
        <p:nvSpPr>
          <p:cNvPr id="16" name="Text 13"/>
          <p:cNvSpPr/>
          <p:nvPr/>
        </p:nvSpPr>
        <p:spPr>
          <a:xfrm>
            <a:off x="914400" y="2130552"/>
            <a:ext cx="4800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Short sentences, no idioms. Plain English translates well; clever English translates badly.</a:t>
            </a:r>
            <a:endParaRPr lang="en-US" sz="1550" dirty="0"/>
          </a:p>
        </p:txBody>
      </p:sp>
      <p:sp>
        <p:nvSpPr>
          <p:cNvPr id="17" name="Shape 14"/>
          <p:cNvSpPr/>
          <p:nvPr/>
        </p:nvSpPr>
        <p:spPr>
          <a:xfrm>
            <a:off x="6263640" y="1417320"/>
            <a:ext cx="5349240" cy="1920240"/>
          </a:xfrm>
          <a:prstGeom prst="roundRect">
            <a:avLst>
              <a:gd name="adj" fmla="val 4286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537960" y="1600200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 · Official docs go district</a:t>
            </a:r>
            <a:endParaRPr lang="en-US" sz="1900" dirty="0"/>
          </a:p>
        </p:txBody>
      </p:sp>
      <p:sp>
        <p:nvSpPr>
          <p:cNvPr id="19" name="Text 16"/>
          <p:cNvSpPr/>
          <p:nvPr/>
        </p:nvSpPr>
        <p:spPr>
          <a:xfrm>
            <a:off x="6537960" y="2130552"/>
            <a:ext cx="4800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Rights, discipline, special education travel your district's translation channel, not a chatbot.</a:t>
            </a:r>
            <a:endParaRPr lang="en-US" sz="1550" dirty="0"/>
          </a:p>
        </p:txBody>
      </p:sp>
      <p:sp>
        <p:nvSpPr>
          <p:cNvPr id="20" name="Shape 17"/>
          <p:cNvSpPr/>
          <p:nvPr/>
        </p:nvSpPr>
        <p:spPr>
          <a:xfrm>
            <a:off x="640080" y="3520440"/>
            <a:ext cx="5349240" cy="1920240"/>
          </a:xfrm>
          <a:prstGeom prst="roundRect">
            <a:avLst>
              <a:gd name="adj" fmla="val 4286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914400" y="3703320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 · Human check when stakes rise</a:t>
            </a:r>
            <a:endParaRPr lang="en-US" sz="1900" dirty="0"/>
          </a:p>
        </p:txBody>
      </p:sp>
      <p:sp>
        <p:nvSpPr>
          <p:cNvPr id="22" name="Text 19"/>
          <p:cNvSpPr/>
          <p:nvPr/>
        </p:nvSpPr>
        <p:spPr>
          <a:xfrm>
            <a:off x="914400" y="4233672"/>
            <a:ext cx="4800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bilingual colleague, aide, or liaison reviews. Machine translation is helpful and imperfect.</a:t>
            </a:r>
            <a:endParaRPr lang="en-US" sz="1550" dirty="0"/>
          </a:p>
        </p:txBody>
      </p:sp>
      <p:sp>
        <p:nvSpPr>
          <p:cNvPr id="23" name="Shape 20"/>
          <p:cNvSpPr/>
          <p:nvPr/>
        </p:nvSpPr>
        <p:spPr>
          <a:xfrm>
            <a:off x="6263640" y="3520440"/>
            <a:ext cx="5349240" cy="1920240"/>
          </a:xfrm>
          <a:prstGeom prst="roundRect">
            <a:avLst>
              <a:gd name="adj" fmla="val 4286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6537960" y="3703320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 · Privacy speaks every language</a:t>
            </a:r>
            <a:endParaRPr lang="en-US" sz="1900" dirty="0"/>
          </a:p>
        </p:txBody>
      </p:sp>
      <p:sp>
        <p:nvSpPr>
          <p:cNvPr id="25" name="Text 22"/>
          <p:cNvSpPr/>
          <p:nvPr/>
        </p:nvSpPr>
        <p:spPr>
          <a:xfrm>
            <a:off x="6537960" y="4233672"/>
            <a:ext cx="4800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student details in a public tool, in any language. The rule doesn't take a language off.</a:t>
            </a:r>
            <a:endParaRPr lang="en-US" sz="1550" dirty="0"/>
          </a:p>
        </p:txBody>
      </p:sp>
      <p:sp>
        <p:nvSpPr>
          <p:cNvPr id="26" name="Text 23"/>
          <p:cNvSpPr/>
          <p:nvPr/>
        </p:nvSpPr>
        <p:spPr>
          <a:xfrm>
            <a:off x="640080" y="56235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 these four, and your reach just grew by every family on your roster.</a:t>
            </a:r>
            <a:endParaRPr lang="en-US" sz="1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622792" y="6428232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6 · AI for Communication   |   15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8732520" y="109728"/>
            <a:ext cx="2926080" cy="896112"/>
          </a:xfrm>
          <a:prstGeom prst="roundRect">
            <a:avLst>
              <a:gd name="adj" fmla="val 7143"/>
            </a:avLst>
          </a:prstGeom>
          <a:solidFill>
            <a:srgbClr val="F7F5F0"/>
          </a:solidFill>
          <a:ln w="12700">
            <a:solidFill>
              <a:srgbClr val="DCE3E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732520" y="109728"/>
            <a:ext cx="2926080" cy="237744"/>
          </a:xfrm>
          <a:prstGeom prst="roundRect">
            <a:avLst>
              <a:gd name="adj" fmla="val 26923"/>
            </a:avLst>
          </a:prstGeom>
          <a:solidFill>
            <a:srgbClr val="0D1E2E"/>
          </a:solidFill>
          <a:ln w="12700">
            <a:solidFill>
              <a:srgbClr val="0D1E2E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823960" y="182880"/>
            <a:ext cx="91440" cy="91440"/>
          </a:xfrm>
          <a:prstGeom prst="ellipse">
            <a:avLst/>
          </a:prstGeom>
          <a:solidFill>
            <a:srgbClr val="E8837A"/>
          </a:solidFill>
          <a:ln w="12700">
            <a:solidFill>
              <a:srgbClr val="E8837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970264" y="182880"/>
            <a:ext cx="91440" cy="91440"/>
          </a:xfrm>
          <a:prstGeom prst="ellipse">
            <a:avLst/>
          </a:prstGeom>
          <a:solidFill>
            <a:srgbClr val="F4A825"/>
          </a:solidFill>
          <a:ln w="12700">
            <a:solidFill>
              <a:srgbClr val="F4A82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116568" y="182880"/>
            <a:ext cx="91440" cy="91440"/>
          </a:xfrm>
          <a:prstGeom prst="ellipse">
            <a:avLst/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299448" y="109728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MS. RIVERA'S SCREEN · SO FAR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860536" y="365760"/>
            <a:ext cx="26700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Her tone kit: 'warmer, shorter, plainer,' the read-aloud test, the 24-hour rule.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SMALL ENOUGH TO MEMORIZE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tone-repair kit</a:t>
            </a:r>
            <a:endParaRPr lang="en-US" sz="3200" dirty="0"/>
          </a:p>
        </p:txBody>
      </p:sp>
      <p:sp>
        <p:nvSpPr>
          <p:cNvPr id="14" name="Shape 11"/>
          <p:cNvSpPr/>
          <p:nvPr/>
        </p:nvSpPr>
        <p:spPr>
          <a:xfrm>
            <a:off x="640080" y="1554480"/>
            <a:ext cx="3520440" cy="3108960"/>
          </a:xfrm>
          <a:prstGeom prst="roundRect">
            <a:avLst>
              <a:gd name="adj" fmla="val 2647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96112" y="182880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Three commands</a:t>
            </a:r>
            <a:endParaRPr lang="en-US" sz="2000" dirty="0"/>
          </a:p>
        </p:txBody>
      </p:sp>
      <p:sp>
        <p:nvSpPr>
          <p:cNvPr id="16" name="Text 13"/>
          <p:cNvSpPr/>
          <p:nvPr/>
        </p:nvSpPr>
        <p:spPr>
          <a:xfrm>
            <a:off x="896112" y="2377440"/>
            <a:ext cx="30175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"Warmer." "Shorter." "Plainer." Ninety percent of drafts need exactly one.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4407408" y="1554480"/>
            <a:ext cx="3520440" cy="3108960"/>
          </a:xfrm>
          <a:prstGeom prst="roundRect">
            <a:avLst>
              <a:gd name="adj" fmla="val 2647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663440" y="182880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test</a:t>
            </a:r>
            <a:endParaRPr lang="en-US" sz="2000" dirty="0"/>
          </a:p>
        </p:txBody>
      </p:sp>
      <p:sp>
        <p:nvSpPr>
          <p:cNvPr id="19" name="Text 16"/>
          <p:cNvSpPr/>
          <p:nvPr/>
        </p:nvSpPr>
        <p:spPr>
          <a:xfrm>
            <a:off x="4663440" y="2377440"/>
            <a:ext cx="30175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 it aloud. Your ear knows your voice better than your eyes do.</a:t>
            </a:r>
            <a:endParaRPr lang="en-US" sz="1600" dirty="0"/>
          </a:p>
        </p:txBody>
      </p:sp>
      <p:sp>
        <p:nvSpPr>
          <p:cNvPr id="20" name="Shape 17"/>
          <p:cNvSpPr/>
          <p:nvPr/>
        </p:nvSpPr>
        <p:spPr>
          <a:xfrm>
            <a:off x="8174736" y="1554480"/>
            <a:ext cx="3520440" cy="3108960"/>
          </a:xfrm>
          <a:prstGeom prst="roundRect">
            <a:avLst>
              <a:gd name="adj" fmla="val 2647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8430768" y="182880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rule</a:t>
            </a:r>
            <a:endParaRPr lang="en-US" sz="2000" dirty="0"/>
          </a:p>
        </p:txBody>
      </p:sp>
      <p:sp>
        <p:nvSpPr>
          <p:cNvPr id="22" name="Text 19"/>
          <p:cNvSpPr/>
          <p:nvPr/>
        </p:nvSpPr>
        <p:spPr>
          <a:xfrm>
            <a:off x="8430768" y="2377440"/>
            <a:ext cx="30175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24-hour rule: written angry waits a day, unless safety can't wait.</a:t>
            </a:r>
            <a:endParaRPr lang="en-US" sz="1600" dirty="0"/>
          </a:p>
        </p:txBody>
      </p:sp>
      <p:sp>
        <p:nvSpPr>
          <p:cNvPr id="23" name="Text 20"/>
          <p:cNvSpPr/>
          <p:nvPr/>
        </p:nvSpPr>
        <p:spPr>
          <a:xfrm>
            <a:off x="640080" y="49377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It fits on the handout's back pocket, and it saves a hundred small regrets a year.</a:t>
            </a:r>
            <a:endParaRPr lang="en-US" sz="1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329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622792" y="6428232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6 · AI for Communication   |   16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8732520" y="109728"/>
            <a:ext cx="2926080" cy="896112"/>
          </a:xfrm>
          <a:prstGeom prst="roundRect">
            <a:avLst>
              <a:gd name="adj" fmla="val 7143"/>
            </a:avLst>
          </a:prstGeom>
          <a:solidFill>
            <a:srgbClr val="1E3A50"/>
          </a:solidFill>
          <a:ln w="12700">
            <a:solidFill>
              <a:srgbClr val="2A4A63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732520" y="109728"/>
            <a:ext cx="2926080" cy="237744"/>
          </a:xfrm>
          <a:prstGeom prst="roundRect">
            <a:avLst>
              <a:gd name="adj" fmla="val 26923"/>
            </a:avLst>
          </a:prstGeom>
          <a:solidFill>
            <a:srgbClr val="0D1E2E"/>
          </a:solidFill>
          <a:ln w="12700">
            <a:solidFill>
              <a:srgbClr val="0D1E2E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823960" y="182880"/>
            <a:ext cx="91440" cy="91440"/>
          </a:xfrm>
          <a:prstGeom prst="ellipse">
            <a:avLst/>
          </a:prstGeom>
          <a:solidFill>
            <a:srgbClr val="E8837A"/>
          </a:solidFill>
          <a:ln w="12700">
            <a:solidFill>
              <a:srgbClr val="E8837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970264" y="182880"/>
            <a:ext cx="91440" cy="91440"/>
          </a:xfrm>
          <a:prstGeom prst="ellipse">
            <a:avLst/>
          </a:prstGeom>
          <a:solidFill>
            <a:srgbClr val="F4A825"/>
          </a:solidFill>
          <a:ln w="12700">
            <a:solidFill>
              <a:srgbClr val="F4A82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116568" y="182880"/>
            <a:ext cx="91440" cy="91440"/>
          </a:xfrm>
          <a:prstGeom prst="ellipse">
            <a:avLst/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299448" y="109728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MS. RIVERA'S SCREEN · SO FAR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860536" y="365760"/>
            <a:ext cx="26700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9D4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Her human-only list: safety, discipline, grief, IEP news. She calls first.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822960" y="109728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F4A8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HUMAN-ONLY LIST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914400" y="1783080"/>
            <a:ext cx="457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883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✕</a:t>
            </a:r>
            <a:endParaRPr lang="en-US" sz="2400" dirty="0"/>
          </a:p>
        </p:txBody>
      </p:sp>
      <p:sp>
        <p:nvSpPr>
          <p:cNvPr id="14" name="Text 11"/>
          <p:cNvSpPr/>
          <p:nvPr/>
        </p:nvSpPr>
        <p:spPr>
          <a:xfrm>
            <a:off x="1554480" y="1783080"/>
            <a:ext cx="9875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Anything touching a child's safety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914400" y="2651760"/>
            <a:ext cx="457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883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✕</a:t>
            </a:r>
            <a:endParaRPr lang="en-US" sz="2400" dirty="0"/>
          </a:p>
        </p:txBody>
      </p:sp>
      <p:sp>
        <p:nvSpPr>
          <p:cNvPr id="16" name="Text 13"/>
          <p:cNvSpPr/>
          <p:nvPr/>
        </p:nvSpPr>
        <p:spPr>
          <a:xfrm>
            <a:off x="1554480" y="2651760"/>
            <a:ext cx="9875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Serious discipline situations</a:t>
            </a:r>
            <a:endParaRPr lang="en-US" sz="2000" dirty="0"/>
          </a:p>
        </p:txBody>
      </p:sp>
      <p:sp>
        <p:nvSpPr>
          <p:cNvPr id="17" name="Text 14"/>
          <p:cNvSpPr/>
          <p:nvPr/>
        </p:nvSpPr>
        <p:spPr>
          <a:xfrm>
            <a:off x="914400" y="3520440"/>
            <a:ext cx="457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883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✕</a:t>
            </a:r>
            <a:endParaRPr lang="en-US" sz="2400" dirty="0"/>
          </a:p>
        </p:txBody>
      </p:sp>
      <p:sp>
        <p:nvSpPr>
          <p:cNvPr id="18" name="Text 15"/>
          <p:cNvSpPr/>
          <p:nvPr/>
        </p:nvSpPr>
        <p:spPr>
          <a:xfrm>
            <a:off x="1554480" y="3520440"/>
            <a:ext cx="9875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family's grief</a:t>
            </a:r>
            <a:endParaRPr lang="en-US" sz="2000" dirty="0"/>
          </a:p>
        </p:txBody>
      </p:sp>
      <p:sp>
        <p:nvSpPr>
          <p:cNvPr id="19" name="Text 16"/>
          <p:cNvSpPr/>
          <p:nvPr/>
        </p:nvSpPr>
        <p:spPr>
          <a:xfrm>
            <a:off x="914400" y="4389120"/>
            <a:ext cx="457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883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✕</a:t>
            </a:r>
            <a:endParaRPr lang="en-US" sz="2400" dirty="0"/>
          </a:p>
        </p:txBody>
      </p:sp>
      <p:sp>
        <p:nvSpPr>
          <p:cNvPr id="20" name="Text 17"/>
          <p:cNvSpPr/>
          <p:nvPr/>
        </p:nvSpPr>
        <p:spPr>
          <a:xfrm>
            <a:off x="1554480" y="4389120"/>
            <a:ext cx="9875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Special-education decisions and eligibility news</a:t>
            </a:r>
            <a:endParaRPr lang="en-US" sz="2000" dirty="0"/>
          </a:p>
        </p:txBody>
      </p:sp>
      <p:sp>
        <p:nvSpPr>
          <p:cNvPr id="21" name="Text 18"/>
          <p:cNvSpPr/>
          <p:nvPr/>
        </p:nvSpPr>
        <p:spPr>
          <a:xfrm>
            <a:off x="822960" y="539496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9D4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Never delivered by a draft. The technology is a telephone; the script is your own heart, first. If a message would change how a family sees their child, it deserves a human voice.</a:t>
            </a:r>
            <a:endParaRPr lang="en-US" sz="17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622792" y="6428232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6 · AI for Communication   |   17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8732520" y="109728"/>
            <a:ext cx="2926080" cy="896112"/>
          </a:xfrm>
          <a:prstGeom prst="roundRect">
            <a:avLst>
              <a:gd name="adj" fmla="val 7143"/>
            </a:avLst>
          </a:prstGeom>
          <a:solidFill>
            <a:srgbClr val="F7F5F0"/>
          </a:solidFill>
          <a:ln w="12700">
            <a:solidFill>
              <a:srgbClr val="DCE3E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732520" y="109728"/>
            <a:ext cx="2926080" cy="237744"/>
          </a:xfrm>
          <a:prstGeom prst="roundRect">
            <a:avLst>
              <a:gd name="adj" fmla="val 26923"/>
            </a:avLst>
          </a:prstGeom>
          <a:solidFill>
            <a:srgbClr val="0D1E2E"/>
          </a:solidFill>
          <a:ln w="12700">
            <a:solidFill>
              <a:srgbClr val="0D1E2E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823960" y="182880"/>
            <a:ext cx="91440" cy="91440"/>
          </a:xfrm>
          <a:prstGeom prst="ellipse">
            <a:avLst/>
          </a:prstGeom>
          <a:solidFill>
            <a:srgbClr val="E8837A"/>
          </a:solidFill>
          <a:ln w="12700">
            <a:solidFill>
              <a:srgbClr val="E8837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970264" y="182880"/>
            <a:ext cx="91440" cy="91440"/>
          </a:xfrm>
          <a:prstGeom prst="ellipse">
            <a:avLst/>
          </a:prstGeom>
          <a:solidFill>
            <a:srgbClr val="F4A825"/>
          </a:solidFill>
          <a:ln w="12700">
            <a:solidFill>
              <a:srgbClr val="F4A82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116568" y="182880"/>
            <a:ext cx="91440" cy="91440"/>
          </a:xfrm>
          <a:prstGeom prst="ellipse">
            <a:avLst/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299448" y="109728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MS. RIVERA'S SCREEN · SO FAR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860536" y="365760"/>
            <a:ext cx="26700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Her trust ledger: every reviewed, personal message is a deposit.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ACCOUNT THAT MATTERS WHEN SOMETHING GOES WRONG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this builds: trust</a:t>
            </a:r>
            <a:endParaRPr lang="en-US" sz="3200" dirty="0"/>
          </a:p>
        </p:txBody>
      </p:sp>
      <p:sp>
        <p:nvSpPr>
          <p:cNvPr id="14" name="Shape 11"/>
          <p:cNvSpPr/>
          <p:nvPr/>
        </p:nvSpPr>
        <p:spPr>
          <a:xfrm>
            <a:off x="640080" y="1645920"/>
            <a:ext cx="10972800" cy="3291840"/>
          </a:xfrm>
          <a:prstGeom prst="roundRect">
            <a:avLst>
              <a:gd name="adj" fmla="val 2500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005840" y="1920240"/>
            <a:ext cx="102412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message home is a deposit in, or a withdrawal from, a family's trust.
</a:t>
            </a:r>
            <a:pPr indent="0" marL="0">
              <a:buNone/>
            </a:pPr>
            <a:r>
              <a:rPr lang="en-US" sz="21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Reviewed, personal, on-time messages in a language the family reads: deposits. Late, generic, robotic ones: withdrawals. AI just made deposits cheap.</a:t>
            </a:r>
            <a:endParaRPr lang="en-US" sz="2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329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622792" y="6428232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6 · AI for Communication   |   18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8732520" y="109728"/>
            <a:ext cx="2926080" cy="896112"/>
          </a:xfrm>
          <a:prstGeom prst="roundRect">
            <a:avLst>
              <a:gd name="adj" fmla="val 7143"/>
            </a:avLst>
          </a:prstGeom>
          <a:solidFill>
            <a:srgbClr val="1E3A50"/>
          </a:solidFill>
          <a:ln w="12700">
            <a:solidFill>
              <a:srgbClr val="2A4A63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732520" y="109728"/>
            <a:ext cx="2926080" cy="237744"/>
          </a:xfrm>
          <a:prstGeom prst="roundRect">
            <a:avLst>
              <a:gd name="adj" fmla="val 26923"/>
            </a:avLst>
          </a:prstGeom>
          <a:solidFill>
            <a:srgbClr val="0D1E2E"/>
          </a:solidFill>
          <a:ln w="12700">
            <a:solidFill>
              <a:srgbClr val="0D1E2E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823960" y="182880"/>
            <a:ext cx="91440" cy="91440"/>
          </a:xfrm>
          <a:prstGeom prst="ellipse">
            <a:avLst/>
          </a:prstGeom>
          <a:solidFill>
            <a:srgbClr val="E8837A"/>
          </a:solidFill>
          <a:ln w="12700">
            <a:solidFill>
              <a:srgbClr val="E8837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970264" y="182880"/>
            <a:ext cx="91440" cy="91440"/>
          </a:xfrm>
          <a:prstGeom prst="ellipse">
            <a:avLst/>
          </a:prstGeom>
          <a:solidFill>
            <a:srgbClr val="F4A825"/>
          </a:solidFill>
          <a:ln w="12700">
            <a:solidFill>
              <a:srgbClr val="F4A82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116568" y="182880"/>
            <a:ext cx="91440" cy="91440"/>
          </a:xfrm>
          <a:prstGeom prst="ellipse">
            <a:avLst/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299448" y="109728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MS. RIVERA'S SCREEN · SO FAR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860536" y="365760"/>
            <a:ext cx="26700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9D4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Her lab plan: one real message, one note batch, one translation plan.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566928" y="1828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4A8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HANDS-ON · ~21 MINUTES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640080" y="1188720"/>
            <a:ext cx="10972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Lab: real messages, really sent.</a:t>
            </a:r>
            <a:endParaRPr lang="en-US" sz="4200" dirty="0"/>
          </a:p>
        </p:txBody>
      </p:sp>
      <p:sp>
        <p:nvSpPr>
          <p:cNvPr id="14" name="Text 11"/>
          <p:cNvSpPr/>
          <p:nvPr/>
        </p:nvSpPr>
        <p:spPr>
          <a:xfrm>
            <a:off x="658368" y="2286000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9D4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message you owe families this week, your first note batch, and a translation plan for your actual roster.</a:t>
            </a:r>
            <a:endParaRPr lang="en-US" sz="2000" dirty="0"/>
          </a:p>
        </p:txBody>
      </p:sp>
      <p:sp>
        <p:nvSpPr>
          <p:cNvPr id="15" name="Shape 12"/>
          <p:cNvSpPr/>
          <p:nvPr/>
        </p:nvSpPr>
        <p:spPr>
          <a:xfrm>
            <a:off x="868680" y="3483864"/>
            <a:ext cx="502920" cy="50292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68680" y="348386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2000" dirty="0"/>
          </a:p>
        </p:txBody>
      </p:sp>
      <p:sp>
        <p:nvSpPr>
          <p:cNvPr id="17" name="Text 14"/>
          <p:cNvSpPr/>
          <p:nvPr/>
        </p:nvSpPr>
        <p:spPr>
          <a:xfrm>
            <a:off x="1600200" y="3429000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student information, no family names: situations, never people</a:t>
            </a:r>
            <a:endParaRPr lang="en-US" sz="2100" dirty="0"/>
          </a:p>
        </p:txBody>
      </p:sp>
      <p:sp>
        <p:nvSpPr>
          <p:cNvPr id="18" name="Shape 15"/>
          <p:cNvSpPr/>
          <p:nvPr/>
        </p:nvSpPr>
        <p:spPr>
          <a:xfrm>
            <a:off x="868680" y="4306824"/>
            <a:ext cx="502920" cy="50292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868680" y="430682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7"/>
          <p:cNvSpPr/>
          <p:nvPr/>
        </p:nvSpPr>
        <p:spPr>
          <a:xfrm>
            <a:off x="1600200" y="4251960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Pairs: every message gets a second set of ears before it's done</a:t>
            </a:r>
            <a:endParaRPr lang="en-US" sz="2100" dirty="0"/>
          </a:p>
        </p:txBody>
      </p:sp>
      <p:sp>
        <p:nvSpPr>
          <p:cNvPr id="21" name="Shape 18"/>
          <p:cNvSpPr/>
          <p:nvPr/>
        </p:nvSpPr>
        <p:spPr>
          <a:xfrm>
            <a:off x="868680" y="5129784"/>
            <a:ext cx="502920" cy="50292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868680" y="512978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2000" dirty="0"/>
          </a:p>
        </p:txBody>
      </p:sp>
      <p:sp>
        <p:nvSpPr>
          <p:cNvPr id="23" name="Text 20"/>
          <p:cNvSpPr/>
          <p:nvPr/>
        </p:nvSpPr>
        <p:spPr>
          <a:xfrm>
            <a:off x="1600200" y="5074920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Three deliverables: the message, the batch, the access plan</a:t>
            </a:r>
            <a:endParaRPr lang="en-US" sz="2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622792" y="6428232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6 · AI for Communication   |   19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8732520" y="109728"/>
            <a:ext cx="2926080" cy="896112"/>
          </a:xfrm>
          <a:prstGeom prst="roundRect">
            <a:avLst>
              <a:gd name="adj" fmla="val 7143"/>
            </a:avLst>
          </a:prstGeom>
          <a:solidFill>
            <a:srgbClr val="F7F5F0"/>
          </a:solidFill>
          <a:ln w="12700">
            <a:solidFill>
              <a:srgbClr val="DCE3E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732520" y="109728"/>
            <a:ext cx="2926080" cy="237744"/>
          </a:xfrm>
          <a:prstGeom prst="roundRect">
            <a:avLst>
              <a:gd name="adj" fmla="val 26923"/>
            </a:avLst>
          </a:prstGeom>
          <a:solidFill>
            <a:srgbClr val="0D1E2E"/>
          </a:solidFill>
          <a:ln w="12700">
            <a:solidFill>
              <a:srgbClr val="0D1E2E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823960" y="182880"/>
            <a:ext cx="91440" cy="91440"/>
          </a:xfrm>
          <a:prstGeom prst="ellipse">
            <a:avLst/>
          </a:prstGeom>
          <a:solidFill>
            <a:srgbClr val="E8837A"/>
          </a:solidFill>
          <a:ln w="12700">
            <a:solidFill>
              <a:srgbClr val="E8837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970264" y="182880"/>
            <a:ext cx="91440" cy="91440"/>
          </a:xfrm>
          <a:prstGeom prst="ellipse">
            <a:avLst/>
          </a:prstGeom>
          <a:solidFill>
            <a:srgbClr val="F4A825"/>
          </a:solidFill>
          <a:ln w="12700">
            <a:solidFill>
              <a:srgbClr val="F4A82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116568" y="182880"/>
            <a:ext cx="91440" cy="91440"/>
          </a:xfrm>
          <a:prstGeom prst="ellipse">
            <a:avLst/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299448" y="109728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MS. RIVERA'S SCREEN · SO FAR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860536" y="365760"/>
            <a:ext cx="26700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 her screen: next week's message, drafted with all four parts.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 · STEP 1 OF 4 · 6 MINUTES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Draft the real message</a:t>
            </a:r>
            <a:endParaRPr lang="en-US" sz="3200" dirty="0"/>
          </a:p>
        </p:txBody>
      </p:sp>
      <p:sp>
        <p:nvSpPr>
          <p:cNvPr id="14" name="Text 11"/>
          <p:cNvSpPr/>
          <p:nvPr/>
        </p:nvSpPr>
        <p:spPr>
          <a:xfrm>
            <a:off x="640080" y="1371600"/>
            <a:ext cx="10908792" cy="4297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message you actually owe families: newsletter, unit update, event reminder</a:t>
            </a:r>
            <a:endParaRPr lang="en-US" sz="2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All four parts; be generous with context: what happened, what's coming, what to do and by when</a:t>
            </a:r>
            <a:endParaRPr lang="en-US" sz="2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Mimic the shape on Ms. Rivera's screen from slide 9</a:t>
            </a:r>
            <a:endParaRPr lang="en-US" sz="2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b="1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Then read it as a tired parent on a phone at 9 p.m., because that's who's reading it.</a:t>
            </a:r>
            <a:endParaRPr lang="en-US" sz="2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622792" y="6428232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6 · AI for Communication   |   20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8732520" y="109728"/>
            <a:ext cx="2926080" cy="896112"/>
          </a:xfrm>
          <a:prstGeom prst="roundRect">
            <a:avLst>
              <a:gd name="adj" fmla="val 7143"/>
            </a:avLst>
          </a:prstGeom>
          <a:solidFill>
            <a:srgbClr val="F7F5F0"/>
          </a:solidFill>
          <a:ln w="12700">
            <a:solidFill>
              <a:srgbClr val="DCE3E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732520" y="109728"/>
            <a:ext cx="2926080" cy="237744"/>
          </a:xfrm>
          <a:prstGeom prst="roundRect">
            <a:avLst>
              <a:gd name="adj" fmla="val 26923"/>
            </a:avLst>
          </a:prstGeom>
          <a:solidFill>
            <a:srgbClr val="0D1E2E"/>
          </a:solidFill>
          <a:ln w="12700">
            <a:solidFill>
              <a:srgbClr val="0D1E2E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823960" y="182880"/>
            <a:ext cx="91440" cy="91440"/>
          </a:xfrm>
          <a:prstGeom prst="ellipse">
            <a:avLst/>
          </a:prstGeom>
          <a:solidFill>
            <a:srgbClr val="E8837A"/>
          </a:solidFill>
          <a:ln w="12700">
            <a:solidFill>
              <a:srgbClr val="E8837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970264" y="182880"/>
            <a:ext cx="91440" cy="91440"/>
          </a:xfrm>
          <a:prstGeom prst="ellipse">
            <a:avLst/>
          </a:prstGeom>
          <a:solidFill>
            <a:srgbClr val="F4A825"/>
          </a:solidFill>
          <a:ln w="12700">
            <a:solidFill>
              <a:srgbClr val="F4A82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116568" y="182880"/>
            <a:ext cx="91440" cy="91440"/>
          </a:xfrm>
          <a:prstGeom prst="ellipse">
            <a:avLst/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299448" y="109728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MS. RIVERA'S SCREEN · SO FAR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860536" y="365760"/>
            <a:ext cx="26700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Her passes: tone (sounds like her) and reading level (skimmable on a phone).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 · STEP 2 OF 4 · 5 MINUTES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two passes</a:t>
            </a:r>
            <a:endParaRPr lang="en-US" sz="3200" dirty="0"/>
          </a:p>
        </p:txBody>
      </p:sp>
      <p:sp>
        <p:nvSpPr>
          <p:cNvPr id="14" name="Shape 11"/>
          <p:cNvSpPr/>
          <p:nvPr/>
        </p:nvSpPr>
        <p:spPr>
          <a:xfrm>
            <a:off x="640080" y="1554480"/>
            <a:ext cx="5394960" cy="3840480"/>
          </a:xfrm>
          <a:prstGeom prst="roundRect">
            <a:avLst>
              <a:gd name="adj" fmla="val 2143"/>
            </a:avLst>
          </a:prstGeom>
          <a:solidFill>
            <a:srgbClr val="EAF5F3"/>
          </a:solidFill>
          <a:ln w="12700">
            <a:solidFill>
              <a:srgbClr val="EAF5F3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60120" y="182880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7D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VOICE PASS</a:t>
            </a:r>
            <a:endParaRPr lang="en-US" sz="1800" dirty="0"/>
          </a:p>
        </p:txBody>
      </p:sp>
      <p:sp>
        <p:nvSpPr>
          <p:cNvPr id="16" name="Text 13"/>
          <p:cNvSpPr/>
          <p:nvPr/>
        </p:nvSpPr>
        <p:spPr>
          <a:xfrm>
            <a:off x="960120" y="2377440"/>
            <a:ext cx="475488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 your draft ALOUD to your partner. If it doesn't sound like you, fix it: warmer, shorter, plainer, or retype the sentence the way you'd say it.</a:t>
            </a:r>
            <a:endParaRPr lang="en-US" sz="1700" dirty="0"/>
          </a:p>
        </p:txBody>
      </p:sp>
      <p:sp>
        <p:nvSpPr>
          <p:cNvPr id="17" name="Shape 14"/>
          <p:cNvSpPr/>
          <p:nvPr/>
        </p:nvSpPr>
        <p:spPr>
          <a:xfrm>
            <a:off x="6263640" y="1554480"/>
            <a:ext cx="5394960" cy="3840480"/>
          </a:xfrm>
          <a:prstGeom prst="roundRect">
            <a:avLst>
              <a:gd name="adj" fmla="val 2143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583680" y="182880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ACCESS PASS</a:t>
            </a:r>
            <a:endParaRPr lang="en-US" sz="1800" dirty="0"/>
          </a:p>
        </p:txBody>
      </p:sp>
      <p:sp>
        <p:nvSpPr>
          <p:cNvPr id="19" name="Text 16"/>
          <p:cNvSpPr/>
          <p:nvPr/>
        </p:nvSpPr>
        <p:spPr>
          <a:xfrm>
            <a:off x="6583680" y="2377440"/>
            <a:ext cx="475488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Skimmable? Plain words? Action item up top with a date? A message that fails the access pass fails the families who skim, and that's most of them.</a:t>
            </a:r>
            <a:endParaRPr lang="en-US" sz="1700" dirty="0"/>
          </a:p>
        </p:txBody>
      </p:sp>
      <p:sp>
        <p:nvSpPr>
          <p:cNvPr id="20" name="Text 17"/>
          <p:cNvSpPr/>
          <p:nvPr/>
        </p:nvSpPr>
        <p:spPr>
          <a:xfrm>
            <a:off x="640080" y="56235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Both passes pass: the message is done, and it really goes out this week.</a:t>
            </a:r>
            <a:endParaRPr lang="en-US" sz="1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622792" y="6428232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6 · AI for Communication   |   21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8732520" y="109728"/>
            <a:ext cx="2926080" cy="896112"/>
          </a:xfrm>
          <a:prstGeom prst="roundRect">
            <a:avLst>
              <a:gd name="adj" fmla="val 7143"/>
            </a:avLst>
          </a:prstGeom>
          <a:solidFill>
            <a:srgbClr val="F7F5F0"/>
          </a:solidFill>
          <a:ln w="12700">
            <a:solidFill>
              <a:srgbClr val="DCE3E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732520" y="109728"/>
            <a:ext cx="2926080" cy="237744"/>
          </a:xfrm>
          <a:prstGeom prst="roundRect">
            <a:avLst>
              <a:gd name="adj" fmla="val 26923"/>
            </a:avLst>
          </a:prstGeom>
          <a:solidFill>
            <a:srgbClr val="0D1E2E"/>
          </a:solidFill>
          <a:ln w="12700">
            <a:solidFill>
              <a:srgbClr val="0D1E2E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823960" y="182880"/>
            <a:ext cx="91440" cy="91440"/>
          </a:xfrm>
          <a:prstGeom prst="ellipse">
            <a:avLst/>
          </a:prstGeom>
          <a:solidFill>
            <a:srgbClr val="E8837A"/>
          </a:solidFill>
          <a:ln w="12700">
            <a:solidFill>
              <a:srgbClr val="E8837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970264" y="182880"/>
            <a:ext cx="91440" cy="91440"/>
          </a:xfrm>
          <a:prstGeom prst="ellipse">
            <a:avLst/>
          </a:prstGeom>
          <a:solidFill>
            <a:srgbClr val="F4A825"/>
          </a:solidFill>
          <a:ln w="12700">
            <a:solidFill>
              <a:srgbClr val="F4A82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116568" y="182880"/>
            <a:ext cx="91440" cy="91440"/>
          </a:xfrm>
          <a:prstGeom prst="ellipse">
            <a:avLst/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299448" y="109728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MS. RIVERA'S SCREEN · SO FAR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860536" y="365760"/>
            <a:ext cx="26700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Her batch, live: three improvement-focused notes, names added only in her own email.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 · STEP 3 OF 4 · 5 MINUTES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Start the batch</a:t>
            </a:r>
            <a:endParaRPr lang="en-US" sz="3200" dirty="0"/>
          </a:p>
        </p:txBody>
      </p:sp>
      <p:sp>
        <p:nvSpPr>
          <p:cNvPr id="14" name="Text 11"/>
          <p:cNvSpPr/>
          <p:nvPr/>
        </p:nvSpPr>
        <p:spPr>
          <a:xfrm>
            <a:off x="640080" y="1371600"/>
            <a:ext cx="10908792" cy="4297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Ask for one-sentence positive-note starters: warm, improvement-focused, by situation, no names</a:t>
            </a:r>
            <a:endParaRPr lang="en-US" sz="2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Pick three; match each to a real student in your head</a:t>
            </a:r>
            <a:endParaRPr lang="en-US" sz="2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Personalize later today in your own email, where names belong</a:t>
            </a:r>
            <a:endParaRPr lang="en-US" sz="2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b="1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Three families get the sentence the research says matters. Cost: five minutes.</a:t>
            </a:r>
            <a:endParaRPr lang="en-US" sz="21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622792" y="6428232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6 · AI for Communication   |   22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8732520" y="109728"/>
            <a:ext cx="2926080" cy="896112"/>
          </a:xfrm>
          <a:prstGeom prst="roundRect">
            <a:avLst>
              <a:gd name="adj" fmla="val 7143"/>
            </a:avLst>
          </a:prstGeom>
          <a:solidFill>
            <a:srgbClr val="F7F5F0"/>
          </a:solidFill>
          <a:ln w="12700">
            <a:solidFill>
              <a:srgbClr val="DCE3E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732520" y="109728"/>
            <a:ext cx="2926080" cy="237744"/>
          </a:xfrm>
          <a:prstGeom prst="roundRect">
            <a:avLst>
              <a:gd name="adj" fmla="val 26923"/>
            </a:avLst>
          </a:prstGeom>
          <a:solidFill>
            <a:srgbClr val="0D1E2E"/>
          </a:solidFill>
          <a:ln w="12700">
            <a:solidFill>
              <a:srgbClr val="0D1E2E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823960" y="182880"/>
            <a:ext cx="91440" cy="91440"/>
          </a:xfrm>
          <a:prstGeom prst="ellipse">
            <a:avLst/>
          </a:prstGeom>
          <a:solidFill>
            <a:srgbClr val="E8837A"/>
          </a:solidFill>
          <a:ln w="12700">
            <a:solidFill>
              <a:srgbClr val="E8837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970264" y="182880"/>
            <a:ext cx="91440" cy="91440"/>
          </a:xfrm>
          <a:prstGeom prst="ellipse">
            <a:avLst/>
          </a:prstGeom>
          <a:solidFill>
            <a:srgbClr val="F4A825"/>
          </a:solidFill>
          <a:ln w="12700">
            <a:solidFill>
              <a:srgbClr val="F4A82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116568" y="182880"/>
            <a:ext cx="91440" cy="91440"/>
          </a:xfrm>
          <a:prstGeom prst="ellipse">
            <a:avLst/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299448" y="109728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MS. RIVERA'S SCREEN · SO FAR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860536" y="365760"/>
            <a:ext cx="26700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Her access plan: which languages, which channel, who gives the human check.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 · STEP 4 OF 4 · 3 MINUTES · ALONE, QUIET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Write your access plan</a:t>
            </a:r>
            <a:endParaRPr lang="en-US" sz="3200" dirty="0"/>
          </a:p>
        </p:txBody>
      </p:sp>
      <p:sp>
        <p:nvSpPr>
          <p:cNvPr id="14" name="Shape 11"/>
          <p:cNvSpPr/>
          <p:nvPr/>
        </p:nvSpPr>
        <p:spPr>
          <a:xfrm>
            <a:off x="640080" y="1554480"/>
            <a:ext cx="10972800" cy="3017520"/>
          </a:xfrm>
          <a:prstGeom prst="roundRect">
            <a:avLst>
              <a:gd name="adj" fmla="val 2727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60120" y="1828800"/>
            <a:ext cx="103327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9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Line 1: </a:t>
            </a:r>
            <a:pPr indent="0" marL="0">
              <a:lnSpc>
                <a:spcPct val="135000"/>
              </a:lnSpc>
              <a:buNone/>
            </a:pPr>
            <a:r>
              <a:rPr lang="en-US" sz="19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Which languages do my families read? (If unknown: finding out is this week's step.)
</a:t>
            </a:r>
            <a:pPr indent="0" marL="0">
              <a:lnSpc>
                <a:spcPct val="135000"/>
              </a:lnSpc>
              <a:buNone/>
            </a:pPr>
            <a:r>
              <a:rPr lang="en-US" sz="19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Line 2: </a:t>
            </a:r>
            <a:pPr indent="0" marL="0">
              <a:lnSpc>
                <a:spcPct val="135000"/>
              </a:lnSpc>
              <a:buNone/>
            </a:pPr>
            <a:r>
              <a:rPr lang="en-US" sz="19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Official documents travel via: [your district's translation channel]
</a:t>
            </a:r>
            <a:pPr indent="0" marL="0">
              <a:lnSpc>
                <a:spcPct val="135000"/>
              </a:lnSpc>
              <a:buNone/>
            </a:pPr>
            <a:r>
              <a:rPr lang="en-US" sz="19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Line 3: </a:t>
            </a:r>
            <a:pPr indent="0" marL="0">
              <a:lnSpc>
                <a:spcPct val="135000"/>
              </a:lnSpc>
              <a:buNone/>
            </a:pPr>
            <a:r>
              <a:rPr lang="en-US" sz="19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My human check for translated messages: [bilingual colleague, aide, or liaison]</a:t>
            </a:r>
            <a:endParaRPr lang="en-US" sz="1900" dirty="0"/>
          </a:p>
        </p:txBody>
      </p:sp>
      <p:sp>
        <p:nvSpPr>
          <p:cNvPr id="16" name="Text 13"/>
          <p:cNvSpPr/>
          <p:nvPr/>
        </p:nvSpPr>
        <p:spPr>
          <a:xfrm>
            <a:off x="640080" y="4937760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Three lines, and families who never could read your messages start to.</a:t>
            </a:r>
            <a:endParaRPr lang="en-US" sz="2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622792" y="6428232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6 · AI for Communication   |   23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8732520" y="109728"/>
            <a:ext cx="2926080" cy="896112"/>
          </a:xfrm>
          <a:prstGeom prst="roundRect">
            <a:avLst>
              <a:gd name="adj" fmla="val 7143"/>
            </a:avLst>
          </a:prstGeom>
          <a:solidFill>
            <a:srgbClr val="F7F5F0"/>
          </a:solidFill>
          <a:ln w="12700">
            <a:solidFill>
              <a:srgbClr val="DCE3E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732520" y="109728"/>
            <a:ext cx="2926080" cy="237744"/>
          </a:xfrm>
          <a:prstGeom prst="roundRect">
            <a:avLst>
              <a:gd name="adj" fmla="val 26923"/>
            </a:avLst>
          </a:prstGeom>
          <a:solidFill>
            <a:srgbClr val="0D1E2E"/>
          </a:solidFill>
          <a:ln w="12700">
            <a:solidFill>
              <a:srgbClr val="0D1E2E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823960" y="182880"/>
            <a:ext cx="91440" cy="91440"/>
          </a:xfrm>
          <a:prstGeom prst="ellipse">
            <a:avLst/>
          </a:prstGeom>
          <a:solidFill>
            <a:srgbClr val="E8837A"/>
          </a:solidFill>
          <a:ln w="12700">
            <a:solidFill>
              <a:srgbClr val="E8837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970264" y="182880"/>
            <a:ext cx="91440" cy="91440"/>
          </a:xfrm>
          <a:prstGeom prst="ellipse">
            <a:avLst/>
          </a:prstGeom>
          <a:solidFill>
            <a:srgbClr val="F4A825"/>
          </a:solidFill>
          <a:ln w="12700">
            <a:solidFill>
              <a:srgbClr val="F4A82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116568" y="182880"/>
            <a:ext cx="91440" cy="91440"/>
          </a:xfrm>
          <a:prstGeom prst="ellipse">
            <a:avLst/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299448" y="109728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MS. RIVERA'S SCREEN · SO FAR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860536" y="365760"/>
            <a:ext cx="26700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Her share-out: the before and after, read aloud.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 · SHARE-OUT · 3 VOICES, 1 MINUTE EACH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 us a before and after</a:t>
            </a:r>
            <a:endParaRPr lang="en-US" sz="3200" dirty="0"/>
          </a:p>
        </p:txBody>
      </p:sp>
      <p:sp>
        <p:nvSpPr>
          <p:cNvPr id="14" name="Text 11"/>
          <p:cNvSpPr/>
          <p:nvPr/>
        </p:nvSpPr>
        <p:spPr>
          <a:xfrm>
            <a:off x="640080" y="1371600"/>
            <a:ext cx="10908792" cy="4297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 message's before and after, read aloud, or your favorite note starter</a:t>
            </a:r>
            <a:endParaRPr lang="en-US" sz="2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Listen for how different the voices sound</a:t>
            </a:r>
            <a:endParaRPr lang="en-US" sz="2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b="1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Same tool, thirty teachers, thirty recognizable humans. That's the point.</a:t>
            </a:r>
            <a:endParaRPr lang="en-US" sz="21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622792" y="6428232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6 · AI for Communication   |   24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8732520" y="109728"/>
            <a:ext cx="2926080" cy="896112"/>
          </a:xfrm>
          <a:prstGeom prst="roundRect">
            <a:avLst>
              <a:gd name="adj" fmla="val 7143"/>
            </a:avLst>
          </a:prstGeom>
          <a:solidFill>
            <a:srgbClr val="F7F5F0"/>
          </a:solidFill>
          <a:ln w="12700">
            <a:solidFill>
              <a:srgbClr val="DCE3E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732520" y="109728"/>
            <a:ext cx="2926080" cy="237744"/>
          </a:xfrm>
          <a:prstGeom prst="roundRect">
            <a:avLst>
              <a:gd name="adj" fmla="val 26923"/>
            </a:avLst>
          </a:prstGeom>
          <a:solidFill>
            <a:srgbClr val="0D1E2E"/>
          </a:solidFill>
          <a:ln w="12700">
            <a:solidFill>
              <a:srgbClr val="0D1E2E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823960" y="182880"/>
            <a:ext cx="91440" cy="91440"/>
          </a:xfrm>
          <a:prstGeom prst="ellipse">
            <a:avLst/>
          </a:prstGeom>
          <a:solidFill>
            <a:srgbClr val="E8837A"/>
          </a:solidFill>
          <a:ln w="12700">
            <a:solidFill>
              <a:srgbClr val="E8837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970264" y="182880"/>
            <a:ext cx="91440" cy="91440"/>
          </a:xfrm>
          <a:prstGeom prst="ellipse">
            <a:avLst/>
          </a:prstGeom>
          <a:solidFill>
            <a:srgbClr val="F4A825"/>
          </a:solidFill>
          <a:ln w="12700">
            <a:solidFill>
              <a:srgbClr val="F4A82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116568" y="182880"/>
            <a:ext cx="91440" cy="91440"/>
          </a:xfrm>
          <a:prstGeom prst="ellipse">
            <a:avLst/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299448" y="109728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MS. RIVERA'S SCREEN · SO FAR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860536" y="365760"/>
            <a:ext cx="26700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Her inventory: message ready, batch started, translation plan written.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TWENTY-ONE MINUTES OF WORK, ON THE RECORD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inventory</a:t>
            </a:r>
            <a:endParaRPr lang="en-US" sz="3200" dirty="0"/>
          </a:p>
        </p:txBody>
      </p:sp>
      <p:sp>
        <p:nvSpPr>
          <p:cNvPr id="14" name="Shape 11"/>
          <p:cNvSpPr/>
          <p:nvPr/>
        </p:nvSpPr>
        <p:spPr>
          <a:xfrm>
            <a:off x="640080" y="1645920"/>
            <a:ext cx="10972800" cy="3291840"/>
          </a:xfrm>
          <a:prstGeom prst="roundRect">
            <a:avLst>
              <a:gd name="adj" fmla="val 2500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005840" y="1920240"/>
            <a:ext cx="102412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real message to families, voiced and ready for this week. A positive-note batch with three families' sentences chosen. An access plan that starts reaching the families English-only messages missed.
</a:t>
            </a:r>
            <a:pPr indent="0" marL="0">
              <a:buNone/>
            </a:pPr>
            <a:r>
              <a:rPr lang="en-US" sz="2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That last one might matter most, and it took three minutes.</a:t>
            </a:r>
            <a:endParaRPr lang="en-US" sz="2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622792" y="6428232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6 · AI for Communication   |   25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8732520" y="109728"/>
            <a:ext cx="2926080" cy="896112"/>
          </a:xfrm>
          <a:prstGeom prst="roundRect">
            <a:avLst>
              <a:gd name="adj" fmla="val 7143"/>
            </a:avLst>
          </a:prstGeom>
          <a:solidFill>
            <a:srgbClr val="F7F5F0"/>
          </a:solidFill>
          <a:ln w="12700">
            <a:solidFill>
              <a:srgbClr val="DCE3E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732520" y="109728"/>
            <a:ext cx="2926080" cy="237744"/>
          </a:xfrm>
          <a:prstGeom prst="roundRect">
            <a:avLst>
              <a:gd name="adj" fmla="val 26923"/>
            </a:avLst>
          </a:prstGeom>
          <a:solidFill>
            <a:srgbClr val="0D1E2E"/>
          </a:solidFill>
          <a:ln w="12700">
            <a:solidFill>
              <a:srgbClr val="0D1E2E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823960" y="182880"/>
            <a:ext cx="91440" cy="91440"/>
          </a:xfrm>
          <a:prstGeom prst="ellipse">
            <a:avLst/>
          </a:prstGeom>
          <a:solidFill>
            <a:srgbClr val="E8837A"/>
          </a:solidFill>
          <a:ln w="12700">
            <a:solidFill>
              <a:srgbClr val="E8837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970264" y="182880"/>
            <a:ext cx="91440" cy="91440"/>
          </a:xfrm>
          <a:prstGeom prst="ellipse">
            <a:avLst/>
          </a:prstGeom>
          <a:solidFill>
            <a:srgbClr val="F4A825"/>
          </a:solidFill>
          <a:ln w="12700">
            <a:solidFill>
              <a:srgbClr val="F4A82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116568" y="182880"/>
            <a:ext cx="91440" cy="91440"/>
          </a:xfrm>
          <a:prstGeom prst="ellipse">
            <a:avLst/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299448" y="109728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MS. RIVERA'S SCREEN · SO FAR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860536" y="365760"/>
            <a:ext cx="26700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Her honest limits: AI can't know the family or repair trust it didn't build.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THIS SERIES DOESN'T OVERSELL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Honest limits</a:t>
            </a:r>
            <a:endParaRPr lang="en-US" sz="3200" dirty="0"/>
          </a:p>
        </p:txBody>
      </p:sp>
      <p:sp>
        <p:nvSpPr>
          <p:cNvPr id="14" name="Text 11"/>
          <p:cNvSpPr/>
          <p:nvPr/>
        </p:nvSpPr>
        <p:spPr>
          <a:xfrm>
            <a:off x="640080" y="1371600"/>
            <a:ext cx="10908792" cy="4297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tool doesn't know your families, their histories, or what last year did to their trust; personalizing is where your knowledge enters</a:t>
            </a:r>
            <a:endParaRPr lang="en-US" sz="2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Machine translation is helpful and imperfect; that's why the human check exists</a:t>
            </a:r>
            <a:endParaRPr lang="en-US" sz="2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b="1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tool repairs trust. Only consistency does. AI lowers the cost of consistency; that's its whole contribution, and it's a big one.</a:t>
            </a:r>
            <a:endParaRPr lang="en-US" sz="2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329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622792" y="6428232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6 · AI for Communication   |   26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8732520" y="109728"/>
            <a:ext cx="2926080" cy="896112"/>
          </a:xfrm>
          <a:prstGeom prst="roundRect">
            <a:avLst>
              <a:gd name="adj" fmla="val 7143"/>
            </a:avLst>
          </a:prstGeom>
          <a:solidFill>
            <a:srgbClr val="1E3A50"/>
          </a:solidFill>
          <a:ln w="12700">
            <a:solidFill>
              <a:srgbClr val="2A4A63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732520" y="109728"/>
            <a:ext cx="2926080" cy="237744"/>
          </a:xfrm>
          <a:prstGeom prst="roundRect">
            <a:avLst>
              <a:gd name="adj" fmla="val 26923"/>
            </a:avLst>
          </a:prstGeom>
          <a:solidFill>
            <a:srgbClr val="0D1E2E"/>
          </a:solidFill>
          <a:ln w="12700">
            <a:solidFill>
              <a:srgbClr val="0D1E2E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823960" y="182880"/>
            <a:ext cx="91440" cy="91440"/>
          </a:xfrm>
          <a:prstGeom prst="ellipse">
            <a:avLst/>
          </a:prstGeom>
          <a:solidFill>
            <a:srgbClr val="E8837A"/>
          </a:solidFill>
          <a:ln w="12700">
            <a:solidFill>
              <a:srgbClr val="E8837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970264" y="182880"/>
            <a:ext cx="91440" cy="91440"/>
          </a:xfrm>
          <a:prstGeom prst="ellipse">
            <a:avLst/>
          </a:prstGeom>
          <a:solidFill>
            <a:srgbClr val="F4A825"/>
          </a:solidFill>
          <a:ln w="12700">
            <a:solidFill>
              <a:srgbClr val="F4A82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116568" y="182880"/>
            <a:ext cx="91440" cy="91440"/>
          </a:xfrm>
          <a:prstGeom prst="ellipse">
            <a:avLst/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299448" y="109728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MS. RIVERA'S SCREEN · SO FAR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860536" y="365760"/>
            <a:ext cx="26700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9D4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Her commitments: review and personalize everything; call first on hard news; one batch a week.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822960" y="100584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F4A8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OUR THREE COMMITMENTS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868680" y="1892808"/>
            <a:ext cx="640080" cy="64008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68680" y="1892808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2400" dirty="0"/>
          </a:p>
        </p:txBody>
      </p:sp>
      <p:sp>
        <p:nvSpPr>
          <p:cNvPr id="15" name="Text 12"/>
          <p:cNvSpPr/>
          <p:nvPr/>
        </p:nvSpPr>
        <p:spPr>
          <a:xfrm>
            <a:off x="1783080" y="1783080"/>
            <a:ext cx="9692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AI-drafted message is reviewed and personalized before it sends; families hear me, not the tool</a:t>
            </a:r>
            <a:endParaRPr lang="en-US" sz="2000" dirty="0"/>
          </a:p>
        </p:txBody>
      </p:sp>
      <p:sp>
        <p:nvSpPr>
          <p:cNvPr id="16" name="Shape 13"/>
          <p:cNvSpPr/>
          <p:nvPr/>
        </p:nvSpPr>
        <p:spPr>
          <a:xfrm>
            <a:off x="868680" y="3081528"/>
            <a:ext cx="640080" cy="64008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868680" y="3081528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2400" dirty="0"/>
          </a:p>
        </p:txBody>
      </p:sp>
      <p:sp>
        <p:nvSpPr>
          <p:cNvPr id="18" name="Text 15"/>
          <p:cNvSpPr/>
          <p:nvPr/>
        </p:nvSpPr>
        <p:spPr>
          <a:xfrm>
            <a:off x="1783080" y="2971800"/>
            <a:ext cx="9692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Hard news travels by voice first, mine, every time</a:t>
            </a:r>
            <a:endParaRPr lang="en-US" sz="2000" dirty="0"/>
          </a:p>
        </p:txBody>
      </p:sp>
      <p:sp>
        <p:nvSpPr>
          <p:cNvPr id="19" name="Shape 16"/>
          <p:cNvSpPr/>
          <p:nvPr/>
        </p:nvSpPr>
        <p:spPr>
          <a:xfrm>
            <a:off x="868680" y="4270248"/>
            <a:ext cx="640080" cy="64008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868680" y="4270248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2400" dirty="0"/>
          </a:p>
        </p:txBody>
      </p:sp>
      <p:sp>
        <p:nvSpPr>
          <p:cNvPr id="21" name="Text 18"/>
          <p:cNvSpPr/>
          <p:nvPr/>
        </p:nvSpPr>
        <p:spPr>
          <a:xfrm>
            <a:off x="1783080" y="4160520"/>
            <a:ext cx="9692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positive-note batch a week: the one-sentence habit the research validated</a:t>
            </a:r>
            <a:endParaRPr lang="en-US" sz="2000" dirty="0"/>
          </a:p>
        </p:txBody>
      </p:sp>
      <p:sp>
        <p:nvSpPr>
          <p:cNvPr id="22" name="Text 19"/>
          <p:cNvSpPr/>
          <p:nvPr/>
        </p:nvSpPr>
        <p:spPr>
          <a:xfrm>
            <a:off x="822960" y="5577840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Can I get a nod on those three?</a:t>
            </a:r>
            <a:endParaRPr lang="en-US" sz="18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622792" y="6428232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6 · AI for Communication   |   27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8732520" y="109728"/>
            <a:ext cx="2926080" cy="896112"/>
          </a:xfrm>
          <a:prstGeom prst="roundRect">
            <a:avLst>
              <a:gd name="adj" fmla="val 7143"/>
            </a:avLst>
          </a:prstGeom>
          <a:solidFill>
            <a:srgbClr val="F7F5F0"/>
          </a:solidFill>
          <a:ln w="12700">
            <a:solidFill>
              <a:srgbClr val="DCE3E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732520" y="109728"/>
            <a:ext cx="2926080" cy="237744"/>
          </a:xfrm>
          <a:prstGeom prst="roundRect">
            <a:avLst>
              <a:gd name="adj" fmla="val 26923"/>
            </a:avLst>
          </a:prstGeom>
          <a:solidFill>
            <a:srgbClr val="0D1E2E"/>
          </a:solidFill>
          <a:ln w="12700">
            <a:solidFill>
              <a:srgbClr val="0D1E2E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823960" y="182880"/>
            <a:ext cx="91440" cy="91440"/>
          </a:xfrm>
          <a:prstGeom prst="ellipse">
            <a:avLst/>
          </a:prstGeom>
          <a:solidFill>
            <a:srgbClr val="E8837A"/>
          </a:solidFill>
          <a:ln w="12700">
            <a:solidFill>
              <a:srgbClr val="E8837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970264" y="182880"/>
            <a:ext cx="91440" cy="91440"/>
          </a:xfrm>
          <a:prstGeom prst="ellipse">
            <a:avLst/>
          </a:prstGeom>
          <a:solidFill>
            <a:srgbClr val="F4A825"/>
          </a:solidFill>
          <a:ln w="12700">
            <a:solidFill>
              <a:srgbClr val="F4A82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116568" y="182880"/>
            <a:ext cx="91440" cy="91440"/>
          </a:xfrm>
          <a:prstGeom prst="ellipse">
            <a:avLst/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299448" y="109728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MS. RIVERA'S SCREEN · SO FAR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860536" y="365760"/>
            <a:ext cx="26700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Her month: batch habit, translation audit, comms templates in the staff doc.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30-DAY PLAN, IN ONE SLIDE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this goes next</a:t>
            </a:r>
            <a:endParaRPr lang="en-US" sz="3200" dirty="0"/>
          </a:p>
        </p:txBody>
      </p:sp>
      <p:sp>
        <p:nvSpPr>
          <p:cNvPr id="14" name="Text 11"/>
          <p:cNvSpPr/>
          <p:nvPr/>
        </p:nvSpPr>
        <p:spPr>
          <a:xfrm>
            <a:off x="822960" y="155448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This week</a:t>
            </a:r>
            <a:endParaRPr lang="en-US" sz="1900" dirty="0"/>
          </a:p>
        </p:txBody>
      </p:sp>
      <p:sp>
        <p:nvSpPr>
          <p:cNvPr id="15" name="Text 12"/>
          <p:cNvSpPr/>
          <p:nvPr/>
        </p:nvSpPr>
        <p:spPr>
          <a:xfrm>
            <a:off x="2926080" y="1554480"/>
            <a:ext cx="8595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lab message and three positive notes actually send</a:t>
            </a:r>
            <a:endParaRPr lang="en-US" sz="1800" dirty="0"/>
          </a:p>
        </p:txBody>
      </p:sp>
      <p:sp>
        <p:nvSpPr>
          <p:cNvPr id="16" name="Text 13"/>
          <p:cNvSpPr/>
          <p:nvPr/>
        </p:nvSpPr>
        <p:spPr>
          <a:xfrm>
            <a:off x="822960" y="251460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Week 2</a:t>
            </a:r>
            <a:endParaRPr lang="en-US" sz="1900" dirty="0"/>
          </a:p>
        </p:txBody>
      </p:sp>
      <p:sp>
        <p:nvSpPr>
          <p:cNvPr id="17" name="Text 14"/>
          <p:cNvSpPr/>
          <p:nvPr/>
        </p:nvSpPr>
        <p:spPr>
          <a:xfrm>
            <a:off x="2926080" y="2514600"/>
            <a:ext cx="8595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PLC · Batch Check: did week two's notes go out, and what came back?</a:t>
            </a:r>
            <a:endParaRPr lang="en-US" sz="1800" dirty="0"/>
          </a:p>
        </p:txBody>
      </p:sp>
      <p:sp>
        <p:nvSpPr>
          <p:cNvPr id="18" name="Text 15"/>
          <p:cNvSpPr/>
          <p:nvPr/>
        </p:nvSpPr>
        <p:spPr>
          <a:xfrm>
            <a:off x="822960" y="347472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Week 3</a:t>
            </a:r>
            <a:endParaRPr lang="en-US" sz="1900" dirty="0"/>
          </a:p>
        </p:txBody>
      </p:sp>
      <p:sp>
        <p:nvSpPr>
          <p:cNvPr id="19" name="Text 16"/>
          <p:cNvSpPr/>
          <p:nvPr/>
        </p:nvSpPr>
        <p:spPr>
          <a:xfrm>
            <a:off x="2926080" y="3474720"/>
            <a:ext cx="8595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PLC · Translation Audit: every team knows its languages, channels, checks</a:t>
            </a:r>
            <a:endParaRPr lang="en-US" sz="1800" dirty="0"/>
          </a:p>
        </p:txBody>
      </p:sp>
      <p:sp>
        <p:nvSpPr>
          <p:cNvPr id="20" name="Text 17"/>
          <p:cNvSpPr/>
          <p:nvPr/>
        </p:nvSpPr>
        <p:spPr>
          <a:xfrm>
            <a:off x="822960" y="443484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Week 4</a:t>
            </a:r>
            <a:endParaRPr lang="en-US" sz="1900" dirty="0"/>
          </a:p>
        </p:txBody>
      </p:sp>
      <p:sp>
        <p:nvSpPr>
          <p:cNvPr id="21" name="Text 18"/>
          <p:cNvSpPr/>
          <p:nvPr/>
        </p:nvSpPr>
        <p:spPr>
          <a:xfrm>
            <a:off x="2926080" y="4434840"/>
            <a:ext cx="8595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PLC · Template Harvest: best messages into the staff doc's Communication section</a:t>
            </a:r>
            <a:endParaRPr lang="en-US" sz="1800" dirty="0"/>
          </a:p>
        </p:txBody>
      </p:sp>
      <p:sp>
        <p:nvSpPr>
          <p:cNvPr id="22" name="Text 19"/>
          <p:cNvSpPr/>
          <p:nvPr/>
        </p:nvSpPr>
        <p:spPr>
          <a:xfrm>
            <a:off x="640080" y="55778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Nobody at this school writes the field-trip reminder from scratch again.</a:t>
            </a:r>
            <a:endParaRPr lang="en-US" sz="2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622792" y="6428232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6 · AI for Communication   |   28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8732520" y="109728"/>
            <a:ext cx="2926080" cy="896112"/>
          </a:xfrm>
          <a:prstGeom prst="roundRect">
            <a:avLst>
              <a:gd name="adj" fmla="val 7143"/>
            </a:avLst>
          </a:prstGeom>
          <a:solidFill>
            <a:srgbClr val="F7F5F0"/>
          </a:solidFill>
          <a:ln w="12700">
            <a:solidFill>
              <a:srgbClr val="DCE3E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732520" y="109728"/>
            <a:ext cx="2926080" cy="237744"/>
          </a:xfrm>
          <a:prstGeom prst="roundRect">
            <a:avLst>
              <a:gd name="adj" fmla="val 26923"/>
            </a:avLst>
          </a:prstGeom>
          <a:solidFill>
            <a:srgbClr val="0D1E2E"/>
          </a:solidFill>
          <a:ln w="12700">
            <a:solidFill>
              <a:srgbClr val="0D1E2E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823960" y="182880"/>
            <a:ext cx="91440" cy="91440"/>
          </a:xfrm>
          <a:prstGeom prst="ellipse">
            <a:avLst/>
          </a:prstGeom>
          <a:solidFill>
            <a:srgbClr val="E8837A"/>
          </a:solidFill>
          <a:ln w="12700">
            <a:solidFill>
              <a:srgbClr val="E8837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970264" y="182880"/>
            <a:ext cx="91440" cy="91440"/>
          </a:xfrm>
          <a:prstGeom prst="ellipse">
            <a:avLst/>
          </a:prstGeom>
          <a:solidFill>
            <a:srgbClr val="F4A825"/>
          </a:solidFill>
          <a:ln w="12700">
            <a:solidFill>
              <a:srgbClr val="F4A82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116568" y="182880"/>
            <a:ext cx="91440" cy="91440"/>
          </a:xfrm>
          <a:prstGeom prst="ellipse">
            <a:avLst/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299448" y="109728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MS. RIVERA'S SCREEN · SO FAR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860536" y="365760"/>
            <a:ext cx="26700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Her 48 hours: send the message, send the batch, start the access plan.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BEFORE FRIDAY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First 48 hours: three sends</a:t>
            </a:r>
            <a:endParaRPr lang="en-US" sz="3200" dirty="0"/>
          </a:p>
        </p:txBody>
      </p:sp>
      <p:sp>
        <p:nvSpPr>
          <p:cNvPr id="14" name="Shape 11"/>
          <p:cNvSpPr/>
          <p:nvPr/>
        </p:nvSpPr>
        <p:spPr>
          <a:xfrm>
            <a:off x="640080" y="1554480"/>
            <a:ext cx="10972800" cy="1097280"/>
          </a:xfrm>
          <a:prstGeom prst="roundRect">
            <a:avLst>
              <a:gd name="adj" fmla="val 7500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14400" y="1737360"/>
            <a:ext cx="640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2600" dirty="0"/>
          </a:p>
        </p:txBody>
      </p:sp>
      <p:sp>
        <p:nvSpPr>
          <p:cNvPr id="16" name="Text 13"/>
          <p:cNvSpPr/>
          <p:nvPr/>
        </p:nvSpPr>
        <p:spPr>
          <a:xfrm>
            <a:off x="1737360" y="1691640"/>
            <a:ext cx="6675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Send the message you drafted</a:t>
            </a:r>
            <a:endParaRPr lang="en-US" sz="1800" dirty="0"/>
          </a:p>
        </p:txBody>
      </p:sp>
      <p:sp>
        <p:nvSpPr>
          <p:cNvPr id="17" name="Text 14"/>
          <p:cNvSpPr/>
          <p:nvPr/>
        </p:nvSpPr>
        <p:spPr>
          <a:xfrm>
            <a:off x="1737360" y="2121408"/>
            <a:ext cx="6675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It passed both passes; it's done. Send it on schedule</a:t>
            </a:r>
            <a:endParaRPr lang="en-US" sz="1450" dirty="0"/>
          </a:p>
        </p:txBody>
      </p:sp>
      <p:sp>
        <p:nvSpPr>
          <p:cNvPr id="18" name="Text 15"/>
          <p:cNvSpPr/>
          <p:nvPr/>
        </p:nvSpPr>
        <p:spPr>
          <a:xfrm>
            <a:off x="9509760" y="187452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~5 min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640080" y="2834640"/>
            <a:ext cx="10972800" cy="1097280"/>
          </a:xfrm>
          <a:prstGeom prst="roundRect">
            <a:avLst>
              <a:gd name="adj" fmla="val 7500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914400" y="3017520"/>
            <a:ext cx="640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2600" dirty="0"/>
          </a:p>
        </p:txBody>
      </p:sp>
      <p:sp>
        <p:nvSpPr>
          <p:cNvPr id="21" name="Text 18"/>
          <p:cNvSpPr/>
          <p:nvPr/>
        </p:nvSpPr>
        <p:spPr>
          <a:xfrm>
            <a:off x="1737360" y="2971800"/>
            <a:ext cx="6675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Send three positive notes</a:t>
            </a:r>
            <a:endParaRPr lang="en-US" sz="1800" dirty="0"/>
          </a:p>
        </p:txBody>
      </p:sp>
      <p:sp>
        <p:nvSpPr>
          <p:cNvPr id="22" name="Text 19"/>
          <p:cNvSpPr/>
          <p:nvPr/>
        </p:nvSpPr>
        <p:spPr>
          <a:xfrm>
            <a:off x="1737360" y="3401568"/>
            <a:ext cx="6675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Personalized in your own email, improvement-focused and warm</a:t>
            </a:r>
            <a:endParaRPr lang="en-US" sz="1450" dirty="0"/>
          </a:p>
        </p:txBody>
      </p:sp>
      <p:sp>
        <p:nvSpPr>
          <p:cNvPr id="23" name="Text 20"/>
          <p:cNvSpPr/>
          <p:nvPr/>
        </p:nvSpPr>
        <p:spPr>
          <a:xfrm>
            <a:off x="9509760" y="315468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~10 min</a:t>
            </a:r>
            <a:endParaRPr lang="en-US" sz="1600" dirty="0"/>
          </a:p>
        </p:txBody>
      </p:sp>
      <p:sp>
        <p:nvSpPr>
          <p:cNvPr id="24" name="Shape 21"/>
          <p:cNvSpPr/>
          <p:nvPr/>
        </p:nvSpPr>
        <p:spPr>
          <a:xfrm>
            <a:off x="640080" y="4114800"/>
            <a:ext cx="10972800" cy="1097280"/>
          </a:xfrm>
          <a:prstGeom prst="roundRect">
            <a:avLst>
              <a:gd name="adj" fmla="val 7500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914400" y="4297680"/>
            <a:ext cx="640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2600" dirty="0"/>
          </a:p>
        </p:txBody>
      </p:sp>
      <p:sp>
        <p:nvSpPr>
          <p:cNvPr id="26" name="Text 23"/>
          <p:cNvSpPr/>
          <p:nvPr/>
        </p:nvSpPr>
        <p:spPr>
          <a:xfrm>
            <a:off x="1737360" y="4251960"/>
            <a:ext cx="6675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Start the access plan</a:t>
            </a:r>
            <a:endParaRPr lang="en-US" sz="1800" dirty="0"/>
          </a:p>
        </p:txBody>
      </p:sp>
      <p:sp>
        <p:nvSpPr>
          <p:cNvPr id="27" name="Text 24"/>
          <p:cNvSpPr/>
          <p:nvPr/>
        </p:nvSpPr>
        <p:spPr>
          <a:xfrm>
            <a:off x="1737360" y="4681728"/>
            <a:ext cx="6675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Learn your roster's languages; send one translated message</a:t>
            </a:r>
            <a:endParaRPr lang="en-US" sz="1450" dirty="0"/>
          </a:p>
        </p:txBody>
      </p:sp>
      <p:sp>
        <p:nvSpPr>
          <p:cNvPr id="28" name="Text 25"/>
          <p:cNvSpPr/>
          <p:nvPr/>
        </p:nvSpPr>
        <p:spPr>
          <a:xfrm>
            <a:off x="9509760" y="443484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~10 min</a:t>
            </a:r>
            <a:endParaRPr lang="en-US" sz="16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622792" y="6428232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6 · AI for Communication   |   29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8732520" y="109728"/>
            <a:ext cx="2926080" cy="896112"/>
          </a:xfrm>
          <a:prstGeom prst="roundRect">
            <a:avLst>
              <a:gd name="adj" fmla="val 7143"/>
            </a:avLst>
          </a:prstGeom>
          <a:solidFill>
            <a:srgbClr val="F7F5F0"/>
          </a:solidFill>
          <a:ln w="12700">
            <a:solidFill>
              <a:srgbClr val="DCE3E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732520" y="109728"/>
            <a:ext cx="2926080" cy="237744"/>
          </a:xfrm>
          <a:prstGeom prst="roundRect">
            <a:avLst>
              <a:gd name="adj" fmla="val 26923"/>
            </a:avLst>
          </a:prstGeom>
          <a:solidFill>
            <a:srgbClr val="0D1E2E"/>
          </a:solidFill>
          <a:ln w="12700">
            <a:solidFill>
              <a:srgbClr val="0D1E2E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823960" y="182880"/>
            <a:ext cx="91440" cy="91440"/>
          </a:xfrm>
          <a:prstGeom prst="ellipse">
            <a:avLst/>
          </a:prstGeom>
          <a:solidFill>
            <a:srgbClr val="E8837A"/>
          </a:solidFill>
          <a:ln w="12700">
            <a:solidFill>
              <a:srgbClr val="E8837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970264" y="182880"/>
            <a:ext cx="91440" cy="91440"/>
          </a:xfrm>
          <a:prstGeom prst="ellipse">
            <a:avLst/>
          </a:prstGeom>
          <a:solidFill>
            <a:srgbClr val="F4A825"/>
          </a:solidFill>
          <a:ln w="12700">
            <a:solidFill>
              <a:srgbClr val="F4A82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116568" y="182880"/>
            <a:ext cx="91440" cy="91440"/>
          </a:xfrm>
          <a:prstGeom prst="ellipse">
            <a:avLst/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299448" y="109728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MS. RIVERA'S SCREEN · SO FAR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860536" y="365760"/>
            <a:ext cx="26700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Her exit ticket: what she drafted, her note-batch plan, one worry.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TWO MINUTES, AT THE DOOR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Exit ticket</a:t>
            </a:r>
            <a:endParaRPr lang="en-US" sz="3200" dirty="0"/>
          </a:p>
        </p:txBody>
      </p:sp>
      <p:sp>
        <p:nvSpPr>
          <p:cNvPr id="14" name="Text 11"/>
          <p:cNvSpPr/>
          <p:nvPr/>
        </p:nvSpPr>
        <p:spPr>
          <a:xfrm>
            <a:off x="640080" y="1371600"/>
            <a:ext cx="10908792" cy="4297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message you drafted, and when it goes out</a:t>
            </a:r>
            <a:endParaRPr lang="en-US" sz="2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 positive-note plan: batch day and how you'll personalize</a:t>
            </a:r>
            <a:endParaRPr lang="en-US" sz="2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b="1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communication situation you still want help with</a:t>
            </a:r>
            <a:endParaRPr lang="en-US" sz="2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It doubles as the school's PD documentation</a:t>
            </a:r>
            <a:endParaRPr lang="en-US" sz="2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1329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622792" y="6428232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6 · AI for Communication   |   30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822960" y="1645920"/>
            <a:ext cx="105156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Nobody remembers a beige newsletter.</a:t>
            </a:r>
            <a:endParaRPr lang="en-US" sz="3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Nobody forgets the teacher who sent home</a:t>
            </a:r>
            <a:endParaRPr lang="en-US" sz="3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true sentence about their kid.</a:t>
            </a:r>
            <a:endParaRPr lang="en-US" sz="3200" dirty="0"/>
          </a:p>
        </p:txBody>
      </p:sp>
      <p:sp>
        <p:nvSpPr>
          <p:cNvPr id="6" name="Text 3"/>
          <p:cNvSpPr/>
          <p:nvPr/>
        </p:nvSpPr>
        <p:spPr>
          <a:xfrm>
            <a:off x="822960" y="4023360"/>
            <a:ext cx="10332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tool writes drafts now. The sentences families keep are still yours.</a:t>
            </a:r>
            <a:endParaRPr lang="en-US" sz="2200" dirty="0"/>
          </a:p>
        </p:txBody>
      </p:sp>
      <p:sp>
        <p:nvSpPr>
          <p:cNvPr id="7" name="Text 4"/>
          <p:cNvSpPr/>
          <p:nvPr/>
        </p:nvSpPr>
        <p:spPr>
          <a:xfrm>
            <a:off x="822960" y="5120640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4A8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Next: Kit 7 · AI for Workload: Winning Back an Hour a Week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822960" y="5623560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Thanks for the hour. Go send something worth keeping.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AI-Ready School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Kit 6: AI for Communication: Parent Messages, Translation, and Tone</dc:title>
  <dc:subject>PptxGenJS Presentation</dc:subject>
  <dc:creator>Adam &amp; Katelyn Spinozzi</dc:creator>
  <cp:lastModifiedBy>Adam &amp; Katelyn Spinozzi</cp:lastModifiedBy>
  <cp:revision>1</cp:revision>
  <dcterms:created xsi:type="dcterms:W3CDTF">2026-08-10T13:34:46Z</dcterms:created>
  <dcterms:modified xsi:type="dcterms:W3CDTF">2026-08-10T13:34:46Z</dcterms:modified>
</cp:coreProperties>
</file>