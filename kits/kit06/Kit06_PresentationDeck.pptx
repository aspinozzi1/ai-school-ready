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Say: welcome back, and before I tell you anything about this hour I want sixty seconds of your time and I want it quiet. Do NOT preview the agenda here; the silent audit on slide 2 is the opening and a preview spoils it. This session assumes Kits 1 and 2 (the privacy rule and the four-part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one student, ideally one you find difficult, and find the date that family last heard from you when nothing was wrong. THEN STOP TALKING. Sixty seconds on your watch. Do not fill the silence, do not pace, do not add a joke; from the front of the room this feels like four minutes and the silence is the whole opening. When it ends, do not ask anyone to share. Go straight to slide 3. The room has now done something before you taught anything,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am not going to ask what you found. Most rooms find one of three things: conferences, a long time ago, or never, and nobody in here is a bad teacher, which is exactly why we did it silently. Then walk the two cards. Land the navy line word for word and do not soften it. One beat, then move. Do not turn this into a discussion; the evidence slide is next and it is what earns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Kraft and Rogers, 2015, a field experiment. Weekly short individualized messages home, and failure to earn the course credit fell from 15.8 to 9.3 percent, a 41 percent reduction. Then say the scope out loud, and say it every single time this number leaves your mouth, including in the hallway afterward: a summer credit-recovery program, students retaking a course they had already failed, and a bundle was tested, so we do not get to say personalization is the mechanism. If you say the number without the scope, someone in your building will repeat it to a board member without the scope. 45-min cut: read both cards, drop your own commentary.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Merrimack and the EdWeek Research Center asked teachers to account for their week. About 54 hours, about 25 of it actual teaching. Communicating with families is one of eleven categories fighting for what is left. And you already know what happens when the week gets tight: the routine positive note has no deadline and nobody notices it missing, so it goes first. Match the verb to the evidence on the Gallup number: teachers REPORTED saving an ESTIMATED 5.9 hours a week. Never say "saves." Land the diagnosis: capacity, not caring.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whole session in two sentences and they are on the screen. AI handles the ordinary positive contact at a volume nobody sustains by hand. You still write the hard message. Be honest about how unusual that is: the rest of the market automates the difficult conversation, and we are doing the opposite on purpose. By the end of the hour they will know exactly why. Say the five-word posture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twelve minutes on the two kinds of message, three on the lines that never move, then twenty minutes of lab where you do it. Read the promise card out loud: not that you will learn about family communication, but that you leave with four and one. Keep this slide under a minute; the room already did the audit and wants the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them both, then give the test they keep. Swap the name; if the note still works with a different child in it, it is not a note yet. Then the division of labor, which is the spine of the whole hour: the tool builds the shape, you supply the sentence that could not have come from anywhere else. Do not sneer at the generic sentence; it is warm and correct and it is what most of us send when we are tired. That is the honest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honest objection is "I do not have a specific detail for every kid," and it is usually wrong in one way: people search their memory of the whole year, which is a blur. Look at this week. Four days. Read the four examples on the right and point out that none of them are awards and two of them are not academic. What they share is that they are true, dated, and picturable. Then land the last line gently, without shaming anyone. 45-min cut: fold this into slide 8 and keep the four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other half of the job is the missing work, the behavior, the grade about to become a problem, and you write this one. Not because a tool could not produce something that reads well, but because a message carrying consequences has to be defensible by the person who sent it, and because your relationship with that family is what does the work, not the prose. Walk all four rules. Rule 1 is the one people remember: fact versus feeling. Rule 4 is the one that saves a relationship at eleven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exactly one thing I will let the tool do on a hard message, and this is it. The same four parts from Kit 2: role in teal, task in navy, context in amber, format in green. Point at the last clause, "no replacement wording," because it is doing the real work. You are not asking for a rewrite; you are asking for a mirror at nine at night when you have read your own sentence eleven times and cannot hear it any more. If they take one line home, take this: the tool reads it back, you write it. And note the names are stripped before anything is pasted.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things on this slide and they are not the same thing, so keep them apart on purpose. First OUR rule: teachers do not run family messages through a public AI translator, because you cannot review what you cannot read, and every habit in this kit depends on you checking the draft. Official documents travel the district channels, which is the district obligation. Second the LAW, which is separate: the 2015 Dear Colleague Letter requires meaningful communication and qualified review of machine translation for essential information, and it does NOT itself forbid teacher use. Our rule is stricter because we chose it. Never cut this slide, and never present our rule as a legal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of the four slowly, one at a time: safety, serious discipline, a family's grief, special-education news. For these you call, in your own voice, and the written follow-up comes afterward and comes from you. Then the honest framing: this is not a policy about AI, it is older than AI; what changed is that drafting got cheap, so the temptation to type instead of call went up. Say the line out loud in the room before anyone is tired enough to cross it at eleven at night. Never cut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Kit 1's one hard rule wearing today's clothes. The situation goes into the tool; the child never does. Spend your time on row one, because pasting a parent email in for help replying is the single most common slip in this kit and it feels harmless. Describe it instead. The draft comes back generic, which is fine, because the specifics get added by you in your own inbox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twenty minutes, four steps, and at the end you are holding four notes and one hard message. Pairs, devices out inside two minutes, announce which tool you are using. Read the three ground rules off the slide. Ms. Rivera follows ONE routine all the way through today: her Friday ten minutes, four families. You will see her list (slide 16), the prompt she types (18), what came back (19), the four sentences she wrote herself (21), the finished notes as the families opened them (22 and 23), and the hard message she wrote by hand (25). Anyone lost can copy her structure from the screen and still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three minutes, and it is the step people rush. Four families who have not heard from you when nothing was wrong, initials only on the handout, and put the student from the silent audit on the list. Circulate; if someone is stuck on who to pick, ask "who did you think about in the silence at the start?" That is usually the first name on their list. Then read Ms. Rivera's list off the card: three silent since October conferences, and Jalen, whose family got a phone call about a shove nine days ago. Point out she is good at her job and this is still her list. 45-min cut: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four minutes, draft the shape. The prompt is on the handout word for word so nobody has to invent it: role, task, context, format, exactly the Kit 2 formula. You are asking for four short notes with nothing wrong in them, and a blank line in each where you will write the specific thing. You are deliberately asking the tool for the part it is good at and telling it to leave the part it cannot do. Show slide 18 while they type and slide 19 while they read what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and it is the shape to mimic. Role in teal, task in navy, context in amber, format in green, the same four parts from Kit 2. Read the context clause out loud, because it is the part people skip: nothing is wrong, and these families mostly hear from school only when there is a problem. Then read the last clause of the format twice: leave one blank line in each note where I will write the specific true thing I saw this week. She is instructing the tool to leave a hole in its own work. That is the design. At worst, copy this shape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came back, word for word, all four. Read one aloud, then say the honest thing: warm, competent, correctly formatted, and completely interchangeable. Swap Maya's name for Priya's and nothing breaks. Do NOT sneer at the draft; the room needs to respect it to trust the workflow. Every one of those four is a serviceable container, and every one has an empty line in the middle because the thing that makes a note worth opening is not in there and cannot be. If you sent these as they are, four families would know they got a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six minutes, and this step is the session. One sentence per child, written by you, into the blank; not typed into the tool, typed into the note. Protect all six minutes. Circulate and read over shoulders, because the failure mode is people writing a SECOND generic sentence. The question to ask at a shoulder: "could that sentence be about anyone else in your class?" Then name what they are feeling: the first two steps felt like nothing, this one feels like teaching, because it is. Her four sentences are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are Ms. Rivera's four, and they took her about ninety seconds because she was looking at this week and not at the whole year. Read all four aloud, with the day tags. Then stop on Jalen and land the closing line slowly: nine days ago his family got a phone call about a shove; this Friday they get a sentence about the kid who set up the lab station. Same teacher, same child, and now his family has heard both. That is the entire argument of this session in one line, and it cost her fifteen seconds of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finished notes as the families received them, not a description of them. Read note 1 aloud, all of it, at the pace a parent would read it. Then point at the teal: the tool wrote the frame, she wrote the two sentences in the middle, and that is the note a family keeps. Seventy words. Do not summarize these slides; the owner rule is that the room sees the finished product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notes three and four, same Friday, same ten minutes. Read note 4 aloud with the phone call from nine days ago still in your head. Then stop on the word "too," because it is doing a lot of work: it tells that family this teacher has now spoken to them twice, and only one of those times was about a problem. Land the arithmetic plainly: four families, four true sentences, ten minutes. Nothing in there is a technique; it is contact that happened because the typing stopped being the expensive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four, five minutes, and it is the one you have been putting off. Write it yourself, tool closed. The four rules from slide 10: fact first, one ask with a date, promise nothing you cannot deliver, and know when this should have been a phone call. Then, and only then, run the second read for tone from slide 11. Be explicit and be kind: if someone starts by prompting for a draft, stop them and point at slide 10. Her finished message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week, same teacher, and the hard message goes to Devon's family, the family that got note 2. Walk the structure on the screen: fact first with all three assignments named, one ask with a room and a time, and then the sentence in navy, which is the one to stop on. She refuses to over-promise where over-promising would have been easy and would have felt kind. It closes with a phone offer. Then the contrast: the note on the left took two minutes and a tool; the message on the right took twenty minutes and no tool at all. Land the navy strip word for word. 45-min cut: read the navy sentence and the strip, skip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twenty minutes ago you had four families who had not heard from you when nothing was wrong. You now have four notes ready to send and one hard message drafted. Then run the share-out and be strict about the ask: read me the SENTENCE, not the whole note. Prioritize anyone who put their difficult student on the list; that is the most useful minute in the room. 45-min cut: one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honest limits, as always, so nobody oversells this in the hallway. The tool never met your students. Volume is not trust; consistency is, and what the tool does is lower the cost of consistency, which is its whole contribution here and is a real one. And the research has a boundary: a summer credit-recovery program, and a bundle, so we can say this is worth doing and we cannot say we know which ingredient did it. The humans-in-the-loop framing is the U.S. Department of Education OET, 2023, if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three, then ask for the visible nod; agreement out loud is what makes it a norm. Commitment 1 is the one that survives October only if it has a day with a name, so make people say the day. Commitment 2 is the thesis of the kit. Commitment 3 carries both red lines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month ahead runs inside PLC time you already have. Week two, the Friday Ten check: did the ten minutes happen and what came back. Week three, the detail round: everyone reads one true sentence they wrote. Week four, the hard-message read: bring one you wrote and let a partner check it against the four rules. Then Kit 7.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actions, and the first one is already done except for the send button. Read out loud before the hard message goes; your ear catches blame faster than your eye does. Hold up the First 48 Hours sheet and be blunt about action three: the habit dies without a day on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exit tickets at the door. Three answers, and the third one has a date on it, which is what makes it real. Distribute and collect at the door; they double as the school's PD documentation. Check with your district or state whether this PD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at the start of this hour I asked you to think about one family and when they last heard from you when nothing was wrong, and most of you found a blank. That blank was never about caring; four notes used to cost an evening and they cost ten minutes now. Go send the four. Collect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60604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6 OF 20</a:t>
            </a:r>
            <a:endParaRPr lang="en-US" sz="1500" dirty="0"/>
          </a:p>
        </p:txBody>
      </p:sp>
      <p:sp>
        <p:nvSpPr>
          <p:cNvPr id="5" name="Text 2"/>
          <p:cNvSpPr/>
          <p:nvPr/>
        </p:nvSpPr>
        <p:spPr>
          <a:xfrm>
            <a:off x="777240" y="292608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Communication:</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The message before the message</a:t>
            </a:r>
            <a:endParaRPr lang="en-US" sz="4000" dirty="0"/>
          </a:p>
        </p:txBody>
      </p:sp>
      <p:sp>
        <p:nvSpPr>
          <p:cNvPr id="6" name="Text 3"/>
          <p:cNvSpPr/>
          <p:nvPr/>
        </p:nvSpPr>
        <p:spPr>
          <a:xfrm>
            <a:off x="822960" y="4937760"/>
            <a:ext cx="1042416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A 45–60 minute working session. You leave with four notes written to four real families, and one hard message drafted in your own words.</a:t>
            </a:r>
            <a:endParaRPr lang="en-US" sz="17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Communication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C9D4DE"/>
                </a:solidFill>
                <a:latin typeface="Inter" pitchFamily="34" charset="0"/>
                <a:ea typeface="Inter" pitchFamily="34" charset="-122"/>
                <a:cs typeface="Inter" pitchFamily="34" charset="-120"/>
              </a:rPr>
              <a:t>Her audit: she picked Jalen. Last contact home was a phone call about a shove, nine days ago.</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SIXTY SECONDS · SILENT · NOBODY PRESENTS</a:t>
            </a:r>
            <a:endParaRPr lang="en-US" sz="1200" dirty="0"/>
          </a:p>
        </p:txBody>
      </p:sp>
      <p:sp>
        <p:nvSpPr>
          <p:cNvPr id="13" name="Text 10"/>
          <p:cNvSpPr/>
          <p:nvPr/>
        </p:nvSpPr>
        <p:spPr>
          <a:xfrm>
            <a:off x="640080" y="1188720"/>
            <a:ext cx="10972800" cy="77724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last-contact test</a:t>
            </a:r>
            <a:endParaRPr lang="en-US" sz="4000" dirty="0"/>
          </a:p>
        </p:txBody>
      </p:sp>
      <p:sp>
        <p:nvSpPr>
          <p:cNvPr id="14" name="Shape 11"/>
          <p:cNvSpPr/>
          <p:nvPr/>
        </p:nvSpPr>
        <p:spPr>
          <a:xfrm>
            <a:off x="822960" y="2276856"/>
            <a:ext cx="603504" cy="603504"/>
          </a:xfrm>
          <a:prstGeom prst="ellipse">
            <a:avLst/>
          </a:prstGeom>
          <a:solidFill>
            <a:srgbClr val="2A9D8F"/>
          </a:solidFill>
          <a:ln w="12700">
            <a:solidFill>
              <a:srgbClr val="2A9D8F"/>
            </a:solidFill>
            <a:prstDash val="solid"/>
          </a:ln>
        </p:spPr>
      </p:sp>
      <p:sp>
        <p:nvSpPr>
          <p:cNvPr id="15" name="Text 12"/>
          <p:cNvSpPr/>
          <p:nvPr/>
        </p:nvSpPr>
        <p:spPr>
          <a:xfrm>
            <a:off x="822960" y="2276856"/>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1</a:t>
            </a:r>
            <a:endParaRPr lang="en-US" sz="2100" dirty="0"/>
          </a:p>
        </p:txBody>
      </p:sp>
      <p:sp>
        <p:nvSpPr>
          <p:cNvPr id="16" name="Text 13"/>
          <p:cNvSpPr/>
          <p:nvPr/>
        </p:nvSpPr>
        <p:spPr>
          <a:xfrm>
            <a:off x="1645920" y="2240280"/>
            <a:ext cx="9692640" cy="713232"/>
          </a:xfrm>
          <a:prstGeom prst="rect">
            <a:avLst/>
          </a:prstGeom>
          <a:noFill/>
          <a:ln/>
        </p:spPr>
        <p:txBody>
          <a:bodyPr wrap="square" lIns="0" tIns="0" rIns="0" bIns="0" rtlCol="0" anchor="ctr"/>
          <a:lstStyle/>
          <a:p>
            <a:pPr indent="0" marL="0">
              <a:buNone/>
            </a:pPr>
            <a:r>
              <a:rPr lang="en-US" sz="2100" dirty="0">
                <a:solidFill>
                  <a:srgbClr val="E6ECF2"/>
                </a:solidFill>
                <a:latin typeface="Inter" pitchFamily="34" charset="0"/>
                <a:ea typeface="Inter" pitchFamily="34" charset="-122"/>
                <a:cs typeface="Inter" pitchFamily="34" charset="-120"/>
              </a:rPr>
              <a:t>Pick one student. Not your favorite. Ideally one you find difficult.</a:t>
            </a:r>
            <a:endParaRPr lang="en-US" sz="2100" dirty="0"/>
          </a:p>
        </p:txBody>
      </p:sp>
      <p:sp>
        <p:nvSpPr>
          <p:cNvPr id="17" name="Shape 14"/>
          <p:cNvSpPr/>
          <p:nvPr/>
        </p:nvSpPr>
        <p:spPr>
          <a:xfrm>
            <a:off x="822960" y="3236976"/>
            <a:ext cx="603504" cy="603504"/>
          </a:xfrm>
          <a:prstGeom prst="ellipse">
            <a:avLst/>
          </a:prstGeom>
          <a:solidFill>
            <a:srgbClr val="2A9D8F"/>
          </a:solidFill>
          <a:ln w="12700">
            <a:solidFill>
              <a:srgbClr val="2A9D8F"/>
            </a:solidFill>
            <a:prstDash val="solid"/>
          </a:ln>
        </p:spPr>
      </p:sp>
      <p:sp>
        <p:nvSpPr>
          <p:cNvPr id="18" name="Text 15"/>
          <p:cNvSpPr/>
          <p:nvPr/>
        </p:nvSpPr>
        <p:spPr>
          <a:xfrm>
            <a:off x="822960" y="3236976"/>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2</a:t>
            </a:r>
            <a:endParaRPr lang="en-US" sz="2100" dirty="0"/>
          </a:p>
        </p:txBody>
      </p:sp>
      <p:sp>
        <p:nvSpPr>
          <p:cNvPr id="19" name="Text 16"/>
          <p:cNvSpPr/>
          <p:nvPr/>
        </p:nvSpPr>
        <p:spPr>
          <a:xfrm>
            <a:off x="1645920" y="3200400"/>
            <a:ext cx="9692640" cy="713232"/>
          </a:xfrm>
          <a:prstGeom prst="rect">
            <a:avLst/>
          </a:prstGeom>
          <a:noFill/>
          <a:ln/>
        </p:spPr>
        <p:txBody>
          <a:bodyPr wrap="square" lIns="0" tIns="0" rIns="0" bIns="0" rtlCol="0" anchor="ctr"/>
          <a:lstStyle/>
          <a:p>
            <a:pPr indent="0" marL="0">
              <a:buNone/>
            </a:pPr>
            <a:r>
              <a:rPr lang="en-US" sz="2100" dirty="0">
                <a:solidFill>
                  <a:srgbClr val="E6ECF2"/>
                </a:solidFill>
                <a:latin typeface="Inter" pitchFamily="34" charset="0"/>
                <a:ea typeface="Inter" pitchFamily="34" charset="-122"/>
                <a:cs typeface="Inter" pitchFamily="34" charset="-120"/>
              </a:rPr>
              <a:t>When did that family last hear from you when nothing was wrong?</a:t>
            </a:r>
            <a:endParaRPr lang="en-US" sz="2100" dirty="0"/>
          </a:p>
        </p:txBody>
      </p:sp>
      <p:sp>
        <p:nvSpPr>
          <p:cNvPr id="20" name="Shape 17"/>
          <p:cNvSpPr/>
          <p:nvPr/>
        </p:nvSpPr>
        <p:spPr>
          <a:xfrm>
            <a:off x="822960" y="4197096"/>
            <a:ext cx="603504" cy="603504"/>
          </a:xfrm>
          <a:prstGeom prst="ellipse">
            <a:avLst/>
          </a:prstGeom>
          <a:solidFill>
            <a:srgbClr val="2A9D8F"/>
          </a:solidFill>
          <a:ln w="12700">
            <a:solidFill>
              <a:srgbClr val="2A9D8F"/>
            </a:solidFill>
            <a:prstDash val="solid"/>
          </a:ln>
        </p:spPr>
      </p:sp>
      <p:sp>
        <p:nvSpPr>
          <p:cNvPr id="21" name="Text 18"/>
          <p:cNvSpPr/>
          <p:nvPr/>
        </p:nvSpPr>
        <p:spPr>
          <a:xfrm>
            <a:off x="822960" y="4197096"/>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3</a:t>
            </a:r>
            <a:endParaRPr lang="en-US" sz="2100" dirty="0"/>
          </a:p>
        </p:txBody>
      </p:sp>
      <p:sp>
        <p:nvSpPr>
          <p:cNvPr id="22" name="Text 19"/>
          <p:cNvSpPr/>
          <p:nvPr/>
        </p:nvSpPr>
        <p:spPr>
          <a:xfrm>
            <a:off x="1645920" y="4160520"/>
            <a:ext cx="9692640" cy="713232"/>
          </a:xfrm>
          <a:prstGeom prst="rect">
            <a:avLst/>
          </a:prstGeom>
          <a:noFill/>
          <a:ln/>
        </p:spPr>
        <p:txBody>
          <a:bodyPr wrap="square" lIns="0" tIns="0" rIns="0" bIns="0" rtlCol="0" anchor="ctr"/>
          <a:lstStyle/>
          <a:p>
            <a:pPr indent="0" marL="0">
              <a:buNone/>
            </a:pPr>
            <a:r>
              <a:rPr lang="en-US" sz="2100" dirty="0">
                <a:solidFill>
                  <a:srgbClr val="E6ECF2"/>
                </a:solidFill>
                <a:latin typeface="Inter" pitchFamily="34" charset="0"/>
                <a:ea typeface="Inter" pitchFamily="34" charset="-122"/>
                <a:cs typeface="Inter" pitchFamily="34" charset="-120"/>
              </a:rPr>
              <a:t>Not a grade in the portal. Not a mass email. You, about their kid, with no problem attached.</a:t>
            </a:r>
            <a:endParaRPr lang="en-US" sz="2100" dirty="0"/>
          </a:p>
        </p:txBody>
      </p:sp>
      <p:sp>
        <p:nvSpPr>
          <p:cNvPr id="23" name="Text 20"/>
          <p:cNvSpPr/>
          <p:nvPr/>
        </p:nvSpPr>
        <p:spPr>
          <a:xfrm>
            <a:off x="640080" y="5440680"/>
            <a:ext cx="109728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Do not write it down. Do not say it out loud. Just find the date.</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asymmetry: four families, and the only voice they know from her is a problem.</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THE SILENCE IS ACTUALLY ABOUT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asymmetry</a:t>
            </a:r>
            <a:endParaRPr lang="en-US" sz="3200" dirty="0"/>
          </a:p>
        </p:txBody>
      </p:sp>
      <p:sp>
        <p:nvSpPr>
          <p:cNvPr id="14" name="Shape 11"/>
          <p:cNvSpPr/>
          <p:nvPr/>
        </p:nvSpPr>
        <p:spPr>
          <a:xfrm>
            <a:off x="640080" y="1508760"/>
            <a:ext cx="5349240" cy="3063240"/>
          </a:xfrm>
          <a:prstGeom prst="roundRect">
            <a:avLst>
              <a:gd name="adj" fmla="val 2687"/>
            </a:avLst>
          </a:prstGeom>
          <a:solidFill>
            <a:srgbClr val="FBEFED"/>
          </a:solidFill>
          <a:ln w="12700">
            <a:solidFill>
              <a:srgbClr val="FBEFED"/>
            </a:solidFill>
            <a:prstDash val="solid"/>
          </a:ln>
        </p:spPr>
      </p:sp>
      <p:sp>
        <p:nvSpPr>
          <p:cNvPr id="15" name="Text 12"/>
          <p:cNvSpPr/>
          <p:nvPr/>
        </p:nvSpPr>
        <p:spPr>
          <a:xfrm>
            <a:off x="914400" y="1691640"/>
            <a:ext cx="48006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What this family HAS heard from you</a:t>
            </a:r>
            <a:endParaRPr lang="en-US" sz="1600" dirty="0"/>
          </a:p>
        </p:txBody>
      </p:sp>
      <p:sp>
        <p:nvSpPr>
          <p:cNvPr id="16" name="Text 13"/>
          <p:cNvSpPr/>
          <p:nvPr/>
        </p:nvSpPr>
        <p:spPr>
          <a:xfrm>
            <a:off x="914400" y="2148840"/>
            <a:ext cx="4800600" cy="2286000"/>
          </a:xfrm>
          <a:prstGeom prst="rect">
            <a:avLst/>
          </a:prstGeom>
          <a:noFill/>
          <a:ln/>
        </p:spPr>
        <p:txBody>
          <a:bodyPr wrap="square" lIns="0" tIns="0" rIns="0" bIns="0" rtlCol="0" anchor="t"/>
          <a:lstStyle/>
          <a:p>
            <a:pPr indent="0" marL="0">
              <a:lnSpc>
                <a:spcPct val="115000"/>
              </a:lnSpc>
              <a:buNone/>
            </a:pPr>
            <a:r>
              <a:rPr lang="en-US" sz="1700" dirty="0">
                <a:solidFill>
                  <a:srgbClr val="1B1F24"/>
                </a:solidFill>
                <a:latin typeface="Inter" pitchFamily="34" charset="0"/>
                <a:ea typeface="Inter" pitchFamily="34" charset="-122"/>
                <a:cs typeface="Inter" pitchFamily="34" charset="-120"/>
              </a:rPr>
              <a:t>The missing-assignment email
</a:t>
            </a:r>
            <a:pPr indent="0" marL="0">
              <a:lnSpc>
                <a:spcPct val="115000"/>
              </a:lnSpc>
              <a:buNone/>
            </a:pPr>
            <a:r>
              <a:rPr lang="en-US" sz="1700" dirty="0">
                <a:solidFill>
                  <a:srgbClr val="1B1F24"/>
                </a:solidFill>
                <a:latin typeface="Inter" pitchFamily="34" charset="0"/>
                <a:ea typeface="Inter" pitchFamily="34" charset="-122"/>
                <a:cs typeface="Inter" pitchFamily="34" charset="-120"/>
              </a:rPr>
              <a:t>The behavior call
</a:t>
            </a:r>
            <a:pPr indent="0" marL="0">
              <a:lnSpc>
                <a:spcPct val="115000"/>
              </a:lnSpc>
              <a:buNone/>
            </a:pPr>
            <a:r>
              <a:rPr lang="en-US" sz="1700" dirty="0">
                <a:solidFill>
                  <a:srgbClr val="1B1F24"/>
                </a:solidFill>
                <a:latin typeface="Inter" pitchFamily="34" charset="0"/>
                <a:ea typeface="Inter" pitchFamily="34" charset="-122"/>
                <a:cs typeface="Inter" pitchFamily="34" charset="-120"/>
              </a:rPr>
              <a:t>The progress alert
</a:t>
            </a:r>
            <a:pPr indent="0" marL="0">
              <a:lnSpc>
                <a:spcPct val="115000"/>
              </a:lnSpc>
              <a:buNone/>
            </a:pPr>
            <a:r>
              <a:rPr lang="en-US" sz="1700" dirty="0">
                <a:solidFill>
                  <a:srgbClr val="1B1F24"/>
                </a:solidFill>
                <a:latin typeface="Inter" pitchFamily="34" charset="0"/>
                <a:ea typeface="Inter" pitchFamily="34" charset="-122"/>
                <a:cs typeface="Inter" pitchFamily="34" charset="-120"/>
              </a:rPr>
              <a:t>Conferences, in October
</a:t>
            </a:r>
            <a:pPr indent="0" marL="0">
              <a:lnSpc>
                <a:spcPct val="115000"/>
              </a:lnSpc>
              <a:buNone/>
            </a:pPr>
            <a:r>
              <a:rPr lang="en-US" sz="1700" i="1" dirty="0">
                <a:solidFill>
                  <a:srgbClr val="5B6B7A"/>
                </a:solidFill>
                <a:latin typeface="Inter" pitchFamily="34" charset="0"/>
                <a:ea typeface="Inter" pitchFamily="34" charset="-122"/>
                <a:cs typeface="Inter" pitchFamily="34" charset="-120"/>
              </a:rPr>
              <a:t>Every one of them necessary. Every one of them accurate.</a:t>
            </a:r>
            <a:endParaRPr lang="en-US" sz="1700" dirty="0"/>
          </a:p>
        </p:txBody>
      </p:sp>
      <p:sp>
        <p:nvSpPr>
          <p:cNvPr id="17" name="Shape 14"/>
          <p:cNvSpPr/>
          <p:nvPr/>
        </p:nvSpPr>
        <p:spPr>
          <a:xfrm>
            <a:off x="6263640" y="1508760"/>
            <a:ext cx="5349240" cy="3063240"/>
          </a:xfrm>
          <a:prstGeom prst="roundRect">
            <a:avLst>
              <a:gd name="adj" fmla="val 2687"/>
            </a:avLst>
          </a:prstGeom>
          <a:solidFill>
            <a:srgbClr val="F7F5F0"/>
          </a:solidFill>
          <a:ln w="12700">
            <a:solidFill>
              <a:srgbClr val="F7F5F0"/>
            </a:solidFill>
            <a:prstDash val="solid"/>
          </a:ln>
        </p:spPr>
      </p:sp>
      <p:sp>
        <p:nvSpPr>
          <p:cNvPr id="18" name="Text 15"/>
          <p:cNvSpPr/>
          <p:nvPr/>
        </p:nvSpPr>
        <p:spPr>
          <a:xfrm>
            <a:off x="6537960" y="1691640"/>
            <a:ext cx="480060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they have heard when nothing was wrong</a:t>
            </a:r>
            <a:endParaRPr lang="en-US" sz="1600" dirty="0"/>
          </a:p>
        </p:txBody>
      </p:sp>
      <p:sp>
        <p:nvSpPr>
          <p:cNvPr id="19" name="Shape 16"/>
          <p:cNvSpPr/>
          <p:nvPr/>
        </p:nvSpPr>
        <p:spPr>
          <a:xfrm>
            <a:off x="6720840" y="2971800"/>
            <a:ext cx="4434840" cy="18288"/>
          </a:xfrm>
          <a:prstGeom prst="rect">
            <a:avLst/>
          </a:prstGeom>
          <a:solidFill>
            <a:srgbClr val="C6CFD8"/>
          </a:solidFill>
          <a:ln w="12700">
            <a:solidFill>
              <a:srgbClr val="C6CFD8"/>
            </a:solidFill>
            <a:prstDash val="solid"/>
          </a:ln>
        </p:spPr>
      </p:sp>
      <p:sp>
        <p:nvSpPr>
          <p:cNvPr id="20" name="Text 17"/>
          <p:cNvSpPr/>
          <p:nvPr/>
        </p:nvSpPr>
        <p:spPr>
          <a:xfrm>
            <a:off x="6537960" y="3246120"/>
            <a:ext cx="4800600" cy="1005840"/>
          </a:xfrm>
          <a:prstGeom prst="rect">
            <a:avLst/>
          </a:prstGeom>
          <a:noFill/>
          <a:ln/>
        </p:spPr>
        <p:txBody>
          <a:bodyPr wrap="square" lIns="0" tIns="0" rIns="0" bIns="0" rtlCol="0" anchor="t"/>
          <a:lstStyle/>
          <a:p>
            <a:pPr indent="0" marL="0">
              <a:buNone/>
            </a:pPr>
            <a:r>
              <a:rPr lang="en-US" sz="1700" i="1" dirty="0">
                <a:solidFill>
                  <a:srgbClr val="5B6B7A"/>
                </a:solidFill>
                <a:latin typeface="Inter" pitchFamily="34" charset="0"/>
                <a:ea typeface="Inter" pitchFamily="34" charset="-122"/>
                <a:cs typeface="Inter" pitchFamily="34" charset="-120"/>
              </a:rPr>
              <a:t>This is the side the last-contact test just found.</a:t>
            </a:r>
            <a:endParaRPr lang="en-US" sz="1700" dirty="0"/>
          </a:p>
        </p:txBody>
      </p:sp>
      <p:sp>
        <p:nvSpPr>
          <p:cNvPr id="21" name="Shape 18"/>
          <p:cNvSpPr/>
          <p:nvPr/>
        </p:nvSpPr>
        <p:spPr>
          <a:xfrm>
            <a:off x="640080" y="4754880"/>
            <a:ext cx="10972800" cy="1051560"/>
          </a:xfrm>
          <a:prstGeom prst="roundRect">
            <a:avLst>
              <a:gd name="adj" fmla="val 7826"/>
            </a:avLst>
          </a:prstGeom>
          <a:solidFill>
            <a:srgbClr val="13293D"/>
          </a:solidFill>
          <a:ln w="12700">
            <a:solidFill>
              <a:srgbClr val="13293D"/>
            </a:solidFill>
            <a:prstDash val="solid"/>
          </a:ln>
        </p:spPr>
      </p:sp>
      <p:sp>
        <p:nvSpPr>
          <p:cNvPr id="22" name="Text 19"/>
          <p:cNvSpPr/>
          <p:nvPr/>
        </p:nvSpPr>
        <p:spPr>
          <a:xfrm>
            <a:off x="960120" y="4754880"/>
            <a:ext cx="10332720" cy="1051560"/>
          </a:xfrm>
          <a:prstGeom prst="rect">
            <a:avLst/>
          </a:prstGeom>
          <a:noFill/>
          <a:ln/>
        </p:spPr>
        <p:txBody>
          <a:bodyPr wrap="square" lIns="0" tIns="0" rIns="0" bIns="0" rtlCol="0" anchor="ctr"/>
          <a:lstStyle/>
          <a:p>
            <a:pPr indent="0" marL="0">
              <a:buNone/>
            </a:pPr>
            <a:r>
              <a:rPr lang="en-US" sz="1750" b="1" dirty="0">
                <a:solidFill>
                  <a:srgbClr val="FFFFFF"/>
                </a:solidFill>
                <a:latin typeface="Inter" pitchFamily="34" charset="0"/>
                <a:ea typeface="Inter" pitchFamily="34" charset="-122"/>
                <a:cs typeface="Inter" pitchFamily="34" charset="-120"/>
              </a:rPr>
              <a:t>If the only contact a family gets is bad news, every message from school arrives as an accusation, and the hard conversation starts from a deficit you created without meaning to.</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question about the study: does one sentence a week really do that?</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EVIDENCE THAT THIS IS NOT SOFT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One sentence a week, and what it did</a:t>
            </a:r>
            <a:endParaRPr lang="en-US" sz="2800" dirty="0"/>
          </a:p>
        </p:txBody>
      </p:sp>
      <p:sp>
        <p:nvSpPr>
          <p:cNvPr id="14" name="Shape 11"/>
          <p:cNvSpPr/>
          <p:nvPr/>
        </p:nvSpPr>
        <p:spPr>
          <a:xfrm>
            <a:off x="640080" y="1600200"/>
            <a:ext cx="5349240" cy="3246120"/>
          </a:xfrm>
          <a:prstGeom prst="roundRect">
            <a:avLst>
              <a:gd name="adj" fmla="val 2535"/>
            </a:avLst>
          </a:prstGeom>
          <a:solidFill>
            <a:srgbClr val="EAF5F3"/>
          </a:solidFill>
          <a:ln w="12700">
            <a:solidFill>
              <a:srgbClr val="EAF5F3"/>
            </a:solidFill>
            <a:prstDash val="solid"/>
          </a:ln>
        </p:spPr>
      </p:sp>
      <p:sp>
        <p:nvSpPr>
          <p:cNvPr id="15" name="Text 12"/>
          <p:cNvSpPr/>
          <p:nvPr/>
        </p:nvSpPr>
        <p:spPr>
          <a:xfrm>
            <a:off x="640080" y="1828800"/>
            <a:ext cx="5349240" cy="868680"/>
          </a:xfrm>
          <a:prstGeom prst="rect">
            <a:avLst/>
          </a:prstGeom>
          <a:noFill/>
          <a:ln/>
        </p:spPr>
        <p:txBody>
          <a:bodyPr wrap="square" lIns="0" tIns="0" rIns="0" bIns="0" rtlCol="0" anchor="ctr"/>
          <a:lstStyle/>
          <a:p>
            <a:pPr algn="ctr" indent="0" marL="0">
              <a:buNone/>
            </a:pPr>
            <a:r>
              <a:rPr lang="en-US" sz="3800" b="1" dirty="0">
                <a:solidFill>
                  <a:srgbClr val="2E7D5B"/>
                </a:solidFill>
                <a:latin typeface="Inter" pitchFamily="34" charset="0"/>
                <a:ea typeface="Inter" pitchFamily="34" charset="-122"/>
                <a:cs typeface="Inter" pitchFamily="34" charset="-120"/>
              </a:rPr>
              <a:t>15.8%  →  9.3%</a:t>
            </a:r>
            <a:endParaRPr lang="en-US" sz="3800" dirty="0"/>
          </a:p>
        </p:txBody>
      </p:sp>
      <p:sp>
        <p:nvSpPr>
          <p:cNvPr id="16" name="Text 13"/>
          <p:cNvSpPr/>
          <p:nvPr/>
        </p:nvSpPr>
        <p:spPr>
          <a:xfrm>
            <a:off x="914400" y="2788920"/>
            <a:ext cx="4800600" cy="1874520"/>
          </a:xfrm>
          <a:prstGeom prst="rect">
            <a:avLst/>
          </a:prstGeom>
          <a:noFill/>
          <a:ln/>
        </p:spPr>
        <p:txBody>
          <a:bodyPr wrap="square" lIns="0" tIns="0" rIns="0" bIns="0" rtlCol="0" anchor="ctr"/>
          <a:lstStyle/>
          <a:p>
            <a:pPr algn="ctr" indent="0" marL="0">
              <a:lnSpc>
                <a:spcPct val="115000"/>
              </a:lnSpc>
              <a:buNone/>
            </a:pPr>
            <a:r>
              <a:rPr lang="en-US" sz="1600" dirty="0">
                <a:solidFill>
                  <a:srgbClr val="1B1F24"/>
                </a:solidFill>
                <a:latin typeface="Inter" pitchFamily="34" charset="0"/>
                <a:ea typeface="Inter" pitchFamily="34" charset="-122"/>
                <a:cs typeface="Inter" pitchFamily="34" charset="-120"/>
              </a:rPr>
              <a:t>share of students failing to earn the course credit, after weekly individualized teacher-to-parent messages. A 41% reduction.</a:t>
            </a:r>
            <a:endParaRPr lang="en-US" sz="1600" dirty="0"/>
          </a:p>
          <a:p>
            <a:pPr algn="ctr" indent="0" marL="0">
              <a:lnSpc>
                <a:spcPct val="115000"/>
              </a:lnSpc>
              <a:buNone/>
            </a:pPr>
            <a:r>
              <a:rPr lang="en-US" sz="1600" dirty="0">
                <a:solidFill>
                  <a:srgbClr val="1B1F24"/>
                </a:solidFill>
                <a:latin typeface="Inter" pitchFamily="34" charset="0"/>
                <a:ea typeface="Inter" pitchFamily="34" charset="-122"/>
                <a:cs typeface="Inter" pitchFamily="34" charset="-120"/>
              </a:rPr>
              <a:t>(Kraft &amp; Rogers, 2015)</a:t>
            </a:r>
            <a:endParaRPr lang="en-US" sz="1600" dirty="0"/>
          </a:p>
        </p:txBody>
      </p:sp>
      <p:sp>
        <p:nvSpPr>
          <p:cNvPr id="17" name="Shape 14"/>
          <p:cNvSpPr/>
          <p:nvPr/>
        </p:nvSpPr>
        <p:spPr>
          <a:xfrm>
            <a:off x="6263640" y="1600200"/>
            <a:ext cx="5349240" cy="3246120"/>
          </a:xfrm>
          <a:prstGeom prst="roundRect">
            <a:avLst>
              <a:gd name="adj" fmla="val 2535"/>
            </a:avLst>
          </a:prstGeom>
          <a:solidFill>
            <a:srgbClr val="F7F5F0"/>
          </a:solidFill>
          <a:ln w="12700">
            <a:solidFill>
              <a:srgbClr val="F7F5F0"/>
            </a:solidFill>
            <a:prstDash val="solid"/>
          </a:ln>
        </p:spPr>
      </p:sp>
      <p:sp>
        <p:nvSpPr>
          <p:cNvPr id="18" name="Shape 15"/>
          <p:cNvSpPr/>
          <p:nvPr/>
        </p:nvSpPr>
        <p:spPr>
          <a:xfrm>
            <a:off x="6263640" y="1600200"/>
            <a:ext cx="100584" cy="3246120"/>
          </a:xfrm>
          <a:prstGeom prst="roundRect">
            <a:avLst>
              <a:gd name="adj" fmla="val 45455"/>
            </a:avLst>
          </a:prstGeom>
          <a:solidFill>
            <a:srgbClr val="F4A825"/>
          </a:solidFill>
          <a:ln w="12700">
            <a:solidFill>
              <a:srgbClr val="F4A825"/>
            </a:solidFill>
            <a:prstDash val="solid"/>
          </a:ln>
        </p:spPr>
      </p:sp>
      <p:sp>
        <p:nvSpPr>
          <p:cNvPr id="19" name="Text 16"/>
          <p:cNvSpPr/>
          <p:nvPr/>
        </p:nvSpPr>
        <p:spPr>
          <a:xfrm>
            <a:off x="6583680" y="1783080"/>
            <a:ext cx="4800600" cy="292608"/>
          </a:xfrm>
          <a:prstGeom prst="rect">
            <a:avLst/>
          </a:prstGeom>
          <a:noFill/>
          <a:ln/>
        </p:spPr>
        <p:txBody>
          <a:bodyPr wrap="square" lIns="0" tIns="0" rIns="0" bIns="0" rtlCol="0" anchor="ctr"/>
          <a:lstStyle/>
          <a:p>
            <a:pPr indent="0" marL="0">
              <a:buNone/>
            </a:pPr>
            <a:r>
              <a:rPr lang="en-US" sz="1200" b="1" spc="140" kern="0" dirty="0">
                <a:solidFill>
                  <a:srgbClr val="B07914"/>
                </a:solidFill>
                <a:latin typeface="Inter" pitchFamily="34" charset="0"/>
                <a:ea typeface="Inter" pitchFamily="34" charset="-122"/>
                <a:cs typeface="Inter" pitchFamily="34" charset="-120"/>
              </a:rPr>
              <a:t>SAY THE SCOPE EVERY TIME</a:t>
            </a:r>
            <a:endParaRPr lang="en-US" sz="1200" dirty="0"/>
          </a:p>
        </p:txBody>
      </p:sp>
      <p:sp>
        <p:nvSpPr>
          <p:cNvPr id="20" name="Text 17"/>
          <p:cNvSpPr/>
          <p:nvPr/>
        </p:nvSpPr>
        <p:spPr>
          <a:xfrm>
            <a:off x="6583680" y="2194560"/>
            <a:ext cx="4754880" cy="2514600"/>
          </a:xfrm>
          <a:prstGeom prst="rect">
            <a:avLst/>
          </a:prstGeom>
          <a:noFill/>
          <a:ln/>
        </p:spPr>
        <p:txBody>
          <a:bodyPr wrap="square" lIns="0" tIns="0" rIns="0" bIns="0" rtlCol="0" anchor="t"/>
          <a:lstStyle/>
          <a:p>
            <a:pPr indent="0" marL="0">
              <a:lnSpc>
                <a:spcPct val="114000"/>
              </a:lnSpc>
              <a:buNone/>
            </a:pPr>
            <a:r>
              <a:rPr lang="en-US" sz="1500" b="1" dirty="0">
                <a:solidFill>
                  <a:srgbClr val="13293D"/>
                </a:solidFill>
                <a:latin typeface="Inter" pitchFamily="34" charset="0"/>
                <a:ea typeface="Inter" pitchFamily="34" charset="-122"/>
                <a:cs typeface="Inter" pitchFamily="34" charset="-120"/>
              </a:rPr>
              <a:t>The setting: </a:t>
            </a:r>
            <a:pPr indent="0" marL="0">
              <a:lnSpc>
                <a:spcPct val="114000"/>
              </a:lnSpc>
              <a:buNone/>
            </a:pPr>
            <a:r>
              <a:rPr lang="en-US" sz="1500" dirty="0">
                <a:solidFill>
                  <a:srgbClr val="1B1F24"/>
                </a:solidFill>
                <a:latin typeface="Inter" pitchFamily="34" charset="0"/>
                <a:ea typeface="Inter" pitchFamily="34" charset="-122"/>
                <a:cs typeface="Inter" pitchFamily="34" charset="-120"/>
              </a:rPr>
              <a:t>a summer credit-recovery program. These students were retaking a course they had already failed.
</a:t>
            </a:r>
            <a:pPr indent="0" marL="0">
              <a:lnSpc>
                <a:spcPct val="114000"/>
              </a:lnSpc>
              <a:buNone/>
            </a:pPr>
            <a:r>
              <a:rPr lang="en-US" sz="1500" b="1" dirty="0">
                <a:solidFill>
                  <a:srgbClr val="13293D"/>
                </a:solidFill>
                <a:latin typeface="Inter" pitchFamily="34" charset="0"/>
                <a:ea typeface="Inter" pitchFamily="34" charset="-122"/>
                <a:cs typeface="Inter" pitchFamily="34" charset="-120"/>
              </a:rPr>
              <a:t>The design: </a:t>
            </a:r>
            <a:pPr indent="0" marL="0">
              <a:lnSpc>
                <a:spcPct val="114000"/>
              </a:lnSpc>
              <a:buNone/>
            </a:pPr>
            <a:r>
              <a:rPr lang="en-US" sz="1500" dirty="0">
                <a:solidFill>
                  <a:srgbClr val="1B1F24"/>
                </a:solidFill>
                <a:latin typeface="Inter" pitchFamily="34" charset="0"/>
                <a:ea typeface="Inter" pitchFamily="34" charset="-122"/>
                <a:cs typeface="Inter" pitchFamily="34" charset="-120"/>
              </a:rPr>
              <a:t>the study tested a bundle. Individualized content, weekly frequency, and improvement framing all moved together, so no single ingredient is proven to be the active one.</a:t>
            </a:r>
            <a:endParaRPr lang="en-US" sz="1500" dirty="0"/>
          </a:p>
        </p:txBody>
      </p:sp>
      <p:sp>
        <p:nvSpPr>
          <p:cNvPr id="21" name="Text 18"/>
          <p:cNvSpPr/>
          <p:nvPr/>
        </p:nvSpPr>
        <p:spPr>
          <a:xfrm>
            <a:off x="640080" y="507492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Worth doing. Not proof that personalization is the mechanism.</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time math: 54 hours a week, and the positive note is the first thing cut.</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IT DOES NOT HAPPEN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A capacity problem, not a caring problem</a:t>
            </a:r>
            <a:endParaRPr lang="en-US" sz="2800" dirty="0"/>
          </a:p>
        </p:txBody>
      </p:sp>
      <p:sp>
        <p:nvSpPr>
          <p:cNvPr id="14" name="Shape 11"/>
          <p:cNvSpPr/>
          <p:nvPr/>
        </p:nvSpPr>
        <p:spPr>
          <a:xfrm>
            <a:off x="640080" y="1691640"/>
            <a:ext cx="5349240" cy="3017520"/>
          </a:xfrm>
          <a:prstGeom prst="roundRect">
            <a:avLst>
              <a:gd name="adj" fmla="val 2727"/>
            </a:avLst>
          </a:prstGeom>
          <a:solidFill>
            <a:srgbClr val="F7F5F0"/>
          </a:solidFill>
          <a:ln w="12700">
            <a:solidFill>
              <a:srgbClr val="F7F5F0"/>
            </a:solidFill>
            <a:prstDash val="solid"/>
          </a:ln>
        </p:spPr>
      </p:sp>
      <p:sp>
        <p:nvSpPr>
          <p:cNvPr id="15" name="Text 12"/>
          <p:cNvSpPr/>
          <p:nvPr/>
        </p:nvSpPr>
        <p:spPr>
          <a:xfrm>
            <a:off x="640080" y="1874520"/>
            <a:ext cx="5349240" cy="960120"/>
          </a:xfrm>
          <a:prstGeom prst="rect">
            <a:avLst/>
          </a:prstGeom>
          <a:noFill/>
          <a:ln/>
        </p:spPr>
        <p:txBody>
          <a:bodyPr wrap="square" lIns="0" tIns="0" rIns="0" bIns="0" rtlCol="0" anchor="ctr"/>
          <a:lstStyle/>
          <a:p>
            <a:pPr algn="ctr" indent="0" marL="0">
              <a:buNone/>
            </a:pPr>
            <a:r>
              <a:rPr lang="en-US" sz="5400" b="1" dirty="0">
                <a:solidFill>
                  <a:srgbClr val="2A9D8F"/>
                </a:solidFill>
                <a:latin typeface="Inter" pitchFamily="34" charset="0"/>
                <a:ea typeface="Inter" pitchFamily="34" charset="-122"/>
                <a:cs typeface="Inter" pitchFamily="34" charset="-120"/>
              </a:rPr>
              <a:t>54</a:t>
            </a:r>
            <a:endParaRPr lang="en-US" sz="5400" dirty="0"/>
          </a:p>
        </p:txBody>
      </p:sp>
      <p:sp>
        <p:nvSpPr>
          <p:cNvPr id="16" name="Text 13"/>
          <p:cNvSpPr/>
          <p:nvPr/>
        </p:nvSpPr>
        <p:spPr>
          <a:xfrm>
            <a:off x="914400" y="2880360"/>
            <a:ext cx="4800600" cy="1737360"/>
          </a:xfrm>
          <a:prstGeom prst="rect">
            <a:avLst/>
          </a:prstGeom>
          <a:noFill/>
          <a:ln/>
        </p:spPr>
        <p:txBody>
          <a:bodyPr wrap="square" lIns="0" tIns="0" rIns="0" bIns="0" rtlCol="0" anchor="ctr"/>
          <a:lstStyle/>
          <a:p>
            <a:pPr algn="ctr" indent="0" marL="0">
              <a:lnSpc>
                <a:spcPct val="114000"/>
              </a:lnSpc>
              <a:buNone/>
            </a:pPr>
            <a:r>
              <a:rPr lang="en-US" sz="1450" dirty="0">
                <a:solidFill>
                  <a:srgbClr val="1B1F24"/>
                </a:solidFill>
                <a:latin typeface="Inter" pitchFamily="34" charset="0"/>
                <a:ea typeface="Inter" pitchFamily="34" charset="-122"/>
                <a:cs typeface="Inter" pitchFamily="34" charset="-120"/>
              </a:rPr>
              <a:t>hours in the typical teacher's week, about 25 of them actual teaching time. Communicating with families is one of eleven categories competing for the other 29.</a:t>
            </a:r>
            <a:endParaRPr lang="en-US" sz="1450" dirty="0"/>
          </a:p>
          <a:p>
            <a:pPr algn="ctr" indent="0" marL="0">
              <a:lnSpc>
                <a:spcPct val="114000"/>
              </a:lnSpc>
              <a:buNone/>
            </a:pPr>
            <a:r>
              <a:rPr lang="en-US" sz="1450" dirty="0">
                <a:solidFill>
                  <a:srgbClr val="1B1F24"/>
                </a:solidFill>
                <a:latin typeface="Inter" pitchFamily="34" charset="0"/>
                <a:ea typeface="Inter" pitchFamily="34" charset="-122"/>
                <a:cs typeface="Inter" pitchFamily="34" charset="-120"/>
              </a:rPr>
              <a:t>(Merrimack College &amp; EdWeek Research Center, 2022)</a:t>
            </a:r>
            <a:endParaRPr lang="en-US" sz="1450" dirty="0"/>
          </a:p>
        </p:txBody>
      </p:sp>
      <p:sp>
        <p:nvSpPr>
          <p:cNvPr id="17" name="Shape 14"/>
          <p:cNvSpPr/>
          <p:nvPr/>
        </p:nvSpPr>
        <p:spPr>
          <a:xfrm>
            <a:off x="6263640" y="1691640"/>
            <a:ext cx="5349240" cy="3017520"/>
          </a:xfrm>
          <a:prstGeom prst="roundRect">
            <a:avLst>
              <a:gd name="adj" fmla="val 2727"/>
            </a:avLst>
          </a:prstGeom>
          <a:solidFill>
            <a:srgbClr val="F7F5F0"/>
          </a:solidFill>
          <a:ln w="12700">
            <a:solidFill>
              <a:srgbClr val="F7F5F0"/>
            </a:solidFill>
            <a:prstDash val="solid"/>
          </a:ln>
        </p:spPr>
      </p:sp>
      <p:sp>
        <p:nvSpPr>
          <p:cNvPr id="18" name="Text 15"/>
          <p:cNvSpPr/>
          <p:nvPr/>
        </p:nvSpPr>
        <p:spPr>
          <a:xfrm>
            <a:off x="6263640" y="1874520"/>
            <a:ext cx="5349240" cy="960120"/>
          </a:xfrm>
          <a:prstGeom prst="rect">
            <a:avLst/>
          </a:prstGeom>
          <a:noFill/>
          <a:ln/>
        </p:spPr>
        <p:txBody>
          <a:bodyPr wrap="square" lIns="0" tIns="0" rIns="0" bIns="0" rtlCol="0" anchor="ctr"/>
          <a:lstStyle/>
          <a:p>
            <a:pPr algn="ctr" indent="0" marL="0">
              <a:buNone/>
            </a:pPr>
            <a:r>
              <a:rPr lang="en-US" sz="5400" b="1" dirty="0">
                <a:solidFill>
                  <a:srgbClr val="2A9D8F"/>
                </a:solidFill>
                <a:latin typeface="Inter" pitchFamily="34" charset="0"/>
                <a:ea typeface="Inter" pitchFamily="34" charset="-122"/>
                <a:cs typeface="Inter" pitchFamily="34" charset="-120"/>
              </a:rPr>
              <a:t>5.9</a:t>
            </a:r>
            <a:endParaRPr lang="en-US" sz="5400" dirty="0"/>
          </a:p>
        </p:txBody>
      </p:sp>
      <p:sp>
        <p:nvSpPr>
          <p:cNvPr id="19" name="Text 16"/>
          <p:cNvSpPr/>
          <p:nvPr/>
        </p:nvSpPr>
        <p:spPr>
          <a:xfrm>
            <a:off x="6537960" y="2880360"/>
            <a:ext cx="4800600" cy="1737360"/>
          </a:xfrm>
          <a:prstGeom prst="rect">
            <a:avLst/>
          </a:prstGeom>
          <a:noFill/>
          <a:ln/>
        </p:spPr>
        <p:txBody>
          <a:bodyPr wrap="square" lIns="0" tIns="0" rIns="0" bIns="0" rtlCol="0" anchor="ctr"/>
          <a:lstStyle/>
          <a:p>
            <a:pPr algn="ctr" indent="0" marL="0">
              <a:lnSpc>
                <a:spcPct val="114000"/>
              </a:lnSpc>
              <a:buNone/>
            </a:pPr>
            <a:r>
              <a:rPr lang="en-US" sz="1450" dirty="0">
                <a:solidFill>
                  <a:srgbClr val="1B1F24"/>
                </a:solidFill>
                <a:latin typeface="Inter" pitchFamily="34" charset="0"/>
                <a:ea typeface="Inter" pitchFamily="34" charset="-122"/>
                <a:cs typeface="Inter" pitchFamily="34" charset="-120"/>
              </a:rPr>
              <a:t>hours a week that teachers who use AI weekly reported saving. That figure is self-estimated by survey respondents, not measured.</a:t>
            </a:r>
            <a:endParaRPr lang="en-US" sz="1450" dirty="0"/>
          </a:p>
          <a:p>
            <a:pPr algn="ctr" indent="0" marL="0">
              <a:lnSpc>
                <a:spcPct val="114000"/>
              </a:lnSpc>
              <a:buNone/>
            </a:pPr>
            <a:r>
              <a:rPr lang="en-US" sz="1450" dirty="0">
                <a:solidFill>
                  <a:srgbClr val="1B1F24"/>
                </a:solidFill>
                <a:latin typeface="Inter" pitchFamily="34" charset="0"/>
                <a:ea typeface="Inter" pitchFamily="34" charset="-122"/>
                <a:cs typeface="Inter" pitchFamily="34" charset="-120"/>
              </a:rPr>
              <a:t>(Gallup &amp; Walton Family Foundation, 2025)</a:t>
            </a:r>
            <a:endParaRPr lang="en-US" sz="1450" dirty="0"/>
          </a:p>
        </p:txBody>
      </p:sp>
      <p:sp>
        <p:nvSpPr>
          <p:cNvPr id="20" name="Shape 17"/>
          <p:cNvSpPr/>
          <p:nvPr/>
        </p:nvSpPr>
        <p:spPr>
          <a:xfrm>
            <a:off x="640080" y="4937760"/>
            <a:ext cx="10972800" cy="914400"/>
          </a:xfrm>
          <a:prstGeom prst="roundRect">
            <a:avLst>
              <a:gd name="adj" fmla="val 9000"/>
            </a:avLst>
          </a:prstGeom>
          <a:solidFill>
            <a:srgbClr val="EAF5F3"/>
          </a:solidFill>
          <a:ln w="12700">
            <a:solidFill>
              <a:srgbClr val="EAF5F3"/>
            </a:solidFill>
            <a:prstDash val="solid"/>
          </a:ln>
        </p:spPr>
      </p:sp>
      <p:sp>
        <p:nvSpPr>
          <p:cNvPr id="21" name="Text 18"/>
          <p:cNvSpPr/>
          <p:nvPr/>
        </p:nvSpPr>
        <p:spPr>
          <a:xfrm>
            <a:off x="960120" y="4937760"/>
            <a:ext cx="10332720" cy="9144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When the week gets tight, the note with no deadline is the first thing cut. Capacity is the one thing a tool can actually touch.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Communication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C9D4DE"/>
                </a:solidFill>
                <a:latin typeface="Inter" pitchFamily="34" charset="0"/>
                <a:ea typeface="Inter" pitchFamily="34" charset="-122"/>
                <a:cs typeface="Inter" pitchFamily="34" charset="-120"/>
              </a:rPr>
              <a:t>Her stance: the tool takes the volume. She writes the hard message.</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188720"/>
            <a:ext cx="10972800" cy="1737360"/>
          </a:xfrm>
          <a:prstGeom prst="rect">
            <a:avLst/>
          </a:prstGeom>
          <a:noFill/>
          <a:ln/>
        </p:spPr>
        <p:txBody>
          <a:bodyPr wrap="square" lIns="0" tIns="0" rIns="0" bIns="0" rtlCol="0" anchor="ctr"/>
          <a:lstStyle/>
          <a:p>
            <a:pPr indent="0" marL="0">
              <a:lnSpc>
                <a:spcPct val="112000"/>
              </a:lnSpc>
              <a:buNone/>
            </a:pPr>
            <a:r>
              <a:rPr lang="en-US" sz="3800" b="1" dirty="0">
                <a:solidFill>
                  <a:srgbClr val="FFFFFF"/>
                </a:solidFill>
                <a:latin typeface="Inter" pitchFamily="34" charset="0"/>
                <a:ea typeface="Inter" pitchFamily="34" charset="-122"/>
                <a:cs typeface="Inter" pitchFamily="34" charset="-120"/>
              </a:rPr>
              <a:t>AI handles the volume.</a:t>
            </a:r>
            <a:endParaRPr lang="en-US" sz="3800" dirty="0"/>
          </a:p>
          <a:p>
            <a:pPr indent="0" marL="0">
              <a:lnSpc>
                <a:spcPct val="112000"/>
              </a:lnSpc>
              <a:buNone/>
            </a:pPr>
            <a:r>
              <a:rPr lang="en-US" sz="3800" b="1" dirty="0">
                <a:solidFill>
                  <a:srgbClr val="FFFFFF"/>
                </a:solidFill>
                <a:latin typeface="Inter" pitchFamily="34" charset="0"/>
                <a:ea typeface="Inter" pitchFamily="34" charset="-122"/>
                <a:cs typeface="Inter" pitchFamily="34" charset="-120"/>
              </a:rPr>
              <a:t>You write the hard message.</a:t>
            </a:r>
            <a:endParaRPr lang="en-US" sz="3800" dirty="0"/>
          </a:p>
        </p:txBody>
      </p:sp>
      <p:sp>
        <p:nvSpPr>
          <p:cNvPr id="14" name="Text 11"/>
          <p:cNvSpPr/>
          <p:nvPr/>
        </p:nvSpPr>
        <p:spPr>
          <a:xfrm>
            <a:off x="640080" y="3200400"/>
            <a:ext cx="10698480" cy="1463040"/>
          </a:xfrm>
          <a:prstGeom prst="rect">
            <a:avLst/>
          </a:prstGeom>
          <a:noFill/>
          <a:ln/>
        </p:spPr>
        <p:txBody>
          <a:bodyPr wrap="square" lIns="0" tIns="0" rIns="0" bIns="0" rtlCol="0" anchor="t"/>
          <a:lstStyle/>
          <a:p>
            <a:pPr indent="0" marL="0">
              <a:lnSpc>
                <a:spcPct val="120000"/>
              </a:lnSpc>
              <a:buNone/>
            </a:pPr>
            <a:r>
              <a:rPr lang="en-US" sz="2000" dirty="0">
                <a:solidFill>
                  <a:srgbClr val="C9D4DE"/>
                </a:solidFill>
                <a:latin typeface="Inter" pitchFamily="34" charset="0"/>
                <a:ea typeface="Inter" pitchFamily="34" charset="-122"/>
                <a:cs typeface="Inter" pitchFamily="34" charset="-120"/>
              </a:rPr>
              <a:t>Most tools sold to teachers this year offer to write the difficult parent email for you. We are deliberately not doing that. We automate the ordinary contact, at a volume nobody sustains by hand, and we protect the difficult conversation on purpose.</a:t>
            </a:r>
            <a:endParaRPr lang="en-US" sz="2000" dirty="0"/>
          </a:p>
        </p:txBody>
      </p:sp>
      <p:sp>
        <p:nvSpPr>
          <p:cNvPr id="15" name="Text 12"/>
          <p:cNvSpPr/>
          <p:nvPr/>
        </p:nvSpPr>
        <p:spPr>
          <a:xfrm>
            <a:off x="640080" y="4846320"/>
            <a:ext cx="10972800" cy="1005840"/>
          </a:xfrm>
          <a:prstGeom prst="rect">
            <a:avLst/>
          </a:prstGeom>
          <a:noFill/>
          <a:ln/>
        </p:spPr>
        <p:txBody>
          <a:bodyPr wrap="square" lIns="0" tIns="0" rIns="0" bIns="0" rtlCol="0" anchor="ctr"/>
          <a:lstStyle/>
          <a:p>
            <a:pPr indent="0" marL="0">
              <a:lnSpc>
                <a:spcPct val="120000"/>
              </a:lnSpc>
              <a:buNone/>
            </a:pPr>
            <a:r>
              <a:rPr lang="en-US" sz="1900" b="1" dirty="0">
                <a:solidFill>
                  <a:srgbClr val="2A9D8F"/>
                </a:solidFill>
                <a:latin typeface="Inter" pitchFamily="34" charset="0"/>
                <a:ea typeface="Inter" pitchFamily="34" charset="-122"/>
                <a:cs typeface="Inter" pitchFamily="34" charset="-120"/>
              </a:rPr>
              <a:t>The tool takes the volume. The judgment, the specifics, and the hard conversation stay with the professional.</a:t>
            </a:r>
            <a:endParaRPr lang="en-US" sz="1900" dirty="0"/>
          </a:p>
          <a:p>
            <a:pPr indent="0" marL="0">
              <a:lnSpc>
                <a:spcPct val="120000"/>
              </a:lnSpc>
              <a:buNone/>
            </a:pPr>
            <a:r>
              <a:rPr lang="en-US" sz="1900" b="1" dirty="0">
                <a:solidFill>
                  <a:srgbClr val="2A9D8F"/>
                </a:solidFill>
                <a:latin typeface="Inter" pitchFamily="34" charset="0"/>
                <a:ea typeface="Inter" pitchFamily="34" charset="-122"/>
                <a:cs typeface="Inter" pitchFamily="34" charset="-120"/>
              </a:rPr>
              <a:t>AI drafts, the teacher decides.</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promise for the hour: four notes sent, one hard message written.</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REST OF THE HOUR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we go, and one promise</a:t>
            </a:r>
            <a:endParaRPr lang="en-US" sz="3200" dirty="0"/>
          </a:p>
        </p:txBody>
      </p:sp>
      <p:sp>
        <p:nvSpPr>
          <p:cNvPr id="14" name="Text 11"/>
          <p:cNvSpPr/>
          <p:nvPr/>
        </p:nvSpPr>
        <p:spPr>
          <a:xfrm>
            <a:off x="822960" y="16002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0:14</a:t>
            </a:r>
            <a:endParaRPr lang="en-US" sz="2000" dirty="0"/>
          </a:p>
        </p:txBody>
      </p:sp>
      <p:sp>
        <p:nvSpPr>
          <p:cNvPr id="15" name="Text 12"/>
          <p:cNvSpPr/>
          <p:nvPr/>
        </p:nvSpPr>
        <p:spPr>
          <a:xfrm>
            <a:off x="1920240" y="160020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Generic versus specific: the one true detail</a:t>
            </a:r>
            <a:endParaRPr lang="en-US" sz="1900" dirty="0"/>
          </a:p>
        </p:txBody>
      </p:sp>
      <p:sp>
        <p:nvSpPr>
          <p:cNvPr id="16" name="Text 13"/>
          <p:cNvSpPr/>
          <p:nvPr/>
        </p:nvSpPr>
        <p:spPr>
          <a:xfrm>
            <a:off x="822960" y="23317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0:20</a:t>
            </a:r>
            <a:endParaRPr lang="en-US" sz="2000" dirty="0"/>
          </a:p>
        </p:txBody>
      </p:sp>
      <p:sp>
        <p:nvSpPr>
          <p:cNvPr id="17" name="Text 14"/>
          <p:cNvSpPr/>
          <p:nvPr/>
        </p:nvSpPr>
        <p:spPr>
          <a:xfrm>
            <a:off x="1920240" y="233172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The hard message, and who writes it</a:t>
            </a:r>
            <a:endParaRPr lang="en-US" sz="1900" dirty="0"/>
          </a:p>
        </p:txBody>
      </p:sp>
      <p:sp>
        <p:nvSpPr>
          <p:cNvPr id="18" name="Text 15"/>
          <p:cNvSpPr/>
          <p:nvPr/>
        </p:nvSpPr>
        <p:spPr>
          <a:xfrm>
            <a:off x="822960" y="30632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0:25</a:t>
            </a:r>
            <a:endParaRPr lang="en-US" sz="2000" dirty="0"/>
          </a:p>
        </p:txBody>
      </p:sp>
      <p:sp>
        <p:nvSpPr>
          <p:cNvPr id="19" name="Text 16"/>
          <p:cNvSpPr/>
          <p:nvPr/>
        </p:nvSpPr>
        <p:spPr>
          <a:xfrm>
            <a:off x="1920240" y="306324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The red lines: translation, human-only, privacy</a:t>
            </a:r>
            <a:endParaRPr lang="en-US" sz="1900" dirty="0"/>
          </a:p>
        </p:txBody>
      </p:sp>
      <p:sp>
        <p:nvSpPr>
          <p:cNvPr id="20" name="Text 17"/>
          <p:cNvSpPr/>
          <p:nvPr/>
        </p:nvSpPr>
        <p:spPr>
          <a:xfrm>
            <a:off x="822960" y="37947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79476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Lab: your Friday ten minutes</a:t>
            </a:r>
            <a:endParaRPr lang="en-US" sz="1900" dirty="0"/>
          </a:p>
        </p:txBody>
      </p:sp>
      <p:sp>
        <p:nvSpPr>
          <p:cNvPr id="22" name="Text 19"/>
          <p:cNvSpPr/>
          <p:nvPr/>
        </p:nvSpPr>
        <p:spPr>
          <a:xfrm>
            <a:off x="822960" y="45262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526280"/>
            <a:ext cx="6766560" cy="54864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Commitments and the first 48 hours</a:t>
            </a:r>
            <a:endParaRPr lang="en-US" sz="1900" dirty="0"/>
          </a:p>
        </p:txBody>
      </p:sp>
      <p:sp>
        <p:nvSpPr>
          <p:cNvPr id="24" name="Shape 21"/>
          <p:cNvSpPr/>
          <p:nvPr/>
        </p:nvSpPr>
        <p:spPr>
          <a:xfrm>
            <a:off x="9052560" y="2011680"/>
            <a:ext cx="2606040" cy="301752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24028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651760"/>
            <a:ext cx="2148840" cy="219456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four notes written to four real families, each carrying one true thing you noticed this week, and one hard message drafted in your own words.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test: swap the names. If nobody could tell, the note is not worth sending.</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POINT, IN TWO SENTENCES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Swap the name. Does it still work?</a:t>
            </a:r>
            <a:endParaRPr lang="en-US" sz="2800" dirty="0"/>
          </a:p>
        </p:txBody>
      </p:sp>
      <p:sp>
        <p:nvSpPr>
          <p:cNvPr id="14" name="Shape 11"/>
          <p:cNvSpPr/>
          <p:nvPr/>
        </p:nvSpPr>
        <p:spPr>
          <a:xfrm>
            <a:off x="640080" y="1554480"/>
            <a:ext cx="10972800" cy="1691640"/>
          </a:xfrm>
          <a:prstGeom prst="roundRect">
            <a:avLst>
              <a:gd name="adj" fmla="val 4865"/>
            </a:avLst>
          </a:prstGeom>
          <a:solidFill>
            <a:srgbClr val="FBEFED"/>
          </a:solidFill>
          <a:ln w="12700">
            <a:solidFill>
              <a:srgbClr val="FBEFED"/>
            </a:solidFill>
            <a:prstDash val="solid"/>
          </a:ln>
        </p:spPr>
      </p:sp>
      <p:sp>
        <p:nvSpPr>
          <p:cNvPr id="15" name="Text 12"/>
          <p:cNvSpPr/>
          <p:nvPr/>
        </p:nvSpPr>
        <p:spPr>
          <a:xfrm>
            <a:off x="960120" y="1691640"/>
            <a:ext cx="2743200" cy="320040"/>
          </a:xfrm>
          <a:prstGeom prst="rect">
            <a:avLst/>
          </a:prstGeom>
          <a:noFill/>
          <a:ln/>
        </p:spPr>
        <p:txBody>
          <a:bodyPr wrap="square" lIns="0" tIns="0" rIns="0" bIns="0" rtlCol="0" anchor="ctr"/>
          <a:lstStyle/>
          <a:p>
            <a:pPr indent="0" marL="0">
              <a:buNone/>
            </a:pPr>
            <a:r>
              <a:rPr lang="en-US" sz="1300" b="1" spc="140" kern="0" dirty="0">
                <a:solidFill>
                  <a:srgbClr val="B4453A"/>
                </a:solidFill>
                <a:latin typeface="Inter" pitchFamily="34" charset="0"/>
                <a:ea typeface="Inter" pitchFamily="34" charset="-122"/>
                <a:cs typeface="Inter" pitchFamily="34" charset="-120"/>
              </a:rPr>
              <a:t>GENERIC</a:t>
            </a:r>
            <a:endParaRPr lang="en-US" sz="1300" dirty="0"/>
          </a:p>
        </p:txBody>
      </p:sp>
      <p:sp>
        <p:nvSpPr>
          <p:cNvPr id="16" name="Text 13"/>
          <p:cNvSpPr/>
          <p:nvPr/>
        </p:nvSpPr>
        <p:spPr>
          <a:xfrm>
            <a:off x="960120" y="2011680"/>
            <a:ext cx="10332720" cy="502920"/>
          </a:xfrm>
          <a:prstGeom prst="rect">
            <a:avLst/>
          </a:prstGeom>
          <a:noFill/>
          <a:ln/>
        </p:spPr>
        <p:txBody>
          <a:bodyPr wrap="square" lIns="0" tIns="0" rIns="0" bIns="0" rtlCol="0" anchor="ctr"/>
          <a:lstStyle/>
          <a:p>
            <a:pPr indent="0" marL="0">
              <a:buNone/>
            </a:pPr>
            <a:r>
              <a:rPr lang="en-US" sz="2200" i="1" dirty="0">
                <a:solidFill>
                  <a:srgbClr val="1B1F24"/>
                </a:solidFill>
                <a:latin typeface="Inter" pitchFamily="34" charset="0"/>
                <a:ea typeface="Inter" pitchFamily="34" charset="-122"/>
                <a:cs typeface="Inter" pitchFamily="34" charset="-120"/>
              </a:rPr>
              <a:t>“Maya is doing well and it’s a pleasure to have her in class.”</a:t>
            </a:r>
            <a:endParaRPr lang="en-US" sz="2200" dirty="0"/>
          </a:p>
        </p:txBody>
      </p:sp>
      <p:sp>
        <p:nvSpPr>
          <p:cNvPr id="17" name="Text 14"/>
          <p:cNvSpPr/>
          <p:nvPr/>
        </p:nvSpPr>
        <p:spPr>
          <a:xfrm>
            <a:off x="960120" y="2578608"/>
            <a:ext cx="10332720" cy="457200"/>
          </a:xfrm>
          <a:prstGeom prst="rect">
            <a:avLst/>
          </a:prstGeom>
          <a:noFill/>
          <a:ln/>
        </p:spPr>
        <p:txBody>
          <a:bodyPr wrap="square" lIns="0" tIns="0" rIns="0" bIns="0" rtlCol="0" anchor="ctr"/>
          <a:lstStyle/>
          <a:p>
            <a:pPr indent="0" marL="0">
              <a:buNone/>
            </a:pPr>
            <a:r>
              <a:rPr lang="en-US" sz="1500" dirty="0">
                <a:solidFill>
                  <a:srgbClr val="5B6B7A"/>
                </a:solidFill>
                <a:latin typeface="Inter" pitchFamily="34" charset="0"/>
                <a:ea typeface="Inter" pitchFamily="34" charset="-122"/>
                <a:cs typeface="Inter" pitchFamily="34" charset="-120"/>
              </a:rPr>
              <a:t>Works with any child’s name in it. A family reads it and knows they got the form.</a:t>
            </a:r>
            <a:endParaRPr lang="en-US" sz="1500" dirty="0"/>
          </a:p>
        </p:txBody>
      </p:sp>
      <p:sp>
        <p:nvSpPr>
          <p:cNvPr id="18" name="Shape 15"/>
          <p:cNvSpPr/>
          <p:nvPr/>
        </p:nvSpPr>
        <p:spPr>
          <a:xfrm>
            <a:off x="640080" y="3383280"/>
            <a:ext cx="10972800" cy="1874520"/>
          </a:xfrm>
          <a:prstGeom prst="roundRect">
            <a:avLst>
              <a:gd name="adj" fmla="val 4390"/>
            </a:avLst>
          </a:prstGeom>
          <a:solidFill>
            <a:srgbClr val="EAF5F3"/>
          </a:solidFill>
          <a:ln w="12700">
            <a:solidFill>
              <a:srgbClr val="EAF5F3"/>
            </a:solidFill>
            <a:prstDash val="solid"/>
          </a:ln>
        </p:spPr>
      </p:sp>
      <p:sp>
        <p:nvSpPr>
          <p:cNvPr id="19" name="Text 16"/>
          <p:cNvSpPr/>
          <p:nvPr/>
        </p:nvSpPr>
        <p:spPr>
          <a:xfrm>
            <a:off x="960120" y="3520440"/>
            <a:ext cx="2743200" cy="320040"/>
          </a:xfrm>
          <a:prstGeom prst="rect">
            <a:avLst/>
          </a:prstGeom>
          <a:noFill/>
          <a:ln/>
        </p:spPr>
        <p:txBody>
          <a:bodyPr wrap="square" lIns="0" tIns="0" rIns="0" bIns="0" rtlCol="0" anchor="ctr"/>
          <a:lstStyle/>
          <a:p>
            <a:pPr indent="0" marL="0">
              <a:buNone/>
            </a:pPr>
            <a:r>
              <a:rPr lang="en-US" sz="1300" b="1" spc="140" kern="0" dirty="0">
                <a:solidFill>
                  <a:srgbClr val="2E7D5B"/>
                </a:solidFill>
                <a:latin typeface="Inter" pitchFamily="34" charset="0"/>
                <a:ea typeface="Inter" pitchFamily="34" charset="-122"/>
                <a:cs typeface="Inter" pitchFamily="34" charset="-120"/>
              </a:rPr>
              <a:t>SPECIFIC</a:t>
            </a:r>
            <a:endParaRPr lang="en-US" sz="1300" dirty="0"/>
          </a:p>
        </p:txBody>
      </p:sp>
      <p:sp>
        <p:nvSpPr>
          <p:cNvPr id="20" name="Text 17"/>
          <p:cNvSpPr/>
          <p:nvPr/>
        </p:nvSpPr>
        <p:spPr>
          <a:xfrm>
            <a:off x="960120" y="3840480"/>
            <a:ext cx="10332720" cy="685800"/>
          </a:xfrm>
          <a:prstGeom prst="rect">
            <a:avLst/>
          </a:prstGeom>
          <a:noFill/>
          <a:ln/>
        </p:spPr>
        <p:txBody>
          <a:bodyPr wrap="square" lIns="0" tIns="0" rIns="0" bIns="0" rtlCol="0" anchor="ctr"/>
          <a:lstStyle/>
          <a:p>
            <a:pPr indent="0" marL="0">
              <a:buNone/>
            </a:pPr>
            <a:r>
              <a:rPr lang="en-US" sz="2200" i="1" dirty="0">
                <a:solidFill>
                  <a:srgbClr val="1B1F24"/>
                </a:solidFill>
                <a:latin typeface="Inter" pitchFamily="34" charset="0"/>
                <a:ea typeface="Inter" pitchFamily="34" charset="-122"/>
                <a:cs typeface="Inter" pitchFamily="34" charset="-120"/>
              </a:rPr>
              <a:t>“Maya found the mistake in my worked example on Tuesday and said so in front of everyone.”</a:t>
            </a:r>
            <a:endParaRPr lang="en-US" sz="2200" dirty="0"/>
          </a:p>
        </p:txBody>
      </p:sp>
      <p:sp>
        <p:nvSpPr>
          <p:cNvPr id="21" name="Text 18"/>
          <p:cNvSpPr/>
          <p:nvPr/>
        </p:nvSpPr>
        <p:spPr>
          <a:xfrm>
            <a:off x="960120" y="4572000"/>
            <a:ext cx="10332720" cy="502920"/>
          </a:xfrm>
          <a:prstGeom prst="rect">
            <a:avLst/>
          </a:prstGeom>
          <a:noFill/>
          <a:ln/>
        </p:spPr>
        <p:txBody>
          <a:bodyPr wrap="square" lIns="0" tIns="0" rIns="0" bIns="0" rtlCol="0" anchor="ctr"/>
          <a:lstStyle/>
          <a:p>
            <a:pPr indent="0" marL="0">
              <a:buNone/>
            </a:pPr>
            <a:r>
              <a:rPr lang="en-US" sz="1500" dirty="0">
                <a:solidFill>
                  <a:srgbClr val="5B6B7A"/>
                </a:solidFill>
                <a:latin typeface="Inter" pitchFamily="34" charset="0"/>
                <a:ea typeface="Inter" pitchFamily="34" charset="-122"/>
                <a:cs typeface="Inter" pitchFamily="34" charset="-120"/>
              </a:rPr>
              <a:t>Could only be about Maya. Proves something no adjective can prove: somebody was looking at her kid on Tuesday.</a:t>
            </a:r>
            <a:endParaRPr lang="en-US" sz="1500" dirty="0"/>
          </a:p>
        </p:txBody>
      </p:sp>
      <p:sp>
        <p:nvSpPr>
          <p:cNvPr id="22" name="Text 19"/>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A tool can write the first one all day. It cannot write the second one, because it was not in the room on Tuesday.</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source for details: her own week, not her memory of the whole year.</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STEP 3 IS THIS SLIDE, LIVE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Look at this week. Not the whole year.</a:t>
            </a:r>
            <a:endParaRPr lang="en-US" sz="2800" dirty="0"/>
          </a:p>
        </p:txBody>
      </p:sp>
      <p:sp>
        <p:nvSpPr>
          <p:cNvPr id="14" name="Text 11"/>
          <p:cNvSpPr/>
          <p:nvPr/>
        </p:nvSpPr>
        <p:spPr>
          <a:xfrm>
            <a:off x="640080" y="1645920"/>
            <a:ext cx="5394960" cy="35661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Four days, not nine months. Memory of a whole year is a blur.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 moment, a sentence, a choice. Not an achievement.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It does not have to be academic.</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True, dated, and specific enough that a family can picture it.</a:t>
            </a:r>
            <a:endParaRPr lang="en-US" sz="1700" dirty="0"/>
          </a:p>
        </p:txBody>
      </p:sp>
      <p:sp>
        <p:nvSpPr>
          <p:cNvPr id="15" name="Shape 12"/>
          <p:cNvSpPr/>
          <p:nvPr/>
        </p:nvSpPr>
        <p:spPr>
          <a:xfrm>
            <a:off x="6263640" y="1600200"/>
            <a:ext cx="5349240" cy="3703320"/>
          </a:xfrm>
          <a:prstGeom prst="roundRect">
            <a:avLst>
              <a:gd name="adj" fmla="val 2222"/>
            </a:avLst>
          </a:prstGeom>
          <a:solidFill>
            <a:srgbClr val="EAF5F3"/>
          </a:solidFill>
          <a:ln w="12700">
            <a:solidFill>
              <a:srgbClr val="EAF5F3"/>
            </a:solidFill>
            <a:prstDash val="solid"/>
          </a:ln>
        </p:spPr>
      </p:sp>
      <p:sp>
        <p:nvSpPr>
          <p:cNvPr id="16" name="Text 13"/>
          <p:cNvSpPr/>
          <p:nvPr/>
        </p:nvSpPr>
        <p:spPr>
          <a:xfrm>
            <a:off x="6537960" y="1783080"/>
            <a:ext cx="480060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FOUR THAT QUALIFY</a:t>
            </a:r>
            <a:endParaRPr lang="en-US" sz="1250" dirty="0"/>
          </a:p>
        </p:txBody>
      </p:sp>
      <p:sp>
        <p:nvSpPr>
          <p:cNvPr id="17" name="Text 14"/>
          <p:cNvSpPr/>
          <p:nvPr/>
        </p:nvSpPr>
        <p:spPr>
          <a:xfrm>
            <a:off x="6537960" y="2194560"/>
            <a:ext cx="4800600" cy="292608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Redid the graph she was not happy with. Nobody asked her to.
</a:t>
            </a:r>
            <a:pPr indent="0" marL="0">
              <a:lnSpc>
                <a:spcPct val="115000"/>
              </a:lnSpc>
              <a:buNone/>
            </a:pPr>
            <a:r>
              <a:rPr lang="en-US" sz="1600" dirty="0">
                <a:solidFill>
                  <a:srgbClr val="1B1F24"/>
                </a:solidFill>
                <a:latin typeface="Inter" pitchFamily="34" charset="0"/>
                <a:ea typeface="Inter" pitchFamily="34" charset="-122"/>
                <a:cs typeface="Inter" pitchFamily="34" charset="-120"/>
              </a:rPr>
              <a:t>Read his paragraph out loud. First time all year.
</a:t>
            </a:r>
            <a:pPr indent="0" marL="0">
              <a:lnSpc>
                <a:spcPct val="115000"/>
              </a:lnSpc>
              <a:buNone/>
            </a:pPr>
            <a:r>
              <a:rPr lang="en-US" sz="1600" dirty="0">
                <a:solidFill>
                  <a:srgbClr val="1B1F24"/>
                </a:solidFill>
                <a:latin typeface="Inter" pitchFamily="34" charset="0"/>
                <a:ea typeface="Inter" pitchFamily="34" charset="-122"/>
                <a:cs typeface="Inter" pitchFamily="34" charset="-120"/>
              </a:rPr>
              <a:t>Set up the lab station before anyone asked.
</a:t>
            </a:r>
            <a:pPr indent="0" marL="0">
              <a:lnSpc>
                <a:spcPct val="115000"/>
              </a:lnSpc>
              <a:buNone/>
            </a:pPr>
            <a:r>
              <a:rPr lang="en-US" sz="1600" dirty="0">
                <a:solidFill>
                  <a:srgbClr val="1B1F24"/>
                </a:solidFill>
                <a:latin typeface="Inter" pitchFamily="34" charset="0"/>
                <a:ea typeface="Inter" pitchFamily="34" charset="-122"/>
                <a:cs typeface="Inter" pitchFamily="34" charset="-120"/>
              </a:rPr>
              <a:t>Found the mistake in my worked example and said so.</a:t>
            </a:r>
            <a:endParaRPr lang="en-US" sz="1600" dirty="0"/>
          </a:p>
        </p:txBody>
      </p:sp>
      <p:sp>
        <p:nvSpPr>
          <p:cNvPr id="18" name="Text 15"/>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750" b="1" dirty="0">
                <a:solidFill>
                  <a:srgbClr val="13293D"/>
                </a:solidFill>
                <a:latin typeface="Inter" pitchFamily="34" charset="0"/>
                <a:ea typeface="Inter" pitchFamily="34" charset="-122"/>
                <a:cs typeface="Inter" pitchFamily="34" charset="-120"/>
              </a:rPr>
              <a:t>If you genuinely have nothing for a child this week, that is information too. It is usually about who you are watching.</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hard-message rule: the fact first, one ask, nothing she cannot deliver.</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OTHER HALF OF THE JOB</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hard message, which you write</a:t>
            </a:r>
            <a:endParaRPr lang="en-US" sz="2800" dirty="0"/>
          </a:p>
        </p:txBody>
      </p:sp>
      <p:sp>
        <p:nvSpPr>
          <p:cNvPr id="14" name="Shape 11"/>
          <p:cNvSpPr/>
          <p:nvPr/>
        </p:nvSpPr>
        <p:spPr>
          <a:xfrm>
            <a:off x="640080" y="1554480"/>
            <a:ext cx="5349240" cy="1828800"/>
          </a:xfrm>
          <a:prstGeom prst="roundRect">
            <a:avLst>
              <a:gd name="adj" fmla="val 4500"/>
            </a:avLst>
          </a:prstGeom>
          <a:solidFill>
            <a:srgbClr val="F7F5F0"/>
          </a:solidFill>
          <a:ln w="12700">
            <a:solidFill>
              <a:srgbClr val="F7F5F0"/>
            </a:solidFill>
            <a:prstDash val="solid"/>
          </a:ln>
        </p:spPr>
      </p:sp>
      <p:sp>
        <p:nvSpPr>
          <p:cNvPr id="15" name="Text 12"/>
          <p:cNvSpPr/>
          <p:nvPr/>
        </p:nvSpPr>
        <p:spPr>
          <a:xfrm>
            <a:off x="914400" y="1719072"/>
            <a:ext cx="4800600" cy="41148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1 · Lead with the fact</a:t>
            </a:r>
            <a:endParaRPr lang="en-US" sz="1800" dirty="0"/>
          </a:p>
        </p:txBody>
      </p:sp>
      <p:sp>
        <p:nvSpPr>
          <p:cNvPr id="16" name="Text 13"/>
          <p:cNvSpPr/>
          <p:nvPr/>
        </p:nvSpPr>
        <p:spPr>
          <a:xfrm>
            <a:off x="914400" y="2194560"/>
            <a:ext cx="4800600" cy="1051560"/>
          </a:xfrm>
          <a:prstGeom prst="rect">
            <a:avLst/>
          </a:prstGeom>
          <a:noFill/>
          <a:ln/>
        </p:spPr>
        <p:txBody>
          <a:bodyPr wrap="square" lIns="0" tIns="0" rIns="0" bIns="0" rtlCol="0" anchor="t"/>
          <a:lstStyle/>
          <a:p>
            <a:pPr indent="0" marL="0">
              <a:lnSpc>
                <a:spcPct val="112000"/>
              </a:lnSpc>
              <a:buNone/>
            </a:pPr>
            <a:r>
              <a:rPr lang="en-US" sz="1350" dirty="0">
                <a:solidFill>
                  <a:srgbClr val="1B1F24"/>
                </a:solidFill>
                <a:latin typeface="Inter" pitchFamily="34" charset="0"/>
                <a:ea typeface="Inter" pitchFamily="34" charset="-122"/>
                <a:cs typeface="Inter" pitchFamily="34" charset="-120"/>
              </a:rPr>
              <a:t>“Devon has not turned in three of the last four assignments” opens a conversation. “I’m concerned about his effort” opens an argument, because effort is an opinion.</a:t>
            </a:r>
            <a:endParaRPr lang="en-US" sz="1350" dirty="0"/>
          </a:p>
        </p:txBody>
      </p:sp>
      <p:sp>
        <p:nvSpPr>
          <p:cNvPr id="17" name="Shape 14"/>
          <p:cNvSpPr/>
          <p:nvPr/>
        </p:nvSpPr>
        <p:spPr>
          <a:xfrm>
            <a:off x="6263640" y="1554480"/>
            <a:ext cx="5349240" cy="1828800"/>
          </a:xfrm>
          <a:prstGeom prst="roundRect">
            <a:avLst>
              <a:gd name="adj" fmla="val 4500"/>
            </a:avLst>
          </a:prstGeom>
          <a:solidFill>
            <a:srgbClr val="F7F5F0"/>
          </a:solidFill>
          <a:ln w="12700">
            <a:solidFill>
              <a:srgbClr val="F7F5F0"/>
            </a:solidFill>
            <a:prstDash val="solid"/>
          </a:ln>
        </p:spPr>
      </p:sp>
      <p:sp>
        <p:nvSpPr>
          <p:cNvPr id="18" name="Text 15"/>
          <p:cNvSpPr/>
          <p:nvPr/>
        </p:nvSpPr>
        <p:spPr>
          <a:xfrm>
            <a:off x="6537960" y="1719072"/>
            <a:ext cx="4800600" cy="41148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2 · Make one ask</a:t>
            </a:r>
            <a:endParaRPr lang="en-US" sz="1800" dirty="0"/>
          </a:p>
        </p:txBody>
      </p:sp>
      <p:sp>
        <p:nvSpPr>
          <p:cNvPr id="19" name="Text 16"/>
          <p:cNvSpPr/>
          <p:nvPr/>
        </p:nvSpPr>
        <p:spPr>
          <a:xfrm>
            <a:off x="6537960" y="2194560"/>
            <a:ext cx="4800600" cy="1051560"/>
          </a:xfrm>
          <a:prstGeom prst="rect">
            <a:avLst/>
          </a:prstGeom>
          <a:noFill/>
          <a:ln/>
        </p:spPr>
        <p:txBody>
          <a:bodyPr wrap="square" lIns="0" tIns="0" rIns="0" bIns="0" rtlCol="0" anchor="t"/>
          <a:lstStyle/>
          <a:p>
            <a:pPr indent="0" marL="0">
              <a:lnSpc>
                <a:spcPct val="112000"/>
              </a:lnSpc>
              <a:buNone/>
            </a:pPr>
            <a:r>
              <a:rPr lang="en-US" sz="1350" dirty="0">
                <a:solidFill>
                  <a:srgbClr val="1B1F24"/>
                </a:solidFill>
                <a:latin typeface="Inter" pitchFamily="34" charset="0"/>
                <a:ea typeface="Inter" pitchFamily="34" charset="-122"/>
                <a:cs typeface="Inter" pitchFamily="34" charset="-120"/>
              </a:rPr>
              <a:t>One thing you want this family to do, stated plainly, with a date. Not four things.</a:t>
            </a:r>
            <a:endParaRPr lang="en-US" sz="1350" dirty="0"/>
          </a:p>
        </p:txBody>
      </p:sp>
      <p:sp>
        <p:nvSpPr>
          <p:cNvPr id="20" name="Shape 17"/>
          <p:cNvSpPr/>
          <p:nvPr/>
        </p:nvSpPr>
        <p:spPr>
          <a:xfrm>
            <a:off x="640080" y="3566160"/>
            <a:ext cx="5349240" cy="1828800"/>
          </a:xfrm>
          <a:prstGeom prst="roundRect">
            <a:avLst>
              <a:gd name="adj" fmla="val 4500"/>
            </a:avLst>
          </a:prstGeom>
          <a:solidFill>
            <a:srgbClr val="F7F5F0"/>
          </a:solidFill>
          <a:ln w="12700">
            <a:solidFill>
              <a:srgbClr val="F7F5F0"/>
            </a:solidFill>
            <a:prstDash val="solid"/>
          </a:ln>
        </p:spPr>
      </p:sp>
      <p:sp>
        <p:nvSpPr>
          <p:cNvPr id="21" name="Text 18"/>
          <p:cNvSpPr/>
          <p:nvPr/>
        </p:nvSpPr>
        <p:spPr>
          <a:xfrm>
            <a:off x="914400" y="3730752"/>
            <a:ext cx="4800600" cy="41148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3 · No promises you cannot keep</a:t>
            </a:r>
            <a:endParaRPr lang="en-US" sz="1800" dirty="0"/>
          </a:p>
        </p:txBody>
      </p:sp>
      <p:sp>
        <p:nvSpPr>
          <p:cNvPr id="22" name="Text 19"/>
          <p:cNvSpPr/>
          <p:nvPr/>
        </p:nvSpPr>
        <p:spPr>
          <a:xfrm>
            <a:off x="914400" y="4206240"/>
            <a:ext cx="4800600" cy="1051560"/>
          </a:xfrm>
          <a:prstGeom prst="rect">
            <a:avLst/>
          </a:prstGeom>
          <a:noFill/>
          <a:ln/>
        </p:spPr>
        <p:txBody>
          <a:bodyPr wrap="square" lIns="0" tIns="0" rIns="0" bIns="0" rtlCol="0" anchor="t"/>
          <a:lstStyle/>
          <a:p>
            <a:pPr indent="0" marL="0">
              <a:lnSpc>
                <a:spcPct val="112000"/>
              </a:lnSpc>
              <a:buNone/>
            </a:pPr>
            <a:r>
              <a:rPr lang="en-US" sz="1350" dirty="0">
                <a:solidFill>
                  <a:srgbClr val="1B1F24"/>
                </a:solidFill>
                <a:latin typeface="Inter" pitchFamily="34" charset="0"/>
                <a:ea typeface="Inter" pitchFamily="34" charset="-122"/>
                <a:cs typeface="Inter" pitchFamily="34" charset="-120"/>
              </a:rPr>
              <a:t>If you do not know whether he can catch up, say you do not know. A promise you break here costs more than the message.</a:t>
            </a:r>
            <a:endParaRPr lang="en-US" sz="1350" dirty="0"/>
          </a:p>
        </p:txBody>
      </p:sp>
      <p:sp>
        <p:nvSpPr>
          <p:cNvPr id="23" name="Shape 20"/>
          <p:cNvSpPr/>
          <p:nvPr/>
        </p:nvSpPr>
        <p:spPr>
          <a:xfrm>
            <a:off x="6263640" y="3566160"/>
            <a:ext cx="5349240" cy="1828800"/>
          </a:xfrm>
          <a:prstGeom prst="roundRect">
            <a:avLst>
              <a:gd name="adj" fmla="val 4500"/>
            </a:avLst>
          </a:prstGeom>
          <a:solidFill>
            <a:srgbClr val="F7F5F0"/>
          </a:solidFill>
          <a:ln w="12700">
            <a:solidFill>
              <a:srgbClr val="F7F5F0"/>
            </a:solidFill>
            <a:prstDash val="solid"/>
          </a:ln>
        </p:spPr>
      </p:sp>
      <p:sp>
        <p:nvSpPr>
          <p:cNvPr id="24" name="Text 21"/>
          <p:cNvSpPr/>
          <p:nvPr/>
        </p:nvSpPr>
        <p:spPr>
          <a:xfrm>
            <a:off x="6537960" y="3730752"/>
            <a:ext cx="4800600" cy="41148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4 · Know when to stop typing</a:t>
            </a:r>
            <a:endParaRPr lang="en-US" sz="1800" dirty="0"/>
          </a:p>
        </p:txBody>
      </p:sp>
      <p:sp>
        <p:nvSpPr>
          <p:cNvPr id="25" name="Text 22"/>
          <p:cNvSpPr/>
          <p:nvPr/>
        </p:nvSpPr>
        <p:spPr>
          <a:xfrm>
            <a:off x="6537960" y="4206240"/>
            <a:ext cx="4800600" cy="1051560"/>
          </a:xfrm>
          <a:prstGeom prst="rect">
            <a:avLst/>
          </a:prstGeom>
          <a:noFill/>
          <a:ln/>
        </p:spPr>
        <p:txBody>
          <a:bodyPr wrap="square" lIns="0" tIns="0" rIns="0" bIns="0" rtlCol="0" anchor="t"/>
          <a:lstStyle/>
          <a:p>
            <a:pPr indent="0" marL="0">
              <a:lnSpc>
                <a:spcPct val="112000"/>
              </a:lnSpc>
              <a:buNone/>
            </a:pPr>
            <a:r>
              <a:rPr lang="en-US" sz="1350" dirty="0">
                <a:solidFill>
                  <a:srgbClr val="1B1F24"/>
                </a:solidFill>
                <a:latin typeface="Inter" pitchFamily="34" charset="0"/>
                <a:ea typeface="Inter" pitchFamily="34" charset="-122"/>
                <a:cs typeface="Inter" pitchFamily="34" charset="-120"/>
              </a:rPr>
              <a:t>Third paragraph, explaining your own feelings, or written angry: that is a phone call. Angry drafts wait until morning unless safety cannot.</a:t>
            </a:r>
            <a:endParaRPr lang="en-US" sz="135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You write this one. A message that carries consequences has to be defensible by the person who sent it.</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one job for the tool: read it back for tone. Never write the words.</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AI’S ONE JOB ON A HARD MESSAGE · NEVER THE WORDS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 second read for tone</a:t>
            </a:r>
            <a:endParaRPr lang="en-US" sz="3200" dirty="0"/>
          </a:p>
        </p:txBody>
      </p:sp>
      <p:sp>
        <p:nvSpPr>
          <p:cNvPr id="14" name="Text 11"/>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“Rewrite this email to a parent so it sounds better.”</a:t>
            </a:r>
            <a:endParaRPr lang="en-US" sz="1600" dirty="0"/>
          </a:p>
        </p:txBody>
      </p:sp>
      <p:sp>
        <p:nvSpPr>
          <p:cNvPr id="15" name="Shape 12"/>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16" name="Shape 13"/>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868680" y="1901952"/>
            <a:ext cx="146304" cy="146304"/>
          </a:xfrm>
          <a:prstGeom prst="ellipse">
            <a:avLst/>
          </a:prstGeom>
          <a:solidFill>
            <a:srgbClr val="E8837A"/>
          </a:solidFill>
          <a:ln w="12700">
            <a:solidFill>
              <a:srgbClr val="E8837A"/>
            </a:solidFill>
            <a:prstDash val="solid"/>
          </a:ln>
        </p:spPr>
      </p:sp>
      <p:sp>
        <p:nvSpPr>
          <p:cNvPr id="18" name="Shape 15"/>
          <p:cNvSpPr/>
          <p:nvPr/>
        </p:nvSpPr>
        <p:spPr>
          <a:xfrm>
            <a:off x="1115568" y="1901952"/>
            <a:ext cx="146304" cy="146304"/>
          </a:xfrm>
          <a:prstGeom prst="ellipse">
            <a:avLst/>
          </a:prstGeom>
          <a:solidFill>
            <a:srgbClr val="F4A825"/>
          </a:solidFill>
          <a:ln w="12700">
            <a:solidFill>
              <a:srgbClr val="F4A825"/>
            </a:solidFill>
            <a:prstDash val="solid"/>
          </a:ln>
        </p:spPr>
      </p:sp>
      <p:sp>
        <p:nvSpPr>
          <p:cNvPr id="19" name="Shape 16"/>
          <p:cNvSpPr/>
          <p:nvPr/>
        </p:nvSpPr>
        <p:spPr>
          <a:xfrm>
            <a:off x="1362456" y="1901952"/>
            <a:ext cx="146304" cy="146304"/>
          </a:xfrm>
          <a:prstGeom prst="ellipse">
            <a:avLst/>
          </a:prstGeom>
          <a:solidFill>
            <a:srgbClr val="2E7D5B"/>
          </a:solidFill>
          <a:ln w="12700">
            <a:solidFill>
              <a:srgbClr val="2E7D5B"/>
            </a:solidFill>
            <a:prstDash val="solid"/>
          </a:ln>
        </p:spPr>
      </p:sp>
      <p:sp>
        <p:nvSpPr>
          <p:cNvPr id="20" name="Text 17"/>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1" name="Shape 18"/>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22" name="Text 19"/>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careful editor who has never met my students.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Read the message below and tell me only how its tone will land. Do not rewrite it.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It goes to one family about missing work. The facts and the request are already correct and I am not changing them. No names are in it.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List any sentence that reads as blame, sarcasm, or a promise I did not mean to make. Quote the sentence, name the problem in one phrase, and stop. No replacement wording.”</a:t>
            </a:r>
            <a:endParaRPr lang="en-US" sz="1600" dirty="0"/>
          </a:p>
        </p:txBody>
      </p:sp>
      <p:sp>
        <p:nvSpPr>
          <p:cNvPr id="23" name="Shape 20"/>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24" name="Text 21"/>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5" name="Shape 22"/>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6" name="Text 23"/>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7" name="Shape 24"/>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8" name="Text 25"/>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9" name="Shape 26"/>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30" name="Text 27"/>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red line: no public AI translation of a family message. She cannot review what she cannot read.</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LINE THAT DOES NOT MOVE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Our rule, and the law, kept apart</a:t>
            </a:r>
            <a:endParaRPr lang="en-US" sz="2800" dirty="0"/>
          </a:p>
        </p:txBody>
      </p:sp>
      <p:sp>
        <p:nvSpPr>
          <p:cNvPr id="14" name="Shape 11"/>
          <p:cNvSpPr/>
          <p:nvPr/>
        </p:nvSpPr>
        <p:spPr>
          <a:xfrm>
            <a:off x="640080" y="1600200"/>
            <a:ext cx="53492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640080" y="1600200"/>
            <a:ext cx="100584" cy="3291840"/>
          </a:xfrm>
          <a:prstGeom prst="roundRect">
            <a:avLst>
              <a:gd name="adj" fmla="val 45455"/>
            </a:avLst>
          </a:prstGeom>
          <a:solidFill>
            <a:srgbClr val="F4A825"/>
          </a:solidFill>
          <a:ln w="12700">
            <a:solidFill>
              <a:srgbClr val="F4A825"/>
            </a:solidFill>
            <a:prstDash val="solid"/>
          </a:ln>
        </p:spPr>
      </p:sp>
      <p:sp>
        <p:nvSpPr>
          <p:cNvPr id="16" name="Text 13"/>
          <p:cNvSpPr/>
          <p:nvPr/>
        </p:nvSpPr>
        <p:spPr>
          <a:xfrm>
            <a:off x="960120" y="1783080"/>
            <a:ext cx="4800600" cy="292608"/>
          </a:xfrm>
          <a:prstGeom prst="rect">
            <a:avLst/>
          </a:prstGeom>
          <a:noFill/>
          <a:ln/>
        </p:spPr>
        <p:txBody>
          <a:bodyPr wrap="square" lIns="0" tIns="0" rIns="0" bIns="0" rtlCol="0" anchor="ctr"/>
          <a:lstStyle/>
          <a:p>
            <a:pPr indent="0" marL="0">
              <a:buNone/>
            </a:pPr>
            <a:r>
              <a:rPr lang="en-US" sz="1200" b="1" spc="130" kern="0" dirty="0">
                <a:solidFill>
                  <a:srgbClr val="B07914"/>
                </a:solidFill>
                <a:latin typeface="Inter" pitchFamily="34" charset="0"/>
                <a:ea typeface="Inter" pitchFamily="34" charset="-122"/>
                <a:cs typeface="Inter" pitchFamily="34" charset="-120"/>
              </a:rPr>
              <a:t>OUR CLASSROOM RULE, AND IT IS OURS</a:t>
            </a:r>
            <a:endParaRPr lang="en-US" sz="1200" dirty="0"/>
          </a:p>
        </p:txBody>
      </p:sp>
      <p:sp>
        <p:nvSpPr>
          <p:cNvPr id="17" name="Text 14"/>
          <p:cNvSpPr/>
          <p:nvPr/>
        </p:nvSpPr>
        <p:spPr>
          <a:xfrm>
            <a:off x="960120" y="2194560"/>
            <a:ext cx="4754880" cy="2514600"/>
          </a:xfrm>
          <a:prstGeom prst="rect">
            <a:avLst/>
          </a:prstGeom>
          <a:noFill/>
          <a:ln/>
        </p:spPr>
        <p:txBody>
          <a:bodyPr wrap="square" lIns="0" tIns="0" rIns="0" bIns="0" rtlCol="0" anchor="t"/>
          <a:lstStyle/>
          <a:p>
            <a:pPr indent="0" marL="0">
              <a:lnSpc>
                <a:spcPct val="115000"/>
              </a:lnSpc>
              <a:buNone/>
            </a:pPr>
            <a:r>
              <a:rPr lang="en-US" sz="1800" b="1" dirty="0">
                <a:solidFill>
                  <a:srgbClr val="13293D"/>
                </a:solidFill>
                <a:latin typeface="Inter" pitchFamily="34" charset="0"/>
                <a:ea typeface="Inter" pitchFamily="34" charset="-122"/>
                <a:cs typeface="Inter" pitchFamily="34" charset="-120"/>
              </a:rPr>
              <a:t>No public AI translation of family messages.
</a:t>
            </a:r>
            <a:pPr indent="0" marL="0">
              <a:lnSpc>
                <a:spcPct val="115000"/>
              </a:lnSpc>
              <a:buNone/>
            </a:pPr>
            <a:r>
              <a:rPr lang="en-US" sz="1700" i="1" dirty="0">
                <a:solidFill>
                  <a:srgbClr val="13293D"/>
                </a:solidFill>
                <a:latin typeface="Inter" pitchFamily="34" charset="0"/>
                <a:ea typeface="Inter" pitchFamily="34" charset="-122"/>
                <a:cs typeface="Inter" pitchFamily="34" charset="-120"/>
              </a:rPr>
              <a:t>You cannot review what you cannot read.
</a:t>
            </a:r>
            <a:pPr indent="0" marL="0">
              <a:lnSpc>
                <a:spcPct val="115000"/>
              </a:lnSpc>
              <a:buNone/>
            </a:pPr>
            <a:r>
              <a:rPr lang="en-US" sz="1500" dirty="0">
                <a:solidFill>
                  <a:srgbClr val="1B1F24"/>
                </a:solidFill>
                <a:latin typeface="Inter" pitchFamily="34" charset="0"/>
                <a:ea typeface="Inter" pitchFamily="34" charset="-122"/>
                <a:cs typeface="Inter" pitchFamily="34" charset="-120"/>
              </a:rPr>
              <a:t>Official and legal documents travel your district’s translation channels. That is the district’s obligation and the district’s resource.</a:t>
            </a:r>
            <a:endParaRPr lang="en-US" sz="1800" dirty="0"/>
          </a:p>
        </p:txBody>
      </p:sp>
      <p:sp>
        <p:nvSpPr>
          <p:cNvPr id="18" name="Shape 15"/>
          <p:cNvSpPr/>
          <p:nvPr/>
        </p:nvSpPr>
        <p:spPr>
          <a:xfrm>
            <a:off x="6263640" y="1600200"/>
            <a:ext cx="5349240" cy="3291840"/>
          </a:xfrm>
          <a:prstGeom prst="roundRect">
            <a:avLst>
              <a:gd name="adj" fmla="val 2500"/>
            </a:avLst>
          </a:prstGeom>
          <a:solidFill>
            <a:srgbClr val="EAF5F3"/>
          </a:solidFill>
          <a:ln w="12700">
            <a:solidFill>
              <a:srgbClr val="EAF5F3"/>
            </a:solidFill>
            <a:prstDash val="solid"/>
          </a:ln>
        </p:spPr>
      </p:sp>
      <p:sp>
        <p:nvSpPr>
          <p:cNvPr id="19" name="Text 16"/>
          <p:cNvSpPr/>
          <p:nvPr/>
        </p:nvSpPr>
        <p:spPr>
          <a:xfrm>
            <a:off x="6537960" y="1783080"/>
            <a:ext cx="4800600" cy="292608"/>
          </a:xfrm>
          <a:prstGeom prst="rect">
            <a:avLst/>
          </a:prstGeom>
          <a:noFill/>
          <a:ln/>
        </p:spPr>
        <p:txBody>
          <a:bodyPr wrap="square" lIns="0" tIns="0" rIns="0" bIns="0" rtlCol="0" anchor="ctr"/>
          <a:lstStyle/>
          <a:p>
            <a:pPr indent="0" marL="0">
              <a:buNone/>
            </a:pPr>
            <a:r>
              <a:rPr lang="en-US" sz="1200" b="1" spc="130" kern="0" dirty="0">
                <a:solidFill>
                  <a:srgbClr val="2A9D8F"/>
                </a:solidFill>
                <a:latin typeface="Inter" pitchFamily="34" charset="0"/>
                <a:ea typeface="Inter" pitchFamily="34" charset="-122"/>
                <a:cs typeface="Inter" pitchFamily="34" charset="-120"/>
              </a:rPr>
              <a:t>WHAT THE LAW ACTUALLY SAYS</a:t>
            </a:r>
            <a:endParaRPr lang="en-US" sz="1200" dirty="0"/>
          </a:p>
        </p:txBody>
      </p:sp>
      <p:sp>
        <p:nvSpPr>
          <p:cNvPr id="20" name="Text 17"/>
          <p:cNvSpPr/>
          <p:nvPr/>
        </p:nvSpPr>
        <p:spPr>
          <a:xfrm>
            <a:off x="6537960" y="2194560"/>
            <a:ext cx="4800600" cy="2514600"/>
          </a:xfrm>
          <a:prstGeom prst="rect">
            <a:avLst/>
          </a:prstGeom>
          <a:noFill/>
          <a:ln/>
        </p:spPr>
        <p:txBody>
          <a:bodyPr wrap="square" lIns="0" tIns="0" rIns="0" bIns="0" rtlCol="0" anchor="t"/>
          <a:lstStyle/>
          <a:p>
            <a:pPr indent="0" marL="0">
              <a:lnSpc>
                <a:spcPct val="115000"/>
              </a:lnSpc>
              <a:buNone/>
            </a:pPr>
            <a:r>
              <a:rPr lang="en-US" sz="1500" dirty="0">
                <a:solidFill>
                  <a:srgbClr val="1B1F24"/>
                </a:solidFill>
                <a:latin typeface="Inter" pitchFamily="34" charset="0"/>
                <a:ea typeface="Inter" pitchFamily="34" charset="-122"/>
                <a:cs typeface="Inter" pitchFamily="34" charset="-120"/>
              </a:rPr>
              <a:t>The 2015 ED/DOJ Dear Colleague Letter requires schools to communicate meaningfully with limited-English-proficient parents, and says machine translation of essential information needs qualified human review.
</a:t>
            </a:r>
            <a:pPr indent="0" marL="0">
              <a:lnSpc>
                <a:spcPct val="115000"/>
              </a:lnSpc>
              <a:buNone/>
            </a:pPr>
            <a:r>
              <a:rPr lang="en-US" sz="1500" b="1" dirty="0">
                <a:solidFill>
                  <a:srgbClr val="13293D"/>
                </a:solidFill>
                <a:latin typeface="Inter" pitchFamily="34" charset="0"/>
                <a:ea typeface="Inter" pitchFamily="34" charset="-122"/>
                <a:cs typeface="Inter" pitchFamily="34" charset="-120"/>
              </a:rPr>
              <a:t>It does not itself forbid a teacher from using AI translation.</a:t>
            </a:r>
            <a:endParaRPr lang="en-US" sz="1500" dirty="0"/>
          </a:p>
        </p:txBody>
      </p:sp>
      <p:sp>
        <p:nvSpPr>
          <p:cNvPr id="21" name="Text 18"/>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We chose the stricter rule. Say it as ours, not as the law.</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Communication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C9D4DE"/>
                </a:solidFill>
                <a:latin typeface="Inter" pitchFamily="34" charset="0"/>
                <a:ea typeface="Inter" pitchFamily="34" charset="-122"/>
                <a:cs typeface="Inter" pitchFamily="34" charset="-120"/>
              </a:rPr>
              <a:t>Her human-only list: safety, discipline, grief, special-education news. She calls.</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FOUR THINGS GET A VOICE, NOT A MESSAGE</a:t>
            </a:r>
            <a:endParaRPr lang="en-US" sz="1200" dirty="0"/>
          </a:p>
        </p:txBody>
      </p:sp>
      <p:sp>
        <p:nvSpPr>
          <p:cNvPr id="13" name="Text 10"/>
          <p:cNvSpPr/>
          <p:nvPr/>
        </p:nvSpPr>
        <p:spPr>
          <a:xfrm>
            <a:off x="640080" y="118872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You call.</a:t>
            </a:r>
            <a:endParaRPr lang="en-US" sz="4000" dirty="0"/>
          </a:p>
        </p:txBody>
      </p:sp>
      <p:sp>
        <p:nvSpPr>
          <p:cNvPr id="14" name="Shape 11"/>
          <p:cNvSpPr/>
          <p:nvPr/>
        </p:nvSpPr>
        <p:spPr>
          <a:xfrm>
            <a:off x="640080" y="2377440"/>
            <a:ext cx="2606040" cy="1645920"/>
          </a:xfrm>
          <a:prstGeom prst="roundRect">
            <a:avLst>
              <a:gd name="adj" fmla="val 5556"/>
            </a:avLst>
          </a:prstGeom>
          <a:solidFill>
            <a:srgbClr val="1E3A50"/>
          </a:solidFill>
          <a:ln w="12700">
            <a:solidFill>
              <a:srgbClr val="2A4A63"/>
            </a:solidFill>
            <a:prstDash val="solid"/>
          </a:ln>
        </p:spPr>
      </p:sp>
      <p:sp>
        <p:nvSpPr>
          <p:cNvPr id="15" name="Text 12"/>
          <p:cNvSpPr/>
          <p:nvPr/>
        </p:nvSpPr>
        <p:spPr>
          <a:xfrm>
            <a:off x="822960" y="2377440"/>
            <a:ext cx="2240280" cy="1645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Safety</a:t>
            </a:r>
            <a:endParaRPr lang="en-US" sz="2000" dirty="0"/>
          </a:p>
        </p:txBody>
      </p:sp>
      <p:sp>
        <p:nvSpPr>
          <p:cNvPr id="16" name="Shape 13"/>
          <p:cNvSpPr/>
          <p:nvPr/>
        </p:nvSpPr>
        <p:spPr>
          <a:xfrm>
            <a:off x="3456432" y="2377440"/>
            <a:ext cx="2606040" cy="1645920"/>
          </a:xfrm>
          <a:prstGeom prst="roundRect">
            <a:avLst>
              <a:gd name="adj" fmla="val 5556"/>
            </a:avLst>
          </a:prstGeom>
          <a:solidFill>
            <a:srgbClr val="1E3A50"/>
          </a:solidFill>
          <a:ln w="12700">
            <a:solidFill>
              <a:srgbClr val="2A4A63"/>
            </a:solidFill>
            <a:prstDash val="solid"/>
          </a:ln>
        </p:spPr>
      </p:sp>
      <p:sp>
        <p:nvSpPr>
          <p:cNvPr id="17" name="Text 14"/>
          <p:cNvSpPr/>
          <p:nvPr/>
        </p:nvSpPr>
        <p:spPr>
          <a:xfrm>
            <a:off x="3639312" y="2377440"/>
            <a:ext cx="2240280" cy="1645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Serious discipline</a:t>
            </a:r>
            <a:endParaRPr lang="en-US" sz="2000" dirty="0"/>
          </a:p>
        </p:txBody>
      </p:sp>
      <p:sp>
        <p:nvSpPr>
          <p:cNvPr id="18" name="Shape 15"/>
          <p:cNvSpPr/>
          <p:nvPr/>
        </p:nvSpPr>
        <p:spPr>
          <a:xfrm>
            <a:off x="6272784" y="2377440"/>
            <a:ext cx="2606040" cy="1645920"/>
          </a:xfrm>
          <a:prstGeom prst="roundRect">
            <a:avLst>
              <a:gd name="adj" fmla="val 5556"/>
            </a:avLst>
          </a:prstGeom>
          <a:solidFill>
            <a:srgbClr val="1E3A50"/>
          </a:solidFill>
          <a:ln w="12700">
            <a:solidFill>
              <a:srgbClr val="2A4A63"/>
            </a:solidFill>
            <a:prstDash val="solid"/>
          </a:ln>
        </p:spPr>
      </p:sp>
      <p:sp>
        <p:nvSpPr>
          <p:cNvPr id="19" name="Text 16"/>
          <p:cNvSpPr/>
          <p:nvPr/>
        </p:nvSpPr>
        <p:spPr>
          <a:xfrm>
            <a:off x="6455664" y="2377440"/>
            <a:ext cx="2240280" cy="1645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A family’s grief</a:t>
            </a:r>
            <a:endParaRPr lang="en-US" sz="2000" dirty="0"/>
          </a:p>
        </p:txBody>
      </p:sp>
      <p:sp>
        <p:nvSpPr>
          <p:cNvPr id="20" name="Shape 17"/>
          <p:cNvSpPr/>
          <p:nvPr/>
        </p:nvSpPr>
        <p:spPr>
          <a:xfrm>
            <a:off x="9089136" y="2377440"/>
            <a:ext cx="2606040" cy="1645920"/>
          </a:xfrm>
          <a:prstGeom prst="roundRect">
            <a:avLst>
              <a:gd name="adj" fmla="val 5556"/>
            </a:avLst>
          </a:prstGeom>
          <a:solidFill>
            <a:srgbClr val="1E3A50"/>
          </a:solidFill>
          <a:ln w="12700">
            <a:solidFill>
              <a:srgbClr val="2A4A63"/>
            </a:solidFill>
            <a:prstDash val="solid"/>
          </a:ln>
        </p:spPr>
      </p:sp>
      <p:sp>
        <p:nvSpPr>
          <p:cNvPr id="21" name="Text 18"/>
          <p:cNvSpPr/>
          <p:nvPr/>
        </p:nvSpPr>
        <p:spPr>
          <a:xfrm>
            <a:off x="9272016" y="2377440"/>
            <a:ext cx="2240280" cy="1645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Special-education news</a:t>
            </a:r>
            <a:endParaRPr lang="en-US" sz="2000" dirty="0"/>
          </a:p>
        </p:txBody>
      </p:sp>
      <p:sp>
        <p:nvSpPr>
          <p:cNvPr id="22" name="Text 19"/>
          <p:cNvSpPr/>
          <p:nvPr/>
        </p:nvSpPr>
        <p:spPr>
          <a:xfrm>
            <a:off x="640080" y="4343400"/>
            <a:ext cx="1097280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In your own voice, on the phone or face to face. The written follow-up comes after the call, and it comes from you.</a:t>
            </a:r>
            <a:endParaRPr lang="en-US" sz="2000" dirty="0"/>
          </a:p>
        </p:txBody>
      </p:sp>
      <p:sp>
        <p:nvSpPr>
          <p:cNvPr id="23" name="Text 20"/>
          <p:cNvSpPr/>
          <p:nvPr/>
        </p:nvSpPr>
        <p:spPr>
          <a:xfrm>
            <a:off x="640080" y="5120640"/>
            <a:ext cx="10972800" cy="54864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This is older than AI. What changed is that the cost of drafting dropped, so the temptation to type instead of call went up.</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privacy rule, unchanged: the situation goes in the tool, never the child.</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1’S ONE HARD RULE, IN TODAY’S CLOTHES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situation goes in. The child never does.</a:t>
            </a:r>
            <a:endParaRPr lang="en-US" sz="2800" dirty="0"/>
          </a:p>
        </p:txBody>
      </p:sp>
      <p:sp>
        <p:nvSpPr>
          <p:cNvPr id="14" name="Shape 11"/>
          <p:cNvSpPr/>
          <p:nvPr/>
        </p:nvSpPr>
        <p:spPr>
          <a:xfrm>
            <a:off x="640080" y="1554480"/>
            <a:ext cx="10972800" cy="914400"/>
          </a:xfrm>
          <a:prstGeom prst="roundRect">
            <a:avLst>
              <a:gd name="adj" fmla="val 9000"/>
            </a:avLst>
          </a:prstGeom>
          <a:solidFill>
            <a:srgbClr val="FBEFED"/>
          </a:solidFill>
          <a:ln w="12700">
            <a:solidFill>
              <a:srgbClr val="FBEFED"/>
            </a:solidFill>
            <a:prstDash val="solid"/>
          </a:ln>
        </p:spPr>
      </p:sp>
      <p:sp>
        <p:nvSpPr>
          <p:cNvPr id="15" name="Text 12"/>
          <p:cNvSpPr/>
          <p:nvPr/>
        </p:nvSpPr>
        <p:spPr>
          <a:xfrm>
            <a:off x="868680" y="1554480"/>
            <a:ext cx="457200" cy="914400"/>
          </a:xfrm>
          <a:prstGeom prst="rect">
            <a:avLst/>
          </a:prstGeom>
          <a:noFill/>
          <a:ln/>
        </p:spPr>
        <p:txBody>
          <a:bodyPr wrap="square" lIns="0" tIns="0" rIns="0" bIns="0" rtlCol="0" anchor="ctr"/>
          <a:lstStyle/>
          <a:p>
            <a:pPr algn="ctr" indent="0" marL="0">
              <a:buNone/>
            </a:pPr>
            <a:r>
              <a:rPr lang="en-US" sz="2200" b="1" dirty="0">
                <a:solidFill>
                  <a:srgbClr val="B4453A"/>
                </a:solidFill>
                <a:latin typeface="Inter" pitchFamily="34" charset="0"/>
                <a:ea typeface="Inter" pitchFamily="34" charset="-122"/>
                <a:cs typeface="Inter" pitchFamily="34" charset="-120"/>
              </a:rPr>
              <a:t>✕</a:t>
            </a:r>
            <a:endParaRPr lang="en-US" sz="2200" dirty="0"/>
          </a:p>
        </p:txBody>
      </p:sp>
      <p:sp>
        <p:nvSpPr>
          <p:cNvPr id="16" name="Text 13"/>
          <p:cNvSpPr/>
          <p:nvPr/>
        </p:nvSpPr>
        <p:spPr>
          <a:xfrm>
            <a:off x="1463040" y="1645920"/>
            <a:ext cx="6035040" cy="384048"/>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Pasting a parent’s email in to get help replying</a:t>
            </a:r>
            <a:endParaRPr lang="en-US" sz="1650" dirty="0"/>
          </a:p>
        </p:txBody>
      </p:sp>
      <p:sp>
        <p:nvSpPr>
          <p:cNvPr id="17" name="Text 14"/>
          <p:cNvSpPr/>
          <p:nvPr/>
        </p:nvSpPr>
        <p:spPr>
          <a:xfrm>
            <a:off x="1463040" y="2029968"/>
            <a:ext cx="9784080" cy="347472"/>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That email is full of identity: names, schedule, history.</a:t>
            </a:r>
            <a:endParaRPr lang="en-US" sz="1350" dirty="0"/>
          </a:p>
        </p:txBody>
      </p:sp>
      <p:sp>
        <p:nvSpPr>
          <p:cNvPr id="18" name="Shape 15"/>
          <p:cNvSpPr/>
          <p:nvPr/>
        </p:nvSpPr>
        <p:spPr>
          <a:xfrm>
            <a:off x="640080" y="2587752"/>
            <a:ext cx="10972800" cy="914400"/>
          </a:xfrm>
          <a:prstGeom prst="roundRect">
            <a:avLst>
              <a:gd name="adj" fmla="val 9000"/>
            </a:avLst>
          </a:prstGeom>
          <a:solidFill>
            <a:srgbClr val="EAF5F3"/>
          </a:solidFill>
          <a:ln w="12700">
            <a:solidFill>
              <a:srgbClr val="EAF5F3"/>
            </a:solidFill>
            <a:prstDash val="solid"/>
          </a:ln>
        </p:spPr>
      </p:sp>
      <p:sp>
        <p:nvSpPr>
          <p:cNvPr id="19" name="Text 16"/>
          <p:cNvSpPr/>
          <p:nvPr/>
        </p:nvSpPr>
        <p:spPr>
          <a:xfrm>
            <a:off x="868680" y="2587752"/>
            <a:ext cx="457200" cy="914400"/>
          </a:xfrm>
          <a:prstGeom prst="rect">
            <a:avLst/>
          </a:prstGeom>
          <a:noFill/>
          <a:ln/>
        </p:spPr>
        <p:txBody>
          <a:bodyPr wrap="square" lIns="0" tIns="0" rIns="0" bIns="0" rtlCol="0" anchor="ctr"/>
          <a:lstStyle/>
          <a:p>
            <a:pPr algn="ctr" indent="0" marL="0">
              <a:buNone/>
            </a:pPr>
            <a:r>
              <a:rPr lang="en-US" sz="2200" b="1" dirty="0">
                <a:solidFill>
                  <a:srgbClr val="2E7D5B"/>
                </a:solidFill>
                <a:latin typeface="Inter" pitchFamily="34" charset="0"/>
                <a:ea typeface="Inter" pitchFamily="34" charset="-122"/>
                <a:cs typeface="Inter" pitchFamily="34" charset="-120"/>
              </a:rPr>
              <a:t>✓</a:t>
            </a:r>
            <a:endParaRPr lang="en-US" sz="2200" dirty="0"/>
          </a:p>
        </p:txBody>
      </p:sp>
      <p:sp>
        <p:nvSpPr>
          <p:cNvPr id="20" name="Text 17"/>
          <p:cNvSpPr/>
          <p:nvPr/>
        </p:nvSpPr>
        <p:spPr>
          <a:xfrm>
            <a:off x="1463040" y="2679192"/>
            <a:ext cx="6035040" cy="384048"/>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Describing it: “a family upset about a grade”</a:t>
            </a:r>
            <a:endParaRPr lang="en-US" sz="1650" dirty="0"/>
          </a:p>
        </p:txBody>
      </p:sp>
      <p:sp>
        <p:nvSpPr>
          <p:cNvPr id="21" name="Text 18"/>
          <p:cNvSpPr/>
          <p:nvPr/>
        </p:nvSpPr>
        <p:spPr>
          <a:xfrm>
            <a:off x="1463040" y="3063240"/>
            <a:ext cx="9784080" cy="347472"/>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The draft comes back generic, which is exactly right.</a:t>
            </a:r>
            <a:endParaRPr lang="en-US" sz="1350" dirty="0"/>
          </a:p>
        </p:txBody>
      </p:sp>
      <p:sp>
        <p:nvSpPr>
          <p:cNvPr id="22" name="Shape 19"/>
          <p:cNvSpPr/>
          <p:nvPr/>
        </p:nvSpPr>
        <p:spPr>
          <a:xfrm>
            <a:off x="640080" y="3621024"/>
            <a:ext cx="10972800" cy="914400"/>
          </a:xfrm>
          <a:prstGeom prst="roundRect">
            <a:avLst>
              <a:gd name="adj" fmla="val 9000"/>
            </a:avLst>
          </a:prstGeom>
          <a:solidFill>
            <a:srgbClr val="FBEFED"/>
          </a:solidFill>
          <a:ln w="12700">
            <a:solidFill>
              <a:srgbClr val="FBEFED"/>
            </a:solidFill>
            <a:prstDash val="solid"/>
          </a:ln>
        </p:spPr>
      </p:sp>
      <p:sp>
        <p:nvSpPr>
          <p:cNvPr id="23" name="Text 20"/>
          <p:cNvSpPr/>
          <p:nvPr/>
        </p:nvSpPr>
        <p:spPr>
          <a:xfrm>
            <a:off x="868680" y="3621024"/>
            <a:ext cx="457200" cy="914400"/>
          </a:xfrm>
          <a:prstGeom prst="rect">
            <a:avLst/>
          </a:prstGeom>
          <a:noFill/>
          <a:ln/>
        </p:spPr>
        <p:txBody>
          <a:bodyPr wrap="square" lIns="0" tIns="0" rIns="0" bIns="0" rtlCol="0" anchor="ctr"/>
          <a:lstStyle/>
          <a:p>
            <a:pPr algn="ctr" indent="0" marL="0">
              <a:buNone/>
            </a:pPr>
            <a:r>
              <a:rPr lang="en-US" sz="2200" b="1" dirty="0">
                <a:solidFill>
                  <a:srgbClr val="B4453A"/>
                </a:solidFill>
                <a:latin typeface="Inter" pitchFamily="34" charset="0"/>
                <a:ea typeface="Inter" pitchFamily="34" charset="-122"/>
                <a:cs typeface="Inter" pitchFamily="34" charset="-120"/>
              </a:rPr>
              <a:t>✕</a:t>
            </a:r>
            <a:endParaRPr lang="en-US" sz="2200" dirty="0"/>
          </a:p>
        </p:txBody>
      </p:sp>
      <p:sp>
        <p:nvSpPr>
          <p:cNvPr id="24" name="Text 21"/>
          <p:cNvSpPr/>
          <p:nvPr/>
        </p:nvSpPr>
        <p:spPr>
          <a:xfrm>
            <a:off x="1463040" y="3712464"/>
            <a:ext cx="6035040" cy="384048"/>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Student names, family names, or ID numbers</a:t>
            </a:r>
            <a:endParaRPr lang="en-US" sz="1650" dirty="0"/>
          </a:p>
        </p:txBody>
      </p:sp>
      <p:sp>
        <p:nvSpPr>
          <p:cNvPr id="25" name="Text 22"/>
          <p:cNvSpPr/>
          <p:nvPr/>
        </p:nvSpPr>
        <p:spPr>
          <a:xfrm>
            <a:off x="1463040" y="4096512"/>
            <a:ext cx="9784080" cy="347472"/>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Public tools are not a place to put a child’s record.</a:t>
            </a:r>
            <a:endParaRPr lang="en-US" sz="1350" dirty="0"/>
          </a:p>
        </p:txBody>
      </p:sp>
      <p:sp>
        <p:nvSpPr>
          <p:cNvPr id="26" name="Shape 23"/>
          <p:cNvSpPr/>
          <p:nvPr/>
        </p:nvSpPr>
        <p:spPr>
          <a:xfrm>
            <a:off x="640080" y="4654296"/>
            <a:ext cx="10972800" cy="914400"/>
          </a:xfrm>
          <a:prstGeom prst="roundRect">
            <a:avLst>
              <a:gd name="adj" fmla="val 9000"/>
            </a:avLst>
          </a:prstGeom>
          <a:solidFill>
            <a:srgbClr val="EAF5F3"/>
          </a:solidFill>
          <a:ln w="12700">
            <a:solidFill>
              <a:srgbClr val="EAF5F3"/>
            </a:solidFill>
            <a:prstDash val="solid"/>
          </a:ln>
        </p:spPr>
      </p:sp>
      <p:sp>
        <p:nvSpPr>
          <p:cNvPr id="27" name="Text 24"/>
          <p:cNvSpPr/>
          <p:nvPr/>
        </p:nvSpPr>
        <p:spPr>
          <a:xfrm>
            <a:off x="868680" y="4654296"/>
            <a:ext cx="457200" cy="914400"/>
          </a:xfrm>
          <a:prstGeom prst="rect">
            <a:avLst/>
          </a:prstGeom>
          <a:noFill/>
          <a:ln/>
        </p:spPr>
        <p:txBody>
          <a:bodyPr wrap="square" lIns="0" tIns="0" rIns="0" bIns="0" rtlCol="0" anchor="ctr"/>
          <a:lstStyle/>
          <a:p>
            <a:pPr algn="ctr" indent="0" marL="0">
              <a:buNone/>
            </a:pPr>
            <a:r>
              <a:rPr lang="en-US" sz="2200" b="1" dirty="0">
                <a:solidFill>
                  <a:srgbClr val="2E7D5B"/>
                </a:solidFill>
                <a:latin typeface="Inter" pitchFamily="34" charset="0"/>
                <a:ea typeface="Inter" pitchFamily="34" charset="-122"/>
                <a:cs typeface="Inter" pitchFamily="34" charset="-120"/>
              </a:rPr>
              <a:t>✓</a:t>
            </a:r>
            <a:endParaRPr lang="en-US" sz="2200" dirty="0"/>
          </a:p>
        </p:txBody>
      </p:sp>
      <p:sp>
        <p:nvSpPr>
          <p:cNvPr id="28" name="Text 25"/>
          <p:cNvSpPr/>
          <p:nvPr/>
        </p:nvSpPr>
        <p:spPr>
          <a:xfrm>
            <a:off x="1463040" y="4745736"/>
            <a:ext cx="6035040" cy="384048"/>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Every specific added by you, in your own inbox</a:t>
            </a:r>
            <a:endParaRPr lang="en-US" sz="1650" dirty="0"/>
          </a:p>
        </p:txBody>
      </p:sp>
      <p:sp>
        <p:nvSpPr>
          <p:cNvPr id="29" name="Text 26"/>
          <p:cNvSpPr/>
          <p:nvPr/>
        </p:nvSpPr>
        <p:spPr>
          <a:xfrm>
            <a:off x="1463040" y="5129784"/>
            <a:ext cx="9784080" cy="347472"/>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Where the names belong, and where you can see them.</a:t>
            </a:r>
            <a:endParaRPr lang="en-US" sz="1350" dirty="0"/>
          </a:p>
        </p:txBody>
      </p:sp>
      <p:sp>
        <p:nvSpPr>
          <p:cNvPr id="30" name="Text 27"/>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gets the shape. You keep the people.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Communication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C9D4DE"/>
                </a:solidFill>
                <a:latin typeface="Inter" pitchFamily="34" charset="0"/>
                <a:ea typeface="Inter" pitchFamily="34" charset="-122"/>
                <a:cs typeface="Inter" pitchFamily="34" charset="-120"/>
              </a:rPr>
              <a:t>Her lab artifact: Friday, 3:00, ten minutes, four families.</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 · PROTECTED</a:t>
            </a:r>
            <a:endParaRPr lang="en-US" sz="1200" dirty="0"/>
          </a:p>
        </p:txBody>
      </p:sp>
      <p:sp>
        <p:nvSpPr>
          <p:cNvPr id="13" name="Text 10"/>
          <p:cNvSpPr/>
          <p:nvPr/>
        </p:nvSpPr>
        <p:spPr>
          <a:xfrm>
            <a:off x="640080" y="1188720"/>
            <a:ext cx="10972800" cy="86868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Lab: your Friday ten minutes.</a:t>
            </a:r>
            <a:endParaRPr lang="en-US" sz="3800" dirty="0"/>
          </a:p>
        </p:txBody>
      </p:sp>
      <p:sp>
        <p:nvSpPr>
          <p:cNvPr id="14" name="Text 11"/>
          <p:cNvSpPr/>
          <p:nvPr/>
        </p:nvSpPr>
        <p:spPr>
          <a:xfrm>
            <a:off x="640080" y="2148840"/>
            <a:ext cx="10698480" cy="868680"/>
          </a:xfrm>
          <a:prstGeom prst="rect">
            <a:avLst/>
          </a:prstGeom>
          <a:noFill/>
          <a:ln/>
        </p:spPr>
        <p:txBody>
          <a:bodyPr wrap="square" lIns="0" tIns="0" rIns="0" bIns="0" rtlCol="0" anchor="t"/>
          <a:lstStyle/>
          <a:p>
            <a:pPr indent="0" marL="0">
              <a:buNone/>
            </a:pPr>
            <a:r>
              <a:rPr lang="en-US" sz="1900" dirty="0">
                <a:solidFill>
                  <a:srgbClr val="C9D4DE"/>
                </a:solidFill>
                <a:latin typeface="Inter" pitchFamily="34" charset="0"/>
                <a:ea typeface="Inter" pitchFamily="34" charset="-122"/>
                <a:cs typeface="Inter" pitchFamily="34" charset="-120"/>
              </a:rPr>
              <a:t>Four steps. You leave holding four notes ready to send and one hard message drafted. Ms. Rivera runs the same ten minutes on screen beside you, start to finish.</a:t>
            </a:r>
            <a:endParaRPr lang="en-US" sz="1900" dirty="0"/>
          </a:p>
        </p:txBody>
      </p:sp>
      <p:sp>
        <p:nvSpPr>
          <p:cNvPr id="15" name="Shape 12"/>
          <p:cNvSpPr/>
          <p:nvPr/>
        </p:nvSpPr>
        <p:spPr>
          <a:xfrm>
            <a:off x="822960" y="33375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3375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291840"/>
            <a:ext cx="9784080" cy="658368"/>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or family names into the tool. Situations only.</a:t>
            </a:r>
            <a:endParaRPr lang="en-US" sz="1900" dirty="0"/>
          </a:p>
        </p:txBody>
      </p:sp>
      <p:sp>
        <p:nvSpPr>
          <p:cNvPr id="18" name="Shape 15"/>
          <p:cNvSpPr/>
          <p:nvPr/>
        </p:nvSpPr>
        <p:spPr>
          <a:xfrm>
            <a:off x="822960" y="4142232"/>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14223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096512"/>
            <a:ext cx="9784080" cy="658368"/>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The specific detail is written by you, not by the tool. Always.</a:t>
            </a:r>
            <a:endParaRPr lang="en-US" sz="1900" dirty="0"/>
          </a:p>
        </p:txBody>
      </p:sp>
      <p:sp>
        <p:nvSpPr>
          <p:cNvPr id="21" name="Shape 18"/>
          <p:cNvSpPr/>
          <p:nvPr/>
        </p:nvSpPr>
        <p:spPr>
          <a:xfrm>
            <a:off x="822960" y="4946904"/>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901184"/>
            <a:ext cx="9784080" cy="658368"/>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The hard message in step 4 is yours from the first word.</a:t>
            </a:r>
            <a:endParaRPr lang="en-US" sz="1900" dirty="0"/>
          </a:p>
        </p:txBody>
      </p:sp>
      <p:sp>
        <p:nvSpPr>
          <p:cNvPr id="24" name="Text 21"/>
          <p:cNvSpPr/>
          <p:nvPr/>
        </p:nvSpPr>
        <p:spPr>
          <a:xfrm>
            <a:off x="640080" y="5806440"/>
            <a:ext cx="10972800" cy="365760"/>
          </a:xfrm>
          <a:prstGeom prst="rect">
            <a:avLst/>
          </a:prstGeom>
          <a:noFill/>
          <a:ln/>
        </p:spPr>
        <p:txBody>
          <a:bodyPr wrap="square" lIns="0" tIns="0" rIns="0" bIns="0" rtlCol="0" anchor="ctr"/>
          <a:lstStyle/>
          <a:p>
            <a:pPr indent="0" marL="0">
              <a:buNone/>
            </a:pPr>
            <a:r>
              <a:rPr lang="en-US" sz="1250" dirty="0">
                <a:solidFill>
                  <a:srgbClr val="9FB2C2"/>
                </a:solidFill>
                <a:latin typeface="Inter" pitchFamily="34" charset="0"/>
                <a:ea typeface="Inter" pitchFamily="34" charset="-122"/>
                <a:cs typeface="Inter" pitchFamily="34" charset="-120"/>
              </a:rPr>
              <a:t>Step 1 · four families (3 min)   ·   Step 2 · the shape (4 min)   ·   Step 3 · the true detail (6 min)   ·   Step 4 · the hard message (5 min)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Friday list: Maya, Devon, Priya, Jalen. Three unheard from since October conferences.</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Name four families</a:t>
            </a:r>
            <a:endParaRPr lang="en-US" sz="3200" dirty="0"/>
          </a:p>
        </p:txBody>
      </p:sp>
      <p:sp>
        <p:nvSpPr>
          <p:cNvPr id="14" name="Text 11"/>
          <p:cNvSpPr/>
          <p:nvPr/>
        </p:nvSpPr>
        <p:spPr>
          <a:xfrm>
            <a:off x="640080" y="1600200"/>
            <a:ext cx="5394960" cy="36576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Four families who have not heard from you when nothing was wrong</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Initials on your handout. No full names on paper.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Put the student from the silent audit on the list.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That is the one you will be tempted to leave off.</a:t>
            </a:r>
            <a:endParaRPr lang="en-US" sz="1700" dirty="0"/>
          </a:p>
        </p:txBody>
      </p:sp>
      <p:sp>
        <p:nvSpPr>
          <p:cNvPr id="15" name="Shape 12"/>
          <p:cNvSpPr/>
          <p:nvPr/>
        </p:nvSpPr>
        <p:spPr>
          <a:xfrm>
            <a:off x="6263640" y="1554480"/>
            <a:ext cx="5349240" cy="3794760"/>
          </a:xfrm>
          <a:prstGeom prst="roundRect">
            <a:avLst>
              <a:gd name="adj" fmla="val 2169"/>
            </a:avLst>
          </a:prstGeom>
          <a:solidFill>
            <a:srgbClr val="EAF5F3"/>
          </a:solidFill>
          <a:ln w="12700">
            <a:solidFill>
              <a:srgbClr val="EAF5F3"/>
            </a:solidFill>
            <a:prstDash val="solid"/>
          </a:ln>
        </p:spPr>
      </p:sp>
      <p:sp>
        <p:nvSpPr>
          <p:cNvPr id="16" name="Text 13"/>
          <p:cNvSpPr/>
          <p:nvPr/>
        </p:nvSpPr>
        <p:spPr>
          <a:xfrm>
            <a:off x="6537960" y="1719072"/>
            <a:ext cx="480060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FRIDAY · STEP 1</a:t>
            </a:r>
            <a:endParaRPr lang="en-US" sz="1250" dirty="0"/>
          </a:p>
        </p:txBody>
      </p:sp>
      <p:sp>
        <p:nvSpPr>
          <p:cNvPr id="17" name="Text 14"/>
          <p:cNvSpPr/>
          <p:nvPr/>
        </p:nvSpPr>
        <p:spPr>
          <a:xfrm>
            <a:off x="6537960" y="2121408"/>
            <a:ext cx="1188720" cy="54864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Maya</a:t>
            </a:r>
            <a:endParaRPr lang="en-US" sz="1700" dirty="0"/>
          </a:p>
        </p:txBody>
      </p:sp>
      <p:sp>
        <p:nvSpPr>
          <p:cNvPr id="18" name="Text 15"/>
          <p:cNvSpPr/>
          <p:nvPr/>
        </p:nvSpPr>
        <p:spPr>
          <a:xfrm>
            <a:off x="7680960" y="2121408"/>
            <a:ext cx="3703320" cy="54864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Nothing since October conferences</a:t>
            </a:r>
            <a:endParaRPr lang="en-US" sz="1350" dirty="0"/>
          </a:p>
        </p:txBody>
      </p:sp>
      <p:sp>
        <p:nvSpPr>
          <p:cNvPr id="19" name="Text 16"/>
          <p:cNvSpPr/>
          <p:nvPr/>
        </p:nvSpPr>
        <p:spPr>
          <a:xfrm>
            <a:off x="6537960" y="2779776"/>
            <a:ext cx="1188720" cy="54864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Devon</a:t>
            </a:r>
            <a:endParaRPr lang="en-US" sz="1700" dirty="0"/>
          </a:p>
        </p:txBody>
      </p:sp>
      <p:sp>
        <p:nvSpPr>
          <p:cNvPr id="20" name="Text 17"/>
          <p:cNvSpPr/>
          <p:nvPr/>
        </p:nvSpPr>
        <p:spPr>
          <a:xfrm>
            <a:off x="7680960" y="2779776"/>
            <a:ext cx="3703320" cy="54864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Nothing since October conferences</a:t>
            </a:r>
            <a:endParaRPr lang="en-US" sz="1350" dirty="0"/>
          </a:p>
        </p:txBody>
      </p:sp>
      <p:sp>
        <p:nvSpPr>
          <p:cNvPr id="21" name="Text 18"/>
          <p:cNvSpPr/>
          <p:nvPr/>
        </p:nvSpPr>
        <p:spPr>
          <a:xfrm>
            <a:off x="6537960" y="3438144"/>
            <a:ext cx="1188720" cy="54864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Priya</a:t>
            </a:r>
            <a:endParaRPr lang="en-US" sz="1700" dirty="0"/>
          </a:p>
        </p:txBody>
      </p:sp>
      <p:sp>
        <p:nvSpPr>
          <p:cNvPr id="22" name="Text 19"/>
          <p:cNvSpPr/>
          <p:nvPr/>
        </p:nvSpPr>
        <p:spPr>
          <a:xfrm>
            <a:off x="7680960" y="3438144"/>
            <a:ext cx="3703320" cy="54864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Nothing since October conferences</a:t>
            </a:r>
            <a:endParaRPr lang="en-US" sz="1350" dirty="0"/>
          </a:p>
        </p:txBody>
      </p:sp>
      <p:sp>
        <p:nvSpPr>
          <p:cNvPr id="23" name="Text 20"/>
          <p:cNvSpPr/>
          <p:nvPr/>
        </p:nvSpPr>
        <p:spPr>
          <a:xfrm>
            <a:off x="6537960" y="4096512"/>
            <a:ext cx="1188720" cy="54864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Jalen</a:t>
            </a:r>
            <a:endParaRPr lang="en-US" sz="1700" dirty="0"/>
          </a:p>
        </p:txBody>
      </p:sp>
      <p:sp>
        <p:nvSpPr>
          <p:cNvPr id="24" name="Text 21"/>
          <p:cNvSpPr/>
          <p:nvPr/>
        </p:nvSpPr>
        <p:spPr>
          <a:xfrm>
            <a:off x="7680960" y="4096512"/>
            <a:ext cx="3703320" cy="54864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Nine days ago: a phone call about a shove</a:t>
            </a:r>
            <a:endParaRPr lang="en-US" sz="1350" dirty="0"/>
          </a:p>
        </p:txBody>
      </p:sp>
      <p:sp>
        <p:nvSpPr>
          <p:cNvPr id="25" name="Text 22"/>
          <p:cNvSpPr/>
          <p:nvPr/>
        </p:nvSpPr>
        <p:spPr>
          <a:xfrm>
            <a:off x="6537960" y="4754880"/>
            <a:ext cx="4800600" cy="50292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silent since October, and one whose family has only ever heard bad news.</a:t>
            </a:r>
            <a:endParaRPr lang="en-US" sz="1300" dirty="0"/>
          </a:p>
        </p:txBody>
      </p:sp>
      <p:sp>
        <p:nvSpPr>
          <p:cNvPr id="26" name="Text 23"/>
          <p:cNvSpPr/>
          <p:nvPr/>
        </p:nvSpPr>
        <p:spPr>
          <a:xfrm>
            <a:off x="640080" y="5623560"/>
            <a:ext cx="10972800" cy="365760"/>
          </a:xfrm>
          <a:prstGeom prst="rect">
            <a:avLst/>
          </a:prstGeom>
          <a:noFill/>
          <a:ln/>
        </p:spPr>
        <p:txBody>
          <a:bodyPr wrap="square" lIns="0" tIns="0" rIns="0" bIns="0" rtlCol="0" anchor="ctr"/>
          <a:lstStyle/>
          <a:p>
            <a:pPr algn="ctr" indent="0" marL="0">
              <a:buNone/>
            </a:pPr>
            <a:r>
              <a:rPr lang="en-US" sz="1200" i="1" dirty="0">
                <a:solidFill>
                  <a:srgbClr val="5B6B7A"/>
                </a:solidFill>
                <a:latin typeface="Inter" pitchFamily="34" charset="0"/>
                <a:ea typeface="Inter" pitchFamily="34" charset="-122"/>
                <a:cs typeface="Inter" pitchFamily="34" charset="-120"/>
              </a:rPr>
              <a:t>Every family and student name in this kit is invented. No real student appears anywhere.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Friday prompt: four short notes, and a blank line she fills herself.</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shape</a:t>
            </a:r>
            <a:endParaRPr lang="en-US" sz="3200" dirty="0"/>
          </a:p>
        </p:txBody>
      </p:sp>
      <p:sp>
        <p:nvSpPr>
          <p:cNvPr id="14" name="Text 11"/>
          <p:cNvSpPr/>
          <p:nvPr/>
        </p:nvSpPr>
        <p:spPr>
          <a:xfrm>
            <a:off x="640080" y="1600200"/>
            <a:ext cx="5394960" cy="36576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prompt is on your handout, copy-ready. Do not invent it.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Role, task, context, format: the Kit 2 formula, unchanged.</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Ask for four short notes with nothing wrong in them.</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And ask for a blank line in each, for the part you will write.</a:t>
            </a:r>
            <a:endParaRPr lang="en-US" sz="1700" dirty="0"/>
          </a:p>
        </p:txBody>
      </p:sp>
      <p:sp>
        <p:nvSpPr>
          <p:cNvPr id="15" name="Shape 12"/>
          <p:cNvSpPr/>
          <p:nvPr/>
        </p:nvSpPr>
        <p:spPr>
          <a:xfrm>
            <a:off x="6263640" y="1554480"/>
            <a:ext cx="5349240" cy="3794760"/>
          </a:xfrm>
          <a:prstGeom prst="roundRect">
            <a:avLst>
              <a:gd name="adj" fmla="val 2169"/>
            </a:avLst>
          </a:prstGeom>
          <a:solidFill>
            <a:srgbClr val="EAF5F3"/>
          </a:solidFill>
          <a:ln w="12700">
            <a:solidFill>
              <a:srgbClr val="EAF5F3"/>
            </a:solidFill>
            <a:prstDash val="solid"/>
          </a:ln>
        </p:spPr>
      </p:sp>
      <p:sp>
        <p:nvSpPr>
          <p:cNvPr id="16" name="Text 13"/>
          <p:cNvSpPr/>
          <p:nvPr/>
        </p:nvSpPr>
        <p:spPr>
          <a:xfrm>
            <a:off x="6537960" y="1719072"/>
            <a:ext cx="480060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FRIDAY · STEP 2</a:t>
            </a:r>
            <a:endParaRPr lang="en-US" sz="1250" dirty="0"/>
          </a:p>
        </p:txBody>
      </p:sp>
      <p:sp>
        <p:nvSpPr>
          <p:cNvPr id="17" name="Text 14"/>
          <p:cNvSpPr/>
          <p:nvPr/>
        </p:nvSpPr>
        <p:spPr>
          <a:xfrm>
            <a:off x="6537960" y="2121408"/>
            <a:ext cx="4800600" cy="3108960"/>
          </a:xfrm>
          <a:prstGeom prst="rect">
            <a:avLst/>
          </a:prstGeom>
          <a:noFill/>
          <a:ln/>
        </p:spPr>
        <p:txBody>
          <a:bodyPr wrap="square" lIns="0" tIns="0" rIns="0" bIns="0" rtlCol="0" anchor="t"/>
          <a:lstStyle/>
          <a:p>
            <a:pPr indent="0" marL="0">
              <a:lnSpc>
                <a:spcPct val="118000"/>
              </a:lnSpc>
              <a:buNone/>
            </a:pPr>
            <a:r>
              <a:rPr lang="en-US" sz="1500" b="1" dirty="0">
                <a:solidFill>
                  <a:srgbClr val="13293D"/>
                </a:solidFill>
                <a:latin typeface="Inter" pitchFamily="34" charset="0"/>
                <a:ea typeface="Inter" pitchFamily="34" charset="-122"/>
                <a:cs typeface="Inter" pitchFamily="34" charset="-120"/>
              </a:rPr>
              <a:t>What she asks for: </a:t>
            </a:r>
            <a:pPr indent="0" marL="0">
              <a:lnSpc>
                <a:spcPct val="118000"/>
              </a:lnSpc>
              <a:buNone/>
            </a:pPr>
            <a:r>
              <a:rPr lang="en-US" sz="1500" dirty="0">
                <a:solidFill>
                  <a:srgbClr val="1B1F24"/>
                </a:solidFill>
                <a:latin typeface="Inter" pitchFamily="34" charset="0"/>
                <a:ea typeface="Inter" pitchFamily="34" charset="-122"/>
                <a:cs typeface="Inter" pitchFamily="34" charset="-120"/>
              </a:rPr>
              <a:t>four notes, under 70 words each, plain language, no exclamation marks, no praise adjectives.
</a:t>
            </a:r>
            <a:pPr indent="0" marL="0">
              <a:lnSpc>
                <a:spcPct val="118000"/>
              </a:lnSpc>
              <a:buNone/>
            </a:pPr>
            <a:r>
              <a:rPr lang="en-US" sz="1500" b="1" dirty="0">
                <a:solidFill>
                  <a:srgbClr val="13293D"/>
                </a:solidFill>
                <a:latin typeface="Inter" pitchFamily="34" charset="0"/>
                <a:ea typeface="Inter" pitchFamily="34" charset="-122"/>
                <a:cs typeface="Inter" pitchFamily="34" charset="-120"/>
              </a:rPr>
              <a:t>What she tells it to leave out: </a:t>
            </a:r>
            <a:pPr indent="0" marL="0">
              <a:lnSpc>
                <a:spcPct val="118000"/>
              </a:lnSpc>
              <a:buNone/>
            </a:pPr>
            <a:r>
              <a:rPr lang="en-US" sz="1500" dirty="0">
                <a:solidFill>
                  <a:srgbClr val="1B1F24"/>
                </a:solidFill>
                <a:latin typeface="Inter" pitchFamily="34" charset="0"/>
                <a:ea typeface="Inter" pitchFamily="34" charset="-122"/>
                <a:cs typeface="Inter" pitchFamily="34" charset="-120"/>
              </a:rPr>
              <a:t>anything about the students. One blank line per note, for the true thing she saw this week.
</a:t>
            </a:r>
            <a:pPr indent="0" marL="0">
              <a:lnSpc>
                <a:spcPct val="118000"/>
              </a:lnSpc>
              <a:buNone/>
            </a:pPr>
            <a:r>
              <a:rPr lang="en-US" sz="1500" i="1" dirty="0">
                <a:solidFill>
                  <a:srgbClr val="5B6B7A"/>
                </a:solidFill>
                <a:latin typeface="Inter" pitchFamily="34" charset="0"/>
                <a:ea typeface="Inter" pitchFamily="34" charset="-122"/>
                <a:cs typeface="Inter" pitchFamily="34" charset="-120"/>
              </a:rPr>
              <a:t>“I am asking the tool to leave a hole in its own work. That is the design, not a workaround.”</a:t>
            </a:r>
            <a:endParaRPr lang="en-US" sz="1500" dirty="0"/>
          </a:p>
        </p:txBody>
      </p:sp>
      <p:sp>
        <p:nvSpPr>
          <p:cNvPr id="18" name="Text 15"/>
          <p:cNvSpPr/>
          <p:nvPr/>
        </p:nvSpPr>
        <p:spPr>
          <a:xfrm>
            <a:off x="640080" y="562356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Four minutes. Her actual prompt is on the next slide, word for word.</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four nice notes home to parents.”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teacher’s writing assistant.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Write four short positive notes home, one per student, three or four sentences each.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Nothing is wrong. These are 6th graders, and these families mostly hear from school only when there is a problem. Do not invent anything about the students.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Under 70 words each. Plain language, no exclamation marks, no praise adjectives. Leave one blank line in each note where I will write the specific true thing I saw this week. Label them Note 1 to Note 4.”</a:t>
            </a:r>
            <a:endParaRPr lang="en-US" sz="155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19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ITS REPLY, UNEDITED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notes, word for word</a:t>
            </a:r>
            <a:endParaRPr lang="en-US" sz="3200" dirty="0"/>
          </a:p>
        </p:txBody>
      </p:sp>
      <p:sp>
        <p:nvSpPr>
          <p:cNvPr id="7" name="Shape 4"/>
          <p:cNvSpPr/>
          <p:nvPr/>
        </p:nvSpPr>
        <p:spPr>
          <a:xfrm>
            <a:off x="640080" y="1170432"/>
            <a:ext cx="10972800" cy="4206240"/>
          </a:xfrm>
          <a:prstGeom prst="roundRect">
            <a:avLst>
              <a:gd name="adj" fmla="val 2174"/>
            </a:avLst>
          </a:prstGeom>
          <a:solidFill>
            <a:srgbClr val="FFFFFF"/>
          </a:solidFill>
          <a:ln w="19050">
            <a:solidFill>
              <a:srgbClr val="DCE3EA"/>
            </a:solidFill>
            <a:prstDash val="solid"/>
          </a:ln>
        </p:spPr>
      </p:sp>
      <p:sp>
        <p:nvSpPr>
          <p:cNvPr id="8" name="Shape 5"/>
          <p:cNvSpPr/>
          <p:nvPr/>
        </p:nvSpPr>
        <p:spPr>
          <a:xfrm>
            <a:off x="640080" y="1170432"/>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289304"/>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289304"/>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289304"/>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170432"/>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its reply, unedited</a:t>
            </a:r>
            <a:endParaRPr lang="en-US" sz="1100" dirty="0"/>
          </a:p>
        </p:txBody>
      </p:sp>
      <p:sp>
        <p:nvSpPr>
          <p:cNvPr id="13" name="Shape 10"/>
          <p:cNvSpPr/>
          <p:nvPr/>
        </p:nvSpPr>
        <p:spPr>
          <a:xfrm>
            <a:off x="914400" y="1764792"/>
            <a:ext cx="10287000" cy="3383280"/>
          </a:xfrm>
          <a:prstGeom prst="roundRect">
            <a:avLst>
              <a:gd name="adj" fmla="val 3243"/>
            </a:avLst>
          </a:prstGeom>
          <a:solidFill>
            <a:srgbClr val="F7F5F0"/>
          </a:solidFill>
          <a:ln w="12700">
            <a:solidFill>
              <a:srgbClr val="F7F5F0"/>
            </a:solidFill>
            <a:prstDash val="solid"/>
          </a:ln>
        </p:spPr>
      </p:sp>
      <p:sp>
        <p:nvSpPr>
          <p:cNvPr id="14" name="Text 11"/>
          <p:cNvSpPr/>
          <p:nvPr/>
        </p:nvSpPr>
        <p:spPr>
          <a:xfrm>
            <a:off x="1051560" y="1874520"/>
            <a:ext cx="1280160" cy="237744"/>
          </a:xfrm>
          <a:prstGeom prst="rect">
            <a:avLst/>
          </a:prstGeom>
          <a:noFill/>
          <a:ln/>
        </p:spPr>
        <p:txBody>
          <a:bodyPr wrap="square" lIns="0" tIns="0" rIns="0" bIns="0" rtlCol="0" anchor="ctr"/>
          <a:lstStyle/>
          <a:p>
            <a:pPr indent="0" marL="0">
              <a:buNone/>
            </a:pPr>
            <a:r>
              <a:rPr lang="en-US" sz="1000" b="1" spc="120" kern="0" dirty="0">
                <a:solidFill>
                  <a:srgbClr val="2A9D8F"/>
                </a:solidFill>
                <a:latin typeface="Inter" pitchFamily="34" charset="0"/>
                <a:ea typeface="Inter" pitchFamily="34" charset="-122"/>
                <a:cs typeface="Inter" pitchFamily="34" charset="-120"/>
              </a:rPr>
              <a:t>NOTE 1</a:t>
            </a:r>
            <a:endParaRPr lang="en-US" sz="1000" dirty="0"/>
          </a:p>
        </p:txBody>
      </p:sp>
      <p:sp>
        <p:nvSpPr>
          <p:cNvPr id="15" name="Text 12"/>
          <p:cNvSpPr/>
          <p:nvPr/>
        </p:nvSpPr>
        <p:spPr>
          <a:xfrm>
            <a:off x="1051560" y="2148840"/>
            <a:ext cx="4846320" cy="1170432"/>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Hello. I wanted to send a short note with nothing wrong attached. Maya has been a positive part of our class this term. </a:t>
            </a:r>
            <a:pPr indent="0" marL="0">
              <a:lnSpc>
                <a:spcPct val="110000"/>
              </a:lnSpc>
              <a:buNone/>
            </a:pPr>
            <a:r>
              <a:rPr lang="en-US" sz="1250" b="1" dirty="0">
                <a:solidFill>
                  <a:srgbClr val="B4453A"/>
                </a:solidFill>
                <a:latin typeface="Inter" pitchFamily="34" charset="0"/>
                <a:ea typeface="Inter" pitchFamily="34" charset="-122"/>
                <a:cs typeface="Inter" pitchFamily="34" charset="-120"/>
              </a:rPr>
              <a:t>________________________________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I wanted you to hear it from me. Ms. Rivera, 6th grade science.</a:t>
            </a:r>
            <a:endParaRPr lang="en-US" sz="1250" dirty="0"/>
          </a:p>
        </p:txBody>
      </p:sp>
      <p:sp>
        <p:nvSpPr>
          <p:cNvPr id="16" name="Text 13"/>
          <p:cNvSpPr/>
          <p:nvPr/>
        </p:nvSpPr>
        <p:spPr>
          <a:xfrm>
            <a:off x="6217920" y="1874520"/>
            <a:ext cx="1280160" cy="237744"/>
          </a:xfrm>
          <a:prstGeom prst="rect">
            <a:avLst/>
          </a:prstGeom>
          <a:noFill/>
          <a:ln/>
        </p:spPr>
        <p:txBody>
          <a:bodyPr wrap="square" lIns="0" tIns="0" rIns="0" bIns="0" rtlCol="0" anchor="ctr"/>
          <a:lstStyle/>
          <a:p>
            <a:pPr indent="0" marL="0">
              <a:buNone/>
            </a:pPr>
            <a:r>
              <a:rPr lang="en-US" sz="1000" b="1" spc="120" kern="0" dirty="0">
                <a:solidFill>
                  <a:srgbClr val="2A9D8F"/>
                </a:solidFill>
                <a:latin typeface="Inter" pitchFamily="34" charset="0"/>
                <a:ea typeface="Inter" pitchFamily="34" charset="-122"/>
                <a:cs typeface="Inter" pitchFamily="34" charset="-120"/>
              </a:rPr>
              <a:t>NOTE 2</a:t>
            </a:r>
            <a:endParaRPr lang="en-US" sz="1000" dirty="0"/>
          </a:p>
        </p:txBody>
      </p:sp>
      <p:sp>
        <p:nvSpPr>
          <p:cNvPr id="17" name="Text 14"/>
          <p:cNvSpPr/>
          <p:nvPr/>
        </p:nvSpPr>
        <p:spPr>
          <a:xfrm>
            <a:off x="6217920" y="2148840"/>
            <a:ext cx="4846320" cy="1170432"/>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Hello. I wanted to send a short note with nothing wrong attached. Devon has been a positive part of our class this term. </a:t>
            </a:r>
            <a:pPr indent="0" marL="0">
              <a:lnSpc>
                <a:spcPct val="110000"/>
              </a:lnSpc>
              <a:buNone/>
            </a:pPr>
            <a:r>
              <a:rPr lang="en-US" sz="1250" b="1" dirty="0">
                <a:solidFill>
                  <a:srgbClr val="B4453A"/>
                </a:solidFill>
                <a:latin typeface="Inter" pitchFamily="34" charset="0"/>
                <a:ea typeface="Inter" pitchFamily="34" charset="-122"/>
                <a:cs typeface="Inter" pitchFamily="34" charset="-120"/>
              </a:rPr>
              <a:t>________________________________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I wanted you to hear it from me. Ms. Rivera, 6th grade science.</a:t>
            </a:r>
            <a:endParaRPr lang="en-US" sz="1250" dirty="0"/>
          </a:p>
        </p:txBody>
      </p:sp>
      <p:sp>
        <p:nvSpPr>
          <p:cNvPr id="18" name="Text 15"/>
          <p:cNvSpPr/>
          <p:nvPr/>
        </p:nvSpPr>
        <p:spPr>
          <a:xfrm>
            <a:off x="1051560" y="3474720"/>
            <a:ext cx="1280160" cy="237744"/>
          </a:xfrm>
          <a:prstGeom prst="rect">
            <a:avLst/>
          </a:prstGeom>
          <a:noFill/>
          <a:ln/>
        </p:spPr>
        <p:txBody>
          <a:bodyPr wrap="square" lIns="0" tIns="0" rIns="0" bIns="0" rtlCol="0" anchor="ctr"/>
          <a:lstStyle/>
          <a:p>
            <a:pPr indent="0" marL="0">
              <a:buNone/>
            </a:pPr>
            <a:r>
              <a:rPr lang="en-US" sz="1000" b="1" spc="120" kern="0" dirty="0">
                <a:solidFill>
                  <a:srgbClr val="2A9D8F"/>
                </a:solidFill>
                <a:latin typeface="Inter" pitchFamily="34" charset="0"/>
                <a:ea typeface="Inter" pitchFamily="34" charset="-122"/>
                <a:cs typeface="Inter" pitchFamily="34" charset="-120"/>
              </a:rPr>
              <a:t>NOTE 3</a:t>
            </a:r>
            <a:endParaRPr lang="en-US" sz="1000" dirty="0"/>
          </a:p>
        </p:txBody>
      </p:sp>
      <p:sp>
        <p:nvSpPr>
          <p:cNvPr id="19" name="Text 16"/>
          <p:cNvSpPr/>
          <p:nvPr/>
        </p:nvSpPr>
        <p:spPr>
          <a:xfrm>
            <a:off x="1051560" y="3749040"/>
            <a:ext cx="4846320" cy="1170432"/>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Hello. I wanted to send a short note with nothing wrong attached. Priya has been a positive part of our class this term. </a:t>
            </a:r>
            <a:pPr indent="0" marL="0">
              <a:lnSpc>
                <a:spcPct val="110000"/>
              </a:lnSpc>
              <a:buNone/>
            </a:pPr>
            <a:r>
              <a:rPr lang="en-US" sz="1250" b="1" dirty="0">
                <a:solidFill>
                  <a:srgbClr val="B4453A"/>
                </a:solidFill>
                <a:latin typeface="Inter" pitchFamily="34" charset="0"/>
                <a:ea typeface="Inter" pitchFamily="34" charset="-122"/>
                <a:cs typeface="Inter" pitchFamily="34" charset="-120"/>
              </a:rPr>
              <a:t>________________________________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I wanted you to hear it from me. Ms. Rivera, 6th grade science.</a:t>
            </a:r>
            <a:endParaRPr lang="en-US" sz="1250" dirty="0"/>
          </a:p>
        </p:txBody>
      </p:sp>
      <p:sp>
        <p:nvSpPr>
          <p:cNvPr id="20" name="Text 17"/>
          <p:cNvSpPr/>
          <p:nvPr/>
        </p:nvSpPr>
        <p:spPr>
          <a:xfrm>
            <a:off x="6217920" y="3474720"/>
            <a:ext cx="1280160" cy="237744"/>
          </a:xfrm>
          <a:prstGeom prst="rect">
            <a:avLst/>
          </a:prstGeom>
          <a:noFill/>
          <a:ln/>
        </p:spPr>
        <p:txBody>
          <a:bodyPr wrap="square" lIns="0" tIns="0" rIns="0" bIns="0" rtlCol="0" anchor="ctr"/>
          <a:lstStyle/>
          <a:p>
            <a:pPr indent="0" marL="0">
              <a:buNone/>
            </a:pPr>
            <a:r>
              <a:rPr lang="en-US" sz="1000" b="1" spc="120" kern="0" dirty="0">
                <a:solidFill>
                  <a:srgbClr val="2A9D8F"/>
                </a:solidFill>
                <a:latin typeface="Inter" pitchFamily="34" charset="0"/>
                <a:ea typeface="Inter" pitchFamily="34" charset="-122"/>
                <a:cs typeface="Inter" pitchFamily="34" charset="-120"/>
              </a:rPr>
              <a:t>NOTE 4</a:t>
            </a:r>
            <a:endParaRPr lang="en-US" sz="1000" dirty="0"/>
          </a:p>
        </p:txBody>
      </p:sp>
      <p:sp>
        <p:nvSpPr>
          <p:cNvPr id="21" name="Text 18"/>
          <p:cNvSpPr/>
          <p:nvPr/>
        </p:nvSpPr>
        <p:spPr>
          <a:xfrm>
            <a:off x="6217920" y="3749040"/>
            <a:ext cx="4846320" cy="1170432"/>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Hello. I wanted to send a short note with nothing wrong attached. Jalen has been a positive part of our class this term. </a:t>
            </a:r>
            <a:pPr indent="0" marL="0">
              <a:lnSpc>
                <a:spcPct val="110000"/>
              </a:lnSpc>
              <a:buNone/>
            </a:pPr>
            <a:r>
              <a:rPr lang="en-US" sz="1250" b="1" dirty="0">
                <a:solidFill>
                  <a:srgbClr val="B4453A"/>
                </a:solidFill>
                <a:latin typeface="Inter" pitchFamily="34" charset="0"/>
                <a:ea typeface="Inter" pitchFamily="34" charset="-122"/>
                <a:cs typeface="Inter" pitchFamily="34" charset="-120"/>
              </a:rPr>
              <a:t>________________________________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I wanted you to hear it from me. Ms. Rivera, 6th grade science.</a:t>
            </a:r>
            <a:endParaRPr lang="en-US" sz="1250" dirty="0"/>
          </a:p>
        </p:txBody>
      </p:sp>
      <p:sp>
        <p:nvSpPr>
          <p:cNvPr id="22" name="Text 19"/>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The same 41 words four times, with the name changed. That is not the tool failing. That is the tool doing exactly what it can do, and the blank is the part it cannot.</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Friday details: four true sentences from this week, written by her.</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 · THIS STEP IS THE SESSION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Add the one true detail</a:t>
            </a:r>
            <a:endParaRPr lang="en-US" sz="3200" dirty="0"/>
          </a:p>
        </p:txBody>
      </p:sp>
      <p:sp>
        <p:nvSpPr>
          <p:cNvPr id="14" name="Text 11"/>
          <p:cNvSpPr/>
          <p:nvPr/>
        </p:nvSpPr>
        <p:spPr>
          <a:xfrm>
            <a:off x="640080" y="1600200"/>
            <a:ext cx="5394960" cy="36576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One sentence per child, written by you, into the blank</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Not typed into the tool. Typed into the note.</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This week only. What did you see, and when?</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Then the swap test: another child’s name in it. Does it still work?</a:t>
            </a:r>
            <a:endParaRPr lang="en-US" sz="1700" dirty="0"/>
          </a:p>
        </p:txBody>
      </p:sp>
      <p:sp>
        <p:nvSpPr>
          <p:cNvPr id="15" name="Shape 12"/>
          <p:cNvSpPr/>
          <p:nvPr/>
        </p:nvSpPr>
        <p:spPr>
          <a:xfrm>
            <a:off x="6263640" y="1554480"/>
            <a:ext cx="5349240" cy="3794760"/>
          </a:xfrm>
          <a:prstGeom prst="roundRect">
            <a:avLst>
              <a:gd name="adj" fmla="val 2169"/>
            </a:avLst>
          </a:prstGeom>
          <a:solidFill>
            <a:srgbClr val="EAF5F3"/>
          </a:solidFill>
          <a:ln w="12700">
            <a:solidFill>
              <a:srgbClr val="EAF5F3"/>
            </a:solidFill>
            <a:prstDash val="solid"/>
          </a:ln>
        </p:spPr>
      </p:sp>
      <p:sp>
        <p:nvSpPr>
          <p:cNvPr id="16" name="Text 13"/>
          <p:cNvSpPr/>
          <p:nvPr/>
        </p:nvSpPr>
        <p:spPr>
          <a:xfrm>
            <a:off x="6537960" y="1719072"/>
            <a:ext cx="480060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FRIDAY · STEP 3</a:t>
            </a:r>
            <a:endParaRPr lang="en-US" sz="1250" dirty="0"/>
          </a:p>
        </p:txBody>
      </p:sp>
      <p:sp>
        <p:nvSpPr>
          <p:cNvPr id="17" name="Text 14"/>
          <p:cNvSpPr/>
          <p:nvPr/>
        </p:nvSpPr>
        <p:spPr>
          <a:xfrm>
            <a:off x="6537960" y="2121408"/>
            <a:ext cx="4800600" cy="3108960"/>
          </a:xfrm>
          <a:prstGeom prst="rect">
            <a:avLst/>
          </a:prstGeom>
          <a:noFill/>
          <a:ln/>
        </p:spPr>
        <p:txBody>
          <a:bodyPr wrap="square" lIns="0" tIns="0" rIns="0" bIns="0" rtlCol="0" anchor="t"/>
          <a:lstStyle/>
          <a:p>
            <a:pPr indent="0" marL="0">
              <a:lnSpc>
                <a:spcPct val="118000"/>
              </a:lnSpc>
              <a:buNone/>
            </a:pPr>
            <a:r>
              <a:rPr lang="en-US" sz="1500" b="1" dirty="0">
                <a:solidFill>
                  <a:srgbClr val="13293D"/>
                </a:solidFill>
                <a:latin typeface="Inter" pitchFamily="34" charset="0"/>
                <a:ea typeface="Inter" pitchFamily="34" charset="-122"/>
                <a:cs typeface="Inter" pitchFamily="34" charset="-120"/>
              </a:rPr>
              <a:t>She fills four blanks by hand. </a:t>
            </a:r>
            <a:pPr indent="0" marL="0">
              <a:lnSpc>
                <a:spcPct val="118000"/>
              </a:lnSpc>
              <a:buNone/>
            </a:pPr>
            <a:r>
              <a:rPr lang="en-US" sz="1500" dirty="0">
                <a:solidFill>
                  <a:srgbClr val="1B1F24"/>
                </a:solidFill>
                <a:latin typeface="Inter" pitchFamily="34" charset="0"/>
                <a:ea typeface="Inter" pitchFamily="34" charset="-122"/>
                <a:cs typeface="Inter" pitchFamily="34" charset="-120"/>
              </a:rPr>
              <a:t>About ninety seconds, because she is looking at this week and not at the whole year.
</a:t>
            </a:r>
            <a:pPr indent="0" marL="0">
              <a:lnSpc>
                <a:spcPct val="118000"/>
              </a:lnSpc>
              <a:buNone/>
            </a:pPr>
            <a:r>
              <a:rPr lang="en-US" sz="1500" dirty="0">
                <a:solidFill>
                  <a:srgbClr val="1B1F24"/>
                </a:solidFill>
                <a:latin typeface="Inter" pitchFamily="34" charset="0"/>
                <a:ea typeface="Inter" pitchFamily="34" charset="-122"/>
                <a:cs typeface="Inter" pitchFamily="34" charset="-120"/>
              </a:rPr>
              <a:t>Two of her four are not academic at all.
</a:t>
            </a:r>
            <a:pPr indent="0" marL="0">
              <a:lnSpc>
                <a:spcPct val="118000"/>
              </a:lnSpc>
              <a:buNone/>
            </a:pPr>
            <a:r>
              <a:rPr lang="en-US" sz="1500" i="1" dirty="0">
                <a:solidFill>
                  <a:srgbClr val="5B6B7A"/>
                </a:solidFill>
                <a:latin typeface="Inter" pitchFamily="34" charset="0"/>
                <a:ea typeface="Inter" pitchFamily="34" charset="-122"/>
                <a:cs typeface="Inter" pitchFamily="34" charset="-120"/>
              </a:rPr>
              <a:t>“Steps one and two took four minutes and felt like nothing. This one takes six and feels like teaching, because it is.”</a:t>
            </a:r>
            <a:endParaRPr lang="en-US" sz="1500" dirty="0"/>
          </a:p>
        </p:txBody>
      </p:sp>
      <p:sp>
        <p:nvSpPr>
          <p:cNvPr id="18" name="Text 15"/>
          <p:cNvSpPr/>
          <p:nvPr/>
        </p:nvSpPr>
        <p:spPr>
          <a:xfrm>
            <a:off x="640080" y="562356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You are doing the noticing. The tool did the typing.</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four sentences, on screen: the part the tool could not write.</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THE PART THE TOOL COULD NOT WRITE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3000" b="1" dirty="0">
                <a:solidFill>
                  <a:srgbClr val="13293D"/>
                </a:solidFill>
                <a:latin typeface="Inter" pitchFamily="34" charset="0"/>
                <a:ea typeface="Inter" pitchFamily="34" charset="-122"/>
                <a:cs typeface="Inter" pitchFamily="34" charset="-120"/>
              </a:rPr>
              <a:t>Her four sentences, from her week</a:t>
            </a:r>
            <a:endParaRPr lang="en-US" sz="3000" dirty="0"/>
          </a:p>
        </p:txBody>
      </p:sp>
      <p:sp>
        <p:nvSpPr>
          <p:cNvPr id="14" name="Shape 11"/>
          <p:cNvSpPr/>
          <p:nvPr/>
        </p:nvSpPr>
        <p:spPr>
          <a:xfrm>
            <a:off x="640080" y="1417320"/>
            <a:ext cx="10972800" cy="3886200"/>
          </a:xfrm>
          <a:prstGeom prst="roundRect">
            <a:avLst>
              <a:gd name="adj" fmla="val 2118"/>
            </a:avLst>
          </a:prstGeom>
          <a:solidFill>
            <a:srgbClr val="F7F5F0"/>
          </a:solidFill>
          <a:ln w="12700">
            <a:solidFill>
              <a:srgbClr val="F7F5F0"/>
            </a:solidFill>
            <a:prstDash val="solid"/>
          </a:ln>
        </p:spPr>
      </p:sp>
      <p:sp>
        <p:nvSpPr>
          <p:cNvPr id="15" name="Shape 12"/>
          <p:cNvSpPr/>
          <p:nvPr/>
        </p:nvSpPr>
        <p:spPr>
          <a:xfrm>
            <a:off x="640080" y="1417320"/>
            <a:ext cx="109728" cy="388620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572768"/>
            <a:ext cx="10149840" cy="274320"/>
          </a:xfrm>
          <a:prstGeom prst="rect">
            <a:avLst/>
          </a:prstGeom>
          <a:noFill/>
          <a:ln/>
        </p:spPr>
        <p:txBody>
          <a:bodyPr wrap="square" lIns="0" tIns="0" rIns="0" bIns="0" rtlCol="0" anchor="ctr"/>
          <a:lstStyle/>
          <a:p>
            <a:pPr indent="0" marL="0">
              <a:buNone/>
            </a:pPr>
            <a:r>
              <a:rPr lang="en-US" sz="1150" b="1" spc="140" kern="0" dirty="0">
                <a:solidFill>
                  <a:srgbClr val="2A9D8F"/>
                </a:solidFill>
                <a:latin typeface="Inter" pitchFamily="34" charset="0"/>
                <a:ea typeface="Inter" pitchFamily="34" charset="-122"/>
                <a:cs typeface="Inter" pitchFamily="34" charset="-120"/>
              </a:rPr>
              <a:t>WRITTEN BY MS. RIVERA, BY HAND, IN ABOUT NINETY SECONDS</a:t>
            </a:r>
            <a:endParaRPr lang="en-US" sz="1150" dirty="0"/>
          </a:p>
        </p:txBody>
      </p:sp>
      <p:sp>
        <p:nvSpPr>
          <p:cNvPr id="17" name="Shape 14"/>
          <p:cNvSpPr/>
          <p:nvPr/>
        </p:nvSpPr>
        <p:spPr>
          <a:xfrm>
            <a:off x="1005840" y="2084832"/>
            <a:ext cx="1691640" cy="329184"/>
          </a:xfrm>
          <a:prstGeom prst="roundRect">
            <a:avLst>
              <a:gd name="adj" fmla="val 50000"/>
            </a:avLst>
          </a:prstGeom>
          <a:solidFill>
            <a:srgbClr val="13293D"/>
          </a:solidFill>
          <a:ln w="12700">
            <a:solidFill>
              <a:srgbClr val="13293D"/>
            </a:solidFill>
            <a:prstDash val="solid"/>
          </a:ln>
        </p:spPr>
      </p:sp>
      <p:sp>
        <p:nvSpPr>
          <p:cNvPr id="18" name="Text 15"/>
          <p:cNvSpPr/>
          <p:nvPr/>
        </p:nvSpPr>
        <p:spPr>
          <a:xfrm>
            <a:off x="1005840" y="2084832"/>
            <a:ext cx="1691640" cy="329184"/>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MAYA · TUE</a:t>
            </a:r>
            <a:endParaRPr lang="en-US" sz="1050" dirty="0"/>
          </a:p>
        </p:txBody>
      </p:sp>
      <p:sp>
        <p:nvSpPr>
          <p:cNvPr id="19" name="Text 16"/>
          <p:cNvSpPr/>
          <p:nvPr/>
        </p:nvSpPr>
        <p:spPr>
          <a:xfrm>
            <a:off x="2926080" y="2011680"/>
            <a:ext cx="8229600" cy="658368"/>
          </a:xfrm>
          <a:prstGeom prst="rect">
            <a:avLst/>
          </a:prstGeom>
          <a:noFill/>
          <a:ln/>
        </p:spPr>
        <p:txBody>
          <a:bodyPr wrap="square" lIns="0" tIns="0" rIns="0" bIns="0" rtlCol="0" anchor="ctr"/>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Found the mistake in my worked example on Tuesday and said so in front of everyone.</a:t>
            </a:r>
            <a:endParaRPr lang="en-US" sz="1600" dirty="0"/>
          </a:p>
        </p:txBody>
      </p:sp>
      <p:sp>
        <p:nvSpPr>
          <p:cNvPr id="20" name="Shape 17"/>
          <p:cNvSpPr/>
          <p:nvPr/>
        </p:nvSpPr>
        <p:spPr>
          <a:xfrm>
            <a:off x="1005840" y="2871216"/>
            <a:ext cx="1691640" cy="329184"/>
          </a:xfrm>
          <a:prstGeom prst="roundRect">
            <a:avLst>
              <a:gd name="adj" fmla="val 50000"/>
            </a:avLst>
          </a:prstGeom>
          <a:solidFill>
            <a:srgbClr val="13293D"/>
          </a:solidFill>
          <a:ln w="12700">
            <a:solidFill>
              <a:srgbClr val="13293D"/>
            </a:solidFill>
            <a:prstDash val="solid"/>
          </a:ln>
        </p:spPr>
      </p:sp>
      <p:sp>
        <p:nvSpPr>
          <p:cNvPr id="21" name="Text 18"/>
          <p:cNvSpPr/>
          <p:nvPr/>
        </p:nvSpPr>
        <p:spPr>
          <a:xfrm>
            <a:off x="1005840" y="2871216"/>
            <a:ext cx="1691640" cy="329184"/>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DEVON · WED</a:t>
            </a:r>
            <a:endParaRPr lang="en-US" sz="1050" dirty="0"/>
          </a:p>
        </p:txBody>
      </p:sp>
      <p:sp>
        <p:nvSpPr>
          <p:cNvPr id="22" name="Text 19"/>
          <p:cNvSpPr/>
          <p:nvPr/>
        </p:nvSpPr>
        <p:spPr>
          <a:xfrm>
            <a:off x="2926080" y="2798064"/>
            <a:ext cx="8229600" cy="658368"/>
          </a:xfrm>
          <a:prstGeom prst="rect">
            <a:avLst/>
          </a:prstGeom>
          <a:noFill/>
          <a:ln/>
        </p:spPr>
        <p:txBody>
          <a:bodyPr wrap="square" lIns="0" tIns="0" rIns="0" bIns="0" rtlCol="0" anchor="ctr"/>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Read his paragraph out loud on Wednesday. First time all year.</a:t>
            </a:r>
            <a:endParaRPr lang="en-US" sz="1600" dirty="0"/>
          </a:p>
        </p:txBody>
      </p:sp>
      <p:sp>
        <p:nvSpPr>
          <p:cNvPr id="23" name="Shape 20"/>
          <p:cNvSpPr/>
          <p:nvPr/>
        </p:nvSpPr>
        <p:spPr>
          <a:xfrm>
            <a:off x="1005840" y="3657600"/>
            <a:ext cx="1691640" cy="329184"/>
          </a:xfrm>
          <a:prstGeom prst="roundRect">
            <a:avLst>
              <a:gd name="adj" fmla="val 50000"/>
            </a:avLst>
          </a:prstGeom>
          <a:solidFill>
            <a:srgbClr val="13293D"/>
          </a:solidFill>
          <a:ln w="12700">
            <a:solidFill>
              <a:srgbClr val="13293D"/>
            </a:solidFill>
            <a:prstDash val="solid"/>
          </a:ln>
        </p:spPr>
      </p:sp>
      <p:sp>
        <p:nvSpPr>
          <p:cNvPr id="24" name="Text 21"/>
          <p:cNvSpPr/>
          <p:nvPr/>
        </p:nvSpPr>
        <p:spPr>
          <a:xfrm>
            <a:off x="1005840" y="3657600"/>
            <a:ext cx="1691640" cy="329184"/>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PRIYA · THU</a:t>
            </a:r>
            <a:endParaRPr lang="en-US" sz="1050" dirty="0"/>
          </a:p>
        </p:txBody>
      </p:sp>
      <p:sp>
        <p:nvSpPr>
          <p:cNvPr id="25" name="Text 22"/>
          <p:cNvSpPr/>
          <p:nvPr/>
        </p:nvSpPr>
        <p:spPr>
          <a:xfrm>
            <a:off x="2926080" y="3584448"/>
            <a:ext cx="8229600" cy="658368"/>
          </a:xfrm>
          <a:prstGeom prst="rect">
            <a:avLst/>
          </a:prstGeom>
          <a:noFill/>
          <a:ln/>
        </p:spPr>
        <p:txBody>
          <a:bodyPr wrap="square" lIns="0" tIns="0" rIns="0" bIns="0" rtlCol="0" anchor="ctr"/>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Stayed after on Thursday to redo a graph she was not happy with. Nobody asked her to.</a:t>
            </a:r>
            <a:endParaRPr lang="en-US" sz="1600" dirty="0"/>
          </a:p>
        </p:txBody>
      </p:sp>
      <p:sp>
        <p:nvSpPr>
          <p:cNvPr id="26" name="Shape 23"/>
          <p:cNvSpPr/>
          <p:nvPr/>
        </p:nvSpPr>
        <p:spPr>
          <a:xfrm>
            <a:off x="1005840" y="4443984"/>
            <a:ext cx="1691640" cy="329184"/>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1005840" y="4443984"/>
            <a:ext cx="1691640" cy="329184"/>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JALEN · MON</a:t>
            </a:r>
            <a:endParaRPr lang="en-US" sz="1050" dirty="0"/>
          </a:p>
        </p:txBody>
      </p:sp>
      <p:sp>
        <p:nvSpPr>
          <p:cNvPr id="28" name="Text 25"/>
          <p:cNvSpPr/>
          <p:nvPr/>
        </p:nvSpPr>
        <p:spPr>
          <a:xfrm>
            <a:off x="2926080" y="4370832"/>
            <a:ext cx="8229600" cy="658368"/>
          </a:xfrm>
          <a:prstGeom prst="rect">
            <a:avLst/>
          </a:prstGeom>
          <a:noFill/>
          <a:ln/>
        </p:spPr>
        <p:txBody>
          <a:bodyPr wrap="square" lIns="0" tIns="0" rIns="0" bIns="0" rtlCol="0" anchor="ctr"/>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Set up the lab station for his group on Monday before anyone asked, and ran the timer for all three trials.</a:t>
            </a:r>
            <a:endParaRPr lang="en-US" sz="1600" dirty="0"/>
          </a:p>
        </p:txBody>
      </p:sp>
      <p:sp>
        <p:nvSpPr>
          <p:cNvPr id="29" name="Text 26"/>
          <p:cNvSpPr/>
          <p:nvPr/>
        </p:nvSpPr>
        <p:spPr>
          <a:xfrm>
            <a:off x="640080" y="5486400"/>
            <a:ext cx="10972800" cy="50292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Nine days ago, Jalen’s family got a phone call about a shove. This Friday they get the lab station. Same teacher, same child, and now they have heard both.</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notes 1 and 2, as the Okonkwo and Pratt families opened them Friday.</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AS THE FAMILIES OPENED THEM</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3000" b="1" dirty="0">
                <a:solidFill>
                  <a:srgbClr val="13293D"/>
                </a:solidFill>
                <a:latin typeface="Inter" pitchFamily="34" charset="0"/>
                <a:ea typeface="Inter" pitchFamily="34" charset="-122"/>
                <a:cs typeface="Inter" pitchFamily="34" charset="-120"/>
              </a:rPr>
              <a:t>Note 1 and note 2, word for word</a:t>
            </a:r>
            <a:endParaRPr lang="en-US" sz="3000" dirty="0"/>
          </a:p>
        </p:txBody>
      </p:sp>
      <p:sp>
        <p:nvSpPr>
          <p:cNvPr id="14" name="Shape 11"/>
          <p:cNvSpPr/>
          <p:nvPr/>
        </p:nvSpPr>
        <p:spPr>
          <a:xfrm>
            <a:off x="640080" y="1371600"/>
            <a:ext cx="5349240" cy="3657600"/>
          </a:xfrm>
          <a:prstGeom prst="roundRect">
            <a:avLst>
              <a:gd name="adj" fmla="val 2500"/>
            </a:avLst>
          </a:prstGeom>
          <a:solidFill>
            <a:srgbClr val="F7F5F0"/>
          </a:solidFill>
          <a:ln w="12700">
            <a:solidFill>
              <a:srgbClr val="DCE3EA"/>
            </a:solidFill>
            <a:prstDash val="solid"/>
          </a:ln>
        </p:spPr>
      </p:sp>
      <p:sp>
        <p:nvSpPr>
          <p:cNvPr id="15" name="Shape 12"/>
          <p:cNvSpPr/>
          <p:nvPr/>
        </p:nvSpPr>
        <p:spPr>
          <a:xfrm>
            <a:off x="640080" y="1371600"/>
            <a:ext cx="100584" cy="3657600"/>
          </a:xfrm>
          <a:prstGeom prst="roundRect">
            <a:avLst>
              <a:gd name="adj" fmla="val 45455"/>
            </a:avLst>
          </a:prstGeom>
          <a:solidFill>
            <a:srgbClr val="2A9D8F"/>
          </a:solidFill>
          <a:ln w="12700">
            <a:solidFill>
              <a:srgbClr val="2A9D8F"/>
            </a:solidFill>
            <a:prstDash val="solid"/>
          </a:ln>
        </p:spPr>
      </p:sp>
      <p:sp>
        <p:nvSpPr>
          <p:cNvPr id="16" name="Text 13"/>
          <p:cNvSpPr/>
          <p:nvPr/>
        </p:nvSpPr>
        <p:spPr>
          <a:xfrm>
            <a:off x="914400" y="1481328"/>
            <a:ext cx="4846320" cy="256032"/>
          </a:xfrm>
          <a:prstGeom prst="rect">
            <a:avLst/>
          </a:prstGeom>
          <a:noFill/>
          <a:ln/>
        </p:spPr>
        <p:txBody>
          <a:bodyPr wrap="square" lIns="0" tIns="0" rIns="0" bIns="0" rtlCol="0" anchor="ctr"/>
          <a:lstStyle/>
          <a:p>
            <a:pPr indent="0" marL="0">
              <a:buNone/>
            </a:pPr>
            <a:r>
              <a:rPr lang="en-US" sz="1000" b="1" spc="110" kern="0" dirty="0">
                <a:solidFill>
                  <a:srgbClr val="5B6B7A"/>
                </a:solidFill>
                <a:latin typeface="Inter" pitchFamily="34" charset="0"/>
                <a:ea typeface="Inter" pitchFamily="34" charset="-122"/>
                <a:cs typeface="Inter" pitchFamily="34" charset="-120"/>
              </a:rPr>
              <a:t>TO MAYA’S FAMILY  ·  FRIDAY 3:04 P.M.</a:t>
            </a:r>
            <a:endParaRPr lang="en-US" sz="1000" dirty="0"/>
          </a:p>
        </p:txBody>
      </p:sp>
      <p:sp>
        <p:nvSpPr>
          <p:cNvPr id="17" name="Text 14"/>
          <p:cNvSpPr/>
          <p:nvPr/>
        </p:nvSpPr>
        <p:spPr>
          <a:xfrm>
            <a:off x="960120" y="1783080"/>
            <a:ext cx="4754880" cy="3108960"/>
          </a:xfrm>
          <a:prstGeom prst="rect">
            <a:avLst/>
          </a:prstGeom>
          <a:noFill/>
          <a:ln/>
        </p:spPr>
        <p:txBody>
          <a:bodyPr wrap="square" lIns="0" tIns="0" rIns="0" bIns="0" rtlCol="0" anchor="t"/>
          <a:lstStyle/>
          <a:p>
            <a:pPr indent="0" marL="0">
              <a:lnSpc>
                <a:spcPct val="116000"/>
              </a:lnSpc>
              <a:buNone/>
            </a:pPr>
            <a:r>
              <a:rPr lang="en-US" sz="1450" dirty="0">
                <a:solidFill>
                  <a:srgbClr val="1B1F24"/>
                </a:solidFill>
                <a:latin typeface="Inter" pitchFamily="34" charset="0"/>
                <a:ea typeface="Inter" pitchFamily="34" charset="-122"/>
                <a:cs typeface="Inter" pitchFamily="34" charset="-120"/>
              </a:rPr>
              <a:t>Hi Ms. Okonkwo. Quick note, and nothing is wrong. </a:t>
            </a:r>
            <a:pPr indent="0" marL="0">
              <a:lnSpc>
                <a:spcPct val="116000"/>
              </a:lnSpc>
              <a:buNone/>
            </a:pPr>
            <a:r>
              <a:rPr lang="en-US" sz="1450" b="1" dirty="0">
                <a:solidFill>
                  <a:srgbClr val="2A9D8F"/>
                </a:solidFill>
                <a:latin typeface="Inter" pitchFamily="34" charset="0"/>
                <a:ea typeface="Inter" pitchFamily="34" charset="-122"/>
                <a:cs typeface="Inter" pitchFamily="34" charset="-120"/>
              </a:rPr>
              <a:t>On Tuesday I put a worked example on the board and made a mistake in it. Maya found the mistake and said so in front of everyone. That takes more nerve at twelve than most adults have. </a:t>
            </a:r>
            <a:pPr indent="0" marL="0">
              <a:lnSpc>
                <a:spcPct val="116000"/>
              </a:lnSpc>
              <a:buNone/>
            </a:pPr>
            <a:r>
              <a:rPr lang="en-US" sz="1450" dirty="0">
                <a:solidFill>
                  <a:srgbClr val="1B1F24"/>
                </a:solidFill>
                <a:latin typeface="Inter" pitchFamily="34" charset="0"/>
                <a:ea typeface="Inter" pitchFamily="34" charset="-122"/>
                <a:cs typeface="Inter" pitchFamily="34" charset="-120"/>
              </a:rPr>
              <a:t>I wanted you to hear it from me.</a:t>
            </a:r>
            <a:endParaRPr lang="en-US" sz="1450" dirty="0"/>
          </a:p>
          <a:p>
            <a:pPr indent="0" marL="0">
              <a:lnSpc>
                <a:spcPct val="116000"/>
              </a:lnSpc>
              <a:buNone/>
            </a:pPr>
            <a:endParaRPr lang="en-US" sz="1450" dirty="0"/>
          </a:p>
          <a:p>
            <a:pPr indent="0" marL="0">
              <a:lnSpc>
                <a:spcPct val="116000"/>
              </a:lnSpc>
              <a:buNone/>
            </a:pPr>
            <a:r>
              <a:rPr lang="en-US" sz="1450" dirty="0">
                <a:solidFill>
                  <a:srgbClr val="1B1F24"/>
                </a:solidFill>
                <a:latin typeface="Inter" pitchFamily="34" charset="0"/>
                <a:ea typeface="Inter" pitchFamily="34" charset="-122"/>
                <a:cs typeface="Inter" pitchFamily="34" charset="-120"/>
              </a:rPr>
              <a:t>Ms. Rivera, 6th grade science</a:t>
            </a:r>
            <a:endParaRPr lang="en-US" sz="1450" dirty="0"/>
          </a:p>
        </p:txBody>
      </p:sp>
      <p:sp>
        <p:nvSpPr>
          <p:cNvPr id="18" name="Shape 15"/>
          <p:cNvSpPr/>
          <p:nvPr/>
        </p:nvSpPr>
        <p:spPr>
          <a:xfrm>
            <a:off x="6263640" y="1371600"/>
            <a:ext cx="5349240" cy="3657600"/>
          </a:xfrm>
          <a:prstGeom prst="roundRect">
            <a:avLst>
              <a:gd name="adj" fmla="val 2500"/>
            </a:avLst>
          </a:prstGeom>
          <a:solidFill>
            <a:srgbClr val="F7F5F0"/>
          </a:solidFill>
          <a:ln w="12700">
            <a:solidFill>
              <a:srgbClr val="DCE3EA"/>
            </a:solidFill>
            <a:prstDash val="solid"/>
          </a:ln>
        </p:spPr>
      </p:sp>
      <p:sp>
        <p:nvSpPr>
          <p:cNvPr id="19" name="Shape 16"/>
          <p:cNvSpPr/>
          <p:nvPr/>
        </p:nvSpPr>
        <p:spPr>
          <a:xfrm>
            <a:off x="6263640" y="1371600"/>
            <a:ext cx="100584" cy="3657600"/>
          </a:xfrm>
          <a:prstGeom prst="roundRect">
            <a:avLst>
              <a:gd name="adj" fmla="val 45455"/>
            </a:avLst>
          </a:prstGeom>
          <a:solidFill>
            <a:srgbClr val="2A9D8F"/>
          </a:solidFill>
          <a:ln w="12700">
            <a:solidFill>
              <a:srgbClr val="2A9D8F"/>
            </a:solidFill>
            <a:prstDash val="solid"/>
          </a:ln>
        </p:spPr>
      </p:sp>
      <p:sp>
        <p:nvSpPr>
          <p:cNvPr id="20" name="Text 17"/>
          <p:cNvSpPr/>
          <p:nvPr/>
        </p:nvSpPr>
        <p:spPr>
          <a:xfrm>
            <a:off x="6537960" y="1481328"/>
            <a:ext cx="4846320" cy="256032"/>
          </a:xfrm>
          <a:prstGeom prst="rect">
            <a:avLst/>
          </a:prstGeom>
          <a:noFill/>
          <a:ln/>
        </p:spPr>
        <p:txBody>
          <a:bodyPr wrap="square" lIns="0" tIns="0" rIns="0" bIns="0" rtlCol="0" anchor="ctr"/>
          <a:lstStyle/>
          <a:p>
            <a:pPr indent="0" marL="0">
              <a:buNone/>
            </a:pPr>
            <a:r>
              <a:rPr lang="en-US" sz="1000" b="1" spc="110" kern="0" dirty="0">
                <a:solidFill>
                  <a:srgbClr val="5B6B7A"/>
                </a:solidFill>
                <a:latin typeface="Inter" pitchFamily="34" charset="0"/>
                <a:ea typeface="Inter" pitchFamily="34" charset="-122"/>
                <a:cs typeface="Inter" pitchFamily="34" charset="-120"/>
              </a:rPr>
              <a:t>TO DEVON’S FAMILY  ·  FRIDAY 3:05 P.M.</a:t>
            </a:r>
            <a:endParaRPr lang="en-US" sz="1000" dirty="0"/>
          </a:p>
        </p:txBody>
      </p:sp>
      <p:sp>
        <p:nvSpPr>
          <p:cNvPr id="21" name="Text 18"/>
          <p:cNvSpPr/>
          <p:nvPr/>
        </p:nvSpPr>
        <p:spPr>
          <a:xfrm>
            <a:off x="6583680" y="1783080"/>
            <a:ext cx="4754880" cy="3108960"/>
          </a:xfrm>
          <a:prstGeom prst="rect">
            <a:avLst/>
          </a:prstGeom>
          <a:noFill/>
          <a:ln/>
        </p:spPr>
        <p:txBody>
          <a:bodyPr wrap="square" lIns="0" tIns="0" rIns="0" bIns="0" rtlCol="0" anchor="t"/>
          <a:lstStyle/>
          <a:p>
            <a:pPr indent="0" marL="0">
              <a:lnSpc>
                <a:spcPct val="116000"/>
              </a:lnSpc>
              <a:buNone/>
            </a:pPr>
            <a:r>
              <a:rPr lang="en-US" sz="1450" dirty="0">
                <a:solidFill>
                  <a:srgbClr val="1B1F24"/>
                </a:solidFill>
                <a:latin typeface="Inter" pitchFamily="34" charset="0"/>
                <a:ea typeface="Inter" pitchFamily="34" charset="-122"/>
                <a:cs typeface="Inter" pitchFamily="34" charset="-120"/>
              </a:rPr>
              <a:t>Hi Mr. Pratt. Quick note, and nothing is wrong. </a:t>
            </a:r>
            <a:pPr indent="0" marL="0">
              <a:lnSpc>
                <a:spcPct val="116000"/>
              </a:lnSpc>
              <a:buNone/>
            </a:pPr>
            <a:r>
              <a:rPr lang="en-US" sz="1450" b="1" dirty="0">
                <a:solidFill>
                  <a:srgbClr val="2A9D8F"/>
                </a:solidFill>
                <a:latin typeface="Inter" pitchFamily="34" charset="0"/>
                <a:ea typeface="Inter" pitchFamily="34" charset="-122"/>
                <a:cs typeface="Inter" pitchFamily="34" charset="-120"/>
              </a:rPr>
              <a:t>On Wednesday Devon read his paragraph out loud to the class. It is the first time he has done that all year, and he did not need any convincing. </a:t>
            </a:r>
            <a:pPr indent="0" marL="0">
              <a:lnSpc>
                <a:spcPct val="116000"/>
              </a:lnSpc>
              <a:buNone/>
            </a:pPr>
            <a:r>
              <a:rPr lang="en-US" sz="1450" dirty="0">
                <a:solidFill>
                  <a:srgbClr val="1B1F24"/>
                </a:solidFill>
                <a:latin typeface="Inter" pitchFamily="34" charset="0"/>
                <a:ea typeface="Inter" pitchFamily="34" charset="-122"/>
                <a:cs typeface="Inter" pitchFamily="34" charset="-120"/>
              </a:rPr>
              <a:t>I wanted you to hear it from me.</a:t>
            </a:r>
            <a:endParaRPr lang="en-US" sz="1450" dirty="0"/>
          </a:p>
          <a:p>
            <a:pPr indent="0" marL="0">
              <a:lnSpc>
                <a:spcPct val="116000"/>
              </a:lnSpc>
              <a:buNone/>
            </a:pPr>
            <a:endParaRPr lang="en-US" sz="1450" dirty="0"/>
          </a:p>
          <a:p>
            <a:pPr indent="0" marL="0">
              <a:lnSpc>
                <a:spcPct val="116000"/>
              </a:lnSpc>
              <a:buNone/>
            </a:pPr>
            <a:r>
              <a:rPr lang="en-US" sz="1450" dirty="0">
                <a:solidFill>
                  <a:srgbClr val="1B1F24"/>
                </a:solidFill>
                <a:latin typeface="Inter" pitchFamily="34" charset="0"/>
                <a:ea typeface="Inter" pitchFamily="34" charset="-122"/>
                <a:cs typeface="Inter" pitchFamily="34" charset="-120"/>
              </a:rPr>
              <a:t>Ms. Rivera, 6th grade science</a:t>
            </a:r>
            <a:endParaRPr lang="en-US" sz="1450" dirty="0"/>
          </a:p>
        </p:txBody>
      </p:sp>
      <p:sp>
        <p:nvSpPr>
          <p:cNvPr id="22" name="Shape 19"/>
          <p:cNvSpPr/>
          <p:nvPr/>
        </p:nvSpPr>
        <p:spPr>
          <a:xfrm>
            <a:off x="640080" y="5212080"/>
            <a:ext cx="10972800" cy="658368"/>
          </a:xfrm>
          <a:prstGeom prst="roundRect">
            <a:avLst>
              <a:gd name="adj" fmla="val 12500"/>
            </a:avLst>
          </a:prstGeom>
          <a:solidFill>
            <a:srgbClr val="13293D"/>
          </a:solidFill>
          <a:ln w="12700">
            <a:solidFill>
              <a:srgbClr val="13293D"/>
            </a:solidFill>
            <a:prstDash val="solid"/>
          </a:ln>
        </p:spPr>
      </p:sp>
      <p:sp>
        <p:nvSpPr>
          <p:cNvPr id="23" name="Text 20"/>
          <p:cNvSpPr/>
          <p:nvPr/>
        </p:nvSpPr>
        <p:spPr>
          <a:xfrm>
            <a:off x="960120" y="5212080"/>
            <a:ext cx="10332720" cy="658368"/>
          </a:xfrm>
          <a:prstGeom prst="rect">
            <a:avLst/>
          </a:prstGeom>
          <a:noFill/>
          <a:ln/>
        </p:spPr>
        <p:txBody>
          <a:bodyPr wrap="square" lIns="0" tIns="0" rIns="0" bIns="0" rtlCol="0" anchor="ctr"/>
          <a:lstStyle/>
          <a:p>
            <a:pPr algn="ctr" indent="0" marL="0">
              <a:buNone/>
            </a:pPr>
            <a:r>
              <a:rPr lang="en-US" sz="1550" b="1" dirty="0">
                <a:solidFill>
                  <a:srgbClr val="2A9D8F"/>
                </a:solidFill>
                <a:latin typeface="Inter" pitchFamily="34" charset="0"/>
                <a:ea typeface="Inter" pitchFamily="34" charset="-122"/>
                <a:cs typeface="Inter" pitchFamily="34" charset="-120"/>
              </a:rPr>
              <a:t>The tool wrote the frame. She wrote the sentences in teal.  </a:t>
            </a:r>
            <a:pPr algn="ctr" indent="0" marL="0">
              <a:buNone/>
            </a:pPr>
            <a:r>
              <a:rPr lang="en-US" sz="1550" dirty="0">
                <a:solidFill>
                  <a:srgbClr val="FFFFFF"/>
                </a:solidFill>
                <a:latin typeface="Inter" pitchFamily="34" charset="0"/>
                <a:ea typeface="Inter" pitchFamily="34" charset="-122"/>
                <a:cs typeface="Inter" pitchFamily="34" charset="-120"/>
              </a:rPr>
              <a:t>Under 70 words each. Sent at 3:04 on a Friday.</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notes 3 and 4, as the Raman and Brooks families opened them Friday.</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SAME TEN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3000" b="1" dirty="0">
                <a:solidFill>
                  <a:srgbClr val="13293D"/>
                </a:solidFill>
                <a:latin typeface="Inter" pitchFamily="34" charset="0"/>
                <a:ea typeface="Inter" pitchFamily="34" charset="-122"/>
                <a:cs typeface="Inter" pitchFamily="34" charset="-120"/>
              </a:rPr>
              <a:t>Note 3 and note 4, word for word</a:t>
            </a:r>
            <a:endParaRPr lang="en-US" sz="3000" dirty="0"/>
          </a:p>
        </p:txBody>
      </p:sp>
      <p:sp>
        <p:nvSpPr>
          <p:cNvPr id="14" name="Shape 11"/>
          <p:cNvSpPr/>
          <p:nvPr/>
        </p:nvSpPr>
        <p:spPr>
          <a:xfrm>
            <a:off x="640080" y="1371600"/>
            <a:ext cx="5349240" cy="3657600"/>
          </a:xfrm>
          <a:prstGeom prst="roundRect">
            <a:avLst>
              <a:gd name="adj" fmla="val 2500"/>
            </a:avLst>
          </a:prstGeom>
          <a:solidFill>
            <a:srgbClr val="F7F5F0"/>
          </a:solidFill>
          <a:ln w="12700">
            <a:solidFill>
              <a:srgbClr val="DCE3EA"/>
            </a:solidFill>
            <a:prstDash val="solid"/>
          </a:ln>
        </p:spPr>
      </p:sp>
      <p:sp>
        <p:nvSpPr>
          <p:cNvPr id="15" name="Shape 12"/>
          <p:cNvSpPr/>
          <p:nvPr/>
        </p:nvSpPr>
        <p:spPr>
          <a:xfrm>
            <a:off x="640080" y="1371600"/>
            <a:ext cx="100584" cy="3657600"/>
          </a:xfrm>
          <a:prstGeom prst="roundRect">
            <a:avLst>
              <a:gd name="adj" fmla="val 45455"/>
            </a:avLst>
          </a:prstGeom>
          <a:solidFill>
            <a:srgbClr val="2A9D8F"/>
          </a:solidFill>
          <a:ln w="12700">
            <a:solidFill>
              <a:srgbClr val="2A9D8F"/>
            </a:solidFill>
            <a:prstDash val="solid"/>
          </a:ln>
        </p:spPr>
      </p:sp>
      <p:sp>
        <p:nvSpPr>
          <p:cNvPr id="16" name="Text 13"/>
          <p:cNvSpPr/>
          <p:nvPr/>
        </p:nvSpPr>
        <p:spPr>
          <a:xfrm>
            <a:off x="914400" y="1481328"/>
            <a:ext cx="4846320" cy="256032"/>
          </a:xfrm>
          <a:prstGeom prst="rect">
            <a:avLst/>
          </a:prstGeom>
          <a:noFill/>
          <a:ln/>
        </p:spPr>
        <p:txBody>
          <a:bodyPr wrap="square" lIns="0" tIns="0" rIns="0" bIns="0" rtlCol="0" anchor="ctr"/>
          <a:lstStyle/>
          <a:p>
            <a:pPr indent="0" marL="0">
              <a:buNone/>
            </a:pPr>
            <a:r>
              <a:rPr lang="en-US" sz="1000" b="1" spc="110" kern="0" dirty="0">
                <a:solidFill>
                  <a:srgbClr val="5B6B7A"/>
                </a:solidFill>
                <a:latin typeface="Inter" pitchFamily="34" charset="0"/>
                <a:ea typeface="Inter" pitchFamily="34" charset="-122"/>
                <a:cs typeface="Inter" pitchFamily="34" charset="-120"/>
              </a:rPr>
              <a:t>TO PRIYA’S FAMILY  ·  FRIDAY 3:07 P.M.</a:t>
            </a:r>
            <a:endParaRPr lang="en-US" sz="1000" dirty="0"/>
          </a:p>
        </p:txBody>
      </p:sp>
      <p:sp>
        <p:nvSpPr>
          <p:cNvPr id="17" name="Text 14"/>
          <p:cNvSpPr/>
          <p:nvPr/>
        </p:nvSpPr>
        <p:spPr>
          <a:xfrm>
            <a:off x="960120" y="1783080"/>
            <a:ext cx="4754880" cy="3108960"/>
          </a:xfrm>
          <a:prstGeom prst="rect">
            <a:avLst/>
          </a:prstGeom>
          <a:noFill/>
          <a:ln/>
        </p:spPr>
        <p:txBody>
          <a:bodyPr wrap="square" lIns="0" tIns="0" rIns="0" bIns="0" rtlCol="0" anchor="t"/>
          <a:lstStyle/>
          <a:p>
            <a:pPr indent="0" marL="0">
              <a:lnSpc>
                <a:spcPct val="116000"/>
              </a:lnSpc>
              <a:buNone/>
            </a:pPr>
            <a:r>
              <a:rPr lang="en-US" sz="1450" dirty="0">
                <a:solidFill>
                  <a:srgbClr val="1B1F24"/>
                </a:solidFill>
                <a:latin typeface="Inter" pitchFamily="34" charset="0"/>
                <a:ea typeface="Inter" pitchFamily="34" charset="-122"/>
                <a:cs typeface="Inter" pitchFamily="34" charset="-120"/>
              </a:rPr>
              <a:t>Hi Mrs. Raman. Quick note, and nothing is wrong. </a:t>
            </a:r>
            <a:pPr indent="0" marL="0">
              <a:lnSpc>
                <a:spcPct val="116000"/>
              </a:lnSpc>
              <a:buNone/>
            </a:pPr>
            <a:r>
              <a:rPr lang="en-US" sz="1450" b="1" dirty="0">
                <a:solidFill>
                  <a:srgbClr val="2A9D8F"/>
                </a:solidFill>
                <a:latin typeface="Inter" pitchFamily="34" charset="0"/>
                <a:ea typeface="Inter" pitchFamily="34" charset="-122"/>
                <a:cs typeface="Inter" pitchFamily="34" charset="-120"/>
              </a:rPr>
              <a:t>Priya stayed after class on Thursday to redo a graph she was not happy with. Her first one was already fine. She wanted the second one to be right. </a:t>
            </a:r>
            <a:pPr indent="0" marL="0">
              <a:lnSpc>
                <a:spcPct val="116000"/>
              </a:lnSpc>
              <a:buNone/>
            </a:pPr>
            <a:r>
              <a:rPr lang="en-US" sz="1450" dirty="0">
                <a:solidFill>
                  <a:srgbClr val="1B1F24"/>
                </a:solidFill>
                <a:latin typeface="Inter" pitchFamily="34" charset="0"/>
                <a:ea typeface="Inter" pitchFamily="34" charset="-122"/>
                <a:cs typeface="Inter" pitchFamily="34" charset="-120"/>
              </a:rPr>
              <a:t>I wanted you to hear it from me.</a:t>
            </a:r>
            <a:endParaRPr lang="en-US" sz="1450" dirty="0"/>
          </a:p>
          <a:p>
            <a:pPr indent="0" marL="0">
              <a:lnSpc>
                <a:spcPct val="116000"/>
              </a:lnSpc>
              <a:buNone/>
            </a:pPr>
            <a:endParaRPr lang="en-US" sz="1450" dirty="0"/>
          </a:p>
          <a:p>
            <a:pPr indent="0" marL="0">
              <a:lnSpc>
                <a:spcPct val="116000"/>
              </a:lnSpc>
              <a:buNone/>
            </a:pPr>
            <a:r>
              <a:rPr lang="en-US" sz="1450" dirty="0">
                <a:solidFill>
                  <a:srgbClr val="1B1F24"/>
                </a:solidFill>
                <a:latin typeface="Inter" pitchFamily="34" charset="0"/>
                <a:ea typeface="Inter" pitchFamily="34" charset="-122"/>
                <a:cs typeface="Inter" pitchFamily="34" charset="-120"/>
              </a:rPr>
              <a:t>Ms. Rivera, 6th grade science</a:t>
            </a:r>
            <a:endParaRPr lang="en-US" sz="1450" dirty="0"/>
          </a:p>
        </p:txBody>
      </p:sp>
      <p:sp>
        <p:nvSpPr>
          <p:cNvPr id="18" name="Shape 15"/>
          <p:cNvSpPr/>
          <p:nvPr/>
        </p:nvSpPr>
        <p:spPr>
          <a:xfrm>
            <a:off x="6263640" y="1371600"/>
            <a:ext cx="5349240" cy="3657600"/>
          </a:xfrm>
          <a:prstGeom prst="roundRect">
            <a:avLst>
              <a:gd name="adj" fmla="val 2500"/>
            </a:avLst>
          </a:prstGeom>
          <a:solidFill>
            <a:srgbClr val="F7F5F0"/>
          </a:solidFill>
          <a:ln w="12700">
            <a:solidFill>
              <a:srgbClr val="DCE3EA"/>
            </a:solidFill>
            <a:prstDash val="solid"/>
          </a:ln>
        </p:spPr>
      </p:sp>
      <p:sp>
        <p:nvSpPr>
          <p:cNvPr id="19" name="Shape 16"/>
          <p:cNvSpPr/>
          <p:nvPr/>
        </p:nvSpPr>
        <p:spPr>
          <a:xfrm>
            <a:off x="6263640" y="1371600"/>
            <a:ext cx="100584" cy="3657600"/>
          </a:xfrm>
          <a:prstGeom prst="roundRect">
            <a:avLst>
              <a:gd name="adj" fmla="val 45455"/>
            </a:avLst>
          </a:prstGeom>
          <a:solidFill>
            <a:srgbClr val="2A9D8F"/>
          </a:solidFill>
          <a:ln w="12700">
            <a:solidFill>
              <a:srgbClr val="2A9D8F"/>
            </a:solidFill>
            <a:prstDash val="solid"/>
          </a:ln>
        </p:spPr>
      </p:sp>
      <p:sp>
        <p:nvSpPr>
          <p:cNvPr id="20" name="Text 17"/>
          <p:cNvSpPr/>
          <p:nvPr/>
        </p:nvSpPr>
        <p:spPr>
          <a:xfrm>
            <a:off x="6537960" y="1481328"/>
            <a:ext cx="4846320" cy="256032"/>
          </a:xfrm>
          <a:prstGeom prst="rect">
            <a:avLst/>
          </a:prstGeom>
          <a:noFill/>
          <a:ln/>
        </p:spPr>
        <p:txBody>
          <a:bodyPr wrap="square" lIns="0" tIns="0" rIns="0" bIns="0" rtlCol="0" anchor="ctr"/>
          <a:lstStyle/>
          <a:p>
            <a:pPr indent="0" marL="0">
              <a:buNone/>
            </a:pPr>
            <a:r>
              <a:rPr lang="en-US" sz="1000" b="1" spc="110" kern="0" dirty="0">
                <a:solidFill>
                  <a:srgbClr val="5B6B7A"/>
                </a:solidFill>
                <a:latin typeface="Inter" pitchFamily="34" charset="0"/>
                <a:ea typeface="Inter" pitchFamily="34" charset="-122"/>
                <a:cs typeface="Inter" pitchFamily="34" charset="-120"/>
              </a:rPr>
              <a:t>TO JALEN’S FAMILY  ·  FRIDAY 3:09 P.M.</a:t>
            </a:r>
            <a:endParaRPr lang="en-US" sz="1000" dirty="0"/>
          </a:p>
        </p:txBody>
      </p:sp>
      <p:sp>
        <p:nvSpPr>
          <p:cNvPr id="21" name="Text 18"/>
          <p:cNvSpPr/>
          <p:nvPr/>
        </p:nvSpPr>
        <p:spPr>
          <a:xfrm>
            <a:off x="6583680" y="1783080"/>
            <a:ext cx="4754880" cy="3108960"/>
          </a:xfrm>
          <a:prstGeom prst="rect">
            <a:avLst/>
          </a:prstGeom>
          <a:noFill/>
          <a:ln/>
        </p:spPr>
        <p:txBody>
          <a:bodyPr wrap="square" lIns="0" tIns="0" rIns="0" bIns="0" rtlCol="0" anchor="t"/>
          <a:lstStyle/>
          <a:p>
            <a:pPr indent="0" marL="0">
              <a:lnSpc>
                <a:spcPct val="116000"/>
              </a:lnSpc>
              <a:buNone/>
            </a:pPr>
            <a:r>
              <a:rPr lang="en-US" sz="1450" dirty="0">
                <a:solidFill>
                  <a:srgbClr val="1B1F24"/>
                </a:solidFill>
                <a:latin typeface="Inter" pitchFamily="34" charset="0"/>
                <a:ea typeface="Inter" pitchFamily="34" charset="-122"/>
                <a:cs typeface="Inter" pitchFamily="34" charset="-120"/>
              </a:rPr>
              <a:t>Hi Ms. Brooks. Quick note, and nothing is wrong. </a:t>
            </a:r>
            <a:pPr indent="0" marL="0">
              <a:lnSpc>
                <a:spcPct val="116000"/>
              </a:lnSpc>
              <a:buNone/>
            </a:pPr>
            <a:r>
              <a:rPr lang="en-US" sz="1450" b="1" dirty="0">
                <a:solidFill>
                  <a:srgbClr val="2A9D8F"/>
                </a:solidFill>
                <a:latin typeface="Inter" pitchFamily="34" charset="0"/>
                <a:ea typeface="Inter" pitchFamily="34" charset="-122"/>
                <a:cs typeface="Inter" pitchFamily="34" charset="-120"/>
              </a:rPr>
              <a:t>On Monday Jalen had the lab station set up for his whole group before I finished giving directions, and then he ran the timer for all three trials without being asked. His group finished because of him. </a:t>
            </a:r>
            <a:pPr indent="0" marL="0">
              <a:lnSpc>
                <a:spcPct val="116000"/>
              </a:lnSpc>
              <a:buNone/>
            </a:pPr>
            <a:r>
              <a:rPr lang="en-US" sz="1450" dirty="0">
                <a:solidFill>
                  <a:srgbClr val="1B1F24"/>
                </a:solidFill>
                <a:latin typeface="Inter" pitchFamily="34" charset="0"/>
                <a:ea typeface="Inter" pitchFamily="34" charset="-122"/>
                <a:cs typeface="Inter" pitchFamily="34" charset="-120"/>
              </a:rPr>
              <a:t>I wanted you to hear that from me too.</a:t>
            </a:r>
            <a:endParaRPr lang="en-US" sz="1450" dirty="0"/>
          </a:p>
          <a:p>
            <a:pPr indent="0" marL="0">
              <a:lnSpc>
                <a:spcPct val="116000"/>
              </a:lnSpc>
              <a:buNone/>
            </a:pPr>
            <a:endParaRPr lang="en-US" sz="1450" dirty="0"/>
          </a:p>
          <a:p>
            <a:pPr indent="0" marL="0">
              <a:lnSpc>
                <a:spcPct val="116000"/>
              </a:lnSpc>
              <a:buNone/>
            </a:pPr>
            <a:r>
              <a:rPr lang="en-US" sz="1450" dirty="0">
                <a:solidFill>
                  <a:srgbClr val="1B1F24"/>
                </a:solidFill>
                <a:latin typeface="Inter" pitchFamily="34" charset="0"/>
                <a:ea typeface="Inter" pitchFamily="34" charset="-122"/>
                <a:cs typeface="Inter" pitchFamily="34" charset="-120"/>
              </a:rPr>
              <a:t>Ms. Rivera, 6th grade science</a:t>
            </a:r>
            <a:endParaRPr lang="en-US" sz="1450" dirty="0"/>
          </a:p>
        </p:txBody>
      </p:sp>
      <p:sp>
        <p:nvSpPr>
          <p:cNvPr id="22" name="Shape 19"/>
          <p:cNvSpPr/>
          <p:nvPr/>
        </p:nvSpPr>
        <p:spPr>
          <a:xfrm>
            <a:off x="640080" y="5212080"/>
            <a:ext cx="10972800" cy="658368"/>
          </a:xfrm>
          <a:prstGeom prst="roundRect">
            <a:avLst>
              <a:gd name="adj" fmla="val 12500"/>
            </a:avLst>
          </a:prstGeom>
          <a:solidFill>
            <a:srgbClr val="13293D"/>
          </a:solidFill>
          <a:ln w="12700">
            <a:solidFill>
              <a:srgbClr val="13293D"/>
            </a:solidFill>
            <a:prstDash val="solid"/>
          </a:ln>
        </p:spPr>
      </p:sp>
      <p:sp>
        <p:nvSpPr>
          <p:cNvPr id="23" name="Text 20"/>
          <p:cNvSpPr/>
          <p:nvPr/>
        </p:nvSpPr>
        <p:spPr>
          <a:xfrm>
            <a:off x="960120" y="5212080"/>
            <a:ext cx="10332720" cy="658368"/>
          </a:xfrm>
          <a:prstGeom prst="rect">
            <a:avLst/>
          </a:prstGeom>
          <a:noFill/>
          <a:ln/>
        </p:spPr>
        <p:txBody>
          <a:bodyPr wrap="square" lIns="0" tIns="0" rIns="0" bIns="0" rtlCol="0" anchor="ctr"/>
          <a:lstStyle/>
          <a:p>
            <a:pPr algn="ctr" indent="0" marL="0">
              <a:buNone/>
            </a:pPr>
            <a:r>
              <a:rPr lang="en-US" sz="1550" b="1" dirty="0">
                <a:solidFill>
                  <a:srgbClr val="2A9D8F"/>
                </a:solidFill>
                <a:latin typeface="Inter" pitchFamily="34" charset="0"/>
                <a:ea typeface="Inter" pitchFamily="34" charset="-122"/>
                <a:cs typeface="Inter" pitchFamily="34" charset="-120"/>
              </a:rPr>
              <a:t>“Too.”  </a:t>
            </a:r>
            <a:pPr algn="ctr" indent="0" marL="0">
              <a:buNone/>
            </a:pPr>
            <a:r>
              <a:rPr lang="en-US" sz="1550" dirty="0">
                <a:solidFill>
                  <a:srgbClr val="FFFFFF"/>
                </a:solidFill>
                <a:latin typeface="Inter" pitchFamily="34" charset="0"/>
                <a:ea typeface="Inter" pitchFamily="34" charset="-122"/>
                <a:cs typeface="Inter" pitchFamily="34" charset="-120"/>
              </a:rPr>
              <a:t>Note 4 went to the family whose last contact was a phone call about a shove, nine days earlier.</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hard message: Devon's missing work. She wrote every word of it herself.</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hard message. You write it.</a:t>
            </a:r>
            <a:endParaRPr lang="en-US" sz="2800" dirty="0"/>
          </a:p>
        </p:txBody>
      </p:sp>
      <p:sp>
        <p:nvSpPr>
          <p:cNvPr id="14" name="Text 11"/>
          <p:cNvSpPr/>
          <p:nvPr/>
        </p:nvSpPr>
        <p:spPr>
          <a:xfrm>
            <a:off x="640080" y="1600200"/>
            <a:ext cx="5394960" cy="36576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Tool closed. First word to last word, yours.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fact first. One ask, with a date.</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Promise nothing you cannot deliver.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Then, and only then, run the second read for tone.</a:t>
            </a:r>
            <a:endParaRPr lang="en-US" sz="1700" dirty="0"/>
          </a:p>
        </p:txBody>
      </p:sp>
      <p:sp>
        <p:nvSpPr>
          <p:cNvPr id="15" name="Shape 12"/>
          <p:cNvSpPr/>
          <p:nvPr/>
        </p:nvSpPr>
        <p:spPr>
          <a:xfrm>
            <a:off x="6263640" y="1554480"/>
            <a:ext cx="5349240" cy="3794760"/>
          </a:xfrm>
          <a:prstGeom prst="roundRect">
            <a:avLst>
              <a:gd name="adj" fmla="val 2169"/>
            </a:avLst>
          </a:prstGeom>
          <a:solidFill>
            <a:srgbClr val="EAF5F3"/>
          </a:solidFill>
          <a:ln w="12700">
            <a:solidFill>
              <a:srgbClr val="EAF5F3"/>
            </a:solidFill>
            <a:prstDash val="solid"/>
          </a:ln>
        </p:spPr>
      </p:sp>
      <p:sp>
        <p:nvSpPr>
          <p:cNvPr id="16" name="Text 13"/>
          <p:cNvSpPr/>
          <p:nvPr/>
        </p:nvSpPr>
        <p:spPr>
          <a:xfrm>
            <a:off x="6537960" y="1719072"/>
            <a:ext cx="480060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FRIDAY · STEP 4</a:t>
            </a:r>
            <a:endParaRPr lang="en-US" sz="1250" dirty="0"/>
          </a:p>
        </p:txBody>
      </p:sp>
      <p:sp>
        <p:nvSpPr>
          <p:cNvPr id="17" name="Text 14"/>
          <p:cNvSpPr/>
          <p:nvPr/>
        </p:nvSpPr>
        <p:spPr>
          <a:xfrm>
            <a:off x="6537960" y="2121408"/>
            <a:ext cx="4800600" cy="3108960"/>
          </a:xfrm>
          <a:prstGeom prst="rect">
            <a:avLst/>
          </a:prstGeom>
          <a:noFill/>
          <a:ln/>
        </p:spPr>
        <p:txBody>
          <a:bodyPr wrap="square" lIns="0" tIns="0" rIns="0" bIns="0" rtlCol="0" anchor="t"/>
          <a:lstStyle/>
          <a:p>
            <a:pPr indent="0" marL="0">
              <a:lnSpc>
                <a:spcPct val="118000"/>
              </a:lnSpc>
              <a:buNone/>
            </a:pPr>
            <a:r>
              <a:rPr lang="en-US" sz="1500" b="1" dirty="0">
                <a:solidFill>
                  <a:srgbClr val="13293D"/>
                </a:solidFill>
                <a:latin typeface="Inter" pitchFamily="34" charset="0"/>
                <a:ea typeface="Inter" pitchFamily="34" charset="-122"/>
                <a:cs typeface="Inter" pitchFamily="34" charset="-120"/>
              </a:rPr>
              <a:t>Her hard message this week: </a:t>
            </a:r>
            <a:pPr indent="0" marL="0">
              <a:lnSpc>
                <a:spcPct val="118000"/>
              </a:lnSpc>
              <a:buNone/>
            </a:pPr>
            <a:r>
              <a:rPr lang="en-US" sz="1500" dirty="0">
                <a:solidFill>
                  <a:srgbClr val="1B1F24"/>
                </a:solidFill>
                <a:latin typeface="Inter" pitchFamily="34" charset="0"/>
                <a:ea typeface="Inter" pitchFamily="34" charset="-122"/>
                <a:cs typeface="Inter" pitchFamily="34" charset="-120"/>
              </a:rPr>
              <a:t>Devon has missed three of the last four assignments and the quarter closes in two weeks.
</a:t>
            </a:r>
            <a:pPr indent="0" marL="0">
              <a:lnSpc>
                <a:spcPct val="118000"/>
              </a:lnSpc>
              <a:buNone/>
            </a:pPr>
            <a:r>
              <a:rPr lang="en-US" sz="1500" b="1" dirty="0">
                <a:solidFill>
                  <a:srgbClr val="13293D"/>
                </a:solidFill>
                <a:latin typeface="Inter" pitchFamily="34" charset="0"/>
                <a:ea typeface="Inter" pitchFamily="34" charset="-122"/>
                <a:cs typeface="Inter" pitchFamily="34" charset="-120"/>
              </a:rPr>
              <a:t>Same family that got note 2. </a:t>
            </a:r>
            <a:pPr indent="0" marL="0">
              <a:lnSpc>
                <a:spcPct val="118000"/>
              </a:lnSpc>
              <a:buNone/>
            </a:pPr>
            <a:r>
              <a:rPr lang="en-US" sz="1500" dirty="0">
                <a:solidFill>
                  <a:srgbClr val="1B1F24"/>
                </a:solidFill>
                <a:latin typeface="Inter" pitchFamily="34" charset="0"/>
                <a:ea typeface="Inter" pitchFamily="34" charset="-122"/>
                <a:cs typeface="Inter" pitchFamily="34" charset="-120"/>
              </a:rPr>
              <a:t>Twenty minutes, no tool, written by hand.
</a:t>
            </a:r>
            <a:pPr indent="0" marL="0">
              <a:lnSpc>
                <a:spcPct val="118000"/>
              </a:lnSpc>
              <a:buNone/>
            </a:pPr>
            <a:r>
              <a:rPr lang="en-US" sz="1500" i="1" dirty="0">
                <a:solidFill>
                  <a:srgbClr val="5B6B7A"/>
                </a:solidFill>
                <a:latin typeface="Inter" pitchFamily="34" charset="0"/>
                <a:ea typeface="Inter" pitchFamily="34" charset="-122"/>
                <a:cs typeface="Inter" pitchFamily="34" charset="-120"/>
              </a:rPr>
              <a:t>“The tool does not get to write a sentence of it. It gets to read it back once.”</a:t>
            </a:r>
            <a:endParaRPr lang="en-US" sz="1500" dirty="0"/>
          </a:p>
        </p:txBody>
      </p:sp>
      <p:sp>
        <p:nvSpPr>
          <p:cNvPr id="18" name="Text 15"/>
          <p:cNvSpPr/>
          <p:nvPr/>
        </p:nvSpPr>
        <p:spPr>
          <a:xfrm>
            <a:off x="640080" y="5623560"/>
            <a:ext cx="10972800" cy="411480"/>
          </a:xfrm>
          <a:prstGeom prst="rect">
            <a:avLst/>
          </a:prstGeom>
          <a:noFill/>
          <a:ln/>
        </p:spPr>
        <p:txBody>
          <a:bodyPr wrap="square" lIns="0" tIns="0" rIns="0" bIns="0" rtlCol="0" anchor="ctr"/>
          <a:lstStyle/>
          <a:p>
            <a:pPr algn="ctr" indent="0" marL="0">
              <a:buNone/>
            </a:pPr>
            <a:r>
              <a:rPr lang="en-US" sz="1650" b="1" dirty="0">
                <a:solidFill>
                  <a:srgbClr val="13293D"/>
                </a:solidFill>
                <a:latin typeface="Inter" pitchFamily="34" charset="0"/>
                <a:ea typeface="Inter" pitchFamily="34" charset="-122"/>
                <a:cs typeface="Inter" pitchFamily="34" charset="-120"/>
              </a:rPr>
              <a:t>Strip the names before anything is pasted in. Take what is useful from the tone read and ignore the rest.</a:t>
            </a:r>
            <a:endParaRPr lang="en-US" sz="1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hard message on screen, and the tone read she ran on it after.</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CONTRAST BEAT · SAME TEACHER, SAME WEEK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The message she wrote herself</a:t>
            </a:r>
            <a:endParaRPr lang="en-US" sz="3000" dirty="0"/>
          </a:p>
        </p:txBody>
      </p:sp>
      <p:sp>
        <p:nvSpPr>
          <p:cNvPr id="14" name="Shape 11"/>
          <p:cNvSpPr/>
          <p:nvPr/>
        </p:nvSpPr>
        <p:spPr>
          <a:xfrm>
            <a:off x="640080" y="1325880"/>
            <a:ext cx="3429000" cy="3794760"/>
          </a:xfrm>
          <a:prstGeom prst="roundRect">
            <a:avLst>
              <a:gd name="adj" fmla="val 2400"/>
            </a:avLst>
          </a:prstGeom>
          <a:solidFill>
            <a:srgbClr val="F7F5F0"/>
          </a:solidFill>
          <a:ln w="12700">
            <a:solidFill>
              <a:srgbClr val="F7F5F0"/>
            </a:solidFill>
            <a:prstDash val="solid"/>
          </a:ln>
        </p:spPr>
      </p:sp>
      <p:sp>
        <p:nvSpPr>
          <p:cNvPr id="15" name="Text 12"/>
          <p:cNvSpPr/>
          <p:nvPr/>
        </p:nvSpPr>
        <p:spPr>
          <a:xfrm>
            <a:off x="914400" y="1463040"/>
            <a:ext cx="2926080" cy="256032"/>
          </a:xfrm>
          <a:prstGeom prst="rect">
            <a:avLst/>
          </a:prstGeom>
          <a:noFill/>
          <a:ln/>
        </p:spPr>
        <p:txBody>
          <a:bodyPr wrap="square" lIns="0" tIns="0" rIns="0" bIns="0" rtlCol="0" anchor="ctr"/>
          <a:lstStyle/>
          <a:p>
            <a:pPr indent="0" marL="0">
              <a:buNone/>
            </a:pPr>
            <a:r>
              <a:rPr lang="en-US" sz="1050" b="1" spc="120" kern="0" dirty="0">
                <a:solidFill>
                  <a:srgbClr val="2A9D8F"/>
                </a:solidFill>
                <a:latin typeface="Inter" pitchFamily="34" charset="0"/>
                <a:ea typeface="Inter" pitchFamily="34" charset="-122"/>
                <a:cs typeface="Inter" pitchFamily="34" charset="-120"/>
              </a:rPr>
              <a:t>THE ROUTINE NOTE</a:t>
            </a:r>
            <a:endParaRPr lang="en-US" sz="1050" dirty="0"/>
          </a:p>
        </p:txBody>
      </p:sp>
      <p:sp>
        <p:nvSpPr>
          <p:cNvPr id="16" name="Text 13"/>
          <p:cNvSpPr/>
          <p:nvPr/>
        </p:nvSpPr>
        <p:spPr>
          <a:xfrm>
            <a:off x="914400" y="1719072"/>
            <a:ext cx="2926080" cy="256032"/>
          </a:xfrm>
          <a:prstGeom prst="rect">
            <a:avLst/>
          </a:prstGeom>
          <a:noFill/>
          <a:ln/>
        </p:spPr>
        <p:txBody>
          <a:bodyPr wrap="square" lIns="0" tIns="0" rIns="0" bIns="0" rtlCol="0" anchor="ctr"/>
          <a:lstStyle/>
          <a:p>
            <a:pPr indent="0" marL="0">
              <a:buNone/>
            </a:pPr>
            <a:r>
              <a:rPr lang="en-US" sz="1000" i="1" dirty="0">
                <a:solidFill>
                  <a:srgbClr val="5B6B7A"/>
                </a:solidFill>
                <a:latin typeface="Inter" pitchFamily="34" charset="0"/>
                <a:ea typeface="Inter" pitchFamily="34" charset="-122"/>
                <a:cs typeface="Inter" pitchFamily="34" charset="-120"/>
              </a:rPr>
              <a:t>2 minutes · the tool drafted the frame</a:t>
            </a:r>
            <a:endParaRPr lang="en-US" sz="1000" dirty="0"/>
          </a:p>
        </p:txBody>
      </p:sp>
      <p:sp>
        <p:nvSpPr>
          <p:cNvPr id="17" name="Text 14"/>
          <p:cNvSpPr/>
          <p:nvPr/>
        </p:nvSpPr>
        <p:spPr>
          <a:xfrm>
            <a:off x="914400" y="2103120"/>
            <a:ext cx="2926080" cy="2834640"/>
          </a:xfrm>
          <a:prstGeom prst="rect">
            <a:avLst/>
          </a:prstGeom>
          <a:noFill/>
          <a:ln/>
        </p:spPr>
        <p:txBody>
          <a:bodyPr wrap="square" lIns="0" tIns="0" rIns="0" bIns="0" rtlCol="0" anchor="t"/>
          <a:lstStyle/>
          <a:p>
            <a:pPr indent="0" marL="0">
              <a:lnSpc>
                <a:spcPct val="115000"/>
              </a:lnSpc>
              <a:buNone/>
            </a:pPr>
            <a:r>
              <a:rPr lang="en-US" sz="1350" dirty="0">
                <a:solidFill>
                  <a:srgbClr val="1B1F24"/>
                </a:solidFill>
                <a:latin typeface="Inter" pitchFamily="34" charset="0"/>
                <a:ea typeface="Inter" pitchFamily="34" charset="-122"/>
                <a:cs typeface="Inter" pitchFamily="34" charset="-120"/>
              </a:rPr>
              <a:t>“On Wednesday Devon read his paragraph out loud to the class. It is the first time he has done that all year, and he did not need any convincing.”</a:t>
            </a:r>
            <a:endParaRPr lang="en-US" sz="1350" dirty="0"/>
          </a:p>
          <a:p>
            <a:pPr indent="0" marL="0">
              <a:lnSpc>
                <a:spcPct val="115000"/>
              </a:lnSpc>
              <a:buNone/>
            </a:pPr>
            <a:endParaRPr lang="en-US" sz="1350" dirty="0"/>
          </a:p>
          <a:p>
            <a:pPr indent="0" marL="0">
              <a:lnSpc>
                <a:spcPct val="115000"/>
              </a:lnSpc>
              <a:buNone/>
            </a:pPr>
            <a:r>
              <a:rPr lang="en-US" sz="1350" dirty="0">
                <a:solidFill>
                  <a:srgbClr val="1B1F24"/>
                </a:solidFill>
                <a:latin typeface="Inter" pitchFamily="34" charset="0"/>
                <a:ea typeface="Inter" pitchFamily="34" charset="-122"/>
                <a:cs typeface="Inter" pitchFamily="34" charset="-120"/>
              </a:rPr>
              <a:t>Sent Friday 3:05 p.m.</a:t>
            </a:r>
            <a:endParaRPr lang="en-US" sz="1350" dirty="0"/>
          </a:p>
        </p:txBody>
      </p:sp>
      <p:sp>
        <p:nvSpPr>
          <p:cNvPr id="18" name="Shape 15"/>
          <p:cNvSpPr/>
          <p:nvPr/>
        </p:nvSpPr>
        <p:spPr>
          <a:xfrm>
            <a:off x="4434840" y="1325880"/>
            <a:ext cx="7178040" cy="3794760"/>
          </a:xfrm>
          <a:prstGeom prst="roundRect">
            <a:avLst>
              <a:gd name="adj" fmla="val 2169"/>
            </a:avLst>
          </a:prstGeom>
          <a:solidFill>
            <a:srgbClr val="EAF5F3"/>
          </a:solidFill>
          <a:ln w="12700">
            <a:solidFill>
              <a:srgbClr val="EAF5F3"/>
            </a:solidFill>
            <a:prstDash val="solid"/>
          </a:ln>
        </p:spPr>
      </p:sp>
      <p:sp>
        <p:nvSpPr>
          <p:cNvPr id="19" name="Text 16"/>
          <p:cNvSpPr/>
          <p:nvPr/>
        </p:nvSpPr>
        <p:spPr>
          <a:xfrm>
            <a:off x="4709160" y="1463040"/>
            <a:ext cx="6583680" cy="256032"/>
          </a:xfrm>
          <a:prstGeom prst="rect">
            <a:avLst/>
          </a:prstGeom>
          <a:noFill/>
          <a:ln/>
        </p:spPr>
        <p:txBody>
          <a:bodyPr wrap="square" lIns="0" tIns="0" rIns="0" bIns="0" rtlCol="0" anchor="ctr"/>
          <a:lstStyle/>
          <a:p>
            <a:pPr indent="0" marL="0">
              <a:buNone/>
            </a:pPr>
            <a:r>
              <a:rPr lang="en-US" sz="1050" b="1" spc="120" kern="0" dirty="0">
                <a:solidFill>
                  <a:srgbClr val="13293D"/>
                </a:solidFill>
                <a:latin typeface="Inter" pitchFamily="34" charset="0"/>
                <a:ea typeface="Inter" pitchFamily="34" charset="-122"/>
                <a:cs typeface="Inter" pitchFamily="34" charset="-120"/>
              </a:rPr>
              <a:t>THE HARD MESSAGE</a:t>
            </a:r>
            <a:endParaRPr lang="en-US" sz="1050" dirty="0"/>
          </a:p>
        </p:txBody>
      </p:sp>
      <p:sp>
        <p:nvSpPr>
          <p:cNvPr id="20" name="Text 17"/>
          <p:cNvSpPr/>
          <p:nvPr/>
        </p:nvSpPr>
        <p:spPr>
          <a:xfrm>
            <a:off x="4709160" y="1719072"/>
            <a:ext cx="6583680" cy="256032"/>
          </a:xfrm>
          <a:prstGeom prst="rect">
            <a:avLst/>
          </a:prstGeom>
          <a:noFill/>
          <a:ln/>
        </p:spPr>
        <p:txBody>
          <a:bodyPr wrap="square" lIns="0" tIns="0" rIns="0" bIns="0" rtlCol="0" anchor="ctr"/>
          <a:lstStyle/>
          <a:p>
            <a:pPr indent="0" marL="0">
              <a:buNone/>
            </a:pPr>
            <a:r>
              <a:rPr lang="en-US" sz="1000" i="1" dirty="0">
                <a:solidFill>
                  <a:srgbClr val="5B6B7A"/>
                </a:solidFill>
                <a:latin typeface="Inter" pitchFamily="34" charset="0"/>
                <a:ea typeface="Inter" pitchFamily="34" charset="-122"/>
                <a:cs typeface="Inter" pitchFamily="34" charset="-120"/>
              </a:rPr>
              <a:t>20 minutes · no tool · every word hers · sent the following Wednesday</a:t>
            </a:r>
            <a:endParaRPr lang="en-US" sz="1000" dirty="0"/>
          </a:p>
        </p:txBody>
      </p:sp>
      <p:sp>
        <p:nvSpPr>
          <p:cNvPr id="21" name="Text 18"/>
          <p:cNvSpPr/>
          <p:nvPr/>
        </p:nvSpPr>
        <p:spPr>
          <a:xfrm>
            <a:off x="4709160" y="2103120"/>
            <a:ext cx="6629400" cy="2880360"/>
          </a:xfrm>
          <a:prstGeom prst="rect">
            <a:avLst/>
          </a:prstGeom>
          <a:noFill/>
          <a:ln/>
        </p:spPr>
        <p:txBody>
          <a:bodyPr wrap="square" lIns="0" tIns="0" rIns="0" bIns="0" rtlCol="0" anchor="t"/>
          <a:lstStyle/>
          <a:p>
            <a:pPr indent="0" marL="0">
              <a:lnSpc>
                <a:spcPct val="112000"/>
              </a:lnSpc>
              <a:buNone/>
            </a:pPr>
            <a:r>
              <a:rPr lang="en-US" sz="1300" dirty="0">
                <a:solidFill>
                  <a:srgbClr val="1B1F24"/>
                </a:solidFill>
                <a:latin typeface="Inter" pitchFamily="34" charset="0"/>
                <a:ea typeface="Inter" pitchFamily="34" charset="-122"/>
                <a:cs typeface="Inter" pitchFamily="34" charset="-120"/>
              </a:rPr>
              <a:t>Mr. Pratt,
</a:t>
            </a:r>
            <a:pPr indent="0" marL="0">
              <a:lnSpc>
                <a:spcPct val="112000"/>
              </a:lnSpc>
              <a:buNone/>
            </a:pPr>
            <a:r>
              <a:rPr lang="en-US" sz="1300" dirty="0">
                <a:solidFill>
                  <a:srgbClr val="1B1F24"/>
                </a:solidFill>
                <a:latin typeface="Inter" pitchFamily="34" charset="0"/>
                <a:ea typeface="Inter" pitchFamily="34" charset="-122"/>
                <a:cs typeface="Inter" pitchFamily="34" charset="-120"/>
              </a:rPr>
              <a:t>Devon has not turned in three of the last four science assignments: the food web diagram, the energy lab write-up, and Tuesday’s reading response. The quarter closes on March 14.
</a:t>
            </a:r>
            <a:pPr indent="0" marL="0">
              <a:lnSpc>
                <a:spcPct val="112000"/>
              </a:lnSpc>
              <a:buNone/>
            </a:pPr>
            <a:r>
              <a:rPr lang="en-US" sz="1300" dirty="0">
                <a:solidFill>
                  <a:srgbClr val="1B1F24"/>
                </a:solidFill>
                <a:latin typeface="Inter" pitchFamily="34" charset="0"/>
                <a:ea typeface="Inter" pitchFamily="34" charset="-122"/>
                <a:cs typeface="Inter" pitchFamily="34" charset="-120"/>
              </a:rPr>
              <a:t>Here is the one thing I am asking. Can he stay this Thursday after school? I will be in room 214 until 4:30, and I will sit with him while he does the lab write-up, which is the one that counts most.
</a:t>
            </a:r>
            <a:pPr indent="0" marL="0">
              <a:lnSpc>
                <a:spcPct val="112000"/>
              </a:lnSpc>
              <a:buNone/>
            </a:pPr>
            <a:r>
              <a:rPr lang="en-US" sz="1300" b="1" dirty="0">
                <a:solidFill>
                  <a:srgbClr val="13293D"/>
                </a:solidFill>
                <a:latin typeface="Inter" pitchFamily="34" charset="0"/>
                <a:ea typeface="Inter" pitchFamily="34" charset="-122"/>
                <a:cs typeface="Inter" pitchFamily="34" charset="-120"/>
              </a:rPr>
              <a:t>I do not know yet whether he can finish all three by the 14th, and I do not want to promise you that he can. </a:t>
            </a:r>
            <a:pPr indent="0" marL="0">
              <a:lnSpc>
                <a:spcPct val="112000"/>
              </a:lnSpc>
              <a:buNone/>
            </a:pPr>
            <a:r>
              <a:rPr lang="en-US" sz="1300" dirty="0">
                <a:solidFill>
                  <a:srgbClr val="1B1F24"/>
                </a:solidFill>
                <a:latin typeface="Inter" pitchFamily="34" charset="0"/>
                <a:ea typeface="Inter" pitchFamily="34" charset="-122"/>
                <a:cs typeface="Inter" pitchFamily="34" charset="-120"/>
              </a:rPr>
              <a:t>I do know he will be further along Thursday than he is today.
</a:t>
            </a:r>
            <a:pPr indent="0" marL="0">
              <a:lnSpc>
                <a:spcPct val="112000"/>
              </a:lnSpc>
              <a:buNone/>
            </a:pPr>
            <a:r>
              <a:rPr lang="en-US" sz="1300" dirty="0">
                <a:solidFill>
                  <a:srgbClr val="1B1F24"/>
                </a:solidFill>
                <a:latin typeface="Inter" pitchFamily="34" charset="0"/>
                <a:ea typeface="Inter" pitchFamily="34" charset="-122"/>
                <a:cs typeface="Inter" pitchFamily="34" charset="-120"/>
              </a:rPr>
              <a:t>If it is easier to talk than to type, my number is below and I will call you back the same day.
</a:t>
            </a:r>
            <a:pPr indent="0" marL="0">
              <a:lnSpc>
                <a:spcPct val="112000"/>
              </a:lnSpc>
              <a:buNone/>
            </a:pPr>
            <a:r>
              <a:rPr lang="en-US" sz="1300" dirty="0">
                <a:solidFill>
                  <a:srgbClr val="1B1F24"/>
                </a:solidFill>
                <a:latin typeface="Inter" pitchFamily="34" charset="0"/>
                <a:ea typeface="Inter" pitchFamily="34" charset="-122"/>
                <a:cs typeface="Inter" pitchFamily="34" charset="-120"/>
              </a:rPr>
              <a:t>Ms. Rivera, 6th grade science, room 214</a:t>
            </a:r>
            <a:endParaRPr lang="en-US" sz="1300" dirty="0"/>
          </a:p>
        </p:txBody>
      </p:sp>
      <p:sp>
        <p:nvSpPr>
          <p:cNvPr id="22" name="Shape 19"/>
          <p:cNvSpPr/>
          <p:nvPr/>
        </p:nvSpPr>
        <p:spPr>
          <a:xfrm>
            <a:off x="640080" y="5257800"/>
            <a:ext cx="10972800" cy="658368"/>
          </a:xfrm>
          <a:prstGeom prst="roundRect">
            <a:avLst>
              <a:gd name="adj" fmla="val 12500"/>
            </a:avLst>
          </a:prstGeom>
          <a:solidFill>
            <a:srgbClr val="13293D"/>
          </a:solidFill>
          <a:ln w="12700">
            <a:solidFill>
              <a:srgbClr val="13293D"/>
            </a:solidFill>
            <a:prstDash val="solid"/>
          </a:ln>
        </p:spPr>
      </p:sp>
      <p:sp>
        <p:nvSpPr>
          <p:cNvPr id="23" name="Text 20"/>
          <p:cNvSpPr/>
          <p:nvPr/>
        </p:nvSpPr>
        <p:spPr>
          <a:xfrm>
            <a:off x="960120" y="5257800"/>
            <a:ext cx="10332720" cy="658368"/>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When the hard message landed, it was not the first thing this family had heard from her. That is what the ordinary contact is for.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ten minutes: four families heard from her when nothing was wrong.</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TWENTY MINUTES AGO NONE OF THIS EXISTED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Ten minutes. Four families.</a:t>
            </a:r>
            <a:endParaRPr lang="en-US" sz="3200" dirty="0"/>
          </a:p>
        </p:txBody>
      </p:sp>
      <p:sp>
        <p:nvSpPr>
          <p:cNvPr id="14" name="Shape 11"/>
          <p:cNvSpPr/>
          <p:nvPr/>
        </p:nvSpPr>
        <p:spPr>
          <a:xfrm>
            <a:off x="640080" y="1554480"/>
            <a:ext cx="10972800" cy="2286000"/>
          </a:xfrm>
          <a:prstGeom prst="roundRect">
            <a:avLst>
              <a:gd name="adj" fmla="val 3600"/>
            </a:avLst>
          </a:prstGeom>
          <a:solidFill>
            <a:srgbClr val="F7F5F0"/>
          </a:solidFill>
          <a:ln w="12700">
            <a:solidFill>
              <a:srgbClr val="F7F5F0"/>
            </a:solidFill>
            <a:prstDash val="solid"/>
          </a:ln>
        </p:spPr>
      </p:sp>
      <p:sp>
        <p:nvSpPr>
          <p:cNvPr id="15" name="Text 12"/>
          <p:cNvSpPr/>
          <p:nvPr/>
        </p:nvSpPr>
        <p:spPr>
          <a:xfrm>
            <a:off x="1005840" y="1783080"/>
            <a:ext cx="10241280" cy="1828800"/>
          </a:xfrm>
          <a:prstGeom prst="rect">
            <a:avLst/>
          </a:prstGeom>
          <a:noFill/>
          <a:ln/>
        </p:spPr>
        <p:txBody>
          <a:bodyPr wrap="square" lIns="0" tIns="0" rIns="0" bIns="0" rtlCol="0" anchor="ctr"/>
          <a:lstStyle/>
          <a:p>
            <a:pPr indent="0" marL="0">
              <a:lnSpc>
                <a:spcPct val="115000"/>
              </a:lnSpc>
              <a:buNone/>
            </a:pPr>
            <a:r>
              <a:rPr lang="en-US" sz="1900" b="1" dirty="0">
                <a:solidFill>
                  <a:srgbClr val="13293D"/>
                </a:solidFill>
                <a:latin typeface="Inter" pitchFamily="34" charset="0"/>
                <a:ea typeface="Inter" pitchFamily="34" charset="-122"/>
                <a:cs typeface="Inter" pitchFamily="34" charset="-120"/>
              </a:rPr>
              <a:t>Four notes ready to send, each carrying one true thing you noticed this week. One hard message drafted, in your words.
</a:t>
            </a:r>
            <a:pPr indent="0" marL="0">
              <a:lnSpc>
                <a:spcPct val="115000"/>
              </a:lnSpc>
              <a:buNone/>
            </a:pPr>
            <a:r>
              <a:rPr lang="en-US" sz="1900" dirty="0">
                <a:solidFill>
                  <a:srgbClr val="1B1F24"/>
                </a:solidFill>
                <a:latin typeface="Inter" pitchFamily="34" charset="0"/>
                <a:ea typeface="Inter" pitchFamily="34" charset="-122"/>
                <a:cs typeface="Inter" pitchFamily="34" charset="-120"/>
              </a:rPr>
              <a:t>The four families on your list started this hour hearing from you only when something was wrong. That is no longer true, and it took ten minutes.</a:t>
            </a:r>
            <a:endParaRPr lang="en-US" sz="1900" dirty="0"/>
          </a:p>
        </p:txBody>
      </p:sp>
      <p:sp>
        <p:nvSpPr>
          <p:cNvPr id="16" name="Shape 13"/>
          <p:cNvSpPr/>
          <p:nvPr/>
        </p:nvSpPr>
        <p:spPr>
          <a:xfrm>
            <a:off x="640080" y="4069080"/>
            <a:ext cx="10972800" cy="1600200"/>
          </a:xfrm>
          <a:prstGeom prst="roundRect">
            <a:avLst>
              <a:gd name="adj" fmla="val 5143"/>
            </a:avLst>
          </a:prstGeom>
          <a:solidFill>
            <a:srgbClr val="EAF5F3"/>
          </a:solidFill>
          <a:ln w="12700">
            <a:solidFill>
              <a:srgbClr val="EAF5F3"/>
            </a:solidFill>
            <a:prstDash val="solid"/>
          </a:ln>
        </p:spPr>
      </p:sp>
      <p:sp>
        <p:nvSpPr>
          <p:cNvPr id="17" name="Text 14"/>
          <p:cNvSpPr/>
          <p:nvPr/>
        </p:nvSpPr>
        <p:spPr>
          <a:xfrm>
            <a:off x="960120" y="4224528"/>
            <a:ext cx="10332720" cy="292608"/>
          </a:xfrm>
          <a:prstGeom prst="rect">
            <a:avLst/>
          </a:prstGeom>
          <a:noFill/>
          <a:ln/>
        </p:spPr>
        <p:txBody>
          <a:bodyPr wrap="square" lIns="0" tIns="0" rIns="0" bIns="0" rtlCol="0" anchor="ctr"/>
          <a:lstStyle/>
          <a:p>
            <a:pPr indent="0" marL="0">
              <a:buNone/>
            </a:pPr>
            <a:r>
              <a:rPr lang="en-US" sz="1250" b="1" spc="140" kern="0" dirty="0">
                <a:solidFill>
                  <a:srgbClr val="2A9D8F"/>
                </a:solidFill>
                <a:latin typeface="Inter" pitchFamily="34" charset="0"/>
                <a:ea typeface="Inter" pitchFamily="34" charset="-122"/>
                <a:cs typeface="Inter" pitchFamily="34" charset="-120"/>
              </a:rPr>
              <a:t>SHARE-OUT · THREE VOICES · ONE MINUTE EACH</a:t>
            </a:r>
            <a:endParaRPr lang="en-US" sz="1250" dirty="0"/>
          </a:p>
        </p:txBody>
      </p:sp>
      <p:sp>
        <p:nvSpPr>
          <p:cNvPr id="18" name="Text 15"/>
          <p:cNvSpPr/>
          <p:nvPr/>
        </p:nvSpPr>
        <p:spPr>
          <a:xfrm>
            <a:off x="960120" y="4617720"/>
            <a:ext cx="10332720" cy="9144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Read me the one true sentence you wrote. Not the whole note. The sentence.</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honest limit: the tool never met her students. The detail is hers.</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cannot do here</a:t>
            </a:r>
            <a:endParaRPr lang="en-US" sz="3200" dirty="0"/>
          </a:p>
        </p:txBody>
      </p:sp>
      <p:sp>
        <p:nvSpPr>
          <p:cNvPr id="14" name="Shape 11"/>
          <p:cNvSpPr/>
          <p:nvPr/>
        </p:nvSpPr>
        <p:spPr>
          <a:xfrm>
            <a:off x="640080" y="1600200"/>
            <a:ext cx="3520440" cy="3200400"/>
          </a:xfrm>
          <a:prstGeom prst="roundRect">
            <a:avLst>
              <a:gd name="adj" fmla="val 2571"/>
            </a:avLst>
          </a:prstGeom>
          <a:solidFill>
            <a:srgbClr val="F7F5F0"/>
          </a:solidFill>
          <a:ln w="12700">
            <a:solidFill>
              <a:srgbClr val="F7F5F0"/>
            </a:solidFill>
            <a:prstDash val="solid"/>
          </a:ln>
        </p:spPr>
      </p:sp>
      <p:sp>
        <p:nvSpPr>
          <p:cNvPr id="15" name="Text 12"/>
          <p:cNvSpPr/>
          <p:nvPr/>
        </p:nvSpPr>
        <p:spPr>
          <a:xfrm>
            <a:off x="896112" y="1828800"/>
            <a:ext cx="3017520" cy="777240"/>
          </a:xfrm>
          <a:prstGeom prst="rect">
            <a:avLst/>
          </a:prstGeom>
          <a:noFill/>
          <a:ln/>
        </p:spPr>
        <p:txBody>
          <a:bodyPr wrap="square" lIns="0" tIns="0" rIns="0" bIns="0" rtlCol="0" anchor="t"/>
          <a:lstStyle/>
          <a:p>
            <a:pPr indent="0" marL="0">
              <a:buNone/>
            </a:pPr>
            <a:r>
              <a:rPr lang="en-US" sz="1800" b="1" dirty="0">
                <a:solidFill>
                  <a:srgbClr val="B4453A"/>
                </a:solidFill>
                <a:latin typeface="Inter" pitchFamily="34" charset="0"/>
                <a:ea typeface="Inter" pitchFamily="34" charset="-122"/>
                <a:cs typeface="Inter" pitchFamily="34" charset="-120"/>
              </a:rPr>
              <a:t>It never met your students</a:t>
            </a:r>
            <a:endParaRPr lang="en-US" sz="1800" dirty="0"/>
          </a:p>
        </p:txBody>
      </p:sp>
      <p:sp>
        <p:nvSpPr>
          <p:cNvPr id="16" name="Text 13"/>
          <p:cNvSpPr/>
          <p:nvPr/>
        </p:nvSpPr>
        <p:spPr>
          <a:xfrm>
            <a:off x="896112" y="2697480"/>
            <a:ext cx="3017520" cy="1920240"/>
          </a:xfrm>
          <a:prstGeom prst="rect">
            <a:avLst/>
          </a:prstGeom>
          <a:noFill/>
          <a:ln/>
        </p:spPr>
        <p:txBody>
          <a:bodyPr wrap="square" lIns="0" tIns="0" rIns="0" bIns="0" rtlCol="0" anchor="t"/>
          <a:lstStyle/>
          <a:p>
            <a:pPr indent="0" marL="0">
              <a:lnSpc>
                <a:spcPct val="114000"/>
              </a:lnSpc>
              <a:buNone/>
            </a:pPr>
            <a:r>
              <a:rPr lang="en-US" sz="1450" dirty="0">
                <a:solidFill>
                  <a:srgbClr val="1B1F24"/>
                </a:solidFill>
                <a:latin typeface="Inter" pitchFamily="34" charset="0"/>
                <a:ea typeface="Inter" pitchFamily="34" charset="-122"/>
                <a:cs typeface="Inter" pitchFamily="34" charset="-120"/>
              </a:rPr>
              <a:t>Every sentence worth sending is still yours to write. The tool was not in the room on Tuesday.</a:t>
            </a:r>
            <a:endParaRPr lang="en-US" sz="1450" dirty="0"/>
          </a:p>
        </p:txBody>
      </p:sp>
      <p:sp>
        <p:nvSpPr>
          <p:cNvPr id="17" name="Shape 14"/>
          <p:cNvSpPr/>
          <p:nvPr/>
        </p:nvSpPr>
        <p:spPr>
          <a:xfrm>
            <a:off x="4407408" y="1600200"/>
            <a:ext cx="3520440" cy="3200400"/>
          </a:xfrm>
          <a:prstGeom prst="roundRect">
            <a:avLst>
              <a:gd name="adj" fmla="val 2571"/>
            </a:avLst>
          </a:prstGeom>
          <a:solidFill>
            <a:srgbClr val="F7F5F0"/>
          </a:solidFill>
          <a:ln w="12700">
            <a:solidFill>
              <a:srgbClr val="F7F5F0"/>
            </a:solidFill>
            <a:prstDash val="solid"/>
          </a:ln>
        </p:spPr>
      </p:sp>
      <p:sp>
        <p:nvSpPr>
          <p:cNvPr id="18" name="Text 15"/>
          <p:cNvSpPr/>
          <p:nvPr/>
        </p:nvSpPr>
        <p:spPr>
          <a:xfrm>
            <a:off x="4663440" y="1828800"/>
            <a:ext cx="3017520" cy="777240"/>
          </a:xfrm>
          <a:prstGeom prst="rect">
            <a:avLst/>
          </a:prstGeom>
          <a:noFill/>
          <a:ln/>
        </p:spPr>
        <p:txBody>
          <a:bodyPr wrap="square" lIns="0" tIns="0" rIns="0" bIns="0" rtlCol="0" anchor="t"/>
          <a:lstStyle/>
          <a:p>
            <a:pPr indent="0" marL="0">
              <a:buNone/>
            </a:pPr>
            <a:r>
              <a:rPr lang="en-US" sz="1800" b="1" dirty="0">
                <a:solidFill>
                  <a:srgbClr val="B4453A"/>
                </a:solidFill>
                <a:latin typeface="Inter" pitchFamily="34" charset="0"/>
                <a:ea typeface="Inter" pitchFamily="34" charset="-122"/>
                <a:cs typeface="Inter" pitchFamily="34" charset="-120"/>
              </a:rPr>
              <a:t>Volume is not trust</a:t>
            </a:r>
            <a:endParaRPr lang="en-US" sz="1800" dirty="0"/>
          </a:p>
        </p:txBody>
      </p:sp>
      <p:sp>
        <p:nvSpPr>
          <p:cNvPr id="19" name="Text 16"/>
          <p:cNvSpPr/>
          <p:nvPr/>
        </p:nvSpPr>
        <p:spPr>
          <a:xfrm>
            <a:off x="4663440" y="2697480"/>
            <a:ext cx="3017520" cy="1920240"/>
          </a:xfrm>
          <a:prstGeom prst="rect">
            <a:avLst/>
          </a:prstGeom>
          <a:noFill/>
          <a:ln/>
        </p:spPr>
        <p:txBody>
          <a:bodyPr wrap="square" lIns="0" tIns="0" rIns="0" bIns="0" rtlCol="0" anchor="t"/>
          <a:lstStyle/>
          <a:p>
            <a:pPr indent="0" marL="0">
              <a:lnSpc>
                <a:spcPct val="114000"/>
              </a:lnSpc>
              <a:buNone/>
            </a:pPr>
            <a:r>
              <a:rPr lang="en-US" sz="1450" dirty="0">
                <a:solidFill>
                  <a:srgbClr val="1B1F24"/>
                </a:solidFill>
                <a:latin typeface="Inter" pitchFamily="34" charset="0"/>
                <a:ea typeface="Inter" pitchFamily="34" charset="-122"/>
                <a:cs typeface="Inter" pitchFamily="34" charset="-120"/>
              </a:rPr>
              <a:t>Four notes do not repair a relationship. Forty do not either. Consistency does, and the tool lowers the cost of consistency.</a:t>
            </a:r>
            <a:endParaRPr lang="en-US" sz="1450" dirty="0"/>
          </a:p>
        </p:txBody>
      </p:sp>
      <p:sp>
        <p:nvSpPr>
          <p:cNvPr id="20" name="Shape 17"/>
          <p:cNvSpPr/>
          <p:nvPr/>
        </p:nvSpPr>
        <p:spPr>
          <a:xfrm>
            <a:off x="8174736" y="1600200"/>
            <a:ext cx="3520440" cy="3200400"/>
          </a:xfrm>
          <a:prstGeom prst="roundRect">
            <a:avLst>
              <a:gd name="adj" fmla="val 2571"/>
            </a:avLst>
          </a:prstGeom>
          <a:solidFill>
            <a:srgbClr val="F7F5F0"/>
          </a:solidFill>
          <a:ln w="12700">
            <a:solidFill>
              <a:srgbClr val="F7F5F0"/>
            </a:solidFill>
            <a:prstDash val="solid"/>
          </a:ln>
        </p:spPr>
      </p:sp>
      <p:sp>
        <p:nvSpPr>
          <p:cNvPr id="21" name="Text 18"/>
          <p:cNvSpPr/>
          <p:nvPr/>
        </p:nvSpPr>
        <p:spPr>
          <a:xfrm>
            <a:off x="8430768" y="1828800"/>
            <a:ext cx="3017520" cy="777240"/>
          </a:xfrm>
          <a:prstGeom prst="rect">
            <a:avLst/>
          </a:prstGeom>
          <a:noFill/>
          <a:ln/>
        </p:spPr>
        <p:txBody>
          <a:bodyPr wrap="square" lIns="0" tIns="0" rIns="0" bIns="0" rtlCol="0" anchor="t"/>
          <a:lstStyle/>
          <a:p>
            <a:pPr indent="0" marL="0">
              <a:buNone/>
            </a:pPr>
            <a:r>
              <a:rPr lang="en-US" sz="1800" b="1" dirty="0">
                <a:solidFill>
                  <a:srgbClr val="B4453A"/>
                </a:solidFill>
                <a:latin typeface="Inter" pitchFamily="34" charset="0"/>
                <a:ea typeface="Inter" pitchFamily="34" charset="-122"/>
                <a:cs typeface="Inter" pitchFamily="34" charset="-120"/>
              </a:rPr>
              <a:t>The evidence has a boundary</a:t>
            </a:r>
            <a:endParaRPr lang="en-US" sz="1800" dirty="0"/>
          </a:p>
        </p:txBody>
      </p:sp>
      <p:sp>
        <p:nvSpPr>
          <p:cNvPr id="22" name="Text 19"/>
          <p:cNvSpPr/>
          <p:nvPr/>
        </p:nvSpPr>
        <p:spPr>
          <a:xfrm>
            <a:off x="8430768" y="2697480"/>
            <a:ext cx="3017520" cy="1920240"/>
          </a:xfrm>
          <a:prstGeom prst="rect">
            <a:avLst/>
          </a:prstGeom>
          <a:noFill/>
          <a:ln/>
        </p:spPr>
        <p:txBody>
          <a:bodyPr wrap="square" lIns="0" tIns="0" rIns="0" bIns="0" rtlCol="0" anchor="t"/>
          <a:lstStyle/>
          <a:p>
            <a:pPr indent="0" marL="0">
              <a:lnSpc>
                <a:spcPct val="114000"/>
              </a:lnSpc>
              <a:buNone/>
            </a:pPr>
            <a:r>
              <a:rPr lang="en-US" sz="1450" dirty="0">
                <a:solidFill>
                  <a:srgbClr val="1B1F24"/>
                </a:solidFill>
                <a:latin typeface="Inter" pitchFamily="34" charset="0"/>
                <a:ea typeface="Inter" pitchFamily="34" charset="-122"/>
                <a:cs typeface="Inter" pitchFamily="34" charset="-120"/>
              </a:rPr>
              <a:t>Kraft &amp; Rogers ran in a summer credit-recovery program and tested a bundle. Worth doing. Not proof of which ingredient did it.</a:t>
            </a:r>
            <a:endParaRPr lang="en-US" sz="145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Communication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C9D4DE"/>
                </a:solidFill>
                <a:latin typeface="Inter" pitchFamily="34" charset="0"/>
                <a:ea typeface="Inter" pitchFamily="34" charset="-122"/>
                <a:cs typeface="Inter" pitchFamily="34" charset="-120"/>
              </a:rPr>
              <a:t>Her commitments: ten minutes on Friday, the hard message by hand, the red line.</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THREE</a:t>
            </a:r>
            <a:endParaRPr lang="en-US" sz="1200" dirty="0"/>
          </a:p>
        </p:txBody>
      </p:sp>
      <p:sp>
        <p:nvSpPr>
          <p:cNvPr id="13" name="Text 10"/>
          <p:cNvSpPr/>
          <p:nvPr/>
        </p:nvSpPr>
        <p:spPr>
          <a:xfrm>
            <a:off x="640080" y="118872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22960" y="2286000"/>
            <a:ext cx="548640" cy="548640"/>
          </a:xfrm>
          <a:prstGeom prst="ellipse">
            <a:avLst/>
          </a:prstGeom>
          <a:solidFill>
            <a:srgbClr val="2A9D8F"/>
          </a:solidFill>
          <a:ln w="12700">
            <a:solidFill>
              <a:srgbClr val="2A9D8F"/>
            </a:solidFill>
            <a:prstDash val="solid"/>
          </a:ln>
        </p:spPr>
      </p:sp>
      <p:sp>
        <p:nvSpPr>
          <p:cNvPr id="15" name="Text 12"/>
          <p:cNvSpPr/>
          <p:nvPr/>
        </p:nvSpPr>
        <p:spPr>
          <a:xfrm>
            <a:off x="822960" y="228600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1</a:t>
            </a:r>
            <a:endParaRPr lang="en-US" sz="1900" dirty="0"/>
          </a:p>
        </p:txBody>
      </p:sp>
      <p:sp>
        <p:nvSpPr>
          <p:cNvPr id="16" name="Text 13"/>
          <p:cNvSpPr/>
          <p:nvPr/>
        </p:nvSpPr>
        <p:spPr>
          <a:xfrm>
            <a:off x="1600200" y="2194560"/>
            <a:ext cx="9784080" cy="777240"/>
          </a:xfrm>
          <a:prstGeom prst="rect">
            <a:avLst/>
          </a:prstGeom>
          <a:noFill/>
          <a:ln/>
        </p:spPr>
        <p:txBody>
          <a:bodyPr wrap="square" lIns="0" tIns="0" rIns="0" bIns="0" rtlCol="0" anchor="ctr"/>
          <a:lstStyle/>
          <a:p>
            <a:pPr indent="0" marL="0">
              <a:lnSpc>
                <a:spcPct val="110000"/>
              </a:lnSpc>
              <a:buNone/>
            </a:pPr>
            <a:r>
              <a:rPr lang="en-US" sz="1900" b="1" dirty="0">
                <a:solidFill>
                  <a:srgbClr val="2A9D8F"/>
                </a:solidFill>
                <a:latin typeface="Inter" pitchFamily="34" charset="0"/>
                <a:ea typeface="Inter" pitchFamily="34" charset="-122"/>
                <a:cs typeface="Inter" pitchFamily="34" charset="-120"/>
              </a:rPr>
              <a:t>Ten minutes a week, on a day with a name: four families who hear from me when nothing is wrong.</a:t>
            </a:r>
            <a:endParaRPr lang="en-US" sz="1900" dirty="0"/>
          </a:p>
        </p:txBody>
      </p:sp>
      <p:sp>
        <p:nvSpPr>
          <p:cNvPr id="17" name="Shape 14"/>
          <p:cNvSpPr/>
          <p:nvPr/>
        </p:nvSpPr>
        <p:spPr>
          <a:xfrm>
            <a:off x="822960" y="3337560"/>
            <a:ext cx="548640" cy="548640"/>
          </a:xfrm>
          <a:prstGeom prst="ellipse">
            <a:avLst/>
          </a:prstGeom>
          <a:solidFill>
            <a:srgbClr val="2A9D8F"/>
          </a:solidFill>
          <a:ln w="12700">
            <a:solidFill>
              <a:srgbClr val="2A9D8F"/>
            </a:solidFill>
            <a:prstDash val="solid"/>
          </a:ln>
        </p:spPr>
      </p:sp>
      <p:sp>
        <p:nvSpPr>
          <p:cNvPr id="18" name="Text 15"/>
          <p:cNvSpPr/>
          <p:nvPr/>
        </p:nvSpPr>
        <p:spPr>
          <a:xfrm>
            <a:off x="822960" y="333756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2</a:t>
            </a:r>
            <a:endParaRPr lang="en-US" sz="1900" dirty="0"/>
          </a:p>
        </p:txBody>
      </p:sp>
      <p:sp>
        <p:nvSpPr>
          <p:cNvPr id="19" name="Text 16"/>
          <p:cNvSpPr/>
          <p:nvPr/>
        </p:nvSpPr>
        <p:spPr>
          <a:xfrm>
            <a:off x="1600200" y="3246120"/>
            <a:ext cx="9784080" cy="777240"/>
          </a:xfrm>
          <a:prstGeom prst="rect">
            <a:avLst/>
          </a:prstGeom>
          <a:noFill/>
          <a:ln/>
        </p:spPr>
        <p:txBody>
          <a:bodyPr wrap="square" lIns="0" tIns="0" rIns="0" bIns="0" rtlCol="0" anchor="ctr"/>
          <a:lstStyle/>
          <a:p>
            <a:pPr indent="0" marL="0">
              <a:lnSpc>
                <a:spcPct val="110000"/>
              </a:lnSpc>
              <a:buNone/>
            </a:pPr>
            <a:r>
              <a:rPr lang="en-US" sz="1900" b="1" dirty="0">
                <a:solidFill>
                  <a:srgbClr val="2A9D8F"/>
                </a:solidFill>
                <a:latin typeface="Inter" pitchFamily="34" charset="0"/>
                <a:ea typeface="Inter" pitchFamily="34" charset="-122"/>
                <a:cs typeface="Inter" pitchFamily="34" charset="-120"/>
              </a:rPr>
              <a:t>I write the hard message myself. The tool only ever reads it back.</a:t>
            </a:r>
            <a:endParaRPr lang="en-US" sz="1900" dirty="0"/>
          </a:p>
        </p:txBody>
      </p:sp>
      <p:sp>
        <p:nvSpPr>
          <p:cNvPr id="20" name="Shape 17"/>
          <p:cNvSpPr/>
          <p:nvPr/>
        </p:nvSpPr>
        <p:spPr>
          <a:xfrm>
            <a:off x="822960" y="4389120"/>
            <a:ext cx="548640" cy="548640"/>
          </a:xfrm>
          <a:prstGeom prst="ellipse">
            <a:avLst/>
          </a:prstGeom>
          <a:solidFill>
            <a:srgbClr val="2A9D8F"/>
          </a:solidFill>
          <a:ln w="12700">
            <a:solidFill>
              <a:srgbClr val="2A9D8F"/>
            </a:solidFill>
            <a:prstDash val="solid"/>
          </a:ln>
        </p:spPr>
      </p:sp>
      <p:sp>
        <p:nvSpPr>
          <p:cNvPr id="21" name="Text 18"/>
          <p:cNvSpPr/>
          <p:nvPr/>
        </p:nvSpPr>
        <p:spPr>
          <a:xfrm>
            <a:off x="822960" y="438912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Inter" pitchFamily="34" charset="0"/>
                <a:ea typeface="Inter" pitchFamily="34" charset="-122"/>
                <a:cs typeface="Inter" pitchFamily="34" charset="-120"/>
              </a:rPr>
              <a:t>3</a:t>
            </a:r>
            <a:endParaRPr lang="en-US" sz="1900" dirty="0"/>
          </a:p>
        </p:txBody>
      </p:sp>
      <p:sp>
        <p:nvSpPr>
          <p:cNvPr id="22" name="Text 19"/>
          <p:cNvSpPr/>
          <p:nvPr/>
        </p:nvSpPr>
        <p:spPr>
          <a:xfrm>
            <a:off x="1600200" y="4297680"/>
            <a:ext cx="9784080" cy="777240"/>
          </a:xfrm>
          <a:prstGeom prst="rect">
            <a:avLst/>
          </a:prstGeom>
          <a:noFill/>
          <a:ln/>
        </p:spPr>
        <p:txBody>
          <a:bodyPr wrap="square" lIns="0" tIns="0" rIns="0" bIns="0" rtlCol="0" anchor="ctr"/>
          <a:lstStyle/>
          <a:p>
            <a:pPr indent="0" marL="0">
              <a:lnSpc>
                <a:spcPct val="110000"/>
              </a:lnSpc>
              <a:buNone/>
            </a:pPr>
            <a:r>
              <a:rPr lang="en-US" sz="1900" b="1" dirty="0">
                <a:solidFill>
                  <a:srgbClr val="2A9D8F"/>
                </a:solidFill>
                <a:latin typeface="Inter" pitchFamily="34" charset="0"/>
                <a:ea typeface="Inter" pitchFamily="34" charset="-122"/>
                <a:cs typeface="Inter" pitchFamily="34" charset="-120"/>
              </a:rPr>
              <a:t>No family message through a public AI translator, and nothing goes out unread.</a:t>
            </a:r>
            <a:endParaRPr lang="en-US" sz="1900" dirty="0"/>
          </a:p>
        </p:txBody>
      </p:sp>
      <p:sp>
        <p:nvSpPr>
          <p:cNvPr id="23" name="Text 20"/>
          <p:cNvSpPr/>
          <p:nvPr/>
        </p:nvSpPr>
        <p:spPr>
          <a:xfrm>
            <a:off x="640080" y="55321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next kit: workload. The rest of the week gets audited.</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6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300" b="1" dirty="0">
                <a:solidFill>
                  <a:srgbClr val="13293D"/>
                </a:solidFill>
                <a:latin typeface="Inter" pitchFamily="34" charset="0"/>
                <a:ea typeface="Inter" pitchFamily="34" charset="-122"/>
                <a:cs typeface="Inter" pitchFamily="34" charset="-120"/>
              </a:rPr>
              <a:t>1 · Foundations &amp; Safety  ✔</a:t>
            </a:r>
            <a:endParaRPr lang="en-US" sz="130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300" b="1" dirty="0">
                <a:solidFill>
                  <a:srgbClr val="13293D"/>
                </a:solidFill>
                <a:latin typeface="Inter" pitchFamily="34" charset="0"/>
                <a:ea typeface="Inter" pitchFamily="34" charset="-122"/>
                <a:cs typeface="Inter" pitchFamily="34" charset="-120"/>
              </a:rPr>
              <a:t>2 · Prompting Basics  ✔</a:t>
            </a:r>
            <a:endParaRPr lang="en-US" sz="130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300" b="1" dirty="0">
                <a:solidFill>
                  <a:srgbClr val="13293D"/>
                </a:solidFill>
                <a:latin typeface="Inter" pitchFamily="34" charset="0"/>
                <a:ea typeface="Inter" pitchFamily="34" charset="-122"/>
                <a:cs typeface="Inter" pitchFamily="34" charset="-120"/>
              </a:rPr>
              <a:t>3 · Planning &amp; Differentiation  ✔</a:t>
            </a:r>
            <a:endParaRPr lang="en-US" sz="130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300" b="1" dirty="0">
                <a:solidFill>
                  <a:srgbClr val="13293D"/>
                </a:solidFill>
                <a:latin typeface="Inter" pitchFamily="34" charset="0"/>
                <a:ea typeface="Inter" pitchFamily="34" charset="-122"/>
                <a:cs typeface="Inter" pitchFamily="34" charset="-120"/>
              </a:rPr>
              <a:t>4 · Assessment  ✔</a:t>
            </a:r>
            <a:endParaRPr lang="en-US" sz="1300" dirty="0"/>
          </a:p>
        </p:txBody>
      </p:sp>
      <p:sp>
        <p:nvSpPr>
          <p:cNvPr id="22" name="Shape 19"/>
          <p:cNvSpPr/>
          <p:nvPr/>
        </p:nvSpPr>
        <p:spPr>
          <a:xfrm>
            <a:off x="640080" y="2743200"/>
            <a:ext cx="2651760" cy="1005840"/>
          </a:xfrm>
          <a:prstGeom prst="roundRect">
            <a:avLst>
              <a:gd name="adj" fmla="val 8182"/>
            </a:avLst>
          </a:prstGeom>
          <a:solidFill>
            <a:srgbClr val="EAF5F3"/>
          </a:solidFill>
          <a:ln w="12700">
            <a:solidFill>
              <a:srgbClr val="EAF5F3"/>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300" b="1" dirty="0">
                <a:solidFill>
                  <a:srgbClr val="13293D"/>
                </a:solidFill>
                <a:latin typeface="Inter" pitchFamily="34" charset="0"/>
                <a:ea typeface="Inter" pitchFamily="34" charset="-122"/>
                <a:cs typeface="Inter" pitchFamily="34" charset="-120"/>
              </a:rPr>
              <a:t>5 · Academic Integrity  ✔</a:t>
            </a:r>
            <a:endParaRPr lang="en-US" sz="1300" dirty="0"/>
          </a:p>
        </p:txBody>
      </p:sp>
      <p:sp>
        <p:nvSpPr>
          <p:cNvPr id="24" name="Shape 21"/>
          <p:cNvSpPr/>
          <p:nvPr/>
        </p:nvSpPr>
        <p:spPr>
          <a:xfrm>
            <a:off x="3474720" y="2743200"/>
            <a:ext cx="2651760" cy="1005840"/>
          </a:xfrm>
          <a:prstGeom prst="roundRect">
            <a:avLst>
              <a:gd name="adj" fmla="val 8182"/>
            </a:avLst>
          </a:prstGeom>
          <a:solidFill>
            <a:srgbClr val="EAF5F3"/>
          </a:solidFill>
          <a:ln w="12700">
            <a:solidFill>
              <a:srgbClr val="EAF5F3"/>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300" b="1" dirty="0">
                <a:solidFill>
                  <a:srgbClr val="13293D"/>
                </a:solidFill>
                <a:latin typeface="Inter" pitchFamily="34" charset="0"/>
                <a:ea typeface="Inter" pitchFamily="34" charset="-122"/>
                <a:cs typeface="Inter" pitchFamily="34" charset="-120"/>
              </a:rPr>
              <a:t>6 · Communication  ✔</a:t>
            </a:r>
            <a:endParaRPr lang="en-US" sz="130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300" dirty="0">
                <a:solidFill>
                  <a:srgbClr val="13293D"/>
                </a:solidFill>
                <a:latin typeface="Inter" pitchFamily="34" charset="0"/>
                <a:ea typeface="Inter" pitchFamily="34" charset="-122"/>
                <a:cs typeface="Inter" pitchFamily="34" charset="-120"/>
              </a:rPr>
              <a:t>7 · Workload</a:t>
            </a:r>
            <a:endParaRPr lang="en-US" sz="130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300" dirty="0">
                <a:solidFill>
                  <a:srgbClr val="13293D"/>
                </a:solidFill>
                <a:latin typeface="Inter" pitchFamily="34" charset="0"/>
                <a:ea typeface="Inter" pitchFamily="34" charset="-122"/>
                <a:cs typeface="Inter" pitchFamily="34" charset="-120"/>
              </a:rPr>
              <a:t>8 · Your School’s AI Culture</a:t>
            </a:r>
            <a:endParaRPr lang="en-US" sz="130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7, AI for Workload. </a:t>
            </a:r>
            <a:pPr indent="0" marL="0">
              <a:buNone/>
            </a:pPr>
            <a:r>
              <a:rPr lang="en-US" sz="1700" dirty="0">
                <a:solidFill>
                  <a:srgbClr val="C9D4DE"/>
                </a:solidFill>
                <a:latin typeface="Inter" pitchFamily="34" charset="0"/>
                <a:ea typeface="Inter" pitchFamily="34" charset="-122"/>
                <a:cs typeface="Inter" pitchFamily="34" charset="-120"/>
              </a:rPr>
              <a:t>You just bought back ten minutes and spent them on families. Kit 7 audits the rest of the week and finds the other hours. Bring your calendar.</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48 hours: send the four, send the hard one, calendar next Friday.</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50876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928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550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Send the four notes</a:t>
            </a:r>
            <a:endParaRPr lang="en-US" sz="2000" dirty="0"/>
          </a:p>
        </p:txBody>
      </p:sp>
      <p:sp>
        <p:nvSpPr>
          <p:cNvPr id="17" name="Text 14"/>
          <p:cNvSpPr/>
          <p:nvPr/>
        </p:nvSpPr>
        <p:spPr>
          <a:xfrm>
            <a:off x="2377440" y="2130552"/>
            <a:ext cx="905256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They are written. They need a send button and nothing else.</a:t>
            </a:r>
            <a:endParaRPr lang="en-US" sz="1550" dirty="0"/>
          </a:p>
        </p:txBody>
      </p:sp>
      <p:sp>
        <p:nvSpPr>
          <p:cNvPr id="18" name="Shape 15"/>
          <p:cNvSpPr/>
          <p:nvPr/>
        </p:nvSpPr>
        <p:spPr>
          <a:xfrm>
            <a:off x="640080" y="292608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3101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723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Send the hard message</a:t>
            </a:r>
            <a:endParaRPr lang="en-US" sz="2000" dirty="0"/>
          </a:p>
        </p:txBody>
      </p:sp>
      <p:sp>
        <p:nvSpPr>
          <p:cNvPr id="21" name="Text 18"/>
          <p:cNvSpPr/>
          <p:nvPr/>
        </p:nvSpPr>
        <p:spPr>
          <a:xfrm>
            <a:off x="2377440" y="3547872"/>
            <a:ext cx="905256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Read it out loud once first. Your ear catches blame faster than your eye.</a:t>
            </a:r>
            <a:endParaRPr lang="en-US" sz="1550" dirty="0"/>
          </a:p>
        </p:txBody>
      </p:sp>
      <p:sp>
        <p:nvSpPr>
          <p:cNvPr id="22" name="Shape 19"/>
          <p:cNvSpPr/>
          <p:nvPr/>
        </p:nvSpPr>
        <p:spPr>
          <a:xfrm>
            <a:off x="640080" y="434340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72744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8970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Calendar next week’s ten minutes</a:t>
            </a:r>
            <a:endParaRPr lang="en-US" sz="2000" dirty="0"/>
          </a:p>
        </p:txBody>
      </p:sp>
      <p:sp>
        <p:nvSpPr>
          <p:cNvPr id="25" name="Text 22"/>
          <p:cNvSpPr/>
          <p:nvPr/>
        </p:nvSpPr>
        <p:spPr>
          <a:xfrm>
            <a:off x="2377440" y="4965192"/>
            <a:ext cx="905256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 day with a name, and the next four families written down. The habit dies without a day.</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Communication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900" dirty="0">
                <a:solidFill>
                  <a:srgbClr val="1B1F24"/>
                </a:solidFill>
                <a:latin typeface="Inter" pitchFamily="34" charset="0"/>
                <a:ea typeface="Inter" pitchFamily="34" charset="-122"/>
                <a:cs typeface="Inter" pitchFamily="34" charset="-120"/>
              </a:rPr>
              <a:t>Her exit ticket: four initials, one detail she is proud of, one message dated.</a:t>
            </a:r>
            <a:endParaRPr lang="en-US" sz="9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64592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The four families, by initials, and the day your ten minutes lives</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The one true detail you are proudest of noticing</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The hard message you drafted, and the date it goes out</a:t>
            </a:r>
            <a:endParaRPr lang="en-US" sz="2200" dirty="0"/>
          </a:p>
        </p:txBody>
      </p:sp>
      <p:sp>
        <p:nvSpPr>
          <p:cNvPr id="15" name="Shape 12"/>
          <p:cNvSpPr/>
          <p:nvPr/>
        </p:nvSpPr>
        <p:spPr>
          <a:xfrm>
            <a:off x="640080" y="434340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60120" y="4343400"/>
            <a:ext cx="10332720" cy="12344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Your answers steer the PLC follow-ups, and the ticket doubles as this school’s PD documentation. Be specific.</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Communication   |   32</a:t>
            </a:r>
            <a:endParaRPr lang="en-US" sz="900" dirty="0"/>
          </a:p>
        </p:txBody>
      </p:sp>
      <p:sp>
        <p:nvSpPr>
          <p:cNvPr id="5" name="Text 2"/>
          <p:cNvSpPr/>
          <p:nvPr/>
        </p:nvSpPr>
        <p:spPr>
          <a:xfrm>
            <a:off x="640080" y="1554480"/>
            <a:ext cx="10972800" cy="2286000"/>
          </a:xfrm>
          <a:prstGeom prst="rect">
            <a:avLst/>
          </a:prstGeom>
          <a:noFill/>
          <a:ln/>
        </p:spPr>
        <p:txBody>
          <a:bodyPr wrap="square" lIns="0" tIns="0" rIns="0" bIns="0" rtlCol="0" anchor="ctr"/>
          <a:lstStyle/>
          <a:p>
            <a:pPr algn="ctr" indent="0" marL="0">
              <a:lnSpc>
                <a:spcPct val="120000"/>
              </a:lnSpc>
              <a:buNone/>
            </a:pPr>
            <a:r>
              <a:rPr lang="en-US" sz="3300" b="1" dirty="0">
                <a:solidFill>
                  <a:srgbClr val="FFFFFF"/>
                </a:solidFill>
                <a:latin typeface="Inter" pitchFamily="34" charset="0"/>
                <a:ea typeface="Inter" pitchFamily="34" charset="-122"/>
                <a:cs typeface="Inter" pitchFamily="34" charset="-120"/>
              </a:rPr>
              <a:t>Nobody remembers a beige note.</a:t>
            </a:r>
            <a:endParaRPr lang="en-US" sz="3300" dirty="0"/>
          </a:p>
          <a:p>
            <a:pPr algn="ctr" indent="0" marL="0">
              <a:lnSpc>
                <a:spcPct val="120000"/>
              </a:lnSpc>
              <a:buNone/>
            </a:pPr>
            <a:r>
              <a:rPr lang="en-US" sz="3300" b="1" dirty="0">
                <a:solidFill>
                  <a:srgbClr val="FFFFFF"/>
                </a:solidFill>
                <a:latin typeface="Inter" pitchFamily="34" charset="0"/>
                <a:ea typeface="Inter" pitchFamily="34" charset="-122"/>
                <a:cs typeface="Inter" pitchFamily="34" charset="-120"/>
              </a:rPr>
              <a:t>Nobody forgets a true sentence</a:t>
            </a:r>
            <a:endParaRPr lang="en-US" sz="3300" dirty="0"/>
          </a:p>
          <a:p>
            <a:pPr algn="ctr" indent="0" marL="0">
              <a:lnSpc>
                <a:spcPct val="120000"/>
              </a:lnSpc>
              <a:buNone/>
            </a:pPr>
            <a:r>
              <a:rPr lang="en-US" sz="3300" b="1" dirty="0">
                <a:solidFill>
                  <a:srgbClr val="FFFFFF"/>
                </a:solidFill>
                <a:latin typeface="Inter" pitchFamily="34" charset="0"/>
                <a:ea typeface="Inter" pitchFamily="34" charset="-122"/>
                <a:cs typeface="Inter" pitchFamily="34" charset="-120"/>
              </a:rPr>
              <a:t>about their kid.</a:t>
            </a:r>
            <a:endParaRPr lang="en-US" sz="3300" dirty="0"/>
          </a:p>
        </p:txBody>
      </p:sp>
      <p:sp>
        <p:nvSpPr>
          <p:cNvPr id="6" name="Text 3"/>
          <p:cNvSpPr/>
          <p:nvPr/>
        </p:nvSpPr>
        <p:spPr>
          <a:xfrm>
            <a:off x="640080" y="4114800"/>
            <a:ext cx="10972800" cy="1188720"/>
          </a:xfrm>
          <a:prstGeom prst="rect">
            <a:avLst/>
          </a:prstGeom>
          <a:noFill/>
          <a:ln/>
        </p:spPr>
        <p:txBody>
          <a:bodyPr wrap="square" lIns="0" tIns="0" rIns="0" bIns="0" rtlCol="0" anchor="ctr"/>
          <a:lstStyle/>
          <a:p>
            <a:pPr algn="ctr" indent="0" marL="0">
              <a:lnSpc>
                <a:spcPct val="125000"/>
              </a:lnSpc>
              <a:buNone/>
            </a:pPr>
            <a:r>
              <a:rPr lang="en-US" sz="2200" b="1" dirty="0">
                <a:solidFill>
                  <a:srgbClr val="2A9D8F"/>
                </a:solidFill>
                <a:latin typeface="Inter" pitchFamily="34" charset="0"/>
                <a:ea typeface="Inter" pitchFamily="34" charset="-122"/>
                <a:cs typeface="Inter" pitchFamily="34" charset="-120"/>
              </a:rPr>
              <a:t>The tool bought you the volume.</a:t>
            </a:r>
            <a:endParaRPr lang="en-US" sz="2200" dirty="0"/>
          </a:p>
          <a:p>
            <a:pPr algn="ctr" indent="0" marL="0">
              <a:lnSpc>
                <a:spcPct val="125000"/>
              </a:lnSpc>
              <a:buNone/>
            </a:pPr>
            <a:r>
              <a:rPr lang="en-US" sz="2200" b="1" dirty="0">
                <a:solidFill>
                  <a:srgbClr val="2A9D8F"/>
                </a:solidFill>
                <a:latin typeface="Inter" pitchFamily="34" charset="0"/>
                <a:ea typeface="Inter" pitchFamily="34" charset="-122"/>
                <a:cs typeface="Inter" pitchFamily="34" charset="-120"/>
              </a:rPr>
              <a:t>The sentence in the middle is still yours, and so is the hard message.</a:t>
            </a:r>
            <a:endParaRPr lang="en-US" sz="22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6: AI for Communication: Parent Messages and Tone</dc:title>
  <dc:subject>PptxGenJS Presentation</dc:subject>
  <dc:creator>Adam &amp; Katelyn Spinozzi</dc:creator>
  <cp:lastModifiedBy>Adam &amp; Katelyn Spinozzi</cp:lastModifiedBy>
  <cp:revision>1</cp:revision>
  <dcterms:created xsi:type="dcterms:W3CDTF">2026-08-17T11:29:49Z</dcterms:created>
  <dcterms:modified xsi:type="dcterms:W3CDTF">2026-08-17T11:29:49Z</dcterms:modified>
</cp:coreProperties>
</file>