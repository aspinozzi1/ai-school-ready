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Say: today is about what goes home, and by the end next week's real message is written and sounding like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 is real and recoverable; the risk is your voice. Both stats verified: Merrimack/EdWeek 2022; Gallup-Walton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Kraft &amp; Rogers 2015, Economics of Education Review: one individualized sentence per week, 41% failure reduction, improvement-focused messages strongest. This study powers the positive-note batch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real messages ready to send, not notes about messages.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jobs the tool does well, and the one it can't: knowing the family. That line sets up the whole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Kit 2's voice round is about to become the most important skill in this session. The beige risk is real and families are the first to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rules are Kit 1 carryovers: no student PII in public tools; nothing AI-drafted reaches a family unread (U.S. DoE humans-in-the-loop,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said slowly. Every technique in the next twenty minutes serves this banner.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count the four color-coded parts with me: role in teal, task in navy, context in amber (look how much she gives it), format in green. Ninety seconds of typing; the draft comes back needing only her voice pass. This is the shape to mimic in lab step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let the tool absorb the heat; the emotion comes out, the relationship stays intact. Specifics and names get added in her own email. The 24-hour rule needs no AI: it's wisdom with a timestamp.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Kraft &amp; Rogers turned into five minutes a week: improvement-focused, individualized, personalized by you. The personalizing step is not optional; it's the mechanism. The lab takes one message start to finish, so the batch is homework: the prompt is on the handout, and it's Send 2 on the First 48 Hours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when a message home goes wrong, it's usually because the prompt skipped part of Kit 2's formula (Role, Task, Context, Format), so diagnose WHICH part. Let the room name the missing part before you confirm with the right column. The fix is never mysterious: hand the prompt the part it skipped and run it again. 45-min cut: rows 1 and 3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commands, one test, one rule; that's the whole kit, and the next slide puts it to work. Expect real feeling on the 24-hour rule; someone in the room has sent the email they regret. Give it a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real drafts, one command each; call it out. Read each draft, let the room call warmer / shorter / plainer, then read the repaired line from the right column. 45-min cut: draft A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one red line before the lab, and it's short. We do not use public AI tools to translate messages to families: you cannot review what you cannot read, and nothing goes home with your name on it unreviewed. Official and legal documents already have a lane, the district's translation channels. Your job is the plain-language original; that's the version every family can use and the version district translators do their best work from. Never trim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slowly. This is the line that makes all the efficiency defensible; say so out loud. Never trim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beat, then the lab. Say: AI made deposits cheap. The lab starts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eighteen minutes, one deliverable, completely real: the message you owe families this week, drafted, voiced, the hard part repaired, action items on top, scheduled. Dark slide. Pairs formed inside two minutes; announce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draft the message you actually owe families, all four parts, generous context. On screen, Ms. Rivera's first draft: notice it's close and notice it isn't her yet, and the one thing families must act on sits in the last line. That's normal for a first draft. 6 minutes (45-min cut: 5). Circulate; weak drafts lack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read it aloud to your partner; every sentence your mouth wouldn't say gets retyped the way you'd say it. On screen, the same newsletter, v2: it sounds like her now, and one thing is still wrong. 4 minutes. 45-min cut: fold step 4 in here (one read-aloud fixes voice and order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find the sentence you've been avoiding and rewrite it warm, plain, and guilt-free, ending with what to do and by when. Ms. Rivera's was the permission-slip line: same requirement, zero sting. If yours came out a little angry, this is where the 24-hour rule gets its workout. 4 minutes; protect this step. Circulate for the sentence people are avoiding.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pull every action item to the top with dates, keep it plain and under about 150 words, then trade one last time: your partner reads it as a tired parent on a phone and flags anything unclear. When it comes back clean, schedule the send right now. 4 minutes. 45-min cut: folded into step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voices, one minute each. 45-min cut: two voices. Same facts on both cards; the after is simply her. The voice diversity IS the lesson; name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inventory land. The message on it actually sends this week; that's what separates this from PD that evaporates.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honest-limits slide every kit carries. The middle bullet restates the red line as a limit, not a rule. End on the consistency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all three, ask for the visible nod, same ritual as every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inside existing PLC time. The makeover swap runs on the tone kit: warmer, shorter, plainer, read it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 sheet out as you talk. Three sends, and families actually feel this PD.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"still want help with" answers set the follow-ups' agenda. Collect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Collect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6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AI for Communication:</a:t>
            </a:r>
            <a:endParaRPr lang="en-US" sz="4000" dirty="0"/>
          </a:p>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Parent Messages and Tone</a:t>
            </a:r>
            <a:endParaRPr lang="en-US" sz="40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next week's real family message written, voiced, and ready to send.</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math: one wave of messages a week, drafted in the margins after dinner.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COMMUNICATION ACTUALLY LIVES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margin problem</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13293D"/>
                </a:solidFill>
                <a:latin typeface="Inter" pitchFamily="34" charset="0"/>
                <a:ea typeface="Inter" pitchFamily="34" charset="-122"/>
                <a:cs typeface="Inter" pitchFamily="34" charset="-120"/>
              </a:rPr>
              <a:t>THE WEEK</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13293D"/>
                </a:solidFill>
                <a:latin typeface="Inter" pitchFamily="34" charset="0"/>
                <a:ea typeface="Inter" pitchFamily="34" charset="-122"/>
                <a:cs typeface="Inter" pitchFamily="34" charset="-120"/>
              </a:rPr>
              <a:t>~54 hrs</a:t>
            </a:r>
            <a:endParaRPr lang="en-US" sz="52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teacher work week, with less than half spent directly teaching. Family communication lives in the rest: the after-dinner margins. (Merrimack College/EdWeek, 2022)</a:t>
            </a:r>
            <a:endParaRPr lang="en-US" sz="1600" dirty="0"/>
          </a:p>
        </p:txBody>
      </p:sp>
      <p:sp>
        <p:nvSpPr>
          <p:cNvPr id="18" name="Shape 15"/>
          <p:cNvSpPr/>
          <p:nvPr/>
        </p:nvSpPr>
        <p:spPr>
          <a:xfrm>
            <a:off x="6263640" y="1600200"/>
            <a:ext cx="5257800" cy="3383280"/>
          </a:xfrm>
          <a:prstGeom prst="roundRect">
            <a:avLst>
              <a:gd name="adj" fmla="val 2432"/>
            </a:avLst>
          </a:prstGeom>
          <a:solidFill>
            <a:srgbClr val="EAF5F3"/>
          </a:solidFill>
          <a:ln w="12700">
            <a:solidFill>
              <a:srgbClr val="EAF5F3"/>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THE RECOVERABLE PART</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~5.9 hrs</a:t>
            </a:r>
            <a:endParaRPr lang="en-US" sz="52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Weekly time saved by teachers who've made AI a habit, with communication drafting among the most common uses. (Gallup &amp; Walton Family Foundation, 2025)</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The question of this hour: recover the time without families noticing a robot moved in.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lever: one sentence home per week moved real outcomes. She wants that at scale.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BEST EVIDENCE IN FAMILY COMMUNICATION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One sentence moves the needle</a:t>
            </a:r>
            <a:endParaRPr lang="en-US" sz="32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COURSE FAILURE, BEFORE</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5B6B7A"/>
                </a:solidFill>
                <a:latin typeface="Inter" pitchFamily="34" charset="0"/>
                <a:ea typeface="Inter" pitchFamily="34" charset="-122"/>
                <a:cs typeface="Inter" pitchFamily="34" charset="-120"/>
              </a:rPr>
              <a:t>15.8%</a:t>
            </a:r>
            <a:endParaRPr lang="en-US" sz="52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students in a summer program, all retaking a course they had failed, missed the credit again when no weekly message went home. (Kraft &amp; Rogers, 2015)</a:t>
            </a:r>
            <a:endParaRPr lang="en-US" sz="1600" dirty="0"/>
          </a:p>
        </p:txBody>
      </p:sp>
      <p:sp>
        <p:nvSpPr>
          <p:cNvPr id="18" name="Shape 15"/>
          <p:cNvSpPr/>
          <p:nvPr/>
        </p:nvSpPr>
        <p:spPr>
          <a:xfrm>
            <a:off x="6263640" y="1600200"/>
            <a:ext cx="5257800" cy="3383280"/>
          </a:xfrm>
          <a:prstGeom prst="roundRect">
            <a:avLst>
              <a:gd name="adj" fmla="val 2432"/>
            </a:avLst>
          </a:prstGeom>
          <a:solidFill>
            <a:srgbClr val="EAF5F3"/>
          </a:solidFill>
          <a:ln w="12700">
            <a:solidFill>
              <a:srgbClr val="EAF5F3"/>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WITH ONE SENTENCE A WEEK</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9.3%</a:t>
            </a:r>
            <a:endParaRPr lang="en-US" sz="52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failed when teachers sent one individualized sentence home weekly: a 41% reduction, strongest for improvement-focused messages. (Same study)</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Personal-at-scale used to cost hours nobody had. That cost just changed.</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next week's newsletter from blank page to scheduled send, and the batch habit started.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AI does well here, and the voice it threatens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Three makeovers: newsletter, hard email, note batch</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tone-repair kit, and the lines that never move</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0:31</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one real message, blank page to scheduled send</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0:53</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350" dirty="0">
                <a:solidFill>
                  <a:srgbClr val="FFFFFF"/>
                </a:solidFill>
                <a:latin typeface="Inter" pitchFamily="34" charset="0"/>
                <a:ea typeface="Inter" pitchFamily="34" charset="-122"/>
                <a:cs typeface="Inter" pitchFamily="34" charset="-120"/>
              </a:rPr>
              <a:t>You leave with next week's real message drafted, voiced, repaired, and scheduled to send, and the positive-note habit ready to start.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shortlist: newsletters, updates, tone repair, reading level, reformatting.</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WHERE THE INTERN EARNS ITS KEEP</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it's genuinely good at here</a:t>
            </a:r>
            <a:endParaRPr lang="en-US" sz="3200" dirty="0"/>
          </a:p>
        </p:txBody>
      </p:sp>
      <p:sp>
        <p:nvSpPr>
          <p:cNvPr id="14" name="Shape 11"/>
          <p:cNvSpPr/>
          <p:nvPr/>
        </p:nvSpPr>
        <p:spPr>
          <a:xfrm>
            <a:off x="640080" y="1463040"/>
            <a:ext cx="5349240" cy="1600200"/>
          </a:xfrm>
          <a:prstGeom prst="roundRect">
            <a:avLst>
              <a:gd name="adj" fmla="val 5143"/>
            </a:avLst>
          </a:prstGeom>
          <a:solidFill>
            <a:srgbClr val="F7F5F0"/>
          </a:solidFill>
          <a:ln w="12700">
            <a:solidFill>
              <a:srgbClr val="F7F5F0"/>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First drafts</a:t>
            </a:r>
            <a:endParaRPr lang="en-US" sz="2000" dirty="0"/>
          </a:p>
        </p:txBody>
      </p:sp>
      <p:sp>
        <p:nvSpPr>
          <p:cNvPr id="16" name="Text 13"/>
          <p:cNvSpPr/>
          <p:nvPr/>
        </p:nvSpPr>
        <p:spPr>
          <a:xfrm>
            <a:off x="91440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Newsletters, updates, reminders: the routine wave</a:t>
            </a:r>
            <a:endParaRPr lang="en-US" sz="1600" dirty="0"/>
          </a:p>
        </p:txBody>
      </p:sp>
      <p:sp>
        <p:nvSpPr>
          <p:cNvPr id="17" name="Shape 14"/>
          <p:cNvSpPr/>
          <p:nvPr/>
        </p:nvSpPr>
        <p:spPr>
          <a:xfrm>
            <a:off x="6263640" y="1463040"/>
            <a:ext cx="5349240" cy="1600200"/>
          </a:xfrm>
          <a:prstGeom prst="roundRect">
            <a:avLst>
              <a:gd name="adj" fmla="val 5143"/>
            </a:avLst>
          </a:prstGeom>
          <a:solidFill>
            <a:srgbClr val="F7F5F0"/>
          </a:solidFill>
          <a:ln w="12700">
            <a:solidFill>
              <a:srgbClr val="F7F5F0"/>
            </a:solidFill>
            <a:prstDash val="solid"/>
          </a:ln>
        </p:spPr>
      </p:sp>
      <p:sp>
        <p:nvSpPr>
          <p:cNvPr id="18" name="Text 15"/>
          <p:cNvSpPr/>
          <p:nvPr/>
        </p:nvSpPr>
        <p:spPr>
          <a:xfrm>
            <a:off x="6537960" y="162763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Tone repair</a:t>
            </a:r>
            <a:endParaRPr lang="en-US" sz="2000" dirty="0"/>
          </a:p>
        </p:txBody>
      </p:sp>
      <p:sp>
        <p:nvSpPr>
          <p:cNvPr id="19" name="Text 16"/>
          <p:cNvSpPr/>
          <p:nvPr/>
        </p:nvSpPr>
        <p:spPr>
          <a:xfrm>
            <a:off x="6537960" y="208483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When you're too tired or too angry to find the words</a:t>
            </a:r>
            <a:endParaRPr lang="en-US" sz="1600" dirty="0"/>
          </a:p>
        </p:txBody>
      </p:sp>
      <p:sp>
        <p:nvSpPr>
          <p:cNvPr id="20" name="Shape 17"/>
          <p:cNvSpPr/>
          <p:nvPr/>
        </p:nvSpPr>
        <p:spPr>
          <a:xfrm>
            <a:off x="640080" y="3246120"/>
            <a:ext cx="5349240" cy="1600200"/>
          </a:xfrm>
          <a:prstGeom prst="roundRect">
            <a:avLst>
              <a:gd name="adj" fmla="val 5143"/>
            </a:avLst>
          </a:prstGeom>
          <a:solidFill>
            <a:srgbClr val="F7F5F0"/>
          </a:solidFill>
          <a:ln w="12700">
            <a:solidFill>
              <a:srgbClr val="F7F5F0"/>
            </a:solidFill>
            <a:prstDash val="solid"/>
          </a:ln>
        </p:spPr>
      </p:sp>
      <p:sp>
        <p:nvSpPr>
          <p:cNvPr id="21" name="Text 18"/>
          <p:cNvSpPr/>
          <p:nvPr/>
        </p:nvSpPr>
        <p:spPr>
          <a:xfrm>
            <a:off x="91440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Reading level</a:t>
            </a:r>
            <a:endParaRPr lang="en-US" sz="2000" dirty="0"/>
          </a:p>
        </p:txBody>
      </p:sp>
      <p:sp>
        <p:nvSpPr>
          <p:cNvPr id="22" name="Text 19"/>
          <p:cNvSpPr/>
          <p:nvPr/>
        </p:nvSpPr>
        <p:spPr>
          <a:xfrm>
            <a:off x="91440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Plain, skimmable messages that land for every family</a:t>
            </a:r>
            <a:endParaRPr lang="en-US" sz="1600" dirty="0"/>
          </a:p>
        </p:txBody>
      </p:sp>
      <p:sp>
        <p:nvSpPr>
          <p:cNvPr id="23" name="Shape 20"/>
          <p:cNvSpPr/>
          <p:nvPr/>
        </p:nvSpPr>
        <p:spPr>
          <a:xfrm>
            <a:off x="6263640" y="3246120"/>
            <a:ext cx="5349240" cy="1600200"/>
          </a:xfrm>
          <a:prstGeom prst="roundRect">
            <a:avLst>
              <a:gd name="adj" fmla="val 5143"/>
            </a:avLst>
          </a:prstGeom>
          <a:solidFill>
            <a:srgbClr val="F7F5F0"/>
          </a:solidFill>
          <a:ln w="12700">
            <a:solidFill>
              <a:srgbClr val="F7F5F0"/>
            </a:solidFill>
            <a:prstDash val="solid"/>
          </a:ln>
        </p:spPr>
      </p:sp>
      <p:sp>
        <p:nvSpPr>
          <p:cNvPr id="24" name="Text 21"/>
          <p:cNvSpPr/>
          <p:nvPr/>
        </p:nvSpPr>
        <p:spPr>
          <a:xfrm>
            <a:off x="6537960" y="3410712"/>
            <a:ext cx="4800600" cy="41148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Reformatting</a:t>
            </a:r>
            <a:endParaRPr lang="en-US" sz="2000" dirty="0"/>
          </a:p>
        </p:txBody>
      </p:sp>
      <p:sp>
        <p:nvSpPr>
          <p:cNvPr id="25" name="Text 22"/>
          <p:cNvSpPr/>
          <p:nvPr/>
        </p:nvSpPr>
        <p:spPr>
          <a:xfrm>
            <a:off x="6537960" y="3867912"/>
            <a:ext cx="4800600" cy="82296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update as an email, a text blurb, and a flyer</a:t>
            </a:r>
            <a:endParaRPr lang="en-US" sz="1600" dirty="0"/>
          </a:p>
        </p:txBody>
      </p:sp>
      <p:sp>
        <p:nvSpPr>
          <p:cNvPr id="26" name="Text 23"/>
          <p:cNvSpPr/>
          <p:nvPr/>
        </p:nvSpPr>
        <p:spPr>
          <a:xfrm>
            <a:off x="640080" y="5166360"/>
            <a:ext cx="10972800" cy="54864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Not on the list: anything that requires knowing the family. That was never draftable.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worry, named: if every note sounds like every other note, families notice.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ONE THING IT THREATENS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voice problem</a:t>
            </a:r>
            <a:endParaRPr lang="en-US" sz="3200" dirty="0"/>
          </a:p>
        </p:txBody>
      </p:sp>
      <p:sp>
        <p:nvSpPr>
          <p:cNvPr id="14" name="Text 11"/>
          <p:cNvSpPr/>
          <p:nvPr/>
        </p:nvSpPr>
        <p:spPr>
          <a:xfrm>
            <a:off x="640080" y="141732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AI output has a house style: smooth, pleasant, beige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In a lesson plan, beige is fine. In a message to a family who knows you, beige is noticeable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Across a school it compounds: if every newsletter sounds like the same cheerful robot, families stop reading all of them</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Your slightly imperfect, recognizable, human voice is not a flaw to polish out. It's the asset.</a:t>
            </a:r>
            <a:endParaRPr lang="en-US" sz="2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two rules, still on: the situation, never the child; nothing goes out unread.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1, POINTED AT THE INBOX</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two rules ride along</a:t>
            </a:r>
            <a:endParaRPr lang="en-US" sz="3200" dirty="0"/>
          </a:p>
        </p:txBody>
      </p:sp>
      <p:sp>
        <p:nvSpPr>
          <p:cNvPr id="14" name="Shape 11"/>
          <p:cNvSpPr/>
          <p:nvPr/>
        </p:nvSpPr>
        <p:spPr>
          <a:xfrm>
            <a:off x="640080" y="155448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THE SITUATION, NEVER THE CHILD</a:t>
            </a:r>
            <a:endParaRPr lang="en-US" sz="1500" dirty="0"/>
          </a:p>
        </p:txBody>
      </p:sp>
      <p:sp>
        <p:nvSpPr>
          <p:cNvPr id="16" name="Text 13"/>
          <p:cNvSpPr/>
          <p:nvPr/>
        </p:nvSpPr>
        <p:spPr>
          <a:xfrm>
            <a:off x="96012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Family messages are about specific kids, so the temptation is strongest here. Describe the situation to the tool ("a middle schooler with several missing assignments"); add the name after the draft is back in your own email.</a:t>
            </a:r>
            <a:endParaRPr lang="en-US" sz="1700" dirty="0"/>
          </a:p>
        </p:txBody>
      </p:sp>
      <p:sp>
        <p:nvSpPr>
          <p:cNvPr id="17" name="Shape 14"/>
          <p:cNvSpPr/>
          <p:nvPr/>
        </p:nvSpPr>
        <p:spPr>
          <a:xfrm>
            <a:off x="6263640" y="155448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NOTHING GOES OUT UNREAD</a:t>
            </a:r>
            <a:endParaRPr lang="en-US" sz="1500" dirty="0"/>
          </a:p>
        </p:txBody>
      </p:sp>
      <p:sp>
        <p:nvSpPr>
          <p:cNvPr id="19" name="Text 16"/>
          <p:cNvSpPr/>
          <p:nvPr/>
        </p:nvSpPr>
        <p:spPr>
          <a:xfrm>
            <a:off x="658368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Your name is on it. A family can't tell what you wrote from what you approved, and they shouldn't have to. Review, personalize, then send: the humans-in-the-loop habit, applied to the send button.</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banner: families hear HER, not the tool.</a:t>
            </a:r>
            <a:endParaRPr lang="en-US" sz="1000" dirty="0"/>
          </a:p>
        </p:txBody>
      </p:sp>
      <p:sp>
        <p:nvSpPr>
          <p:cNvPr id="12" name="Text 9"/>
          <p:cNvSpPr/>
          <p:nvPr/>
        </p:nvSpPr>
        <p:spPr>
          <a:xfrm>
            <a:off x="822960" y="15544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BANNER OVER EVERYTHING TODAY</a:t>
            </a:r>
            <a:endParaRPr lang="en-US" sz="1500" dirty="0"/>
          </a:p>
        </p:txBody>
      </p:sp>
      <p:sp>
        <p:nvSpPr>
          <p:cNvPr id="13" name="Text 10"/>
          <p:cNvSpPr/>
          <p:nvPr/>
        </p:nvSpPr>
        <p:spPr>
          <a:xfrm>
            <a:off x="822960" y="2103120"/>
            <a:ext cx="10515600" cy="1737360"/>
          </a:xfrm>
          <a:prstGeom prst="rect">
            <a:avLst/>
          </a:prstGeom>
          <a:noFill/>
          <a:ln/>
        </p:spPr>
        <p:txBody>
          <a:bodyPr wrap="square" lIns="0" tIns="0" rIns="0" bIns="0" rtlCol="0" anchor="ctr"/>
          <a:lstStyle/>
          <a:p>
            <a:pPr indent="0" marL="0">
              <a:lnSpc>
                <a:spcPct val="110000"/>
              </a:lnSpc>
              <a:buNone/>
            </a:pPr>
            <a:r>
              <a:rPr lang="en-US" sz="4400" b="1" dirty="0">
                <a:solidFill>
                  <a:srgbClr val="FFFFFF"/>
                </a:solidFill>
                <a:latin typeface="Inter" pitchFamily="34" charset="0"/>
                <a:ea typeface="Inter" pitchFamily="34" charset="-122"/>
                <a:cs typeface="Inter" pitchFamily="34" charset="-120"/>
              </a:rPr>
              <a:t>Families hear you,</a:t>
            </a:r>
            <a:endParaRPr lang="en-US" sz="4400" dirty="0"/>
          </a:p>
          <a:p>
            <a:pPr indent="0" marL="0">
              <a:lnSpc>
                <a:spcPct val="110000"/>
              </a:lnSpc>
              <a:buNone/>
            </a:pPr>
            <a:r>
              <a:rPr lang="en-US" sz="4400" b="1" dirty="0">
                <a:solidFill>
                  <a:srgbClr val="FFFFFF"/>
                </a:solidFill>
                <a:latin typeface="Inter" pitchFamily="34" charset="0"/>
                <a:ea typeface="Inter" pitchFamily="34" charset="-122"/>
                <a:cs typeface="Inter" pitchFamily="34" charset="-120"/>
              </a:rPr>
              <a:t>not the tool.</a:t>
            </a:r>
            <a:endParaRPr lang="en-US" sz="4400" dirty="0"/>
          </a:p>
        </p:txBody>
      </p:sp>
      <p:sp>
        <p:nvSpPr>
          <p:cNvPr id="14" name="Text 11"/>
          <p:cNvSpPr/>
          <p:nvPr/>
        </p:nvSpPr>
        <p:spPr>
          <a:xfrm>
            <a:off x="822960" y="4114800"/>
            <a:ext cx="10332720" cy="109728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AI drafts; you review, personalize, and send. If a message wouldn't survive you reading it aloud in your own voice at a conference, it isn't done.</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#1 · THE NEWSLETTER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weekly newsletter</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my newsletter."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warm, organized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Draft this week's family newsletter for my class.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Context: we finished our fractions unit, the science fair is Thursday at 6 p.m. in the gym, picture day is Friday, and the blue permission slip is due Wednesday.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Format: under 150 words, warm but skimmable on a phone, action items as a short bulleted list, one positive line about the class's week."</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difficult email: vent draft deleted, professional draft sent, relationship intact.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#2 · THE EMAIL YOU SHOULDN'T SEND</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difficult email</a:t>
            </a:r>
            <a:endParaRPr lang="en-US" sz="3200" dirty="0"/>
          </a:p>
        </p:txBody>
      </p:sp>
      <p:sp>
        <p:nvSpPr>
          <p:cNvPr id="14" name="Shape 11"/>
          <p:cNvSpPr/>
          <p:nvPr/>
        </p:nvSpPr>
        <p:spPr>
          <a:xfrm>
            <a:off x="640080" y="1463040"/>
            <a:ext cx="10972800" cy="1371600"/>
          </a:xfrm>
          <a:prstGeom prst="roundRect">
            <a:avLst>
              <a:gd name="adj" fmla="val 6000"/>
            </a:avLst>
          </a:prstGeom>
          <a:solidFill>
            <a:srgbClr val="FBEFED"/>
          </a:solidFill>
          <a:ln w="12700">
            <a:solidFill>
              <a:srgbClr val="FBEFED"/>
            </a:solidFill>
            <a:prstDash val="solid"/>
          </a:ln>
        </p:spPr>
      </p:sp>
      <p:sp>
        <p:nvSpPr>
          <p:cNvPr id="15" name="Text 12"/>
          <p:cNvSpPr/>
          <p:nvPr/>
        </p:nvSpPr>
        <p:spPr>
          <a:xfrm>
            <a:off x="914400" y="1600200"/>
            <a:ext cx="7315200" cy="320040"/>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WHAT SHE WANTED TO WRITE, 9 P.M.</a:t>
            </a:r>
            <a:endParaRPr lang="en-US" sz="1150" dirty="0"/>
          </a:p>
        </p:txBody>
      </p:sp>
      <p:sp>
        <p:nvSpPr>
          <p:cNvPr id="16" name="Text 13"/>
          <p:cNvSpPr/>
          <p:nvPr/>
        </p:nvSpPr>
        <p:spPr>
          <a:xfrm>
            <a:off x="914400" y="1938528"/>
            <a:ext cx="10424160" cy="7772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Honest in exactly the way careers end. The vent draft gets deleted, never sent.</a:t>
            </a:r>
            <a:endParaRPr lang="en-US" sz="1700" dirty="0"/>
          </a:p>
        </p:txBody>
      </p:sp>
      <p:sp>
        <p:nvSpPr>
          <p:cNvPr id="17" name="Shape 14"/>
          <p:cNvSpPr/>
          <p:nvPr/>
        </p:nvSpPr>
        <p:spPr>
          <a:xfrm>
            <a:off x="640080" y="3063240"/>
            <a:ext cx="10972800" cy="2103120"/>
          </a:xfrm>
          <a:prstGeom prst="roundRect">
            <a:avLst>
              <a:gd name="adj" fmla="val 3913"/>
            </a:avLst>
          </a:prstGeom>
          <a:solidFill>
            <a:srgbClr val="EAF5F3"/>
          </a:solidFill>
          <a:ln w="12700">
            <a:solidFill>
              <a:srgbClr val="EAF5F3"/>
            </a:solidFill>
            <a:prstDash val="solid"/>
          </a:ln>
        </p:spPr>
      </p:sp>
      <p:sp>
        <p:nvSpPr>
          <p:cNvPr id="18" name="Text 15"/>
          <p:cNvSpPr/>
          <p:nvPr/>
        </p:nvSpPr>
        <p:spPr>
          <a:xfrm>
            <a:off x="914400" y="3200400"/>
            <a:ext cx="8229600" cy="320040"/>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WHAT SHE ASKED THE TOOL INSTEAD (NO NAMES)</a:t>
            </a:r>
            <a:endParaRPr lang="en-US" sz="1150" dirty="0"/>
          </a:p>
        </p:txBody>
      </p:sp>
      <p:sp>
        <p:nvSpPr>
          <p:cNvPr id="19" name="Text 16"/>
          <p:cNvSpPr/>
          <p:nvPr/>
        </p:nvSpPr>
        <p:spPr>
          <a:xfrm>
            <a:off x="914400" y="3566160"/>
            <a:ext cx="10424160" cy="150876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"Draft a calm, professional reply to a frustrated parent who believes their child's grade is unfair. Acknowledge the frustration, explain that specifics belong in a conversation, offer two meeting times, under 120 words, firm and warm."</a:t>
            </a:r>
            <a:endParaRPr lang="en-US" sz="1700" dirty="0"/>
          </a:p>
        </p:txBody>
      </p:sp>
      <p:sp>
        <p:nvSpPr>
          <p:cNvPr id="20" name="Text 17"/>
          <p:cNvSpPr/>
          <p:nvPr/>
        </p:nvSpPr>
        <p:spPr>
          <a:xfrm>
            <a:off x="640080" y="544068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tool absorbs the heat. The 24-hour rule handles the rest: written angry waits a day.</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batch: three one-sentence positive notes, each personalized before sending.</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MAKEOVER #3 · THE RESEARCH, TURNED INTO A HABIT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positive-note batch</a:t>
            </a:r>
            <a:endParaRPr lang="en-US" sz="3200" dirty="0"/>
          </a:p>
        </p:txBody>
      </p:sp>
      <p:sp>
        <p:nvSpPr>
          <p:cNvPr id="14" name="Shape 11"/>
          <p:cNvSpPr/>
          <p:nvPr/>
        </p:nvSpPr>
        <p:spPr>
          <a:xfrm>
            <a:off x="822960" y="1600200"/>
            <a:ext cx="640080" cy="640080"/>
          </a:xfrm>
          <a:prstGeom prst="ellipse">
            <a:avLst/>
          </a:prstGeom>
          <a:solidFill>
            <a:srgbClr val="2A9D8F"/>
          </a:solidFill>
          <a:ln w="12700">
            <a:solidFill>
              <a:srgbClr val="2A9D8F"/>
            </a:solidFill>
            <a:prstDash val="solid"/>
          </a:ln>
        </p:spPr>
      </p:sp>
      <p:sp>
        <p:nvSpPr>
          <p:cNvPr id="15" name="Text 12"/>
          <p:cNvSpPr/>
          <p:nvPr/>
        </p:nvSpPr>
        <p:spPr>
          <a:xfrm>
            <a:off x="822960" y="16002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16" name="Shape 13"/>
          <p:cNvSpPr/>
          <p:nvPr/>
        </p:nvSpPr>
        <p:spPr>
          <a:xfrm>
            <a:off x="1691640" y="1463040"/>
            <a:ext cx="9875520" cy="960120"/>
          </a:xfrm>
          <a:prstGeom prst="roundRect">
            <a:avLst>
              <a:gd name="adj" fmla="val 8571"/>
            </a:avLst>
          </a:prstGeom>
          <a:solidFill>
            <a:srgbClr val="F7F5F0"/>
          </a:solidFill>
          <a:ln w="12700">
            <a:solidFill>
              <a:srgbClr val="F7F5F0"/>
            </a:solidFill>
            <a:prstDash val="solid"/>
          </a:ln>
        </p:spPr>
      </p:sp>
      <p:sp>
        <p:nvSpPr>
          <p:cNvPr id="17" name="Text 14"/>
          <p:cNvSpPr/>
          <p:nvPr/>
        </p:nvSpPr>
        <p:spPr>
          <a:xfrm>
            <a:off x="1965960" y="1536192"/>
            <a:ext cx="9326880" cy="82296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Once a week, ask for a page of one-sentence note starters: warm, improvement-focused, grouped by situation. No names near the tool.</a:t>
            </a:r>
            <a:endParaRPr lang="en-US" sz="1650" dirty="0"/>
          </a:p>
        </p:txBody>
      </p:sp>
      <p:sp>
        <p:nvSpPr>
          <p:cNvPr id="18" name="Shape 15"/>
          <p:cNvSpPr/>
          <p:nvPr/>
        </p:nvSpPr>
        <p:spPr>
          <a:xfrm>
            <a:off x="822960" y="2743200"/>
            <a:ext cx="640080" cy="640080"/>
          </a:xfrm>
          <a:prstGeom prst="ellipse">
            <a:avLst/>
          </a:prstGeom>
          <a:solidFill>
            <a:srgbClr val="2A9D8F"/>
          </a:solidFill>
          <a:ln w="12700">
            <a:solidFill>
              <a:srgbClr val="2A9D8F"/>
            </a:solidFill>
            <a:prstDash val="solid"/>
          </a:ln>
        </p:spPr>
      </p:sp>
      <p:sp>
        <p:nvSpPr>
          <p:cNvPr id="19" name="Text 16"/>
          <p:cNvSpPr/>
          <p:nvPr/>
        </p:nvSpPr>
        <p:spPr>
          <a:xfrm>
            <a:off x="822960" y="27432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20" name="Shape 17"/>
          <p:cNvSpPr/>
          <p:nvPr/>
        </p:nvSpPr>
        <p:spPr>
          <a:xfrm>
            <a:off x="1691640" y="2606040"/>
            <a:ext cx="9875520" cy="960120"/>
          </a:xfrm>
          <a:prstGeom prst="roundRect">
            <a:avLst>
              <a:gd name="adj" fmla="val 8571"/>
            </a:avLst>
          </a:prstGeom>
          <a:solidFill>
            <a:srgbClr val="F7F5F0"/>
          </a:solidFill>
          <a:ln w="12700">
            <a:solidFill>
              <a:srgbClr val="F7F5F0"/>
            </a:solidFill>
            <a:prstDash val="solid"/>
          </a:ln>
        </p:spPr>
      </p:sp>
      <p:sp>
        <p:nvSpPr>
          <p:cNvPr id="21" name="Text 18"/>
          <p:cNvSpPr/>
          <p:nvPr/>
        </p:nvSpPr>
        <p:spPr>
          <a:xfrm>
            <a:off x="1965960" y="2679192"/>
            <a:ext cx="9326880" cy="82296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Pick three. Match each to a real student in your head.</a:t>
            </a:r>
            <a:endParaRPr lang="en-US" sz="1650" dirty="0"/>
          </a:p>
        </p:txBody>
      </p:sp>
      <p:sp>
        <p:nvSpPr>
          <p:cNvPr id="22" name="Shape 19"/>
          <p:cNvSpPr/>
          <p:nvPr/>
        </p:nvSpPr>
        <p:spPr>
          <a:xfrm>
            <a:off x="822960" y="3886200"/>
            <a:ext cx="640080" cy="640080"/>
          </a:xfrm>
          <a:prstGeom prst="ellipse">
            <a:avLst/>
          </a:prstGeom>
          <a:solidFill>
            <a:srgbClr val="2A9D8F"/>
          </a:solidFill>
          <a:ln w="12700">
            <a:solidFill>
              <a:srgbClr val="2A9D8F"/>
            </a:solidFill>
            <a:prstDash val="solid"/>
          </a:ln>
        </p:spPr>
      </p:sp>
      <p:sp>
        <p:nvSpPr>
          <p:cNvPr id="23" name="Text 20"/>
          <p:cNvSpPr/>
          <p:nvPr/>
        </p:nvSpPr>
        <p:spPr>
          <a:xfrm>
            <a:off x="822960" y="38862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24" name="Shape 21"/>
          <p:cNvSpPr/>
          <p:nvPr/>
        </p:nvSpPr>
        <p:spPr>
          <a:xfrm>
            <a:off x="1691640" y="3749040"/>
            <a:ext cx="9875520" cy="960120"/>
          </a:xfrm>
          <a:prstGeom prst="roundRect">
            <a:avLst>
              <a:gd name="adj" fmla="val 8571"/>
            </a:avLst>
          </a:prstGeom>
          <a:solidFill>
            <a:srgbClr val="F7F5F0"/>
          </a:solidFill>
          <a:ln w="12700">
            <a:solidFill>
              <a:srgbClr val="F7F5F0"/>
            </a:solidFill>
            <a:prstDash val="solid"/>
          </a:ln>
        </p:spPr>
      </p:sp>
      <p:sp>
        <p:nvSpPr>
          <p:cNvPr id="25" name="Text 22"/>
          <p:cNvSpPr/>
          <p:nvPr/>
        </p:nvSpPr>
        <p:spPr>
          <a:xfrm>
            <a:off x="1965960" y="3822192"/>
            <a:ext cx="9326880" cy="82296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Personalize each in your own words, in your own email, and send. Five minutes, three families.</a:t>
            </a:r>
            <a:endParaRPr lang="en-US" sz="1650" dirty="0"/>
          </a:p>
        </p:txBody>
      </p:sp>
      <p:sp>
        <p:nvSpPr>
          <p:cNvPr id="26" name="Shape 23"/>
          <p:cNvSpPr/>
          <p:nvPr/>
        </p:nvSpPr>
        <p:spPr>
          <a:xfrm>
            <a:off x="640080" y="5029200"/>
            <a:ext cx="10972800" cy="914400"/>
          </a:xfrm>
          <a:prstGeom prst="roundRect">
            <a:avLst>
              <a:gd name="adj" fmla="val 9000"/>
            </a:avLst>
          </a:prstGeom>
          <a:solidFill>
            <a:srgbClr val="EAF5F3"/>
          </a:solidFill>
          <a:ln w="12700">
            <a:solidFill>
              <a:srgbClr val="EAF5F3"/>
            </a:solidFill>
            <a:prstDash val="solid"/>
          </a:ln>
        </p:spPr>
      </p:sp>
      <p:sp>
        <p:nvSpPr>
          <p:cNvPr id="27" name="Text 24"/>
          <p:cNvSpPr/>
          <p:nvPr/>
        </p:nvSpPr>
        <p:spPr>
          <a:xfrm>
            <a:off x="960120" y="5138928"/>
            <a:ext cx="10332720" cy="7315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The tool made the blank page cheap. The sentence that lands is still yours: that's the mechanism the research measured.</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diagnosis eye: a bad message is a prompt missing a part. Role, Context, or Format: name 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PRACTICE · WHICH PART OF THE KIT 2 FORMULA DID THE PROMPT SKIP?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Diagnose the message</a:t>
            </a:r>
            <a:endParaRPr lang="en-US" sz="3200" dirty="0"/>
          </a:p>
        </p:txBody>
      </p:sp>
      <p:sp>
        <p:nvSpPr>
          <p:cNvPr id="14" name="Text 11"/>
          <p:cNvSpPr/>
          <p:nvPr/>
        </p:nvSpPr>
        <p:spPr>
          <a:xfrm>
            <a:off x="731520" y="150876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1</a:t>
            </a:r>
            <a:endParaRPr lang="en-US" sz="2200" dirty="0"/>
          </a:p>
        </p:txBody>
      </p:sp>
      <p:sp>
        <p:nvSpPr>
          <p:cNvPr id="15" name="Text 12"/>
          <p:cNvSpPr/>
          <p:nvPr/>
        </p:nvSpPr>
        <p:spPr>
          <a:xfrm>
            <a:off x="1371600" y="146304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A 400-word newsletter; the key request (the permission slip) is buried at the bottom</a:t>
            </a:r>
            <a:endParaRPr lang="en-US" sz="1650" dirty="0"/>
          </a:p>
        </p:txBody>
      </p:sp>
      <p:sp>
        <p:nvSpPr>
          <p:cNvPr id="16" name="Text 13"/>
          <p:cNvSpPr/>
          <p:nvPr/>
        </p:nvSpPr>
        <p:spPr>
          <a:xfrm>
            <a:off x="7315200" y="146304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Missing FORMAT: never said "action items first, under 150 words"</a:t>
            </a:r>
            <a:endParaRPr lang="en-US" sz="1450" dirty="0"/>
          </a:p>
        </p:txBody>
      </p:sp>
      <p:sp>
        <p:nvSpPr>
          <p:cNvPr id="17" name="Text 14"/>
          <p:cNvSpPr/>
          <p:nvPr/>
        </p:nvSpPr>
        <p:spPr>
          <a:xfrm>
            <a:off x="731520" y="260604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2</a:t>
            </a:r>
            <a:endParaRPr lang="en-US" sz="2200" dirty="0"/>
          </a:p>
        </p:txBody>
      </p:sp>
      <p:sp>
        <p:nvSpPr>
          <p:cNvPr id="18" name="Text 15"/>
          <p:cNvSpPr/>
          <p:nvPr/>
        </p:nvSpPr>
        <p:spPr>
          <a:xfrm>
            <a:off x="1371600" y="256032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"Formative assessment data indicates…" sent to families</a:t>
            </a:r>
            <a:endParaRPr lang="en-US" sz="1650" dirty="0"/>
          </a:p>
        </p:txBody>
      </p:sp>
      <p:sp>
        <p:nvSpPr>
          <p:cNvPr id="19" name="Text 16"/>
          <p:cNvSpPr/>
          <p:nvPr/>
        </p:nvSpPr>
        <p:spPr>
          <a:xfrm>
            <a:off x="7315200" y="256032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Missing CONTEXT: never said the readers are families, on phones, plain words</a:t>
            </a:r>
            <a:endParaRPr lang="en-US" sz="1450" dirty="0"/>
          </a:p>
        </p:txBody>
      </p:sp>
      <p:sp>
        <p:nvSpPr>
          <p:cNvPr id="20" name="Text 17"/>
          <p:cNvSpPr/>
          <p:nvPr/>
        </p:nvSpPr>
        <p:spPr>
          <a:xfrm>
            <a:off x="731520" y="370332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3</a:t>
            </a:r>
            <a:endParaRPr lang="en-US" sz="2200" dirty="0"/>
          </a:p>
        </p:txBody>
      </p:sp>
      <p:sp>
        <p:nvSpPr>
          <p:cNvPr id="21" name="Text 18"/>
          <p:cNvSpPr/>
          <p:nvPr/>
        </p:nvSpPr>
        <p:spPr>
          <a:xfrm>
            <a:off x="1371600" y="365760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Three updates, nothing for families to do</a:t>
            </a:r>
            <a:endParaRPr lang="en-US" sz="1650" dirty="0"/>
          </a:p>
        </p:txBody>
      </p:sp>
      <p:sp>
        <p:nvSpPr>
          <p:cNvPr id="22" name="Text 19"/>
          <p:cNvSpPr/>
          <p:nvPr/>
        </p:nvSpPr>
        <p:spPr>
          <a:xfrm>
            <a:off x="7315200" y="365760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Missing FORMAT: never asked for an action item with a date</a:t>
            </a:r>
            <a:endParaRPr lang="en-US" sz="1450" dirty="0"/>
          </a:p>
        </p:txBody>
      </p:sp>
      <p:sp>
        <p:nvSpPr>
          <p:cNvPr id="23" name="Text 20"/>
          <p:cNvSpPr/>
          <p:nvPr/>
        </p:nvSpPr>
        <p:spPr>
          <a:xfrm>
            <a:off x="731520" y="480060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4</a:t>
            </a:r>
            <a:endParaRPr lang="en-US" sz="2200" dirty="0"/>
          </a:p>
        </p:txBody>
      </p:sp>
      <p:sp>
        <p:nvSpPr>
          <p:cNvPr id="24" name="Text 21"/>
          <p:cNvSpPr/>
          <p:nvPr/>
        </p:nvSpPr>
        <p:spPr>
          <a:xfrm>
            <a:off x="1371600" y="475488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Polished, but it sounds like a bank wrote it</a:t>
            </a:r>
            <a:endParaRPr lang="en-US" sz="1650" dirty="0"/>
          </a:p>
        </p:txBody>
      </p:sp>
      <p:sp>
        <p:nvSpPr>
          <p:cNvPr id="25" name="Text 22"/>
          <p:cNvSpPr/>
          <p:nvPr/>
        </p:nvSpPr>
        <p:spPr>
          <a:xfrm>
            <a:off x="7315200" y="475488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Missing ROLE: never said "a warm teacher who sounds like me"</a:t>
            </a:r>
            <a:endParaRPr lang="en-US" sz="1450" dirty="0"/>
          </a:p>
        </p:txBody>
      </p:sp>
      <p:sp>
        <p:nvSpPr>
          <p:cNvPr id="26" name="Text 23"/>
          <p:cNvSpPr/>
          <p:nvPr/>
        </p:nvSpPr>
        <p:spPr>
          <a:xfrm>
            <a:off x="640080" y="5806440"/>
            <a:ext cx="10972800" cy="41148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A bad message is usually a prompt that skipped part of the formula: Role · Task · Context · Format. Diagnose the part, then hand it back.</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tone kit: 'warmer, shorter, plainer,' the read-aloud test, the 24-hour rule.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SMALL ENOUGH TO MEMORIZE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tone-repair kit</a:t>
            </a:r>
            <a:endParaRPr lang="en-US" sz="3200" dirty="0"/>
          </a:p>
        </p:txBody>
      </p:sp>
      <p:sp>
        <p:nvSpPr>
          <p:cNvPr id="14" name="Shape 11"/>
          <p:cNvSpPr/>
          <p:nvPr/>
        </p:nvSpPr>
        <p:spPr>
          <a:xfrm>
            <a:off x="640080" y="1554480"/>
            <a:ext cx="3520440" cy="3108960"/>
          </a:xfrm>
          <a:prstGeom prst="roundRect">
            <a:avLst>
              <a:gd name="adj" fmla="val 2647"/>
            </a:avLst>
          </a:prstGeom>
          <a:solidFill>
            <a:srgbClr val="F7F5F0"/>
          </a:solidFill>
          <a:ln w="12700">
            <a:solidFill>
              <a:srgbClr val="F7F5F0"/>
            </a:solidFill>
            <a:prstDash val="solid"/>
          </a:ln>
        </p:spPr>
      </p:sp>
      <p:sp>
        <p:nvSpPr>
          <p:cNvPr id="15" name="Text 12"/>
          <p:cNvSpPr/>
          <p:nvPr/>
        </p:nvSpPr>
        <p:spPr>
          <a:xfrm>
            <a:off x="896112" y="1828800"/>
            <a:ext cx="3017520" cy="45720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Three commands</a:t>
            </a:r>
            <a:endParaRPr lang="en-US" sz="2000" dirty="0"/>
          </a:p>
        </p:txBody>
      </p:sp>
      <p:sp>
        <p:nvSpPr>
          <p:cNvPr id="16" name="Text 13"/>
          <p:cNvSpPr/>
          <p:nvPr/>
        </p:nvSpPr>
        <p:spPr>
          <a:xfrm>
            <a:off x="896112"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"Warmer." "Shorter." "Plainer." Ninety percent of drafts need exactly one.</a:t>
            </a:r>
            <a:endParaRPr lang="en-US" sz="1600" dirty="0"/>
          </a:p>
        </p:txBody>
      </p:sp>
      <p:sp>
        <p:nvSpPr>
          <p:cNvPr id="17" name="Shape 14"/>
          <p:cNvSpPr/>
          <p:nvPr/>
        </p:nvSpPr>
        <p:spPr>
          <a:xfrm>
            <a:off x="4407408" y="1554480"/>
            <a:ext cx="3520440" cy="3108960"/>
          </a:xfrm>
          <a:prstGeom prst="roundRect">
            <a:avLst>
              <a:gd name="adj" fmla="val 2647"/>
            </a:avLst>
          </a:prstGeom>
          <a:solidFill>
            <a:srgbClr val="F7F5F0"/>
          </a:solidFill>
          <a:ln w="12700">
            <a:solidFill>
              <a:srgbClr val="F7F5F0"/>
            </a:solidFill>
            <a:prstDash val="solid"/>
          </a:ln>
        </p:spPr>
      </p:sp>
      <p:sp>
        <p:nvSpPr>
          <p:cNvPr id="18" name="Text 15"/>
          <p:cNvSpPr/>
          <p:nvPr/>
        </p:nvSpPr>
        <p:spPr>
          <a:xfrm>
            <a:off x="4663440" y="1828800"/>
            <a:ext cx="3017520" cy="45720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One test</a:t>
            </a:r>
            <a:endParaRPr lang="en-US" sz="2000" dirty="0"/>
          </a:p>
        </p:txBody>
      </p:sp>
      <p:sp>
        <p:nvSpPr>
          <p:cNvPr id="19" name="Text 16"/>
          <p:cNvSpPr/>
          <p:nvPr/>
        </p:nvSpPr>
        <p:spPr>
          <a:xfrm>
            <a:off x="4663440"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Read it aloud. Your ear knows your voice better than your eyes do.</a:t>
            </a:r>
            <a:endParaRPr lang="en-US" sz="1600" dirty="0"/>
          </a:p>
        </p:txBody>
      </p:sp>
      <p:sp>
        <p:nvSpPr>
          <p:cNvPr id="20" name="Shape 17"/>
          <p:cNvSpPr/>
          <p:nvPr/>
        </p:nvSpPr>
        <p:spPr>
          <a:xfrm>
            <a:off x="8174736" y="1554480"/>
            <a:ext cx="3520440" cy="3108960"/>
          </a:xfrm>
          <a:prstGeom prst="roundRect">
            <a:avLst>
              <a:gd name="adj" fmla="val 2647"/>
            </a:avLst>
          </a:prstGeom>
          <a:solidFill>
            <a:srgbClr val="F7F5F0"/>
          </a:solidFill>
          <a:ln w="12700">
            <a:solidFill>
              <a:srgbClr val="F7F5F0"/>
            </a:solidFill>
            <a:prstDash val="solid"/>
          </a:ln>
        </p:spPr>
      </p:sp>
      <p:sp>
        <p:nvSpPr>
          <p:cNvPr id="21" name="Text 18"/>
          <p:cNvSpPr/>
          <p:nvPr/>
        </p:nvSpPr>
        <p:spPr>
          <a:xfrm>
            <a:off x="8430768" y="1828800"/>
            <a:ext cx="3017520" cy="45720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One rule</a:t>
            </a:r>
            <a:endParaRPr lang="en-US" sz="2000" dirty="0"/>
          </a:p>
        </p:txBody>
      </p:sp>
      <p:sp>
        <p:nvSpPr>
          <p:cNvPr id="22" name="Text 19"/>
          <p:cNvSpPr/>
          <p:nvPr/>
        </p:nvSpPr>
        <p:spPr>
          <a:xfrm>
            <a:off x="8430768" y="2377440"/>
            <a:ext cx="3017520" cy="210312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The 24-hour rule: written angry waits a day, unless safety can't wait.</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It fits on the handout's back pocket, and it saves a hundred small regrets a year.</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repair calls: cold gets 'warmer,' rambling gets 'shorter,' jargon gets 'plainer.'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PRACTICE · ONE COMMAND EACH: WARMER, SHORTER, OR PLAINER?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Call the repair</a:t>
            </a:r>
            <a:endParaRPr lang="en-US" sz="3200" dirty="0"/>
          </a:p>
        </p:txBody>
      </p:sp>
      <p:sp>
        <p:nvSpPr>
          <p:cNvPr id="14" name="Text 11"/>
          <p:cNvSpPr/>
          <p:nvPr/>
        </p:nvSpPr>
        <p:spPr>
          <a:xfrm>
            <a:off x="731520" y="1508760"/>
            <a:ext cx="548640" cy="100584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A</a:t>
            </a:r>
            <a:endParaRPr lang="en-US" sz="2200" dirty="0"/>
          </a:p>
        </p:txBody>
      </p:sp>
      <p:sp>
        <p:nvSpPr>
          <p:cNvPr id="15" name="Shape 12"/>
          <p:cNvSpPr/>
          <p:nvPr/>
        </p:nvSpPr>
        <p:spPr>
          <a:xfrm>
            <a:off x="1371600" y="1371600"/>
            <a:ext cx="5577840" cy="1280160"/>
          </a:xfrm>
          <a:prstGeom prst="roundRect">
            <a:avLst>
              <a:gd name="adj" fmla="val 6429"/>
            </a:avLst>
          </a:prstGeom>
          <a:solidFill>
            <a:srgbClr val="F7F5F0"/>
          </a:solidFill>
          <a:ln w="12700">
            <a:solidFill>
              <a:srgbClr val="F7F5F0"/>
            </a:solidFill>
            <a:prstDash val="solid"/>
          </a:ln>
        </p:spPr>
      </p:sp>
      <p:sp>
        <p:nvSpPr>
          <p:cNvPr id="16" name="Text 13"/>
          <p:cNvSpPr/>
          <p:nvPr/>
        </p:nvSpPr>
        <p:spPr>
          <a:xfrm>
            <a:off x="1627632" y="1444752"/>
            <a:ext cx="5074920" cy="1143000"/>
          </a:xfrm>
          <a:prstGeom prst="rect">
            <a:avLst/>
          </a:prstGeom>
          <a:noFill/>
          <a:ln/>
        </p:spPr>
        <p:txBody>
          <a:bodyPr wrap="square" lIns="0" tIns="0" rIns="0" bIns="0" rtlCol="0" anchor="ctr"/>
          <a:lstStyle/>
          <a:p>
            <a:pPr indent="0" marL="0">
              <a:buNone/>
            </a:pPr>
            <a:r>
              <a:rPr lang="en-US" sz="1500" i="1" dirty="0">
                <a:solidFill>
                  <a:srgbClr val="1B1F24"/>
                </a:solidFill>
                <a:latin typeface="Inter" pitchFamily="34" charset="0"/>
                <a:ea typeface="Inter" pitchFamily="34" charset="-122"/>
                <a:cs typeface="Inter" pitchFamily="34" charset="-120"/>
              </a:rPr>
              <a:t>"Reminder: the permission slip was due Monday. Students without one cannot attend."</a:t>
            </a:r>
            <a:endParaRPr lang="en-US" sz="1500" dirty="0"/>
          </a:p>
        </p:txBody>
      </p:sp>
      <p:sp>
        <p:nvSpPr>
          <p:cNvPr id="17" name="Text 14"/>
          <p:cNvSpPr/>
          <p:nvPr/>
        </p:nvSpPr>
        <p:spPr>
          <a:xfrm>
            <a:off x="7223760" y="1444752"/>
            <a:ext cx="4389120" cy="1143000"/>
          </a:xfrm>
          <a:prstGeom prst="rect">
            <a:avLst/>
          </a:prstGeom>
          <a:noFill/>
          <a:ln/>
        </p:spPr>
        <p:txBody>
          <a:bodyPr wrap="square" lIns="0" tIns="0" rIns="0" bIns="0" rtlCol="0" anchor="ctr"/>
          <a:lstStyle/>
          <a:p>
            <a:pPr indent="0" marL="0">
              <a:buNone/>
            </a:pPr>
            <a:r>
              <a:rPr lang="en-US" sz="1250" dirty="0">
                <a:solidFill>
                  <a:srgbClr val="5B6B7A"/>
                </a:solidFill>
                <a:latin typeface="Inter" pitchFamily="34" charset="0"/>
                <a:ea typeface="Inter" pitchFamily="34" charset="-122"/>
                <a:cs typeface="Inter" pitchFamily="34" charset="-120"/>
              </a:rPr>
              <a:t>Warmer: "We're missing a few permission slips. Send yours back by tomorrow and everyone's on the bus."</a:t>
            </a:r>
            <a:endParaRPr lang="en-US" sz="1250" dirty="0"/>
          </a:p>
        </p:txBody>
      </p:sp>
      <p:sp>
        <p:nvSpPr>
          <p:cNvPr id="18" name="Text 15"/>
          <p:cNvSpPr/>
          <p:nvPr/>
        </p:nvSpPr>
        <p:spPr>
          <a:xfrm>
            <a:off x="731520" y="2926080"/>
            <a:ext cx="548640" cy="100584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B</a:t>
            </a:r>
            <a:endParaRPr lang="en-US" sz="2200" dirty="0"/>
          </a:p>
        </p:txBody>
      </p:sp>
      <p:sp>
        <p:nvSpPr>
          <p:cNvPr id="19" name="Shape 16"/>
          <p:cNvSpPr/>
          <p:nvPr/>
        </p:nvSpPr>
        <p:spPr>
          <a:xfrm>
            <a:off x="1371600" y="2788920"/>
            <a:ext cx="5577840" cy="1280160"/>
          </a:xfrm>
          <a:prstGeom prst="roundRect">
            <a:avLst>
              <a:gd name="adj" fmla="val 6429"/>
            </a:avLst>
          </a:prstGeom>
          <a:solidFill>
            <a:srgbClr val="F7F5F0"/>
          </a:solidFill>
          <a:ln w="12700">
            <a:solidFill>
              <a:srgbClr val="F7F5F0"/>
            </a:solidFill>
            <a:prstDash val="solid"/>
          </a:ln>
        </p:spPr>
      </p:sp>
      <p:sp>
        <p:nvSpPr>
          <p:cNvPr id="20" name="Text 17"/>
          <p:cNvSpPr/>
          <p:nvPr/>
        </p:nvSpPr>
        <p:spPr>
          <a:xfrm>
            <a:off x="1627632" y="2862072"/>
            <a:ext cx="5074920" cy="1143000"/>
          </a:xfrm>
          <a:prstGeom prst="rect">
            <a:avLst/>
          </a:prstGeom>
          <a:noFill/>
          <a:ln/>
        </p:spPr>
        <p:txBody>
          <a:bodyPr wrap="square" lIns="0" tIns="0" rIns="0" bIns="0" rtlCol="0" anchor="ctr"/>
          <a:lstStyle/>
          <a:p>
            <a:pPr indent="0" marL="0">
              <a:buNone/>
            </a:pPr>
            <a:r>
              <a:rPr lang="en-US" sz="1500" i="1" dirty="0">
                <a:solidFill>
                  <a:srgbClr val="1B1F24"/>
                </a:solidFill>
                <a:latin typeface="Inter" pitchFamily="34" charset="0"/>
                <a:ea typeface="Inter" pitchFamily="34" charset="-122"/>
                <a:cs typeface="Inter" pitchFamily="34" charset="-120"/>
              </a:rPr>
              <a:t>Sixty words of throat-clearing to say picture day is Friday</a:t>
            </a:r>
            <a:endParaRPr lang="en-US" sz="1500" dirty="0"/>
          </a:p>
        </p:txBody>
      </p:sp>
      <p:sp>
        <p:nvSpPr>
          <p:cNvPr id="21" name="Text 18"/>
          <p:cNvSpPr/>
          <p:nvPr/>
        </p:nvSpPr>
        <p:spPr>
          <a:xfrm>
            <a:off x="7223760" y="2862072"/>
            <a:ext cx="4389120" cy="1143000"/>
          </a:xfrm>
          <a:prstGeom prst="rect">
            <a:avLst/>
          </a:prstGeom>
          <a:noFill/>
          <a:ln/>
        </p:spPr>
        <p:txBody>
          <a:bodyPr wrap="square" lIns="0" tIns="0" rIns="0" bIns="0" rtlCol="0" anchor="ctr"/>
          <a:lstStyle/>
          <a:p>
            <a:pPr indent="0" marL="0">
              <a:buNone/>
            </a:pPr>
            <a:r>
              <a:rPr lang="en-US" sz="1250" dirty="0">
                <a:solidFill>
                  <a:srgbClr val="5B6B7A"/>
                </a:solidFill>
                <a:latin typeface="Inter" pitchFamily="34" charset="0"/>
                <a:ea typeface="Inter" pitchFamily="34" charset="-122"/>
                <a:cs typeface="Inter" pitchFamily="34" charset="-120"/>
              </a:rPr>
              <a:t>Shorter: "Picture day is Friday. Smiles optional, forms required."</a:t>
            </a:r>
            <a:endParaRPr lang="en-US" sz="1250" dirty="0"/>
          </a:p>
        </p:txBody>
      </p:sp>
      <p:sp>
        <p:nvSpPr>
          <p:cNvPr id="22" name="Text 19"/>
          <p:cNvSpPr/>
          <p:nvPr/>
        </p:nvSpPr>
        <p:spPr>
          <a:xfrm>
            <a:off x="731520" y="4343400"/>
            <a:ext cx="548640" cy="100584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C</a:t>
            </a:r>
            <a:endParaRPr lang="en-US" sz="2200" dirty="0"/>
          </a:p>
        </p:txBody>
      </p:sp>
      <p:sp>
        <p:nvSpPr>
          <p:cNvPr id="23" name="Shape 20"/>
          <p:cNvSpPr/>
          <p:nvPr/>
        </p:nvSpPr>
        <p:spPr>
          <a:xfrm>
            <a:off x="1371600" y="4206240"/>
            <a:ext cx="5577840" cy="1280160"/>
          </a:xfrm>
          <a:prstGeom prst="roundRect">
            <a:avLst>
              <a:gd name="adj" fmla="val 6429"/>
            </a:avLst>
          </a:prstGeom>
          <a:solidFill>
            <a:srgbClr val="F7F5F0"/>
          </a:solidFill>
          <a:ln w="12700">
            <a:solidFill>
              <a:srgbClr val="F7F5F0"/>
            </a:solidFill>
            <a:prstDash val="solid"/>
          </a:ln>
        </p:spPr>
      </p:sp>
      <p:sp>
        <p:nvSpPr>
          <p:cNvPr id="24" name="Text 21"/>
          <p:cNvSpPr/>
          <p:nvPr/>
        </p:nvSpPr>
        <p:spPr>
          <a:xfrm>
            <a:off x="1627632" y="4279392"/>
            <a:ext cx="5074920" cy="1143000"/>
          </a:xfrm>
          <a:prstGeom prst="rect">
            <a:avLst/>
          </a:prstGeom>
          <a:noFill/>
          <a:ln/>
        </p:spPr>
        <p:txBody>
          <a:bodyPr wrap="square" lIns="0" tIns="0" rIns="0" bIns="0" rtlCol="0" anchor="ctr"/>
          <a:lstStyle/>
          <a:p>
            <a:pPr indent="0" marL="0">
              <a:buNone/>
            </a:pPr>
            <a:r>
              <a:rPr lang="en-US" sz="1500" i="1" dirty="0">
                <a:solidFill>
                  <a:srgbClr val="1B1F24"/>
                </a:solidFill>
                <a:latin typeface="Inter" pitchFamily="34" charset="0"/>
                <a:ea typeface="Inter" pitchFamily="34" charset="-122"/>
                <a:cs typeface="Inter" pitchFamily="34" charset="-120"/>
              </a:rPr>
              <a:t>"Our formative assessment data indicates additional at-home numeracy reinforcement would benefit your student."</a:t>
            </a:r>
            <a:endParaRPr lang="en-US" sz="1500" dirty="0"/>
          </a:p>
        </p:txBody>
      </p:sp>
      <p:sp>
        <p:nvSpPr>
          <p:cNvPr id="25" name="Text 22"/>
          <p:cNvSpPr/>
          <p:nvPr/>
        </p:nvSpPr>
        <p:spPr>
          <a:xfrm>
            <a:off x="7223760" y="4279392"/>
            <a:ext cx="4389120" cy="1143000"/>
          </a:xfrm>
          <a:prstGeom prst="rect">
            <a:avLst/>
          </a:prstGeom>
          <a:noFill/>
          <a:ln/>
        </p:spPr>
        <p:txBody>
          <a:bodyPr wrap="square" lIns="0" tIns="0" rIns="0" bIns="0" rtlCol="0" anchor="ctr"/>
          <a:lstStyle/>
          <a:p>
            <a:pPr indent="0" marL="0">
              <a:buNone/>
            </a:pPr>
            <a:r>
              <a:rPr lang="en-US" sz="1250" dirty="0">
                <a:solidFill>
                  <a:srgbClr val="5B6B7A"/>
                </a:solidFill>
                <a:latin typeface="Inter" pitchFamily="34" charset="0"/>
                <a:ea typeface="Inter" pitchFamily="34" charset="-122"/>
                <a:cs typeface="Inter" pitchFamily="34" charset="-120"/>
              </a:rPr>
              <a:t>Plainer: "Your child is still working on multiplication. Ten minutes of practice at home this week would help."</a:t>
            </a:r>
            <a:endParaRPr lang="en-US" sz="1250" dirty="0"/>
          </a:p>
        </p:txBody>
      </p:sp>
      <p:sp>
        <p:nvSpPr>
          <p:cNvPr id="26" name="Text 23"/>
          <p:cNvSpPr/>
          <p:nvPr/>
        </p:nvSpPr>
        <p:spPr>
          <a:xfrm>
            <a:off x="640080" y="5760720"/>
            <a:ext cx="10972800" cy="411480"/>
          </a:xfrm>
          <a:prstGeom prst="rect">
            <a:avLst/>
          </a:prstGeom>
          <a:noFill/>
          <a:ln/>
        </p:spPr>
        <p:txBody>
          <a:bodyPr wrap="square" lIns="0" tIns="0" rIns="0" bIns="0" rtlCol="0" anchor="ctr"/>
          <a:lstStyle/>
          <a:p>
            <a:pPr algn="ctr" indent="0" marL="0">
              <a:buNone/>
            </a:pPr>
            <a:r>
              <a:rPr lang="en-US" sz="1500" i="1" dirty="0">
                <a:solidFill>
                  <a:srgbClr val="5B6B7A"/>
                </a:solidFill>
                <a:latin typeface="Inter" pitchFamily="34" charset="0"/>
                <a:ea typeface="Inter" pitchFamily="34" charset="-122"/>
                <a:cs typeface="Inter" pitchFamily="34" charset="-120"/>
              </a:rPr>
              <a:t>One command each, and the repair comes back in seconds: no excuse left for sending the cold version.</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red line: she writes it plain; she doesn't ship what she can't read.</a:t>
            </a:r>
            <a:endParaRPr lang="en-US" sz="1000" dirty="0"/>
          </a:p>
        </p:txBody>
      </p:sp>
      <p:sp>
        <p:nvSpPr>
          <p:cNvPr id="12" name="Text 9"/>
          <p:cNvSpPr/>
          <p:nvPr/>
        </p:nvSpPr>
        <p:spPr>
          <a:xfrm>
            <a:off x="822960" y="105156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ONE RED LINE, BEFORE THE LAB</a:t>
            </a:r>
            <a:endParaRPr lang="en-US" sz="1500" dirty="0"/>
          </a:p>
        </p:txBody>
      </p:sp>
      <p:sp>
        <p:nvSpPr>
          <p:cNvPr id="13" name="Text 10"/>
          <p:cNvSpPr/>
          <p:nvPr/>
        </p:nvSpPr>
        <p:spPr>
          <a:xfrm>
            <a:off x="822960" y="1600200"/>
            <a:ext cx="10607040" cy="1554480"/>
          </a:xfrm>
          <a:prstGeom prst="rect">
            <a:avLst/>
          </a:prstGeom>
          <a:noFill/>
          <a:ln/>
        </p:spPr>
        <p:txBody>
          <a:bodyPr wrap="square" lIns="0" tIns="0" rIns="0" bIns="0" rtlCol="0" anchor="ctr"/>
          <a:lstStyle/>
          <a:p>
            <a:pPr indent="0" marL="0">
              <a:lnSpc>
                <a:spcPct val="115000"/>
              </a:lnSpc>
              <a:buNone/>
            </a:pPr>
            <a:r>
              <a:rPr lang="en-US" sz="3300" b="1" dirty="0">
                <a:solidFill>
                  <a:srgbClr val="FFFFFF"/>
                </a:solidFill>
                <a:latin typeface="Inter" pitchFamily="34" charset="0"/>
                <a:ea typeface="Inter" pitchFamily="34" charset="-122"/>
                <a:cs typeface="Inter" pitchFamily="34" charset="-120"/>
              </a:rPr>
              <a:t>No public AI translation of family messages.</a:t>
            </a:r>
            <a:endParaRPr lang="en-US" sz="3300" dirty="0"/>
          </a:p>
          <a:p>
            <a:pPr indent="0" marL="0">
              <a:lnSpc>
                <a:spcPct val="115000"/>
              </a:lnSpc>
              <a:buNone/>
            </a:pPr>
            <a:r>
              <a:rPr lang="en-US" sz="3300" b="1" dirty="0">
                <a:solidFill>
                  <a:srgbClr val="FFFFFF"/>
                </a:solidFill>
                <a:latin typeface="Inter" pitchFamily="34" charset="0"/>
                <a:ea typeface="Inter" pitchFamily="34" charset="-122"/>
                <a:cs typeface="Inter" pitchFamily="34" charset="-120"/>
              </a:rPr>
              <a:t>You cannot review what you cannot read.</a:t>
            </a:r>
            <a:endParaRPr lang="en-US" sz="3300" dirty="0"/>
          </a:p>
        </p:txBody>
      </p:sp>
      <p:sp>
        <p:nvSpPr>
          <p:cNvPr id="14" name="Text 11"/>
          <p:cNvSpPr/>
          <p:nvPr/>
        </p:nvSpPr>
        <p:spPr>
          <a:xfrm>
            <a:off x="868680" y="3520440"/>
            <a:ext cx="10424160" cy="914400"/>
          </a:xfrm>
          <a:prstGeom prst="rect">
            <a:avLst/>
          </a:prstGeom>
          <a:noFill/>
          <a:ln/>
        </p:spPr>
        <p:txBody>
          <a:bodyPr wrap="square" lIns="0" tIns="0" rIns="0" bIns="0" rtlCol="0" anchor="t"/>
          <a:lstStyle/>
          <a:p>
            <a:pPr indent="0" marL="0">
              <a:buNone/>
            </a:pPr>
            <a:r>
              <a:rPr lang="en-US" sz="1900" b="1" dirty="0">
                <a:solidFill>
                  <a:srgbClr val="2A9D8F"/>
                </a:solidFill>
                <a:latin typeface="Inter" pitchFamily="34" charset="0"/>
                <a:ea typeface="Inter" pitchFamily="34" charset="-122"/>
                <a:cs typeface="Inter" pitchFamily="34" charset="-120"/>
              </a:rPr>
              <a:t>Official and legal documents </a:t>
            </a:r>
            <a:pPr indent="0" marL="0">
              <a:buNone/>
            </a:pPr>
            <a:r>
              <a:rPr lang="en-US" sz="1900" dirty="0">
                <a:solidFill>
                  <a:srgbClr val="C9D4DE"/>
                </a:solidFill>
                <a:latin typeface="Inter" pitchFamily="34" charset="0"/>
                <a:ea typeface="Inter" pitchFamily="34" charset="-122"/>
                <a:cs typeface="Inter" pitchFamily="34" charset="-120"/>
              </a:rPr>
              <a:t>travel your district's translation channels. That lane exists, and it's the district's obligation.</a:t>
            </a:r>
            <a:endParaRPr lang="en-US" sz="1900" dirty="0"/>
          </a:p>
        </p:txBody>
      </p:sp>
      <p:sp>
        <p:nvSpPr>
          <p:cNvPr id="15" name="Text 12"/>
          <p:cNvSpPr/>
          <p:nvPr/>
        </p:nvSpPr>
        <p:spPr>
          <a:xfrm>
            <a:off x="868680" y="4572000"/>
            <a:ext cx="10424160" cy="914400"/>
          </a:xfrm>
          <a:prstGeom prst="rect">
            <a:avLst/>
          </a:prstGeom>
          <a:noFill/>
          <a:ln/>
        </p:spPr>
        <p:txBody>
          <a:bodyPr wrap="square" lIns="0" tIns="0" rIns="0" bIns="0" rtlCol="0" anchor="t"/>
          <a:lstStyle/>
          <a:p>
            <a:pPr indent="0" marL="0">
              <a:buNone/>
            </a:pPr>
            <a:r>
              <a:rPr lang="en-US" sz="1900" b="1" dirty="0">
                <a:solidFill>
                  <a:srgbClr val="2A9D8F"/>
                </a:solidFill>
                <a:latin typeface="Inter" pitchFamily="34" charset="0"/>
                <a:ea typeface="Inter" pitchFamily="34" charset="-122"/>
                <a:cs typeface="Inter" pitchFamily="34" charset="-120"/>
              </a:rPr>
              <a:t>Your job is the original: </a:t>
            </a:r>
            <a:pPr indent="0" marL="0">
              <a:buNone/>
            </a:pPr>
            <a:r>
              <a:rPr lang="en-US" sz="1900" dirty="0">
                <a:solidFill>
                  <a:srgbClr val="C9D4DE"/>
                </a:solidFill>
                <a:latin typeface="Inter" pitchFamily="34" charset="0"/>
                <a:ea typeface="Inter" pitchFamily="34" charset="-122"/>
                <a:cs typeface="Inter" pitchFamily="34" charset="-120"/>
              </a:rPr>
              <a:t>plain language, short sentences, no idioms. That's the version every family can use, including multilingual families.</a:t>
            </a:r>
            <a:endParaRPr lang="en-US" sz="1900" dirty="0"/>
          </a:p>
        </p:txBody>
      </p:sp>
      <p:sp>
        <p:nvSpPr>
          <p:cNvPr id="16" name="Text 13"/>
          <p:cNvSpPr/>
          <p:nvPr/>
        </p:nvSpPr>
        <p:spPr>
          <a:xfrm>
            <a:off x="822960" y="5715000"/>
            <a:ext cx="10515600" cy="457200"/>
          </a:xfrm>
          <a:prstGeom prst="rect">
            <a:avLst/>
          </a:prstGeom>
          <a:noFill/>
          <a:ln/>
        </p:spPr>
        <p:txBody>
          <a:bodyPr wrap="square" lIns="0" tIns="0" rIns="0" bIns="0" rtlCol="0" anchor="ctr"/>
          <a:lstStyle/>
          <a:p>
            <a:pPr indent="0" marL="0">
              <a:buNone/>
            </a:pPr>
            <a:r>
              <a:rPr lang="en-US" sz="1800" i="1" dirty="0">
                <a:solidFill>
                  <a:srgbClr val="2A9D8F"/>
                </a:solidFill>
                <a:latin typeface="Inter" pitchFamily="34" charset="0"/>
                <a:ea typeface="Inter" pitchFamily="34" charset="-122"/>
                <a:cs typeface="Inter" pitchFamily="34" charset="-120"/>
              </a:rPr>
              <a:t>Write it plain; don't ship what you can't read.</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16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human-only list: safety, discipline, grief, IEP news. She calls first.</a:t>
            </a:r>
            <a:endParaRPr lang="en-US" sz="1000" dirty="0"/>
          </a:p>
        </p:txBody>
      </p:sp>
      <p:sp>
        <p:nvSpPr>
          <p:cNvPr id="12" name="Text 9"/>
          <p:cNvSpPr/>
          <p:nvPr/>
        </p:nvSpPr>
        <p:spPr>
          <a:xfrm>
            <a:off x="822960" y="10972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HUMAN-ONLY LIST</a:t>
            </a:r>
            <a:endParaRPr lang="en-US" sz="1500" dirty="0"/>
          </a:p>
        </p:txBody>
      </p:sp>
      <p:sp>
        <p:nvSpPr>
          <p:cNvPr id="13" name="Text 10"/>
          <p:cNvSpPr/>
          <p:nvPr/>
        </p:nvSpPr>
        <p:spPr>
          <a:xfrm>
            <a:off x="914400" y="1783080"/>
            <a:ext cx="457200" cy="68580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4" name="Text 11"/>
          <p:cNvSpPr/>
          <p:nvPr/>
        </p:nvSpPr>
        <p:spPr>
          <a:xfrm>
            <a:off x="1554480" y="1783080"/>
            <a:ext cx="9875520" cy="6858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Anything touching a child's safety</a:t>
            </a:r>
            <a:endParaRPr lang="en-US" sz="2000" dirty="0"/>
          </a:p>
        </p:txBody>
      </p:sp>
      <p:sp>
        <p:nvSpPr>
          <p:cNvPr id="15" name="Text 12"/>
          <p:cNvSpPr/>
          <p:nvPr/>
        </p:nvSpPr>
        <p:spPr>
          <a:xfrm>
            <a:off x="914400" y="2651760"/>
            <a:ext cx="457200" cy="68580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6" name="Text 13"/>
          <p:cNvSpPr/>
          <p:nvPr/>
        </p:nvSpPr>
        <p:spPr>
          <a:xfrm>
            <a:off x="1554480" y="2651760"/>
            <a:ext cx="9875520" cy="6858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Serious discipline situations</a:t>
            </a:r>
            <a:endParaRPr lang="en-US" sz="2000" dirty="0"/>
          </a:p>
        </p:txBody>
      </p:sp>
      <p:sp>
        <p:nvSpPr>
          <p:cNvPr id="17" name="Text 14"/>
          <p:cNvSpPr/>
          <p:nvPr/>
        </p:nvSpPr>
        <p:spPr>
          <a:xfrm>
            <a:off x="914400" y="3520440"/>
            <a:ext cx="457200" cy="68580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8" name="Text 15"/>
          <p:cNvSpPr/>
          <p:nvPr/>
        </p:nvSpPr>
        <p:spPr>
          <a:xfrm>
            <a:off x="1554480" y="3520440"/>
            <a:ext cx="9875520" cy="6858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A family's grief</a:t>
            </a:r>
            <a:endParaRPr lang="en-US" sz="2000" dirty="0"/>
          </a:p>
        </p:txBody>
      </p:sp>
      <p:sp>
        <p:nvSpPr>
          <p:cNvPr id="19" name="Text 16"/>
          <p:cNvSpPr/>
          <p:nvPr/>
        </p:nvSpPr>
        <p:spPr>
          <a:xfrm>
            <a:off x="914400" y="4389120"/>
            <a:ext cx="457200" cy="68580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20" name="Text 17"/>
          <p:cNvSpPr/>
          <p:nvPr/>
        </p:nvSpPr>
        <p:spPr>
          <a:xfrm>
            <a:off x="1554480" y="4389120"/>
            <a:ext cx="9875520" cy="6858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Special-education decisions and eligibility news</a:t>
            </a:r>
            <a:endParaRPr lang="en-US" sz="2000" dirty="0"/>
          </a:p>
        </p:txBody>
      </p:sp>
      <p:sp>
        <p:nvSpPr>
          <p:cNvPr id="21" name="Text 18"/>
          <p:cNvSpPr/>
          <p:nvPr/>
        </p:nvSpPr>
        <p:spPr>
          <a:xfrm>
            <a:off x="822960" y="5394960"/>
            <a:ext cx="10515600" cy="822960"/>
          </a:xfrm>
          <a:prstGeom prst="rect">
            <a:avLst/>
          </a:prstGeom>
          <a:noFill/>
          <a:ln/>
        </p:spPr>
        <p:txBody>
          <a:bodyPr wrap="square" lIns="0" tIns="0" rIns="0" bIns="0" rtlCol="0" anchor="ctr"/>
          <a:lstStyle/>
          <a:p>
            <a:pPr indent="0" marL="0">
              <a:buNone/>
            </a:pPr>
            <a:r>
              <a:rPr lang="en-US" sz="1700" dirty="0">
                <a:solidFill>
                  <a:srgbClr val="C9D4DE"/>
                </a:solidFill>
                <a:latin typeface="Inter" pitchFamily="34" charset="0"/>
                <a:ea typeface="Inter" pitchFamily="34" charset="-122"/>
                <a:cs typeface="Inter" pitchFamily="34" charset="-120"/>
              </a:rPr>
              <a:t>Never delivered by a draft. The technology is a telephone; the script is your own heart, first. If a message would change how a family sees their child, it deserves a human voice.</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trust ledger: every reviewed, personal message is a deposit.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ACCOUNT THAT MATTERS WHEN SOMETHING GOES WRONG</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this builds: trust</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Every message home is a deposit in, or a withdrawal from, a family's trust.
</a:t>
            </a:r>
            <a:pPr indent="0" marL="0">
              <a:buNone/>
            </a:pPr>
            <a:r>
              <a:rPr lang="en-US" sz="2100" dirty="0">
                <a:solidFill>
                  <a:srgbClr val="1B1F24"/>
                </a:solidFill>
                <a:latin typeface="Inter" pitchFamily="34" charset="0"/>
                <a:ea typeface="Inter" pitchFamily="34" charset="-122"/>
                <a:cs typeface="Inter" pitchFamily="34" charset="-120"/>
              </a:rPr>
              <a:t>Reviewed, personal, on-time messages, written plainly enough for every family to use: deposits. Late, generic, robotic ones: withdrawals. AI just made deposits cheap.</a:t>
            </a:r>
            <a:endParaRPr lang="en-US" sz="2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plan: the Friday newsletter, from blank page to scheduled send.</a:t>
            </a:r>
            <a:endParaRPr lang="en-US" sz="1000" dirty="0"/>
          </a:p>
        </p:txBody>
      </p:sp>
      <p:sp>
        <p:nvSpPr>
          <p:cNvPr id="12" name="Text 9"/>
          <p:cNvSpPr/>
          <p:nvPr/>
        </p:nvSpPr>
        <p:spPr>
          <a:xfrm>
            <a:off x="566928" y="182880"/>
            <a:ext cx="7315200" cy="320040"/>
          </a:xfrm>
          <a:prstGeom prst="rect">
            <a:avLst/>
          </a:prstGeom>
          <a:noFill/>
          <a:ln/>
        </p:spPr>
        <p:txBody>
          <a:bodyPr wrap="square" lIns="0" tIns="0" rIns="0" bIns="0" rtlCol="0" anchor="ctr"/>
          <a:lstStyle/>
          <a:p>
            <a:pPr indent="0" marL="0">
              <a:buNone/>
            </a:pPr>
            <a:r>
              <a:rPr lang="en-US" sz="1300" b="1" spc="200" kern="0" dirty="0">
                <a:solidFill>
                  <a:srgbClr val="F4A825"/>
                </a:solidFill>
                <a:latin typeface="Inter" pitchFamily="34" charset="0"/>
                <a:ea typeface="Inter" pitchFamily="34" charset="-122"/>
                <a:cs typeface="Inter" pitchFamily="34" charset="-120"/>
              </a:rPr>
              <a:t>HANDS-ON · ~18 MINUTES + SHARE-OUT</a:t>
            </a:r>
            <a:endParaRPr lang="en-US" sz="1300" dirty="0"/>
          </a:p>
        </p:txBody>
      </p:sp>
      <p:sp>
        <p:nvSpPr>
          <p:cNvPr id="13" name="Text 10"/>
          <p:cNvSpPr/>
          <p:nvPr/>
        </p:nvSpPr>
        <p:spPr>
          <a:xfrm>
            <a:off x="640080" y="1188720"/>
            <a:ext cx="10972800" cy="109728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one message, start to send.</a:t>
            </a:r>
            <a:endParaRPr lang="en-US" sz="4200" dirty="0"/>
          </a:p>
        </p:txBody>
      </p:sp>
      <p:sp>
        <p:nvSpPr>
          <p:cNvPr id="14" name="Text 11"/>
          <p:cNvSpPr/>
          <p:nvPr/>
        </p:nvSpPr>
        <p:spPr>
          <a:xfrm>
            <a:off x="658368" y="2286000"/>
            <a:ext cx="1078992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The one real message you owe families this week, taken from blank page to scheduled send. Ms. Rivera does hers on screen: her Friday newsletter, evolving at every step.</a:t>
            </a:r>
            <a:endParaRPr lang="en-US" sz="2000" dirty="0"/>
          </a:p>
        </p:txBody>
      </p:sp>
      <p:sp>
        <p:nvSpPr>
          <p:cNvPr id="15" name="Shape 12"/>
          <p:cNvSpPr/>
          <p:nvPr/>
        </p:nvSpPr>
        <p:spPr>
          <a:xfrm>
            <a:off x="868680" y="3483864"/>
            <a:ext cx="502920" cy="502920"/>
          </a:xfrm>
          <a:prstGeom prst="ellipse">
            <a:avLst/>
          </a:prstGeom>
          <a:solidFill>
            <a:srgbClr val="2A9D8F"/>
          </a:solidFill>
          <a:ln w="12700">
            <a:solidFill>
              <a:srgbClr val="2A9D8F"/>
            </a:solidFill>
            <a:prstDash val="solid"/>
          </a:ln>
        </p:spPr>
      </p:sp>
      <p:sp>
        <p:nvSpPr>
          <p:cNvPr id="16" name="Text 13"/>
          <p:cNvSpPr/>
          <p:nvPr/>
        </p:nvSpPr>
        <p:spPr>
          <a:xfrm>
            <a:off x="868680" y="348386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no family names: situations, never people</a:t>
            </a:r>
            <a:endParaRPr lang="en-US" sz="2100" dirty="0"/>
          </a:p>
        </p:txBody>
      </p:sp>
      <p:sp>
        <p:nvSpPr>
          <p:cNvPr id="18" name="Shape 15"/>
          <p:cNvSpPr/>
          <p:nvPr/>
        </p:nvSpPr>
        <p:spPr>
          <a:xfrm>
            <a:off x="868680" y="4306824"/>
            <a:ext cx="502920" cy="502920"/>
          </a:xfrm>
          <a:prstGeom prst="ellipse">
            <a:avLst/>
          </a:prstGeom>
          <a:solidFill>
            <a:srgbClr val="2A9D8F"/>
          </a:solidFill>
          <a:ln w="12700">
            <a:solidFill>
              <a:srgbClr val="2A9D8F"/>
            </a:solidFill>
            <a:prstDash val="solid"/>
          </a:ln>
        </p:spPr>
      </p:sp>
      <p:sp>
        <p:nvSpPr>
          <p:cNvPr id="19" name="Text 16"/>
          <p:cNvSpPr/>
          <p:nvPr/>
        </p:nvSpPr>
        <p:spPr>
          <a:xfrm>
            <a:off x="868680" y="430682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Pairs: every message gets a second set of ears before it's done</a:t>
            </a:r>
            <a:endParaRPr lang="en-US" sz="2100" dirty="0"/>
          </a:p>
        </p:txBody>
      </p:sp>
      <p:sp>
        <p:nvSpPr>
          <p:cNvPr id="21" name="Shape 18"/>
          <p:cNvSpPr/>
          <p:nvPr/>
        </p:nvSpPr>
        <p:spPr>
          <a:xfrm>
            <a:off x="868680" y="5129784"/>
            <a:ext cx="502920" cy="502920"/>
          </a:xfrm>
          <a:prstGeom prst="ellipse">
            <a:avLst/>
          </a:prstGeom>
          <a:solidFill>
            <a:srgbClr val="2A9D8F"/>
          </a:solidFill>
          <a:ln w="12700">
            <a:solidFill>
              <a:srgbClr val="2A9D8F"/>
            </a:solidFill>
            <a:prstDash val="solid"/>
          </a:ln>
        </p:spPr>
      </p:sp>
      <p:sp>
        <p:nvSpPr>
          <p:cNvPr id="22" name="Text 19"/>
          <p:cNvSpPr/>
          <p:nvPr/>
        </p:nvSpPr>
        <p:spPr>
          <a:xfrm>
            <a:off x="868680" y="512978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One deliverable: a message that actually sends this week</a:t>
            </a:r>
            <a:endParaRPr lang="en-US" sz="2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v1: all four parts in. Beige, and the slip is at the bottom.</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4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the real message</a:t>
            </a:r>
            <a:endParaRPr lang="en-US" sz="3200" dirty="0"/>
          </a:p>
        </p:txBody>
      </p:sp>
      <p:sp>
        <p:nvSpPr>
          <p:cNvPr id="14" name="Text 11"/>
          <p:cNvSpPr/>
          <p:nvPr/>
        </p:nvSpPr>
        <p:spPr>
          <a:xfrm>
            <a:off x="640080" y="1417320"/>
            <a:ext cx="41148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The message you actually owe families: newsletter, unit update, event reminder</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All four parts; be generous with context: what happened, what's coming, what to do and by when</a:t>
            </a:r>
            <a:endParaRPr lang="en-US" sz="1700" dirty="0"/>
          </a:p>
          <a:p>
            <a:pPr marL="342900" indent="-342900">
              <a:buSzPct val="100000"/>
              <a:buChar char="•"/>
            </a:pPr>
            <a:r>
              <a:rPr lang="en-US" sz="1700" b="1" dirty="0">
                <a:solidFill>
                  <a:srgbClr val="1B1F24"/>
                </a:solidFill>
                <a:latin typeface="Inter" pitchFamily="34" charset="0"/>
                <a:ea typeface="Inter" pitchFamily="34" charset="-122"/>
                <a:cs typeface="Inter" pitchFamily="34" charset="-120"/>
              </a:rPr>
              <a:t>A beige first draft is normal. The next three steps make it yours.</a:t>
            </a:r>
            <a:endParaRPr lang="en-US" sz="1700" dirty="0"/>
          </a:p>
        </p:txBody>
      </p:sp>
      <p:sp>
        <p:nvSpPr>
          <p:cNvPr id="15" name="Shape 12"/>
          <p:cNvSpPr/>
          <p:nvPr/>
        </p:nvSpPr>
        <p:spPr>
          <a:xfrm>
            <a:off x="4983480" y="1417320"/>
            <a:ext cx="6629400" cy="4434840"/>
          </a:xfrm>
          <a:prstGeom prst="roundRect">
            <a:avLst>
              <a:gd name="adj" fmla="val 2062"/>
            </a:avLst>
          </a:prstGeom>
          <a:solidFill>
            <a:srgbClr val="FFFFFF"/>
          </a:solidFill>
          <a:ln w="19050">
            <a:solidFill>
              <a:srgbClr val="DCE3EA"/>
            </a:solidFill>
            <a:prstDash val="solid"/>
          </a:ln>
        </p:spPr>
      </p:sp>
      <p:sp>
        <p:nvSpPr>
          <p:cNvPr id="16" name="Shape 13"/>
          <p:cNvSpPr/>
          <p:nvPr/>
        </p:nvSpPr>
        <p:spPr>
          <a:xfrm>
            <a:off x="4983480" y="1417320"/>
            <a:ext cx="6629400" cy="384048"/>
          </a:xfrm>
          <a:prstGeom prst="roundRect">
            <a:avLst>
              <a:gd name="adj" fmla="val 23810"/>
            </a:avLst>
          </a:prstGeom>
          <a:solidFill>
            <a:srgbClr val="13293D"/>
          </a:solidFill>
          <a:ln w="12700">
            <a:solidFill>
              <a:srgbClr val="13293D"/>
            </a:solidFill>
            <a:prstDash val="solid"/>
          </a:ln>
        </p:spPr>
      </p:sp>
      <p:sp>
        <p:nvSpPr>
          <p:cNvPr id="17" name="Shape 14"/>
          <p:cNvSpPr/>
          <p:nvPr/>
        </p:nvSpPr>
        <p:spPr>
          <a:xfrm>
            <a:off x="5184648" y="1536192"/>
            <a:ext cx="146304" cy="146304"/>
          </a:xfrm>
          <a:prstGeom prst="ellipse">
            <a:avLst/>
          </a:prstGeom>
          <a:solidFill>
            <a:srgbClr val="E8837A"/>
          </a:solidFill>
          <a:ln w="12700">
            <a:solidFill>
              <a:srgbClr val="E8837A"/>
            </a:solidFill>
            <a:prstDash val="solid"/>
          </a:ln>
        </p:spPr>
      </p:sp>
      <p:sp>
        <p:nvSpPr>
          <p:cNvPr id="18" name="Shape 15"/>
          <p:cNvSpPr/>
          <p:nvPr/>
        </p:nvSpPr>
        <p:spPr>
          <a:xfrm>
            <a:off x="5431536" y="1536192"/>
            <a:ext cx="146304" cy="146304"/>
          </a:xfrm>
          <a:prstGeom prst="ellipse">
            <a:avLst/>
          </a:prstGeom>
          <a:solidFill>
            <a:srgbClr val="F4A825"/>
          </a:solidFill>
          <a:ln w="12700">
            <a:solidFill>
              <a:srgbClr val="F4A825"/>
            </a:solidFill>
            <a:prstDash val="solid"/>
          </a:ln>
        </p:spPr>
      </p:sp>
      <p:sp>
        <p:nvSpPr>
          <p:cNvPr id="19" name="Shape 16"/>
          <p:cNvSpPr/>
          <p:nvPr/>
        </p:nvSpPr>
        <p:spPr>
          <a:xfrm>
            <a:off x="5678424" y="1536192"/>
            <a:ext cx="146304" cy="146304"/>
          </a:xfrm>
          <a:prstGeom prst="ellipse">
            <a:avLst/>
          </a:prstGeom>
          <a:solidFill>
            <a:srgbClr val="2E7D5B"/>
          </a:solidFill>
          <a:ln w="12700">
            <a:solidFill>
              <a:srgbClr val="2E7D5B"/>
            </a:solidFill>
            <a:prstDash val="solid"/>
          </a:ln>
        </p:spPr>
      </p:sp>
      <p:sp>
        <p:nvSpPr>
          <p:cNvPr id="20" name="Text 17"/>
          <p:cNvSpPr/>
          <p:nvPr/>
        </p:nvSpPr>
        <p:spPr>
          <a:xfrm>
            <a:off x="6035040" y="1417320"/>
            <a:ext cx="544068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Ms. Rivera's Friday newsletter · v1, straight from the slide 9 prompt</a:t>
            </a:r>
            <a:endParaRPr lang="en-US" sz="1100" dirty="0"/>
          </a:p>
        </p:txBody>
      </p:sp>
      <p:sp>
        <p:nvSpPr>
          <p:cNvPr id="21" name="Text 18"/>
          <p:cNvSpPr/>
          <p:nvPr/>
        </p:nvSpPr>
        <p:spPr>
          <a:xfrm>
            <a:off x="5303520" y="2011680"/>
            <a:ext cx="5989320" cy="2743200"/>
          </a:xfrm>
          <a:prstGeom prst="rect">
            <a:avLst/>
          </a:prstGeom>
          <a:noFill/>
          <a:ln/>
        </p:spPr>
        <p:txBody>
          <a:bodyPr wrap="square" lIns="0" tIns="0" rIns="0" bIns="0" rtlCol="0" anchor="t"/>
          <a:lstStyle/>
          <a:p>
            <a:pPr indent="0" marL="0">
              <a:lnSpc>
                <a:spcPct val="115000"/>
              </a:lnSpc>
              <a:buNone/>
            </a:pPr>
            <a:r>
              <a:rPr lang="en-US" sz="1600" dirty="0">
                <a:solidFill>
                  <a:srgbClr val="1B1F24"/>
                </a:solidFill>
                <a:latin typeface="Inter" pitchFamily="34" charset="0"/>
                <a:ea typeface="Inter" pitchFamily="34" charset="-122"/>
                <a:cs typeface="Inter" pitchFamily="34" charset="-120"/>
              </a:rPr>
              <a:t>"Hello families! We had a wonderful week concluding our fractions unit. The students demonstrated excellent growth. The science fair will take place on Thursday at 6:00 p.m. in the gymnasium, and picture day is Friday. Please be advised that the blue permission slip is due Wednesday. Thank you for your continued support!"</a:t>
            </a:r>
            <a:endParaRPr lang="en-US" sz="1600" dirty="0"/>
          </a:p>
        </p:txBody>
      </p:sp>
      <p:sp>
        <p:nvSpPr>
          <p:cNvPr id="22" name="Text 19"/>
          <p:cNvSpPr/>
          <p:nvPr/>
        </p:nvSpPr>
        <p:spPr>
          <a:xfrm>
            <a:off x="5303520" y="5029200"/>
            <a:ext cx="5989320" cy="685800"/>
          </a:xfrm>
          <a:prstGeom prst="rect">
            <a:avLst/>
          </a:prstGeom>
          <a:noFill/>
          <a:ln/>
        </p:spPr>
        <p:txBody>
          <a:bodyPr wrap="square" lIns="0" tIns="0" rIns="0" bIns="0" rtlCol="0" anchor="t"/>
          <a:lstStyle/>
          <a:p>
            <a:pPr indent="0" marL="0">
              <a:buNone/>
            </a:pPr>
            <a:r>
              <a:rPr lang="en-US" sz="1250" i="1" dirty="0">
                <a:solidFill>
                  <a:srgbClr val="5B6B7A"/>
                </a:solidFill>
                <a:latin typeface="Inter" pitchFamily="34" charset="0"/>
                <a:ea typeface="Inter" pitchFamily="34" charset="-122"/>
                <a:cs typeface="Inter" pitchFamily="34" charset="-120"/>
              </a:rPr>
              <a:t>Close, but not her yet ("demonstrated excellent growth"), and the slip is the last line.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v2: it sounds like her now. The slip is still buried.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4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voice pass</a:t>
            </a:r>
            <a:endParaRPr lang="en-US" sz="3200" dirty="0"/>
          </a:p>
        </p:txBody>
      </p:sp>
      <p:sp>
        <p:nvSpPr>
          <p:cNvPr id="14" name="Text 11"/>
          <p:cNvSpPr/>
          <p:nvPr/>
        </p:nvSpPr>
        <p:spPr>
          <a:xfrm>
            <a:off x="640080" y="1417320"/>
            <a:ext cx="41148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Read your draft ALOUD to your partner</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Every sentence your mouth wouldn't say: retype it the way you'd say it, or ask for warmer, shorter, plainer</a:t>
            </a:r>
            <a:endParaRPr lang="en-US" sz="1700" dirty="0"/>
          </a:p>
          <a:p>
            <a:pPr marL="342900" indent="-342900">
              <a:buSzPct val="100000"/>
              <a:buChar char="•"/>
            </a:pPr>
            <a:r>
              <a:rPr lang="en-US" sz="1700" b="1" dirty="0">
                <a:solidFill>
                  <a:srgbClr val="1B1F24"/>
                </a:solidFill>
                <a:latin typeface="Inter" pitchFamily="34" charset="0"/>
                <a:ea typeface="Inter" pitchFamily="34" charset="-122"/>
                <a:cs typeface="Inter" pitchFamily="34" charset="-120"/>
              </a:rPr>
              <a:t>If it doesn't sound like you, it isn't done.</a:t>
            </a:r>
            <a:endParaRPr lang="en-US" sz="1700" dirty="0"/>
          </a:p>
        </p:txBody>
      </p:sp>
      <p:sp>
        <p:nvSpPr>
          <p:cNvPr id="15" name="Shape 12"/>
          <p:cNvSpPr/>
          <p:nvPr/>
        </p:nvSpPr>
        <p:spPr>
          <a:xfrm>
            <a:off x="4983480" y="1417320"/>
            <a:ext cx="6629400" cy="4434840"/>
          </a:xfrm>
          <a:prstGeom prst="roundRect">
            <a:avLst>
              <a:gd name="adj" fmla="val 2062"/>
            </a:avLst>
          </a:prstGeom>
          <a:solidFill>
            <a:srgbClr val="FFFFFF"/>
          </a:solidFill>
          <a:ln w="19050">
            <a:solidFill>
              <a:srgbClr val="DCE3EA"/>
            </a:solidFill>
            <a:prstDash val="solid"/>
          </a:ln>
        </p:spPr>
      </p:sp>
      <p:sp>
        <p:nvSpPr>
          <p:cNvPr id="16" name="Shape 13"/>
          <p:cNvSpPr/>
          <p:nvPr/>
        </p:nvSpPr>
        <p:spPr>
          <a:xfrm>
            <a:off x="4983480" y="1417320"/>
            <a:ext cx="6629400" cy="384048"/>
          </a:xfrm>
          <a:prstGeom prst="roundRect">
            <a:avLst>
              <a:gd name="adj" fmla="val 23810"/>
            </a:avLst>
          </a:prstGeom>
          <a:solidFill>
            <a:srgbClr val="13293D"/>
          </a:solidFill>
          <a:ln w="12700">
            <a:solidFill>
              <a:srgbClr val="13293D"/>
            </a:solidFill>
            <a:prstDash val="solid"/>
          </a:ln>
        </p:spPr>
      </p:sp>
      <p:sp>
        <p:nvSpPr>
          <p:cNvPr id="17" name="Shape 14"/>
          <p:cNvSpPr/>
          <p:nvPr/>
        </p:nvSpPr>
        <p:spPr>
          <a:xfrm>
            <a:off x="5184648" y="1536192"/>
            <a:ext cx="146304" cy="146304"/>
          </a:xfrm>
          <a:prstGeom prst="ellipse">
            <a:avLst/>
          </a:prstGeom>
          <a:solidFill>
            <a:srgbClr val="E8837A"/>
          </a:solidFill>
          <a:ln w="12700">
            <a:solidFill>
              <a:srgbClr val="E8837A"/>
            </a:solidFill>
            <a:prstDash val="solid"/>
          </a:ln>
        </p:spPr>
      </p:sp>
      <p:sp>
        <p:nvSpPr>
          <p:cNvPr id="18" name="Shape 15"/>
          <p:cNvSpPr/>
          <p:nvPr/>
        </p:nvSpPr>
        <p:spPr>
          <a:xfrm>
            <a:off x="5431536" y="1536192"/>
            <a:ext cx="146304" cy="146304"/>
          </a:xfrm>
          <a:prstGeom prst="ellipse">
            <a:avLst/>
          </a:prstGeom>
          <a:solidFill>
            <a:srgbClr val="F4A825"/>
          </a:solidFill>
          <a:ln w="12700">
            <a:solidFill>
              <a:srgbClr val="F4A825"/>
            </a:solidFill>
            <a:prstDash val="solid"/>
          </a:ln>
        </p:spPr>
      </p:sp>
      <p:sp>
        <p:nvSpPr>
          <p:cNvPr id="19" name="Shape 16"/>
          <p:cNvSpPr/>
          <p:nvPr/>
        </p:nvSpPr>
        <p:spPr>
          <a:xfrm>
            <a:off x="5678424" y="1536192"/>
            <a:ext cx="146304" cy="146304"/>
          </a:xfrm>
          <a:prstGeom prst="ellipse">
            <a:avLst/>
          </a:prstGeom>
          <a:solidFill>
            <a:srgbClr val="2E7D5B"/>
          </a:solidFill>
          <a:ln w="12700">
            <a:solidFill>
              <a:srgbClr val="2E7D5B"/>
            </a:solidFill>
            <a:prstDash val="solid"/>
          </a:ln>
        </p:spPr>
      </p:sp>
      <p:sp>
        <p:nvSpPr>
          <p:cNvPr id="20" name="Text 17"/>
          <p:cNvSpPr/>
          <p:nvPr/>
        </p:nvSpPr>
        <p:spPr>
          <a:xfrm>
            <a:off x="6035040" y="1417320"/>
            <a:ext cx="544068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Ms. Rivera's Friday newsletter · v2, after the voice pass</a:t>
            </a:r>
            <a:endParaRPr lang="en-US" sz="1100" dirty="0"/>
          </a:p>
        </p:txBody>
      </p:sp>
      <p:sp>
        <p:nvSpPr>
          <p:cNvPr id="21" name="Text 18"/>
          <p:cNvSpPr/>
          <p:nvPr/>
        </p:nvSpPr>
        <p:spPr>
          <a:xfrm>
            <a:off x="5303520" y="2011680"/>
            <a:ext cx="5989320" cy="2743200"/>
          </a:xfrm>
          <a:prstGeom prst="rect">
            <a:avLst/>
          </a:prstGeom>
          <a:noFill/>
          <a:ln/>
        </p:spPr>
        <p:txBody>
          <a:bodyPr wrap="square" lIns="0" tIns="0" rIns="0" bIns="0" rtlCol="0" anchor="t"/>
          <a:lstStyle/>
          <a:p>
            <a:pPr indent="0" marL="0">
              <a:lnSpc>
                <a:spcPct val="115000"/>
              </a:lnSpc>
              <a:buNone/>
            </a:pPr>
            <a:r>
              <a:rPr lang="en-US" sz="1600" dirty="0">
                <a:solidFill>
                  <a:srgbClr val="1B1F24"/>
                </a:solidFill>
                <a:latin typeface="Inter" pitchFamily="34" charset="0"/>
                <a:ea typeface="Inter" pitchFamily="34" charset="-122"/>
                <a:cs typeface="Inter" pitchFamily="34" charset="-120"/>
              </a:rPr>
              <a:t>"Hi families, happy Friday! We wrapped up fractions this week, and I was proud of how your kids stuck with the tricky parts. The science fair is Thursday at 6 in the gym, and picture day is Friday. The blue permission slip is due Wednesday. See you Thursday!"</a:t>
            </a:r>
            <a:endParaRPr lang="en-US" sz="1600" dirty="0"/>
          </a:p>
        </p:txBody>
      </p:sp>
      <p:sp>
        <p:nvSpPr>
          <p:cNvPr id="22" name="Text 19"/>
          <p:cNvSpPr/>
          <p:nvPr/>
        </p:nvSpPr>
        <p:spPr>
          <a:xfrm>
            <a:off x="5303520" y="5029200"/>
            <a:ext cx="5989320" cy="685800"/>
          </a:xfrm>
          <a:prstGeom prst="rect">
            <a:avLst/>
          </a:prstGeom>
          <a:noFill/>
          <a:ln/>
        </p:spPr>
        <p:txBody>
          <a:bodyPr wrap="square" lIns="0" tIns="0" rIns="0" bIns="0" rtlCol="0" anchor="t"/>
          <a:lstStyle/>
          <a:p>
            <a:pPr indent="0" marL="0">
              <a:buNone/>
            </a:pPr>
            <a:r>
              <a:rPr lang="en-US" sz="1250" i="1" dirty="0">
                <a:solidFill>
                  <a:srgbClr val="5B6B7A"/>
                </a:solidFill>
                <a:latin typeface="Inter" pitchFamily="34" charset="0"/>
                <a:ea typeface="Inter" pitchFamily="34" charset="-122"/>
                <a:cs typeface="Inter" pitchFamily="34" charset="-120"/>
              </a:rPr>
              <a:t>"Demonstrated excellent growth" became her own sentence. One thing is still wrong: the slip is still buried.</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v3: the permission-slip nag rewritten warm, plain, and guilt-free.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4 · 4 MINUTES · THE DEEP-PRACTICE STEP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hard sentence</a:t>
            </a:r>
            <a:endParaRPr lang="en-US" sz="3200" dirty="0"/>
          </a:p>
        </p:txBody>
      </p:sp>
      <p:sp>
        <p:nvSpPr>
          <p:cNvPr id="14" name="Text 11"/>
          <p:cNvSpPr/>
          <p:nvPr/>
        </p:nvSpPr>
        <p:spPr>
          <a:xfrm>
            <a:off x="640080" y="1371600"/>
            <a:ext cx="10972800" cy="77724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Almost every real message carries one item you'd rather not write: the fee reminder, the missing slips, the nag. Rewrite yours warm, plain, and guilt-free, ending with exactly what to do and by when.</a:t>
            </a:r>
            <a:endParaRPr lang="en-US" sz="1650" dirty="0"/>
          </a:p>
        </p:txBody>
      </p:sp>
      <p:sp>
        <p:nvSpPr>
          <p:cNvPr id="15" name="Shape 12"/>
          <p:cNvSpPr/>
          <p:nvPr/>
        </p:nvSpPr>
        <p:spPr>
          <a:xfrm>
            <a:off x="640080" y="2286000"/>
            <a:ext cx="10972800" cy="1371600"/>
          </a:xfrm>
          <a:prstGeom prst="roundRect">
            <a:avLst>
              <a:gd name="adj" fmla="val 6000"/>
            </a:avLst>
          </a:prstGeom>
          <a:solidFill>
            <a:srgbClr val="FBEFED"/>
          </a:solidFill>
          <a:ln w="12700">
            <a:solidFill>
              <a:srgbClr val="FBEFED"/>
            </a:solidFill>
            <a:prstDash val="solid"/>
          </a:ln>
        </p:spPr>
      </p:sp>
      <p:sp>
        <p:nvSpPr>
          <p:cNvPr id="16" name="Text 13"/>
          <p:cNvSpPr/>
          <p:nvPr/>
        </p:nvSpPr>
        <p:spPr>
          <a:xfrm>
            <a:off x="914400" y="2423160"/>
            <a:ext cx="7315200" cy="292608"/>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HER HARD SENTENCE, BEFORE</a:t>
            </a:r>
            <a:endParaRPr lang="en-US" sz="1150" dirty="0"/>
          </a:p>
        </p:txBody>
      </p:sp>
      <p:sp>
        <p:nvSpPr>
          <p:cNvPr id="17" name="Text 14"/>
          <p:cNvSpPr/>
          <p:nvPr/>
        </p:nvSpPr>
        <p:spPr>
          <a:xfrm>
            <a:off x="914400" y="2743200"/>
            <a:ext cx="10424160" cy="822960"/>
          </a:xfrm>
          <a:prstGeom prst="rect">
            <a:avLst/>
          </a:prstGeom>
          <a:noFill/>
          <a:ln/>
        </p:spPr>
        <p:txBody>
          <a:bodyPr wrap="square" lIns="0" tIns="0" rIns="0" bIns="0" rtlCol="0" anchor="t"/>
          <a:lstStyle/>
          <a:p>
            <a:pPr indent="0" marL="0">
              <a:buNone/>
            </a:pPr>
            <a:r>
              <a:rPr lang="en-US" sz="1650" i="1" dirty="0">
                <a:solidFill>
                  <a:srgbClr val="1B1F24"/>
                </a:solidFill>
                <a:latin typeface="Inter" pitchFamily="34" charset="0"/>
                <a:ea typeface="Inter" pitchFamily="34" charset="-122"/>
                <a:cs typeface="Inter" pitchFamily="34" charset="-120"/>
              </a:rPr>
              <a:t>"Please be advised that students without a signed permission slip will be unable to participate."</a:t>
            </a:r>
            <a:endParaRPr lang="en-US" sz="1650" dirty="0"/>
          </a:p>
        </p:txBody>
      </p:sp>
      <p:sp>
        <p:nvSpPr>
          <p:cNvPr id="18" name="Shape 15"/>
          <p:cNvSpPr/>
          <p:nvPr/>
        </p:nvSpPr>
        <p:spPr>
          <a:xfrm>
            <a:off x="640080" y="3840480"/>
            <a:ext cx="10972800" cy="1600200"/>
          </a:xfrm>
          <a:prstGeom prst="roundRect">
            <a:avLst>
              <a:gd name="adj" fmla="val 5143"/>
            </a:avLst>
          </a:prstGeom>
          <a:solidFill>
            <a:srgbClr val="EAF5F3"/>
          </a:solidFill>
          <a:ln w="12700">
            <a:solidFill>
              <a:srgbClr val="EAF5F3"/>
            </a:solidFill>
            <a:prstDash val="solid"/>
          </a:ln>
        </p:spPr>
      </p:sp>
      <p:sp>
        <p:nvSpPr>
          <p:cNvPr id="19" name="Text 16"/>
          <p:cNvSpPr/>
          <p:nvPr/>
        </p:nvSpPr>
        <p:spPr>
          <a:xfrm>
            <a:off x="914400" y="3977640"/>
            <a:ext cx="7315200" cy="292608"/>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AFTER THE REPAIR</a:t>
            </a:r>
            <a:endParaRPr lang="en-US" sz="1150" dirty="0"/>
          </a:p>
        </p:txBody>
      </p:sp>
      <p:sp>
        <p:nvSpPr>
          <p:cNvPr id="20" name="Text 17"/>
          <p:cNvSpPr/>
          <p:nvPr/>
        </p:nvSpPr>
        <p:spPr>
          <a:xfrm>
            <a:off x="914400" y="4297680"/>
            <a:ext cx="10424160" cy="1051560"/>
          </a:xfrm>
          <a:prstGeom prst="rect">
            <a:avLst/>
          </a:prstGeom>
          <a:noFill/>
          <a:ln/>
        </p:spPr>
        <p:txBody>
          <a:bodyPr wrap="square" lIns="0" tIns="0" rIns="0" bIns="0" rtlCol="0" anchor="t"/>
          <a:lstStyle/>
          <a:p>
            <a:pPr indent="0" marL="0">
              <a:buNone/>
            </a:pPr>
            <a:r>
              <a:rPr lang="en-US" sz="1650" i="1" dirty="0">
                <a:solidFill>
                  <a:srgbClr val="1B1F24"/>
                </a:solidFill>
                <a:latin typeface="Inter" pitchFamily="34" charset="0"/>
                <a:ea typeface="Inter" pitchFamily="34" charset="-122"/>
                <a:cs typeface="Inter" pitchFamily="34" charset="-120"/>
              </a:rPr>
              <a:t>"If the blue slip hasn't made it home yet, no worries: it happens. Send it back by Wednesday so nobody misses out. Need a fresh copy? Just reply."</a:t>
            </a:r>
            <a:endParaRPr lang="en-US" sz="1650" dirty="0"/>
          </a:p>
        </p:txBody>
      </p:sp>
      <p:sp>
        <p:nvSpPr>
          <p:cNvPr id="21" name="Text 18"/>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Same requirement, zero sting; the deadline still does its job.</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newsletter, final: action items on top, under 150 words, scheduled for Friday at 3:00.</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4 OF 4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access pass &amp; sign-off</a:t>
            </a:r>
            <a:endParaRPr lang="en-US" sz="3200" dirty="0"/>
          </a:p>
        </p:txBody>
      </p:sp>
      <p:sp>
        <p:nvSpPr>
          <p:cNvPr id="14" name="Text 11"/>
          <p:cNvSpPr/>
          <p:nvPr/>
        </p:nvSpPr>
        <p:spPr>
          <a:xfrm>
            <a:off x="640080" y="1417320"/>
            <a:ext cx="4114800" cy="420624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Action items to the top: short list, with dates</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Plain words, under about 150</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Swap: your partner reads it as a tired parent on a phone at 9 p.m.</a:t>
            </a:r>
            <a:endParaRPr lang="en-US" sz="1700" dirty="0"/>
          </a:p>
          <a:p>
            <a:pPr marL="342900" indent="-342900">
              <a:buSzPct val="100000"/>
              <a:buChar char="•"/>
            </a:pPr>
            <a:r>
              <a:rPr lang="en-US" sz="1700" b="1" dirty="0">
                <a:solidFill>
                  <a:srgbClr val="1B1F24"/>
                </a:solidFill>
                <a:latin typeface="Inter" pitchFamily="34" charset="0"/>
                <a:ea typeface="Inter" pitchFamily="34" charset="-122"/>
                <a:cs typeface="Inter" pitchFamily="34" charset="-120"/>
              </a:rPr>
              <a:t>Clean? Schedule the send: pick the day and time now.</a:t>
            </a:r>
            <a:endParaRPr lang="en-US" sz="1700" dirty="0"/>
          </a:p>
        </p:txBody>
      </p:sp>
      <p:sp>
        <p:nvSpPr>
          <p:cNvPr id="15" name="Shape 12"/>
          <p:cNvSpPr/>
          <p:nvPr/>
        </p:nvSpPr>
        <p:spPr>
          <a:xfrm>
            <a:off x="4983480" y="1417320"/>
            <a:ext cx="6629400" cy="4434840"/>
          </a:xfrm>
          <a:prstGeom prst="roundRect">
            <a:avLst>
              <a:gd name="adj" fmla="val 2062"/>
            </a:avLst>
          </a:prstGeom>
          <a:solidFill>
            <a:srgbClr val="FFFFFF"/>
          </a:solidFill>
          <a:ln w="19050">
            <a:solidFill>
              <a:srgbClr val="DCE3EA"/>
            </a:solidFill>
            <a:prstDash val="solid"/>
          </a:ln>
        </p:spPr>
      </p:sp>
      <p:sp>
        <p:nvSpPr>
          <p:cNvPr id="16" name="Shape 13"/>
          <p:cNvSpPr/>
          <p:nvPr/>
        </p:nvSpPr>
        <p:spPr>
          <a:xfrm>
            <a:off x="4983480" y="1417320"/>
            <a:ext cx="6629400" cy="384048"/>
          </a:xfrm>
          <a:prstGeom prst="roundRect">
            <a:avLst>
              <a:gd name="adj" fmla="val 23810"/>
            </a:avLst>
          </a:prstGeom>
          <a:solidFill>
            <a:srgbClr val="13293D"/>
          </a:solidFill>
          <a:ln w="12700">
            <a:solidFill>
              <a:srgbClr val="13293D"/>
            </a:solidFill>
            <a:prstDash val="solid"/>
          </a:ln>
        </p:spPr>
      </p:sp>
      <p:sp>
        <p:nvSpPr>
          <p:cNvPr id="17" name="Shape 14"/>
          <p:cNvSpPr/>
          <p:nvPr/>
        </p:nvSpPr>
        <p:spPr>
          <a:xfrm>
            <a:off x="5184648" y="1536192"/>
            <a:ext cx="146304" cy="146304"/>
          </a:xfrm>
          <a:prstGeom prst="ellipse">
            <a:avLst/>
          </a:prstGeom>
          <a:solidFill>
            <a:srgbClr val="E8837A"/>
          </a:solidFill>
          <a:ln w="12700">
            <a:solidFill>
              <a:srgbClr val="E8837A"/>
            </a:solidFill>
            <a:prstDash val="solid"/>
          </a:ln>
        </p:spPr>
      </p:sp>
      <p:sp>
        <p:nvSpPr>
          <p:cNvPr id="18" name="Shape 15"/>
          <p:cNvSpPr/>
          <p:nvPr/>
        </p:nvSpPr>
        <p:spPr>
          <a:xfrm>
            <a:off x="5431536" y="1536192"/>
            <a:ext cx="146304" cy="146304"/>
          </a:xfrm>
          <a:prstGeom prst="ellipse">
            <a:avLst/>
          </a:prstGeom>
          <a:solidFill>
            <a:srgbClr val="F4A825"/>
          </a:solidFill>
          <a:ln w="12700">
            <a:solidFill>
              <a:srgbClr val="F4A825"/>
            </a:solidFill>
            <a:prstDash val="solid"/>
          </a:ln>
        </p:spPr>
      </p:sp>
      <p:sp>
        <p:nvSpPr>
          <p:cNvPr id="19" name="Shape 16"/>
          <p:cNvSpPr/>
          <p:nvPr/>
        </p:nvSpPr>
        <p:spPr>
          <a:xfrm>
            <a:off x="5678424" y="1536192"/>
            <a:ext cx="146304" cy="146304"/>
          </a:xfrm>
          <a:prstGeom prst="ellipse">
            <a:avLst/>
          </a:prstGeom>
          <a:solidFill>
            <a:srgbClr val="2E7D5B"/>
          </a:solidFill>
          <a:ln w="12700">
            <a:solidFill>
              <a:srgbClr val="2E7D5B"/>
            </a:solidFill>
            <a:prstDash val="solid"/>
          </a:ln>
        </p:spPr>
      </p:sp>
      <p:sp>
        <p:nvSpPr>
          <p:cNvPr id="20" name="Text 17"/>
          <p:cNvSpPr/>
          <p:nvPr/>
        </p:nvSpPr>
        <p:spPr>
          <a:xfrm>
            <a:off x="6035040" y="1417320"/>
            <a:ext cx="544068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Ms. Rivera's Friday newsletter · final, scheduled for Friday at 3:00</a:t>
            </a:r>
            <a:endParaRPr lang="en-US" sz="1100" dirty="0"/>
          </a:p>
        </p:txBody>
      </p:sp>
      <p:sp>
        <p:nvSpPr>
          <p:cNvPr id="21" name="Text 18"/>
          <p:cNvSpPr/>
          <p:nvPr/>
        </p:nvSpPr>
        <p:spPr>
          <a:xfrm>
            <a:off x="5303520" y="1965960"/>
            <a:ext cx="5989320" cy="3063240"/>
          </a:xfrm>
          <a:prstGeom prst="rect">
            <a:avLst/>
          </a:prstGeom>
          <a:noFill/>
          <a:ln/>
        </p:spPr>
        <p:txBody>
          <a:bodyPr wrap="square" lIns="0" tIns="0" rIns="0" bIns="0" rtlCol="0" anchor="t"/>
          <a:lstStyle/>
          <a:p>
            <a:pPr indent="0" marL="0">
              <a:lnSpc>
                <a:spcPct val="112000"/>
              </a:lnSpc>
              <a:buNone/>
            </a:pPr>
            <a:r>
              <a:rPr lang="en-US" sz="1600" dirty="0">
                <a:solidFill>
                  <a:srgbClr val="1B1F24"/>
                </a:solidFill>
                <a:latin typeface="Inter" pitchFamily="34" charset="0"/>
                <a:ea typeface="Inter" pitchFamily="34" charset="-122"/>
                <a:cs typeface="Inter" pitchFamily="34" charset="-120"/>
              </a:rPr>
              <a:t>"Hi families, happy Friday! Three quick things:
</a:t>
            </a:r>
            <a:pPr indent="0" marL="0">
              <a:lnSpc>
                <a:spcPct val="112000"/>
              </a:lnSpc>
              <a:buNone/>
            </a:pPr>
            <a:r>
              <a:rPr lang="en-US" sz="1600" b="1" dirty="0">
                <a:solidFill>
                  <a:srgbClr val="1B1F24"/>
                </a:solidFill>
                <a:latin typeface="Inter" pitchFamily="34" charset="0"/>
                <a:ea typeface="Inter" pitchFamily="34" charset="-122"/>
                <a:cs typeface="Inter" pitchFamily="34" charset="-120"/>
              </a:rPr>
              <a:t>• Blue permission slip: back by Wednesday (need a copy? just reply)
• Science fair: Thursday, 6:00, in the gym
• Picture day: Friday
</a:t>
            </a:r>
            <a:pPr indent="0" marL="0">
              <a:lnSpc>
                <a:spcPct val="112000"/>
              </a:lnSpc>
              <a:buNone/>
            </a:pPr>
            <a:r>
              <a:rPr lang="en-US" sz="1600" dirty="0">
                <a:solidFill>
                  <a:srgbClr val="1B1F24"/>
                </a:solidFill>
                <a:latin typeface="Inter" pitchFamily="34" charset="0"/>
                <a:ea typeface="Inter" pitchFamily="34" charset="-122"/>
                <a:cs typeface="Inter" pitchFamily="34" charset="-120"/>
              </a:rPr>
              <a:t>We wrapped up fractions this week, and I was proud of how your kids stuck with the tricky parts. See you Thursday!"</a:t>
            </a:r>
            <a:endParaRPr lang="en-US" sz="1600" dirty="0"/>
          </a:p>
        </p:txBody>
      </p:sp>
      <p:sp>
        <p:nvSpPr>
          <p:cNvPr id="22" name="Text 19"/>
          <p:cNvSpPr/>
          <p:nvPr/>
        </p:nvSpPr>
        <p:spPr>
          <a:xfrm>
            <a:off x="5303520" y="5120640"/>
            <a:ext cx="5989320" cy="594360"/>
          </a:xfrm>
          <a:prstGeom prst="rect">
            <a:avLst/>
          </a:prstGeom>
          <a:noFill/>
          <a:ln/>
        </p:spPr>
        <p:txBody>
          <a:bodyPr wrap="square" lIns="0" tIns="0" rIns="0" bIns="0" rtlCol="0" anchor="t"/>
          <a:lstStyle/>
          <a:p>
            <a:pPr indent="0" marL="0">
              <a:buNone/>
            </a:pPr>
            <a:r>
              <a:rPr lang="en-US" sz="1250" i="1" dirty="0">
                <a:solidFill>
                  <a:srgbClr val="5B6B7A"/>
                </a:solidFill>
                <a:latin typeface="Inter" pitchFamily="34" charset="0"/>
                <a:ea typeface="Inter" pitchFamily="34" charset="-122"/>
                <a:cs typeface="Inter" pitchFamily="34" charset="-120"/>
              </a:rPr>
              <a:t>Action items on top, under 150 words, sounds like her. Done means it sends.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v1's opening read against the final. Same facts; now it's her.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SHARE-OUT · 3 VOICES, 1 MINUTE EACH</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Read us your before and after</a:t>
            </a:r>
            <a:endParaRPr lang="en-US" sz="3200" dirty="0"/>
          </a:p>
        </p:txBody>
      </p:sp>
      <p:sp>
        <p:nvSpPr>
          <p:cNvPr id="14" name="Text 11"/>
          <p:cNvSpPr/>
          <p:nvPr/>
        </p:nvSpPr>
        <p:spPr>
          <a:xfrm>
            <a:off x="640080" y="1417320"/>
            <a:ext cx="10972800" cy="2011680"/>
          </a:xfrm>
          <a:prstGeom prst="rect">
            <a:avLst/>
          </a:prstGeom>
          <a:noFill/>
          <a:ln/>
        </p:spPr>
        <p:txBody>
          <a:bodyPr wrap="square" rtlCol="0" anchor="t"/>
          <a:lstStyle/>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Your first draft, read against the version you just scheduled</a:t>
            </a:r>
            <a:endParaRPr lang="en-US" sz="1900" dirty="0"/>
          </a:p>
          <a:p>
            <a:pPr marL="342900" indent="-342900">
              <a:spcAft>
                <a:spcPts val="1000"/>
              </a:spcAft>
              <a:buSzPct val="100000"/>
              <a:buChar char="•"/>
            </a:pPr>
            <a:r>
              <a:rPr lang="en-US" sz="1900" dirty="0">
                <a:solidFill>
                  <a:srgbClr val="1B1F24"/>
                </a:solidFill>
                <a:latin typeface="Inter" pitchFamily="34" charset="0"/>
                <a:ea typeface="Inter" pitchFamily="34" charset="-122"/>
                <a:cs typeface="Inter" pitchFamily="34" charset="-120"/>
              </a:rPr>
              <a:t>Listen for how different the voices sound</a:t>
            </a:r>
            <a:endParaRPr lang="en-US" sz="1900" dirty="0"/>
          </a:p>
          <a:p>
            <a:pPr marL="342900" indent="-342900">
              <a:buSzPct val="100000"/>
              <a:buChar char="•"/>
            </a:pPr>
            <a:r>
              <a:rPr lang="en-US" sz="1900" b="1" dirty="0">
                <a:solidFill>
                  <a:srgbClr val="1B1F24"/>
                </a:solidFill>
                <a:latin typeface="Inter" pitchFamily="34" charset="0"/>
                <a:ea typeface="Inter" pitchFamily="34" charset="-122"/>
                <a:cs typeface="Inter" pitchFamily="34" charset="-120"/>
              </a:rPr>
              <a:t>Same tool, thirty teachers, thirty recognizable humans. That's the point.</a:t>
            </a:r>
            <a:endParaRPr lang="en-US" sz="1900" dirty="0"/>
          </a:p>
        </p:txBody>
      </p:sp>
      <p:sp>
        <p:nvSpPr>
          <p:cNvPr id="15" name="Shape 12"/>
          <p:cNvSpPr/>
          <p:nvPr/>
        </p:nvSpPr>
        <p:spPr>
          <a:xfrm>
            <a:off x="640080" y="3611880"/>
            <a:ext cx="5394960" cy="2103120"/>
          </a:xfrm>
          <a:prstGeom prst="roundRect">
            <a:avLst>
              <a:gd name="adj" fmla="val 3913"/>
            </a:avLst>
          </a:prstGeom>
          <a:solidFill>
            <a:srgbClr val="FBEFED"/>
          </a:solidFill>
          <a:ln w="12700">
            <a:solidFill>
              <a:srgbClr val="FBEFED"/>
            </a:solidFill>
            <a:prstDash val="solid"/>
          </a:ln>
        </p:spPr>
      </p:sp>
      <p:sp>
        <p:nvSpPr>
          <p:cNvPr id="16" name="Text 13"/>
          <p:cNvSpPr/>
          <p:nvPr/>
        </p:nvSpPr>
        <p:spPr>
          <a:xfrm>
            <a:off x="914400" y="3767328"/>
            <a:ext cx="4846320" cy="292608"/>
          </a:xfrm>
          <a:prstGeom prst="rect">
            <a:avLst/>
          </a:prstGeom>
          <a:noFill/>
          <a:ln/>
        </p:spPr>
        <p:txBody>
          <a:bodyPr wrap="square" lIns="0" tIns="0" rIns="0" bIns="0" rtlCol="0" anchor="ctr"/>
          <a:lstStyle/>
          <a:p>
            <a:pPr indent="0" marL="0">
              <a:buNone/>
            </a:pPr>
            <a:r>
              <a:rPr lang="en-US" sz="1150" b="1" spc="150" kern="0" dirty="0">
                <a:solidFill>
                  <a:srgbClr val="B4453A"/>
                </a:solidFill>
                <a:latin typeface="Inter" pitchFamily="34" charset="0"/>
                <a:ea typeface="Inter" pitchFamily="34" charset="-122"/>
                <a:cs typeface="Inter" pitchFamily="34" charset="-120"/>
              </a:rPr>
              <a:t>MS. RIVERA'S BEFORE</a:t>
            </a:r>
            <a:endParaRPr lang="en-US" sz="1150" dirty="0"/>
          </a:p>
        </p:txBody>
      </p:sp>
      <p:sp>
        <p:nvSpPr>
          <p:cNvPr id="17" name="Text 14"/>
          <p:cNvSpPr/>
          <p:nvPr/>
        </p:nvSpPr>
        <p:spPr>
          <a:xfrm>
            <a:off x="914400" y="4096512"/>
            <a:ext cx="4846320" cy="1508760"/>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"Hello families! We had a wonderful week concluding our fractions unit. The students demonstrated excellent growth."</a:t>
            </a:r>
            <a:endParaRPr lang="en-US" sz="1600" dirty="0"/>
          </a:p>
        </p:txBody>
      </p:sp>
      <p:sp>
        <p:nvSpPr>
          <p:cNvPr id="18" name="Shape 15"/>
          <p:cNvSpPr/>
          <p:nvPr/>
        </p:nvSpPr>
        <p:spPr>
          <a:xfrm>
            <a:off x="6263640" y="3611880"/>
            <a:ext cx="5394960" cy="2103120"/>
          </a:xfrm>
          <a:prstGeom prst="roundRect">
            <a:avLst>
              <a:gd name="adj" fmla="val 3913"/>
            </a:avLst>
          </a:prstGeom>
          <a:solidFill>
            <a:srgbClr val="EAF5F3"/>
          </a:solidFill>
          <a:ln w="12700">
            <a:solidFill>
              <a:srgbClr val="EAF5F3"/>
            </a:solidFill>
            <a:prstDash val="solid"/>
          </a:ln>
        </p:spPr>
      </p:sp>
      <p:sp>
        <p:nvSpPr>
          <p:cNvPr id="19" name="Text 16"/>
          <p:cNvSpPr/>
          <p:nvPr/>
        </p:nvSpPr>
        <p:spPr>
          <a:xfrm>
            <a:off x="6537960" y="3767328"/>
            <a:ext cx="4846320" cy="292608"/>
          </a:xfrm>
          <a:prstGeom prst="rect">
            <a:avLst/>
          </a:prstGeom>
          <a:noFill/>
          <a:ln/>
        </p:spPr>
        <p:txBody>
          <a:bodyPr wrap="square" lIns="0" tIns="0" rIns="0" bIns="0" rtlCol="0" anchor="ctr"/>
          <a:lstStyle/>
          <a:p>
            <a:pPr indent="0" marL="0">
              <a:buNone/>
            </a:pPr>
            <a:r>
              <a:rPr lang="en-US" sz="1150" b="1" spc="150" kern="0" dirty="0">
                <a:solidFill>
                  <a:srgbClr val="2E7D5B"/>
                </a:solidFill>
                <a:latin typeface="Inter" pitchFamily="34" charset="0"/>
                <a:ea typeface="Inter" pitchFamily="34" charset="-122"/>
                <a:cs typeface="Inter" pitchFamily="34" charset="-120"/>
              </a:rPr>
              <a:t>MS. RIVERA'S AFTER</a:t>
            </a:r>
            <a:endParaRPr lang="en-US" sz="1150" dirty="0"/>
          </a:p>
        </p:txBody>
      </p:sp>
      <p:sp>
        <p:nvSpPr>
          <p:cNvPr id="20" name="Text 17"/>
          <p:cNvSpPr/>
          <p:nvPr/>
        </p:nvSpPr>
        <p:spPr>
          <a:xfrm>
            <a:off x="6537960" y="4096512"/>
            <a:ext cx="4846320" cy="1508760"/>
          </a:xfrm>
          <a:prstGeom prst="rect">
            <a:avLst/>
          </a:prstGeom>
          <a:noFill/>
          <a:ln/>
        </p:spPr>
        <p:txBody>
          <a:bodyPr wrap="square" lIns="0" tIns="0" rIns="0" bIns="0" rtlCol="0" anchor="t"/>
          <a:lstStyle/>
          <a:p>
            <a:pPr indent="0" marL="0">
              <a:buNone/>
            </a:pPr>
            <a:r>
              <a:rPr lang="en-US" sz="1600" i="1" dirty="0">
                <a:solidFill>
                  <a:srgbClr val="1B1F24"/>
                </a:solidFill>
                <a:latin typeface="Inter" pitchFamily="34" charset="0"/>
                <a:ea typeface="Inter" pitchFamily="34" charset="-122"/>
                <a:cs typeface="Inter" pitchFamily="34" charset="-120"/>
              </a:rPr>
              <a:t>"Hi families, happy Friday! Three quick things: the slip, the science fair, picture day. And I was proud of your kids this week."</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inventory: newsletter scheduled; batch prompt queued; 24-hour rule armed.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EIGHTEEN MINUTES OF WORK, ON THE RECORD</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Next week's real message: drafted, voiced, the hard sentence repaired, action items on top, and scheduled to send. Plus two habits ready to start: the positive-note batch (the prompt is on the handout; its first run is Send 2 on the First 48 Hours sheet) and the 24-hour rule for anything written angry.
</a:t>
            </a:r>
            <a:pPr indent="0" marL="0">
              <a:buNone/>
            </a:pPr>
            <a:r>
              <a:rPr lang="en-US" sz="1900" b="1" dirty="0">
                <a:solidFill>
                  <a:srgbClr val="13293D"/>
                </a:solidFill>
                <a:latin typeface="Inter" pitchFamily="34" charset="0"/>
                <a:ea typeface="Inter" pitchFamily="34" charset="-122"/>
                <a:cs typeface="Inter" pitchFamily="34" charset="-120"/>
              </a:rPr>
              <a:t>One message, start to finish, and nothing about it was hypothetical.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 limits: AI can't know the family or repair trust it didn't build.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THIS SERIES DOESN'T OVERSELL</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tool doesn't know your families, their histories, or what last year did to their trust; personalizing is where your knowledge enters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It sounds fluent in every language, which is exactly why translation stays off your desk: fluent-sounding and faithful are different things, and you can't check the difference in a language you don't read</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No tool repairs trust. Only consistency does. AI lowers the cost of consistency; that's its whole contribution, and it's a big one.</a:t>
            </a:r>
            <a:endParaRPr lang="en-US" sz="2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26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commitments: review and personalize everything; call first on hard news; one batch a week.</a:t>
            </a:r>
            <a:endParaRPr lang="en-US" sz="1000" dirty="0"/>
          </a:p>
        </p:txBody>
      </p:sp>
      <p:sp>
        <p:nvSpPr>
          <p:cNvPr id="12" name="Text 9"/>
          <p:cNvSpPr/>
          <p:nvPr/>
        </p:nvSpPr>
        <p:spPr>
          <a:xfrm>
            <a:off x="822960" y="100584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OUR THREE COMMITMENTS</a:t>
            </a:r>
            <a:endParaRPr lang="en-US" sz="1500" dirty="0"/>
          </a:p>
        </p:txBody>
      </p:sp>
      <p:sp>
        <p:nvSpPr>
          <p:cNvPr id="13" name="Shape 10"/>
          <p:cNvSpPr/>
          <p:nvPr/>
        </p:nvSpPr>
        <p:spPr>
          <a:xfrm>
            <a:off x="868680" y="1892808"/>
            <a:ext cx="640080" cy="640080"/>
          </a:xfrm>
          <a:prstGeom prst="ellipse">
            <a:avLst/>
          </a:prstGeom>
          <a:solidFill>
            <a:srgbClr val="2A9D8F"/>
          </a:solidFill>
          <a:ln w="12700">
            <a:solidFill>
              <a:srgbClr val="2A9D8F"/>
            </a:solidFill>
            <a:prstDash val="solid"/>
          </a:ln>
        </p:spPr>
      </p:sp>
      <p:sp>
        <p:nvSpPr>
          <p:cNvPr id="14" name="Text 11"/>
          <p:cNvSpPr/>
          <p:nvPr/>
        </p:nvSpPr>
        <p:spPr>
          <a:xfrm>
            <a:off x="868680" y="189280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15" name="Text 12"/>
          <p:cNvSpPr/>
          <p:nvPr/>
        </p:nvSpPr>
        <p:spPr>
          <a:xfrm>
            <a:off x="1783080" y="178308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Every AI-drafted message is reviewed and personalized before it sends; families hear me, not the tool</a:t>
            </a:r>
            <a:endParaRPr lang="en-US" sz="2000" dirty="0"/>
          </a:p>
        </p:txBody>
      </p:sp>
      <p:sp>
        <p:nvSpPr>
          <p:cNvPr id="16" name="Shape 13"/>
          <p:cNvSpPr/>
          <p:nvPr/>
        </p:nvSpPr>
        <p:spPr>
          <a:xfrm>
            <a:off x="868680" y="3081528"/>
            <a:ext cx="640080" cy="640080"/>
          </a:xfrm>
          <a:prstGeom prst="ellipse">
            <a:avLst/>
          </a:prstGeom>
          <a:solidFill>
            <a:srgbClr val="2A9D8F"/>
          </a:solidFill>
          <a:ln w="12700">
            <a:solidFill>
              <a:srgbClr val="2A9D8F"/>
            </a:solidFill>
            <a:prstDash val="solid"/>
          </a:ln>
        </p:spPr>
      </p:sp>
      <p:sp>
        <p:nvSpPr>
          <p:cNvPr id="17" name="Text 14"/>
          <p:cNvSpPr/>
          <p:nvPr/>
        </p:nvSpPr>
        <p:spPr>
          <a:xfrm>
            <a:off x="868680" y="308152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18" name="Text 15"/>
          <p:cNvSpPr/>
          <p:nvPr/>
        </p:nvSpPr>
        <p:spPr>
          <a:xfrm>
            <a:off x="1783080" y="297180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Hard news travels by voice first, mine, every time</a:t>
            </a:r>
            <a:endParaRPr lang="en-US" sz="2000" dirty="0"/>
          </a:p>
        </p:txBody>
      </p:sp>
      <p:sp>
        <p:nvSpPr>
          <p:cNvPr id="19" name="Shape 16"/>
          <p:cNvSpPr/>
          <p:nvPr/>
        </p:nvSpPr>
        <p:spPr>
          <a:xfrm>
            <a:off x="868680" y="4270248"/>
            <a:ext cx="640080" cy="640080"/>
          </a:xfrm>
          <a:prstGeom prst="ellipse">
            <a:avLst/>
          </a:prstGeom>
          <a:solidFill>
            <a:srgbClr val="2A9D8F"/>
          </a:solidFill>
          <a:ln w="12700">
            <a:solidFill>
              <a:srgbClr val="2A9D8F"/>
            </a:solidFill>
            <a:prstDash val="solid"/>
          </a:ln>
        </p:spPr>
      </p:sp>
      <p:sp>
        <p:nvSpPr>
          <p:cNvPr id="20" name="Text 17"/>
          <p:cNvSpPr/>
          <p:nvPr/>
        </p:nvSpPr>
        <p:spPr>
          <a:xfrm>
            <a:off x="868680" y="427024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21" name="Text 18"/>
          <p:cNvSpPr/>
          <p:nvPr/>
        </p:nvSpPr>
        <p:spPr>
          <a:xfrm>
            <a:off x="1783080" y="4160520"/>
            <a:ext cx="9692640" cy="91440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One positive-note batch a week: the one-sentence habit the research validated</a:t>
            </a:r>
            <a:endParaRPr lang="en-US" sz="2000" dirty="0"/>
          </a:p>
        </p:txBody>
      </p:sp>
      <p:sp>
        <p:nvSpPr>
          <p:cNvPr id="22" name="Text 19"/>
          <p:cNvSpPr/>
          <p:nvPr/>
        </p:nvSpPr>
        <p:spPr>
          <a:xfrm>
            <a:off x="822960" y="5577840"/>
            <a:ext cx="10515600" cy="502920"/>
          </a:xfrm>
          <a:prstGeom prst="rect">
            <a:avLst/>
          </a:prstGeom>
          <a:noFill/>
          <a:ln/>
        </p:spPr>
        <p:txBody>
          <a:bodyPr wrap="square" lIns="0" tIns="0" rIns="0" bIns="0" rtlCol="0" anchor="ctr"/>
          <a:lstStyle/>
          <a:p>
            <a:pPr indent="0" marL="0">
              <a:buNone/>
            </a:pPr>
            <a:r>
              <a:rPr lang="en-US" sz="1800" i="1" dirty="0">
                <a:solidFill>
                  <a:srgbClr val="2A9D8F"/>
                </a:solidFill>
                <a:latin typeface="Inter" pitchFamily="34" charset="0"/>
                <a:ea typeface="Inter" pitchFamily="34" charset="-122"/>
                <a:cs typeface="Inter" pitchFamily="34" charset="-120"/>
              </a:rPr>
              <a:t>Can I get a nod on those three?</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month: batch habit, a makeover swap, comms templates in the staff doc.</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30-DAY PLAN, IN ONE SLIDE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goes next</a:t>
            </a:r>
            <a:endParaRPr lang="en-US" sz="3200" dirty="0"/>
          </a:p>
        </p:txBody>
      </p:sp>
      <p:sp>
        <p:nvSpPr>
          <p:cNvPr id="14" name="Text 11"/>
          <p:cNvSpPr/>
          <p:nvPr/>
        </p:nvSpPr>
        <p:spPr>
          <a:xfrm>
            <a:off x="822960" y="155448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This week</a:t>
            </a:r>
            <a:endParaRPr lang="en-US" sz="1900" dirty="0"/>
          </a:p>
        </p:txBody>
      </p:sp>
      <p:sp>
        <p:nvSpPr>
          <p:cNvPr id="15" name="Text 12"/>
          <p:cNvSpPr/>
          <p:nvPr/>
        </p:nvSpPr>
        <p:spPr>
          <a:xfrm>
            <a:off x="2926080" y="155448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The lab message sends on schedule; the batch prompt gets its first run</a:t>
            </a:r>
            <a:endParaRPr lang="en-US" sz="1800" dirty="0"/>
          </a:p>
        </p:txBody>
      </p:sp>
      <p:sp>
        <p:nvSpPr>
          <p:cNvPr id="16" name="Text 13"/>
          <p:cNvSpPr/>
          <p:nvPr/>
        </p:nvSpPr>
        <p:spPr>
          <a:xfrm>
            <a:off x="822960" y="251460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2</a:t>
            </a:r>
            <a:endParaRPr lang="en-US" sz="1900" dirty="0"/>
          </a:p>
        </p:txBody>
      </p:sp>
      <p:sp>
        <p:nvSpPr>
          <p:cNvPr id="17" name="Text 14"/>
          <p:cNvSpPr/>
          <p:nvPr/>
        </p:nvSpPr>
        <p:spPr>
          <a:xfrm>
            <a:off x="2926080" y="251460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PLC · Batch Check: did week two's notes go out, and what came back?</a:t>
            </a:r>
            <a:endParaRPr lang="en-US" sz="1800" dirty="0"/>
          </a:p>
        </p:txBody>
      </p:sp>
      <p:sp>
        <p:nvSpPr>
          <p:cNvPr id="18" name="Text 15"/>
          <p:cNvSpPr/>
          <p:nvPr/>
        </p:nvSpPr>
        <p:spPr>
          <a:xfrm>
            <a:off x="822960" y="347472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3</a:t>
            </a:r>
            <a:endParaRPr lang="en-US" sz="1900" dirty="0"/>
          </a:p>
        </p:txBody>
      </p:sp>
      <p:sp>
        <p:nvSpPr>
          <p:cNvPr id="19" name="Text 16"/>
          <p:cNvSpPr/>
          <p:nvPr/>
        </p:nvSpPr>
        <p:spPr>
          <a:xfrm>
            <a:off x="2926080" y="347472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PLC · Message Makeover Swap: bring the month's hardest message; repair it together</a:t>
            </a:r>
            <a:endParaRPr lang="en-US" sz="1800" dirty="0"/>
          </a:p>
        </p:txBody>
      </p:sp>
      <p:sp>
        <p:nvSpPr>
          <p:cNvPr id="20" name="Text 17"/>
          <p:cNvSpPr/>
          <p:nvPr/>
        </p:nvSpPr>
        <p:spPr>
          <a:xfrm>
            <a:off x="822960" y="443484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4</a:t>
            </a:r>
            <a:endParaRPr lang="en-US" sz="1900" dirty="0"/>
          </a:p>
        </p:txBody>
      </p:sp>
      <p:sp>
        <p:nvSpPr>
          <p:cNvPr id="21" name="Text 18"/>
          <p:cNvSpPr/>
          <p:nvPr/>
        </p:nvSpPr>
        <p:spPr>
          <a:xfrm>
            <a:off x="2926080" y="443484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PLC · Template Harvest: best messages into the staff doc's Communication section</a:t>
            </a:r>
            <a:endParaRPr lang="en-US" sz="1800" dirty="0"/>
          </a:p>
        </p:txBody>
      </p:sp>
      <p:sp>
        <p:nvSpPr>
          <p:cNvPr id="22" name="Text 19"/>
          <p:cNvSpPr/>
          <p:nvPr/>
        </p:nvSpPr>
        <p:spPr>
          <a:xfrm>
            <a:off x="640080" y="557784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Nobody at this school writes the field-trip reminder from scratch again.</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the newsletter sends Friday; the batch runs Monday; the hard reply finally goes.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First 48 hours: three sends</a:t>
            </a:r>
            <a:endParaRPr lang="en-US" sz="3200" dirty="0"/>
          </a:p>
        </p:txBody>
      </p:sp>
      <p:sp>
        <p:nvSpPr>
          <p:cNvPr id="14" name="Shape 11"/>
          <p:cNvSpPr/>
          <p:nvPr/>
        </p:nvSpPr>
        <p:spPr>
          <a:xfrm>
            <a:off x="640080" y="1554480"/>
            <a:ext cx="10972800" cy="1097280"/>
          </a:xfrm>
          <a:prstGeom prst="roundRect">
            <a:avLst>
              <a:gd name="adj" fmla="val 7500"/>
            </a:avLst>
          </a:prstGeom>
          <a:solidFill>
            <a:srgbClr val="F7F5F0"/>
          </a:solidFill>
          <a:ln w="12700">
            <a:solidFill>
              <a:srgbClr val="F7F5F0"/>
            </a:solidFill>
            <a:prstDash val="solid"/>
          </a:ln>
        </p:spPr>
      </p:sp>
      <p:sp>
        <p:nvSpPr>
          <p:cNvPr id="15" name="Text 12"/>
          <p:cNvSpPr/>
          <p:nvPr/>
        </p:nvSpPr>
        <p:spPr>
          <a:xfrm>
            <a:off x="914400" y="173736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1</a:t>
            </a:r>
            <a:endParaRPr lang="en-US" sz="2600" dirty="0"/>
          </a:p>
        </p:txBody>
      </p:sp>
      <p:sp>
        <p:nvSpPr>
          <p:cNvPr id="16" name="Text 13"/>
          <p:cNvSpPr/>
          <p:nvPr/>
        </p:nvSpPr>
        <p:spPr>
          <a:xfrm>
            <a:off x="1737360" y="169164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Let the message you scheduled send</a:t>
            </a:r>
            <a:endParaRPr lang="en-US" sz="1800" dirty="0"/>
          </a:p>
        </p:txBody>
      </p:sp>
      <p:sp>
        <p:nvSpPr>
          <p:cNvPr id="17" name="Text 14"/>
          <p:cNvSpPr/>
          <p:nvPr/>
        </p:nvSpPr>
        <p:spPr>
          <a:xfrm>
            <a:off x="1737360" y="212140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It's drafted, voiced, and repaired; it's done. Let it go out on time</a:t>
            </a:r>
            <a:endParaRPr lang="en-US" sz="1450" dirty="0"/>
          </a:p>
        </p:txBody>
      </p:sp>
      <p:sp>
        <p:nvSpPr>
          <p:cNvPr id="18" name="Text 15"/>
          <p:cNvSpPr/>
          <p:nvPr/>
        </p:nvSpPr>
        <p:spPr>
          <a:xfrm>
            <a:off x="9509760" y="187452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~5 min</a:t>
            </a:r>
            <a:endParaRPr lang="en-US" sz="1600" dirty="0"/>
          </a:p>
        </p:txBody>
      </p:sp>
      <p:sp>
        <p:nvSpPr>
          <p:cNvPr id="19" name="Shape 16"/>
          <p:cNvSpPr/>
          <p:nvPr/>
        </p:nvSpPr>
        <p:spPr>
          <a:xfrm>
            <a:off x="640080" y="2834640"/>
            <a:ext cx="10972800" cy="1097280"/>
          </a:xfrm>
          <a:prstGeom prst="roundRect">
            <a:avLst>
              <a:gd name="adj" fmla="val 7500"/>
            </a:avLst>
          </a:prstGeom>
          <a:solidFill>
            <a:srgbClr val="F7F5F0"/>
          </a:solidFill>
          <a:ln w="12700">
            <a:solidFill>
              <a:srgbClr val="F7F5F0"/>
            </a:solidFill>
            <a:prstDash val="solid"/>
          </a:ln>
        </p:spPr>
      </p:sp>
      <p:sp>
        <p:nvSpPr>
          <p:cNvPr id="20" name="Text 17"/>
          <p:cNvSpPr/>
          <p:nvPr/>
        </p:nvSpPr>
        <p:spPr>
          <a:xfrm>
            <a:off x="914400" y="301752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2</a:t>
            </a:r>
            <a:endParaRPr lang="en-US" sz="2600" dirty="0"/>
          </a:p>
        </p:txBody>
      </p:sp>
      <p:sp>
        <p:nvSpPr>
          <p:cNvPr id="21" name="Text 18"/>
          <p:cNvSpPr/>
          <p:nvPr/>
        </p:nvSpPr>
        <p:spPr>
          <a:xfrm>
            <a:off x="1737360" y="297180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Run the batch, send three notes</a:t>
            </a:r>
            <a:endParaRPr lang="en-US" sz="1800" dirty="0"/>
          </a:p>
        </p:txBody>
      </p:sp>
      <p:sp>
        <p:nvSpPr>
          <p:cNvPr id="22" name="Text 19"/>
          <p:cNvSpPr/>
          <p:nvPr/>
        </p:nvSpPr>
        <p:spPr>
          <a:xfrm>
            <a:off x="1737360" y="340156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The handout prompt, three starters, personalized in your own email</a:t>
            </a:r>
            <a:endParaRPr lang="en-US" sz="1450" dirty="0"/>
          </a:p>
        </p:txBody>
      </p:sp>
      <p:sp>
        <p:nvSpPr>
          <p:cNvPr id="23" name="Text 20"/>
          <p:cNvSpPr/>
          <p:nvPr/>
        </p:nvSpPr>
        <p:spPr>
          <a:xfrm>
            <a:off x="9509760" y="315468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~10 min</a:t>
            </a:r>
            <a:endParaRPr lang="en-US" sz="1600" dirty="0"/>
          </a:p>
        </p:txBody>
      </p:sp>
      <p:sp>
        <p:nvSpPr>
          <p:cNvPr id="24" name="Shape 21"/>
          <p:cNvSpPr/>
          <p:nvPr/>
        </p:nvSpPr>
        <p:spPr>
          <a:xfrm>
            <a:off x="640080" y="4114800"/>
            <a:ext cx="10972800" cy="1097280"/>
          </a:xfrm>
          <a:prstGeom prst="roundRect">
            <a:avLst>
              <a:gd name="adj" fmla="val 7500"/>
            </a:avLst>
          </a:prstGeom>
          <a:solidFill>
            <a:srgbClr val="F7F5F0"/>
          </a:solidFill>
          <a:ln w="12700">
            <a:solidFill>
              <a:srgbClr val="F7F5F0"/>
            </a:solidFill>
            <a:prstDash val="solid"/>
          </a:ln>
        </p:spPr>
      </p:sp>
      <p:sp>
        <p:nvSpPr>
          <p:cNvPr id="25" name="Text 22"/>
          <p:cNvSpPr/>
          <p:nvPr/>
        </p:nvSpPr>
        <p:spPr>
          <a:xfrm>
            <a:off x="914400" y="429768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3</a:t>
            </a:r>
            <a:endParaRPr lang="en-US" sz="2600" dirty="0"/>
          </a:p>
        </p:txBody>
      </p:sp>
      <p:sp>
        <p:nvSpPr>
          <p:cNvPr id="26" name="Text 23"/>
          <p:cNvSpPr/>
          <p:nvPr/>
        </p:nvSpPr>
        <p:spPr>
          <a:xfrm>
            <a:off x="1737360" y="425196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Send the reply you've been sitting on</a:t>
            </a:r>
            <a:endParaRPr lang="en-US" sz="1800" dirty="0"/>
          </a:p>
        </p:txBody>
      </p:sp>
      <p:sp>
        <p:nvSpPr>
          <p:cNvPr id="27" name="Text 24"/>
          <p:cNvSpPr/>
          <p:nvPr/>
        </p:nvSpPr>
        <p:spPr>
          <a:xfrm>
            <a:off x="1737360" y="468172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The tool absorbs the heat (no names); the 24-hour rule sets the clock</a:t>
            </a:r>
            <a:endParaRPr lang="en-US" sz="1450" dirty="0"/>
          </a:p>
        </p:txBody>
      </p:sp>
      <p:sp>
        <p:nvSpPr>
          <p:cNvPr id="28" name="Text 25"/>
          <p:cNvSpPr/>
          <p:nvPr/>
        </p:nvSpPr>
        <p:spPr>
          <a:xfrm>
            <a:off x="9509760" y="443484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~10 min</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6 · AI for Communication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what she drafted, her note-batch plan, one worry.</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 AT THE DOOR</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message you drafted, and when it goes out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Your positive-note plan: batch day and how you'll personalize</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communication situation you still want help with</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It doubles as the school's PD documentation</a:t>
            </a:r>
            <a:endParaRPr lang="en-US" sz="2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6 · AI for Communication   |   30</a:t>
            </a:r>
            <a:endParaRPr lang="en-US" sz="900" dirty="0"/>
          </a:p>
        </p:txBody>
      </p:sp>
      <p:sp>
        <p:nvSpPr>
          <p:cNvPr id="5" name="Text 2"/>
          <p:cNvSpPr/>
          <p:nvPr/>
        </p:nvSpPr>
        <p:spPr>
          <a:xfrm>
            <a:off x="822960" y="1645920"/>
            <a:ext cx="10515600" cy="2103120"/>
          </a:xfrm>
          <a:prstGeom prst="rect">
            <a:avLst/>
          </a:prstGeom>
          <a:noFill/>
          <a:ln/>
        </p:spPr>
        <p:txBody>
          <a:bodyPr wrap="square" lIns="0" tIns="0" rIns="0" bIns="0" rtlCol="0" anchor="ctr"/>
          <a:lstStyle/>
          <a:p>
            <a:pPr indent="0" marL="0">
              <a:lnSpc>
                <a:spcPct val="120000"/>
              </a:lnSpc>
              <a:buNone/>
            </a:pPr>
            <a:r>
              <a:rPr lang="en-US" sz="3200" b="1" dirty="0">
                <a:solidFill>
                  <a:srgbClr val="FFFFFF"/>
                </a:solidFill>
                <a:latin typeface="Inter" pitchFamily="34" charset="0"/>
                <a:ea typeface="Inter" pitchFamily="34" charset="-122"/>
                <a:cs typeface="Inter" pitchFamily="34" charset="-120"/>
              </a:rPr>
              <a:t>Nobody remembers a beige newsletter.</a:t>
            </a:r>
            <a:endParaRPr lang="en-US" sz="3200" dirty="0"/>
          </a:p>
          <a:p>
            <a:pPr indent="0" marL="0">
              <a:lnSpc>
                <a:spcPct val="120000"/>
              </a:lnSpc>
              <a:buNone/>
            </a:pPr>
            <a:r>
              <a:rPr lang="en-US" sz="3200" b="1" dirty="0">
                <a:solidFill>
                  <a:srgbClr val="FFFFFF"/>
                </a:solidFill>
                <a:latin typeface="Inter" pitchFamily="34" charset="0"/>
                <a:ea typeface="Inter" pitchFamily="34" charset="-122"/>
                <a:cs typeface="Inter" pitchFamily="34" charset="-120"/>
              </a:rPr>
              <a:t>Nobody forgets the teacher who sent home</a:t>
            </a:r>
            <a:endParaRPr lang="en-US" sz="3200" dirty="0"/>
          </a:p>
          <a:p>
            <a:pPr indent="0" marL="0">
              <a:lnSpc>
                <a:spcPct val="120000"/>
              </a:lnSpc>
              <a:buNone/>
            </a:pPr>
            <a:r>
              <a:rPr lang="en-US" sz="3200" b="1" dirty="0">
                <a:solidFill>
                  <a:srgbClr val="FFFFFF"/>
                </a:solidFill>
                <a:latin typeface="Inter" pitchFamily="34" charset="0"/>
                <a:ea typeface="Inter" pitchFamily="34" charset="-122"/>
                <a:cs typeface="Inter" pitchFamily="34" charset="-120"/>
              </a:rPr>
              <a:t>one true sentence about their kid.</a:t>
            </a:r>
            <a:endParaRPr lang="en-US" sz="3200" dirty="0"/>
          </a:p>
        </p:txBody>
      </p:sp>
      <p:sp>
        <p:nvSpPr>
          <p:cNvPr id="6" name="Text 3"/>
          <p:cNvSpPr/>
          <p:nvPr/>
        </p:nvSpPr>
        <p:spPr>
          <a:xfrm>
            <a:off x="822960" y="4023360"/>
            <a:ext cx="10332720" cy="64008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The tool writes drafts now. The sentences families keep are still yours.</a:t>
            </a:r>
            <a:endParaRPr lang="en-US" sz="2200" dirty="0"/>
          </a:p>
        </p:txBody>
      </p:sp>
      <p:sp>
        <p:nvSpPr>
          <p:cNvPr id="7" name="Text 4"/>
          <p:cNvSpPr/>
          <p:nvPr/>
        </p:nvSpPr>
        <p:spPr>
          <a:xfrm>
            <a:off x="822960" y="5120640"/>
            <a:ext cx="10332720" cy="45720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Next: Kit 7 · AI for Workload: Winning Back an Hour a Week</a:t>
            </a:r>
            <a:endParaRPr lang="en-US" sz="1600" dirty="0"/>
          </a:p>
        </p:txBody>
      </p:sp>
      <p:sp>
        <p:nvSpPr>
          <p:cNvPr id="8" name="Text 5"/>
          <p:cNvSpPr/>
          <p:nvPr/>
        </p:nvSpPr>
        <p:spPr>
          <a:xfrm>
            <a:off x="822960" y="5623560"/>
            <a:ext cx="10332720" cy="45720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Thanks for the hour. Go send something worth keeping.</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6: AI for Communication: Parent Messages and Tone</dc:title>
  <dc:subject>PptxGenJS Presentation</dc:subject>
  <dc:creator>Adam &amp; Katelyn Spinozzi</dc:creator>
  <cp:lastModifiedBy>Adam &amp; Katelyn Spinozzi</cp:lastModifiedBy>
  <cp:revision>1</cp:revision>
  <dcterms:created xsi:type="dcterms:W3CDTF">2026-08-12T15:42:03Z</dcterms:created>
  <dcterms:modified xsi:type="dcterms:W3CDTF">2026-08-12T15:42:03Z</dcterms:modified>
</cp:coreProperties>
</file>