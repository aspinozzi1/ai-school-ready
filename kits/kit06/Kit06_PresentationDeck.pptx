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up as people arrive. Start on time. Say: today is about what goes home, and by the end next week's real message is written and sounding like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time is real and recoverable; the risk is your voice. Both stats verified: Merrimack/EdWeek 2022; Gallup-Walton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Kraft &amp; Rogers 2015, Economics of Education Review: one individualized sentence per week, 41% failure reduction, improvement-focused messages strongest. This study powers the positive-note batch on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real messages ready to send, not notes about messages. Keep this quick.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jobs the tool does well, and the one it can't: knowing the family. That line sets up the whole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Kit 2's voice round is about to become the most important skill in this session. The beige risk is real and families are the first to notice.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rules are Kit 1 carryovers: no student PII in public tools; nothing AI-drafted reaches a family unread (U.S. DoE humans-in-the-loop, 2023).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slide, said slowly. Every technique in the next twenty minutes serves this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count the four color-coded parts with me: role in teal, task in navy, context in amber (look how much she gives it), format in green. Ninety seconds of typing; the draft comes back needing only her voice pass. This is the shape to mimic in lab step 1, where she runs this same prompt on her own Friday notes (slide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makeover two is the email you shouldn't send, and the same four parts do the work: role in teal, task in navy, context in amber, format in green. Let the tool absorb the heat; the emotion comes out and the relationship stays intact. Read the amber part aloud, because it is the part that keeps her honest: the situation only, never the child, and specifics and names get added later in her own email. The 24-hour rule needs no AI: it's wisdom with a timestamp.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Kraft &amp; Rogers turned into five minutes a week: improvement-focused, individualized, personalized by you. The personalizing step is not optional; it's the mechanism. The lab takes one message start to finish, so the batch is homework: the prompt is on the handout, and it's Send 2 on the First 48 Hours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when a message home goes wrong, it's usually because the prompt skipped part of Kit 2's formula (Role, Task, Context, Format), so diagnose WHICH part. Let the room name the missing part before you confirm with the right column. The fix is never mysterious: hand the prompt the part it skipped and run it again. 45-min cut: rows 1 and 3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commands, one test, one rule; that's the whole kit, and the next slide puts it to work. Expect real feeling on the 24-hour rule; someone in the room has sent the email they regret. Give it a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three real drafts, one command each; call it out. Read each draft, let the room call warmer / shorter / plainer, then read the repaired line from the right column. 45-min cut: draft 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one red line before the lab, and it's short. We do not use public AI tools to translate messages to families: you cannot review what you cannot read, and nothing goes home with your name on it unreviewed. Official and legal documents already have a lane, the district's translation channels. Your job is the plain-language original; that's the version every family can use and the version district translators do their best work from. Never trim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slide, read slowly. This is the line that makes all the efficiency defensible; say so out loud. Never trim this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beat, then the lab. Say: AI made deposits cheap. The lab starts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eighteen minutes, one deliverable, completely real: the message you owe families this week, drafted, voiced, the hard part repaired, action items on top, scheduled. Dark slide. Pairs formed inside two minutes; announce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draft the message you actually owe families, all four parts, generous context. The card on the right is Ms. Rivera's step 1: one artifact, her Friday newsletter, carried through every step of this lab. The next three slides are her whole step 1 in order, the notes she starts from, the prompt she types, and the draft that comes back, so anyone who feels lost can copy her structure exactly. 6 minutes (45-min cut: 5). Circulate; weak drafts lack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where she actually starts, so nobody has to imagine it. Five fragments on a sticky note, in her own shorthand, and twenty minutes. Read them aloud; the room will recognize their own Friday. Point at the bottom line, because it is the honest rule of this whole hour: every fact in the finished message came off this note. The tool never invented a date, a time, or a compliment. Keep this up while pairs write down their own raw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lab on one screen. It is the same four parts from slide 9, aimed at the sticky note you just read: role in teal, task in navy, context in amber, format in green. Two clauses are worth pointing at. In amber, "nobody should feel scolded about the slip" is the sentence that saves her the tone repair later. In green, "action items first" is what moves the permission slip off the bottom of the message. At worst, copy this shape with your own notes and you will finish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four seconds later, this comes back, and every fact in it is right because every fact came off her note. Read it aloud in a flat voice; the room hears the beige. Then name the two problems out loud: "demonstrated excellent growth" and "please be advised" are nobody's sentences, and the permission slip, the one thing families must act on, is sitting in the last line. Nobody should be discouraged by a beige draft, including the people looking at their own screen right now. Steps 2 through 4 are the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read it aloud to your partner; every sentence your mouth wouldn't say gets retyped the way you'd say it. On screen, the same newsletter, v2: it sounds like her now, and one thing is still wrong. The next slide shows every follow-up she types from here and what each one buys her. 4 minutes. 45-min cut: fold step 4 in here (one read-aloud fixes voice and order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iteration is not failure, it is the work. Four follow-ups, one chat, nothing re-pasted, and each one is a move you already have: the voice pass, the hard sentence, the access pass, the plain-language check. Read the right-hand column out loud, because that column is what each follow-up actually bought her. Tell the room the honest timing: this whole thread ran in about six minutes, and they are doing the same thing on their own message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find the sentence you've been avoiding and rewrite it warm, plain, and guilt-free, ending with what to do and by when. Ms. Rivera's was the permission-slip line: same requirement, zero sting. If yours came out a little angry, this is where the 24-hour rule gets its workout. 4 minutes; protect this step. Circulate for the sentence people are avoiding.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pull every action item to the top with dates, keep it plain and under about 150 words, then trade one last time: your partner reads it as a tired parent on a phone and flags anything unclear. When it comes back clean, schedule the send right now. On screen, the three things the access pass changed on Ms. Rivera's newsletter, including the one thing her partner caught: "Thursday at 6" could be read as morning. Then the next slide shows the message itself. 4 minutes. 45-min cut: folded into step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is the thing itself, not a description of it, and it is what the whole hour was for. Read it aloud exactly as a family would read it on a phone. Then point at the three things that make it work: the action items are in the first four lines with their dates, the permission slip asks instead of scolds, and the warm sentence at the end is hers, not the tool's. Finally, read the strip at the bottom: every fact came off the sticky note on slide 20. That is the standard for every message anybody in this room sends.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voices, one minute each. 45-min cut: two voices. Same facts on both cards; the after is simply her, and it is the opening of the finished message on slide 27. The voice diversity IS the lesson; name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inventory land. The message on it actually sends this week; that's what separates this from PD that evaporates.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honest-limits slide every kit carries. The middle bullet restates the red line as a limit, not a rule. End on the consistency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Dark slide. Read all three, ask for the visible nod, same ritual as every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inside existing PLC time. The makeover swap runs on the tone kit: warmer, shorter, plainer, read it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the sheet out as you talk. Three sends, and families actually feel this PD.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"still want help with" answers set the follow-ups' agenda. Collect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warm. Collect exit tickets at the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77240" y="731520"/>
            <a:ext cx="1051560" cy="969264"/>
          </a:xfrm>
          <a:prstGeom prst="rect">
            <a:avLst/>
          </a:prstGeom>
        </p:spPr>
      </p:pic>
      <p:sp>
        <p:nvSpPr>
          <p:cNvPr id="3" name="Text 0"/>
          <p:cNvSpPr/>
          <p:nvPr/>
        </p:nvSpPr>
        <p:spPr>
          <a:xfrm>
            <a:off x="1965960" y="960120"/>
            <a:ext cx="3657600" cy="54864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AI-Ready</a:t>
            </a:r>
            <a:pPr indent="0" marL="0">
              <a:buNone/>
            </a:pPr>
            <a:r>
              <a:rPr lang="en-US" sz="2600" b="1" dirty="0">
                <a:solidFill>
                  <a:srgbClr val="FFFFFF"/>
                </a:solidFill>
                <a:latin typeface="Inter" pitchFamily="34" charset="0"/>
                <a:ea typeface="Inter" pitchFamily="34" charset="-122"/>
                <a:cs typeface="Inter" pitchFamily="34" charset="-120"/>
              </a:rPr>
              <a:t> School</a:t>
            </a:r>
            <a:endParaRPr lang="en-US" sz="2600" dirty="0"/>
          </a:p>
        </p:txBody>
      </p:sp>
      <p:sp>
        <p:nvSpPr>
          <p:cNvPr id="4" name="Text 1"/>
          <p:cNvSpPr/>
          <p:nvPr/>
        </p:nvSpPr>
        <p:spPr>
          <a:xfrm>
            <a:off x="822960" y="2743200"/>
            <a:ext cx="8229600" cy="36576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TRACK A · AI FOUNDATIONS · KIT 6 OF 20</a:t>
            </a:r>
            <a:endParaRPr lang="en-US" sz="1500" dirty="0"/>
          </a:p>
        </p:txBody>
      </p:sp>
      <p:sp>
        <p:nvSpPr>
          <p:cNvPr id="5" name="Text 2"/>
          <p:cNvSpPr/>
          <p:nvPr/>
        </p:nvSpPr>
        <p:spPr>
          <a:xfrm>
            <a:off x="777240" y="3063240"/>
            <a:ext cx="10789920" cy="182880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Inter" pitchFamily="34" charset="0"/>
                <a:ea typeface="Inter" pitchFamily="34" charset="-122"/>
                <a:cs typeface="Inter" pitchFamily="34" charset="-120"/>
              </a:rPr>
              <a:t>AI for Communication:</a:t>
            </a:r>
            <a:endParaRPr lang="en-US" sz="4000" dirty="0"/>
          </a:p>
          <a:p>
            <a:pPr indent="0" marL="0">
              <a:lnSpc>
                <a:spcPct val="105000"/>
              </a:lnSpc>
              <a:buNone/>
            </a:pPr>
            <a:r>
              <a:rPr lang="en-US" sz="4000" b="1" dirty="0">
                <a:solidFill>
                  <a:srgbClr val="FFFFFF"/>
                </a:solidFill>
                <a:latin typeface="Inter" pitchFamily="34" charset="0"/>
                <a:ea typeface="Inter" pitchFamily="34" charset="-122"/>
                <a:cs typeface="Inter" pitchFamily="34" charset="-120"/>
              </a:rPr>
              <a:t>Parent Messages and Tone</a:t>
            </a:r>
            <a:endParaRPr lang="en-US" sz="4000" dirty="0"/>
          </a:p>
        </p:txBody>
      </p:sp>
      <p:sp>
        <p:nvSpPr>
          <p:cNvPr id="6" name="Text 3"/>
          <p:cNvSpPr/>
          <p:nvPr/>
        </p:nvSpPr>
        <p:spPr>
          <a:xfrm>
            <a:off x="822960" y="4983480"/>
            <a:ext cx="10241280" cy="457200"/>
          </a:xfrm>
          <a:prstGeom prst="rect">
            <a:avLst/>
          </a:prstGeom>
          <a:noFill/>
          <a:ln/>
        </p:spPr>
        <p:txBody>
          <a:bodyPr wrap="square" lIns="0" tIns="0" rIns="0" bIns="0" rtlCol="0" anchor="ctr"/>
          <a:lstStyle/>
          <a:p>
            <a:pPr indent="0" marL="0">
              <a:buNone/>
            </a:pPr>
            <a:r>
              <a:rPr lang="en-US" sz="1800" dirty="0">
                <a:solidFill>
                  <a:srgbClr val="C9D4DE"/>
                </a:solidFill>
                <a:latin typeface="Inter" pitchFamily="34" charset="0"/>
                <a:ea typeface="Inter" pitchFamily="34" charset="-122"/>
                <a:cs typeface="Inter" pitchFamily="34" charset="-120"/>
              </a:rPr>
              <a:t>A 45–60 minute working session. You leave with next week's real family message written, voiced, and ready to send.</a:t>
            </a:r>
            <a:endParaRPr lang="en-US" sz="1800" dirty="0"/>
          </a:p>
        </p:txBody>
      </p:sp>
      <p:sp>
        <p:nvSpPr>
          <p:cNvPr id="7" name="Text 4"/>
          <p:cNvSpPr/>
          <p:nvPr/>
        </p:nvSpPr>
        <p:spPr>
          <a:xfrm>
            <a:off x="822960" y="6035040"/>
            <a:ext cx="10515600" cy="365760"/>
          </a:xfrm>
          <a:prstGeom prst="rect">
            <a:avLst/>
          </a:prstGeom>
          <a:noFill/>
          <a:ln/>
        </p:spPr>
        <p:txBody>
          <a:bodyPr wrap="square" lIns="0" tIns="0" rIns="0" bIns="0" rtlCol="0" anchor="ctr"/>
          <a:lstStyle/>
          <a:p>
            <a:pPr indent="0" marL="0">
              <a:buNone/>
            </a:pPr>
            <a:r>
              <a:rPr lang="en-US" sz="1200" dirty="0">
                <a:solidFill>
                  <a:srgbClr val="9FB2C2"/>
                </a:solidFill>
                <a:latin typeface="Inter" pitchFamily="34" charset="0"/>
                <a:ea typeface="Inter" pitchFamily="34" charset="-122"/>
                <a:cs typeface="Inter" pitchFamily="34" charset="-120"/>
              </a:rPr>
              <a:t>Built by Adam &amp; Katelyn Spinozzi · certified educators · 20+ combined years in the classroom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math: one wave of messages a week, drafted in the margins after dinner.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COMMUNICATION ACTUALLY LIVES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margin problem</a:t>
            </a:r>
            <a:endParaRPr lang="en-US" sz="3200" dirty="0"/>
          </a:p>
        </p:txBody>
      </p:sp>
      <p:sp>
        <p:nvSpPr>
          <p:cNvPr id="14" name="Shape 11"/>
          <p:cNvSpPr/>
          <p:nvPr/>
        </p:nvSpPr>
        <p:spPr>
          <a:xfrm>
            <a:off x="640080" y="1600200"/>
            <a:ext cx="5257800" cy="3383280"/>
          </a:xfrm>
          <a:prstGeom prst="roundRect">
            <a:avLst>
              <a:gd name="adj" fmla="val 2432"/>
            </a:avLst>
          </a:prstGeom>
          <a:solidFill>
            <a:srgbClr val="F7F5F0"/>
          </a:solidFill>
          <a:ln w="12700">
            <a:solidFill>
              <a:srgbClr val="F7F5F0"/>
            </a:solidFill>
            <a:prstDash val="solid"/>
          </a:ln>
        </p:spPr>
      </p:sp>
      <p:sp>
        <p:nvSpPr>
          <p:cNvPr id="15" name="Text 12"/>
          <p:cNvSpPr/>
          <p:nvPr/>
        </p:nvSpPr>
        <p:spPr>
          <a:xfrm>
            <a:off x="640080" y="1783080"/>
            <a:ext cx="5257800" cy="320040"/>
          </a:xfrm>
          <a:prstGeom prst="rect">
            <a:avLst/>
          </a:prstGeom>
          <a:noFill/>
          <a:ln/>
        </p:spPr>
        <p:txBody>
          <a:bodyPr wrap="square" lIns="0" tIns="0" rIns="0" bIns="0" rtlCol="0" anchor="ctr"/>
          <a:lstStyle/>
          <a:p>
            <a:pPr algn="ctr" indent="0" marL="0">
              <a:buNone/>
            </a:pPr>
            <a:r>
              <a:rPr lang="en-US" sz="1300" b="1" spc="200" kern="0" dirty="0">
                <a:solidFill>
                  <a:srgbClr val="13293D"/>
                </a:solidFill>
                <a:latin typeface="Inter" pitchFamily="34" charset="0"/>
                <a:ea typeface="Inter" pitchFamily="34" charset="-122"/>
                <a:cs typeface="Inter" pitchFamily="34" charset="-120"/>
              </a:rPr>
              <a:t>THE WEEK</a:t>
            </a:r>
            <a:endParaRPr lang="en-US" sz="1300" dirty="0"/>
          </a:p>
        </p:txBody>
      </p:sp>
      <p:sp>
        <p:nvSpPr>
          <p:cNvPr id="16" name="Text 13"/>
          <p:cNvSpPr/>
          <p:nvPr/>
        </p:nvSpPr>
        <p:spPr>
          <a:xfrm>
            <a:off x="640080" y="2103120"/>
            <a:ext cx="5257800" cy="960120"/>
          </a:xfrm>
          <a:prstGeom prst="rect">
            <a:avLst/>
          </a:prstGeom>
          <a:noFill/>
          <a:ln/>
        </p:spPr>
        <p:txBody>
          <a:bodyPr wrap="square" lIns="0" tIns="0" rIns="0" bIns="0" rtlCol="0" anchor="ctr"/>
          <a:lstStyle/>
          <a:p>
            <a:pPr algn="ctr" indent="0" marL="0">
              <a:buNone/>
            </a:pPr>
            <a:r>
              <a:rPr lang="en-US" sz="5200" b="1" dirty="0">
                <a:solidFill>
                  <a:srgbClr val="13293D"/>
                </a:solidFill>
                <a:latin typeface="Inter" pitchFamily="34" charset="0"/>
                <a:ea typeface="Inter" pitchFamily="34" charset="-122"/>
                <a:cs typeface="Inter" pitchFamily="34" charset="-120"/>
              </a:rPr>
              <a:t>~54 hrs</a:t>
            </a:r>
            <a:endParaRPr lang="en-US" sz="5200" dirty="0"/>
          </a:p>
        </p:txBody>
      </p:sp>
      <p:sp>
        <p:nvSpPr>
          <p:cNvPr id="17" name="Text 14"/>
          <p:cNvSpPr/>
          <p:nvPr/>
        </p:nvSpPr>
        <p:spPr>
          <a:xfrm>
            <a:off x="914400" y="3108960"/>
            <a:ext cx="4709160" cy="173736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The teacher work week, with less than half spent directly teaching. Family communication lives in the rest: the after-dinner margins. (Merrimack College/EdWeek, 2022)</a:t>
            </a:r>
            <a:endParaRPr lang="en-US" sz="1600" dirty="0"/>
          </a:p>
        </p:txBody>
      </p:sp>
      <p:sp>
        <p:nvSpPr>
          <p:cNvPr id="18" name="Shape 15"/>
          <p:cNvSpPr/>
          <p:nvPr/>
        </p:nvSpPr>
        <p:spPr>
          <a:xfrm>
            <a:off x="6263640" y="1600200"/>
            <a:ext cx="5257800" cy="3383280"/>
          </a:xfrm>
          <a:prstGeom prst="roundRect">
            <a:avLst>
              <a:gd name="adj" fmla="val 2432"/>
            </a:avLst>
          </a:prstGeom>
          <a:solidFill>
            <a:srgbClr val="EAF5F3"/>
          </a:solidFill>
          <a:ln w="12700">
            <a:solidFill>
              <a:srgbClr val="EAF5F3"/>
            </a:solidFill>
            <a:prstDash val="solid"/>
          </a:ln>
        </p:spPr>
      </p:sp>
      <p:sp>
        <p:nvSpPr>
          <p:cNvPr id="19" name="Text 16"/>
          <p:cNvSpPr/>
          <p:nvPr/>
        </p:nvSpPr>
        <p:spPr>
          <a:xfrm>
            <a:off x="6263640" y="1783080"/>
            <a:ext cx="5257800" cy="320040"/>
          </a:xfrm>
          <a:prstGeom prst="rect">
            <a:avLst/>
          </a:prstGeom>
          <a:noFill/>
          <a:ln/>
        </p:spPr>
        <p:txBody>
          <a:bodyPr wrap="square" lIns="0" tIns="0" rIns="0" bIns="0" rtlCol="0" anchor="ctr"/>
          <a:lstStyle/>
          <a:p>
            <a:pPr algn="ctr" indent="0" marL="0">
              <a:buNone/>
            </a:pPr>
            <a:r>
              <a:rPr lang="en-US" sz="1300" b="1" spc="200" kern="0" dirty="0">
                <a:solidFill>
                  <a:srgbClr val="2A9D8F"/>
                </a:solidFill>
                <a:latin typeface="Inter" pitchFamily="34" charset="0"/>
                <a:ea typeface="Inter" pitchFamily="34" charset="-122"/>
                <a:cs typeface="Inter" pitchFamily="34" charset="-120"/>
              </a:rPr>
              <a:t>THE RECOVERABLE PART</a:t>
            </a:r>
            <a:endParaRPr lang="en-US" sz="1300" dirty="0"/>
          </a:p>
        </p:txBody>
      </p:sp>
      <p:sp>
        <p:nvSpPr>
          <p:cNvPr id="20" name="Text 17"/>
          <p:cNvSpPr/>
          <p:nvPr/>
        </p:nvSpPr>
        <p:spPr>
          <a:xfrm>
            <a:off x="6263640" y="2103120"/>
            <a:ext cx="5257800" cy="960120"/>
          </a:xfrm>
          <a:prstGeom prst="rect">
            <a:avLst/>
          </a:prstGeom>
          <a:noFill/>
          <a:ln/>
        </p:spPr>
        <p:txBody>
          <a:bodyPr wrap="square" lIns="0" tIns="0" rIns="0" bIns="0" rtlCol="0" anchor="ctr"/>
          <a:lstStyle/>
          <a:p>
            <a:pPr algn="ctr" indent="0" marL="0">
              <a:buNone/>
            </a:pPr>
            <a:r>
              <a:rPr lang="en-US" sz="5200" b="1" dirty="0">
                <a:solidFill>
                  <a:srgbClr val="2A9D8F"/>
                </a:solidFill>
                <a:latin typeface="Inter" pitchFamily="34" charset="0"/>
                <a:ea typeface="Inter" pitchFamily="34" charset="-122"/>
                <a:cs typeface="Inter" pitchFamily="34" charset="-120"/>
              </a:rPr>
              <a:t>~5.9 hrs</a:t>
            </a:r>
            <a:endParaRPr lang="en-US" sz="5200" dirty="0"/>
          </a:p>
        </p:txBody>
      </p:sp>
      <p:sp>
        <p:nvSpPr>
          <p:cNvPr id="21" name="Text 18"/>
          <p:cNvSpPr/>
          <p:nvPr/>
        </p:nvSpPr>
        <p:spPr>
          <a:xfrm>
            <a:off x="6537960" y="3108960"/>
            <a:ext cx="4709160" cy="173736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Weekly time saved by teachers who've made AI a habit, with communication drafting among the most common uses. (Gallup &amp; Walton Family Foundation, 2025)</a:t>
            </a:r>
            <a:endParaRPr lang="en-US" sz="1600" dirty="0"/>
          </a:p>
        </p:txBody>
      </p:sp>
      <p:sp>
        <p:nvSpPr>
          <p:cNvPr id="22" name="Text 19"/>
          <p:cNvSpPr/>
          <p:nvPr/>
        </p:nvSpPr>
        <p:spPr>
          <a:xfrm>
            <a:off x="640080" y="5349240"/>
            <a:ext cx="10972800" cy="502920"/>
          </a:xfrm>
          <a:prstGeom prst="rect">
            <a:avLst/>
          </a:prstGeom>
          <a:noFill/>
          <a:ln/>
        </p:spPr>
        <p:txBody>
          <a:bodyPr wrap="square" lIns="0" tIns="0" rIns="0" bIns="0" rtlCol="0" anchor="ctr"/>
          <a:lstStyle/>
          <a:p>
            <a:pPr algn="ctr" indent="0" marL="0">
              <a:buNone/>
            </a:pPr>
            <a:r>
              <a:rPr lang="en-US" sz="2000" b="1" dirty="0">
                <a:solidFill>
                  <a:srgbClr val="13293D"/>
                </a:solidFill>
                <a:latin typeface="Inter" pitchFamily="34" charset="0"/>
                <a:ea typeface="Inter" pitchFamily="34" charset="-122"/>
                <a:cs typeface="Inter" pitchFamily="34" charset="-120"/>
              </a:rPr>
              <a:t>The question of this hour: recover the time without families noticing a robot moved in.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lever: one sentence home per week moved real outcomes. She wants that at scale.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BEST EVIDENCE IN FAMILY COMMUNICATION</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One sentence moves the needle</a:t>
            </a:r>
            <a:endParaRPr lang="en-US" sz="3200" dirty="0"/>
          </a:p>
        </p:txBody>
      </p:sp>
      <p:sp>
        <p:nvSpPr>
          <p:cNvPr id="14" name="Shape 11"/>
          <p:cNvSpPr/>
          <p:nvPr/>
        </p:nvSpPr>
        <p:spPr>
          <a:xfrm>
            <a:off x="640080" y="1600200"/>
            <a:ext cx="5257800" cy="3383280"/>
          </a:xfrm>
          <a:prstGeom prst="roundRect">
            <a:avLst>
              <a:gd name="adj" fmla="val 2432"/>
            </a:avLst>
          </a:prstGeom>
          <a:solidFill>
            <a:srgbClr val="EAF5F3"/>
          </a:solidFill>
          <a:ln w="12700">
            <a:solidFill>
              <a:srgbClr val="EAF5F3"/>
            </a:solidFill>
            <a:prstDash val="solid"/>
          </a:ln>
        </p:spPr>
      </p:sp>
      <p:sp>
        <p:nvSpPr>
          <p:cNvPr id="15" name="Text 12"/>
          <p:cNvSpPr/>
          <p:nvPr/>
        </p:nvSpPr>
        <p:spPr>
          <a:xfrm>
            <a:off x="640080" y="1783080"/>
            <a:ext cx="5257800" cy="320040"/>
          </a:xfrm>
          <a:prstGeom prst="rect">
            <a:avLst/>
          </a:prstGeom>
          <a:noFill/>
          <a:ln/>
        </p:spPr>
        <p:txBody>
          <a:bodyPr wrap="square" lIns="0" tIns="0" rIns="0" bIns="0" rtlCol="0" anchor="ctr"/>
          <a:lstStyle/>
          <a:p>
            <a:pPr algn="ctr" indent="0" marL="0">
              <a:buNone/>
            </a:pPr>
            <a:r>
              <a:rPr lang="en-US" sz="1300" b="1" spc="200" kern="0" dirty="0">
                <a:solidFill>
                  <a:srgbClr val="5B6B7A"/>
                </a:solidFill>
                <a:latin typeface="Inter" pitchFamily="34" charset="0"/>
                <a:ea typeface="Inter" pitchFamily="34" charset="-122"/>
                <a:cs typeface="Inter" pitchFamily="34" charset="-120"/>
              </a:rPr>
              <a:t>COURSE FAILURE, BEFORE</a:t>
            </a:r>
            <a:endParaRPr lang="en-US" sz="1300" dirty="0"/>
          </a:p>
        </p:txBody>
      </p:sp>
      <p:sp>
        <p:nvSpPr>
          <p:cNvPr id="16" name="Text 13"/>
          <p:cNvSpPr/>
          <p:nvPr/>
        </p:nvSpPr>
        <p:spPr>
          <a:xfrm>
            <a:off x="640080" y="2103120"/>
            <a:ext cx="5257800" cy="960120"/>
          </a:xfrm>
          <a:prstGeom prst="rect">
            <a:avLst/>
          </a:prstGeom>
          <a:noFill/>
          <a:ln/>
        </p:spPr>
        <p:txBody>
          <a:bodyPr wrap="square" lIns="0" tIns="0" rIns="0" bIns="0" rtlCol="0" anchor="ctr"/>
          <a:lstStyle/>
          <a:p>
            <a:pPr algn="ctr" indent="0" marL="0">
              <a:buNone/>
            </a:pPr>
            <a:r>
              <a:rPr lang="en-US" sz="5200" b="1" dirty="0">
                <a:solidFill>
                  <a:srgbClr val="5B6B7A"/>
                </a:solidFill>
                <a:latin typeface="Inter" pitchFamily="34" charset="0"/>
                <a:ea typeface="Inter" pitchFamily="34" charset="-122"/>
                <a:cs typeface="Inter" pitchFamily="34" charset="-120"/>
              </a:rPr>
              <a:t>15.8%</a:t>
            </a:r>
            <a:endParaRPr lang="en-US" sz="5200" dirty="0"/>
          </a:p>
        </p:txBody>
      </p:sp>
      <p:sp>
        <p:nvSpPr>
          <p:cNvPr id="17" name="Text 14"/>
          <p:cNvSpPr/>
          <p:nvPr/>
        </p:nvSpPr>
        <p:spPr>
          <a:xfrm>
            <a:off x="914400" y="3108960"/>
            <a:ext cx="4709160" cy="173736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of students in a summer program, all retaking a course they had failed, missed the credit again when no weekly message went home. (Kraft &amp; Rogers, 2015)</a:t>
            </a:r>
            <a:endParaRPr lang="en-US" sz="1600" dirty="0"/>
          </a:p>
        </p:txBody>
      </p:sp>
      <p:sp>
        <p:nvSpPr>
          <p:cNvPr id="18" name="Shape 15"/>
          <p:cNvSpPr/>
          <p:nvPr/>
        </p:nvSpPr>
        <p:spPr>
          <a:xfrm>
            <a:off x="6263640" y="1600200"/>
            <a:ext cx="5257800" cy="3383280"/>
          </a:xfrm>
          <a:prstGeom prst="roundRect">
            <a:avLst>
              <a:gd name="adj" fmla="val 2432"/>
            </a:avLst>
          </a:prstGeom>
          <a:solidFill>
            <a:srgbClr val="EAF5F3"/>
          </a:solidFill>
          <a:ln w="12700">
            <a:solidFill>
              <a:srgbClr val="EAF5F3"/>
            </a:solidFill>
            <a:prstDash val="solid"/>
          </a:ln>
        </p:spPr>
      </p:sp>
      <p:sp>
        <p:nvSpPr>
          <p:cNvPr id="19" name="Text 16"/>
          <p:cNvSpPr/>
          <p:nvPr/>
        </p:nvSpPr>
        <p:spPr>
          <a:xfrm>
            <a:off x="6263640" y="1783080"/>
            <a:ext cx="5257800" cy="320040"/>
          </a:xfrm>
          <a:prstGeom prst="rect">
            <a:avLst/>
          </a:prstGeom>
          <a:noFill/>
          <a:ln/>
        </p:spPr>
        <p:txBody>
          <a:bodyPr wrap="square" lIns="0" tIns="0" rIns="0" bIns="0" rtlCol="0" anchor="ctr"/>
          <a:lstStyle/>
          <a:p>
            <a:pPr algn="ctr" indent="0" marL="0">
              <a:buNone/>
            </a:pPr>
            <a:r>
              <a:rPr lang="en-US" sz="1300" b="1" spc="200" kern="0" dirty="0">
                <a:solidFill>
                  <a:srgbClr val="2A9D8F"/>
                </a:solidFill>
                <a:latin typeface="Inter" pitchFamily="34" charset="0"/>
                <a:ea typeface="Inter" pitchFamily="34" charset="-122"/>
                <a:cs typeface="Inter" pitchFamily="34" charset="-120"/>
              </a:rPr>
              <a:t>WITH ONE SENTENCE A WEEK</a:t>
            </a:r>
            <a:endParaRPr lang="en-US" sz="1300" dirty="0"/>
          </a:p>
        </p:txBody>
      </p:sp>
      <p:sp>
        <p:nvSpPr>
          <p:cNvPr id="20" name="Text 17"/>
          <p:cNvSpPr/>
          <p:nvPr/>
        </p:nvSpPr>
        <p:spPr>
          <a:xfrm>
            <a:off x="6263640" y="2103120"/>
            <a:ext cx="5257800" cy="960120"/>
          </a:xfrm>
          <a:prstGeom prst="rect">
            <a:avLst/>
          </a:prstGeom>
          <a:noFill/>
          <a:ln/>
        </p:spPr>
        <p:txBody>
          <a:bodyPr wrap="square" lIns="0" tIns="0" rIns="0" bIns="0" rtlCol="0" anchor="ctr"/>
          <a:lstStyle/>
          <a:p>
            <a:pPr algn="ctr" indent="0" marL="0">
              <a:buNone/>
            </a:pPr>
            <a:r>
              <a:rPr lang="en-US" sz="5200" b="1" dirty="0">
                <a:solidFill>
                  <a:srgbClr val="2A9D8F"/>
                </a:solidFill>
                <a:latin typeface="Inter" pitchFamily="34" charset="0"/>
                <a:ea typeface="Inter" pitchFamily="34" charset="-122"/>
                <a:cs typeface="Inter" pitchFamily="34" charset="-120"/>
              </a:rPr>
              <a:t>9.3%</a:t>
            </a:r>
            <a:endParaRPr lang="en-US" sz="5200" dirty="0"/>
          </a:p>
        </p:txBody>
      </p:sp>
      <p:sp>
        <p:nvSpPr>
          <p:cNvPr id="21" name="Text 18"/>
          <p:cNvSpPr/>
          <p:nvPr/>
        </p:nvSpPr>
        <p:spPr>
          <a:xfrm>
            <a:off x="6537960" y="3108960"/>
            <a:ext cx="4709160" cy="1737360"/>
          </a:xfrm>
          <a:prstGeom prst="rect">
            <a:avLst/>
          </a:prstGeom>
          <a:noFill/>
          <a:ln/>
        </p:spPr>
        <p:txBody>
          <a:bodyPr wrap="square" lIns="0" tIns="0" rIns="0" bIns="0" rtlCol="0" anchor="ctr"/>
          <a:lstStyle/>
          <a:p>
            <a:pPr algn="ctr" indent="0" marL="0">
              <a:buNone/>
            </a:pPr>
            <a:r>
              <a:rPr lang="en-US" sz="1600" dirty="0">
                <a:solidFill>
                  <a:srgbClr val="1B1F24"/>
                </a:solidFill>
                <a:latin typeface="Inter" pitchFamily="34" charset="0"/>
                <a:ea typeface="Inter" pitchFamily="34" charset="-122"/>
                <a:cs typeface="Inter" pitchFamily="34" charset="-120"/>
              </a:rPr>
              <a:t>failed when teachers sent one individualized sentence home weekly: a 41% reduction, strongest for improvement-focused messages. (Same study)</a:t>
            </a:r>
            <a:endParaRPr lang="en-US" sz="1600" dirty="0"/>
          </a:p>
        </p:txBody>
      </p:sp>
      <p:sp>
        <p:nvSpPr>
          <p:cNvPr id="22" name="Text 19"/>
          <p:cNvSpPr/>
          <p:nvPr/>
        </p:nvSpPr>
        <p:spPr>
          <a:xfrm>
            <a:off x="640080" y="5349240"/>
            <a:ext cx="10972800" cy="502920"/>
          </a:xfrm>
          <a:prstGeom prst="rect">
            <a:avLst/>
          </a:prstGeom>
          <a:noFill/>
          <a:ln/>
        </p:spPr>
        <p:txBody>
          <a:bodyPr wrap="square" lIns="0" tIns="0" rIns="0" bIns="0" rtlCol="0" anchor="ctr"/>
          <a:lstStyle/>
          <a:p>
            <a:pPr algn="ctr" indent="0" marL="0">
              <a:buNone/>
            </a:pPr>
            <a:r>
              <a:rPr lang="en-US" sz="2000" b="1" dirty="0">
                <a:solidFill>
                  <a:srgbClr val="13293D"/>
                </a:solidFill>
                <a:latin typeface="Inter" pitchFamily="34" charset="0"/>
                <a:ea typeface="Inter" pitchFamily="34" charset="-122"/>
                <a:cs typeface="Inter" pitchFamily="34" charset="-120"/>
              </a:rPr>
              <a:t>Personal-at-scale used to cost hours nobody had. That cost just changed.</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goal: next week's newsletter from blank page to scheduled send, and the batch habit started.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HOUR AHEAD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Agenda, and one promise</a:t>
            </a:r>
            <a:endParaRPr lang="en-US" sz="3200" dirty="0"/>
          </a:p>
        </p:txBody>
      </p:sp>
      <p:sp>
        <p:nvSpPr>
          <p:cNvPr id="14" name="Text 11"/>
          <p:cNvSpPr/>
          <p:nvPr/>
        </p:nvSpPr>
        <p:spPr>
          <a:xfrm>
            <a:off x="822960" y="146304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0:05</a:t>
            </a:r>
            <a:endParaRPr lang="en-US" sz="2000" dirty="0"/>
          </a:p>
        </p:txBody>
      </p:sp>
      <p:sp>
        <p:nvSpPr>
          <p:cNvPr id="15" name="Text 12"/>
          <p:cNvSpPr/>
          <p:nvPr/>
        </p:nvSpPr>
        <p:spPr>
          <a:xfrm>
            <a:off x="1920240" y="146304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What AI does well here, and the voice it threatens</a:t>
            </a:r>
            <a:endParaRPr lang="en-US" sz="2000" dirty="0"/>
          </a:p>
        </p:txBody>
      </p:sp>
      <p:sp>
        <p:nvSpPr>
          <p:cNvPr id="16" name="Text 13"/>
          <p:cNvSpPr/>
          <p:nvPr/>
        </p:nvSpPr>
        <p:spPr>
          <a:xfrm>
            <a:off x="822960" y="219456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0:12</a:t>
            </a:r>
            <a:endParaRPr lang="en-US" sz="2000" dirty="0"/>
          </a:p>
        </p:txBody>
      </p:sp>
      <p:sp>
        <p:nvSpPr>
          <p:cNvPr id="17" name="Text 14"/>
          <p:cNvSpPr/>
          <p:nvPr/>
        </p:nvSpPr>
        <p:spPr>
          <a:xfrm>
            <a:off x="1920240" y="219456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Three makeovers: newsletter, hard email, note batch</a:t>
            </a:r>
            <a:endParaRPr lang="en-US" sz="2000" dirty="0"/>
          </a:p>
        </p:txBody>
      </p:sp>
      <p:sp>
        <p:nvSpPr>
          <p:cNvPr id="18" name="Text 15"/>
          <p:cNvSpPr/>
          <p:nvPr/>
        </p:nvSpPr>
        <p:spPr>
          <a:xfrm>
            <a:off x="822960" y="292608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0:24</a:t>
            </a:r>
            <a:endParaRPr lang="en-US" sz="2000" dirty="0"/>
          </a:p>
        </p:txBody>
      </p:sp>
      <p:sp>
        <p:nvSpPr>
          <p:cNvPr id="19" name="Text 16"/>
          <p:cNvSpPr/>
          <p:nvPr/>
        </p:nvSpPr>
        <p:spPr>
          <a:xfrm>
            <a:off x="1920240" y="292608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The tone-repair kit, and the lines that never move</a:t>
            </a:r>
            <a:endParaRPr lang="en-US" sz="2000" dirty="0"/>
          </a:p>
        </p:txBody>
      </p:sp>
      <p:sp>
        <p:nvSpPr>
          <p:cNvPr id="20" name="Text 17"/>
          <p:cNvSpPr/>
          <p:nvPr/>
        </p:nvSpPr>
        <p:spPr>
          <a:xfrm>
            <a:off x="822960" y="365760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0:31</a:t>
            </a:r>
            <a:endParaRPr lang="en-US" sz="2000" dirty="0"/>
          </a:p>
        </p:txBody>
      </p:sp>
      <p:sp>
        <p:nvSpPr>
          <p:cNvPr id="21" name="Text 18"/>
          <p:cNvSpPr/>
          <p:nvPr/>
        </p:nvSpPr>
        <p:spPr>
          <a:xfrm>
            <a:off x="1920240" y="365760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Lab: one real message, blank page to scheduled send</a:t>
            </a:r>
            <a:endParaRPr lang="en-US" sz="2000" dirty="0"/>
          </a:p>
        </p:txBody>
      </p:sp>
      <p:sp>
        <p:nvSpPr>
          <p:cNvPr id="22" name="Text 19"/>
          <p:cNvSpPr/>
          <p:nvPr/>
        </p:nvSpPr>
        <p:spPr>
          <a:xfrm>
            <a:off x="822960" y="4389120"/>
            <a:ext cx="1005840" cy="54864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0:53</a:t>
            </a:r>
            <a:endParaRPr lang="en-US" sz="2000" dirty="0"/>
          </a:p>
        </p:txBody>
      </p:sp>
      <p:sp>
        <p:nvSpPr>
          <p:cNvPr id="23" name="Text 20"/>
          <p:cNvSpPr/>
          <p:nvPr/>
        </p:nvSpPr>
        <p:spPr>
          <a:xfrm>
            <a:off x="1920240" y="4389120"/>
            <a:ext cx="6766560" cy="548640"/>
          </a:xfrm>
          <a:prstGeom prst="rect">
            <a:avLst/>
          </a:prstGeom>
          <a:noFill/>
          <a:ln/>
        </p:spPr>
        <p:txBody>
          <a:bodyPr wrap="square" lIns="0" tIns="0" rIns="0" bIns="0" rtlCol="0" anchor="ctr"/>
          <a:lstStyle/>
          <a:p>
            <a:pPr indent="0" marL="0">
              <a:buNone/>
            </a:pPr>
            <a:r>
              <a:rPr lang="en-US" sz="2000" dirty="0">
                <a:solidFill>
                  <a:srgbClr val="1B1F24"/>
                </a:solidFill>
                <a:latin typeface="Inter" pitchFamily="34" charset="0"/>
                <a:ea typeface="Inter" pitchFamily="34" charset="-122"/>
                <a:cs typeface="Inter" pitchFamily="34" charset="-120"/>
              </a:rPr>
              <a:t>Making it stick + first 48 hours</a:t>
            </a:r>
            <a:endParaRPr lang="en-US" sz="2000" dirty="0"/>
          </a:p>
        </p:txBody>
      </p:sp>
      <p:sp>
        <p:nvSpPr>
          <p:cNvPr id="24" name="Shape 21"/>
          <p:cNvSpPr/>
          <p:nvPr/>
        </p:nvSpPr>
        <p:spPr>
          <a:xfrm>
            <a:off x="9052560" y="1920240"/>
            <a:ext cx="2606040" cy="2926080"/>
          </a:xfrm>
          <a:prstGeom prst="roundRect">
            <a:avLst>
              <a:gd name="adj" fmla="val 3158"/>
            </a:avLst>
          </a:prstGeom>
          <a:solidFill>
            <a:srgbClr val="13293D"/>
          </a:solidFill>
          <a:ln w="12700">
            <a:solidFill>
              <a:srgbClr val="13293D"/>
            </a:solidFill>
            <a:prstDash val="solid"/>
          </a:ln>
        </p:spPr>
      </p:sp>
      <p:sp>
        <p:nvSpPr>
          <p:cNvPr id="25" name="Text 22"/>
          <p:cNvSpPr/>
          <p:nvPr/>
        </p:nvSpPr>
        <p:spPr>
          <a:xfrm>
            <a:off x="9281160" y="2148840"/>
            <a:ext cx="2148840" cy="365760"/>
          </a:xfrm>
          <a:prstGeom prst="rect">
            <a:avLst/>
          </a:prstGeom>
          <a:noFill/>
          <a:ln/>
        </p:spPr>
        <p:txBody>
          <a:bodyPr wrap="square" lIns="0" tIns="0" rIns="0" bIns="0" rtlCol="0" anchor="ctr"/>
          <a:lstStyle/>
          <a:p>
            <a:pPr indent="0" marL="0">
              <a:buNone/>
            </a:pPr>
            <a:r>
              <a:rPr lang="en-US" sz="1600" b="1" dirty="0">
                <a:solidFill>
                  <a:srgbClr val="F4A825"/>
                </a:solidFill>
                <a:latin typeface="Inter" pitchFamily="34" charset="0"/>
                <a:ea typeface="Inter" pitchFamily="34" charset="-122"/>
                <a:cs typeface="Inter" pitchFamily="34" charset="-120"/>
              </a:rPr>
              <a:t>One promise</a:t>
            </a:r>
            <a:endParaRPr lang="en-US" sz="1600" dirty="0"/>
          </a:p>
        </p:txBody>
      </p:sp>
      <p:sp>
        <p:nvSpPr>
          <p:cNvPr id="26" name="Text 23"/>
          <p:cNvSpPr/>
          <p:nvPr/>
        </p:nvSpPr>
        <p:spPr>
          <a:xfrm>
            <a:off x="9281160" y="2560320"/>
            <a:ext cx="2148840" cy="2103120"/>
          </a:xfrm>
          <a:prstGeom prst="rect">
            <a:avLst/>
          </a:prstGeom>
          <a:noFill/>
          <a:ln/>
        </p:spPr>
        <p:txBody>
          <a:bodyPr wrap="square" lIns="0" tIns="0" rIns="0" bIns="0" rtlCol="0" anchor="t"/>
          <a:lstStyle/>
          <a:p>
            <a:pPr indent="0" marL="0">
              <a:buNone/>
            </a:pPr>
            <a:r>
              <a:rPr lang="en-US" sz="1350" dirty="0">
                <a:solidFill>
                  <a:srgbClr val="FFFFFF"/>
                </a:solidFill>
                <a:latin typeface="Inter" pitchFamily="34" charset="0"/>
                <a:ea typeface="Inter" pitchFamily="34" charset="-122"/>
                <a:cs typeface="Inter" pitchFamily="34" charset="-120"/>
              </a:rPr>
              <a:t>You leave with next week's real message drafted, voiced, repaired, and scheduled to send, and the positive-note habit ready to start.</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shortlist: newsletters, updates, tone repair, reading level, reformatting.</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WHERE THE INTERN EARNS ITS KEEP</a:t>
            </a:r>
            <a:endParaRPr lang="en-US" sz="1200" dirty="0"/>
          </a:p>
        </p:txBody>
      </p:sp>
      <p:sp>
        <p:nvSpPr>
          <p:cNvPr id="13" name="Text 10"/>
          <p:cNvSpPr/>
          <p:nvPr/>
        </p:nvSpPr>
        <p:spPr>
          <a:xfrm>
            <a:off x="548640" y="457200"/>
            <a:ext cx="7955280" cy="914400"/>
          </a:xfrm>
          <a:prstGeom prst="rect">
            <a:avLst/>
          </a:prstGeom>
          <a:noFill/>
          <a:ln/>
        </p:spPr>
        <p:txBody>
          <a:bodyPr wrap="square" lIns="0" tIns="0" rIns="0" bIns="0" rtlCol="0" anchor="t"/>
          <a:lstStyle/>
          <a:p>
            <a:pPr indent="0" marL="0">
              <a:buNone/>
            </a:pPr>
            <a:r>
              <a:rPr lang="en-US" sz="2800" b="1" dirty="0">
                <a:solidFill>
                  <a:srgbClr val="13293D"/>
                </a:solidFill>
                <a:latin typeface="Inter" pitchFamily="34" charset="0"/>
                <a:ea typeface="Inter" pitchFamily="34" charset="-122"/>
                <a:cs typeface="Inter" pitchFamily="34" charset="-120"/>
              </a:rPr>
              <a:t>What it's genuinely good at here</a:t>
            </a:r>
            <a:endParaRPr lang="en-US" sz="2800" dirty="0"/>
          </a:p>
        </p:txBody>
      </p:sp>
      <p:sp>
        <p:nvSpPr>
          <p:cNvPr id="14" name="Shape 11"/>
          <p:cNvSpPr/>
          <p:nvPr/>
        </p:nvSpPr>
        <p:spPr>
          <a:xfrm>
            <a:off x="640080" y="1463040"/>
            <a:ext cx="5349240" cy="1600200"/>
          </a:xfrm>
          <a:prstGeom prst="roundRect">
            <a:avLst>
              <a:gd name="adj" fmla="val 5143"/>
            </a:avLst>
          </a:prstGeom>
          <a:solidFill>
            <a:srgbClr val="F7F5F0"/>
          </a:solidFill>
          <a:ln w="12700">
            <a:solidFill>
              <a:srgbClr val="F7F5F0"/>
            </a:solidFill>
            <a:prstDash val="solid"/>
          </a:ln>
        </p:spPr>
      </p:sp>
      <p:sp>
        <p:nvSpPr>
          <p:cNvPr id="15" name="Text 12"/>
          <p:cNvSpPr/>
          <p:nvPr/>
        </p:nvSpPr>
        <p:spPr>
          <a:xfrm>
            <a:off x="914400" y="162763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First drafts</a:t>
            </a:r>
            <a:endParaRPr lang="en-US" sz="2000" dirty="0"/>
          </a:p>
        </p:txBody>
      </p:sp>
      <p:sp>
        <p:nvSpPr>
          <p:cNvPr id="16" name="Text 13"/>
          <p:cNvSpPr/>
          <p:nvPr/>
        </p:nvSpPr>
        <p:spPr>
          <a:xfrm>
            <a:off x="914400" y="208483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Newsletters, updates, reminders: the routine wave</a:t>
            </a:r>
            <a:endParaRPr lang="en-US" sz="1600" dirty="0"/>
          </a:p>
        </p:txBody>
      </p:sp>
      <p:sp>
        <p:nvSpPr>
          <p:cNvPr id="17" name="Shape 14"/>
          <p:cNvSpPr/>
          <p:nvPr/>
        </p:nvSpPr>
        <p:spPr>
          <a:xfrm>
            <a:off x="6263640" y="1463040"/>
            <a:ext cx="5349240" cy="1600200"/>
          </a:xfrm>
          <a:prstGeom prst="roundRect">
            <a:avLst>
              <a:gd name="adj" fmla="val 5143"/>
            </a:avLst>
          </a:prstGeom>
          <a:solidFill>
            <a:srgbClr val="F7F5F0"/>
          </a:solidFill>
          <a:ln w="12700">
            <a:solidFill>
              <a:srgbClr val="F7F5F0"/>
            </a:solidFill>
            <a:prstDash val="solid"/>
          </a:ln>
        </p:spPr>
      </p:sp>
      <p:sp>
        <p:nvSpPr>
          <p:cNvPr id="18" name="Text 15"/>
          <p:cNvSpPr/>
          <p:nvPr/>
        </p:nvSpPr>
        <p:spPr>
          <a:xfrm>
            <a:off x="6537960" y="162763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Tone repair</a:t>
            </a:r>
            <a:endParaRPr lang="en-US" sz="2000" dirty="0"/>
          </a:p>
        </p:txBody>
      </p:sp>
      <p:sp>
        <p:nvSpPr>
          <p:cNvPr id="19" name="Text 16"/>
          <p:cNvSpPr/>
          <p:nvPr/>
        </p:nvSpPr>
        <p:spPr>
          <a:xfrm>
            <a:off x="6537960" y="208483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When you're too tired or too angry to find the words</a:t>
            </a:r>
            <a:endParaRPr lang="en-US" sz="1600" dirty="0"/>
          </a:p>
        </p:txBody>
      </p:sp>
      <p:sp>
        <p:nvSpPr>
          <p:cNvPr id="20" name="Shape 17"/>
          <p:cNvSpPr/>
          <p:nvPr/>
        </p:nvSpPr>
        <p:spPr>
          <a:xfrm>
            <a:off x="640080" y="3246120"/>
            <a:ext cx="5349240" cy="1600200"/>
          </a:xfrm>
          <a:prstGeom prst="roundRect">
            <a:avLst>
              <a:gd name="adj" fmla="val 5143"/>
            </a:avLst>
          </a:prstGeom>
          <a:solidFill>
            <a:srgbClr val="F7F5F0"/>
          </a:solidFill>
          <a:ln w="12700">
            <a:solidFill>
              <a:srgbClr val="F7F5F0"/>
            </a:solidFill>
            <a:prstDash val="solid"/>
          </a:ln>
        </p:spPr>
      </p:sp>
      <p:sp>
        <p:nvSpPr>
          <p:cNvPr id="21" name="Text 18"/>
          <p:cNvSpPr/>
          <p:nvPr/>
        </p:nvSpPr>
        <p:spPr>
          <a:xfrm>
            <a:off x="914400" y="341071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Reading level</a:t>
            </a:r>
            <a:endParaRPr lang="en-US" sz="2000" dirty="0"/>
          </a:p>
        </p:txBody>
      </p:sp>
      <p:sp>
        <p:nvSpPr>
          <p:cNvPr id="22" name="Text 19"/>
          <p:cNvSpPr/>
          <p:nvPr/>
        </p:nvSpPr>
        <p:spPr>
          <a:xfrm>
            <a:off x="914400" y="386791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Plain, skimmable messages that land for every family</a:t>
            </a:r>
            <a:endParaRPr lang="en-US" sz="1600" dirty="0"/>
          </a:p>
        </p:txBody>
      </p:sp>
      <p:sp>
        <p:nvSpPr>
          <p:cNvPr id="23" name="Shape 20"/>
          <p:cNvSpPr/>
          <p:nvPr/>
        </p:nvSpPr>
        <p:spPr>
          <a:xfrm>
            <a:off x="6263640" y="3246120"/>
            <a:ext cx="5349240" cy="1600200"/>
          </a:xfrm>
          <a:prstGeom prst="roundRect">
            <a:avLst>
              <a:gd name="adj" fmla="val 5143"/>
            </a:avLst>
          </a:prstGeom>
          <a:solidFill>
            <a:srgbClr val="F7F5F0"/>
          </a:solidFill>
          <a:ln w="12700">
            <a:solidFill>
              <a:srgbClr val="F7F5F0"/>
            </a:solidFill>
            <a:prstDash val="solid"/>
          </a:ln>
        </p:spPr>
      </p:sp>
      <p:sp>
        <p:nvSpPr>
          <p:cNvPr id="24" name="Text 21"/>
          <p:cNvSpPr/>
          <p:nvPr/>
        </p:nvSpPr>
        <p:spPr>
          <a:xfrm>
            <a:off x="6537960" y="3410712"/>
            <a:ext cx="4800600" cy="411480"/>
          </a:xfrm>
          <a:prstGeom prst="rect">
            <a:avLst/>
          </a:prstGeom>
          <a:noFill/>
          <a:ln/>
        </p:spPr>
        <p:txBody>
          <a:bodyPr wrap="square" lIns="0" tIns="0" rIns="0" bIns="0" rtlCol="0" anchor="ctr"/>
          <a:lstStyle/>
          <a:p>
            <a:pPr indent="0" marL="0">
              <a:buNone/>
            </a:pPr>
            <a:r>
              <a:rPr lang="en-US" sz="2000" b="1" dirty="0">
                <a:solidFill>
                  <a:srgbClr val="13293D"/>
                </a:solidFill>
                <a:latin typeface="Inter" pitchFamily="34" charset="0"/>
                <a:ea typeface="Inter" pitchFamily="34" charset="-122"/>
                <a:cs typeface="Inter" pitchFamily="34" charset="-120"/>
              </a:rPr>
              <a:t>Reformatting</a:t>
            </a:r>
            <a:endParaRPr lang="en-US" sz="2000" dirty="0"/>
          </a:p>
        </p:txBody>
      </p:sp>
      <p:sp>
        <p:nvSpPr>
          <p:cNvPr id="25" name="Text 22"/>
          <p:cNvSpPr/>
          <p:nvPr/>
        </p:nvSpPr>
        <p:spPr>
          <a:xfrm>
            <a:off x="6537960" y="3867912"/>
            <a:ext cx="4800600" cy="822960"/>
          </a:xfrm>
          <a:prstGeom prst="rect">
            <a:avLst/>
          </a:prstGeom>
          <a:noFill/>
          <a:ln/>
        </p:spPr>
        <p:txBody>
          <a:bodyPr wrap="square" lIns="0" tIns="0" rIns="0" bIns="0" rtlCol="0" anchor="ctr"/>
          <a:lstStyle/>
          <a:p>
            <a:pPr indent="0" marL="0">
              <a:buNone/>
            </a:pPr>
            <a:r>
              <a:rPr lang="en-US" sz="1600" dirty="0">
                <a:solidFill>
                  <a:srgbClr val="1B1F24"/>
                </a:solidFill>
                <a:latin typeface="Inter" pitchFamily="34" charset="0"/>
                <a:ea typeface="Inter" pitchFamily="34" charset="-122"/>
                <a:cs typeface="Inter" pitchFamily="34" charset="-120"/>
              </a:rPr>
              <a:t>One update as an email, a text blurb, and a flyer</a:t>
            </a:r>
            <a:endParaRPr lang="en-US" sz="1600" dirty="0"/>
          </a:p>
        </p:txBody>
      </p:sp>
      <p:sp>
        <p:nvSpPr>
          <p:cNvPr id="26" name="Text 23"/>
          <p:cNvSpPr/>
          <p:nvPr/>
        </p:nvSpPr>
        <p:spPr>
          <a:xfrm>
            <a:off x="640080" y="5166360"/>
            <a:ext cx="10972800" cy="548640"/>
          </a:xfrm>
          <a:prstGeom prst="rect">
            <a:avLst/>
          </a:prstGeom>
          <a:noFill/>
          <a:ln/>
        </p:spPr>
        <p:txBody>
          <a:bodyPr wrap="square" lIns="0" tIns="0" rIns="0" bIns="0" rtlCol="0" anchor="ctr"/>
          <a:lstStyle/>
          <a:p>
            <a:pPr algn="ctr" indent="0" marL="0">
              <a:buNone/>
            </a:pPr>
            <a:r>
              <a:rPr lang="en-US" sz="1800" b="1" dirty="0">
                <a:solidFill>
                  <a:srgbClr val="13293D"/>
                </a:solidFill>
                <a:latin typeface="Inter" pitchFamily="34" charset="0"/>
                <a:ea typeface="Inter" pitchFamily="34" charset="-122"/>
                <a:cs typeface="Inter" pitchFamily="34" charset="-120"/>
              </a:rPr>
              <a:t>Not on the list: anything that requires knowing the family. That was never draftable.</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worry, named: if every note sounds like every other note, families notice.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ONE THING IT THREATENS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voice problem</a:t>
            </a:r>
            <a:endParaRPr lang="en-US" sz="3200" dirty="0"/>
          </a:p>
        </p:txBody>
      </p:sp>
      <p:sp>
        <p:nvSpPr>
          <p:cNvPr id="14" name="Text 11"/>
          <p:cNvSpPr/>
          <p:nvPr/>
        </p:nvSpPr>
        <p:spPr>
          <a:xfrm>
            <a:off x="640080" y="1417320"/>
            <a:ext cx="10908792" cy="265176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AI output has a house style: smooth, pleasant, beige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In a lesson plan, beige is fine. In a message to a family who knows you, beige is noticeable</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Across a school it compounds: if every newsletter sounds like the same cheerful robot, families stop reading all of them</a:t>
            </a:r>
            <a:endParaRPr lang="en-US" sz="2100" dirty="0"/>
          </a:p>
        </p:txBody>
      </p:sp>
      <p:sp>
        <p:nvSpPr>
          <p:cNvPr id="15" name="Shape 12"/>
          <p:cNvSpPr/>
          <p:nvPr/>
        </p:nvSpPr>
        <p:spPr>
          <a:xfrm>
            <a:off x="640080" y="4297680"/>
            <a:ext cx="10972800" cy="1371600"/>
          </a:xfrm>
          <a:prstGeom prst="roundRect">
            <a:avLst>
              <a:gd name="adj" fmla="val 6000"/>
            </a:avLst>
          </a:prstGeom>
          <a:solidFill>
            <a:srgbClr val="EAF5F3"/>
          </a:solidFill>
          <a:ln w="12700">
            <a:solidFill>
              <a:srgbClr val="EAF5F3"/>
            </a:solidFill>
            <a:prstDash val="solid"/>
          </a:ln>
        </p:spPr>
      </p:sp>
      <p:sp>
        <p:nvSpPr>
          <p:cNvPr id="16" name="Text 13"/>
          <p:cNvSpPr/>
          <p:nvPr/>
        </p:nvSpPr>
        <p:spPr>
          <a:xfrm>
            <a:off x="960120" y="4480560"/>
            <a:ext cx="10332720" cy="100584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Your slightly imperfect, recognizable, human voice is not a flaw to polish out. It's the asset.</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two rules, still on: the situation, never the child; nothing goes out unread.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KIT 1, POINTED AT THE INBOX</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two rules ride along</a:t>
            </a:r>
            <a:endParaRPr lang="en-US" sz="3200" dirty="0"/>
          </a:p>
        </p:txBody>
      </p:sp>
      <p:sp>
        <p:nvSpPr>
          <p:cNvPr id="14" name="Shape 11"/>
          <p:cNvSpPr/>
          <p:nvPr/>
        </p:nvSpPr>
        <p:spPr>
          <a:xfrm>
            <a:off x="640080" y="1554480"/>
            <a:ext cx="5394960" cy="3931920"/>
          </a:xfrm>
          <a:prstGeom prst="roundRect">
            <a:avLst>
              <a:gd name="adj" fmla="val 2093"/>
            </a:avLst>
          </a:prstGeom>
          <a:solidFill>
            <a:srgbClr val="F7F5F0"/>
          </a:solidFill>
          <a:ln w="12700">
            <a:solidFill>
              <a:srgbClr val="F7F5F0"/>
            </a:solidFill>
            <a:prstDash val="solid"/>
          </a:ln>
        </p:spPr>
      </p:sp>
      <p:sp>
        <p:nvSpPr>
          <p:cNvPr id="15" name="Text 12"/>
          <p:cNvSpPr/>
          <p:nvPr/>
        </p:nvSpPr>
        <p:spPr>
          <a:xfrm>
            <a:off x="960120" y="1783080"/>
            <a:ext cx="4800600" cy="365760"/>
          </a:xfrm>
          <a:prstGeom prst="rect">
            <a:avLst/>
          </a:prstGeom>
          <a:noFill/>
          <a:ln/>
        </p:spPr>
        <p:txBody>
          <a:bodyPr wrap="square" lIns="0" tIns="0" rIns="0" bIns="0" rtlCol="0" anchor="ctr"/>
          <a:lstStyle/>
          <a:p>
            <a:pPr indent="0" marL="0">
              <a:buNone/>
            </a:pPr>
            <a:r>
              <a:rPr lang="en-US" sz="1500" b="1" dirty="0">
                <a:solidFill>
                  <a:srgbClr val="2A9D8F"/>
                </a:solidFill>
                <a:latin typeface="Inter" pitchFamily="34" charset="0"/>
                <a:ea typeface="Inter" pitchFamily="34" charset="-122"/>
                <a:cs typeface="Inter" pitchFamily="34" charset="-120"/>
              </a:rPr>
              <a:t>THE SITUATION, NEVER THE CHILD</a:t>
            </a:r>
            <a:endParaRPr lang="en-US" sz="1500" dirty="0"/>
          </a:p>
        </p:txBody>
      </p:sp>
      <p:sp>
        <p:nvSpPr>
          <p:cNvPr id="16" name="Text 13"/>
          <p:cNvSpPr/>
          <p:nvPr/>
        </p:nvSpPr>
        <p:spPr>
          <a:xfrm>
            <a:off x="960120" y="2240280"/>
            <a:ext cx="4800600" cy="3017520"/>
          </a:xfrm>
          <a:prstGeom prst="rect">
            <a:avLst/>
          </a:prstGeom>
          <a:noFill/>
          <a:ln/>
        </p:spPr>
        <p:txBody>
          <a:bodyPr wrap="square" lIns="0" tIns="0" rIns="0" bIns="0" rtlCol="0" anchor="t"/>
          <a:lstStyle/>
          <a:p>
            <a:pPr indent="0" marL="0">
              <a:buNone/>
            </a:pPr>
            <a:r>
              <a:rPr lang="en-US" sz="1700" dirty="0">
                <a:solidFill>
                  <a:srgbClr val="1B1F24"/>
                </a:solidFill>
                <a:latin typeface="Inter" pitchFamily="34" charset="0"/>
                <a:ea typeface="Inter" pitchFamily="34" charset="-122"/>
                <a:cs typeface="Inter" pitchFamily="34" charset="-120"/>
              </a:rPr>
              <a:t>Family messages are about specific kids, so the temptation is strongest here. Describe the situation to the tool ("a middle schooler with several missing assignments"); add the name after the draft is back in your own email.</a:t>
            </a:r>
            <a:endParaRPr lang="en-US" sz="1700" dirty="0"/>
          </a:p>
        </p:txBody>
      </p:sp>
      <p:sp>
        <p:nvSpPr>
          <p:cNvPr id="17" name="Shape 14"/>
          <p:cNvSpPr/>
          <p:nvPr/>
        </p:nvSpPr>
        <p:spPr>
          <a:xfrm>
            <a:off x="6263640" y="1554480"/>
            <a:ext cx="5394960" cy="3931920"/>
          </a:xfrm>
          <a:prstGeom prst="roundRect">
            <a:avLst>
              <a:gd name="adj" fmla="val 2093"/>
            </a:avLst>
          </a:prstGeom>
          <a:solidFill>
            <a:srgbClr val="F7F5F0"/>
          </a:solidFill>
          <a:ln w="12700">
            <a:solidFill>
              <a:srgbClr val="F7F5F0"/>
            </a:solidFill>
            <a:prstDash val="solid"/>
          </a:ln>
        </p:spPr>
      </p:sp>
      <p:sp>
        <p:nvSpPr>
          <p:cNvPr id="18" name="Text 15"/>
          <p:cNvSpPr/>
          <p:nvPr/>
        </p:nvSpPr>
        <p:spPr>
          <a:xfrm>
            <a:off x="6583680" y="1783080"/>
            <a:ext cx="4800600" cy="365760"/>
          </a:xfrm>
          <a:prstGeom prst="rect">
            <a:avLst/>
          </a:prstGeom>
          <a:noFill/>
          <a:ln/>
        </p:spPr>
        <p:txBody>
          <a:bodyPr wrap="square" lIns="0" tIns="0" rIns="0" bIns="0" rtlCol="0" anchor="ctr"/>
          <a:lstStyle/>
          <a:p>
            <a:pPr indent="0" marL="0">
              <a:buNone/>
            </a:pPr>
            <a:r>
              <a:rPr lang="en-US" sz="1500" b="1" dirty="0">
                <a:solidFill>
                  <a:srgbClr val="2A9D8F"/>
                </a:solidFill>
                <a:latin typeface="Inter" pitchFamily="34" charset="0"/>
                <a:ea typeface="Inter" pitchFamily="34" charset="-122"/>
                <a:cs typeface="Inter" pitchFamily="34" charset="-120"/>
              </a:rPr>
              <a:t>NOTHING GOES OUT UNREAD</a:t>
            </a:r>
            <a:endParaRPr lang="en-US" sz="1500" dirty="0"/>
          </a:p>
        </p:txBody>
      </p:sp>
      <p:sp>
        <p:nvSpPr>
          <p:cNvPr id="19" name="Text 16"/>
          <p:cNvSpPr/>
          <p:nvPr/>
        </p:nvSpPr>
        <p:spPr>
          <a:xfrm>
            <a:off x="6583680" y="2240280"/>
            <a:ext cx="4800600" cy="3017520"/>
          </a:xfrm>
          <a:prstGeom prst="rect">
            <a:avLst/>
          </a:prstGeom>
          <a:noFill/>
          <a:ln/>
        </p:spPr>
        <p:txBody>
          <a:bodyPr wrap="square" lIns="0" tIns="0" rIns="0" bIns="0" rtlCol="0" anchor="t"/>
          <a:lstStyle/>
          <a:p>
            <a:pPr indent="0" marL="0">
              <a:buNone/>
            </a:pPr>
            <a:r>
              <a:rPr lang="en-US" sz="1700" dirty="0">
                <a:solidFill>
                  <a:srgbClr val="1B1F24"/>
                </a:solidFill>
                <a:latin typeface="Inter" pitchFamily="34" charset="0"/>
                <a:ea typeface="Inter" pitchFamily="34" charset="-122"/>
                <a:cs typeface="Inter" pitchFamily="34" charset="-120"/>
              </a:rPr>
              <a:t>Your name is on it. A family can't tell what you wrote from what you approved, and they shouldn't have to. Review, personalize, then send: the humans-in-the-loop habit, applied to the send button.</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6 · AI for Communication   |   8</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banner: families hear HER, not the tool.</a:t>
            </a:r>
            <a:endParaRPr lang="en-US" sz="1000" dirty="0"/>
          </a:p>
        </p:txBody>
      </p:sp>
      <p:sp>
        <p:nvSpPr>
          <p:cNvPr id="12" name="Text 9"/>
          <p:cNvSpPr/>
          <p:nvPr/>
        </p:nvSpPr>
        <p:spPr>
          <a:xfrm>
            <a:off x="822960" y="1554480"/>
            <a:ext cx="10515600" cy="45720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THE BANNER OVER EVERYTHING TODAY</a:t>
            </a:r>
            <a:endParaRPr lang="en-US" sz="1500" dirty="0"/>
          </a:p>
        </p:txBody>
      </p:sp>
      <p:sp>
        <p:nvSpPr>
          <p:cNvPr id="13" name="Text 10"/>
          <p:cNvSpPr/>
          <p:nvPr/>
        </p:nvSpPr>
        <p:spPr>
          <a:xfrm>
            <a:off x="822960" y="2103120"/>
            <a:ext cx="10515600" cy="1737360"/>
          </a:xfrm>
          <a:prstGeom prst="rect">
            <a:avLst/>
          </a:prstGeom>
          <a:noFill/>
          <a:ln/>
        </p:spPr>
        <p:txBody>
          <a:bodyPr wrap="square" lIns="0" tIns="0" rIns="0" bIns="0" rtlCol="0" anchor="ctr"/>
          <a:lstStyle/>
          <a:p>
            <a:pPr indent="0" marL="0">
              <a:lnSpc>
                <a:spcPct val="110000"/>
              </a:lnSpc>
              <a:buNone/>
            </a:pPr>
            <a:r>
              <a:rPr lang="en-US" sz="4400" b="1" dirty="0">
                <a:solidFill>
                  <a:srgbClr val="FFFFFF"/>
                </a:solidFill>
                <a:latin typeface="Inter" pitchFamily="34" charset="0"/>
                <a:ea typeface="Inter" pitchFamily="34" charset="-122"/>
                <a:cs typeface="Inter" pitchFamily="34" charset="-120"/>
              </a:rPr>
              <a:t>Families hear you,</a:t>
            </a:r>
            <a:endParaRPr lang="en-US" sz="4400" dirty="0"/>
          </a:p>
          <a:p>
            <a:pPr indent="0" marL="0">
              <a:lnSpc>
                <a:spcPct val="110000"/>
              </a:lnSpc>
              <a:buNone/>
            </a:pPr>
            <a:r>
              <a:rPr lang="en-US" sz="4400" b="1" dirty="0">
                <a:solidFill>
                  <a:srgbClr val="FFFFFF"/>
                </a:solidFill>
                <a:latin typeface="Inter" pitchFamily="34" charset="0"/>
                <a:ea typeface="Inter" pitchFamily="34" charset="-122"/>
                <a:cs typeface="Inter" pitchFamily="34" charset="-120"/>
              </a:rPr>
              <a:t>not the tool.</a:t>
            </a:r>
            <a:endParaRPr lang="en-US" sz="4400" dirty="0"/>
          </a:p>
        </p:txBody>
      </p:sp>
      <p:sp>
        <p:nvSpPr>
          <p:cNvPr id="14" name="Text 11"/>
          <p:cNvSpPr/>
          <p:nvPr/>
        </p:nvSpPr>
        <p:spPr>
          <a:xfrm>
            <a:off x="822960" y="4114800"/>
            <a:ext cx="10332720" cy="1097280"/>
          </a:xfrm>
          <a:prstGeom prst="rect">
            <a:avLst/>
          </a:prstGeom>
          <a:noFill/>
          <a:ln/>
        </p:spPr>
        <p:txBody>
          <a:bodyPr wrap="square" lIns="0" tIns="0" rIns="0" bIns="0" rtlCol="0" anchor="ctr"/>
          <a:lstStyle/>
          <a:p>
            <a:pPr indent="0" marL="0">
              <a:buNone/>
            </a:pPr>
            <a:r>
              <a:rPr lang="en-US" sz="1900" dirty="0">
                <a:solidFill>
                  <a:srgbClr val="C9D4DE"/>
                </a:solidFill>
                <a:latin typeface="Inter" pitchFamily="34" charset="0"/>
                <a:ea typeface="Inter" pitchFamily="34" charset="-122"/>
                <a:cs typeface="Inter" pitchFamily="34" charset="-120"/>
              </a:rPr>
              <a:t>AI drafts; you review, personalize, and send. If a message wouldn't survive you reading it aloud in your own voice at a conference, it isn't done.</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9</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MAKEOVER #1 · THE NEWSLETTER · ON MS. RIVERA'S SCREEN</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weekly newsletter</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BEFORE   </a:t>
            </a:r>
            <a:pPr indent="0" marL="0">
              <a:buNone/>
            </a:pPr>
            <a:r>
              <a:rPr lang="en-US" sz="1600" i="1" dirty="0">
                <a:solidFill>
                  <a:srgbClr val="5B6B7A"/>
                </a:solidFill>
                <a:latin typeface="Inter" pitchFamily="34" charset="0"/>
                <a:ea typeface="Inter" pitchFamily="34" charset="-122"/>
                <a:cs typeface="Inter" pitchFamily="34" charset="-120"/>
              </a:rPr>
              <a:t>"Write my newsletter."</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a:t>
            </a:r>
            <a:endParaRPr lang="en-US" sz="1100" dirty="0"/>
          </a:p>
        </p:txBody>
      </p:sp>
      <p:sp>
        <p:nvSpPr>
          <p:cNvPr id="14" name="Shape 11"/>
          <p:cNvSpPr/>
          <p:nvPr/>
        </p:nvSpPr>
        <p:spPr>
          <a:xfrm>
            <a:off x="1554480" y="2377440"/>
            <a:ext cx="9646920" cy="2697480"/>
          </a:xfrm>
          <a:prstGeom prst="roundRect">
            <a:avLst>
              <a:gd name="adj" fmla="val 4068"/>
            </a:avLst>
          </a:prstGeom>
          <a:solidFill>
            <a:srgbClr val="F7F5F0"/>
          </a:solidFill>
          <a:ln w="12700">
            <a:solidFill>
              <a:srgbClr val="F7F5F0"/>
            </a:solidFill>
            <a:prstDash val="solid"/>
          </a:ln>
        </p:spPr>
      </p:sp>
      <p:sp>
        <p:nvSpPr>
          <p:cNvPr id="15" name="Text 12"/>
          <p:cNvSpPr/>
          <p:nvPr/>
        </p:nvSpPr>
        <p:spPr>
          <a:xfrm>
            <a:off x="1783080" y="2514600"/>
            <a:ext cx="9189720" cy="2468880"/>
          </a:xfrm>
          <a:prstGeom prst="rect">
            <a:avLst/>
          </a:prstGeom>
          <a:noFill/>
          <a:ln/>
        </p:spPr>
        <p:txBody>
          <a:bodyPr wrap="square" lIns="0" tIns="0" rIns="0" bIns="0" rtlCol="0" anchor="t"/>
          <a:lstStyle/>
          <a:p>
            <a:pPr indent="0" marL="0">
              <a:lnSpc>
                <a:spcPct val="110000"/>
              </a:lnSpc>
              <a:buNone/>
            </a:pPr>
            <a:r>
              <a:rPr lang="en-US" sz="1600" b="1" dirty="0">
                <a:solidFill>
                  <a:srgbClr val="2A9D8F"/>
                </a:solidFill>
                <a:latin typeface="Inter" pitchFamily="34" charset="0"/>
                <a:ea typeface="Inter" pitchFamily="34" charset="-122"/>
                <a:cs typeface="Inter" pitchFamily="34" charset="-120"/>
              </a:rPr>
              <a:t>"You are a warm, organized teacher. </a:t>
            </a:r>
            <a:pPr indent="0" marL="0">
              <a:lnSpc>
                <a:spcPct val="110000"/>
              </a:lnSpc>
              <a:buNone/>
            </a:pPr>
            <a:r>
              <a:rPr lang="en-US" sz="1600" b="1" dirty="0">
                <a:solidFill>
                  <a:srgbClr val="13293D"/>
                </a:solidFill>
                <a:latin typeface="Inter" pitchFamily="34" charset="0"/>
                <a:ea typeface="Inter" pitchFamily="34" charset="-122"/>
                <a:cs typeface="Inter" pitchFamily="34" charset="-120"/>
              </a:rPr>
              <a:t>Draft this week's family newsletter for my class. </a:t>
            </a:r>
            <a:pPr indent="0" marL="0">
              <a:lnSpc>
                <a:spcPct val="110000"/>
              </a:lnSpc>
              <a:buNone/>
            </a:pPr>
            <a:r>
              <a:rPr lang="en-US" sz="1600" b="1" dirty="0">
                <a:solidFill>
                  <a:srgbClr val="B07914"/>
                </a:solidFill>
                <a:latin typeface="Inter" pitchFamily="34" charset="0"/>
                <a:ea typeface="Inter" pitchFamily="34" charset="-122"/>
                <a:cs typeface="Inter" pitchFamily="34" charset="-120"/>
              </a:rPr>
              <a:t>Context: we finished our fractions unit, the science fair is Thursday at 6 p.m. in the gym, picture day is Friday, and the blue permission slip is due Wednesday. </a:t>
            </a:r>
            <a:pPr indent="0" marL="0">
              <a:lnSpc>
                <a:spcPct val="110000"/>
              </a:lnSpc>
              <a:buNone/>
            </a:pPr>
            <a:r>
              <a:rPr lang="en-US" sz="1600" b="1" dirty="0">
                <a:solidFill>
                  <a:srgbClr val="2E7D5B"/>
                </a:solidFill>
                <a:latin typeface="Inter" pitchFamily="34" charset="0"/>
                <a:ea typeface="Inter" pitchFamily="34" charset="-122"/>
                <a:cs typeface="Inter" pitchFamily="34" charset="-120"/>
              </a:rPr>
              <a:t>Format: under 150 words, warm but skimmable on a phone, action items as a short bulleted list, one positive line about the class's week."</a:t>
            </a:r>
            <a:endParaRPr lang="en-US" sz="1600" dirty="0"/>
          </a:p>
        </p:txBody>
      </p:sp>
      <p:sp>
        <p:nvSpPr>
          <p:cNvPr id="16" name="Shape 13"/>
          <p:cNvSpPr/>
          <p:nvPr/>
        </p:nvSpPr>
        <p:spPr>
          <a:xfrm>
            <a:off x="640080" y="5532120"/>
            <a:ext cx="2606040" cy="457200"/>
          </a:xfrm>
          <a:prstGeom prst="roundRect">
            <a:avLst>
              <a:gd name="adj" fmla="val 50000"/>
            </a:avLst>
          </a:prstGeom>
          <a:solidFill>
            <a:srgbClr val="2A9D8F"/>
          </a:solidFill>
          <a:ln w="12700">
            <a:solidFill>
              <a:srgbClr val="2A9D8F"/>
            </a:solidFill>
            <a:prstDash val="solid"/>
          </a:ln>
        </p:spPr>
      </p:sp>
      <p:sp>
        <p:nvSpPr>
          <p:cNvPr id="17" name="Text 14"/>
          <p:cNvSpPr/>
          <p:nvPr/>
        </p:nvSpPr>
        <p:spPr>
          <a:xfrm>
            <a:off x="640080"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ROLE</a:t>
            </a:r>
            <a:endParaRPr lang="en-US" sz="1400" dirty="0"/>
          </a:p>
        </p:txBody>
      </p:sp>
      <p:sp>
        <p:nvSpPr>
          <p:cNvPr id="18" name="Shape 15"/>
          <p:cNvSpPr/>
          <p:nvPr/>
        </p:nvSpPr>
        <p:spPr>
          <a:xfrm>
            <a:off x="3456432" y="5532120"/>
            <a:ext cx="2606040" cy="457200"/>
          </a:xfrm>
          <a:prstGeom prst="roundRect">
            <a:avLst>
              <a:gd name="adj" fmla="val 50000"/>
            </a:avLst>
          </a:prstGeom>
          <a:solidFill>
            <a:srgbClr val="13293D"/>
          </a:solidFill>
          <a:ln w="12700">
            <a:solidFill>
              <a:srgbClr val="13293D"/>
            </a:solidFill>
            <a:prstDash val="solid"/>
          </a:ln>
        </p:spPr>
      </p:sp>
      <p:sp>
        <p:nvSpPr>
          <p:cNvPr id="19" name="Text 16"/>
          <p:cNvSpPr/>
          <p:nvPr/>
        </p:nvSpPr>
        <p:spPr>
          <a:xfrm>
            <a:off x="3456432"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TASK</a:t>
            </a:r>
            <a:endParaRPr lang="en-US" sz="1400" dirty="0"/>
          </a:p>
        </p:txBody>
      </p:sp>
      <p:sp>
        <p:nvSpPr>
          <p:cNvPr id="20" name="Shape 17"/>
          <p:cNvSpPr/>
          <p:nvPr/>
        </p:nvSpPr>
        <p:spPr>
          <a:xfrm>
            <a:off x="6272784" y="5532120"/>
            <a:ext cx="2606040" cy="457200"/>
          </a:xfrm>
          <a:prstGeom prst="roundRect">
            <a:avLst>
              <a:gd name="adj" fmla="val 50000"/>
            </a:avLst>
          </a:prstGeom>
          <a:solidFill>
            <a:srgbClr val="B07914"/>
          </a:solidFill>
          <a:ln w="12700">
            <a:solidFill>
              <a:srgbClr val="B07914"/>
            </a:solidFill>
            <a:prstDash val="solid"/>
          </a:ln>
        </p:spPr>
      </p:sp>
      <p:sp>
        <p:nvSpPr>
          <p:cNvPr id="21" name="Text 18"/>
          <p:cNvSpPr/>
          <p:nvPr/>
        </p:nvSpPr>
        <p:spPr>
          <a:xfrm>
            <a:off x="6272784"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CONTEXT</a:t>
            </a:r>
            <a:endParaRPr lang="en-US" sz="1400" dirty="0"/>
          </a:p>
        </p:txBody>
      </p:sp>
      <p:sp>
        <p:nvSpPr>
          <p:cNvPr id="22" name="Shape 19"/>
          <p:cNvSpPr/>
          <p:nvPr/>
        </p:nvSpPr>
        <p:spPr>
          <a:xfrm>
            <a:off x="9089136" y="5532120"/>
            <a:ext cx="2606040" cy="457200"/>
          </a:xfrm>
          <a:prstGeom prst="roundRect">
            <a:avLst>
              <a:gd name="adj" fmla="val 50000"/>
            </a:avLst>
          </a:prstGeom>
          <a:solidFill>
            <a:srgbClr val="2E7D5B"/>
          </a:solidFill>
          <a:ln w="12700">
            <a:solidFill>
              <a:srgbClr val="2E7D5B"/>
            </a:solidFill>
            <a:prstDash val="solid"/>
          </a:ln>
        </p:spPr>
      </p:sp>
      <p:sp>
        <p:nvSpPr>
          <p:cNvPr id="23" name="Text 20"/>
          <p:cNvSpPr/>
          <p:nvPr/>
        </p:nvSpPr>
        <p:spPr>
          <a:xfrm>
            <a:off x="9089136"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FORMAT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difficult email: vent draft deleted, professional draft sent, relationship intact.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MAKEOVER #2 · THE EMAIL YOU SHOULDN'T SEND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difficult email</a:t>
            </a:r>
            <a:endParaRPr lang="en-US" sz="3200" dirty="0"/>
          </a:p>
        </p:txBody>
      </p:sp>
      <p:sp>
        <p:nvSpPr>
          <p:cNvPr id="14" name="Shape 11"/>
          <p:cNvSpPr/>
          <p:nvPr/>
        </p:nvSpPr>
        <p:spPr>
          <a:xfrm>
            <a:off x="640080" y="1225296"/>
            <a:ext cx="10972800" cy="1152144"/>
          </a:xfrm>
          <a:prstGeom prst="roundRect">
            <a:avLst>
              <a:gd name="adj" fmla="val 7143"/>
            </a:avLst>
          </a:prstGeom>
          <a:solidFill>
            <a:srgbClr val="FBEFED"/>
          </a:solidFill>
          <a:ln w="12700">
            <a:solidFill>
              <a:srgbClr val="FBEFED"/>
            </a:solidFill>
            <a:prstDash val="solid"/>
          </a:ln>
        </p:spPr>
      </p:sp>
      <p:sp>
        <p:nvSpPr>
          <p:cNvPr id="15" name="Text 12"/>
          <p:cNvSpPr/>
          <p:nvPr/>
        </p:nvSpPr>
        <p:spPr>
          <a:xfrm>
            <a:off x="960120" y="1298448"/>
            <a:ext cx="7315200" cy="274320"/>
          </a:xfrm>
          <a:prstGeom prst="rect">
            <a:avLst/>
          </a:prstGeom>
          <a:noFill/>
          <a:ln/>
        </p:spPr>
        <p:txBody>
          <a:bodyPr wrap="square" lIns="0" tIns="0" rIns="0" bIns="0" rtlCol="0" anchor="ctr"/>
          <a:lstStyle/>
          <a:p>
            <a:pPr indent="0" marL="0">
              <a:buNone/>
            </a:pPr>
            <a:r>
              <a:rPr lang="en-US" sz="1150" b="1" spc="150" kern="0" dirty="0">
                <a:solidFill>
                  <a:srgbClr val="B4453A"/>
                </a:solidFill>
                <a:latin typeface="Inter" pitchFamily="34" charset="0"/>
                <a:ea typeface="Inter" pitchFamily="34" charset="-122"/>
                <a:cs typeface="Inter" pitchFamily="34" charset="-120"/>
              </a:rPr>
              <a:t>WHAT SHE WANTED TO WRITE, 9 P.M.</a:t>
            </a:r>
            <a:endParaRPr lang="en-US" sz="1150" dirty="0"/>
          </a:p>
        </p:txBody>
      </p:sp>
      <p:sp>
        <p:nvSpPr>
          <p:cNvPr id="16" name="Text 13"/>
          <p:cNvSpPr/>
          <p:nvPr/>
        </p:nvSpPr>
        <p:spPr>
          <a:xfrm>
            <a:off x="960120" y="1591056"/>
            <a:ext cx="10332720" cy="731520"/>
          </a:xfrm>
          <a:prstGeom prst="rect">
            <a:avLst/>
          </a:prstGeom>
          <a:noFill/>
          <a:ln/>
        </p:spPr>
        <p:txBody>
          <a:bodyPr wrap="square" lIns="0" tIns="0" rIns="0" bIns="0" rtlCol="0" anchor="t"/>
          <a:lstStyle/>
          <a:p>
            <a:pPr indent="0" marL="0">
              <a:lnSpc>
                <a:spcPct val="108000"/>
              </a:lnSpc>
              <a:buNone/>
            </a:pPr>
            <a:r>
              <a:rPr lang="en-US" sz="1550" i="1" dirty="0">
                <a:solidFill>
                  <a:srgbClr val="1B1F24"/>
                </a:solidFill>
                <a:latin typeface="Inter" pitchFamily="34" charset="0"/>
                <a:ea typeface="Inter" pitchFamily="34" charset="-122"/>
                <a:cs typeface="Inter" pitchFamily="34" charset="-120"/>
              </a:rPr>
              <a:t>Honest in exactly the way careers end. The vent draft gets deleted, never sent. </a:t>
            </a:r>
            <a:endParaRPr lang="en-US" sz="1550" dirty="0"/>
          </a:p>
          <a:p>
            <a:pPr indent="0" marL="0">
              <a:lnSpc>
                <a:spcPct val="108000"/>
              </a:lnSpc>
              <a:buNone/>
            </a:pPr>
            <a:r>
              <a:rPr lang="en-US" sz="1550" i="1" dirty="0">
                <a:solidFill>
                  <a:srgbClr val="5B6B7A"/>
                </a:solidFill>
                <a:latin typeface="Inter" pitchFamily="34" charset="0"/>
                <a:ea typeface="Inter" pitchFamily="34" charset="-122"/>
                <a:cs typeface="Inter" pitchFamily="34" charset="-120"/>
              </a:rPr>
              <a:t>The 24-hour rule handles the rest: written angry waits a day, unless safety can't wait.</a:t>
            </a:r>
            <a:endParaRPr lang="en-US" sz="1550" dirty="0"/>
          </a:p>
        </p:txBody>
      </p:sp>
      <p:sp>
        <p:nvSpPr>
          <p:cNvPr id="17" name="Shape 14"/>
          <p:cNvSpPr/>
          <p:nvPr/>
        </p:nvSpPr>
        <p:spPr>
          <a:xfrm>
            <a:off x="640080" y="2468880"/>
            <a:ext cx="10972800" cy="3063240"/>
          </a:xfrm>
          <a:prstGeom prst="roundRect">
            <a:avLst>
              <a:gd name="adj" fmla="val 2985"/>
            </a:avLst>
          </a:prstGeom>
          <a:solidFill>
            <a:srgbClr val="FFFFFF"/>
          </a:solidFill>
          <a:ln w="19050">
            <a:solidFill>
              <a:srgbClr val="DCE3EA"/>
            </a:solidFill>
            <a:prstDash val="solid"/>
          </a:ln>
        </p:spPr>
      </p:sp>
      <p:sp>
        <p:nvSpPr>
          <p:cNvPr id="18" name="Shape 15"/>
          <p:cNvSpPr/>
          <p:nvPr/>
        </p:nvSpPr>
        <p:spPr>
          <a:xfrm>
            <a:off x="640080" y="2468880"/>
            <a:ext cx="10972800" cy="384048"/>
          </a:xfrm>
          <a:prstGeom prst="roundRect">
            <a:avLst>
              <a:gd name="adj" fmla="val 23810"/>
            </a:avLst>
          </a:prstGeom>
          <a:solidFill>
            <a:srgbClr val="13293D"/>
          </a:solidFill>
          <a:ln w="12700">
            <a:solidFill>
              <a:srgbClr val="13293D"/>
            </a:solidFill>
            <a:prstDash val="solid"/>
          </a:ln>
        </p:spPr>
      </p:sp>
      <p:sp>
        <p:nvSpPr>
          <p:cNvPr id="19" name="Shape 16"/>
          <p:cNvSpPr/>
          <p:nvPr/>
        </p:nvSpPr>
        <p:spPr>
          <a:xfrm>
            <a:off x="868680" y="2587752"/>
            <a:ext cx="146304" cy="146304"/>
          </a:xfrm>
          <a:prstGeom prst="ellipse">
            <a:avLst/>
          </a:prstGeom>
          <a:solidFill>
            <a:srgbClr val="E8837A"/>
          </a:solidFill>
          <a:ln w="12700">
            <a:solidFill>
              <a:srgbClr val="E8837A"/>
            </a:solidFill>
            <a:prstDash val="solid"/>
          </a:ln>
        </p:spPr>
      </p:sp>
      <p:sp>
        <p:nvSpPr>
          <p:cNvPr id="20" name="Shape 17"/>
          <p:cNvSpPr/>
          <p:nvPr/>
        </p:nvSpPr>
        <p:spPr>
          <a:xfrm>
            <a:off x="1115568" y="2587752"/>
            <a:ext cx="146304" cy="146304"/>
          </a:xfrm>
          <a:prstGeom prst="ellipse">
            <a:avLst/>
          </a:prstGeom>
          <a:solidFill>
            <a:srgbClr val="F4A825"/>
          </a:solidFill>
          <a:ln w="12700">
            <a:solidFill>
              <a:srgbClr val="F4A825"/>
            </a:solidFill>
            <a:prstDash val="solid"/>
          </a:ln>
        </p:spPr>
      </p:sp>
      <p:sp>
        <p:nvSpPr>
          <p:cNvPr id="21" name="Shape 18"/>
          <p:cNvSpPr/>
          <p:nvPr/>
        </p:nvSpPr>
        <p:spPr>
          <a:xfrm>
            <a:off x="1362456" y="2587752"/>
            <a:ext cx="146304" cy="146304"/>
          </a:xfrm>
          <a:prstGeom prst="ellipse">
            <a:avLst/>
          </a:prstGeom>
          <a:solidFill>
            <a:srgbClr val="2E7D5B"/>
          </a:solidFill>
          <a:ln w="12700">
            <a:solidFill>
              <a:srgbClr val="2E7D5B"/>
            </a:solidFill>
            <a:prstDash val="solid"/>
          </a:ln>
        </p:spPr>
      </p:sp>
      <p:sp>
        <p:nvSpPr>
          <p:cNvPr id="22" name="Text 19"/>
          <p:cNvSpPr/>
          <p:nvPr/>
        </p:nvSpPr>
        <p:spPr>
          <a:xfrm>
            <a:off x="1783080" y="24688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 · no names, no student details</a:t>
            </a:r>
            <a:endParaRPr lang="en-US" sz="1100" dirty="0"/>
          </a:p>
        </p:txBody>
      </p:sp>
      <p:sp>
        <p:nvSpPr>
          <p:cNvPr id="23" name="Shape 20"/>
          <p:cNvSpPr/>
          <p:nvPr/>
        </p:nvSpPr>
        <p:spPr>
          <a:xfrm>
            <a:off x="1554480" y="3063240"/>
            <a:ext cx="9646920" cy="2240280"/>
          </a:xfrm>
          <a:prstGeom prst="roundRect">
            <a:avLst>
              <a:gd name="adj" fmla="val 4898"/>
            </a:avLst>
          </a:prstGeom>
          <a:solidFill>
            <a:srgbClr val="F7F5F0"/>
          </a:solidFill>
          <a:ln w="12700">
            <a:solidFill>
              <a:srgbClr val="F7F5F0"/>
            </a:solidFill>
            <a:prstDash val="solid"/>
          </a:ln>
        </p:spPr>
      </p:sp>
      <p:sp>
        <p:nvSpPr>
          <p:cNvPr id="24" name="Text 21"/>
          <p:cNvSpPr/>
          <p:nvPr/>
        </p:nvSpPr>
        <p:spPr>
          <a:xfrm>
            <a:off x="1783080" y="3172968"/>
            <a:ext cx="9189720" cy="2011680"/>
          </a:xfrm>
          <a:prstGeom prst="rect">
            <a:avLst/>
          </a:prstGeom>
          <a:noFill/>
          <a:ln/>
        </p:spPr>
        <p:txBody>
          <a:bodyPr wrap="square" lIns="0" tIns="0" rIns="0" bIns="0" rtlCol="0" anchor="t"/>
          <a:lstStyle/>
          <a:p>
            <a:pPr indent="0" marL="0">
              <a:lnSpc>
                <a:spcPct val="110000"/>
              </a:lnSpc>
              <a:buNone/>
            </a:pPr>
            <a:r>
              <a:rPr lang="en-US" sz="1550" b="1" dirty="0">
                <a:solidFill>
                  <a:srgbClr val="2A9D8F"/>
                </a:solidFill>
                <a:latin typeface="Inter" pitchFamily="34" charset="0"/>
                <a:ea typeface="Inter" pitchFamily="34" charset="-122"/>
                <a:cs typeface="Inter" pitchFamily="34" charset="-120"/>
              </a:rPr>
              <a:t>"You are a calm, experienced teacher who has handled this conversation a hundred times. </a:t>
            </a:r>
            <a:pPr indent="0" marL="0">
              <a:lnSpc>
                <a:spcPct val="110000"/>
              </a:lnSpc>
              <a:buNone/>
            </a:pPr>
            <a:r>
              <a:rPr lang="en-US" sz="1550" b="1" dirty="0">
                <a:solidFill>
                  <a:srgbClr val="13293D"/>
                </a:solidFill>
                <a:latin typeface="Inter" pitchFamily="34" charset="0"/>
                <a:ea typeface="Inter" pitchFamily="34" charset="-122"/>
                <a:cs typeface="Inter" pitchFamily="34" charset="-120"/>
              </a:rPr>
              <a:t>Draft a reply to a frustrated parent who believes their child's grade is unfair. </a:t>
            </a:r>
            <a:pPr indent="0" marL="0">
              <a:lnSpc>
                <a:spcPct val="110000"/>
              </a:lnSpc>
              <a:buNone/>
            </a:pPr>
            <a:r>
              <a:rPr lang="en-US" sz="1550" b="1" dirty="0">
                <a:solidFill>
                  <a:srgbClr val="B07914"/>
                </a:solidFill>
                <a:latin typeface="Inter" pitchFamily="34" charset="0"/>
                <a:ea typeface="Inter" pitchFamily="34" charset="-122"/>
                <a:cs typeface="Inter" pitchFamily="34" charset="-120"/>
              </a:rPr>
              <a:t>The situation only, no names: I am not going to argue the grade over email, and I do want the meeting to happen. </a:t>
            </a:r>
            <a:pPr indent="0" marL="0">
              <a:lnSpc>
                <a:spcPct val="110000"/>
              </a:lnSpc>
              <a:buNone/>
            </a:pPr>
            <a:r>
              <a:rPr lang="en-US" sz="1550" b="1" dirty="0">
                <a:solidFill>
                  <a:srgbClr val="2E7D5B"/>
                </a:solidFill>
                <a:latin typeface="Inter" pitchFamily="34" charset="0"/>
                <a:ea typeface="Inter" pitchFamily="34" charset="-122"/>
                <a:cs typeface="Inter" pitchFamily="34" charset="-120"/>
              </a:rPr>
              <a:t>Under 120 words. Acknowledge the frustration in the first line, say that specifics belong in a conversation, offer two meeting times, firm and warm."</a:t>
            </a:r>
            <a:endParaRPr lang="en-US" sz="1550" dirty="0"/>
          </a:p>
        </p:txBody>
      </p:sp>
      <p:sp>
        <p:nvSpPr>
          <p:cNvPr id="25" name="Shape 22"/>
          <p:cNvSpPr/>
          <p:nvPr/>
        </p:nvSpPr>
        <p:spPr>
          <a:xfrm>
            <a:off x="640080" y="5650992"/>
            <a:ext cx="2606040" cy="457200"/>
          </a:xfrm>
          <a:prstGeom prst="roundRect">
            <a:avLst>
              <a:gd name="adj" fmla="val 50000"/>
            </a:avLst>
          </a:prstGeom>
          <a:solidFill>
            <a:srgbClr val="2A9D8F"/>
          </a:solidFill>
          <a:ln w="12700">
            <a:solidFill>
              <a:srgbClr val="2A9D8F"/>
            </a:solidFill>
            <a:prstDash val="solid"/>
          </a:ln>
        </p:spPr>
      </p:sp>
      <p:sp>
        <p:nvSpPr>
          <p:cNvPr id="26" name="Text 23"/>
          <p:cNvSpPr/>
          <p:nvPr/>
        </p:nvSpPr>
        <p:spPr>
          <a:xfrm>
            <a:off x="640080" y="5650992"/>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ROLE</a:t>
            </a:r>
            <a:endParaRPr lang="en-US" sz="1400" dirty="0"/>
          </a:p>
        </p:txBody>
      </p:sp>
      <p:sp>
        <p:nvSpPr>
          <p:cNvPr id="27" name="Shape 24"/>
          <p:cNvSpPr/>
          <p:nvPr/>
        </p:nvSpPr>
        <p:spPr>
          <a:xfrm>
            <a:off x="3456432" y="5650992"/>
            <a:ext cx="2606040" cy="457200"/>
          </a:xfrm>
          <a:prstGeom prst="roundRect">
            <a:avLst>
              <a:gd name="adj" fmla="val 50000"/>
            </a:avLst>
          </a:prstGeom>
          <a:solidFill>
            <a:srgbClr val="13293D"/>
          </a:solidFill>
          <a:ln w="12700">
            <a:solidFill>
              <a:srgbClr val="13293D"/>
            </a:solidFill>
            <a:prstDash val="solid"/>
          </a:ln>
        </p:spPr>
      </p:sp>
      <p:sp>
        <p:nvSpPr>
          <p:cNvPr id="28" name="Text 25"/>
          <p:cNvSpPr/>
          <p:nvPr/>
        </p:nvSpPr>
        <p:spPr>
          <a:xfrm>
            <a:off x="3456432" y="5650992"/>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TASK</a:t>
            </a:r>
            <a:endParaRPr lang="en-US" sz="1400" dirty="0"/>
          </a:p>
        </p:txBody>
      </p:sp>
      <p:sp>
        <p:nvSpPr>
          <p:cNvPr id="29" name="Shape 26"/>
          <p:cNvSpPr/>
          <p:nvPr/>
        </p:nvSpPr>
        <p:spPr>
          <a:xfrm>
            <a:off x="6272784" y="5650992"/>
            <a:ext cx="2606040" cy="457200"/>
          </a:xfrm>
          <a:prstGeom prst="roundRect">
            <a:avLst>
              <a:gd name="adj" fmla="val 50000"/>
            </a:avLst>
          </a:prstGeom>
          <a:solidFill>
            <a:srgbClr val="B07914"/>
          </a:solidFill>
          <a:ln w="12700">
            <a:solidFill>
              <a:srgbClr val="B07914"/>
            </a:solidFill>
            <a:prstDash val="solid"/>
          </a:ln>
        </p:spPr>
      </p:sp>
      <p:sp>
        <p:nvSpPr>
          <p:cNvPr id="30" name="Text 27"/>
          <p:cNvSpPr/>
          <p:nvPr/>
        </p:nvSpPr>
        <p:spPr>
          <a:xfrm>
            <a:off x="6272784" y="5650992"/>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CONTEXT</a:t>
            </a:r>
            <a:endParaRPr lang="en-US" sz="1400" dirty="0"/>
          </a:p>
        </p:txBody>
      </p:sp>
      <p:sp>
        <p:nvSpPr>
          <p:cNvPr id="31" name="Shape 28"/>
          <p:cNvSpPr/>
          <p:nvPr/>
        </p:nvSpPr>
        <p:spPr>
          <a:xfrm>
            <a:off x="9089136" y="5650992"/>
            <a:ext cx="2606040" cy="457200"/>
          </a:xfrm>
          <a:prstGeom prst="roundRect">
            <a:avLst>
              <a:gd name="adj" fmla="val 50000"/>
            </a:avLst>
          </a:prstGeom>
          <a:solidFill>
            <a:srgbClr val="2E7D5B"/>
          </a:solidFill>
          <a:ln w="12700">
            <a:solidFill>
              <a:srgbClr val="2E7D5B"/>
            </a:solidFill>
            <a:prstDash val="solid"/>
          </a:ln>
        </p:spPr>
      </p:sp>
      <p:sp>
        <p:nvSpPr>
          <p:cNvPr id="32" name="Text 29"/>
          <p:cNvSpPr/>
          <p:nvPr/>
        </p:nvSpPr>
        <p:spPr>
          <a:xfrm>
            <a:off x="9089136" y="5650992"/>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FORMAT</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11</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batch: three one-sentence positive notes, each personalized before sending.</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MAKEOVER #3 · THE RESEARCH, TURNED INTO A HABIT</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positive-note batch</a:t>
            </a:r>
            <a:endParaRPr lang="en-US" sz="3200" dirty="0"/>
          </a:p>
        </p:txBody>
      </p:sp>
      <p:sp>
        <p:nvSpPr>
          <p:cNvPr id="14" name="Shape 11"/>
          <p:cNvSpPr/>
          <p:nvPr/>
        </p:nvSpPr>
        <p:spPr>
          <a:xfrm>
            <a:off x="822960" y="1600200"/>
            <a:ext cx="640080" cy="640080"/>
          </a:xfrm>
          <a:prstGeom prst="ellipse">
            <a:avLst/>
          </a:prstGeom>
          <a:solidFill>
            <a:srgbClr val="2A9D8F"/>
          </a:solidFill>
          <a:ln w="12700">
            <a:solidFill>
              <a:srgbClr val="2A9D8F"/>
            </a:solidFill>
            <a:prstDash val="solid"/>
          </a:ln>
        </p:spPr>
      </p:sp>
      <p:sp>
        <p:nvSpPr>
          <p:cNvPr id="15" name="Text 12"/>
          <p:cNvSpPr/>
          <p:nvPr/>
        </p:nvSpPr>
        <p:spPr>
          <a:xfrm>
            <a:off x="822960" y="1600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1</a:t>
            </a:r>
            <a:endParaRPr lang="en-US" sz="2400" dirty="0"/>
          </a:p>
        </p:txBody>
      </p:sp>
      <p:sp>
        <p:nvSpPr>
          <p:cNvPr id="16" name="Shape 13"/>
          <p:cNvSpPr/>
          <p:nvPr/>
        </p:nvSpPr>
        <p:spPr>
          <a:xfrm>
            <a:off x="1691640" y="1463040"/>
            <a:ext cx="9875520" cy="960120"/>
          </a:xfrm>
          <a:prstGeom prst="roundRect">
            <a:avLst>
              <a:gd name="adj" fmla="val 8571"/>
            </a:avLst>
          </a:prstGeom>
          <a:solidFill>
            <a:srgbClr val="F7F5F0"/>
          </a:solidFill>
          <a:ln w="12700">
            <a:solidFill>
              <a:srgbClr val="F7F5F0"/>
            </a:solidFill>
            <a:prstDash val="solid"/>
          </a:ln>
        </p:spPr>
      </p:sp>
      <p:sp>
        <p:nvSpPr>
          <p:cNvPr id="17" name="Text 14"/>
          <p:cNvSpPr/>
          <p:nvPr/>
        </p:nvSpPr>
        <p:spPr>
          <a:xfrm>
            <a:off x="1965960" y="1536192"/>
            <a:ext cx="9326880" cy="82296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Once a week, ask for a page of one-sentence note starters: warm, improvement-focused, grouped by situation. No names near the tool.</a:t>
            </a:r>
            <a:endParaRPr lang="en-US" sz="1650" dirty="0"/>
          </a:p>
        </p:txBody>
      </p:sp>
      <p:sp>
        <p:nvSpPr>
          <p:cNvPr id="18" name="Shape 15"/>
          <p:cNvSpPr/>
          <p:nvPr/>
        </p:nvSpPr>
        <p:spPr>
          <a:xfrm>
            <a:off x="822960" y="2743200"/>
            <a:ext cx="640080" cy="640080"/>
          </a:xfrm>
          <a:prstGeom prst="ellipse">
            <a:avLst/>
          </a:prstGeom>
          <a:solidFill>
            <a:srgbClr val="2A9D8F"/>
          </a:solidFill>
          <a:ln w="12700">
            <a:solidFill>
              <a:srgbClr val="2A9D8F"/>
            </a:solidFill>
            <a:prstDash val="solid"/>
          </a:ln>
        </p:spPr>
      </p:sp>
      <p:sp>
        <p:nvSpPr>
          <p:cNvPr id="19" name="Text 16"/>
          <p:cNvSpPr/>
          <p:nvPr/>
        </p:nvSpPr>
        <p:spPr>
          <a:xfrm>
            <a:off x="822960" y="2743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2</a:t>
            </a:r>
            <a:endParaRPr lang="en-US" sz="2400" dirty="0"/>
          </a:p>
        </p:txBody>
      </p:sp>
      <p:sp>
        <p:nvSpPr>
          <p:cNvPr id="20" name="Shape 17"/>
          <p:cNvSpPr/>
          <p:nvPr/>
        </p:nvSpPr>
        <p:spPr>
          <a:xfrm>
            <a:off x="1691640" y="2606040"/>
            <a:ext cx="9875520" cy="960120"/>
          </a:xfrm>
          <a:prstGeom prst="roundRect">
            <a:avLst>
              <a:gd name="adj" fmla="val 8571"/>
            </a:avLst>
          </a:prstGeom>
          <a:solidFill>
            <a:srgbClr val="F7F5F0"/>
          </a:solidFill>
          <a:ln w="12700">
            <a:solidFill>
              <a:srgbClr val="F7F5F0"/>
            </a:solidFill>
            <a:prstDash val="solid"/>
          </a:ln>
        </p:spPr>
      </p:sp>
      <p:sp>
        <p:nvSpPr>
          <p:cNvPr id="21" name="Text 18"/>
          <p:cNvSpPr/>
          <p:nvPr/>
        </p:nvSpPr>
        <p:spPr>
          <a:xfrm>
            <a:off x="1965960" y="2679192"/>
            <a:ext cx="9326880" cy="82296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Pick three. Match each to a real student in your head.</a:t>
            </a:r>
            <a:endParaRPr lang="en-US" sz="1650" dirty="0"/>
          </a:p>
        </p:txBody>
      </p:sp>
      <p:sp>
        <p:nvSpPr>
          <p:cNvPr id="22" name="Shape 19"/>
          <p:cNvSpPr/>
          <p:nvPr/>
        </p:nvSpPr>
        <p:spPr>
          <a:xfrm>
            <a:off x="822960" y="3886200"/>
            <a:ext cx="640080" cy="640080"/>
          </a:xfrm>
          <a:prstGeom prst="ellipse">
            <a:avLst/>
          </a:prstGeom>
          <a:solidFill>
            <a:srgbClr val="2A9D8F"/>
          </a:solidFill>
          <a:ln w="12700">
            <a:solidFill>
              <a:srgbClr val="2A9D8F"/>
            </a:solidFill>
            <a:prstDash val="solid"/>
          </a:ln>
        </p:spPr>
      </p:sp>
      <p:sp>
        <p:nvSpPr>
          <p:cNvPr id="23" name="Text 20"/>
          <p:cNvSpPr/>
          <p:nvPr/>
        </p:nvSpPr>
        <p:spPr>
          <a:xfrm>
            <a:off x="822960" y="3886200"/>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3</a:t>
            </a:r>
            <a:endParaRPr lang="en-US" sz="2400" dirty="0"/>
          </a:p>
        </p:txBody>
      </p:sp>
      <p:sp>
        <p:nvSpPr>
          <p:cNvPr id="24" name="Shape 21"/>
          <p:cNvSpPr/>
          <p:nvPr/>
        </p:nvSpPr>
        <p:spPr>
          <a:xfrm>
            <a:off x="1691640" y="3749040"/>
            <a:ext cx="9875520" cy="960120"/>
          </a:xfrm>
          <a:prstGeom prst="roundRect">
            <a:avLst>
              <a:gd name="adj" fmla="val 8571"/>
            </a:avLst>
          </a:prstGeom>
          <a:solidFill>
            <a:srgbClr val="F7F5F0"/>
          </a:solidFill>
          <a:ln w="12700">
            <a:solidFill>
              <a:srgbClr val="F7F5F0"/>
            </a:solidFill>
            <a:prstDash val="solid"/>
          </a:ln>
        </p:spPr>
      </p:sp>
      <p:sp>
        <p:nvSpPr>
          <p:cNvPr id="25" name="Text 22"/>
          <p:cNvSpPr/>
          <p:nvPr/>
        </p:nvSpPr>
        <p:spPr>
          <a:xfrm>
            <a:off x="1965960" y="3822192"/>
            <a:ext cx="9326880" cy="82296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Personalize each in your own words, in your own email, and send. Five minutes, three families.</a:t>
            </a:r>
            <a:endParaRPr lang="en-US" sz="1650" dirty="0"/>
          </a:p>
        </p:txBody>
      </p:sp>
      <p:sp>
        <p:nvSpPr>
          <p:cNvPr id="26" name="Shape 23"/>
          <p:cNvSpPr/>
          <p:nvPr/>
        </p:nvSpPr>
        <p:spPr>
          <a:xfrm>
            <a:off x="640080" y="5029200"/>
            <a:ext cx="10972800" cy="914400"/>
          </a:xfrm>
          <a:prstGeom prst="roundRect">
            <a:avLst>
              <a:gd name="adj" fmla="val 9000"/>
            </a:avLst>
          </a:prstGeom>
          <a:solidFill>
            <a:srgbClr val="EAF5F3"/>
          </a:solidFill>
          <a:ln w="12700">
            <a:solidFill>
              <a:srgbClr val="EAF5F3"/>
            </a:solidFill>
            <a:prstDash val="solid"/>
          </a:ln>
        </p:spPr>
      </p:sp>
      <p:sp>
        <p:nvSpPr>
          <p:cNvPr id="27" name="Text 24"/>
          <p:cNvSpPr/>
          <p:nvPr/>
        </p:nvSpPr>
        <p:spPr>
          <a:xfrm>
            <a:off x="960120" y="5138928"/>
            <a:ext cx="10332720" cy="731520"/>
          </a:xfrm>
          <a:prstGeom prst="rect">
            <a:avLst/>
          </a:prstGeom>
          <a:noFill/>
          <a:ln/>
        </p:spPr>
        <p:txBody>
          <a:bodyPr wrap="square" lIns="0" tIns="0" rIns="0" bIns="0" rtlCol="0" anchor="ctr"/>
          <a:lstStyle/>
          <a:p>
            <a:pPr indent="0" marL="0">
              <a:buNone/>
            </a:pPr>
            <a:r>
              <a:rPr lang="en-US" sz="1700" b="1" dirty="0">
                <a:solidFill>
                  <a:srgbClr val="13293D"/>
                </a:solidFill>
                <a:latin typeface="Inter" pitchFamily="34" charset="0"/>
                <a:ea typeface="Inter" pitchFamily="34" charset="-122"/>
                <a:cs typeface="Inter" pitchFamily="34" charset="-120"/>
              </a:rPr>
              <a:t>The tool made the blank page cheap. The sentence that lands is still yours: that's the mechanism the research measured.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diagnosis eye: a bad message is a prompt missing a part. Role, Context, or Format: name it.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PRACTICE · WHICH PART OF THE KIT 2 FORMULA DID THE PROMPT SKIP?</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Diagnose the message</a:t>
            </a:r>
            <a:endParaRPr lang="en-US" sz="3200" dirty="0"/>
          </a:p>
        </p:txBody>
      </p:sp>
      <p:sp>
        <p:nvSpPr>
          <p:cNvPr id="14" name="Text 11"/>
          <p:cNvSpPr/>
          <p:nvPr/>
        </p:nvSpPr>
        <p:spPr>
          <a:xfrm>
            <a:off x="731520" y="1508760"/>
            <a:ext cx="548640" cy="82296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1</a:t>
            </a:r>
            <a:endParaRPr lang="en-US" sz="2200" dirty="0"/>
          </a:p>
        </p:txBody>
      </p:sp>
      <p:sp>
        <p:nvSpPr>
          <p:cNvPr id="15" name="Text 12"/>
          <p:cNvSpPr/>
          <p:nvPr/>
        </p:nvSpPr>
        <p:spPr>
          <a:xfrm>
            <a:off x="1371600" y="1463040"/>
            <a:ext cx="5760720" cy="91440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A 400-word newsletter; the key request (the permission slip) is buried at the bottom</a:t>
            </a:r>
            <a:endParaRPr lang="en-US" sz="1650" dirty="0"/>
          </a:p>
        </p:txBody>
      </p:sp>
      <p:sp>
        <p:nvSpPr>
          <p:cNvPr id="16" name="Text 13"/>
          <p:cNvSpPr/>
          <p:nvPr/>
        </p:nvSpPr>
        <p:spPr>
          <a:xfrm>
            <a:off x="7315200" y="1463040"/>
            <a:ext cx="4297680" cy="91440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Missing FORMAT: never said "action items first, under 150 words"</a:t>
            </a:r>
            <a:endParaRPr lang="en-US" sz="1450" dirty="0"/>
          </a:p>
        </p:txBody>
      </p:sp>
      <p:sp>
        <p:nvSpPr>
          <p:cNvPr id="17" name="Text 14"/>
          <p:cNvSpPr/>
          <p:nvPr/>
        </p:nvSpPr>
        <p:spPr>
          <a:xfrm>
            <a:off x="731520" y="2606040"/>
            <a:ext cx="548640" cy="82296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2</a:t>
            </a:r>
            <a:endParaRPr lang="en-US" sz="2200" dirty="0"/>
          </a:p>
        </p:txBody>
      </p:sp>
      <p:sp>
        <p:nvSpPr>
          <p:cNvPr id="18" name="Text 15"/>
          <p:cNvSpPr/>
          <p:nvPr/>
        </p:nvSpPr>
        <p:spPr>
          <a:xfrm>
            <a:off x="1371600" y="2560320"/>
            <a:ext cx="5760720" cy="91440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"Formative assessment data indicates…" sent to families</a:t>
            </a:r>
            <a:endParaRPr lang="en-US" sz="1650" dirty="0"/>
          </a:p>
        </p:txBody>
      </p:sp>
      <p:sp>
        <p:nvSpPr>
          <p:cNvPr id="19" name="Text 16"/>
          <p:cNvSpPr/>
          <p:nvPr/>
        </p:nvSpPr>
        <p:spPr>
          <a:xfrm>
            <a:off x="7315200" y="2560320"/>
            <a:ext cx="4297680" cy="91440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Missing CONTEXT: never said the readers are families, on phones, plain words</a:t>
            </a:r>
            <a:endParaRPr lang="en-US" sz="1450" dirty="0"/>
          </a:p>
        </p:txBody>
      </p:sp>
      <p:sp>
        <p:nvSpPr>
          <p:cNvPr id="20" name="Text 17"/>
          <p:cNvSpPr/>
          <p:nvPr/>
        </p:nvSpPr>
        <p:spPr>
          <a:xfrm>
            <a:off x="731520" y="3703320"/>
            <a:ext cx="548640" cy="82296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3</a:t>
            </a:r>
            <a:endParaRPr lang="en-US" sz="2200" dirty="0"/>
          </a:p>
        </p:txBody>
      </p:sp>
      <p:sp>
        <p:nvSpPr>
          <p:cNvPr id="21" name="Text 18"/>
          <p:cNvSpPr/>
          <p:nvPr/>
        </p:nvSpPr>
        <p:spPr>
          <a:xfrm>
            <a:off x="1371600" y="3657600"/>
            <a:ext cx="5760720" cy="91440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Three updates, nothing for families to do</a:t>
            </a:r>
            <a:endParaRPr lang="en-US" sz="1650" dirty="0"/>
          </a:p>
        </p:txBody>
      </p:sp>
      <p:sp>
        <p:nvSpPr>
          <p:cNvPr id="22" name="Text 19"/>
          <p:cNvSpPr/>
          <p:nvPr/>
        </p:nvSpPr>
        <p:spPr>
          <a:xfrm>
            <a:off x="7315200" y="3657600"/>
            <a:ext cx="4297680" cy="91440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Missing FORMAT: never asked for an action item with a date</a:t>
            </a:r>
            <a:endParaRPr lang="en-US" sz="1450" dirty="0"/>
          </a:p>
        </p:txBody>
      </p:sp>
      <p:sp>
        <p:nvSpPr>
          <p:cNvPr id="23" name="Text 20"/>
          <p:cNvSpPr/>
          <p:nvPr/>
        </p:nvSpPr>
        <p:spPr>
          <a:xfrm>
            <a:off x="731520" y="4800600"/>
            <a:ext cx="548640" cy="82296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4</a:t>
            </a:r>
            <a:endParaRPr lang="en-US" sz="2200" dirty="0"/>
          </a:p>
        </p:txBody>
      </p:sp>
      <p:sp>
        <p:nvSpPr>
          <p:cNvPr id="24" name="Text 21"/>
          <p:cNvSpPr/>
          <p:nvPr/>
        </p:nvSpPr>
        <p:spPr>
          <a:xfrm>
            <a:off x="1371600" y="4754880"/>
            <a:ext cx="5760720" cy="914400"/>
          </a:xfrm>
          <a:prstGeom prst="rect">
            <a:avLst/>
          </a:prstGeom>
          <a:noFill/>
          <a:ln/>
        </p:spPr>
        <p:txBody>
          <a:bodyPr wrap="square" lIns="0" tIns="0" rIns="0" bIns="0" rtlCol="0" anchor="ctr"/>
          <a:lstStyle/>
          <a:p>
            <a:pPr indent="0" marL="0">
              <a:buNone/>
            </a:pPr>
            <a:r>
              <a:rPr lang="en-US" sz="1650" dirty="0">
                <a:solidFill>
                  <a:srgbClr val="1B1F24"/>
                </a:solidFill>
                <a:latin typeface="Inter" pitchFamily="34" charset="0"/>
                <a:ea typeface="Inter" pitchFamily="34" charset="-122"/>
                <a:cs typeface="Inter" pitchFamily="34" charset="-120"/>
              </a:rPr>
              <a:t>Polished, but it sounds like a bank wrote it</a:t>
            </a:r>
            <a:endParaRPr lang="en-US" sz="1650" dirty="0"/>
          </a:p>
        </p:txBody>
      </p:sp>
      <p:sp>
        <p:nvSpPr>
          <p:cNvPr id="25" name="Text 22"/>
          <p:cNvSpPr/>
          <p:nvPr/>
        </p:nvSpPr>
        <p:spPr>
          <a:xfrm>
            <a:off x="7315200" y="4754880"/>
            <a:ext cx="4297680" cy="91440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Missing ROLE: never said "a warm teacher who sounds like me"</a:t>
            </a:r>
            <a:endParaRPr lang="en-US" sz="1450" dirty="0"/>
          </a:p>
        </p:txBody>
      </p:sp>
      <p:sp>
        <p:nvSpPr>
          <p:cNvPr id="26" name="Text 23"/>
          <p:cNvSpPr/>
          <p:nvPr/>
        </p:nvSpPr>
        <p:spPr>
          <a:xfrm>
            <a:off x="640080" y="5806440"/>
            <a:ext cx="10972800" cy="411480"/>
          </a:xfrm>
          <a:prstGeom prst="rect">
            <a:avLst/>
          </a:prstGeom>
          <a:noFill/>
          <a:ln/>
        </p:spPr>
        <p:txBody>
          <a:bodyPr wrap="square" lIns="0" tIns="0" rIns="0" bIns="0" rtlCol="0" anchor="ctr"/>
          <a:lstStyle/>
          <a:p>
            <a:pPr algn="ctr" indent="0" marL="0">
              <a:buNone/>
            </a:pPr>
            <a:r>
              <a:rPr lang="en-US" sz="1500" i="1" dirty="0">
                <a:solidFill>
                  <a:srgbClr val="5B6B7A"/>
                </a:solidFill>
                <a:latin typeface="Inter" pitchFamily="34" charset="0"/>
                <a:ea typeface="Inter" pitchFamily="34" charset="-122"/>
                <a:cs typeface="Inter" pitchFamily="34" charset="-120"/>
              </a:rPr>
              <a:t>A bad message is usually a prompt that skipped part of the formula: Role · Task · Context · Format. Diagnose the part, then hand it back.</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tone kit: 'warmer, shorter, plainer,' the read-aloud test, the 24-hour rule.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SMALL ENOUGH TO MEMORIZE</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tone-repair kit</a:t>
            </a:r>
            <a:endParaRPr lang="en-US" sz="3200" dirty="0"/>
          </a:p>
        </p:txBody>
      </p:sp>
      <p:sp>
        <p:nvSpPr>
          <p:cNvPr id="14" name="Shape 11"/>
          <p:cNvSpPr/>
          <p:nvPr/>
        </p:nvSpPr>
        <p:spPr>
          <a:xfrm>
            <a:off x="640080" y="1554480"/>
            <a:ext cx="3520440" cy="3108960"/>
          </a:xfrm>
          <a:prstGeom prst="roundRect">
            <a:avLst>
              <a:gd name="adj" fmla="val 2647"/>
            </a:avLst>
          </a:prstGeom>
          <a:solidFill>
            <a:srgbClr val="F7F5F0"/>
          </a:solidFill>
          <a:ln w="12700">
            <a:solidFill>
              <a:srgbClr val="F7F5F0"/>
            </a:solidFill>
            <a:prstDash val="solid"/>
          </a:ln>
        </p:spPr>
      </p:sp>
      <p:sp>
        <p:nvSpPr>
          <p:cNvPr id="15" name="Text 12"/>
          <p:cNvSpPr/>
          <p:nvPr/>
        </p:nvSpPr>
        <p:spPr>
          <a:xfrm>
            <a:off x="896112" y="1828800"/>
            <a:ext cx="3017520" cy="45720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Three commands</a:t>
            </a:r>
            <a:endParaRPr lang="en-US" sz="2000" dirty="0"/>
          </a:p>
        </p:txBody>
      </p:sp>
      <p:sp>
        <p:nvSpPr>
          <p:cNvPr id="16" name="Text 13"/>
          <p:cNvSpPr/>
          <p:nvPr/>
        </p:nvSpPr>
        <p:spPr>
          <a:xfrm>
            <a:off x="896112"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"Warmer." "Shorter." "Plainer." Ninety percent of drafts need exactly one.</a:t>
            </a:r>
            <a:endParaRPr lang="en-US" sz="1600" dirty="0"/>
          </a:p>
        </p:txBody>
      </p:sp>
      <p:sp>
        <p:nvSpPr>
          <p:cNvPr id="17" name="Shape 14"/>
          <p:cNvSpPr/>
          <p:nvPr/>
        </p:nvSpPr>
        <p:spPr>
          <a:xfrm>
            <a:off x="4407408" y="1554480"/>
            <a:ext cx="3520440" cy="3108960"/>
          </a:xfrm>
          <a:prstGeom prst="roundRect">
            <a:avLst>
              <a:gd name="adj" fmla="val 2647"/>
            </a:avLst>
          </a:prstGeom>
          <a:solidFill>
            <a:srgbClr val="F7F5F0"/>
          </a:solidFill>
          <a:ln w="12700">
            <a:solidFill>
              <a:srgbClr val="F7F5F0"/>
            </a:solidFill>
            <a:prstDash val="solid"/>
          </a:ln>
        </p:spPr>
      </p:sp>
      <p:sp>
        <p:nvSpPr>
          <p:cNvPr id="18" name="Text 15"/>
          <p:cNvSpPr/>
          <p:nvPr/>
        </p:nvSpPr>
        <p:spPr>
          <a:xfrm>
            <a:off x="4663440" y="1828800"/>
            <a:ext cx="3017520" cy="45720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One test</a:t>
            </a:r>
            <a:endParaRPr lang="en-US" sz="2000" dirty="0"/>
          </a:p>
        </p:txBody>
      </p:sp>
      <p:sp>
        <p:nvSpPr>
          <p:cNvPr id="19" name="Text 16"/>
          <p:cNvSpPr/>
          <p:nvPr/>
        </p:nvSpPr>
        <p:spPr>
          <a:xfrm>
            <a:off x="4663440"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Read it aloud. Your ear knows your voice better than your eyes do.</a:t>
            </a:r>
            <a:endParaRPr lang="en-US" sz="1600" dirty="0"/>
          </a:p>
        </p:txBody>
      </p:sp>
      <p:sp>
        <p:nvSpPr>
          <p:cNvPr id="20" name="Shape 17"/>
          <p:cNvSpPr/>
          <p:nvPr/>
        </p:nvSpPr>
        <p:spPr>
          <a:xfrm>
            <a:off x="8174736" y="1554480"/>
            <a:ext cx="3520440" cy="3108960"/>
          </a:xfrm>
          <a:prstGeom prst="roundRect">
            <a:avLst>
              <a:gd name="adj" fmla="val 2647"/>
            </a:avLst>
          </a:prstGeom>
          <a:solidFill>
            <a:srgbClr val="F7F5F0"/>
          </a:solidFill>
          <a:ln w="12700">
            <a:solidFill>
              <a:srgbClr val="F7F5F0"/>
            </a:solidFill>
            <a:prstDash val="solid"/>
          </a:ln>
        </p:spPr>
      </p:sp>
      <p:sp>
        <p:nvSpPr>
          <p:cNvPr id="21" name="Text 18"/>
          <p:cNvSpPr/>
          <p:nvPr/>
        </p:nvSpPr>
        <p:spPr>
          <a:xfrm>
            <a:off x="8430768" y="1828800"/>
            <a:ext cx="3017520" cy="457200"/>
          </a:xfrm>
          <a:prstGeom prst="rect">
            <a:avLst/>
          </a:prstGeom>
          <a:noFill/>
          <a:ln/>
        </p:spPr>
        <p:txBody>
          <a:bodyPr wrap="square" lIns="0" tIns="0" rIns="0" bIns="0" rtlCol="0" anchor="ctr"/>
          <a:lstStyle/>
          <a:p>
            <a:pPr indent="0" marL="0">
              <a:buNone/>
            </a:pPr>
            <a:r>
              <a:rPr lang="en-US" sz="2000" b="1" dirty="0">
                <a:solidFill>
                  <a:srgbClr val="2A9D8F"/>
                </a:solidFill>
                <a:latin typeface="Inter" pitchFamily="34" charset="0"/>
                <a:ea typeface="Inter" pitchFamily="34" charset="-122"/>
                <a:cs typeface="Inter" pitchFamily="34" charset="-120"/>
              </a:rPr>
              <a:t>One rule</a:t>
            </a:r>
            <a:endParaRPr lang="en-US" sz="2000" dirty="0"/>
          </a:p>
        </p:txBody>
      </p:sp>
      <p:sp>
        <p:nvSpPr>
          <p:cNvPr id="22" name="Text 19"/>
          <p:cNvSpPr/>
          <p:nvPr/>
        </p:nvSpPr>
        <p:spPr>
          <a:xfrm>
            <a:off x="8430768" y="2377440"/>
            <a:ext cx="3017520" cy="2103120"/>
          </a:xfrm>
          <a:prstGeom prst="rect">
            <a:avLst/>
          </a:prstGeom>
          <a:noFill/>
          <a:ln/>
        </p:spPr>
        <p:txBody>
          <a:bodyPr wrap="square" lIns="0" tIns="0" rIns="0" bIns="0" rtlCol="0" anchor="t"/>
          <a:lstStyle/>
          <a:p>
            <a:pPr indent="0" marL="0">
              <a:buNone/>
            </a:pPr>
            <a:r>
              <a:rPr lang="en-US" sz="1600" dirty="0">
                <a:solidFill>
                  <a:srgbClr val="1B1F24"/>
                </a:solidFill>
                <a:latin typeface="Inter" pitchFamily="34" charset="0"/>
                <a:ea typeface="Inter" pitchFamily="34" charset="-122"/>
                <a:cs typeface="Inter" pitchFamily="34" charset="-120"/>
              </a:rPr>
              <a:t>The 24-hour rule: written angry waits a day, unless safety can't wait.</a:t>
            </a:r>
            <a:endParaRPr lang="en-US" sz="1600" dirty="0"/>
          </a:p>
        </p:txBody>
      </p:sp>
      <p:sp>
        <p:nvSpPr>
          <p:cNvPr id="23" name="Text 20"/>
          <p:cNvSpPr/>
          <p:nvPr/>
        </p:nvSpPr>
        <p:spPr>
          <a:xfrm>
            <a:off x="640080" y="493776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It fits on the handout's back pocket, and it saves a hundred small regrets a year.</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repair calls: cold gets 'warmer,' rambling gets 'shorter,' jargon gets 'plainer.'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PRACTICE · ONE COMMAND EACH: WARMER, SHORTER, OR PLAINER?</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Call the repair</a:t>
            </a:r>
            <a:endParaRPr lang="en-US" sz="3200" dirty="0"/>
          </a:p>
        </p:txBody>
      </p:sp>
      <p:sp>
        <p:nvSpPr>
          <p:cNvPr id="14" name="Text 11"/>
          <p:cNvSpPr/>
          <p:nvPr/>
        </p:nvSpPr>
        <p:spPr>
          <a:xfrm>
            <a:off x="731520" y="1508760"/>
            <a:ext cx="548640" cy="100584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A</a:t>
            </a:r>
            <a:endParaRPr lang="en-US" sz="2200" dirty="0"/>
          </a:p>
        </p:txBody>
      </p:sp>
      <p:sp>
        <p:nvSpPr>
          <p:cNvPr id="15" name="Shape 12"/>
          <p:cNvSpPr/>
          <p:nvPr/>
        </p:nvSpPr>
        <p:spPr>
          <a:xfrm>
            <a:off x="1371600" y="1371600"/>
            <a:ext cx="5577840" cy="1280160"/>
          </a:xfrm>
          <a:prstGeom prst="roundRect">
            <a:avLst>
              <a:gd name="adj" fmla="val 6429"/>
            </a:avLst>
          </a:prstGeom>
          <a:solidFill>
            <a:srgbClr val="F7F5F0"/>
          </a:solidFill>
          <a:ln w="12700">
            <a:solidFill>
              <a:srgbClr val="F7F5F0"/>
            </a:solidFill>
            <a:prstDash val="solid"/>
          </a:ln>
        </p:spPr>
      </p:sp>
      <p:sp>
        <p:nvSpPr>
          <p:cNvPr id="16" name="Text 13"/>
          <p:cNvSpPr/>
          <p:nvPr/>
        </p:nvSpPr>
        <p:spPr>
          <a:xfrm>
            <a:off x="1627632" y="1444752"/>
            <a:ext cx="5074920" cy="1143000"/>
          </a:xfrm>
          <a:prstGeom prst="rect">
            <a:avLst/>
          </a:prstGeom>
          <a:noFill/>
          <a:ln/>
        </p:spPr>
        <p:txBody>
          <a:bodyPr wrap="square" lIns="0" tIns="0" rIns="0" bIns="0" rtlCol="0" anchor="ctr"/>
          <a:lstStyle/>
          <a:p>
            <a:pPr indent="0" marL="0">
              <a:buNone/>
            </a:pPr>
            <a:r>
              <a:rPr lang="en-US" sz="1500" i="1" dirty="0">
                <a:solidFill>
                  <a:srgbClr val="1B1F24"/>
                </a:solidFill>
                <a:latin typeface="Inter" pitchFamily="34" charset="0"/>
                <a:ea typeface="Inter" pitchFamily="34" charset="-122"/>
                <a:cs typeface="Inter" pitchFamily="34" charset="-120"/>
              </a:rPr>
              <a:t>"Reminder: the permission slip was due Monday. Students without one cannot attend."</a:t>
            </a:r>
            <a:endParaRPr lang="en-US" sz="1500" dirty="0"/>
          </a:p>
        </p:txBody>
      </p:sp>
      <p:sp>
        <p:nvSpPr>
          <p:cNvPr id="17" name="Text 14"/>
          <p:cNvSpPr/>
          <p:nvPr/>
        </p:nvSpPr>
        <p:spPr>
          <a:xfrm>
            <a:off x="7223760" y="1444752"/>
            <a:ext cx="4389120" cy="1143000"/>
          </a:xfrm>
          <a:prstGeom prst="rect">
            <a:avLst/>
          </a:prstGeom>
          <a:noFill/>
          <a:ln/>
        </p:spPr>
        <p:txBody>
          <a:bodyPr wrap="square" lIns="0" tIns="0" rIns="0" bIns="0" rtlCol="0" anchor="ctr"/>
          <a:lstStyle/>
          <a:p>
            <a:pPr indent="0" marL="0">
              <a:buNone/>
            </a:pPr>
            <a:r>
              <a:rPr lang="en-US" sz="1250" dirty="0">
                <a:solidFill>
                  <a:srgbClr val="5B6B7A"/>
                </a:solidFill>
                <a:latin typeface="Inter" pitchFamily="34" charset="0"/>
                <a:ea typeface="Inter" pitchFamily="34" charset="-122"/>
                <a:cs typeface="Inter" pitchFamily="34" charset="-120"/>
              </a:rPr>
              <a:t>Warmer: "We're missing a few permission slips. Send yours back by tomorrow and everyone's on the bus."</a:t>
            </a:r>
            <a:endParaRPr lang="en-US" sz="1250" dirty="0"/>
          </a:p>
        </p:txBody>
      </p:sp>
      <p:sp>
        <p:nvSpPr>
          <p:cNvPr id="18" name="Text 15"/>
          <p:cNvSpPr/>
          <p:nvPr/>
        </p:nvSpPr>
        <p:spPr>
          <a:xfrm>
            <a:off x="731520" y="2926080"/>
            <a:ext cx="548640" cy="100584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B</a:t>
            </a:r>
            <a:endParaRPr lang="en-US" sz="2200" dirty="0"/>
          </a:p>
        </p:txBody>
      </p:sp>
      <p:sp>
        <p:nvSpPr>
          <p:cNvPr id="19" name="Shape 16"/>
          <p:cNvSpPr/>
          <p:nvPr/>
        </p:nvSpPr>
        <p:spPr>
          <a:xfrm>
            <a:off x="1371600" y="2788920"/>
            <a:ext cx="5577840" cy="1280160"/>
          </a:xfrm>
          <a:prstGeom prst="roundRect">
            <a:avLst>
              <a:gd name="adj" fmla="val 6429"/>
            </a:avLst>
          </a:prstGeom>
          <a:solidFill>
            <a:srgbClr val="F7F5F0"/>
          </a:solidFill>
          <a:ln w="12700">
            <a:solidFill>
              <a:srgbClr val="F7F5F0"/>
            </a:solidFill>
            <a:prstDash val="solid"/>
          </a:ln>
        </p:spPr>
      </p:sp>
      <p:sp>
        <p:nvSpPr>
          <p:cNvPr id="20" name="Text 17"/>
          <p:cNvSpPr/>
          <p:nvPr/>
        </p:nvSpPr>
        <p:spPr>
          <a:xfrm>
            <a:off x="1627632" y="2862072"/>
            <a:ext cx="5074920" cy="1143000"/>
          </a:xfrm>
          <a:prstGeom prst="rect">
            <a:avLst/>
          </a:prstGeom>
          <a:noFill/>
          <a:ln/>
        </p:spPr>
        <p:txBody>
          <a:bodyPr wrap="square" lIns="0" tIns="0" rIns="0" bIns="0" rtlCol="0" anchor="ctr"/>
          <a:lstStyle/>
          <a:p>
            <a:pPr indent="0" marL="0">
              <a:buNone/>
            </a:pPr>
            <a:r>
              <a:rPr lang="en-US" sz="1500" i="1" dirty="0">
                <a:solidFill>
                  <a:srgbClr val="1B1F24"/>
                </a:solidFill>
                <a:latin typeface="Inter" pitchFamily="34" charset="0"/>
                <a:ea typeface="Inter" pitchFamily="34" charset="-122"/>
                <a:cs typeface="Inter" pitchFamily="34" charset="-120"/>
              </a:rPr>
              <a:t>Sixty words of throat-clearing to say picture day is Friday</a:t>
            </a:r>
            <a:endParaRPr lang="en-US" sz="1500" dirty="0"/>
          </a:p>
        </p:txBody>
      </p:sp>
      <p:sp>
        <p:nvSpPr>
          <p:cNvPr id="21" name="Text 18"/>
          <p:cNvSpPr/>
          <p:nvPr/>
        </p:nvSpPr>
        <p:spPr>
          <a:xfrm>
            <a:off x="7223760" y="2862072"/>
            <a:ext cx="4389120" cy="1143000"/>
          </a:xfrm>
          <a:prstGeom prst="rect">
            <a:avLst/>
          </a:prstGeom>
          <a:noFill/>
          <a:ln/>
        </p:spPr>
        <p:txBody>
          <a:bodyPr wrap="square" lIns="0" tIns="0" rIns="0" bIns="0" rtlCol="0" anchor="ctr"/>
          <a:lstStyle/>
          <a:p>
            <a:pPr indent="0" marL="0">
              <a:buNone/>
            </a:pPr>
            <a:r>
              <a:rPr lang="en-US" sz="1250" dirty="0">
                <a:solidFill>
                  <a:srgbClr val="5B6B7A"/>
                </a:solidFill>
                <a:latin typeface="Inter" pitchFamily="34" charset="0"/>
                <a:ea typeface="Inter" pitchFamily="34" charset="-122"/>
                <a:cs typeface="Inter" pitchFamily="34" charset="-120"/>
              </a:rPr>
              <a:t>Shorter: "Picture day is Friday. Smiles optional, forms required."</a:t>
            </a:r>
            <a:endParaRPr lang="en-US" sz="1250" dirty="0"/>
          </a:p>
        </p:txBody>
      </p:sp>
      <p:sp>
        <p:nvSpPr>
          <p:cNvPr id="22" name="Text 19"/>
          <p:cNvSpPr/>
          <p:nvPr/>
        </p:nvSpPr>
        <p:spPr>
          <a:xfrm>
            <a:off x="731520" y="4343400"/>
            <a:ext cx="548640" cy="100584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C</a:t>
            </a:r>
            <a:endParaRPr lang="en-US" sz="2200" dirty="0"/>
          </a:p>
        </p:txBody>
      </p:sp>
      <p:sp>
        <p:nvSpPr>
          <p:cNvPr id="23" name="Shape 20"/>
          <p:cNvSpPr/>
          <p:nvPr/>
        </p:nvSpPr>
        <p:spPr>
          <a:xfrm>
            <a:off x="1371600" y="4206240"/>
            <a:ext cx="5577840" cy="1280160"/>
          </a:xfrm>
          <a:prstGeom prst="roundRect">
            <a:avLst>
              <a:gd name="adj" fmla="val 6429"/>
            </a:avLst>
          </a:prstGeom>
          <a:solidFill>
            <a:srgbClr val="F7F5F0"/>
          </a:solidFill>
          <a:ln w="12700">
            <a:solidFill>
              <a:srgbClr val="F7F5F0"/>
            </a:solidFill>
            <a:prstDash val="solid"/>
          </a:ln>
        </p:spPr>
      </p:sp>
      <p:sp>
        <p:nvSpPr>
          <p:cNvPr id="24" name="Text 21"/>
          <p:cNvSpPr/>
          <p:nvPr/>
        </p:nvSpPr>
        <p:spPr>
          <a:xfrm>
            <a:off x="1627632" y="4279392"/>
            <a:ext cx="5074920" cy="1143000"/>
          </a:xfrm>
          <a:prstGeom prst="rect">
            <a:avLst/>
          </a:prstGeom>
          <a:noFill/>
          <a:ln/>
        </p:spPr>
        <p:txBody>
          <a:bodyPr wrap="square" lIns="0" tIns="0" rIns="0" bIns="0" rtlCol="0" anchor="ctr"/>
          <a:lstStyle/>
          <a:p>
            <a:pPr indent="0" marL="0">
              <a:buNone/>
            </a:pPr>
            <a:r>
              <a:rPr lang="en-US" sz="1500" i="1" dirty="0">
                <a:solidFill>
                  <a:srgbClr val="1B1F24"/>
                </a:solidFill>
                <a:latin typeface="Inter" pitchFamily="34" charset="0"/>
                <a:ea typeface="Inter" pitchFamily="34" charset="-122"/>
                <a:cs typeface="Inter" pitchFamily="34" charset="-120"/>
              </a:rPr>
              <a:t>"Our formative assessment data indicates additional at-home numeracy reinforcement would benefit your student."</a:t>
            </a:r>
            <a:endParaRPr lang="en-US" sz="1500" dirty="0"/>
          </a:p>
        </p:txBody>
      </p:sp>
      <p:sp>
        <p:nvSpPr>
          <p:cNvPr id="25" name="Text 22"/>
          <p:cNvSpPr/>
          <p:nvPr/>
        </p:nvSpPr>
        <p:spPr>
          <a:xfrm>
            <a:off x="7223760" y="4279392"/>
            <a:ext cx="4389120" cy="1143000"/>
          </a:xfrm>
          <a:prstGeom prst="rect">
            <a:avLst/>
          </a:prstGeom>
          <a:noFill/>
          <a:ln/>
        </p:spPr>
        <p:txBody>
          <a:bodyPr wrap="square" lIns="0" tIns="0" rIns="0" bIns="0" rtlCol="0" anchor="ctr"/>
          <a:lstStyle/>
          <a:p>
            <a:pPr indent="0" marL="0">
              <a:buNone/>
            </a:pPr>
            <a:r>
              <a:rPr lang="en-US" sz="1250" dirty="0">
                <a:solidFill>
                  <a:srgbClr val="5B6B7A"/>
                </a:solidFill>
                <a:latin typeface="Inter" pitchFamily="34" charset="0"/>
                <a:ea typeface="Inter" pitchFamily="34" charset="-122"/>
                <a:cs typeface="Inter" pitchFamily="34" charset="-120"/>
              </a:rPr>
              <a:t>Plainer: "Your child is still working on multiplication. Ten minutes of practice at home this week would help."</a:t>
            </a:r>
            <a:endParaRPr lang="en-US" sz="1250" dirty="0"/>
          </a:p>
        </p:txBody>
      </p:sp>
      <p:sp>
        <p:nvSpPr>
          <p:cNvPr id="26" name="Text 23"/>
          <p:cNvSpPr/>
          <p:nvPr/>
        </p:nvSpPr>
        <p:spPr>
          <a:xfrm>
            <a:off x="640080" y="5760720"/>
            <a:ext cx="10972800" cy="411480"/>
          </a:xfrm>
          <a:prstGeom prst="rect">
            <a:avLst/>
          </a:prstGeom>
          <a:noFill/>
          <a:ln/>
        </p:spPr>
        <p:txBody>
          <a:bodyPr wrap="square" lIns="0" tIns="0" rIns="0" bIns="0" rtlCol="0" anchor="ctr"/>
          <a:lstStyle/>
          <a:p>
            <a:pPr algn="ctr" indent="0" marL="0">
              <a:buNone/>
            </a:pPr>
            <a:r>
              <a:rPr lang="en-US" sz="1500" i="1" dirty="0">
                <a:solidFill>
                  <a:srgbClr val="5B6B7A"/>
                </a:solidFill>
                <a:latin typeface="Inter" pitchFamily="34" charset="0"/>
                <a:ea typeface="Inter" pitchFamily="34" charset="-122"/>
                <a:cs typeface="Inter" pitchFamily="34" charset="-120"/>
              </a:rPr>
              <a:t>One command each, and the repair comes back in seconds: no excuse left for sending the cold version.</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6 · AI for Communication   |   15</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red line: she writes it plain; she doesn't ship what she can't read.</a:t>
            </a:r>
            <a:endParaRPr lang="en-US" sz="1000" dirty="0"/>
          </a:p>
        </p:txBody>
      </p:sp>
      <p:sp>
        <p:nvSpPr>
          <p:cNvPr id="12" name="Text 9"/>
          <p:cNvSpPr/>
          <p:nvPr/>
        </p:nvSpPr>
        <p:spPr>
          <a:xfrm>
            <a:off x="822960" y="1051560"/>
            <a:ext cx="10515600" cy="45720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ONE RED LINE, BEFORE THE LAB</a:t>
            </a:r>
            <a:endParaRPr lang="en-US" sz="1500" dirty="0"/>
          </a:p>
        </p:txBody>
      </p:sp>
      <p:sp>
        <p:nvSpPr>
          <p:cNvPr id="13" name="Text 10"/>
          <p:cNvSpPr/>
          <p:nvPr/>
        </p:nvSpPr>
        <p:spPr>
          <a:xfrm>
            <a:off x="822960" y="1600200"/>
            <a:ext cx="10607040" cy="1554480"/>
          </a:xfrm>
          <a:prstGeom prst="rect">
            <a:avLst/>
          </a:prstGeom>
          <a:noFill/>
          <a:ln/>
        </p:spPr>
        <p:txBody>
          <a:bodyPr wrap="square" lIns="0" tIns="0" rIns="0" bIns="0" rtlCol="0" anchor="ctr"/>
          <a:lstStyle/>
          <a:p>
            <a:pPr indent="0" marL="0">
              <a:lnSpc>
                <a:spcPct val="115000"/>
              </a:lnSpc>
              <a:buNone/>
            </a:pPr>
            <a:r>
              <a:rPr lang="en-US" sz="3300" b="1" dirty="0">
                <a:solidFill>
                  <a:srgbClr val="FFFFFF"/>
                </a:solidFill>
                <a:latin typeface="Inter" pitchFamily="34" charset="0"/>
                <a:ea typeface="Inter" pitchFamily="34" charset="-122"/>
                <a:cs typeface="Inter" pitchFamily="34" charset="-120"/>
              </a:rPr>
              <a:t>No public AI translation of family messages.</a:t>
            </a:r>
            <a:endParaRPr lang="en-US" sz="3300" dirty="0"/>
          </a:p>
          <a:p>
            <a:pPr indent="0" marL="0">
              <a:lnSpc>
                <a:spcPct val="115000"/>
              </a:lnSpc>
              <a:buNone/>
            </a:pPr>
            <a:r>
              <a:rPr lang="en-US" sz="3300" b="1" dirty="0">
                <a:solidFill>
                  <a:srgbClr val="FFFFFF"/>
                </a:solidFill>
                <a:latin typeface="Inter" pitchFamily="34" charset="0"/>
                <a:ea typeface="Inter" pitchFamily="34" charset="-122"/>
                <a:cs typeface="Inter" pitchFamily="34" charset="-120"/>
              </a:rPr>
              <a:t>You cannot review what you cannot read.</a:t>
            </a:r>
            <a:endParaRPr lang="en-US" sz="3300" dirty="0"/>
          </a:p>
        </p:txBody>
      </p:sp>
      <p:sp>
        <p:nvSpPr>
          <p:cNvPr id="14" name="Text 11"/>
          <p:cNvSpPr/>
          <p:nvPr/>
        </p:nvSpPr>
        <p:spPr>
          <a:xfrm>
            <a:off x="868680" y="3520440"/>
            <a:ext cx="10424160" cy="914400"/>
          </a:xfrm>
          <a:prstGeom prst="rect">
            <a:avLst/>
          </a:prstGeom>
          <a:noFill/>
          <a:ln/>
        </p:spPr>
        <p:txBody>
          <a:bodyPr wrap="square" lIns="0" tIns="0" rIns="0" bIns="0" rtlCol="0" anchor="t"/>
          <a:lstStyle/>
          <a:p>
            <a:pPr indent="0" marL="0">
              <a:buNone/>
            </a:pPr>
            <a:r>
              <a:rPr lang="en-US" sz="1900" b="1" dirty="0">
                <a:solidFill>
                  <a:srgbClr val="2A9D8F"/>
                </a:solidFill>
                <a:latin typeface="Inter" pitchFamily="34" charset="0"/>
                <a:ea typeface="Inter" pitchFamily="34" charset="-122"/>
                <a:cs typeface="Inter" pitchFamily="34" charset="-120"/>
              </a:rPr>
              <a:t>Official and legal documents </a:t>
            </a:r>
            <a:pPr indent="0" marL="0">
              <a:buNone/>
            </a:pPr>
            <a:r>
              <a:rPr lang="en-US" sz="1900" dirty="0">
                <a:solidFill>
                  <a:srgbClr val="C9D4DE"/>
                </a:solidFill>
                <a:latin typeface="Inter" pitchFamily="34" charset="0"/>
                <a:ea typeface="Inter" pitchFamily="34" charset="-122"/>
                <a:cs typeface="Inter" pitchFamily="34" charset="-120"/>
              </a:rPr>
              <a:t>travel your district's translation channels. That lane exists, and it's the district's obligation.</a:t>
            </a:r>
            <a:endParaRPr lang="en-US" sz="1900" dirty="0"/>
          </a:p>
        </p:txBody>
      </p:sp>
      <p:sp>
        <p:nvSpPr>
          <p:cNvPr id="15" name="Text 12"/>
          <p:cNvSpPr/>
          <p:nvPr/>
        </p:nvSpPr>
        <p:spPr>
          <a:xfrm>
            <a:off x="868680" y="4572000"/>
            <a:ext cx="10424160" cy="914400"/>
          </a:xfrm>
          <a:prstGeom prst="rect">
            <a:avLst/>
          </a:prstGeom>
          <a:noFill/>
          <a:ln/>
        </p:spPr>
        <p:txBody>
          <a:bodyPr wrap="square" lIns="0" tIns="0" rIns="0" bIns="0" rtlCol="0" anchor="t"/>
          <a:lstStyle/>
          <a:p>
            <a:pPr indent="0" marL="0">
              <a:buNone/>
            </a:pPr>
            <a:r>
              <a:rPr lang="en-US" sz="1900" b="1" dirty="0">
                <a:solidFill>
                  <a:srgbClr val="2A9D8F"/>
                </a:solidFill>
                <a:latin typeface="Inter" pitchFamily="34" charset="0"/>
                <a:ea typeface="Inter" pitchFamily="34" charset="-122"/>
                <a:cs typeface="Inter" pitchFamily="34" charset="-120"/>
              </a:rPr>
              <a:t>Your job is the original: </a:t>
            </a:r>
            <a:pPr indent="0" marL="0">
              <a:buNone/>
            </a:pPr>
            <a:r>
              <a:rPr lang="en-US" sz="1900" dirty="0">
                <a:solidFill>
                  <a:srgbClr val="C9D4DE"/>
                </a:solidFill>
                <a:latin typeface="Inter" pitchFamily="34" charset="0"/>
                <a:ea typeface="Inter" pitchFamily="34" charset="-122"/>
                <a:cs typeface="Inter" pitchFamily="34" charset="-120"/>
              </a:rPr>
              <a:t>plain language, short sentences, no idioms. That's the version every family can use, including multilingual families.</a:t>
            </a:r>
            <a:endParaRPr lang="en-US" sz="1900" dirty="0"/>
          </a:p>
        </p:txBody>
      </p:sp>
      <p:sp>
        <p:nvSpPr>
          <p:cNvPr id="16" name="Text 13"/>
          <p:cNvSpPr/>
          <p:nvPr/>
        </p:nvSpPr>
        <p:spPr>
          <a:xfrm>
            <a:off x="822960" y="5715000"/>
            <a:ext cx="10515600" cy="457200"/>
          </a:xfrm>
          <a:prstGeom prst="rect">
            <a:avLst/>
          </a:prstGeom>
          <a:noFill/>
          <a:ln/>
        </p:spPr>
        <p:txBody>
          <a:bodyPr wrap="square" lIns="0" tIns="0" rIns="0" bIns="0" rtlCol="0" anchor="ctr"/>
          <a:lstStyle/>
          <a:p>
            <a:pPr indent="0" marL="0">
              <a:buNone/>
            </a:pPr>
            <a:r>
              <a:rPr lang="en-US" sz="1800" i="1" dirty="0">
                <a:solidFill>
                  <a:srgbClr val="2A9D8F"/>
                </a:solidFill>
                <a:latin typeface="Inter" pitchFamily="34" charset="0"/>
                <a:ea typeface="Inter" pitchFamily="34" charset="-122"/>
                <a:cs typeface="Inter" pitchFamily="34" charset="-120"/>
              </a:rPr>
              <a:t>Write it plain; don't ship what you can't read.</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6 · AI for Communication   |   16</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human-only list: safety, discipline, grief, IEP news. She calls first.</a:t>
            </a:r>
            <a:endParaRPr lang="en-US" sz="1000" dirty="0"/>
          </a:p>
        </p:txBody>
      </p:sp>
      <p:sp>
        <p:nvSpPr>
          <p:cNvPr id="12" name="Text 9"/>
          <p:cNvSpPr/>
          <p:nvPr/>
        </p:nvSpPr>
        <p:spPr>
          <a:xfrm>
            <a:off x="822960" y="1097280"/>
            <a:ext cx="10515600" cy="45720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THE HUMAN-ONLY LIST</a:t>
            </a:r>
            <a:endParaRPr lang="en-US" sz="1500" dirty="0"/>
          </a:p>
        </p:txBody>
      </p:sp>
      <p:sp>
        <p:nvSpPr>
          <p:cNvPr id="13" name="Text 10"/>
          <p:cNvSpPr/>
          <p:nvPr/>
        </p:nvSpPr>
        <p:spPr>
          <a:xfrm>
            <a:off x="914400" y="1783080"/>
            <a:ext cx="457200" cy="685800"/>
          </a:xfrm>
          <a:prstGeom prst="rect">
            <a:avLst/>
          </a:prstGeom>
          <a:noFill/>
          <a:ln/>
        </p:spPr>
        <p:txBody>
          <a:bodyPr wrap="square" lIns="0" tIns="0" rIns="0" bIns="0" rtlCol="0" anchor="ctr"/>
          <a:lstStyle/>
          <a:p>
            <a:pPr indent="0" marL="0">
              <a:buNone/>
            </a:pPr>
            <a:r>
              <a:rPr lang="en-US" sz="2400" b="1" dirty="0">
                <a:solidFill>
                  <a:srgbClr val="E8837A"/>
                </a:solidFill>
                <a:latin typeface="Inter" pitchFamily="34" charset="0"/>
                <a:ea typeface="Inter" pitchFamily="34" charset="-122"/>
                <a:cs typeface="Inter" pitchFamily="34" charset="-120"/>
              </a:rPr>
              <a:t>✕</a:t>
            </a:r>
            <a:endParaRPr lang="en-US" sz="2400" dirty="0"/>
          </a:p>
        </p:txBody>
      </p:sp>
      <p:sp>
        <p:nvSpPr>
          <p:cNvPr id="14" name="Text 11"/>
          <p:cNvSpPr/>
          <p:nvPr/>
        </p:nvSpPr>
        <p:spPr>
          <a:xfrm>
            <a:off x="1554480" y="1783080"/>
            <a:ext cx="9875520" cy="6858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Anything touching a child's safety</a:t>
            </a:r>
            <a:endParaRPr lang="en-US" sz="2000" dirty="0"/>
          </a:p>
        </p:txBody>
      </p:sp>
      <p:sp>
        <p:nvSpPr>
          <p:cNvPr id="15" name="Text 12"/>
          <p:cNvSpPr/>
          <p:nvPr/>
        </p:nvSpPr>
        <p:spPr>
          <a:xfrm>
            <a:off x="914400" y="2651760"/>
            <a:ext cx="457200" cy="685800"/>
          </a:xfrm>
          <a:prstGeom prst="rect">
            <a:avLst/>
          </a:prstGeom>
          <a:noFill/>
          <a:ln/>
        </p:spPr>
        <p:txBody>
          <a:bodyPr wrap="square" lIns="0" tIns="0" rIns="0" bIns="0" rtlCol="0" anchor="ctr"/>
          <a:lstStyle/>
          <a:p>
            <a:pPr indent="0" marL="0">
              <a:buNone/>
            </a:pPr>
            <a:r>
              <a:rPr lang="en-US" sz="2400" b="1" dirty="0">
                <a:solidFill>
                  <a:srgbClr val="E8837A"/>
                </a:solidFill>
                <a:latin typeface="Inter" pitchFamily="34" charset="0"/>
                <a:ea typeface="Inter" pitchFamily="34" charset="-122"/>
                <a:cs typeface="Inter" pitchFamily="34" charset="-120"/>
              </a:rPr>
              <a:t>✕</a:t>
            </a:r>
            <a:endParaRPr lang="en-US" sz="2400" dirty="0"/>
          </a:p>
        </p:txBody>
      </p:sp>
      <p:sp>
        <p:nvSpPr>
          <p:cNvPr id="16" name="Text 13"/>
          <p:cNvSpPr/>
          <p:nvPr/>
        </p:nvSpPr>
        <p:spPr>
          <a:xfrm>
            <a:off x="1554480" y="2651760"/>
            <a:ext cx="9875520" cy="6858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Serious discipline situations</a:t>
            </a:r>
            <a:endParaRPr lang="en-US" sz="2000" dirty="0"/>
          </a:p>
        </p:txBody>
      </p:sp>
      <p:sp>
        <p:nvSpPr>
          <p:cNvPr id="17" name="Text 14"/>
          <p:cNvSpPr/>
          <p:nvPr/>
        </p:nvSpPr>
        <p:spPr>
          <a:xfrm>
            <a:off x="914400" y="3520440"/>
            <a:ext cx="457200" cy="685800"/>
          </a:xfrm>
          <a:prstGeom prst="rect">
            <a:avLst/>
          </a:prstGeom>
          <a:noFill/>
          <a:ln/>
        </p:spPr>
        <p:txBody>
          <a:bodyPr wrap="square" lIns="0" tIns="0" rIns="0" bIns="0" rtlCol="0" anchor="ctr"/>
          <a:lstStyle/>
          <a:p>
            <a:pPr indent="0" marL="0">
              <a:buNone/>
            </a:pPr>
            <a:r>
              <a:rPr lang="en-US" sz="2400" b="1" dirty="0">
                <a:solidFill>
                  <a:srgbClr val="E8837A"/>
                </a:solidFill>
                <a:latin typeface="Inter" pitchFamily="34" charset="0"/>
                <a:ea typeface="Inter" pitchFamily="34" charset="-122"/>
                <a:cs typeface="Inter" pitchFamily="34" charset="-120"/>
              </a:rPr>
              <a:t>✕</a:t>
            </a:r>
            <a:endParaRPr lang="en-US" sz="2400" dirty="0"/>
          </a:p>
        </p:txBody>
      </p:sp>
      <p:sp>
        <p:nvSpPr>
          <p:cNvPr id="18" name="Text 15"/>
          <p:cNvSpPr/>
          <p:nvPr/>
        </p:nvSpPr>
        <p:spPr>
          <a:xfrm>
            <a:off x="1554480" y="3520440"/>
            <a:ext cx="9875520" cy="6858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A family's grief</a:t>
            </a:r>
            <a:endParaRPr lang="en-US" sz="2000" dirty="0"/>
          </a:p>
        </p:txBody>
      </p:sp>
      <p:sp>
        <p:nvSpPr>
          <p:cNvPr id="19" name="Text 16"/>
          <p:cNvSpPr/>
          <p:nvPr/>
        </p:nvSpPr>
        <p:spPr>
          <a:xfrm>
            <a:off x="914400" y="4389120"/>
            <a:ext cx="457200" cy="685800"/>
          </a:xfrm>
          <a:prstGeom prst="rect">
            <a:avLst/>
          </a:prstGeom>
          <a:noFill/>
          <a:ln/>
        </p:spPr>
        <p:txBody>
          <a:bodyPr wrap="square" lIns="0" tIns="0" rIns="0" bIns="0" rtlCol="0" anchor="ctr"/>
          <a:lstStyle/>
          <a:p>
            <a:pPr indent="0" marL="0">
              <a:buNone/>
            </a:pPr>
            <a:r>
              <a:rPr lang="en-US" sz="2400" b="1" dirty="0">
                <a:solidFill>
                  <a:srgbClr val="E8837A"/>
                </a:solidFill>
                <a:latin typeface="Inter" pitchFamily="34" charset="0"/>
                <a:ea typeface="Inter" pitchFamily="34" charset="-122"/>
                <a:cs typeface="Inter" pitchFamily="34" charset="-120"/>
              </a:rPr>
              <a:t>✕</a:t>
            </a:r>
            <a:endParaRPr lang="en-US" sz="2400" dirty="0"/>
          </a:p>
        </p:txBody>
      </p:sp>
      <p:sp>
        <p:nvSpPr>
          <p:cNvPr id="20" name="Text 17"/>
          <p:cNvSpPr/>
          <p:nvPr/>
        </p:nvSpPr>
        <p:spPr>
          <a:xfrm>
            <a:off x="1554480" y="4389120"/>
            <a:ext cx="9875520" cy="6858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Special-education decisions and eligibility news</a:t>
            </a:r>
            <a:endParaRPr lang="en-US" sz="2000" dirty="0"/>
          </a:p>
        </p:txBody>
      </p:sp>
      <p:sp>
        <p:nvSpPr>
          <p:cNvPr id="21" name="Text 18"/>
          <p:cNvSpPr/>
          <p:nvPr/>
        </p:nvSpPr>
        <p:spPr>
          <a:xfrm>
            <a:off x="822960" y="5394960"/>
            <a:ext cx="10515600" cy="822960"/>
          </a:xfrm>
          <a:prstGeom prst="rect">
            <a:avLst/>
          </a:prstGeom>
          <a:noFill/>
          <a:ln/>
        </p:spPr>
        <p:txBody>
          <a:bodyPr wrap="square" lIns="0" tIns="0" rIns="0" bIns="0" rtlCol="0" anchor="ctr"/>
          <a:lstStyle/>
          <a:p>
            <a:pPr indent="0" marL="0">
              <a:buNone/>
            </a:pPr>
            <a:r>
              <a:rPr lang="en-US" sz="1700" dirty="0">
                <a:solidFill>
                  <a:srgbClr val="C9D4DE"/>
                </a:solidFill>
                <a:latin typeface="Inter" pitchFamily="34" charset="0"/>
                <a:ea typeface="Inter" pitchFamily="34" charset="-122"/>
                <a:cs typeface="Inter" pitchFamily="34" charset="-120"/>
              </a:rPr>
              <a:t>Never delivered by a draft. The technology is a telephone; the script is your own heart, first. If a message would change how a family sees their child, it deserves a human voice.</a:t>
            </a:r>
            <a:endParaRPr lang="en-US" sz="17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trust ledger: every reviewed, personal message is a deposit.</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ACCOUNT THAT MATTERS WHEN SOMETHING GOES WRONG</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this builds: trust</a:t>
            </a:r>
            <a:endParaRPr lang="en-US" sz="3200" dirty="0"/>
          </a:p>
        </p:txBody>
      </p:sp>
      <p:sp>
        <p:nvSpPr>
          <p:cNvPr id="14" name="Shape 11"/>
          <p:cNvSpPr/>
          <p:nvPr/>
        </p:nvSpPr>
        <p:spPr>
          <a:xfrm>
            <a:off x="640080" y="1645920"/>
            <a:ext cx="10972800" cy="3291840"/>
          </a:xfrm>
          <a:prstGeom prst="roundRect">
            <a:avLst>
              <a:gd name="adj" fmla="val 2500"/>
            </a:avLst>
          </a:prstGeom>
          <a:solidFill>
            <a:srgbClr val="F7F5F0"/>
          </a:solidFill>
          <a:ln w="12700">
            <a:solidFill>
              <a:srgbClr val="F7F5F0"/>
            </a:solidFill>
            <a:prstDash val="solid"/>
          </a:ln>
        </p:spPr>
      </p:sp>
      <p:sp>
        <p:nvSpPr>
          <p:cNvPr id="15" name="Text 12"/>
          <p:cNvSpPr/>
          <p:nvPr/>
        </p:nvSpPr>
        <p:spPr>
          <a:xfrm>
            <a:off x="1005840" y="1920240"/>
            <a:ext cx="10241280" cy="2743200"/>
          </a:xfrm>
          <a:prstGeom prst="rect">
            <a:avLst/>
          </a:prstGeom>
          <a:noFill/>
          <a:ln/>
        </p:spPr>
        <p:txBody>
          <a:bodyPr wrap="square" lIns="0" tIns="0" rIns="0" bIns="0" rtlCol="0" anchor="ctr"/>
          <a:lstStyle/>
          <a:p>
            <a:pPr indent="0" marL="0">
              <a:buNone/>
            </a:pPr>
            <a:r>
              <a:rPr lang="en-US" sz="2100" b="1" dirty="0">
                <a:solidFill>
                  <a:srgbClr val="13293D"/>
                </a:solidFill>
                <a:latin typeface="Inter" pitchFamily="34" charset="0"/>
                <a:ea typeface="Inter" pitchFamily="34" charset="-122"/>
                <a:cs typeface="Inter" pitchFamily="34" charset="-120"/>
              </a:rPr>
              <a:t>Every message home is a deposit in, or a withdrawal from, a family's trust.
</a:t>
            </a:r>
            <a:pPr indent="0" marL="0">
              <a:buNone/>
            </a:pPr>
            <a:r>
              <a:rPr lang="en-US" sz="2100" dirty="0">
                <a:solidFill>
                  <a:srgbClr val="1B1F24"/>
                </a:solidFill>
                <a:latin typeface="Inter" pitchFamily="34" charset="0"/>
                <a:ea typeface="Inter" pitchFamily="34" charset="-122"/>
                <a:cs typeface="Inter" pitchFamily="34" charset="-120"/>
              </a:rPr>
              <a:t>Reviewed, personal, on-time messages, written plainly enough for every family to use: deposits. Late, generic, robotic ones: withdrawals. AI just made deposits cheap.</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6 · AI for Communication   |   18</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lab plan: the Friday newsletter, from blank page to scheduled send.</a:t>
            </a:r>
            <a:endParaRPr lang="en-US" sz="1000" dirty="0"/>
          </a:p>
        </p:txBody>
      </p:sp>
      <p:sp>
        <p:nvSpPr>
          <p:cNvPr id="12" name="Text 9"/>
          <p:cNvSpPr/>
          <p:nvPr/>
        </p:nvSpPr>
        <p:spPr>
          <a:xfrm>
            <a:off x="566928" y="182880"/>
            <a:ext cx="7315200" cy="320040"/>
          </a:xfrm>
          <a:prstGeom prst="rect">
            <a:avLst/>
          </a:prstGeom>
          <a:noFill/>
          <a:ln/>
        </p:spPr>
        <p:txBody>
          <a:bodyPr wrap="square" lIns="0" tIns="0" rIns="0" bIns="0" rtlCol="0" anchor="ctr"/>
          <a:lstStyle/>
          <a:p>
            <a:pPr indent="0" marL="0">
              <a:buNone/>
            </a:pPr>
            <a:r>
              <a:rPr lang="en-US" sz="1300" b="1" spc="200" kern="0" dirty="0">
                <a:solidFill>
                  <a:srgbClr val="F4A825"/>
                </a:solidFill>
                <a:latin typeface="Inter" pitchFamily="34" charset="0"/>
                <a:ea typeface="Inter" pitchFamily="34" charset="-122"/>
                <a:cs typeface="Inter" pitchFamily="34" charset="-120"/>
              </a:rPr>
              <a:t>HANDS-ON · ~18 MINUTES + SHARE-OUT</a:t>
            </a:r>
            <a:endParaRPr lang="en-US" sz="1300" dirty="0"/>
          </a:p>
        </p:txBody>
      </p:sp>
      <p:sp>
        <p:nvSpPr>
          <p:cNvPr id="13" name="Text 10"/>
          <p:cNvSpPr/>
          <p:nvPr/>
        </p:nvSpPr>
        <p:spPr>
          <a:xfrm>
            <a:off x="640080" y="1188720"/>
            <a:ext cx="10972800" cy="1097280"/>
          </a:xfrm>
          <a:prstGeom prst="rect">
            <a:avLst/>
          </a:prstGeom>
          <a:noFill/>
          <a:ln/>
        </p:spPr>
        <p:txBody>
          <a:bodyPr wrap="square" lIns="0" tIns="0" rIns="0" bIns="0" rtlCol="0" anchor="ctr"/>
          <a:lstStyle/>
          <a:p>
            <a:pPr indent="0" marL="0">
              <a:buNone/>
            </a:pPr>
            <a:r>
              <a:rPr lang="en-US" sz="4200" b="1" dirty="0">
                <a:solidFill>
                  <a:srgbClr val="FFFFFF"/>
                </a:solidFill>
                <a:latin typeface="Inter" pitchFamily="34" charset="0"/>
                <a:ea typeface="Inter" pitchFamily="34" charset="-122"/>
                <a:cs typeface="Inter" pitchFamily="34" charset="-120"/>
              </a:rPr>
              <a:t>Lab: one message, start to send.</a:t>
            </a:r>
            <a:endParaRPr lang="en-US" sz="4200" dirty="0"/>
          </a:p>
        </p:txBody>
      </p:sp>
      <p:sp>
        <p:nvSpPr>
          <p:cNvPr id="14" name="Text 11"/>
          <p:cNvSpPr/>
          <p:nvPr/>
        </p:nvSpPr>
        <p:spPr>
          <a:xfrm>
            <a:off x="658368" y="2286000"/>
            <a:ext cx="10789920" cy="822960"/>
          </a:xfrm>
          <a:prstGeom prst="rect">
            <a:avLst/>
          </a:prstGeom>
          <a:noFill/>
          <a:ln/>
        </p:spPr>
        <p:txBody>
          <a:bodyPr wrap="square" lIns="0" tIns="0" rIns="0" bIns="0" rtlCol="0" anchor="ctr"/>
          <a:lstStyle/>
          <a:p>
            <a:pPr indent="0" marL="0">
              <a:buNone/>
            </a:pPr>
            <a:r>
              <a:rPr lang="en-US" sz="2000" dirty="0">
                <a:solidFill>
                  <a:srgbClr val="C9D4DE"/>
                </a:solidFill>
                <a:latin typeface="Inter" pitchFamily="34" charset="0"/>
                <a:ea typeface="Inter" pitchFamily="34" charset="-122"/>
                <a:cs typeface="Inter" pitchFamily="34" charset="-120"/>
              </a:rPr>
              <a:t>The one real message you owe families this week, taken from blank page to scheduled send. Ms. Rivera does hers on screen: her Friday newsletter, evolving at every step.</a:t>
            </a:r>
            <a:endParaRPr lang="en-US" sz="2000" dirty="0"/>
          </a:p>
        </p:txBody>
      </p:sp>
      <p:sp>
        <p:nvSpPr>
          <p:cNvPr id="15" name="Shape 12"/>
          <p:cNvSpPr/>
          <p:nvPr/>
        </p:nvSpPr>
        <p:spPr>
          <a:xfrm>
            <a:off x="868680" y="3483864"/>
            <a:ext cx="502920" cy="502920"/>
          </a:xfrm>
          <a:prstGeom prst="ellipse">
            <a:avLst/>
          </a:prstGeom>
          <a:solidFill>
            <a:srgbClr val="2A9D8F"/>
          </a:solidFill>
          <a:ln w="12700">
            <a:solidFill>
              <a:srgbClr val="2A9D8F"/>
            </a:solidFill>
            <a:prstDash val="solid"/>
          </a:ln>
        </p:spPr>
      </p:sp>
      <p:sp>
        <p:nvSpPr>
          <p:cNvPr id="16" name="Text 13"/>
          <p:cNvSpPr/>
          <p:nvPr/>
        </p:nvSpPr>
        <p:spPr>
          <a:xfrm>
            <a:off x="868680" y="348386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1</a:t>
            </a:r>
            <a:endParaRPr lang="en-US" sz="2000" dirty="0"/>
          </a:p>
        </p:txBody>
      </p:sp>
      <p:sp>
        <p:nvSpPr>
          <p:cNvPr id="17" name="Text 14"/>
          <p:cNvSpPr/>
          <p:nvPr/>
        </p:nvSpPr>
        <p:spPr>
          <a:xfrm>
            <a:off x="1600200" y="3429000"/>
            <a:ext cx="9875520" cy="640080"/>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No student information, no family names: situations, never people</a:t>
            </a:r>
            <a:endParaRPr lang="en-US" sz="2100" dirty="0"/>
          </a:p>
        </p:txBody>
      </p:sp>
      <p:sp>
        <p:nvSpPr>
          <p:cNvPr id="18" name="Shape 15"/>
          <p:cNvSpPr/>
          <p:nvPr/>
        </p:nvSpPr>
        <p:spPr>
          <a:xfrm>
            <a:off x="868680" y="4306824"/>
            <a:ext cx="502920" cy="502920"/>
          </a:xfrm>
          <a:prstGeom prst="ellipse">
            <a:avLst/>
          </a:prstGeom>
          <a:solidFill>
            <a:srgbClr val="2A9D8F"/>
          </a:solidFill>
          <a:ln w="12700">
            <a:solidFill>
              <a:srgbClr val="2A9D8F"/>
            </a:solidFill>
            <a:prstDash val="solid"/>
          </a:ln>
        </p:spPr>
      </p:sp>
      <p:sp>
        <p:nvSpPr>
          <p:cNvPr id="19" name="Text 16"/>
          <p:cNvSpPr/>
          <p:nvPr/>
        </p:nvSpPr>
        <p:spPr>
          <a:xfrm>
            <a:off x="868680" y="430682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2</a:t>
            </a:r>
            <a:endParaRPr lang="en-US" sz="2000" dirty="0"/>
          </a:p>
        </p:txBody>
      </p:sp>
      <p:sp>
        <p:nvSpPr>
          <p:cNvPr id="20" name="Text 17"/>
          <p:cNvSpPr/>
          <p:nvPr/>
        </p:nvSpPr>
        <p:spPr>
          <a:xfrm>
            <a:off x="1600200" y="4251960"/>
            <a:ext cx="9875520" cy="640080"/>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Pairs: every message gets a second set of ears before it's done</a:t>
            </a:r>
            <a:endParaRPr lang="en-US" sz="2100" dirty="0"/>
          </a:p>
        </p:txBody>
      </p:sp>
      <p:sp>
        <p:nvSpPr>
          <p:cNvPr id="21" name="Shape 18"/>
          <p:cNvSpPr/>
          <p:nvPr/>
        </p:nvSpPr>
        <p:spPr>
          <a:xfrm>
            <a:off x="868680" y="5129784"/>
            <a:ext cx="502920" cy="502920"/>
          </a:xfrm>
          <a:prstGeom prst="ellipse">
            <a:avLst/>
          </a:prstGeom>
          <a:solidFill>
            <a:srgbClr val="2A9D8F"/>
          </a:solidFill>
          <a:ln w="12700">
            <a:solidFill>
              <a:srgbClr val="2A9D8F"/>
            </a:solidFill>
            <a:prstDash val="solid"/>
          </a:ln>
        </p:spPr>
      </p:sp>
      <p:sp>
        <p:nvSpPr>
          <p:cNvPr id="22" name="Text 19"/>
          <p:cNvSpPr/>
          <p:nvPr/>
        </p:nvSpPr>
        <p:spPr>
          <a:xfrm>
            <a:off x="868680" y="5129784"/>
            <a:ext cx="502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Inter" pitchFamily="34" charset="0"/>
                <a:ea typeface="Inter" pitchFamily="34" charset="-122"/>
                <a:cs typeface="Inter" pitchFamily="34" charset="-120"/>
              </a:rPr>
              <a:t>3</a:t>
            </a:r>
            <a:endParaRPr lang="en-US" sz="2000" dirty="0"/>
          </a:p>
        </p:txBody>
      </p:sp>
      <p:sp>
        <p:nvSpPr>
          <p:cNvPr id="23" name="Text 20"/>
          <p:cNvSpPr/>
          <p:nvPr/>
        </p:nvSpPr>
        <p:spPr>
          <a:xfrm>
            <a:off x="1600200" y="5074920"/>
            <a:ext cx="9875520" cy="640080"/>
          </a:xfrm>
          <a:prstGeom prst="rect">
            <a:avLst/>
          </a:prstGeom>
          <a:noFill/>
          <a:ln/>
        </p:spPr>
        <p:txBody>
          <a:bodyPr wrap="square" lIns="0" tIns="0" rIns="0" bIns="0" rtlCol="0" anchor="ctr"/>
          <a:lstStyle/>
          <a:p>
            <a:pPr indent="0" marL="0">
              <a:buNone/>
            </a:pPr>
            <a:r>
              <a:rPr lang="en-US" sz="2100" dirty="0">
                <a:solidFill>
                  <a:srgbClr val="FFFFFF"/>
                </a:solidFill>
                <a:latin typeface="Inter" pitchFamily="34" charset="0"/>
                <a:ea typeface="Inter" pitchFamily="34" charset="-122"/>
                <a:cs typeface="Inter" pitchFamily="34" charset="-120"/>
              </a:rPr>
              <a:t>One deliverable: a message that actually sends this week</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19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raw material: five fragments on a sticky note, and twenty minutes.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1 OF 4 · 6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Draft the real message</a:t>
            </a:r>
            <a:endParaRPr lang="en-US" sz="3200" dirty="0"/>
          </a:p>
        </p:txBody>
      </p:sp>
      <p:sp>
        <p:nvSpPr>
          <p:cNvPr id="14" name="Text 11"/>
          <p:cNvSpPr/>
          <p:nvPr/>
        </p:nvSpPr>
        <p:spPr>
          <a:xfrm>
            <a:off x="640080" y="1417320"/>
            <a:ext cx="411480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The message you actually owe families: newsletter, unit update, event reminder</a:t>
            </a:r>
            <a:endParaRPr lang="en-US" sz="1700" dirty="0"/>
          </a:p>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All four parts; be generous with context: what happened, what's coming, what to do and by when</a:t>
            </a:r>
            <a:endParaRPr lang="en-US" sz="1700" dirty="0"/>
          </a:p>
          <a:p>
            <a:pPr marL="342900" indent="-342900">
              <a:buSzPct val="100000"/>
              <a:buChar char="•"/>
            </a:pPr>
            <a:r>
              <a:rPr lang="en-US" sz="1700" b="1" dirty="0">
                <a:solidFill>
                  <a:srgbClr val="1B1F24"/>
                </a:solidFill>
                <a:latin typeface="Inter" pitchFamily="34" charset="0"/>
                <a:ea typeface="Inter" pitchFamily="34" charset="-122"/>
                <a:cs typeface="Inter" pitchFamily="34" charset="-120"/>
              </a:rPr>
              <a:t>A beige first draft is normal. The next three steps make it yours.</a:t>
            </a:r>
            <a:endParaRPr lang="en-US" sz="1700" dirty="0"/>
          </a:p>
        </p:txBody>
      </p:sp>
      <p:sp>
        <p:nvSpPr>
          <p:cNvPr id="15" name="Shape 12"/>
          <p:cNvSpPr/>
          <p:nvPr/>
        </p:nvSpPr>
        <p:spPr>
          <a:xfrm>
            <a:off x="4983480" y="1417320"/>
            <a:ext cx="6629400" cy="4434840"/>
          </a:xfrm>
          <a:prstGeom prst="roundRect">
            <a:avLst>
              <a:gd name="adj" fmla="val 1856"/>
            </a:avLst>
          </a:prstGeom>
          <a:solidFill>
            <a:srgbClr val="EAF5F3"/>
          </a:solidFill>
          <a:ln w="12700">
            <a:solidFill>
              <a:srgbClr val="EAF5F3"/>
            </a:solidFill>
            <a:prstDash val="solid"/>
          </a:ln>
        </p:spPr>
      </p:sp>
      <p:sp>
        <p:nvSpPr>
          <p:cNvPr id="16" name="Text 13"/>
          <p:cNvSpPr/>
          <p:nvPr/>
        </p:nvSpPr>
        <p:spPr>
          <a:xfrm>
            <a:off x="5303520" y="1627632"/>
            <a:ext cx="6035040" cy="292608"/>
          </a:xfrm>
          <a:prstGeom prst="rect">
            <a:avLst/>
          </a:prstGeom>
          <a:noFill/>
          <a:ln/>
        </p:spPr>
        <p:txBody>
          <a:bodyPr wrap="square" lIns="0" tIns="0" rIns="0" bIns="0" rtlCol="0" anchor="ctr"/>
          <a:lstStyle/>
          <a:p>
            <a:pPr indent="0" marL="0">
              <a:buNone/>
            </a:pPr>
            <a:r>
              <a:rPr lang="en-US" sz="1250" b="1" spc="150" kern="0" dirty="0">
                <a:solidFill>
                  <a:srgbClr val="2A9D8F"/>
                </a:solidFill>
                <a:latin typeface="Inter" pitchFamily="34" charset="0"/>
                <a:ea typeface="Inter" pitchFamily="34" charset="-122"/>
                <a:cs typeface="Inter" pitchFamily="34" charset="-120"/>
              </a:rPr>
              <a:t>MS. RIVERA'S NEWSLETTER · STEP 1</a:t>
            </a:r>
            <a:endParaRPr lang="en-US" sz="1250" dirty="0"/>
          </a:p>
        </p:txBody>
      </p:sp>
      <p:sp>
        <p:nvSpPr>
          <p:cNvPr id="17" name="Text 14"/>
          <p:cNvSpPr/>
          <p:nvPr/>
        </p:nvSpPr>
        <p:spPr>
          <a:xfrm>
            <a:off x="5303520" y="2029968"/>
            <a:ext cx="5989320" cy="3657600"/>
          </a:xfrm>
          <a:prstGeom prst="rect">
            <a:avLst/>
          </a:prstGeom>
          <a:noFill/>
          <a:ln/>
        </p:spPr>
        <p:txBody>
          <a:bodyPr wrap="square" lIns="0" tIns="0" rIns="0" bIns="0" rtlCol="0" anchor="t"/>
          <a:lstStyle/>
          <a:p>
            <a:pPr indent="0" marL="0">
              <a:lnSpc>
                <a:spcPct val="118000"/>
              </a:lnSpc>
              <a:buNone/>
            </a:pPr>
            <a:r>
              <a:rPr lang="en-US" sz="1550" b="1" dirty="0">
                <a:solidFill>
                  <a:srgbClr val="13293D"/>
                </a:solidFill>
                <a:latin typeface="Inter" pitchFamily="34" charset="0"/>
                <a:ea typeface="Inter" pitchFamily="34" charset="-122"/>
                <a:cs typeface="Inter" pitchFamily="34" charset="-120"/>
              </a:rPr>
              <a:t>Her pick: </a:t>
            </a:r>
            <a:pPr indent="0" marL="0">
              <a:lnSpc>
                <a:spcPct val="118000"/>
              </a:lnSpc>
              <a:buNone/>
            </a:pPr>
            <a:r>
              <a:rPr lang="en-US" sz="1550" dirty="0">
                <a:solidFill>
                  <a:srgbClr val="1B1F24"/>
                </a:solidFill>
                <a:latin typeface="Inter" pitchFamily="34" charset="0"/>
                <a:ea typeface="Inter" pitchFamily="34" charset="-122"/>
                <a:cs typeface="Inter" pitchFamily="34" charset="-120"/>
              </a:rPr>
              <a:t>the Friday family newsletter, the one real message she owes families this week.
</a:t>
            </a:r>
            <a:pPr indent="0" marL="0">
              <a:lnSpc>
                <a:spcPct val="118000"/>
              </a:lnSpc>
              <a:buNone/>
            </a:pPr>
            <a:r>
              <a:rPr lang="en-US" sz="1550" b="1" dirty="0">
                <a:solidFill>
                  <a:srgbClr val="13293D"/>
                </a:solidFill>
                <a:latin typeface="Inter" pitchFamily="34" charset="0"/>
                <a:ea typeface="Inter" pitchFamily="34" charset="-122"/>
                <a:cs typeface="Inter" pitchFamily="34" charset="-120"/>
              </a:rPr>
              <a:t>What she is holding: </a:t>
            </a:r>
            <a:pPr indent="0" marL="0">
              <a:lnSpc>
                <a:spcPct val="118000"/>
              </a:lnSpc>
              <a:buNone/>
            </a:pPr>
            <a:r>
              <a:rPr lang="en-US" sz="1550" dirty="0">
                <a:solidFill>
                  <a:srgbClr val="1B1F24"/>
                </a:solidFill>
                <a:latin typeface="Inter" pitchFamily="34" charset="0"/>
                <a:ea typeface="Inter" pitchFamily="34" charset="-122"/>
                <a:cs typeface="Inter" pitchFamily="34" charset="-120"/>
              </a:rPr>
              <a:t>five fragments on a sticky note. No sentences, no draft, twenty minutes before the buses.
</a:t>
            </a:r>
            <a:pPr indent="0" marL="0">
              <a:lnSpc>
                <a:spcPct val="118000"/>
              </a:lnSpc>
              <a:buNone/>
            </a:pPr>
            <a:r>
              <a:rPr lang="en-US" sz="1550" b="1" dirty="0">
                <a:solidFill>
                  <a:srgbClr val="13293D"/>
                </a:solidFill>
                <a:latin typeface="Inter" pitchFamily="34" charset="0"/>
                <a:ea typeface="Inter" pitchFamily="34" charset="-122"/>
                <a:cs typeface="Inter" pitchFamily="34" charset="-120"/>
              </a:rPr>
              <a:t>What she does: </a:t>
            </a:r>
            <a:pPr indent="0" marL="0">
              <a:lnSpc>
                <a:spcPct val="118000"/>
              </a:lnSpc>
              <a:buNone/>
            </a:pPr>
            <a:r>
              <a:rPr lang="en-US" sz="1550" dirty="0">
                <a:solidFill>
                  <a:srgbClr val="1B1F24"/>
                </a:solidFill>
                <a:latin typeface="Inter" pitchFamily="34" charset="0"/>
                <a:ea typeface="Inter" pitchFamily="34" charset="-122"/>
                <a:cs typeface="Inter" pitchFamily="34" charset="-120"/>
              </a:rPr>
              <a:t>types the four-part prompt with those notes pasted in, and reads what comes back like an editor.
</a:t>
            </a:r>
            <a:pPr indent="0" marL="0">
              <a:lnSpc>
                <a:spcPct val="118000"/>
              </a:lnSpc>
              <a:buNone/>
            </a:pPr>
            <a:r>
              <a:rPr lang="en-US" sz="1550" i="1" dirty="0">
                <a:solidFill>
                  <a:srgbClr val="5B6B7A"/>
                </a:solidFill>
                <a:latin typeface="Inter" pitchFamily="34" charset="0"/>
                <a:ea typeface="Inter" pitchFamily="34" charset="-122"/>
                <a:cs typeface="Inter" pitchFamily="34" charset="-120"/>
              </a:rPr>
              <a:t>"The note is on the next slide. The prompt I type is the one after that."</a:t>
            </a:r>
            <a:endParaRPr lang="en-US" sz="15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starting point, in full: the Friday notes she has to turn into a newsletter.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1 · MS. RIVERA'S STARTING POINT</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she starts from</a:t>
            </a:r>
            <a:endParaRPr lang="en-US" sz="3200" dirty="0"/>
          </a:p>
        </p:txBody>
      </p:sp>
      <p:sp>
        <p:nvSpPr>
          <p:cNvPr id="14" name="Shape 11"/>
          <p:cNvSpPr/>
          <p:nvPr/>
        </p:nvSpPr>
        <p:spPr>
          <a:xfrm>
            <a:off x="640080" y="1225296"/>
            <a:ext cx="10972800" cy="3931920"/>
          </a:xfrm>
          <a:prstGeom prst="roundRect">
            <a:avLst>
              <a:gd name="adj" fmla="val 2093"/>
            </a:avLst>
          </a:prstGeom>
          <a:solidFill>
            <a:srgbClr val="F7F5F0"/>
          </a:solidFill>
          <a:ln w="12700">
            <a:solidFill>
              <a:srgbClr val="F7F5F0"/>
            </a:solidFill>
            <a:prstDash val="solid"/>
          </a:ln>
        </p:spPr>
      </p:sp>
      <p:sp>
        <p:nvSpPr>
          <p:cNvPr id="15" name="Shape 12"/>
          <p:cNvSpPr/>
          <p:nvPr/>
        </p:nvSpPr>
        <p:spPr>
          <a:xfrm>
            <a:off x="640080" y="1225296"/>
            <a:ext cx="109728" cy="3931920"/>
          </a:xfrm>
          <a:prstGeom prst="roundRect">
            <a:avLst>
              <a:gd name="adj" fmla="val 41667"/>
            </a:avLst>
          </a:prstGeom>
          <a:solidFill>
            <a:srgbClr val="2A9D8F"/>
          </a:solidFill>
          <a:ln w="12700">
            <a:solidFill>
              <a:srgbClr val="2A9D8F"/>
            </a:solidFill>
            <a:prstDash val="solid"/>
          </a:ln>
        </p:spPr>
      </p:sp>
      <p:sp>
        <p:nvSpPr>
          <p:cNvPr id="16" name="Text 13"/>
          <p:cNvSpPr/>
          <p:nvPr/>
        </p:nvSpPr>
        <p:spPr>
          <a:xfrm>
            <a:off x="1005840" y="1371600"/>
            <a:ext cx="10241280" cy="274320"/>
          </a:xfrm>
          <a:prstGeom prst="rect">
            <a:avLst/>
          </a:prstGeom>
          <a:noFill/>
          <a:ln/>
        </p:spPr>
        <p:txBody>
          <a:bodyPr wrap="square" lIns="0" tIns="0" rIns="0" bIns="0" rtlCol="0" anchor="ctr"/>
          <a:lstStyle/>
          <a:p>
            <a:pPr indent="0" marL="0">
              <a:buNone/>
            </a:pPr>
            <a:r>
              <a:rPr lang="en-US" sz="1200" b="1" spc="150" kern="0" dirty="0">
                <a:solidFill>
                  <a:srgbClr val="2A9D8F"/>
                </a:solidFill>
                <a:latin typeface="Inter" pitchFamily="34" charset="0"/>
                <a:ea typeface="Inter" pitchFamily="34" charset="-122"/>
                <a:cs typeface="Inter" pitchFamily="34" charset="-120"/>
              </a:rPr>
              <a:t>MS. RIVERA'S RAW MATERIAL · FRIDAY, 2:40 P.M. · BEFORE ANY DRAFT EXISTS</a:t>
            </a:r>
            <a:endParaRPr lang="en-US" sz="1200" dirty="0"/>
          </a:p>
        </p:txBody>
      </p:sp>
      <p:sp>
        <p:nvSpPr>
          <p:cNvPr id="17" name="Text 14"/>
          <p:cNvSpPr/>
          <p:nvPr/>
        </p:nvSpPr>
        <p:spPr>
          <a:xfrm>
            <a:off x="1005840" y="1691640"/>
            <a:ext cx="10241280" cy="457200"/>
          </a:xfrm>
          <a:prstGeom prst="rect">
            <a:avLst/>
          </a:prstGeom>
          <a:noFill/>
          <a:ln/>
        </p:spPr>
        <p:txBody>
          <a:bodyPr wrap="square" lIns="0" tIns="0" rIns="0" bIns="0" rtlCol="0" anchor="ctr"/>
          <a:lstStyle/>
          <a:p>
            <a:pPr indent="0" marL="0">
              <a:buNone/>
            </a:pPr>
            <a:r>
              <a:rPr lang="en-US" sz="2600" b="1" dirty="0">
                <a:solidFill>
                  <a:srgbClr val="13293D"/>
                </a:solidFill>
                <a:latin typeface="Inter" pitchFamily="34" charset="0"/>
                <a:ea typeface="Inter" pitchFamily="34" charset="-122"/>
                <a:cs typeface="Inter" pitchFamily="34" charset="-120"/>
              </a:rPr>
              <a:t>The sticky note on her monitor</a:t>
            </a:r>
            <a:endParaRPr lang="en-US" sz="2600" dirty="0"/>
          </a:p>
        </p:txBody>
      </p:sp>
      <p:sp>
        <p:nvSpPr>
          <p:cNvPr id="18" name="Shape 15"/>
          <p:cNvSpPr/>
          <p:nvPr/>
        </p:nvSpPr>
        <p:spPr>
          <a:xfrm>
            <a:off x="1005840" y="2240280"/>
            <a:ext cx="6675120" cy="2606040"/>
          </a:xfrm>
          <a:prstGeom prst="roundRect">
            <a:avLst>
              <a:gd name="adj" fmla="val 3158"/>
            </a:avLst>
          </a:prstGeom>
          <a:solidFill>
            <a:srgbClr val="FFFFFF"/>
          </a:solidFill>
          <a:ln w="12700">
            <a:solidFill>
              <a:srgbClr val="FFFFFF"/>
            </a:solidFill>
            <a:prstDash val="solid"/>
          </a:ln>
        </p:spPr>
      </p:sp>
      <p:sp>
        <p:nvSpPr>
          <p:cNvPr id="19" name="Text 16"/>
          <p:cNvSpPr/>
          <p:nvPr/>
        </p:nvSpPr>
        <p:spPr>
          <a:xfrm>
            <a:off x="1280160" y="2377440"/>
            <a:ext cx="6172200" cy="2331720"/>
          </a:xfrm>
          <a:prstGeom prst="rect">
            <a:avLst/>
          </a:prstGeom>
          <a:noFill/>
          <a:ln/>
        </p:spPr>
        <p:txBody>
          <a:bodyPr wrap="square" lIns="0" tIns="0" rIns="0" bIns="0" rtlCol="0" anchor="t"/>
          <a:lstStyle/>
          <a:p>
            <a:pPr indent="0" marL="0">
              <a:lnSpc>
                <a:spcPct val="145000"/>
              </a:lnSpc>
              <a:buNone/>
            </a:pPr>
            <a:r>
              <a:rPr lang="en-US" sz="1700" i="1" dirty="0">
                <a:solidFill>
                  <a:srgbClr val="1B1F24"/>
                </a:solidFill>
                <a:latin typeface="Inter" pitchFamily="34" charset="0"/>
                <a:ea typeface="Inter" pitchFamily="34" charset="-122"/>
                <a:cs typeface="Inter" pitchFamily="34" charset="-120"/>
              </a:rPr>
              <a:t>fractions unit done · they finally got equivalent fractions
</a:t>
            </a:r>
            <a:pPr indent="0" marL="0">
              <a:lnSpc>
                <a:spcPct val="145000"/>
              </a:lnSpc>
              <a:buNone/>
            </a:pPr>
            <a:r>
              <a:rPr lang="en-US" sz="1700" i="1" dirty="0">
                <a:solidFill>
                  <a:srgbClr val="1B1F24"/>
                </a:solidFill>
                <a:latin typeface="Inter" pitchFamily="34" charset="0"/>
                <a:ea typeface="Inter" pitchFamily="34" charset="-122"/>
                <a:cs typeface="Inter" pitchFamily="34" charset="-120"/>
              </a:rPr>
              <a:t>sci fair THURS 6:00 gym · tell them to come
</a:t>
            </a:r>
            <a:pPr indent="0" marL="0">
              <a:lnSpc>
                <a:spcPct val="145000"/>
              </a:lnSpc>
              <a:buNone/>
            </a:pPr>
            <a:r>
              <a:rPr lang="en-US" sz="1700" i="1" dirty="0">
                <a:solidFill>
                  <a:srgbClr val="1B1F24"/>
                </a:solidFill>
                <a:latin typeface="Inter" pitchFamily="34" charset="0"/>
                <a:ea typeface="Inter" pitchFamily="34" charset="-122"/>
                <a:cs typeface="Inter" pitchFamily="34" charset="-120"/>
              </a:rPr>
              <a:t>picture day Fri
</a:t>
            </a:r>
            <a:pPr indent="0" marL="0">
              <a:lnSpc>
                <a:spcPct val="145000"/>
              </a:lnSpc>
              <a:buNone/>
            </a:pPr>
            <a:r>
              <a:rPr lang="en-US" sz="1700" i="1" dirty="0">
                <a:solidFill>
                  <a:srgbClr val="1B1F24"/>
                </a:solidFill>
                <a:latin typeface="Inter" pitchFamily="34" charset="0"/>
                <a:ea typeface="Inter" pitchFamily="34" charset="-122"/>
                <a:cs typeface="Inter" pitchFamily="34" charset="-120"/>
              </a:rPr>
              <a:t>blue slips !! still missing a bunch · due Weds
</a:t>
            </a:r>
            <a:pPr indent="0" marL="0">
              <a:lnSpc>
                <a:spcPct val="145000"/>
              </a:lnSpc>
              <a:buNone/>
            </a:pPr>
            <a:r>
              <a:rPr lang="en-US" sz="1700" i="1" dirty="0">
                <a:solidFill>
                  <a:srgbClr val="1B1F24"/>
                </a:solidFill>
                <a:latin typeface="Inter" pitchFamily="34" charset="0"/>
                <a:ea typeface="Inter" pitchFamily="34" charset="-122"/>
                <a:cs typeface="Inter" pitchFamily="34" charset="-120"/>
              </a:rPr>
              <a:t>say something nice, they worked hard</a:t>
            </a:r>
            <a:endParaRPr lang="en-US" sz="1700" dirty="0"/>
          </a:p>
        </p:txBody>
      </p:sp>
      <p:sp>
        <p:nvSpPr>
          <p:cNvPr id="20" name="Text 17"/>
          <p:cNvSpPr/>
          <p:nvPr/>
        </p:nvSpPr>
        <p:spPr>
          <a:xfrm>
            <a:off x="8001000" y="2377440"/>
            <a:ext cx="3200400" cy="256032"/>
          </a:xfrm>
          <a:prstGeom prst="rect">
            <a:avLst/>
          </a:prstGeom>
          <a:noFill/>
          <a:ln/>
        </p:spPr>
        <p:txBody>
          <a:bodyPr wrap="square" lIns="0" tIns="0" rIns="0" bIns="0" rtlCol="0" anchor="ctr"/>
          <a:lstStyle/>
          <a:p>
            <a:pPr indent="0" marL="0">
              <a:buNone/>
            </a:pPr>
            <a:r>
              <a:rPr lang="en-US" sz="1100" b="1" spc="120" kern="0" dirty="0">
                <a:solidFill>
                  <a:srgbClr val="5B6B7A"/>
                </a:solidFill>
                <a:latin typeface="Inter" pitchFamily="34" charset="0"/>
                <a:ea typeface="Inter" pitchFamily="34" charset="-122"/>
                <a:cs typeface="Inter" pitchFamily="34" charset="-120"/>
              </a:rPr>
              <a:t>THE SITUATION</a:t>
            </a:r>
            <a:endParaRPr lang="en-US" sz="1100" dirty="0"/>
          </a:p>
        </p:txBody>
      </p:sp>
      <p:sp>
        <p:nvSpPr>
          <p:cNvPr id="21" name="Text 18"/>
          <p:cNvSpPr/>
          <p:nvPr/>
        </p:nvSpPr>
        <p:spPr>
          <a:xfrm>
            <a:off x="8001000" y="2697480"/>
            <a:ext cx="3200400" cy="2148840"/>
          </a:xfrm>
          <a:prstGeom prst="rect">
            <a:avLst/>
          </a:prstGeom>
          <a:noFill/>
          <a:ln/>
        </p:spPr>
        <p:txBody>
          <a:bodyPr wrap="square" lIns="0" tIns="0" rIns="0" bIns="0" rtlCol="0" anchor="t"/>
          <a:lstStyle/>
          <a:p>
            <a:pPr indent="0" marL="0">
              <a:lnSpc>
                <a:spcPct val="115000"/>
              </a:lnSpc>
              <a:buNone/>
            </a:pPr>
            <a:r>
              <a:rPr lang="en-US" sz="1450" dirty="0">
                <a:solidFill>
                  <a:srgbClr val="1B1F24"/>
                </a:solidFill>
                <a:latin typeface="Inter" pitchFamily="34" charset="0"/>
                <a:ea typeface="Inter" pitchFamily="34" charset="-122"/>
                <a:cs typeface="Inter" pitchFamily="34" charset="-120"/>
              </a:rPr>
              <a:t>Friday, 2:40 p.m. Buses in twenty minutes. The newsletter goes out at 3:00 and not one word of it is written.</a:t>
            </a:r>
            <a:endParaRPr lang="en-US" sz="1450" dirty="0"/>
          </a:p>
          <a:p>
            <a:pPr indent="0" marL="0">
              <a:lnSpc>
                <a:spcPct val="115000"/>
              </a:lnSpc>
              <a:buNone/>
            </a:pPr>
            <a:endParaRPr lang="en-US" sz="1450" dirty="0"/>
          </a:p>
          <a:p>
            <a:pPr indent="0" marL="0">
              <a:lnSpc>
                <a:spcPct val="115000"/>
              </a:lnSpc>
              <a:buNone/>
            </a:pPr>
            <a:r>
              <a:rPr lang="en-US" sz="1450" dirty="0">
                <a:solidFill>
                  <a:srgbClr val="1B1F24"/>
                </a:solidFill>
                <a:latin typeface="Inter" pitchFamily="34" charset="0"/>
                <a:ea typeface="Inter" pitchFamily="34" charset="-122"/>
                <a:cs typeface="Inter" pitchFamily="34" charset="-120"/>
              </a:rPr>
              <a:t>No greeting, no order, no sentences. This is what the blank page actually looks like on a Friday afternoon.</a:t>
            </a:r>
            <a:endParaRPr lang="en-US" sz="1450" dirty="0"/>
          </a:p>
        </p:txBody>
      </p:sp>
      <p:sp>
        <p:nvSpPr>
          <p:cNvPr id="22" name="Text 19"/>
          <p:cNvSpPr/>
          <p:nvPr/>
        </p:nvSpPr>
        <p:spPr>
          <a:xfrm>
            <a:off x="640080" y="5349240"/>
            <a:ext cx="10972800" cy="50292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Every fact in the finished message comes from this note. The tool supplies the shape; it never supplies the facts.</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21</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1 · THE PROMPT SHE TYPES INTO THE CHAT</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she actually typed</a:t>
            </a:r>
            <a:endParaRPr lang="en-US" sz="3200" dirty="0"/>
          </a:p>
        </p:txBody>
      </p:sp>
      <p:sp>
        <p:nvSpPr>
          <p:cNvPr id="7" name="Text 4"/>
          <p:cNvSpPr/>
          <p:nvPr/>
        </p:nvSpPr>
        <p:spPr>
          <a:xfrm>
            <a:off x="640080" y="1298448"/>
            <a:ext cx="10972800" cy="365760"/>
          </a:xfrm>
          <a:prstGeom prst="rect">
            <a:avLst/>
          </a:prstGeom>
          <a:noFill/>
          <a:ln/>
        </p:spPr>
        <p:txBody>
          <a:bodyPr wrap="square" lIns="0" tIns="0" rIns="0" bIns="0" rtlCol="0" anchor="ctr"/>
          <a:lstStyle/>
          <a:p>
            <a:pPr indent="0" marL="0">
              <a:buNone/>
            </a:pPr>
            <a:r>
              <a:rPr lang="en-US" sz="1600" b="1" dirty="0">
                <a:solidFill>
                  <a:srgbClr val="B4453A"/>
                </a:solidFill>
                <a:latin typeface="Inter" pitchFamily="34" charset="0"/>
                <a:ea typeface="Inter" pitchFamily="34" charset="-122"/>
                <a:cs typeface="Inter" pitchFamily="34" charset="-120"/>
              </a:rPr>
              <a:t>BEFORE   </a:t>
            </a:r>
            <a:pPr indent="0" marL="0">
              <a:buNone/>
            </a:pPr>
            <a:r>
              <a:rPr lang="en-US" sz="1600" i="1" dirty="0">
                <a:solidFill>
                  <a:srgbClr val="5B6B7A"/>
                </a:solidFill>
                <a:latin typeface="Inter" pitchFamily="34" charset="0"/>
                <a:ea typeface="Inter" pitchFamily="34" charset="-122"/>
                <a:cs typeface="Inter" pitchFamily="34" charset="-120"/>
              </a:rPr>
              <a:t>"Write my Friday newsletter."</a:t>
            </a:r>
            <a:endParaRPr lang="en-US" sz="1600" dirty="0"/>
          </a:p>
        </p:txBody>
      </p:sp>
      <p:sp>
        <p:nvSpPr>
          <p:cNvPr id="8" name="Shape 5"/>
          <p:cNvSpPr/>
          <p:nvPr/>
        </p:nvSpPr>
        <p:spPr>
          <a:xfrm>
            <a:off x="640080" y="1783080"/>
            <a:ext cx="10972800" cy="3520440"/>
          </a:xfrm>
          <a:prstGeom prst="roundRect">
            <a:avLst>
              <a:gd name="adj" fmla="val 2597"/>
            </a:avLst>
          </a:prstGeom>
          <a:solidFill>
            <a:srgbClr val="FFFFFF"/>
          </a:solidFill>
          <a:ln w="19050">
            <a:solidFill>
              <a:srgbClr val="DCE3EA"/>
            </a:solidFill>
            <a:prstDash val="solid"/>
          </a:ln>
        </p:spPr>
      </p:sp>
      <p:sp>
        <p:nvSpPr>
          <p:cNvPr id="9" name="Shape 6"/>
          <p:cNvSpPr/>
          <p:nvPr/>
        </p:nvSpPr>
        <p:spPr>
          <a:xfrm>
            <a:off x="640080" y="1783080"/>
            <a:ext cx="10972800" cy="384048"/>
          </a:xfrm>
          <a:prstGeom prst="roundRect">
            <a:avLst>
              <a:gd name="adj" fmla="val 23810"/>
            </a:avLst>
          </a:prstGeom>
          <a:solidFill>
            <a:srgbClr val="13293D"/>
          </a:solidFill>
          <a:ln w="12700">
            <a:solidFill>
              <a:srgbClr val="13293D"/>
            </a:solidFill>
            <a:prstDash val="solid"/>
          </a:ln>
        </p:spPr>
      </p:sp>
      <p:sp>
        <p:nvSpPr>
          <p:cNvPr id="10" name="Shape 7"/>
          <p:cNvSpPr/>
          <p:nvPr/>
        </p:nvSpPr>
        <p:spPr>
          <a:xfrm>
            <a:off x="868680" y="1901952"/>
            <a:ext cx="146304" cy="146304"/>
          </a:xfrm>
          <a:prstGeom prst="ellipse">
            <a:avLst/>
          </a:prstGeom>
          <a:solidFill>
            <a:srgbClr val="E8837A"/>
          </a:solidFill>
          <a:ln w="12700">
            <a:solidFill>
              <a:srgbClr val="E8837A"/>
            </a:solidFill>
            <a:prstDash val="solid"/>
          </a:ln>
        </p:spPr>
      </p:sp>
      <p:sp>
        <p:nvSpPr>
          <p:cNvPr id="11" name="Shape 8"/>
          <p:cNvSpPr/>
          <p:nvPr/>
        </p:nvSpPr>
        <p:spPr>
          <a:xfrm>
            <a:off x="1115568" y="1901952"/>
            <a:ext cx="146304" cy="146304"/>
          </a:xfrm>
          <a:prstGeom prst="ellipse">
            <a:avLst/>
          </a:prstGeom>
          <a:solidFill>
            <a:srgbClr val="F4A825"/>
          </a:solidFill>
          <a:ln w="12700">
            <a:solidFill>
              <a:srgbClr val="F4A825"/>
            </a:solidFill>
            <a:prstDash val="solid"/>
          </a:ln>
        </p:spPr>
      </p:sp>
      <p:sp>
        <p:nvSpPr>
          <p:cNvPr id="12" name="Shape 9"/>
          <p:cNvSpPr/>
          <p:nvPr/>
        </p:nvSpPr>
        <p:spPr>
          <a:xfrm>
            <a:off x="1362456" y="1901952"/>
            <a:ext cx="146304" cy="146304"/>
          </a:xfrm>
          <a:prstGeom prst="ellipse">
            <a:avLst/>
          </a:prstGeom>
          <a:solidFill>
            <a:srgbClr val="2E7D5B"/>
          </a:solidFill>
          <a:ln w="12700">
            <a:solidFill>
              <a:srgbClr val="2E7D5B"/>
            </a:solidFill>
            <a:prstDash val="solid"/>
          </a:ln>
        </p:spPr>
      </p:sp>
      <p:sp>
        <p:nvSpPr>
          <p:cNvPr id="13" name="Text 10"/>
          <p:cNvSpPr/>
          <p:nvPr/>
        </p:nvSpPr>
        <p:spPr>
          <a:xfrm>
            <a:off x="1783080" y="178308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 · notes pasted in</a:t>
            </a:r>
            <a:endParaRPr lang="en-US" sz="1100" dirty="0"/>
          </a:p>
        </p:txBody>
      </p:sp>
      <p:sp>
        <p:nvSpPr>
          <p:cNvPr id="14" name="Shape 11"/>
          <p:cNvSpPr/>
          <p:nvPr/>
        </p:nvSpPr>
        <p:spPr>
          <a:xfrm>
            <a:off x="1554480" y="2377440"/>
            <a:ext cx="9646920" cy="2697480"/>
          </a:xfrm>
          <a:prstGeom prst="roundRect">
            <a:avLst>
              <a:gd name="adj" fmla="val 4068"/>
            </a:avLst>
          </a:prstGeom>
          <a:solidFill>
            <a:srgbClr val="F7F5F0"/>
          </a:solidFill>
          <a:ln w="12700">
            <a:solidFill>
              <a:srgbClr val="F7F5F0"/>
            </a:solidFill>
            <a:prstDash val="solid"/>
          </a:ln>
        </p:spPr>
      </p:sp>
      <p:sp>
        <p:nvSpPr>
          <p:cNvPr id="15" name="Text 12"/>
          <p:cNvSpPr/>
          <p:nvPr/>
        </p:nvSpPr>
        <p:spPr>
          <a:xfrm>
            <a:off x="1783080" y="2514600"/>
            <a:ext cx="9189720" cy="2468880"/>
          </a:xfrm>
          <a:prstGeom prst="rect">
            <a:avLst/>
          </a:prstGeom>
          <a:noFill/>
          <a:ln/>
        </p:spPr>
        <p:txBody>
          <a:bodyPr wrap="square" lIns="0" tIns="0" rIns="0" bIns="0" rtlCol="0" anchor="t"/>
          <a:lstStyle/>
          <a:p>
            <a:pPr indent="0" marL="0">
              <a:lnSpc>
                <a:spcPct val="110000"/>
              </a:lnSpc>
              <a:buNone/>
            </a:pPr>
            <a:r>
              <a:rPr lang="en-US" sz="1550" b="1" dirty="0">
                <a:solidFill>
                  <a:srgbClr val="2A9D8F"/>
                </a:solidFill>
                <a:latin typeface="Inter" pitchFamily="34" charset="0"/>
                <a:ea typeface="Inter" pitchFamily="34" charset="-122"/>
                <a:cs typeface="Inter" pitchFamily="34" charset="-120"/>
              </a:rPr>
              <a:t>"You are me: a warm, organized teacher writing to families I see every day. </a:t>
            </a:r>
            <a:pPr indent="0" marL="0">
              <a:lnSpc>
                <a:spcPct val="110000"/>
              </a:lnSpc>
              <a:buNone/>
            </a:pPr>
            <a:r>
              <a:rPr lang="en-US" sz="1550" b="1" dirty="0">
                <a:solidFill>
                  <a:srgbClr val="13293D"/>
                </a:solidFill>
                <a:latin typeface="Inter" pitchFamily="34" charset="0"/>
                <a:ea typeface="Inter" pitchFamily="34" charset="-122"/>
                <a:cs typeface="Inter" pitchFamily="34" charset="-120"/>
              </a:rPr>
              <a:t>Turn the notes below into this week's family newsletter. </a:t>
            </a:r>
            <a:pPr indent="0" marL="0">
              <a:lnSpc>
                <a:spcPct val="110000"/>
              </a:lnSpc>
              <a:buNone/>
            </a:pPr>
            <a:r>
              <a:rPr lang="en-US" sz="1550" b="1" dirty="0">
                <a:solidFill>
                  <a:srgbClr val="B07914"/>
                </a:solidFill>
                <a:latin typeface="Inter" pitchFamily="34" charset="0"/>
                <a:ea typeface="Inter" pitchFamily="34" charset="-122"/>
                <a:cs typeface="Inter" pitchFamily="34" charset="-120"/>
              </a:rPr>
              <a:t>We finished fractions and they worked hard at it. Science fair is Thursday at 6:00 in the gym, picture day is Friday, and the blue permission slip is due Wednesday with a lot of them still out. Nobody should feel scolded about the slip. </a:t>
            </a:r>
            <a:pPr indent="0" marL="0">
              <a:lnSpc>
                <a:spcPct val="110000"/>
              </a:lnSpc>
              <a:buNone/>
            </a:pPr>
            <a:r>
              <a:rPr lang="en-US" sz="1550" b="1" dirty="0">
                <a:solidFill>
                  <a:srgbClr val="2E7D5B"/>
                </a:solidFill>
                <a:latin typeface="Inter" pitchFamily="34" charset="0"/>
                <a:ea typeface="Inter" pitchFamily="34" charset="-122"/>
                <a:cs typeface="Inter" pitchFamily="34" charset="-120"/>
              </a:rPr>
              <a:t>Under 150 words. Action items first, as a short list with dates, then one warm line about the week. Plain words, short sentences, easy to read on a phone. Sign it Ms. Rivera."  [paste sticky note]</a:t>
            </a:r>
            <a:endParaRPr lang="en-US" sz="1550" dirty="0"/>
          </a:p>
        </p:txBody>
      </p:sp>
      <p:sp>
        <p:nvSpPr>
          <p:cNvPr id="16" name="Shape 13"/>
          <p:cNvSpPr/>
          <p:nvPr/>
        </p:nvSpPr>
        <p:spPr>
          <a:xfrm>
            <a:off x="640080" y="5532120"/>
            <a:ext cx="2606040" cy="457200"/>
          </a:xfrm>
          <a:prstGeom prst="roundRect">
            <a:avLst>
              <a:gd name="adj" fmla="val 50000"/>
            </a:avLst>
          </a:prstGeom>
          <a:solidFill>
            <a:srgbClr val="2A9D8F"/>
          </a:solidFill>
          <a:ln w="12700">
            <a:solidFill>
              <a:srgbClr val="2A9D8F"/>
            </a:solidFill>
            <a:prstDash val="solid"/>
          </a:ln>
        </p:spPr>
      </p:sp>
      <p:sp>
        <p:nvSpPr>
          <p:cNvPr id="17" name="Text 14"/>
          <p:cNvSpPr/>
          <p:nvPr/>
        </p:nvSpPr>
        <p:spPr>
          <a:xfrm>
            <a:off x="640080"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ROLE</a:t>
            </a:r>
            <a:endParaRPr lang="en-US" sz="1400" dirty="0"/>
          </a:p>
        </p:txBody>
      </p:sp>
      <p:sp>
        <p:nvSpPr>
          <p:cNvPr id="18" name="Shape 15"/>
          <p:cNvSpPr/>
          <p:nvPr/>
        </p:nvSpPr>
        <p:spPr>
          <a:xfrm>
            <a:off x="3456432" y="5532120"/>
            <a:ext cx="2606040" cy="457200"/>
          </a:xfrm>
          <a:prstGeom prst="roundRect">
            <a:avLst>
              <a:gd name="adj" fmla="val 50000"/>
            </a:avLst>
          </a:prstGeom>
          <a:solidFill>
            <a:srgbClr val="13293D"/>
          </a:solidFill>
          <a:ln w="12700">
            <a:solidFill>
              <a:srgbClr val="13293D"/>
            </a:solidFill>
            <a:prstDash val="solid"/>
          </a:ln>
        </p:spPr>
      </p:sp>
      <p:sp>
        <p:nvSpPr>
          <p:cNvPr id="19" name="Text 16"/>
          <p:cNvSpPr/>
          <p:nvPr/>
        </p:nvSpPr>
        <p:spPr>
          <a:xfrm>
            <a:off x="3456432"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TASK</a:t>
            </a:r>
            <a:endParaRPr lang="en-US" sz="1400" dirty="0"/>
          </a:p>
        </p:txBody>
      </p:sp>
      <p:sp>
        <p:nvSpPr>
          <p:cNvPr id="20" name="Shape 17"/>
          <p:cNvSpPr/>
          <p:nvPr/>
        </p:nvSpPr>
        <p:spPr>
          <a:xfrm>
            <a:off x="6272784" y="5532120"/>
            <a:ext cx="2606040" cy="457200"/>
          </a:xfrm>
          <a:prstGeom prst="roundRect">
            <a:avLst>
              <a:gd name="adj" fmla="val 50000"/>
            </a:avLst>
          </a:prstGeom>
          <a:solidFill>
            <a:srgbClr val="B07914"/>
          </a:solidFill>
          <a:ln w="12700">
            <a:solidFill>
              <a:srgbClr val="B07914"/>
            </a:solidFill>
            <a:prstDash val="solid"/>
          </a:ln>
        </p:spPr>
      </p:sp>
      <p:sp>
        <p:nvSpPr>
          <p:cNvPr id="21" name="Text 18"/>
          <p:cNvSpPr/>
          <p:nvPr/>
        </p:nvSpPr>
        <p:spPr>
          <a:xfrm>
            <a:off x="6272784"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CONTEXT</a:t>
            </a:r>
            <a:endParaRPr lang="en-US" sz="1400" dirty="0"/>
          </a:p>
        </p:txBody>
      </p:sp>
      <p:sp>
        <p:nvSpPr>
          <p:cNvPr id="22" name="Shape 19"/>
          <p:cNvSpPr/>
          <p:nvPr/>
        </p:nvSpPr>
        <p:spPr>
          <a:xfrm>
            <a:off x="9089136" y="5532120"/>
            <a:ext cx="2606040" cy="457200"/>
          </a:xfrm>
          <a:prstGeom prst="roundRect">
            <a:avLst>
              <a:gd name="adj" fmla="val 50000"/>
            </a:avLst>
          </a:prstGeom>
          <a:solidFill>
            <a:srgbClr val="2E7D5B"/>
          </a:solidFill>
          <a:ln w="12700">
            <a:solidFill>
              <a:srgbClr val="2E7D5B"/>
            </a:solidFill>
            <a:prstDash val="solid"/>
          </a:ln>
        </p:spPr>
      </p:sp>
      <p:sp>
        <p:nvSpPr>
          <p:cNvPr id="23" name="Text 20"/>
          <p:cNvSpPr/>
          <p:nvPr/>
        </p:nvSpPr>
        <p:spPr>
          <a:xfrm>
            <a:off x="9089136" y="553212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FORMAT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22</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1 · WHAT CAME BACK, FOUR SECONDS LATER</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draft the tool sent back</a:t>
            </a:r>
            <a:endParaRPr lang="en-US" sz="3200" dirty="0"/>
          </a:p>
        </p:txBody>
      </p:sp>
      <p:sp>
        <p:nvSpPr>
          <p:cNvPr id="7" name="Shape 4"/>
          <p:cNvSpPr/>
          <p:nvPr/>
        </p:nvSpPr>
        <p:spPr>
          <a:xfrm>
            <a:off x="640080" y="1234440"/>
            <a:ext cx="10972800" cy="3794760"/>
          </a:xfrm>
          <a:prstGeom prst="roundRect">
            <a:avLst>
              <a:gd name="adj" fmla="val 2410"/>
            </a:avLst>
          </a:prstGeom>
          <a:solidFill>
            <a:srgbClr val="FFFFFF"/>
          </a:solidFill>
          <a:ln w="19050">
            <a:solidFill>
              <a:srgbClr val="DCE3EA"/>
            </a:solidFill>
            <a:prstDash val="solid"/>
          </a:ln>
        </p:spPr>
      </p:sp>
      <p:sp>
        <p:nvSpPr>
          <p:cNvPr id="8" name="Shape 5"/>
          <p:cNvSpPr/>
          <p:nvPr/>
        </p:nvSpPr>
        <p:spPr>
          <a:xfrm>
            <a:off x="640080" y="1234440"/>
            <a:ext cx="10972800" cy="384048"/>
          </a:xfrm>
          <a:prstGeom prst="roundRect">
            <a:avLst>
              <a:gd name="adj" fmla="val 23810"/>
            </a:avLst>
          </a:prstGeom>
          <a:solidFill>
            <a:srgbClr val="13293D"/>
          </a:solidFill>
          <a:ln w="12700">
            <a:solidFill>
              <a:srgbClr val="13293D"/>
            </a:solidFill>
            <a:prstDash val="solid"/>
          </a:ln>
        </p:spPr>
      </p:sp>
      <p:sp>
        <p:nvSpPr>
          <p:cNvPr id="9" name="Shape 6"/>
          <p:cNvSpPr/>
          <p:nvPr/>
        </p:nvSpPr>
        <p:spPr>
          <a:xfrm>
            <a:off x="868680" y="1353312"/>
            <a:ext cx="146304" cy="146304"/>
          </a:xfrm>
          <a:prstGeom prst="ellipse">
            <a:avLst/>
          </a:prstGeom>
          <a:solidFill>
            <a:srgbClr val="E8837A"/>
          </a:solidFill>
          <a:ln w="12700">
            <a:solidFill>
              <a:srgbClr val="E8837A"/>
            </a:solidFill>
            <a:prstDash val="solid"/>
          </a:ln>
        </p:spPr>
      </p:sp>
      <p:sp>
        <p:nvSpPr>
          <p:cNvPr id="10" name="Shape 7"/>
          <p:cNvSpPr/>
          <p:nvPr/>
        </p:nvSpPr>
        <p:spPr>
          <a:xfrm>
            <a:off x="1115568" y="1353312"/>
            <a:ext cx="146304" cy="146304"/>
          </a:xfrm>
          <a:prstGeom prst="ellipse">
            <a:avLst/>
          </a:prstGeom>
          <a:solidFill>
            <a:srgbClr val="F4A825"/>
          </a:solidFill>
          <a:ln w="12700">
            <a:solidFill>
              <a:srgbClr val="F4A825"/>
            </a:solidFill>
            <a:prstDash val="solid"/>
          </a:ln>
        </p:spPr>
      </p:sp>
      <p:sp>
        <p:nvSpPr>
          <p:cNvPr id="11" name="Shape 8"/>
          <p:cNvSpPr/>
          <p:nvPr/>
        </p:nvSpPr>
        <p:spPr>
          <a:xfrm>
            <a:off x="1362456" y="1353312"/>
            <a:ext cx="146304" cy="146304"/>
          </a:xfrm>
          <a:prstGeom prst="ellipse">
            <a:avLst/>
          </a:prstGeom>
          <a:solidFill>
            <a:srgbClr val="2E7D5B"/>
          </a:solidFill>
          <a:ln w="12700">
            <a:solidFill>
              <a:srgbClr val="2E7D5B"/>
            </a:solidFill>
            <a:prstDash val="solid"/>
          </a:ln>
        </p:spPr>
      </p:sp>
      <p:sp>
        <p:nvSpPr>
          <p:cNvPr id="12" name="Text 9"/>
          <p:cNvSpPr/>
          <p:nvPr/>
        </p:nvSpPr>
        <p:spPr>
          <a:xfrm>
            <a:off x="1783080" y="123444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 · draft 1, unedited</a:t>
            </a:r>
            <a:endParaRPr lang="en-US" sz="1100" dirty="0"/>
          </a:p>
        </p:txBody>
      </p:sp>
      <p:sp>
        <p:nvSpPr>
          <p:cNvPr id="13" name="Shape 10"/>
          <p:cNvSpPr/>
          <p:nvPr/>
        </p:nvSpPr>
        <p:spPr>
          <a:xfrm>
            <a:off x="1554480" y="1828800"/>
            <a:ext cx="9646920" cy="2971800"/>
          </a:xfrm>
          <a:prstGeom prst="roundRect">
            <a:avLst>
              <a:gd name="adj" fmla="val 3692"/>
            </a:avLst>
          </a:prstGeom>
          <a:solidFill>
            <a:srgbClr val="F7F5F0"/>
          </a:solidFill>
          <a:ln w="12700">
            <a:solidFill>
              <a:srgbClr val="F7F5F0"/>
            </a:solidFill>
            <a:prstDash val="solid"/>
          </a:ln>
        </p:spPr>
      </p:sp>
      <p:sp>
        <p:nvSpPr>
          <p:cNvPr id="14" name="Text 11"/>
          <p:cNvSpPr/>
          <p:nvPr/>
        </p:nvSpPr>
        <p:spPr>
          <a:xfrm>
            <a:off x="1783080" y="1901952"/>
            <a:ext cx="9189720" cy="256032"/>
          </a:xfrm>
          <a:prstGeom prst="rect">
            <a:avLst/>
          </a:prstGeom>
          <a:noFill/>
          <a:ln/>
        </p:spPr>
        <p:txBody>
          <a:bodyPr wrap="square" lIns="0" tIns="0" rIns="0" bIns="0" rtlCol="0" anchor="ctr"/>
          <a:lstStyle/>
          <a:p>
            <a:pPr indent="0" marL="0">
              <a:buNone/>
            </a:pPr>
            <a:r>
              <a:rPr lang="en-US" sz="1100" b="1" spc="150" kern="0" dirty="0">
                <a:solidFill>
                  <a:srgbClr val="5B6B7A"/>
                </a:solidFill>
                <a:latin typeface="Inter" pitchFamily="34" charset="0"/>
                <a:ea typeface="Inter" pitchFamily="34" charset="-122"/>
                <a:cs typeface="Inter" pitchFamily="34" charset="-120"/>
              </a:rPr>
              <a:t>MS. RIVERA'S FRIDAY NEWSLETTER · V1, STRAIGHT BACK</a:t>
            </a:r>
            <a:endParaRPr lang="en-US" sz="1100" dirty="0"/>
          </a:p>
        </p:txBody>
      </p:sp>
      <p:sp>
        <p:nvSpPr>
          <p:cNvPr id="15" name="Text 12"/>
          <p:cNvSpPr/>
          <p:nvPr/>
        </p:nvSpPr>
        <p:spPr>
          <a:xfrm>
            <a:off x="1783080" y="2286000"/>
            <a:ext cx="9189720" cy="2377440"/>
          </a:xfrm>
          <a:prstGeom prst="rect">
            <a:avLst/>
          </a:prstGeom>
          <a:noFill/>
          <a:ln/>
        </p:spPr>
        <p:txBody>
          <a:bodyPr wrap="square" lIns="0" tIns="0" rIns="0" bIns="0" rtlCol="0" anchor="t"/>
          <a:lstStyle/>
          <a:p>
            <a:pPr indent="0" marL="0">
              <a:lnSpc>
                <a:spcPct val="115000"/>
              </a:lnSpc>
              <a:buNone/>
            </a:pPr>
            <a:r>
              <a:rPr lang="en-US" sz="1800" dirty="0">
                <a:solidFill>
                  <a:srgbClr val="1B1F24"/>
                </a:solidFill>
                <a:latin typeface="Inter" pitchFamily="34" charset="0"/>
                <a:ea typeface="Inter" pitchFamily="34" charset="-122"/>
                <a:cs typeface="Inter" pitchFamily="34" charset="-120"/>
              </a:rPr>
              <a:t>"Hello families! We had a wonderful week concluding our fractions unit. The students demonstrated excellent growth. The science fair will take place on Thursday at 6:00 p.m. in the gymnasium, and picture day is Friday. Please be advised that the blue permission slip is due Wednesday. Thank you for your continued support!"</a:t>
            </a:r>
            <a:endParaRPr lang="en-US" sz="1800" dirty="0"/>
          </a:p>
        </p:txBody>
      </p:sp>
      <p:sp>
        <p:nvSpPr>
          <p:cNvPr id="16" name="Text 13"/>
          <p:cNvSpPr/>
          <p:nvPr/>
        </p:nvSpPr>
        <p:spPr>
          <a:xfrm>
            <a:off x="640080" y="5212080"/>
            <a:ext cx="10972800" cy="457200"/>
          </a:xfrm>
          <a:prstGeom prst="rect">
            <a:avLst/>
          </a:prstGeom>
          <a:noFill/>
          <a:ln/>
        </p:spPr>
        <p:txBody>
          <a:bodyPr wrap="square" lIns="0" tIns="0" rIns="0" bIns="0" rtlCol="0" anchor="ctr"/>
          <a:lstStyle/>
          <a:p>
            <a:pPr algn="ctr" indent="0" marL="0">
              <a:buNone/>
            </a:pPr>
            <a:r>
              <a:rPr lang="en-US" sz="1900" b="1" dirty="0">
                <a:solidFill>
                  <a:srgbClr val="13293D"/>
                </a:solidFill>
                <a:latin typeface="Inter" pitchFamily="34" charset="0"/>
                <a:ea typeface="Inter" pitchFamily="34" charset="-122"/>
                <a:cs typeface="Inter" pitchFamily="34" charset="-120"/>
              </a:rPr>
              <a:t>It is close. It is not her. And the one thing families must DO is the last line.</a:t>
            </a:r>
            <a:endParaRPr lang="en-US" sz="1900" dirty="0"/>
          </a:p>
        </p:txBody>
      </p:sp>
      <p:sp>
        <p:nvSpPr>
          <p:cNvPr id="17" name="Text 14"/>
          <p:cNvSpPr/>
          <p:nvPr/>
        </p:nvSpPr>
        <p:spPr>
          <a:xfrm>
            <a:off x="640080" y="5760720"/>
            <a:ext cx="10972800" cy="411480"/>
          </a:xfrm>
          <a:prstGeom prst="rect">
            <a:avLst/>
          </a:prstGeom>
          <a:noFill/>
          <a:ln/>
        </p:spPr>
        <p:txBody>
          <a:bodyPr wrap="square" lIns="0" tIns="0" rIns="0" bIns="0" rtlCol="0" anchor="ctr"/>
          <a:lstStyle/>
          <a:p>
            <a:pPr algn="ctr" indent="0" marL="0">
              <a:buNone/>
            </a:pPr>
            <a:r>
              <a:rPr lang="en-US" sz="1600" i="1" dirty="0">
                <a:solidFill>
                  <a:srgbClr val="5B6B7A"/>
                </a:solidFill>
                <a:latin typeface="Inter" pitchFamily="34" charset="0"/>
                <a:ea typeface="Inter" pitchFamily="34" charset="-122"/>
                <a:cs typeface="Inter" pitchFamily="34" charset="-120"/>
              </a:rPr>
              <a:t>Normal for a first draft. The next three steps are how it becomes hers.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newsletter, v2: it sounds like her now. The slip is still buried.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2 OF 4 · 4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voice pass</a:t>
            </a:r>
            <a:endParaRPr lang="en-US" sz="3200" dirty="0"/>
          </a:p>
        </p:txBody>
      </p:sp>
      <p:sp>
        <p:nvSpPr>
          <p:cNvPr id="14" name="Text 11"/>
          <p:cNvSpPr/>
          <p:nvPr/>
        </p:nvSpPr>
        <p:spPr>
          <a:xfrm>
            <a:off x="640080" y="1417320"/>
            <a:ext cx="411480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Read your draft ALOUD to your partner</a:t>
            </a:r>
            <a:endParaRPr lang="en-US" sz="1700" dirty="0"/>
          </a:p>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Every sentence your mouth wouldn't say: retype it the way you'd say it, or ask for warmer, shorter, plainer</a:t>
            </a:r>
            <a:endParaRPr lang="en-US" sz="1700" dirty="0"/>
          </a:p>
          <a:p>
            <a:pPr marL="342900" indent="-342900">
              <a:buSzPct val="100000"/>
              <a:buChar char="•"/>
            </a:pPr>
            <a:r>
              <a:rPr lang="en-US" sz="1700" b="1" dirty="0">
                <a:solidFill>
                  <a:srgbClr val="1B1F24"/>
                </a:solidFill>
                <a:latin typeface="Inter" pitchFamily="34" charset="0"/>
                <a:ea typeface="Inter" pitchFamily="34" charset="-122"/>
                <a:cs typeface="Inter" pitchFamily="34" charset="-120"/>
              </a:rPr>
              <a:t>If it doesn't sound like you, it isn't done.</a:t>
            </a:r>
            <a:endParaRPr lang="en-US" sz="1700" dirty="0"/>
          </a:p>
        </p:txBody>
      </p:sp>
      <p:sp>
        <p:nvSpPr>
          <p:cNvPr id="15" name="Shape 12"/>
          <p:cNvSpPr/>
          <p:nvPr/>
        </p:nvSpPr>
        <p:spPr>
          <a:xfrm>
            <a:off x="4983480" y="1417320"/>
            <a:ext cx="6629400" cy="3703320"/>
          </a:xfrm>
          <a:prstGeom prst="roundRect">
            <a:avLst>
              <a:gd name="adj" fmla="val 2469"/>
            </a:avLst>
          </a:prstGeom>
          <a:solidFill>
            <a:srgbClr val="FFFFFF"/>
          </a:solidFill>
          <a:ln w="19050">
            <a:solidFill>
              <a:srgbClr val="DCE3EA"/>
            </a:solidFill>
            <a:prstDash val="solid"/>
          </a:ln>
        </p:spPr>
      </p:sp>
      <p:sp>
        <p:nvSpPr>
          <p:cNvPr id="16" name="Shape 13"/>
          <p:cNvSpPr/>
          <p:nvPr/>
        </p:nvSpPr>
        <p:spPr>
          <a:xfrm>
            <a:off x="4983480" y="1417320"/>
            <a:ext cx="6629400" cy="384048"/>
          </a:xfrm>
          <a:prstGeom prst="roundRect">
            <a:avLst>
              <a:gd name="adj" fmla="val 23810"/>
            </a:avLst>
          </a:prstGeom>
          <a:solidFill>
            <a:srgbClr val="13293D"/>
          </a:solidFill>
          <a:ln w="12700">
            <a:solidFill>
              <a:srgbClr val="13293D"/>
            </a:solidFill>
            <a:prstDash val="solid"/>
          </a:ln>
        </p:spPr>
      </p:sp>
      <p:sp>
        <p:nvSpPr>
          <p:cNvPr id="17" name="Shape 14"/>
          <p:cNvSpPr/>
          <p:nvPr/>
        </p:nvSpPr>
        <p:spPr>
          <a:xfrm>
            <a:off x="5212080" y="1536192"/>
            <a:ext cx="146304" cy="146304"/>
          </a:xfrm>
          <a:prstGeom prst="ellipse">
            <a:avLst/>
          </a:prstGeom>
          <a:solidFill>
            <a:srgbClr val="E8837A"/>
          </a:solidFill>
          <a:ln w="12700">
            <a:solidFill>
              <a:srgbClr val="E8837A"/>
            </a:solidFill>
            <a:prstDash val="solid"/>
          </a:ln>
        </p:spPr>
      </p:sp>
      <p:sp>
        <p:nvSpPr>
          <p:cNvPr id="18" name="Shape 15"/>
          <p:cNvSpPr/>
          <p:nvPr/>
        </p:nvSpPr>
        <p:spPr>
          <a:xfrm>
            <a:off x="5458968" y="1536192"/>
            <a:ext cx="146304" cy="146304"/>
          </a:xfrm>
          <a:prstGeom prst="ellipse">
            <a:avLst/>
          </a:prstGeom>
          <a:solidFill>
            <a:srgbClr val="F4A825"/>
          </a:solidFill>
          <a:ln w="12700">
            <a:solidFill>
              <a:srgbClr val="F4A825"/>
            </a:solidFill>
            <a:prstDash val="solid"/>
          </a:ln>
        </p:spPr>
      </p:sp>
      <p:sp>
        <p:nvSpPr>
          <p:cNvPr id="19" name="Shape 16"/>
          <p:cNvSpPr/>
          <p:nvPr/>
        </p:nvSpPr>
        <p:spPr>
          <a:xfrm>
            <a:off x="5705856" y="1536192"/>
            <a:ext cx="146304" cy="146304"/>
          </a:xfrm>
          <a:prstGeom prst="ellipse">
            <a:avLst/>
          </a:prstGeom>
          <a:solidFill>
            <a:srgbClr val="2E7D5B"/>
          </a:solidFill>
          <a:ln w="12700">
            <a:solidFill>
              <a:srgbClr val="2E7D5B"/>
            </a:solidFill>
            <a:prstDash val="solid"/>
          </a:ln>
        </p:spPr>
      </p:sp>
      <p:sp>
        <p:nvSpPr>
          <p:cNvPr id="20" name="Text 17"/>
          <p:cNvSpPr/>
          <p:nvPr/>
        </p:nvSpPr>
        <p:spPr>
          <a:xfrm>
            <a:off x="6126480" y="1417320"/>
            <a:ext cx="53492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Ms. Rivera's Friday newsletter · v2, after the voice pass</a:t>
            </a:r>
            <a:endParaRPr lang="en-US" sz="1100" dirty="0"/>
          </a:p>
        </p:txBody>
      </p:sp>
      <p:sp>
        <p:nvSpPr>
          <p:cNvPr id="21" name="Text 18"/>
          <p:cNvSpPr/>
          <p:nvPr/>
        </p:nvSpPr>
        <p:spPr>
          <a:xfrm>
            <a:off x="5303520" y="2011680"/>
            <a:ext cx="5989320" cy="2194560"/>
          </a:xfrm>
          <a:prstGeom prst="rect">
            <a:avLst/>
          </a:prstGeom>
          <a:noFill/>
          <a:ln/>
        </p:spPr>
        <p:txBody>
          <a:bodyPr wrap="square" lIns="0" tIns="0" rIns="0" bIns="0" rtlCol="0" anchor="t"/>
          <a:lstStyle/>
          <a:p>
            <a:pPr indent="0" marL="0">
              <a:lnSpc>
                <a:spcPct val="115000"/>
              </a:lnSpc>
              <a:buNone/>
            </a:pPr>
            <a:r>
              <a:rPr lang="en-US" sz="1600" dirty="0">
                <a:solidFill>
                  <a:srgbClr val="1B1F24"/>
                </a:solidFill>
                <a:latin typeface="Inter" pitchFamily="34" charset="0"/>
                <a:ea typeface="Inter" pitchFamily="34" charset="-122"/>
                <a:cs typeface="Inter" pitchFamily="34" charset="-120"/>
              </a:rPr>
              <a:t>"Hi families, happy Friday! We wrapped up fractions this week, and I was proud of how your kids stuck with the tricky parts. The science fair is Thursday at 6 in the gym, and picture day is Friday. The blue permission slip is due Wednesday. See you Thursday!"</a:t>
            </a:r>
            <a:endParaRPr lang="en-US" sz="1600" dirty="0"/>
          </a:p>
        </p:txBody>
      </p:sp>
      <p:sp>
        <p:nvSpPr>
          <p:cNvPr id="22" name="Text 19"/>
          <p:cNvSpPr/>
          <p:nvPr/>
        </p:nvSpPr>
        <p:spPr>
          <a:xfrm>
            <a:off x="5303520" y="4206240"/>
            <a:ext cx="5989320" cy="685800"/>
          </a:xfrm>
          <a:prstGeom prst="rect">
            <a:avLst/>
          </a:prstGeom>
          <a:noFill/>
          <a:ln/>
        </p:spPr>
        <p:txBody>
          <a:bodyPr wrap="square" lIns="0" tIns="0" rIns="0" bIns="0" rtlCol="0" anchor="t"/>
          <a:lstStyle/>
          <a:p>
            <a:pPr indent="0" marL="0">
              <a:buNone/>
            </a:pPr>
            <a:r>
              <a:rPr lang="en-US" sz="1250" i="1" dirty="0">
                <a:solidFill>
                  <a:srgbClr val="5B6B7A"/>
                </a:solidFill>
                <a:latin typeface="Inter" pitchFamily="34" charset="0"/>
                <a:ea typeface="Inter" pitchFamily="34" charset="-122"/>
                <a:cs typeface="Inter" pitchFamily="34" charset="-120"/>
              </a:rPr>
              <a:t>"Demonstrated excellent growth" became her own sentence. One thing is still wrong: the slip is still buried.</a:t>
            </a:r>
            <a:endParaRPr lang="en-US" sz="12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24</a:t>
            </a:r>
            <a:endParaRPr lang="en-US" sz="900" dirty="0"/>
          </a:p>
        </p:txBody>
      </p:sp>
      <p:sp>
        <p:nvSpPr>
          <p:cNvPr id="5" name="Text 2"/>
          <p:cNvSpPr/>
          <p:nvPr/>
        </p:nvSpPr>
        <p:spPr>
          <a:xfrm>
            <a:off x="566928" y="128016"/>
            <a:ext cx="11055096"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STEPS 2–4 · HER FOLLOW-UPS, ONE CHAT, NOTHING RE-PASTED</a:t>
            </a:r>
            <a:endParaRPr lang="en-US" sz="1200" dirty="0"/>
          </a:p>
        </p:txBody>
      </p:sp>
      <p:sp>
        <p:nvSpPr>
          <p:cNvPr id="6" name="Text 3"/>
          <p:cNvSpPr/>
          <p:nvPr/>
        </p:nvSpPr>
        <p:spPr>
          <a:xfrm>
            <a:off x="548640" y="384048"/>
            <a:ext cx="11091672"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she typed next, and what changed</a:t>
            </a:r>
            <a:endParaRPr lang="en-US" sz="3200" dirty="0"/>
          </a:p>
        </p:txBody>
      </p:sp>
      <p:sp>
        <p:nvSpPr>
          <p:cNvPr id="7" name="Shape 4"/>
          <p:cNvSpPr/>
          <p:nvPr/>
        </p:nvSpPr>
        <p:spPr>
          <a:xfrm>
            <a:off x="640080" y="1280160"/>
            <a:ext cx="10972800" cy="4160520"/>
          </a:xfrm>
          <a:prstGeom prst="roundRect">
            <a:avLst>
              <a:gd name="adj" fmla="val 2198"/>
            </a:avLst>
          </a:prstGeom>
          <a:solidFill>
            <a:srgbClr val="FFFFFF"/>
          </a:solidFill>
          <a:ln w="19050">
            <a:solidFill>
              <a:srgbClr val="DCE3EA"/>
            </a:solidFill>
            <a:prstDash val="solid"/>
          </a:ln>
        </p:spPr>
      </p:sp>
      <p:sp>
        <p:nvSpPr>
          <p:cNvPr id="8" name="Shape 5"/>
          <p:cNvSpPr/>
          <p:nvPr/>
        </p:nvSpPr>
        <p:spPr>
          <a:xfrm>
            <a:off x="640080" y="1280160"/>
            <a:ext cx="10972800" cy="384048"/>
          </a:xfrm>
          <a:prstGeom prst="roundRect">
            <a:avLst>
              <a:gd name="adj" fmla="val 23810"/>
            </a:avLst>
          </a:prstGeom>
          <a:solidFill>
            <a:srgbClr val="13293D"/>
          </a:solidFill>
          <a:ln w="12700">
            <a:solidFill>
              <a:srgbClr val="13293D"/>
            </a:solidFill>
            <a:prstDash val="solid"/>
          </a:ln>
        </p:spPr>
      </p:sp>
      <p:sp>
        <p:nvSpPr>
          <p:cNvPr id="9" name="Shape 6"/>
          <p:cNvSpPr/>
          <p:nvPr/>
        </p:nvSpPr>
        <p:spPr>
          <a:xfrm>
            <a:off x="868680" y="1399032"/>
            <a:ext cx="146304" cy="146304"/>
          </a:xfrm>
          <a:prstGeom prst="ellipse">
            <a:avLst/>
          </a:prstGeom>
          <a:solidFill>
            <a:srgbClr val="E8837A"/>
          </a:solidFill>
          <a:ln w="12700">
            <a:solidFill>
              <a:srgbClr val="E8837A"/>
            </a:solidFill>
            <a:prstDash val="solid"/>
          </a:ln>
        </p:spPr>
      </p:sp>
      <p:sp>
        <p:nvSpPr>
          <p:cNvPr id="10" name="Shape 7"/>
          <p:cNvSpPr/>
          <p:nvPr/>
        </p:nvSpPr>
        <p:spPr>
          <a:xfrm>
            <a:off x="1115568" y="1399032"/>
            <a:ext cx="146304" cy="146304"/>
          </a:xfrm>
          <a:prstGeom prst="ellipse">
            <a:avLst/>
          </a:prstGeom>
          <a:solidFill>
            <a:srgbClr val="F4A825"/>
          </a:solidFill>
          <a:ln w="12700">
            <a:solidFill>
              <a:srgbClr val="F4A825"/>
            </a:solidFill>
            <a:prstDash val="solid"/>
          </a:ln>
        </p:spPr>
      </p:sp>
      <p:sp>
        <p:nvSpPr>
          <p:cNvPr id="11" name="Shape 8"/>
          <p:cNvSpPr/>
          <p:nvPr/>
        </p:nvSpPr>
        <p:spPr>
          <a:xfrm>
            <a:off x="1362456" y="1399032"/>
            <a:ext cx="146304" cy="146304"/>
          </a:xfrm>
          <a:prstGeom prst="ellipse">
            <a:avLst/>
          </a:prstGeom>
          <a:solidFill>
            <a:srgbClr val="2E7D5B"/>
          </a:solidFill>
          <a:ln w="12700">
            <a:solidFill>
              <a:srgbClr val="2E7D5B"/>
            </a:solidFill>
            <a:prstDash val="solid"/>
          </a:ln>
        </p:spPr>
      </p:sp>
      <p:sp>
        <p:nvSpPr>
          <p:cNvPr id="12" name="Text 9"/>
          <p:cNvSpPr/>
          <p:nvPr/>
        </p:nvSpPr>
        <p:spPr>
          <a:xfrm>
            <a:off x="1783080" y="1280160"/>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AI chat tool (any of them) · Ms. Rivera, our running example teacher (a composite, not a real person) · follow-ups, same chat</a:t>
            </a:r>
            <a:endParaRPr lang="en-US" sz="1100" dirty="0"/>
          </a:p>
        </p:txBody>
      </p:sp>
      <p:sp>
        <p:nvSpPr>
          <p:cNvPr id="13" name="Shape 10"/>
          <p:cNvSpPr/>
          <p:nvPr/>
        </p:nvSpPr>
        <p:spPr>
          <a:xfrm>
            <a:off x="914400" y="1874520"/>
            <a:ext cx="10287000" cy="3337560"/>
          </a:xfrm>
          <a:prstGeom prst="roundRect">
            <a:avLst>
              <a:gd name="adj" fmla="val 3288"/>
            </a:avLst>
          </a:prstGeom>
          <a:solidFill>
            <a:srgbClr val="F7F5F0"/>
          </a:solidFill>
          <a:ln w="12700">
            <a:solidFill>
              <a:srgbClr val="F7F5F0"/>
            </a:solidFill>
            <a:prstDash val="solid"/>
          </a:ln>
        </p:spPr>
      </p:sp>
      <p:sp>
        <p:nvSpPr>
          <p:cNvPr id="14" name="Text 11"/>
          <p:cNvSpPr/>
          <p:nvPr/>
        </p:nvSpPr>
        <p:spPr>
          <a:xfrm>
            <a:off x="3429000" y="1938528"/>
            <a:ext cx="4343400" cy="219456"/>
          </a:xfrm>
          <a:prstGeom prst="rect">
            <a:avLst/>
          </a:prstGeom>
          <a:noFill/>
          <a:ln/>
        </p:spPr>
        <p:txBody>
          <a:bodyPr wrap="square" lIns="0" tIns="0" rIns="0" bIns="0" rtlCol="0" anchor="ctr"/>
          <a:lstStyle/>
          <a:p>
            <a:pPr indent="0" marL="0">
              <a:buNone/>
            </a:pPr>
            <a:r>
              <a:rPr lang="en-US" sz="1100" b="1" spc="150" kern="0" dirty="0">
                <a:solidFill>
                  <a:srgbClr val="5B6B7A"/>
                </a:solidFill>
                <a:latin typeface="Inter" pitchFamily="34" charset="0"/>
                <a:ea typeface="Inter" pitchFamily="34" charset="-122"/>
                <a:cs typeface="Inter" pitchFamily="34" charset="-120"/>
              </a:rPr>
              <a:t>SHE TYPED NEXT</a:t>
            </a:r>
            <a:endParaRPr lang="en-US" sz="1100" dirty="0"/>
          </a:p>
        </p:txBody>
      </p:sp>
      <p:sp>
        <p:nvSpPr>
          <p:cNvPr id="15" name="Text 12"/>
          <p:cNvSpPr/>
          <p:nvPr/>
        </p:nvSpPr>
        <p:spPr>
          <a:xfrm>
            <a:off x="8001000" y="1938528"/>
            <a:ext cx="3063240" cy="219456"/>
          </a:xfrm>
          <a:prstGeom prst="rect">
            <a:avLst/>
          </a:prstGeom>
          <a:noFill/>
          <a:ln/>
        </p:spPr>
        <p:txBody>
          <a:bodyPr wrap="square" lIns="0" tIns="0" rIns="0" bIns="0" rtlCol="0" anchor="ctr"/>
          <a:lstStyle/>
          <a:p>
            <a:pPr indent="0" marL="0">
              <a:buNone/>
            </a:pPr>
            <a:r>
              <a:rPr lang="en-US" sz="1100" b="1" spc="150" kern="0" dirty="0">
                <a:solidFill>
                  <a:srgbClr val="5B6B7A"/>
                </a:solidFill>
                <a:latin typeface="Inter" pitchFamily="34" charset="0"/>
                <a:ea typeface="Inter" pitchFamily="34" charset="-122"/>
                <a:cs typeface="Inter" pitchFamily="34" charset="-120"/>
              </a:rPr>
              <a:t>WHAT CHANGED</a:t>
            </a:r>
            <a:endParaRPr lang="en-US" sz="1100" dirty="0"/>
          </a:p>
        </p:txBody>
      </p:sp>
      <p:sp>
        <p:nvSpPr>
          <p:cNvPr id="16" name="Shape 13"/>
          <p:cNvSpPr/>
          <p:nvPr/>
        </p:nvSpPr>
        <p:spPr>
          <a:xfrm>
            <a:off x="1234440" y="2231136"/>
            <a:ext cx="1691640" cy="310896"/>
          </a:xfrm>
          <a:prstGeom prst="roundRect">
            <a:avLst>
              <a:gd name="adj" fmla="val 50000"/>
            </a:avLst>
          </a:prstGeom>
          <a:solidFill>
            <a:srgbClr val="2A9D8F"/>
          </a:solidFill>
          <a:ln w="12700">
            <a:solidFill>
              <a:srgbClr val="2A9D8F"/>
            </a:solidFill>
            <a:prstDash val="solid"/>
          </a:ln>
        </p:spPr>
      </p:sp>
      <p:sp>
        <p:nvSpPr>
          <p:cNvPr id="17" name="Text 14"/>
          <p:cNvSpPr/>
          <p:nvPr/>
        </p:nvSpPr>
        <p:spPr>
          <a:xfrm>
            <a:off x="1234440" y="2231136"/>
            <a:ext cx="16916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Inter" pitchFamily="34" charset="0"/>
                <a:ea typeface="Inter" pitchFamily="34" charset="-122"/>
                <a:cs typeface="Inter" pitchFamily="34" charset="-120"/>
              </a:rPr>
              <a:t>VOICE PASS</a:t>
            </a:r>
            <a:endParaRPr lang="en-US" sz="1000" dirty="0"/>
          </a:p>
        </p:txBody>
      </p:sp>
      <p:sp>
        <p:nvSpPr>
          <p:cNvPr id="18" name="Text 15"/>
          <p:cNvSpPr/>
          <p:nvPr/>
        </p:nvSpPr>
        <p:spPr>
          <a:xfrm>
            <a:off x="3154680" y="2194560"/>
            <a:ext cx="4526280" cy="694944"/>
          </a:xfrm>
          <a:prstGeom prst="rect">
            <a:avLst/>
          </a:prstGeom>
          <a:noFill/>
          <a:ln/>
        </p:spPr>
        <p:txBody>
          <a:bodyPr wrap="square" lIns="0" tIns="0" rIns="0" bIns="0" rtlCol="0" anchor="ctr"/>
          <a:lstStyle/>
          <a:p>
            <a:pPr indent="0" marL="0">
              <a:lnSpc>
                <a:spcPct val="105000"/>
              </a:lnSpc>
              <a:buNone/>
            </a:pPr>
            <a:r>
              <a:rPr lang="en-US" sz="1400" i="1" dirty="0">
                <a:solidFill>
                  <a:srgbClr val="13293D"/>
                </a:solidFill>
                <a:latin typeface="Inter" pitchFamily="34" charset="0"/>
                <a:ea typeface="Inter" pitchFamily="34" charset="-122"/>
                <a:cs typeface="Inter" pitchFamily="34" charset="-120"/>
              </a:rPr>
              <a:t>"Rewrite it the way I would say it out loud, and lose 'demonstrated excellent growth.'"</a:t>
            </a:r>
            <a:endParaRPr lang="en-US" sz="1400" dirty="0"/>
          </a:p>
        </p:txBody>
      </p:sp>
      <p:sp>
        <p:nvSpPr>
          <p:cNvPr id="19" name="Shape 16"/>
          <p:cNvSpPr/>
          <p:nvPr/>
        </p:nvSpPr>
        <p:spPr>
          <a:xfrm>
            <a:off x="7845552" y="2249424"/>
            <a:ext cx="12802" cy="585216"/>
          </a:xfrm>
          <a:prstGeom prst="rect">
            <a:avLst/>
          </a:prstGeom>
          <a:solidFill>
            <a:srgbClr val="DCE3EA"/>
          </a:solidFill>
          <a:ln w="12700">
            <a:solidFill>
              <a:srgbClr val="DCE3EA"/>
            </a:solidFill>
            <a:prstDash val="solid"/>
          </a:ln>
        </p:spPr>
      </p:sp>
      <p:sp>
        <p:nvSpPr>
          <p:cNvPr id="20" name="Text 17"/>
          <p:cNvSpPr/>
          <p:nvPr/>
        </p:nvSpPr>
        <p:spPr>
          <a:xfrm>
            <a:off x="8001000" y="2194560"/>
            <a:ext cx="3063240" cy="694944"/>
          </a:xfrm>
          <a:prstGeom prst="rect">
            <a:avLst/>
          </a:prstGeom>
          <a:noFill/>
          <a:ln/>
        </p:spPr>
        <p:txBody>
          <a:bodyPr wrap="square" lIns="0" tIns="0" rIns="0" bIns="0" rtlCol="0" anchor="ctr"/>
          <a:lstStyle/>
          <a:p>
            <a:pPr indent="0" marL="0">
              <a:lnSpc>
                <a:spcPct val="105000"/>
              </a:lnSpc>
              <a:buNone/>
            </a:pPr>
            <a:r>
              <a:rPr lang="en-US" sz="1400" dirty="0">
                <a:solidFill>
                  <a:srgbClr val="1B1F24"/>
                </a:solidFill>
                <a:latin typeface="Inter" pitchFamily="34" charset="0"/>
                <a:ea typeface="Inter" pitchFamily="34" charset="-122"/>
                <a:cs typeface="Inter" pitchFamily="34" charset="-120"/>
              </a:rPr>
              <a:t>Beige became hers: "proud of how your kids stuck with it."</a:t>
            </a:r>
            <a:endParaRPr lang="en-US" sz="1400" dirty="0"/>
          </a:p>
        </p:txBody>
      </p:sp>
      <p:sp>
        <p:nvSpPr>
          <p:cNvPr id="21" name="Shape 18"/>
          <p:cNvSpPr/>
          <p:nvPr/>
        </p:nvSpPr>
        <p:spPr>
          <a:xfrm>
            <a:off x="1234440" y="2980944"/>
            <a:ext cx="1691640" cy="310896"/>
          </a:xfrm>
          <a:prstGeom prst="roundRect">
            <a:avLst>
              <a:gd name="adj" fmla="val 50000"/>
            </a:avLst>
          </a:prstGeom>
          <a:solidFill>
            <a:srgbClr val="13293D"/>
          </a:solidFill>
          <a:ln w="12700">
            <a:solidFill>
              <a:srgbClr val="13293D"/>
            </a:solidFill>
            <a:prstDash val="solid"/>
          </a:ln>
        </p:spPr>
      </p:sp>
      <p:sp>
        <p:nvSpPr>
          <p:cNvPr id="22" name="Text 19"/>
          <p:cNvSpPr/>
          <p:nvPr/>
        </p:nvSpPr>
        <p:spPr>
          <a:xfrm>
            <a:off x="1234440" y="2980944"/>
            <a:ext cx="16916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Inter" pitchFamily="34" charset="0"/>
                <a:ea typeface="Inter" pitchFamily="34" charset="-122"/>
                <a:cs typeface="Inter" pitchFamily="34" charset="-120"/>
              </a:rPr>
              <a:t>HARD SENTENCE</a:t>
            </a:r>
            <a:endParaRPr lang="en-US" sz="1000" dirty="0"/>
          </a:p>
        </p:txBody>
      </p:sp>
      <p:sp>
        <p:nvSpPr>
          <p:cNvPr id="23" name="Text 20"/>
          <p:cNvSpPr/>
          <p:nvPr/>
        </p:nvSpPr>
        <p:spPr>
          <a:xfrm>
            <a:off x="3154680" y="2944368"/>
            <a:ext cx="4526280" cy="694944"/>
          </a:xfrm>
          <a:prstGeom prst="rect">
            <a:avLst/>
          </a:prstGeom>
          <a:noFill/>
          <a:ln/>
        </p:spPr>
        <p:txBody>
          <a:bodyPr wrap="square" lIns="0" tIns="0" rIns="0" bIns="0" rtlCol="0" anchor="ctr"/>
          <a:lstStyle/>
          <a:p>
            <a:pPr indent="0" marL="0">
              <a:lnSpc>
                <a:spcPct val="105000"/>
              </a:lnSpc>
              <a:buNone/>
            </a:pPr>
            <a:r>
              <a:rPr lang="en-US" sz="1400" i="1" dirty="0">
                <a:solidFill>
                  <a:srgbClr val="13293D"/>
                </a:solidFill>
                <a:latin typeface="Inter" pitchFamily="34" charset="0"/>
                <a:ea typeface="Inter" pitchFamily="34" charset="-122"/>
                <a:cs typeface="Inter" pitchFamily="34" charset="-120"/>
              </a:rPr>
              <a:t>"Rewrite the permission-slip line warm and guilt-free, ending with what to do and by when."</a:t>
            </a:r>
            <a:endParaRPr lang="en-US" sz="1400" dirty="0"/>
          </a:p>
        </p:txBody>
      </p:sp>
      <p:sp>
        <p:nvSpPr>
          <p:cNvPr id="24" name="Shape 21"/>
          <p:cNvSpPr/>
          <p:nvPr/>
        </p:nvSpPr>
        <p:spPr>
          <a:xfrm>
            <a:off x="7845552" y="2999232"/>
            <a:ext cx="12802" cy="585216"/>
          </a:xfrm>
          <a:prstGeom prst="rect">
            <a:avLst/>
          </a:prstGeom>
          <a:solidFill>
            <a:srgbClr val="DCE3EA"/>
          </a:solidFill>
          <a:ln w="12700">
            <a:solidFill>
              <a:srgbClr val="DCE3EA"/>
            </a:solidFill>
            <a:prstDash val="solid"/>
          </a:ln>
        </p:spPr>
      </p:sp>
      <p:sp>
        <p:nvSpPr>
          <p:cNvPr id="25" name="Text 22"/>
          <p:cNvSpPr/>
          <p:nvPr/>
        </p:nvSpPr>
        <p:spPr>
          <a:xfrm>
            <a:off x="8001000" y="2944368"/>
            <a:ext cx="3063240" cy="694944"/>
          </a:xfrm>
          <a:prstGeom prst="rect">
            <a:avLst/>
          </a:prstGeom>
          <a:noFill/>
          <a:ln/>
        </p:spPr>
        <p:txBody>
          <a:bodyPr wrap="square" lIns="0" tIns="0" rIns="0" bIns="0" rtlCol="0" anchor="ctr"/>
          <a:lstStyle/>
          <a:p>
            <a:pPr indent="0" marL="0">
              <a:lnSpc>
                <a:spcPct val="105000"/>
              </a:lnSpc>
              <a:buNone/>
            </a:pPr>
            <a:r>
              <a:rPr lang="en-US" sz="1400" dirty="0">
                <a:solidFill>
                  <a:srgbClr val="1B1F24"/>
                </a:solidFill>
                <a:latin typeface="Inter" pitchFamily="34" charset="0"/>
                <a:ea typeface="Inter" pitchFamily="34" charset="-122"/>
                <a:cs typeface="Inter" pitchFamily="34" charset="-120"/>
              </a:rPr>
              <a:t>The nag became an invitation. Same deadline, no sting.</a:t>
            </a:r>
            <a:endParaRPr lang="en-US" sz="1400" dirty="0"/>
          </a:p>
        </p:txBody>
      </p:sp>
      <p:sp>
        <p:nvSpPr>
          <p:cNvPr id="26" name="Shape 23"/>
          <p:cNvSpPr/>
          <p:nvPr/>
        </p:nvSpPr>
        <p:spPr>
          <a:xfrm>
            <a:off x="1234440" y="3730752"/>
            <a:ext cx="1691640" cy="310896"/>
          </a:xfrm>
          <a:prstGeom prst="roundRect">
            <a:avLst>
              <a:gd name="adj" fmla="val 50000"/>
            </a:avLst>
          </a:prstGeom>
          <a:solidFill>
            <a:srgbClr val="B07914"/>
          </a:solidFill>
          <a:ln w="12700">
            <a:solidFill>
              <a:srgbClr val="B07914"/>
            </a:solidFill>
            <a:prstDash val="solid"/>
          </a:ln>
        </p:spPr>
      </p:sp>
      <p:sp>
        <p:nvSpPr>
          <p:cNvPr id="27" name="Text 24"/>
          <p:cNvSpPr/>
          <p:nvPr/>
        </p:nvSpPr>
        <p:spPr>
          <a:xfrm>
            <a:off x="1234440" y="3730752"/>
            <a:ext cx="16916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Inter" pitchFamily="34" charset="0"/>
                <a:ea typeface="Inter" pitchFamily="34" charset="-122"/>
                <a:cs typeface="Inter" pitchFamily="34" charset="-120"/>
              </a:rPr>
              <a:t>ACTION ITEMS UP</a:t>
            </a:r>
            <a:endParaRPr lang="en-US" sz="1000" dirty="0"/>
          </a:p>
        </p:txBody>
      </p:sp>
      <p:sp>
        <p:nvSpPr>
          <p:cNvPr id="28" name="Text 25"/>
          <p:cNvSpPr/>
          <p:nvPr/>
        </p:nvSpPr>
        <p:spPr>
          <a:xfrm>
            <a:off x="3154680" y="3694176"/>
            <a:ext cx="4526280" cy="694944"/>
          </a:xfrm>
          <a:prstGeom prst="rect">
            <a:avLst/>
          </a:prstGeom>
          <a:noFill/>
          <a:ln/>
        </p:spPr>
        <p:txBody>
          <a:bodyPr wrap="square" lIns="0" tIns="0" rIns="0" bIns="0" rtlCol="0" anchor="ctr"/>
          <a:lstStyle/>
          <a:p>
            <a:pPr indent="0" marL="0">
              <a:lnSpc>
                <a:spcPct val="105000"/>
              </a:lnSpc>
              <a:buNone/>
            </a:pPr>
            <a:r>
              <a:rPr lang="en-US" sz="1400" i="1" dirty="0">
                <a:solidFill>
                  <a:srgbClr val="13293D"/>
                </a:solidFill>
                <a:latin typeface="Inter" pitchFamily="34" charset="0"/>
                <a:ea typeface="Inter" pitchFamily="34" charset="-122"/>
                <a:cs typeface="Inter" pitchFamily="34" charset="-120"/>
              </a:rPr>
              <a:t>"Move everything families have to do to the top, as three bullets with dates."</a:t>
            </a:r>
            <a:endParaRPr lang="en-US" sz="1400" dirty="0"/>
          </a:p>
        </p:txBody>
      </p:sp>
      <p:sp>
        <p:nvSpPr>
          <p:cNvPr id="29" name="Shape 26"/>
          <p:cNvSpPr/>
          <p:nvPr/>
        </p:nvSpPr>
        <p:spPr>
          <a:xfrm>
            <a:off x="7845552" y="3749040"/>
            <a:ext cx="12802" cy="585216"/>
          </a:xfrm>
          <a:prstGeom prst="rect">
            <a:avLst/>
          </a:prstGeom>
          <a:solidFill>
            <a:srgbClr val="DCE3EA"/>
          </a:solidFill>
          <a:ln w="12700">
            <a:solidFill>
              <a:srgbClr val="DCE3EA"/>
            </a:solidFill>
            <a:prstDash val="solid"/>
          </a:ln>
        </p:spPr>
      </p:sp>
      <p:sp>
        <p:nvSpPr>
          <p:cNvPr id="30" name="Text 27"/>
          <p:cNvSpPr/>
          <p:nvPr/>
        </p:nvSpPr>
        <p:spPr>
          <a:xfrm>
            <a:off x="8001000" y="3694176"/>
            <a:ext cx="3063240" cy="694944"/>
          </a:xfrm>
          <a:prstGeom prst="rect">
            <a:avLst/>
          </a:prstGeom>
          <a:noFill/>
          <a:ln/>
        </p:spPr>
        <p:txBody>
          <a:bodyPr wrap="square" lIns="0" tIns="0" rIns="0" bIns="0" rtlCol="0" anchor="ctr"/>
          <a:lstStyle/>
          <a:p>
            <a:pPr indent="0" marL="0">
              <a:lnSpc>
                <a:spcPct val="105000"/>
              </a:lnSpc>
              <a:buNone/>
            </a:pPr>
            <a:r>
              <a:rPr lang="en-US" sz="1400" dirty="0">
                <a:solidFill>
                  <a:srgbClr val="1B1F24"/>
                </a:solidFill>
                <a:latin typeface="Inter" pitchFamily="34" charset="0"/>
                <a:ea typeface="Inter" pitchFamily="34" charset="-122"/>
                <a:cs typeface="Inter" pitchFamily="34" charset="-120"/>
              </a:rPr>
              <a:t>A skimming parent sees all three in the first four lines.</a:t>
            </a:r>
            <a:endParaRPr lang="en-US" sz="1400" dirty="0"/>
          </a:p>
        </p:txBody>
      </p:sp>
      <p:sp>
        <p:nvSpPr>
          <p:cNvPr id="31" name="Shape 28"/>
          <p:cNvSpPr/>
          <p:nvPr/>
        </p:nvSpPr>
        <p:spPr>
          <a:xfrm>
            <a:off x="1234440" y="4480560"/>
            <a:ext cx="1691640" cy="310896"/>
          </a:xfrm>
          <a:prstGeom prst="roundRect">
            <a:avLst>
              <a:gd name="adj" fmla="val 50000"/>
            </a:avLst>
          </a:prstGeom>
          <a:solidFill>
            <a:srgbClr val="2E7D5B"/>
          </a:solidFill>
          <a:ln w="12700">
            <a:solidFill>
              <a:srgbClr val="2E7D5B"/>
            </a:solidFill>
            <a:prstDash val="solid"/>
          </a:ln>
        </p:spPr>
      </p:sp>
      <p:sp>
        <p:nvSpPr>
          <p:cNvPr id="32" name="Text 29"/>
          <p:cNvSpPr/>
          <p:nvPr/>
        </p:nvSpPr>
        <p:spPr>
          <a:xfrm>
            <a:off x="1234440" y="4480560"/>
            <a:ext cx="16916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Inter" pitchFamily="34" charset="0"/>
                <a:ea typeface="Inter" pitchFamily="34" charset="-122"/>
                <a:cs typeface="Inter" pitchFamily="34" charset="-120"/>
              </a:rPr>
              <a:t>PLAIN &amp; SHORT</a:t>
            </a:r>
            <a:endParaRPr lang="en-US" sz="1000" dirty="0"/>
          </a:p>
        </p:txBody>
      </p:sp>
      <p:sp>
        <p:nvSpPr>
          <p:cNvPr id="33" name="Text 30"/>
          <p:cNvSpPr/>
          <p:nvPr/>
        </p:nvSpPr>
        <p:spPr>
          <a:xfrm>
            <a:off x="3154680" y="4443984"/>
            <a:ext cx="4526280" cy="694944"/>
          </a:xfrm>
          <a:prstGeom prst="rect">
            <a:avLst/>
          </a:prstGeom>
          <a:noFill/>
          <a:ln/>
        </p:spPr>
        <p:txBody>
          <a:bodyPr wrap="square" lIns="0" tIns="0" rIns="0" bIns="0" rtlCol="0" anchor="ctr"/>
          <a:lstStyle/>
          <a:p>
            <a:pPr indent="0" marL="0">
              <a:lnSpc>
                <a:spcPct val="105000"/>
              </a:lnSpc>
              <a:buNone/>
            </a:pPr>
            <a:r>
              <a:rPr lang="en-US" sz="1400" i="1" dirty="0">
                <a:solidFill>
                  <a:srgbClr val="13293D"/>
                </a:solidFill>
                <a:latin typeface="Inter" pitchFamily="34" charset="0"/>
                <a:ea typeface="Inter" pitchFamily="34" charset="-122"/>
                <a:cs typeface="Inter" pitchFamily="34" charset="-120"/>
              </a:rPr>
              <a:t>"Plainer, and under 150 words. No school words: say science fair, not culminating event."</a:t>
            </a:r>
            <a:endParaRPr lang="en-US" sz="1400" dirty="0"/>
          </a:p>
        </p:txBody>
      </p:sp>
      <p:sp>
        <p:nvSpPr>
          <p:cNvPr id="34" name="Shape 31"/>
          <p:cNvSpPr/>
          <p:nvPr/>
        </p:nvSpPr>
        <p:spPr>
          <a:xfrm>
            <a:off x="7845552" y="4498848"/>
            <a:ext cx="12802" cy="585216"/>
          </a:xfrm>
          <a:prstGeom prst="rect">
            <a:avLst/>
          </a:prstGeom>
          <a:solidFill>
            <a:srgbClr val="DCE3EA"/>
          </a:solidFill>
          <a:ln w="12700">
            <a:solidFill>
              <a:srgbClr val="DCE3EA"/>
            </a:solidFill>
            <a:prstDash val="solid"/>
          </a:ln>
        </p:spPr>
      </p:sp>
      <p:sp>
        <p:nvSpPr>
          <p:cNvPr id="35" name="Text 32"/>
          <p:cNvSpPr/>
          <p:nvPr/>
        </p:nvSpPr>
        <p:spPr>
          <a:xfrm>
            <a:off x="8001000" y="4443984"/>
            <a:ext cx="3063240" cy="694944"/>
          </a:xfrm>
          <a:prstGeom prst="rect">
            <a:avLst/>
          </a:prstGeom>
          <a:noFill/>
          <a:ln/>
        </p:spPr>
        <p:txBody>
          <a:bodyPr wrap="square" lIns="0" tIns="0" rIns="0" bIns="0" rtlCol="0" anchor="ctr"/>
          <a:lstStyle/>
          <a:p>
            <a:pPr indent="0" marL="0">
              <a:lnSpc>
                <a:spcPct val="105000"/>
              </a:lnSpc>
              <a:buNone/>
            </a:pPr>
            <a:r>
              <a:rPr lang="en-US" sz="1400" dirty="0">
                <a:solidFill>
                  <a:srgbClr val="1B1F24"/>
                </a:solidFill>
                <a:latin typeface="Inter" pitchFamily="34" charset="0"/>
                <a:ea typeface="Inter" pitchFamily="34" charset="-122"/>
                <a:cs typeface="Inter" pitchFamily="34" charset="-120"/>
              </a:rPr>
              <a:t>Throat-clearing gone. It fits on one phone screen.</a:t>
            </a:r>
            <a:endParaRPr lang="en-US" sz="1400" dirty="0"/>
          </a:p>
        </p:txBody>
      </p:sp>
      <p:sp>
        <p:nvSpPr>
          <p:cNvPr id="36" name="Shape 33"/>
          <p:cNvSpPr/>
          <p:nvPr/>
        </p:nvSpPr>
        <p:spPr>
          <a:xfrm>
            <a:off x="640080" y="5623560"/>
            <a:ext cx="2606040" cy="457200"/>
          </a:xfrm>
          <a:prstGeom prst="roundRect">
            <a:avLst>
              <a:gd name="adj" fmla="val 50000"/>
            </a:avLst>
          </a:prstGeom>
          <a:solidFill>
            <a:srgbClr val="2A9D8F"/>
          </a:solidFill>
          <a:ln w="12700">
            <a:solidFill>
              <a:srgbClr val="2A9D8F"/>
            </a:solidFill>
            <a:prstDash val="solid"/>
          </a:ln>
        </p:spPr>
      </p:sp>
      <p:sp>
        <p:nvSpPr>
          <p:cNvPr id="37" name="Text 34"/>
          <p:cNvSpPr/>
          <p:nvPr/>
        </p:nvSpPr>
        <p:spPr>
          <a:xfrm>
            <a:off x="640080" y="562356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VOICE PASS</a:t>
            </a:r>
            <a:endParaRPr lang="en-US" sz="1400" dirty="0"/>
          </a:p>
        </p:txBody>
      </p:sp>
      <p:sp>
        <p:nvSpPr>
          <p:cNvPr id="38" name="Shape 35"/>
          <p:cNvSpPr/>
          <p:nvPr/>
        </p:nvSpPr>
        <p:spPr>
          <a:xfrm>
            <a:off x="3456432" y="5623560"/>
            <a:ext cx="2606040" cy="457200"/>
          </a:xfrm>
          <a:prstGeom prst="roundRect">
            <a:avLst>
              <a:gd name="adj" fmla="val 50000"/>
            </a:avLst>
          </a:prstGeom>
          <a:solidFill>
            <a:srgbClr val="13293D"/>
          </a:solidFill>
          <a:ln w="12700">
            <a:solidFill>
              <a:srgbClr val="13293D"/>
            </a:solidFill>
            <a:prstDash val="solid"/>
          </a:ln>
        </p:spPr>
      </p:sp>
      <p:sp>
        <p:nvSpPr>
          <p:cNvPr id="39" name="Text 36"/>
          <p:cNvSpPr/>
          <p:nvPr/>
        </p:nvSpPr>
        <p:spPr>
          <a:xfrm>
            <a:off x="3456432" y="562356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HARD SENTENCE</a:t>
            </a:r>
            <a:endParaRPr lang="en-US" sz="1400" dirty="0"/>
          </a:p>
        </p:txBody>
      </p:sp>
      <p:sp>
        <p:nvSpPr>
          <p:cNvPr id="40" name="Shape 37"/>
          <p:cNvSpPr/>
          <p:nvPr/>
        </p:nvSpPr>
        <p:spPr>
          <a:xfrm>
            <a:off x="6272784" y="5623560"/>
            <a:ext cx="2606040" cy="457200"/>
          </a:xfrm>
          <a:prstGeom prst="roundRect">
            <a:avLst>
              <a:gd name="adj" fmla="val 50000"/>
            </a:avLst>
          </a:prstGeom>
          <a:solidFill>
            <a:srgbClr val="B07914"/>
          </a:solidFill>
          <a:ln w="12700">
            <a:solidFill>
              <a:srgbClr val="B07914"/>
            </a:solidFill>
            <a:prstDash val="solid"/>
          </a:ln>
        </p:spPr>
      </p:sp>
      <p:sp>
        <p:nvSpPr>
          <p:cNvPr id="41" name="Text 38"/>
          <p:cNvSpPr/>
          <p:nvPr/>
        </p:nvSpPr>
        <p:spPr>
          <a:xfrm>
            <a:off x="6272784" y="562356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ACTION ITEMS UP</a:t>
            </a:r>
            <a:endParaRPr lang="en-US" sz="1400" dirty="0"/>
          </a:p>
        </p:txBody>
      </p:sp>
      <p:sp>
        <p:nvSpPr>
          <p:cNvPr id="42" name="Shape 39"/>
          <p:cNvSpPr/>
          <p:nvPr/>
        </p:nvSpPr>
        <p:spPr>
          <a:xfrm>
            <a:off x="9089136" y="5623560"/>
            <a:ext cx="2606040" cy="457200"/>
          </a:xfrm>
          <a:prstGeom prst="roundRect">
            <a:avLst>
              <a:gd name="adj" fmla="val 50000"/>
            </a:avLst>
          </a:prstGeom>
          <a:solidFill>
            <a:srgbClr val="2E7D5B"/>
          </a:solidFill>
          <a:ln w="12700">
            <a:solidFill>
              <a:srgbClr val="2E7D5B"/>
            </a:solidFill>
            <a:prstDash val="solid"/>
          </a:ln>
        </p:spPr>
      </p:sp>
      <p:sp>
        <p:nvSpPr>
          <p:cNvPr id="43" name="Text 40"/>
          <p:cNvSpPr/>
          <p:nvPr/>
        </p:nvSpPr>
        <p:spPr>
          <a:xfrm>
            <a:off x="9089136" y="5623560"/>
            <a:ext cx="2606040" cy="457200"/>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Inter" pitchFamily="34" charset="0"/>
                <a:ea typeface="Inter" pitchFamily="34" charset="-122"/>
                <a:cs typeface="Inter" pitchFamily="34" charset="-120"/>
              </a:rPr>
              <a:t>PLAIN &amp; SHORT</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25</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newsletter, v3: the permission-slip nag rewritten warm, plain, and guilt-free.</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3 OF 4 · 4 MINUTES · THE DEEP-PRACTICE STEP</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hard sentence</a:t>
            </a:r>
            <a:endParaRPr lang="en-US" sz="3200" dirty="0"/>
          </a:p>
        </p:txBody>
      </p:sp>
      <p:sp>
        <p:nvSpPr>
          <p:cNvPr id="14" name="Text 11"/>
          <p:cNvSpPr/>
          <p:nvPr/>
        </p:nvSpPr>
        <p:spPr>
          <a:xfrm>
            <a:off x="640080" y="1371600"/>
            <a:ext cx="10972800" cy="777240"/>
          </a:xfrm>
          <a:prstGeom prst="rect">
            <a:avLst/>
          </a:prstGeom>
          <a:noFill/>
          <a:ln/>
        </p:spPr>
        <p:txBody>
          <a:bodyPr wrap="square" lIns="0" tIns="0" rIns="0" bIns="0" rtlCol="0" anchor="t"/>
          <a:lstStyle/>
          <a:p>
            <a:pPr indent="0" marL="0">
              <a:buNone/>
            </a:pPr>
            <a:r>
              <a:rPr lang="en-US" sz="1650" dirty="0">
                <a:solidFill>
                  <a:srgbClr val="1B1F24"/>
                </a:solidFill>
                <a:latin typeface="Inter" pitchFamily="34" charset="0"/>
                <a:ea typeface="Inter" pitchFamily="34" charset="-122"/>
                <a:cs typeface="Inter" pitchFamily="34" charset="-120"/>
              </a:rPr>
              <a:t>Almost every real message carries one item you'd rather not write: the fee reminder, the missing slips, the nag. Rewrite yours warm, plain, and guilt-free, ending with exactly what to do and by when.</a:t>
            </a:r>
            <a:endParaRPr lang="en-US" sz="1650" dirty="0"/>
          </a:p>
        </p:txBody>
      </p:sp>
      <p:sp>
        <p:nvSpPr>
          <p:cNvPr id="15" name="Shape 12"/>
          <p:cNvSpPr/>
          <p:nvPr/>
        </p:nvSpPr>
        <p:spPr>
          <a:xfrm>
            <a:off x="640080" y="2286000"/>
            <a:ext cx="10972800" cy="1371600"/>
          </a:xfrm>
          <a:prstGeom prst="roundRect">
            <a:avLst>
              <a:gd name="adj" fmla="val 6000"/>
            </a:avLst>
          </a:prstGeom>
          <a:solidFill>
            <a:srgbClr val="FBEFED"/>
          </a:solidFill>
          <a:ln w="12700">
            <a:solidFill>
              <a:srgbClr val="FBEFED"/>
            </a:solidFill>
            <a:prstDash val="solid"/>
          </a:ln>
        </p:spPr>
      </p:sp>
      <p:sp>
        <p:nvSpPr>
          <p:cNvPr id="16" name="Text 13"/>
          <p:cNvSpPr/>
          <p:nvPr/>
        </p:nvSpPr>
        <p:spPr>
          <a:xfrm>
            <a:off x="914400" y="2423160"/>
            <a:ext cx="7315200" cy="292608"/>
          </a:xfrm>
          <a:prstGeom prst="rect">
            <a:avLst/>
          </a:prstGeom>
          <a:noFill/>
          <a:ln/>
        </p:spPr>
        <p:txBody>
          <a:bodyPr wrap="square" lIns="0" tIns="0" rIns="0" bIns="0" rtlCol="0" anchor="ctr"/>
          <a:lstStyle/>
          <a:p>
            <a:pPr indent="0" marL="0">
              <a:buNone/>
            </a:pPr>
            <a:r>
              <a:rPr lang="en-US" sz="1150" b="1" spc="150" kern="0" dirty="0">
                <a:solidFill>
                  <a:srgbClr val="B4453A"/>
                </a:solidFill>
                <a:latin typeface="Inter" pitchFamily="34" charset="0"/>
                <a:ea typeface="Inter" pitchFamily="34" charset="-122"/>
                <a:cs typeface="Inter" pitchFamily="34" charset="-120"/>
              </a:rPr>
              <a:t>HER HARD SENTENCE, BEFORE</a:t>
            </a:r>
            <a:endParaRPr lang="en-US" sz="1150" dirty="0"/>
          </a:p>
        </p:txBody>
      </p:sp>
      <p:sp>
        <p:nvSpPr>
          <p:cNvPr id="17" name="Text 14"/>
          <p:cNvSpPr/>
          <p:nvPr/>
        </p:nvSpPr>
        <p:spPr>
          <a:xfrm>
            <a:off x="914400" y="2743200"/>
            <a:ext cx="10424160" cy="822960"/>
          </a:xfrm>
          <a:prstGeom prst="rect">
            <a:avLst/>
          </a:prstGeom>
          <a:noFill/>
          <a:ln/>
        </p:spPr>
        <p:txBody>
          <a:bodyPr wrap="square" lIns="0" tIns="0" rIns="0" bIns="0" rtlCol="0" anchor="t"/>
          <a:lstStyle/>
          <a:p>
            <a:pPr indent="0" marL="0">
              <a:buNone/>
            </a:pPr>
            <a:r>
              <a:rPr lang="en-US" sz="1650" i="1" dirty="0">
                <a:solidFill>
                  <a:srgbClr val="1B1F24"/>
                </a:solidFill>
                <a:latin typeface="Inter" pitchFamily="34" charset="0"/>
                <a:ea typeface="Inter" pitchFamily="34" charset="-122"/>
                <a:cs typeface="Inter" pitchFamily="34" charset="-120"/>
              </a:rPr>
              <a:t>"Please be advised that students without a signed permission slip will be unable to participate."</a:t>
            </a:r>
            <a:endParaRPr lang="en-US" sz="1650" dirty="0"/>
          </a:p>
        </p:txBody>
      </p:sp>
      <p:sp>
        <p:nvSpPr>
          <p:cNvPr id="18" name="Shape 15"/>
          <p:cNvSpPr/>
          <p:nvPr/>
        </p:nvSpPr>
        <p:spPr>
          <a:xfrm>
            <a:off x="640080" y="3840480"/>
            <a:ext cx="10972800" cy="1600200"/>
          </a:xfrm>
          <a:prstGeom prst="roundRect">
            <a:avLst>
              <a:gd name="adj" fmla="val 5143"/>
            </a:avLst>
          </a:prstGeom>
          <a:solidFill>
            <a:srgbClr val="EAF5F3"/>
          </a:solidFill>
          <a:ln w="12700">
            <a:solidFill>
              <a:srgbClr val="EAF5F3"/>
            </a:solidFill>
            <a:prstDash val="solid"/>
          </a:ln>
        </p:spPr>
      </p:sp>
      <p:sp>
        <p:nvSpPr>
          <p:cNvPr id="19" name="Text 16"/>
          <p:cNvSpPr/>
          <p:nvPr/>
        </p:nvSpPr>
        <p:spPr>
          <a:xfrm>
            <a:off x="914400" y="3977640"/>
            <a:ext cx="7315200" cy="292608"/>
          </a:xfrm>
          <a:prstGeom prst="rect">
            <a:avLst/>
          </a:prstGeom>
          <a:noFill/>
          <a:ln/>
        </p:spPr>
        <p:txBody>
          <a:bodyPr wrap="square" lIns="0" tIns="0" rIns="0" bIns="0" rtlCol="0" anchor="ctr"/>
          <a:lstStyle/>
          <a:p>
            <a:pPr indent="0" marL="0">
              <a:buNone/>
            </a:pPr>
            <a:r>
              <a:rPr lang="en-US" sz="1150" b="1" spc="150" kern="0" dirty="0">
                <a:solidFill>
                  <a:srgbClr val="2E7D5B"/>
                </a:solidFill>
                <a:latin typeface="Inter" pitchFamily="34" charset="0"/>
                <a:ea typeface="Inter" pitchFamily="34" charset="-122"/>
                <a:cs typeface="Inter" pitchFamily="34" charset="-120"/>
              </a:rPr>
              <a:t>AFTER THE REPAIR</a:t>
            </a:r>
            <a:endParaRPr lang="en-US" sz="1150" dirty="0"/>
          </a:p>
        </p:txBody>
      </p:sp>
      <p:sp>
        <p:nvSpPr>
          <p:cNvPr id="20" name="Text 17"/>
          <p:cNvSpPr/>
          <p:nvPr/>
        </p:nvSpPr>
        <p:spPr>
          <a:xfrm>
            <a:off x="914400" y="4297680"/>
            <a:ext cx="10424160" cy="1051560"/>
          </a:xfrm>
          <a:prstGeom prst="rect">
            <a:avLst/>
          </a:prstGeom>
          <a:noFill/>
          <a:ln/>
        </p:spPr>
        <p:txBody>
          <a:bodyPr wrap="square" lIns="0" tIns="0" rIns="0" bIns="0" rtlCol="0" anchor="t"/>
          <a:lstStyle/>
          <a:p>
            <a:pPr indent="0" marL="0">
              <a:buNone/>
            </a:pPr>
            <a:r>
              <a:rPr lang="en-US" sz="1650" i="1" dirty="0">
                <a:solidFill>
                  <a:srgbClr val="1B1F24"/>
                </a:solidFill>
                <a:latin typeface="Inter" pitchFamily="34" charset="0"/>
                <a:ea typeface="Inter" pitchFamily="34" charset="-122"/>
                <a:cs typeface="Inter" pitchFamily="34" charset="-120"/>
              </a:rPr>
              <a:t>"If the blue slip hasn't made it home yet, no worries: it happens. Send it back by Wednesday so nobody misses out. Need a fresh copy? Just reply."</a:t>
            </a:r>
            <a:endParaRPr lang="en-US" sz="1650" dirty="0"/>
          </a:p>
        </p:txBody>
      </p:sp>
      <p:sp>
        <p:nvSpPr>
          <p:cNvPr id="21" name="Text 18"/>
          <p:cNvSpPr/>
          <p:nvPr/>
        </p:nvSpPr>
        <p:spPr>
          <a:xfrm>
            <a:off x="640080" y="5623560"/>
            <a:ext cx="10972800" cy="457200"/>
          </a:xfrm>
          <a:prstGeom prst="rect">
            <a:avLst/>
          </a:prstGeom>
          <a:noFill/>
          <a:ln/>
        </p:spPr>
        <p:txBody>
          <a:bodyPr wrap="square" lIns="0" tIns="0" rIns="0" bIns="0" rtlCol="0" anchor="ctr"/>
          <a:lstStyle/>
          <a:p>
            <a:pPr algn="ctr" indent="0" marL="0">
              <a:buNone/>
            </a:pPr>
            <a:r>
              <a:rPr lang="en-US" sz="1800" b="1" dirty="0">
                <a:solidFill>
                  <a:srgbClr val="13293D"/>
                </a:solidFill>
                <a:latin typeface="Inter" pitchFamily="34" charset="0"/>
                <a:ea typeface="Inter" pitchFamily="34" charset="-122"/>
                <a:cs typeface="Inter" pitchFamily="34" charset="-120"/>
              </a:rPr>
              <a:t>Same requirement, zero sting; the deadline still does its job.</a:t>
            </a:r>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26</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newsletter, final: action items on top, plain words, scheduled for Friday at 3:00.</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STEP 4 OF 4 · 4 MINUTES</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access pass &amp; sign-off</a:t>
            </a:r>
            <a:endParaRPr lang="en-US" sz="3200" dirty="0"/>
          </a:p>
        </p:txBody>
      </p:sp>
      <p:sp>
        <p:nvSpPr>
          <p:cNvPr id="14" name="Text 11"/>
          <p:cNvSpPr/>
          <p:nvPr/>
        </p:nvSpPr>
        <p:spPr>
          <a:xfrm>
            <a:off x="640080" y="1417320"/>
            <a:ext cx="4114800" cy="4206240"/>
          </a:xfrm>
          <a:prstGeom prst="rect">
            <a:avLst/>
          </a:prstGeom>
          <a:noFill/>
          <a:ln/>
        </p:spPr>
        <p:txBody>
          <a:bodyPr wrap="square" rtlCol="0" anchor="t"/>
          <a:lstStyle/>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Action items to the top: short list, with dates</a:t>
            </a:r>
            <a:endParaRPr lang="en-US" sz="1700" dirty="0"/>
          </a:p>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Plain words, under about 150</a:t>
            </a:r>
            <a:endParaRPr lang="en-US" sz="1700" dirty="0"/>
          </a:p>
          <a:p>
            <a:pPr marL="342900" indent="-342900">
              <a:spcAft>
                <a:spcPts val="1000"/>
              </a:spcAft>
              <a:buSzPct val="100000"/>
              <a:buChar char="•"/>
            </a:pPr>
            <a:r>
              <a:rPr lang="en-US" sz="1700" dirty="0">
                <a:solidFill>
                  <a:srgbClr val="1B1F24"/>
                </a:solidFill>
                <a:latin typeface="Inter" pitchFamily="34" charset="0"/>
                <a:ea typeface="Inter" pitchFamily="34" charset="-122"/>
                <a:cs typeface="Inter" pitchFamily="34" charset="-120"/>
              </a:rPr>
              <a:t>Swap: your partner reads it as a tired parent on a phone at 9 p.m.</a:t>
            </a:r>
            <a:endParaRPr lang="en-US" sz="1700" dirty="0"/>
          </a:p>
          <a:p>
            <a:pPr marL="342900" indent="-342900">
              <a:buSzPct val="100000"/>
              <a:buChar char="•"/>
            </a:pPr>
            <a:r>
              <a:rPr lang="en-US" sz="1700" b="1" dirty="0">
                <a:solidFill>
                  <a:srgbClr val="1B1F24"/>
                </a:solidFill>
                <a:latin typeface="Inter" pitchFamily="34" charset="0"/>
                <a:ea typeface="Inter" pitchFamily="34" charset="-122"/>
                <a:cs typeface="Inter" pitchFamily="34" charset="-120"/>
              </a:rPr>
              <a:t>Clean? Schedule the send: pick the day and time now.</a:t>
            </a:r>
            <a:endParaRPr lang="en-US" sz="1700" dirty="0"/>
          </a:p>
        </p:txBody>
      </p:sp>
      <p:sp>
        <p:nvSpPr>
          <p:cNvPr id="15" name="Shape 12"/>
          <p:cNvSpPr/>
          <p:nvPr/>
        </p:nvSpPr>
        <p:spPr>
          <a:xfrm>
            <a:off x="4983480" y="1417320"/>
            <a:ext cx="6629400" cy="4434840"/>
          </a:xfrm>
          <a:prstGeom prst="roundRect">
            <a:avLst>
              <a:gd name="adj" fmla="val 2062"/>
            </a:avLst>
          </a:prstGeom>
          <a:solidFill>
            <a:srgbClr val="FFFFFF"/>
          </a:solidFill>
          <a:ln w="19050">
            <a:solidFill>
              <a:srgbClr val="DCE3EA"/>
            </a:solidFill>
            <a:prstDash val="solid"/>
          </a:ln>
        </p:spPr>
      </p:sp>
      <p:sp>
        <p:nvSpPr>
          <p:cNvPr id="16" name="Shape 13"/>
          <p:cNvSpPr/>
          <p:nvPr/>
        </p:nvSpPr>
        <p:spPr>
          <a:xfrm>
            <a:off x="4983480" y="1417320"/>
            <a:ext cx="6629400" cy="384048"/>
          </a:xfrm>
          <a:prstGeom prst="roundRect">
            <a:avLst>
              <a:gd name="adj" fmla="val 23810"/>
            </a:avLst>
          </a:prstGeom>
          <a:solidFill>
            <a:srgbClr val="13293D"/>
          </a:solidFill>
          <a:ln w="12700">
            <a:solidFill>
              <a:srgbClr val="13293D"/>
            </a:solidFill>
            <a:prstDash val="solid"/>
          </a:ln>
        </p:spPr>
      </p:sp>
      <p:sp>
        <p:nvSpPr>
          <p:cNvPr id="17" name="Shape 14"/>
          <p:cNvSpPr/>
          <p:nvPr/>
        </p:nvSpPr>
        <p:spPr>
          <a:xfrm>
            <a:off x="5212080" y="1536192"/>
            <a:ext cx="146304" cy="146304"/>
          </a:xfrm>
          <a:prstGeom prst="ellipse">
            <a:avLst/>
          </a:prstGeom>
          <a:solidFill>
            <a:srgbClr val="E8837A"/>
          </a:solidFill>
          <a:ln w="12700">
            <a:solidFill>
              <a:srgbClr val="E8837A"/>
            </a:solidFill>
            <a:prstDash val="solid"/>
          </a:ln>
        </p:spPr>
      </p:sp>
      <p:sp>
        <p:nvSpPr>
          <p:cNvPr id="18" name="Shape 15"/>
          <p:cNvSpPr/>
          <p:nvPr/>
        </p:nvSpPr>
        <p:spPr>
          <a:xfrm>
            <a:off x="5458968" y="1536192"/>
            <a:ext cx="146304" cy="146304"/>
          </a:xfrm>
          <a:prstGeom prst="ellipse">
            <a:avLst/>
          </a:prstGeom>
          <a:solidFill>
            <a:srgbClr val="F4A825"/>
          </a:solidFill>
          <a:ln w="12700">
            <a:solidFill>
              <a:srgbClr val="F4A825"/>
            </a:solidFill>
            <a:prstDash val="solid"/>
          </a:ln>
        </p:spPr>
      </p:sp>
      <p:sp>
        <p:nvSpPr>
          <p:cNvPr id="19" name="Shape 16"/>
          <p:cNvSpPr/>
          <p:nvPr/>
        </p:nvSpPr>
        <p:spPr>
          <a:xfrm>
            <a:off x="5705856" y="1536192"/>
            <a:ext cx="146304" cy="146304"/>
          </a:xfrm>
          <a:prstGeom prst="ellipse">
            <a:avLst/>
          </a:prstGeom>
          <a:solidFill>
            <a:srgbClr val="2E7D5B"/>
          </a:solidFill>
          <a:ln w="12700">
            <a:solidFill>
              <a:srgbClr val="2E7D5B"/>
            </a:solidFill>
            <a:prstDash val="solid"/>
          </a:ln>
        </p:spPr>
      </p:sp>
      <p:sp>
        <p:nvSpPr>
          <p:cNvPr id="20" name="Text 17"/>
          <p:cNvSpPr/>
          <p:nvPr/>
        </p:nvSpPr>
        <p:spPr>
          <a:xfrm>
            <a:off x="6126480" y="1417320"/>
            <a:ext cx="53492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Ms. Rivera's Friday newsletter · what the access pass changed</a:t>
            </a:r>
            <a:endParaRPr lang="en-US" sz="1100" dirty="0"/>
          </a:p>
        </p:txBody>
      </p:sp>
      <p:sp>
        <p:nvSpPr>
          <p:cNvPr id="21" name="Text 18"/>
          <p:cNvSpPr/>
          <p:nvPr/>
        </p:nvSpPr>
        <p:spPr>
          <a:xfrm>
            <a:off x="5303520" y="2011680"/>
            <a:ext cx="365760" cy="365760"/>
          </a:xfrm>
          <a:prstGeom prst="rect">
            <a:avLst/>
          </a:prstGeom>
          <a:noFill/>
          <a:ln/>
        </p:spPr>
        <p:txBody>
          <a:bodyPr wrap="square" lIns="0" tIns="0" rIns="0" bIns="0" rtlCol="0" anchor="ctr"/>
          <a:lstStyle/>
          <a:p>
            <a:pPr indent="0" marL="0">
              <a:buNone/>
            </a:pPr>
            <a:r>
              <a:rPr lang="en-US" sz="1700" b="1" dirty="0">
                <a:solidFill>
                  <a:srgbClr val="2E7D5B"/>
                </a:solidFill>
                <a:latin typeface="Inter" pitchFamily="34" charset="0"/>
                <a:ea typeface="Inter" pitchFamily="34" charset="-122"/>
                <a:cs typeface="Inter" pitchFamily="34" charset="-120"/>
              </a:rPr>
              <a:t>✓</a:t>
            </a:r>
            <a:endParaRPr lang="en-US" sz="1700" dirty="0"/>
          </a:p>
        </p:txBody>
      </p:sp>
      <p:sp>
        <p:nvSpPr>
          <p:cNvPr id="22" name="Text 19"/>
          <p:cNvSpPr/>
          <p:nvPr/>
        </p:nvSpPr>
        <p:spPr>
          <a:xfrm>
            <a:off x="5760720" y="2011680"/>
            <a:ext cx="5532120" cy="365760"/>
          </a:xfrm>
          <a:prstGeom prst="rect">
            <a:avLst/>
          </a:prstGeom>
          <a:noFill/>
          <a:ln/>
        </p:spPr>
        <p:txBody>
          <a:bodyPr wrap="square" lIns="0" tIns="0" rIns="0" bIns="0" rtlCol="0" anchor="ctr"/>
          <a:lstStyle/>
          <a:p>
            <a:pPr indent="0" marL="0">
              <a:buNone/>
            </a:pPr>
            <a:r>
              <a:rPr lang="en-US" sz="1650" b="1" dirty="0">
                <a:solidFill>
                  <a:srgbClr val="13293D"/>
                </a:solidFill>
                <a:latin typeface="Inter" pitchFamily="34" charset="0"/>
                <a:ea typeface="Inter" pitchFamily="34" charset="-122"/>
                <a:cs typeface="Inter" pitchFamily="34" charset="-120"/>
              </a:rPr>
              <a:t>Action items to the top</a:t>
            </a:r>
            <a:endParaRPr lang="en-US" sz="1650" dirty="0"/>
          </a:p>
        </p:txBody>
      </p:sp>
      <p:sp>
        <p:nvSpPr>
          <p:cNvPr id="23" name="Text 20"/>
          <p:cNvSpPr/>
          <p:nvPr/>
        </p:nvSpPr>
        <p:spPr>
          <a:xfrm>
            <a:off x="5760720" y="2377440"/>
            <a:ext cx="5532120" cy="502920"/>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Three bullets, slip first, each carrying its own date</a:t>
            </a:r>
            <a:endParaRPr lang="en-US" sz="1450" dirty="0"/>
          </a:p>
        </p:txBody>
      </p:sp>
      <p:sp>
        <p:nvSpPr>
          <p:cNvPr id="24" name="Text 21"/>
          <p:cNvSpPr/>
          <p:nvPr/>
        </p:nvSpPr>
        <p:spPr>
          <a:xfrm>
            <a:off x="5303520" y="2944368"/>
            <a:ext cx="365760" cy="365760"/>
          </a:xfrm>
          <a:prstGeom prst="rect">
            <a:avLst/>
          </a:prstGeom>
          <a:noFill/>
          <a:ln/>
        </p:spPr>
        <p:txBody>
          <a:bodyPr wrap="square" lIns="0" tIns="0" rIns="0" bIns="0" rtlCol="0" anchor="ctr"/>
          <a:lstStyle/>
          <a:p>
            <a:pPr indent="0" marL="0">
              <a:buNone/>
            </a:pPr>
            <a:r>
              <a:rPr lang="en-US" sz="1700" b="1" dirty="0">
                <a:solidFill>
                  <a:srgbClr val="2E7D5B"/>
                </a:solidFill>
                <a:latin typeface="Inter" pitchFamily="34" charset="0"/>
                <a:ea typeface="Inter" pitchFamily="34" charset="-122"/>
                <a:cs typeface="Inter" pitchFamily="34" charset="-120"/>
              </a:rPr>
              <a:t>✓</a:t>
            </a:r>
            <a:endParaRPr lang="en-US" sz="1700" dirty="0"/>
          </a:p>
        </p:txBody>
      </p:sp>
      <p:sp>
        <p:nvSpPr>
          <p:cNvPr id="25" name="Text 22"/>
          <p:cNvSpPr/>
          <p:nvPr/>
        </p:nvSpPr>
        <p:spPr>
          <a:xfrm>
            <a:off x="5760720" y="2944368"/>
            <a:ext cx="5532120" cy="365760"/>
          </a:xfrm>
          <a:prstGeom prst="rect">
            <a:avLst/>
          </a:prstGeom>
          <a:noFill/>
          <a:ln/>
        </p:spPr>
        <p:txBody>
          <a:bodyPr wrap="square" lIns="0" tIns="0" rIns="0" bIns="0" rtlCol="0" anchor="ctr"/>
          <a:lstStyle/>
          <a:p>
            <a:pPr indent="0" marL="0">
              <a:buNone/>
            </a:pPr>
            <a:r>
              <a:rPr lang="en-US" sz="1650" b="1" dirty="0">
                <a:solidFill>
                  <a:srgbClr val="13293D"/>
                </a:solidFill>
                <a:latin typeface="Inter" pitchFamily="34" charset="0"/>
                <a:ea typeface="Inter" pitchFamily="34" charset="-122"/>
                <a:cs typeface="Inter" pitchFamily="34" charset="-120"/>
              </a:rPr>
              <a:t>Plain words</a:t>
            </a:r>
            <a:endParaRPr lang="en-US" sz="1650" dirty="0"/>
          </a:p>
        </p:txBody>
      </p:sp>
      <p:sp>
        <p:nvSpPr>
          <p:cNvPr id="26" name="Text 23"/>
          <p:cNvSpPr/>
          <p:nvPr/>
        </p:nvSpPr>
        <p:spPr>
          <a:xfrm>
            <a:off x="5760720" y="3310128"/>
            <a:ext cx="5532120" cy="502920"/>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"Culminating activity" became "science fair"</a:t>
            </a:r>
            <a:endParaRPr lang="en-US" sz="1450" dirty="0"/>
          </a:p>
        </p:txBody>
      </p:sp>
      <p:sp>
        <p:nvSpPr>
          <p:cNvPr id="27" name="Text 24"/>
          <p:cNvSpPr/>
          <p:nvPr/>
        </p:nvSpPr>
        <p:spPr>
          <a:xfrm>
            <a:off x="5303520" y="3877056"/>
            <a:ext cx="365760" cy="365760"/>
          </a:xfrm>
          <a:prstGeom prst="rect">
            <a:avLst/>
          </a:prstGeom>
          <a:noFill/>
          <a:ln/>
        </p:spPr>
        <p:txBody>
          <a:bodyPr wrap="square" lIns="0" tIns="0" rIns="0" bIns="0" rtlCol="0" anchor="ctr"/>
          <a:lstStyle/>
          <a:p>
            <a:pPr indent="0" marL="0">
              <a:buNone/>
            </a:pPr>
            <a:r>
              <a:rPr lang="en-US" sz="1700" b="1" dirty="0">
                <a:solidFill>
                  <a:srgbClr val="2E7D5B"/>
                </a:solidFill>
                <a:latin typeface="Inter" pitchFamily="34" charset="0"/>
                <a:ea typeface="Inter" pitchFamily="34" charset="-122"/>
                <a:cs typeface="Inter" pitchFamily="34" charset="-120"/>
              </a:rPr>
              <a:t>✓</a:t>
            </a:r>
            <a:endParaRPr lang="en-US" sz="1700" dirty="0"/>
          </a:p>
        </p:txBody>
      </p:sp>
      <p:sp>
        <p:nvSpPr>
          <p:cNvPr id="28" name="Text 25"/>
          <p:cNvSpPr/>
          <p:nvPr/>
        </p:nvSpPr>
        <p:spPr>
          <a:xfrm>
            <a:off x="5760720" y="3877056"/>
            <a:ext cx="5532120" cy="365760"/>
          </a:xfrm>
          <a:prstGeom prst="rect">
            <a:avLst/>
          </a:prstGeom>
          <a:noFill/>
          <a:ln/>
        </p:spPr>
        <p:txBody>
          <a:bodyPr wrap="square" lIns="0" tIns="0" rIns="0" bIns="0" rtlCol="0" anchor="ctr"/>
          <a:lstStyle/>
          <a:p>
            <a:pPr indent="0" marL="0">
              <a:buNone/>
            </a:pPr>
            <a:r>
              <a:rPr lang="en-US" sz="1650" b="1" dirty="0">
                <a:solidFill>
                  <a:srgbClr val="13293D"/>
                </a:solidFill>
                <a:latin typeface="Inter" pitchFamily="34" charset="0"/>
                <a:ea typeface="Inter" pitchFamily="34" charset="-122"/>
                <a:cs typeface="Inter" pitchFamily="34" charset="-120"/>
              </a:rPr>
              <a:t>Her partner's one flag</a:t>
            </a:r>
            <a:endParaRPr lang="en-US" sz="1650" dirty="0"/>
          </a:p>
        </p:txBody>
      </p:sp>
      <p:sp>
        <p:nvSpPr>
          <p:cNvPr id="29" name="Text 26"/>
          <p:cNvSpPr/>
          <p:nvPr/>
        </p:nvSpPr>
        <p:spPr>
          <a:xfrm>
            <a:off x="5760720" y="4242816"/>
            <a:ext cx="5532120" cy="502920"/>
          </a:xfrm>
          <a:prstGeom prst="rect">
            <a:avLst/>
          </a:prstGeom>
          <a:noFill/>
          <a:ln/>
        </p:spPr>
        <p:txBody>
          <a:bodyPr wrap="square" lIns="0" tIns="0" rIns="0" bIns="0" rtlCol="0" anchor="t"/>
          <a:lstStyle/>
          <a:p>
            <a:pPr indent="0" marL="0">
              <a:buNone/>
            </a:pPr>
            <a:r>
              <a:rPr lang="en-US" sz="1450" dirty="0">
                <a:solidFill>
                  <a:srgbClr val="1B1F24"/>
                </a:solidFill>
                <a:latin typeface="Inter" pitchFamily="34" charset="0"/>
                <a:ea typeface="Inter" pitchFamily="34" charset="-122"/>
                <a:cs typeface="Inter" pitchFamily="34" charset="-120"/>
              </a:rPr>
              <a:t>"Thursday at 6" now reads "Thursday, 6:00 p.m."</a:t>
            </a:r>
            <a:endParaRPr lang="en-US" sz="1450" dirty="0"/>
          </a:p>
        </p:txBody>
      </p:sp>
      <p:sp>
        <p:nvSpPr>
          <p:cNvPr id="30" name="Shape 27"/>
          <p:cNvSpPr/>
          <p:nvPr/>
        </p:nvSpPr>
        <p:spPr>
          <a:xfrm>
            <a:off x="5303520" y="4800600"/>
            <a:ext cx="5989320" cy="548640"/>
          </a:xfrm>
          <a:prstGeom prst="roundRect">
            <a:avLst>
              <a:gd name="adj" fmla="val 15000"/>
            </a:avLst>
          </a:prstGeom>
          <a:solidFill>
            <a:srgbClr val="EAF5F3"/>
          </a:solidFill>
          <a:ln w="12700">
            <a:solidFill>
              <a:srgbClr val="EAF5F3"/>
            </a:solidFill>
            <a:prstDash val="solid"/>
          </a:ln>
        </p:spPr>
      </p:sp>
      <p:sp>
        <p:nvSpPr>
          <p:cNvPr id="31" name="Text 28"/>
          <p:cNvSpPr/>
          <p:nvPr/>
        </p:nvSpPr>
        <p:spPr>
          <a:xfrm>
            <a:off x="5303520" y="4800600"/>
            <a:ext cx="5989320" cy="548640"/>
          </a:xfrm>
          <a:prstGeom prst="rect">
            <a:avLst/>
          </a:prstGeom>
          <a:noFill/>
          <a:ln/>
        </p:spPr>
        <p:txBody>
          <a:bodyPr wrap="square" lIns="0" tIns="0" rIns="0" bIns="0" rtlCol="0" anchor="ctr"/>
          <a:lstStyle/>
          <a:p>
            <a:pPr algn="ctr" indent="0" marL="0">
              <a:buNone/>
            </a:pPr>
            <a:r>
              <a:rPr lang="en-US" sz="1600" b="1" dirty="0">
                <a:solidFill>
                  <a:srgbClr val="2E7D5B"/>
                </a:solidFill>
                <a:latin typeface="Inter" pitchFamily="34" charset="0"/>
                <a:ea typeface="Inter" pitchFamily="34" charset="-122"/>
                <a:cs typeface="Inter" pitchFamily="34" charset="-120"/>
              </a:rPr>
              <a:t>Scheduled: Friday, 3:00 p.m.</a:t>
            </a:r>
            <a:endParaRPr lang="en-US" sz="1600" dirty="0"/>
          </a:p>
        </p:txBody>
      </p:sp>
      <p:sp>
        <p:nvSpPr>
          <p:cNvPr id="32" name="Text 29"/>
          <p:cNvSpPr/>
          <p:nvPr/>
        </p:nvSpPr>
        <p:spPr>
          <a:xfrm>
            <a:off x="5303520" y="5413248"/>
            <a:ext cx="5989320" cy="365760"/>
          </a:xfrm>
          <a:prstGeom prst="rect">
            <a:avLst/>
          </a:prstGeom>
          <a:noFill/>
          <a:ln/>
        </p:spPr>
        <p:txBody>
          <a:bodyPr wrap="square" lIns="0" tIns="0" rIns="0" bIns="0" rtlCol="0" anchor="ctr"/>
          <a:lstStyle/>
          <a:p>
            <a:pPr algn="ctr" indent="0" marL="0">
              <a:buNone/>
            </a:pPr>
            <a:r>
              <a:rPr lang="en-US" sz="1250" i="1" dirty="0">
                <a:solidFill>
                  <a:srgbClr val="5B6B7A"/>
                </a:solidFill>
                <a:latin typeface="Inter" pitchFamily="34" charset="0"/>
                <a:ea typeface="Inter" pitchFamily="34" charset="-122"/>
                <a:cs typeface="Inter" pitchFamily="34" charset="-120"/>
              </a:rPr>
              <a:t>Done means it sends. The finished message is next, word for word.</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27</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finished newsletter, word for word: what a family opens on Friday at 3:00.</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THE FINISHED PRODUCT · WORD FOR WORD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What a family opens on Friday</a:t>
            </a:r>
            <a:endParaRPr lang="en-US" sz="3200" dirty="0"/>
          </a:p>
        </p:txBody>
      </p:sp>
      <p:sp>
        <p:nvSpPr>
          <p:cNvPr id="14" name="Shape 11"/>
          <p:cNvSpPr/>
          <p:nvPr/>
        </p:nvSpPr>
        <p:spPr>
          <a:xfrm>
            <a:off x="640080" y="1170432"/>
            <a:ext cx="10972800" cy="4343400"/>
          </a:xfrm>
          <a:prstGeom prst="roundRect">
            <a:avLst>
              <a:gd name="adj" fmla="val 2105"/>
            </a:avLst>
          </a:prstGeom>
          <a:solidFill>
            <a:srgbClr val="FFFFFF"/>
          </a:solidFill>
          <a:ln w="19050">
            <a:solidFill>
              <a:srgbClr val="DCE3EA"/>
            </a:solidFill>
            <a:prstDash val="solid"/>
          </a:ln>
        </p:spPr>
      </p:sp>
      <p:sp>
        <p:nvSpPr>
          <p:cNvPr id="15" name="Shape 12"/>
          <p:cNvSpPr/>
          <p:nvPr/>
        </p:nvSpPr>
        <p:spPr>
          <a:xfrm>
            <a:off x="640080" y="1170432"/>
            <a:ext cx="10972800" cy="384048"/>
          </a:xfrm>
          <a:prstGeom prst="roundRect">
            <a:avLst>
              <a:gd name="adj" fmla="val 23810"/>
            </a:avLst>
          </a:prstGeom>
          <a:solidFill>
            <a:srgbClr val="13293D"/>
          </a:solidFill>
          <a:ln w="12700">
            <a:solidFill>
              <a:srgbClr val="13293D"/>
            </a:solidFill>
            <a:prstDash val="solid"/>
          </a:ln>
        </p:spPr>
      </p:sp>
      <p:sp>
        <p:nvSpPr>
          <p:cNvPr id="16" name="Shape 13"/>
          <p:cNvSpPr/>
          <p:nvPr/>
        </p:nvSpPr>
        <p:spPr>
          <a:xfrm>
            <a:off x="868680" y="1289304"/>
            <a:ext cx="146304" cy="146304"/>
          </a:xfrm>
          <a:prstGeom prst="ellipse">
            <a:avLst/>
          </a:prstGeom>
          <a:solidFill>
            <a:srgbClr val="E8837A"/>
          </a:solidFill>
          <a:ln w="12700">
            <a:solidFill>
              <a:srgbClr val="E8837A"/>
            </a:solidFill>
            <a:prstDash val="solid"/>
          </a:ln>
        </p:spPr>
      </p:sp>
      <p:sp>
        <p:nvSpPr>
          <p:cNvPr id="17" name="Shape 14"/>
          <p:cNvSpPr/>
          <p:nvPr/>
        </p:nvSpPr>
        <p:spPr>
          <a:xfrm>
            <a:off x="1115568" y="1289304"/>
            <a:ext cx="146304" cy="146304"/>
          </a:xfrm>
          <a:prstGeom prst="ellipse">
            <a:avLst/>
          </a:prstGeom>
          <a:solidFill>
            <a:srgbClr val="F4A825"/>
          </a:solidFill>
          <a:ln w="12700">
            <a:solidFill>
              <a:srgbClr val="F4A825"/>
            </a:solidFill>
            <a:prstDash val="solid"/>
          </a:ln>
        </p:spPr>
      </p:sp>
      <p:sp>
        <p:nvSpPr>
          <p:cNvPr id="18" name="Shape 15"/>
          <p:cNvSpPr/>
          <p:nvPr/>
        </p:nvSpPr>
        <p:spPr>
          <a:xfrm>
            <a:off x="1362456" y="1289304"/>
            <a:ext cx="146304" cy="146304"/>
          </a:xfrm>
          <a:prstGeom prst="ellipse">
            <a:avLst/>
          </a:prstGeom>
          <a:solidFill>
            <a:srgbClr val="2E7D5B"/>
          </a:solidFill>
          <a:ln w="12700">
            <a:solidFill>
              <a:srgbClr val="2E7D5B"/>
            </a:solidFill>
            <a:prstDash val="solid"/>
          </a:ln>
        </p:spPr>
      </p:sp>
      <p:sp>
        <p:nvSpPr>
          <p:cNvPr id="19" name="Text 16"/>
          <p:cNvSpPr/>
          <p:nvPr/>
        </p:nvSpPr>
        <p:spPr>
          <a:xfrm>
            <a:off x="1783080" y="1170432"/>
            <a:ext cx="9692640" cy="384048"/>
          </a:xfrm>
          <a:prstGeom prst="rect">
            <a:avLst/>
          </a:prstGeom>
          <a:noFill/>
          <a:ln/>
        </p:spPr>
        <p:txBody>
          <a:bodyPr wrap="square" lIns="0" tIns="0" rIns="0" bIns="0" rtlCol="0" anchor="ctr"/>
          <a:lstStyle/>
          <a:p>
            <a:pPr indent="0" marL="0">
              <a:buNone/>
            </a:pPr>
            <a:r>
              <a:rPr lang="en-US" sz="1100" dirty="0">
                <a:solidFill>
                  <a:srgbClr val="9FB2C2"/>
                </a:solidFill>
                <a:latin typeface="Inter" pitchFamily="34" charset="0"/>
                <a:ea typeface="Inter" pitchFamily="34" charset="-122"/>
                <a:cs typeface="Inter" pitchFamily="34" charset="-120"/>
              </a:rPr>
              <a:t>Her sent message · reviewed, personalized, and signed before it left her outbox</a:t>
            </a:r>
            <a:endParaRPr lang="en-US" sz="1100" dirty="0"/>
          </a:p>
        </p:txBody>
      </p:sp>
      <p:sp>
        <p:nvSpPr>
          <p:cNvPr id="20" name="Text 17"/>
          <p:cNvSpPr/>
          <p:nvPr/>
        </p:nvSpPr>
        <p:spPr>
          <a:xfrm>
            <a:off x="1005840" y="1645920"/>
            <a:ext cx="10149840" cy="274320"/>
          </a:xfrm>
          <a:prstGeom prst="rect">
            <a:avLst/>
          </a:prstGeom>
          <a:noFill/>
          <a:ln/>
        </p:spPr>
        <p:txBody>
          <a:bodyPr wrap="square" lIns="0" tIns="0" rIns="0" bIns="0" rtlCol="0" anchor="ctr"/>
          <a:lstStyle/>
          <a:p>
            <a:pPr indent="0" marL="0">
              <a:buNone/>
            </a:pPr>
            <a:r>
              <a:rPr lang="en-US" sz="1100" b="1" spc="120" kern="0" dirty="0">
                <a:solidFill>
                  <a:srgbClr val="5B6B7A"/>
                </a:solidFill>
                <a:latin typeface="Inter" pitchFamily="34" charset="0"/>
                <a:ea typeface="Inter" pitchFamily="34" charset="-122"/>
                <a:cs typeface="Inter" pitchFamily="34" charset="-120"/>
              </a:rPr>
              <a:t>FROM: MS. RIVERA  ·  TO: ROOM 12 FAMILIES  ·  SENT FRIDAY, 3:00 P.M.</a:t>
            </a:r>
            <a:endParaRPr lang="en-US" sz="1100" dirty="0"/>
          </a:p>
        </p:txBody>
      </p:sp>
      <p:sp>
        <p:nvSpPr>
          <p:cNvPr id="21" name="Text 18"/>
          <p:cNvSpPr/>
          <p:nvPr/>
        </p:nvSpPr>
        <p:spPr>
          <a:xfrm>
            <a:off x="1005840" y="1920240"/>
            <a:ext cx="10149840" cy="365760"/>
          </a:xfrm>
          <a:prstGeom prst="rect">
            <a:avLst/>
          </a:prstGeom>
          <a:noFill/>
          <a:ln/>
        </p:spPr>
        <p:txBody>
          <a:bodyPr wrap="square" lIns="0" tIns="0" rIns="0" bIns="0" rtlCol="0" anchor="ctr"/>
          <a:lstStyle/>
          <a:p>
            <a:pPr indent="0" marL="0">
              <a:buNone/>
            </a:pPr>
            <a:r>
              <a:rPr lang="en-US" sz="1700" b="1" dirty="0">
                <a:solidFill>
                  <a:srgbClr val="13293D"/>
                </a:solidFill>
                <a:latin typeface="Inter" pitchFamily="34" charset="0"/>
                <a:ea typeface="Inter" pitchFamily="34" charset="-122"/>
                <a:cs typeface="Inter" pitchFamily="34" charset="-120"/>
              </a:rPr>
              <a:t>Subject: This week in Room 12: three quick things</a:t>
            </a:r>
            <a:endParaRPr lang="en-US" sz="1700" dirty="0"/>
          </a:p>
        </p:txBody>
      </p:sp>
      <p:sp>
        <p:nvSpPr>
          <p:cNvPr id="22" name="Shape 19"/>
          <p:cNvSpPr/>
          <p:nvPr/>
        </p:nvSpPr>
        <p:spPr>
          <a:xfrm>
            <a:off x="914400" y="2304288"/>
            <a:ext cx="10424160" cy="3063240"/>
          </a:xfrm>
          <a:prstGeom prst="roundRect">
            <a:avLst>
              <a:gd name="adj" fmla="val 2687"/>
            </a:avLst>
          </a:prstGeom>
          <a:solidFill>
            <a:srgbClr val="F7F5F0"/>
          </a:solidFill>
          <a:ln w="12700">
            <a:solidFill>
              <a:srgbClr val="F7F5F0"/>
            </a:solidFill>
            <a:prstDash val="solid"/>
          </a:ln>
        </p:spPr>
      </p:sp>
      <p:sp>
        <p:nvSpPr>
          <p:cNvPr id="23" name="Text 20"/>
          <p:cNvSpPr/>
          <p:nvPr/>
        </p:nvSpPr>
        <p:spPr>
          <a:xfrm>
            <a:off x="1188720" y="2414016"/>
            <a:ext cx="9875520" cy="2880360"/>
          </a:xfrm>
          <a:prstGeom prst="rect">
            <a:avLst/>
          </a:prstGeom>
          <a:noFill/>
          <a:ln/>
        </p:spPr>
        <p:txBody>
          <a:bodyPr wrap="square" lIns="0" tIns="0" rIns="0" bIns="0" rtlCol="0" anchor="t"/>
          <a:lstStyle/>
          <a:p>
            <a:pPr indent="0" marL="0">
              <a:lnSpc>
                <a:spcPct val="112000"/>
              </a:lnSpc>
              <a:buNone/>
            </a:pPr>
            <a:r>
              <a:rPr lang="en-US" sz="1500" dirty="0">
                <a:solidFill>
                  <a:srgbClr val="1B1F24"/>
                </a:solidFill>
                <a:latin typeface="Inter" pitchFamily="34" charset="0"/>
                <a:ea typeface="Inter" pitchFamily="34" charset="-122"/>
                <a:cs typeface="Inter" pitchFamily="34" charset="-120"/>
              </a:rPr>
              <a:t>Hi families, happy Friday!
</a:t>
            </a:r>
            <a:pPr indent="0" marL="0">
              <a:lnSpc>
                <a:spcPct val="112000"/>
              </a:lnSpc>
              <a:buNone/>
            </a:pPr>
            <a:r>
              <a:rPr lang="en-US" sz="1500" dirty="0">
                <a:solidFill>
                  <a:srgbClr val="1B1F24"/>
                </a:solidFill>
                <a:latin typeface="Inter" pitchFamily="34" charset="0"/>
                <a:ea typeface="Inter" pitchFamily="34" charset="-122"/>
                <a:cs typeface="Inter" pitchFamily="34" charset="-120"/>
              </a:rPr>
              <a:t>Three quick things:
</a:t>
            </a:r>
            <a:pPr indent="0" marL="0">
              <a:lnSpc>
                <a:spcPct val="112000"/>
              </a:lnSpc>
              <a:buNone/>
            </a:pPr>
            <a:r>
              <a:rPr lang="en-US" sz="1500" b="1" dirty="0">
                <a:solidFill>
                  <a:srgbClr val="13293D"/>
                </a:solidFill>
                <a:latin typeface="Inter" pitchFamily="34" charset="0"/>
                <a:ea typeface="Inter" pitchFamily="34" charset="-122"/>
                <a:cs typeface="Inter" pitchFamily="34" charset="-120"/>
              </a:rPr>
              <a:t>•  Blue permission slip: back by Wednesday. Need a fresh copy? Just reply.
</a:t>
            </a:r>
            <a:pPr indent="0" marL="0">
              <a:lnSpc>
                <a:spcPct val="112000"/>
              </a:lnSpc>
              <a:buNone/>
            </a:pPr>
            <a:r>
              <a:rPr lang="en-US" sz="1500" b="1" dirty="0">
                <a:solidFill>
                  <a:srgbClr val="13293D"/>
                </a:solidFill>
                <a:latin typeface="Inter" pitchFamily="34" charset="0"/>
                <a:ea typeface="Inter" pitchFamily="34" charset="-122"/>
                <a:cs typeface="Inter" pitchFamily="34" charset="-120"/>
              </a:rPr>
              <a:t>•  Science fair: Thursday, 6:00 p.m., in the gym.
</a:t>
            </a:r>
            <a:pPr indent="0" marL="0">
              <a:lnSpc>
                <a:spcPct val="112000"/>
              </a:lnSpc>
              <a:buNone/>
            </a:pPr>
            <a:r>
              <a:rPr lang="en-US" sz="1500" b="1" dirty="0">
                <a:solidFill>
                  <a:srgbClr val="13293D"/>
                </a:solidFill>
                <a:latin typeface="Inter" pitchFamily="34" charset="0"/>
                <a:ea typeface="Inter" pitchFamily="34" charset="-122"/>
                <a:cs typeface="Inter" pitchFamily="34" charset="-120"/>
              </a:rPr>
              <a:t>•  Picture day: Friday.
</a:t>
            </a:r>
            <a:pPr indent="0" marL="0">
              <a:lnSpc>
                <a:spcPct val="112000"/>
              </a:lnSpc>
              <a:buNone/>
            </a:pPr>
            <a:r>
              <a:rPr lang="en-US" sz="1500" dirty="0">
                <a:solidFill>
                  <a:srgbClr val="1B1F24"/>
                </a:solidFill>
                <a:latin typeface="Inter" pitchFamily="34" charset="0"/>
                <a:ea typeface="Inter" pitchFamily="34" charset="-122"/>
                <a:cs typeface="Inter" pitchFamily="34" charset="-120"/>
              </a:rPr>
              <a:t>We finished fractions this week, and I was proud of how your kids stuck with the tricky parts.
</a:t>
            </a:r>
            <a:pPr indent="0" marL="0">
              <a:lnSpc>
                <a:spcPct val="112000"/>
              </a:lnSpc>
              <a:buNone/>
            </a:pPr>
            <a:r>
              <a:rPr lang="en-US" sz="1500" dirty="0">
                <a:solidFill>
                  <a:srgbClr val="1B1F24"/>
                </a:solidFill>
                <a:latin typeface="Inter" pitchFamily="34" charset="0"/>
                <a:ea typeface="Inter" pitchFamily="34" charset="-122"/>
                <a:cs typeface="Inter" pitchFamily="34" charset="-120"/>
              </a:rPr>
              <a:t>See you Thursday,</a:t>
            </a:r>
            <a:endParaRPr lang="en-US" sz="1500" dirty="0"/>
          </a:p>
          <a:p>
            <a:pPr indent="0" marL="0">
              <a:lnSpc>
                <a:spcPct val="112000"/>
              </a:lnSpc>
              <a:buNone/>
            </a:pPr>
            <a:r>
              <a:rPr lang="en-US" sz="1500" dirty="0">
                <a:solidFill>
                  <a:srgbClr val="1B1F24"/>
                </a:solidFill>
                <a:latin typeface="Inter" pitchFamily="34" charset="0"/>
                <a:ea typeface="Inter" pitchFamily="34" charset="-122"/>
                <a:cs typeface="Inter" pitchFamily="34" charset="-120"/>
              </a:rPr>
              <a:t>Ms. Rivera</a:t>
            </a:r>
            <a:endParaRPr lang="en-US" sz="1500" dirty="0"/>
          </a:p>
        </p:txBody>
      </p:sp>
      <p:sp>
        <p:nvSpPr>
          <p:cNvPr id="24" name="Shape 21"/>
          <p:cNvSpPr/>
          <p:nvPr/>
        </p:nvSpPr>
        <p:spPr>
          <a:xfrm>
            <a:off x="640080" y="5650992"/>
            <a:ext cx="10972800" cy="566928"/>
          </a:xfrm>
          <a:prstGeom prst="roundRect">
            <a:avLst>
              <a:gd name="adj" fmla="val 14516"/>
            </a:avLst>
          </a:prstGeom>
          <a:solidFill>
            <a:srgbClr val="13293D"/>
          </a:solidFill>
          <a:ln w="12700">
            <a:solidFill>
              <a:srgbClr val="13293D"/>
            </a:solidFill>
            <a:prstDash val="solid"/>
          </a:ln>
        </p:spPr>
      </p:sp>
      <p:sp>
        <p:nvSpPr>
          <p:cNvPr id="25" name="Text 22"/>
          <p:cNvSpPr/>
          <p:nvPr/>
        </p:nvSpPr>
        <p:spPr>
          <a:xfrm>
            <a:off x="960120" y="5650992"/>
            <a:ext cx="10332720" cy="566928"/>
          </a:xfrm>
          <a:prstGeom prst="rect">
            <a:avLst/>
          </a:prstGeom>
          <a:noFill/>
          <a:ln/>
        </p:spPr>
        <p:txBody>
          <a:bodyPr wrap="square" lIns="0" tIns="0" rIns="0" bIns="0" rtlCol="0" anchor="ctr"/>
          <a:lstStyle/>
          <a:p>
            <a:pPr algn="ctr" indent="0" marL="0">
              <a:buNone/>
            </a:pPr>
            <a:r>
              <a:rPr lang="en-US" sz="1400" b="1" dirty="0">
                <a:solidFill>
                  <a:srgbClr val="2A9D8F"/>
                </a:solidFill>
                <a:latin typeface="Inter" pitchFamily="34" charset="0"/>
                <a:ea typeface="Inter" pitchFamily="34" charset="-122"/>
                <a:cs typeface="Inter" pitchFamily="34" charset="-120"/>
              </a:rPr>
              <a:t>Eighteen minutes, one message.  </a:t>
            </a:r>
            <a:pPr algn="ctr" indent="0" marL="0">
              <a:buNone/>
            </a:pPr>
            <a:r>
              <a:rPr lang="en-US" sz="1400" dirty="0">
                <a:solidFill>
                  <a:srgbClr val="FFFFFF"/>
                </a:solidFill>
                <a:latin typeface="Inter" pitchFamily="34" charset="0"/>
                <a:ea typeface="Inter" pitchFamily="34" charset="-122"/>
                <a:cs typeface="Inter" pitchFamily="34" charset="-120"/>
              </a:rPr>
              <a:t>Every fact came off her sticky note. The tool supplied the shape; she supplied the voice and read every word before it sent.</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28</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share-out: v1's opening read against the final. Same facts; now it's her.</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LAB · SHARE-OUT · 3 VOICES, 1 MINUTE EACH</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Read us your before and after</a:t>
            </a:r>
            <a:endParaRPr lang="en-US" sz="3200" dirty="0"/>
          </a:p>
        </p:txBody>
      </p:sp>
      <p:sp>
        <p:nvSpPr>
          <p:cNvPr id="14" name="Text 11"/>
          <p:cNvSpPr/>
          <p:nvPr/>
        </p:nvSpPr>
        <p:spPr>
          <a:xfrm>
            <a:off x="640080" y="1417320"/>
            <a:ext cx="10972800" cy="2011680"/>
          </a:xfrm>
          <a:prstGeom prst="rect">
            <a:avLst/>
          </a:prstGeom>
          <a:noFill/>
          <a:ln/>
        </p:spPr>
        <p:txBody>
          <a:bodyPr wrap="square" rtlCol="0" anchor="t"/>
          <a:lstStyle/>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Your first draft, read against the version you just scheduled</a:t>
            </a:r>
            <a:endParaRPr lang="en-US" sz="1900" dirty="0"/>
          </a:p>
          <a:p>
            <a:pPr marL="342900" indent="-342900">
              <a:spcAft>
                <a:spcPts val="1000"/>
              </a:spcAft>
              <a:buSzPct val="100000"/>
              <a:buChar char="•"/>
            </a:pPr>
            <a:r>
              <a:rPr lang="en-US" sz="1900" dirty="0">
                <a:solidFill>
                  <a:srgbClr val="1B1F24"/>
                </a:solidFill>
                <a:latin typeface="Inter" pitchFamily="34" charset="0"/>
                <a:ea typeface="Inter" pitchFamily="34" charset="-122"/>
                <a:cs typeface="Inter" pitchFamily="34" charset="-120"/>
              </a:rPr>
              <a:t>Listen for how different the voices sound</a:t>
            </a:r>
            <a:endParaRPr lang="en-US" sz="1900" dirty="0"/>
          </a:p>
          <a:p>
            <a:pPr marL="342900" indent="-342900">
              <a:buSzPct val="100000"/>
              <a:buChar char="•"/>
            </a:pPr>
            <a:r>
              <a:rPr lang="en-US" sz="1900" b="1" dirty="0">
                <a:solidFill>
                  <a:srgbClr val="1B1F24"/>
                </a:solidFill>
                <a:latin typeface="Inter" pitchFamily="34" charset="0"/>
                <a:ea typeface="Inter" pitchFamily="34" charset="-122"/>
                <a:cs typeface="Inter" pitchFamily="34" charset="-120"/>
              </a:rPr>
              <a:t>Same tool, thirty teachers, thirty recognizable humans. That's the point.</a:t>
            </a:r>
            <a:endParaRPr lang="en-US" sz="1900" dirty="0"/>
          </a:p>
        </p:txBody>
      </p:sp>
      <p:sp>
        <p:nvSpPr>
          <p:cNvPr id="15" name="Shape 12"/>
          <p:cNvSpPr/>
          <p:nvPr/>
        </p:nvSpPr>
        <p:spPr>
          <a:xfrm>
            <a:off x="640080" y="3611880"/>
            <a:ext cx="5394960" cy="2103120"/>
          </a:xfrm>
          <a:prstGeom prst="roundRect">
            <a:avLst>
              <a:gd name="adj" fmla="val 3913"/>
            </a:avLst>
          </a:prstGeom>
          <a:solidFill>
            <a:srgbClr val="FBEFED"/>
          </a:solidFill>
          <a:ln w="12700">
            <a:solidFill>
              <a:srgbClr val="FBEFED"/>
            </a:solidFill>
            <a:prstDash val="solid"/>
          </a:ln>
        </p:spPr>
      </p:sp>
      <p:sp>
        <p:nvSpPr>
          <p:cNvPr id="16" name="Text 13"/>
          <p:cNvSpPr/>
          <p:nvPr/>
        </p:nvSpPr>
        <p:spPr>
          <a:xfrm>
            <a:off x="914400" y="3767328"/>
            <a:ext cx="4846320" cy="292608"/>
          </a:xfrm>
          <a:prstGeom prst="rect">
            <a:avLst/>
          </a:prstGeom>
          <a:noFill/>
          <a:ln/>
        </p:spPr>
        <p:txBody>
          <a:bodyPr wrap="square" lIns="0" tIns="0" rIns="0" bIns="0" rtlCol="0" anchor="ctr"/>
          <a:lstStyle/>
          <a:p>
            <a:pPr indent="0" marL="0">
              <a:buNone/>
            </a:pPr>
            <a:r>
              <a:rPr lang="en-US" sz="1150" b="1" spc="150" kern="0" dirty="0">
                <a:solidFill>
                  <a:srgbClr val="B4453A"/>
                </a:solidFill>
                <a:latin typeface="Inter" pitchFamily="34" charset="0"/>
                <a:ea typeface="Inter" pitchFamily="34" charset="-122"/>
                <a:cs typeface="Inter" pitchFamily="34" charset="-120"/>
              </a:rPr>
              <a:t>MS. RIVERA'S BEFORE</a:t>
            </a:r>
            <a:endParaRPr lang="en-US" sz="1150" dirty="0"/>
          </a:p>
        </p:txBody>
      </p:sp>
      <p:sp>
        <p:nvSpPr>
          <p:cNvPr id="17" name="Text 14"/>
          <p:cNvSpPr/>
          <p:nvPr/>
        </p:nvSpPr>
        <p:spPr>
          <a:xfrm>
            <a:off x="914400" y="4096512"/>
            <a:ext cx="4846320" cy="1508760"/>
          </a:xfrm>
          <a:prstGeom prst="rect">
            <a:avLst/>
          </a:prstGeom>
          <a:noFill/>
          <a:ln/>
        </p:spPr>
        <p:txBody>
          <a:bodyPr wrap="square" lIns="0" tIns="0" rIns="0" bIns="0" rtlCol="0" anchor="t"/>
          <a:lstStyle/>
          <a:p>
            <a:pPr indent="0" marL="0">
              <a:buNone/>
            </a:pPr>
            <a:r>
              <a:rPr lang="en-US" sz="1600" i="1" dirty="0">
                <a:solidFill>
                  <a:srgbClr val="1B1F24"/>
                </a:solidFill>
                <a:latin typeface="Inter" pitchFamily="34" charset="0"/>
                <a:ea typeface="Inter" pitchFamily="34" charset="-122"/>
                <a:cs typeface="Inter" pitchFamily="34" charset="-120"/>
              </a:rPr>
              <a:t>"Hello families! We had a wonderful week concluding our fractions unit. The students demonstrated excellent growth."</a:t>
            </a:r>
            <a:endParaRPr lang="en-US" sz="1600" dirty="0"/>
          </a:p>
        </p:txBody>
      </p:sp>
      <p:sp>
        <p:nvSpPr>
          <p:cNvPr id="18" name="Shape 15"/>
          <p:cNvSpPr/>
          <p:nvPr/>
        </p:nvSpPr>
        <p:spPr>
          <a:xfrm>
            <a:off x="6263640" y="3611880"/>
            <a:ext cx="5394960" cy="2103120"/>
          </a:xfrm>
          <a:prstGeom prst="roundRect">
            <a:avLst>
              <a:gd name="adj" fmla="val 3913"/>
            </a:avLst>
          </a:prstGeom>
          <a:solidFill>
            <a:srgbClr val="EAF5F3"/>
          </a:solidFill>
          <a:ln w="12700">
            <a:solidFill>
              <a:srgbClr val="EAF5F3"/>
            </a:solidFill>
            <a:prstDash val="solid"/>
          </a:ln>
        </p:spPr>
      </p:sp>
      <p:sp>
        <p:nvSpPr>
          <p:cNvPr id="19" name="Text 16"/>
          <p:cNvSpPr/>
          <p:nvPr/>
        </p:nvSpPr>
        <p:spPr>
          <a:xfrm>
            <a:off x="6537960" y="3767328"/>
            <a:ext cx="4846320" cy="292608"/>
          </a:xfrm>
          <a:prstGeom prst="rect">
            <a:avLst/>
          </a:prstGeom>
          <a:noFill/>
          <a:ln/>
        </p:spPr>
        <p:txBody>
          <a:bodyPr wrap="square" lIns="0" tIns="0" rIns="0" bIns="0" rtlCol="0" anchor="ctr"/>
          <a:lstStyle/>
          <a:p>
            <a:pPr indent="0" marL="0">
              <a:buNone/>
            </a:pPr>
            <a:r>
              <a:rPr lang="en-US" sz="1150" b="1" spc="150" kern="0" dirty="0">
                <a:solidFill>
                  <a:srgbClr val="2E7D5B"/>
                </a:solidFill>
                <a:latin typeface="Inter" pitchFamily="34" charset="0"/>
                <a:ea typeface="Inter" pitchFamily="34" charset="-122"/>
                <a:cs typeface="Inter" pitchFamily="34" charset="-120"/>
              </a:rPr>
              <a:t>MS. RIVERA'S AFTER</a:t>
            </a:r>
            <a:endParaRPr lang="en-US" sz="1150" dirty="0"/>
          </a:p>
        </p:txBody>
      </p:sp>
      <p:sp>
        <p:nvSpPr>
          <p:cNvPr id="20" name="Text 17"/>
          <p:cNvSpPr/>
          <p:nvPr/>
        </p:nvSpPr>
        <p:spPr>
          <a:xfrm>
            <a:off x="6537960" y="4096512"/>
            <a:ext cx="4846320" cy="1508760"/>
          </a:xfrm>
          <a:prstGeom prst="rect">
            <a:avLst/>
          </a:prstGeom>
          <a:noFill/>
          <a:ln/>
        </p:spPr>
        <p:txBody>
          <a:bodyPr wrap="square" lIns="0" tIns="0" rIns="0" bIns="0" rtlCol="0" anchor="t"/>
          <a:lstStyle/>
          <a:p>
            <a:pPr indent="0" marL="0">
              <a:buNone/>
            </a:pPr>
            <a:r>
              <a:rPr lang="en-US" sz="1500" i="1" dirty="0">
                <a:solidFill>
                  <a:srgbClr val="1B1F24"/>
                </a:solidFill>
                <a:latin typeface="Inter" pitchFamily="34" charset="0"/>
                <a:ea typeface="Inter" pitchFamily="34" charset="-122"/>
                <a:cs typeface="Inter" pitchFamily="34" charset="-120"/>
              </a:rPr>
              <a:t>"Hi families, happy Friday! Three quick things: blue permission slip back by Wednesday, science fair Thursday at 6:00, picture day Friday."</a:t>
            </a:r>
            <a:endParaRPr lang="en-US" sz="15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29</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inventory: newsletter scheduled; batch prompt queued; 24-hour rule armed.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EIGHTEEN MINUTES OF WORK, ON THE RECORD</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The inventory</a:t>
            </a:r>
            <a:endParaRPr lang="en-US" sz="3200" dirty="0"/>
          </a:p>
        </p:txBody>
      </p:sp>
      <p:sp>
        <p:nvSpPr>
          <p:cNvPr id="14" name="Shape 11"/>
          <p:cNvSpPr/>
          <p:nvPr/>
        </p:nvSpPr>
        <p:spPr>
          <a:xfrm>
            <a:off x="640080" y="1645920"/>
            <a:ext cx="10972800" cy="3291840"/>
          </a:xfrm>
          <a:prstGeom prst="roundRect">
            <a:avLst>
              <a:gd name="adj" fmla="val 2500"/>
            </a:avLst>
          </a:prstGeom>
          <a:solidFill>
            <a:srgbClr val="F7F5F0"/>
          </a:solidFill>
          <a:ln w="12700">
            <a:solidFill>
              <a:srgbClr val="F7F5F0"/>
            </a:solidFill>
            <a:prstDash val="solid"/>
          </a:ln>
        </p:spPr>
      </p:sp>
      <p:sp>
        <p:nvSpPr>
          <p:cNvPr id="15" name="Text 12"/>
          <p:cNvSpPr/>
          <p:nvPr/>
        </p:nvSpPr>
        <p:spPr>
          <a:xfrm>
            <a:off x="1005840" y="1920240"/>
            <a:ext cx="10241280" cy="2743200"/>
          </a:xfrm>
          <a:prstGeom prst="rect">
            <a:avLst/>
          </a:prstGeom>
          <a:noFill/>
          <a:ln/>
        </p:spPr>
        <p:txBody>
          <a:bodyPr wrap="square" lIns="0" tIns="0" rIns="0" bIns="0" rtlCol="0" anchor="ctr"/>
          <a:lstStyle/>
          <a:p>
            <a:pPr indent="0" marL="0">
              <a:buNone/>
            </a:pPr>
            <a:r>
              <a:rPr lang="en-US" sz="1900" dirty="0">
                <a:solidFill>
                  <a:srgbClr val="1B1F24"/>
                </a:solidFill>
                <a:latin typeface="Inter" pitchFamily="34" charset="0"/>
                <a:ea typeface="Inter" pitchFamily="34" charset="-122"/>
                <a:cs typeface="Inter" pitchFamily="34" charset="-120"/>
              </a:rPr>
              <a:t>Next week's real message: drafted, voiced, the hard sentence repaired, action items on top, and scheduled to send. Plus two habits ready to start: the positive-note batch (the prompt is on the handout; its first run is Send 2 on the First 48 Hours sheet) and the 24-hour rule for anything written angry.
</a:t>
            </a:r>
            <a:pPr indent="0" marL="0">
              <a:buNone/>
            </a:pPr>
            <a:r>
              <a:rPr lang="en-US" sz="1900" b="1" dirty="0">
                <a:solidFill>
                  <a:srgbClr val="13293D"/>
                </a:solidFill>
                <a:latin typeface="Inter" pitchFamily="34" charset="0"/>
                <a:ea typeface="Inter" pitchFamily="34" charset="-122"/>
                <a:cs typeface="Inter" pitchFamily="34" charset="-120"/>
              </a:rPr>
              <a:t>One message, start to finish, and nothing about it was hypothetical.</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30</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honest limits: AI can't know the family or repair trust it didn't build.</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THIS SERIES DOESN'T OVERSELL</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Honest limits</a:t>
            </a:r>
            <a:endParaRPr lang="en-US" sz="3200" dirty="0"/>
          </a:p>
        </p:txBody>
      </p:sp>
      <p:sp>
        <p:nvSpPr>
          <p:cNvPr id="14" name="Text 11"/>
          <p:cNvSpPr/>
          <p:nvPr/>
        </p:nvSpPr>
        <p:spPr>
          <a:xfrm>
            <a:off x="640080" y="1371600"/>
            <a:ext cx="10908792" cy="429768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The tool doesn't know your families, their histories, or what last year did to their trust; personalizing is where your knowledge enters</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It sounds fluent in every language, which is exactly why translation stays off your desk: fluent-sounding and faithful are different things, and you can't check the difference in a language you don't read</a:t>
            </a:r>
            <a:endParaRPr lang="en-US" sz="2100" dirty="0"/>
          </a:p>
          <a:p>
            <a:pPr marL="342900" indent="-342900">
              <a:spcAft>
                <a:spcPts val="1000"/>
              </a:spcAft>
              <a:buSzPct val="100000"/>
              <a:buChar char="•"/>
            </a:pPr>
            <a:r>
              <a:rPr lang="en-US" sz="2100" b="1" dirty="0">
                <a:solidFill>
                  <a:srgbClr val="1B1F24"/>
                </a:solidFill>
                <a:latin typeface="Inter" pitchFamily="34" charset="0"/>
                <a:ea typeface="Inter" pitchFamily="34" charset="-122"/>
                <a:cs typeface="Inter" pitchFamily="34" charset="-120"/>
              </a:rPr>
              <a:t>No tool repairs trust. Only consistency does. AI lowers the cost of consistency; that's its whole contribution, and it's a big one.</a:t>
            </a:r>
            <a:endParaRPr lang="en-US" sz="2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6 · AI for Communication   |   31</a:t>
            </a:r>
            <a:endParaRPr lang="en-US" sz="900" dirty="0"/>
          </a:p>
        </p:txBody>
      </p:sp>
      <p:sp>
        <p:nvSpPr>
          <p:cNvPr id="5" name="Shape 2"/>
          <p:cNvSpPr/>
          <p:nvPr/>
        </p:nvSpPr>
        <p:spPr>
          <a:xfrm>
            <a:off x="8732520" y="109728"/>
            <a:ext cx="2926080" cy="896112"/>
          </a:xfrm>
          <a:prstGeom prst="roundRect">
            <a:avLst>
              <a:gd name="adj" fmla="val 7143"/>
            </a:avLst>
          </a:prstGeom>
          <a:solidFill>
            <a:srgbClr val="1E3A50"/>
          </a:solidFill>
          <a:ln w="12700">
            <a:solidFill>
              <a:srgbClr val="2A4A63"/>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C9D4DE"/>
                </a:solidFill>
                <a:latin typeface="Inter" pitchFamily="34" charset="0"/>
                <a:ea typeface="Inter" pitchFamily="34" charset="-122"/>
                <a:cs typeface="Inter" pitchFamily="34" charset="-120"/>
              </a:rPr>
              <a:t>Her commitments: review and personalize everything; call first on hard news; one batch a week.</a:t>
            </a:r>
            <a:endParaRPr lang="en-US" sz="1000" dirty="0"/>
          </a:p>
        </p:txBody>
      </p:sp>
      <p:sp>
        <p:nvSpPr>
          <p:cNvPr id="12" name="Text 9"/>
          <p:cNvSpPr/>
          <p:nvPr/>
        </p:nvSpPr>
        <p:spPr>
          <a:xfrm>
            <a:off x="822960" y="1005840"/>
            <a:ext cx="10515600" cy="457200"/>
          </a:xfrm>
          <a:prstGeom prst="rect">
            <a:avLst/>
          </a:prstGeom>
          <a:noFill/>
          <a:ln/>
        </p:spPr>
        <p:txBody>
          <a:bodyPr wrap="square" lIns="0" tIns="0" rIns="0" bIns="0" rtlCol="0" anchor="ctr"/>
          <a:lstStyle/>
          <a:p>
            <a:pPr indent="0" marL="0">
              <a:buNone/>
            </a:pPr>
            <a:r>
              <a:rPr lang="en-US" sz="1500" b="1" spc="300" kern="0" dirty="0">
                <a:solidFill>
                  <a:srgbClr val="F4A825"/>
                </a:solidFill>
                <a:latin typeface="Inter" pitchFamily="34" charset="0"/>
                <a:ea typeface="Inter" pitchFamily="34" charset="-122"/>
                <a:cs typeface="Inter" pitchFamily="34" charset="-120"/>
              </a:rPr>
              <a:t>OUR THREE COMMITMENTS</a:t>
            </a:r>
            <a:endParaRPr lang="en-US" sz="1500" dirty="0"/>
          </a:p>
        </p:txBody>
      </p:sp>
      <p:sp>
        <p:nvSpPr>
          <p:cNvPr id="13" name="Shape 10"/>
          <p:cNvSpPr/>
          <p:nvPr/>
        </p:nvSpPr>
        <p:spPr>
          <a:xfrm>
            <a:off x="868680" y="1892808"/>
            <a:ext cx="640080" cy="640080"/>
          </a:xfrm>
          <a:prstGeom prst="ellipse">
            <a:avLst/>
          </a:prstGeom>
          <a:solidFill>
            <a:srgbClr val="2A9D8F"/>
          </a:solidFill>
          <a:ln w="12700">
            <a:solidFill>
              <a:srgbClr val="2A9D8F"/>
            </a:solidFill>
            <a:prstDash val="solid"/>
          </a:ln>
        </p:spPr>
      </p:sp>
      <p:sp>
        <p:nvSpPr>
          <p:cNvPr id="14" name="Text 11"/>
          <p:cNvSpPr/>
          <p:nvPr/>
        </p:nvSpPr>
        <p:spPr>
          <a:xfrm>
            <a:off x="868680" y="189280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1</a:t>
            </a:r>
            <a:endParaRPr lang="en-US" sz="2400" dirty="0"/>
          </a:p>
        </p:txBody>
      </p:sp>
      <p:sp>
        <p:nvSpPr>
          <p:cNvPr id="15" name="Text 12"/>
          <p:cNvSpPr/>
          <p:nvPr/>
        </p:nvSpPr>
        <p:spPr>
          <a:xfrm>
            <a:off x="1783080" y="1783080"/>
            <a:ext cx="9692640" cy="9144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Every AI-drafted message is reviewed and personalized before it sends; families hear me, not the tool</a:t>
            </a:r>
            <a:endParaRPr lang="en-US" sz="2000" dirty="0"/>
          </a:p>
        </p:txBody>
      </p:sp>
      <p:sp>
        <p:nvSpPr>
          <p:cNvPr id="16" name="Shape 13"/>
          <p:cNvSpPr/>
          <p:nvPr/>
        </p:nvSpPr>
        <p:spPr>
          <a:xfrm>
            <a:off x="868680" y="3081528"/>
            <a:ext cx="640080" cy="640080"/>
          </a:xfrm>
          <a:prstGeom prst="ellipse">
            <a:avLst/>
          </a:prstGeom>
          <a:solidFill>
            <a:srgbClr val="2A9D8F"/>
          </a:solidFill>
          <a:ln w="12700">
            <a:solidFill>
              <a:srgbClr val="2A9D8F"/>
            </a:solidFill>
            <a:prstDash val="solid"/>
          </a:ln>
        </p:spPr>
      </p:sp>
      <p:sp>
        <p:nvSpPr>
          <p:cNvPr id="17" name="Text 14"/>
          <p:cNvSpPr/>
          <p:nvPr/>
        </p:nvSpPr>
        <p:spPr>
          <a:xfrm>
            <a:off x="868680" y="308152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2</a:t>
            </a:r>
            <a:endParaRPr lang="en-US" sz="2400" dirty="0"/>
          </a:p>
        </p:txBody>
      </p:sp>
      <p:sp>
        <p:nvSpPr>
          <p:cNvPr id="18" name="Text 15"/>
          <p:cNvSpPr/>
          <p:nvPr/>
        </p:nvSpPr>
        <p:spPr>
          <a:xfrm>
            <a:off x="1783080" y="2971800"/>
            <a:ext cx="9692640" cy="9144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Hard news travels by voice first, mine, every time</a:t>
            </a:r>
            <a:endParaRPr lang="en-US" sz="2000" dirty="0"/>
          </a:p>
        </p:txBody>
      </p:sp>
      <p:sp>
        <p:nvSpPr>
          <p:cNvPr id="19" name="Shape 16"/>
          <p:cNvSpPr/>
          <p:nvPr/>
        </p:nvSpPr>
        <p:spPr>
          <a:xfrm>
            <a:off x="868680" y="4270248"/>
            <a:ext cx="640080" cy="640080"/>
          </a:xfrm>
          <a:prstGeom prst="ellipse">
            <a:avLst/>
          </a:prstGeom>
          <a:solidFill>
            <a:srgbClr val="2A9D8F"/>
          </a:solidFill>
          <a:ln w="12700">
            <a:solidFill>
              <a:srgbClr val="2A9D8F"/>
            </a:solidFill>
            <a:prstDash val="solid"/>
          </a:ln>
        </p:spPr>
      </p:sp>
      <p:sp>
        <p:nvSpPr>
          <p:cNvPr id="20" name="Text 17"/>
          <p:cNvSpPr/>
          <p:nvPr/>
        </p:nvSpPr>
        <p:spPr>
          <a:xfrm>
            <a:off x="868680" y="4270248"/>
            <a:ext cx="640080" cy="640080"/>
          </a:xfrm>
          <a:prstGeom prst="rect">
            <a:avLst/>
          </a:prstGeom>
          <a:noFill/>
          <a:ln/>
        </p:spPr>
        <p:txBody>
          <a:bodyPr wrap="square" lIns="0" tIns="0" rIns="0" bIns="0" rtlCol="0" anchor="ctr"/>
          <a:lstStyle/>
          <a:p>
            <a:pPr algn="ctr" indent="0" marL="0">
              <a:buNone/>
            </a:pPr>
            <a:r>
              <a:rPr lang="en-US" sz="2400" b="1" dirty="0">
                <a:solidFill>
                  <a:srgbClr val="FFFFFF"/>
                </a:solidFill>
                <a:latin typeface="Inter" pitchFamily="34" charset="0"/>
                <a:ea typeface="Inter" pitchFamily="34" charset="-122"/>
                <a:cs typeface="Inter" pitchFamily="34" charset="-120"/>
              </a:rPr>
              <a:t>3</a:t>
            </a:r>
            <a:endParaRPr lang="en-US" sz="2400" dirty="0"/>
          </a:p>
        </p:txBody>
      </p:sp>
      <p:sp>
        <p:nvSpPr>
          <p:cNvPr id="21" name="Text 18"/>
          <p:cNvSpPr/>
          <p:nvPr/>
        </p:nvSpPr>
        <p:spPr>
          <a:xfrm>
            <a:off x="1783080" y="4160520"/>
            <a:ext cx="9692640" cy="914400"/>
          </a:xfrm>
          <a:prstGeom prst="rect">
            <a:avLst/>
          </a:prstGeom>
          <a:noFill/>
          <a:ln/>
        </p:spPr>
        <p:txBody>
          <a:bodyPr wrap="square" lIns="0" tIns="0" rIns="0" bIns="0" rtlCol="0" anchor="ctr"/>
          <a:lstStyle/>
          <a:p>
            <a:pPr indent="0" marL="0">
              <a:buNone/>
            </a:pPr>
            <a:r>
              <a:rPr lang="en-US" sz="2000" dirty="0">
                <a:solidFill>
                  <a:srgbClr val="FFFFFF"/>
                </a:solidFill>
                <a:latin typeface="Inter" pitchFamily="34" charset="0"/>
                <a:ea typeface="Inter" pitchFamily="34" charset="-122"/>
                <a:cs typeface="Inter" pitchFamily="34" charset="-120"/>
              </a:rPr>
              <a:t>One positive-note batch a week: the one-sentence habit the research validated</a:t>
            </a:r>
            <a:endParaRPr lang="en-US" sz="2000" dirty="0"/>
          </a:p>
        </p:txBody>
      </p:sp>
      <p:sp>
        <p:nvSpPr>
          <p:cNvPr id="22" name="Text 19"/>
          <p:cNvSpPr/>
          <p:nvPr/>
        </p:nvSpPr>
        <p:spPr>
          <a:xfrm>
            <a:off x="822960" y="5577840"/>
            <a:ext cx="10515600" cy="502920"/>
          </a:xfrm>
          <a:prstGeom prst="rect">
            <a:avLst/>
          </a:prstGeom>
          <a:noFill/>
          <a:ln/>
        </p:spPr>
        <p:txBody>
          <a:bodyPr wrap="square" lIns="0" tIns="0" rIns="0" bIns="0" rtlCol="0" anchor="ctr"/>
          <a:lstStyle/>
          <a:p>
            <a:pPr indent="0" marL="0">
              <a:buNone/>
            </a:pPr>
            <a:r>
              <a:rPr lang="en-US" sz="1800" i="1" dirty="0">
                <a:solidFill>
                  <a:srgbClr val="2A9D8F"/>
                </a:solidFill>
                <a:latin typeface="Inter" pitchFamily="34" charset="0"/>
                <a:ea typeface="Inter" pitchFamily="34" charset="-122"/>
                <a:cs typeface="Inter" pitchFamily="34" charset="-120"/>
              </a:rPr>
              <a:t>Can I get a nod on those three?</a:t>
            </a:r>
            <a:endParaRPr lang="en-US" sz="1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32</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month: batch habit, a makeover swap, comms templates in the staff doc.</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THE 30-DAY PLAN, IN ONE SLIDE</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Where this goes next</a:t>
            </a:r>
            <a:endParaRPr lang="en-US" sz="3200" dirty="0"/>
          </a:p>
        </p:txBody>
      </p:sp>
      <p:sp>
        <p:nvSpPr>
          <p:cNvPr id="14" name="Text 11"/>
          <p:cNvSpPr/>
          <p:nvPr/>
        </p:nvSpPr>
        <p:spPr>
          <a:xfrm>
            <a:off x="822960" y="1554480"/>
            <a:ext cx="2011680" cy="73152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This week</a:t>
            </a:r>
            <a:endParaRPr lang="en-US" sz="1900" dirty="0"/>
          </a:p>
        </p:txBody>
      </p:sp>
      <p:sp>
        <p:nvSpPr>
          <p:cNvPr id="15" name="Text 12"/>
          <p:cNvSpPr/>
          <p:nvPr/>
        </p:nvSpPr>
        <p:spPr>
          <a:xfrm>
            <a:off x="2926080" y="1554480"/>
            <a:ext cx="8595360" cy="731520"/>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The lab message sends on schedule; the batch prompt gets its first run</a:t>
            </a:r>
            <a:endParaRPr lang="en-US" sz="1800" dirty="0"/>
          </a:p>
        </p:txBody>
      </p:sp>
      <p:sp>
        <p:nvSpPr>
          <p:cNvPr id="16" name="Text 13"/>
          <p:cNvSpPr/>
          <p:nvPr/>
        </p:nvSpPr>
        <p:spPr>
          <a:xfrm>
            <a:off x="822960" y="2514600"/>
            <a:ext cx="2011680" cy="73152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Week 2</a:t>
            </a:r>
            <a:endParaRPr lang="en-US" sz="1900" dirty="0"/>
          </a:p>
        </p:txBody>
      </p:sp>
      <p:sp>
        <p:nvSpPr>
          <p:cNvPr id="17" name="Text 14"/>
          <p:cNvSpPr/>
          <p:nvPr/>
        </p:nvSpPr>
        <p:spPr>
          <a:xfrm>
            <a:off x="2926080" y="2514600"/>
            <a:ext cx="8595360" cy="731520"/>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PLC · Batch Check: did week two's notes go out, and what came back?</a:t>
            </a:r>
            <a:endParaRPr lang="en-US" sz="1800" dirty="0"/>
          </a:p>
        </p:txBody>
      </p:sp>
      <p:sp>
        <p:nvSpPr>
          <p:cNvPr id="18" name="Text 15"/>
          <p:cNvSpPr/>
          <p:nvPr/>
        </p:nvSpPr>
        <p:spPr>
          <a:xfrm>
            <a:off x="822960" y="3474720"/>
            <a:ext cx="2011680" cy="73152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Week 3</a:t>
            </a:r>
            <a:endParaRPr lang="en-US" sz="1900" dirty="0"/>
          </a:p>
        </p:txBody>
      </p:sp>
      <p:sp>
        <p:nvSpPr>
          <p:cNvPr id="19" name="Text 16"/>
          <p:cNvSpPr/>
          <p:nvPr/>
        </p:nvSpPr>
        <p:spPr>
          <a:xfrm>
            <a:off x="2926080" y="3474720"/>
            <a:ext cx="8595360" cy="731520"/>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PLC · Message Makeover Swap: bring the month's hardest message; repair it together</a:t>
            </a:r>
            <a:endParaRPr lang="en-US" sz="1800" dirty="0"/>
          </a:p>
        </p:txBody>
      </p:sp>
      <p:sp>
        <p:nvSpPr>
          <p:cNvPr id="20" name="Text 17"/>
          <p:cNvSpPr/>
          <p:nvPr/>
        </p:nvSpPr>
        <p:spPr>
          <a:xfrm>
            <a:off x="822960" y="4434840"/>
            <a:ext cx="2011680" cy="731520"/>
          </a:xfrm>
          <a:prstGeom prst="rect">
            <a:avLst/>
          </a:prstGeom>
          <a:noFill/>
          <a:ln/>
        </p:spPr>
        <p:txBody>
          <a:bodyPr wrap="square" lIns="0" tIns="0" rIns="0" bIns="0" rtlCol="0" anchor="ctr"/>
          <a:lstStyle/>
          <a:p>
            <a:pPr indent="0" marL="0">
              <a:buNone/>
            </a:pPr>
            <a:r>
              <a:rPr lang="en-US" sz="1900" b="1" dirty="0">
                <a:solidFill>
                  <a:srgbClr val="2A9D8F"/>
                </a:solidFill>
                <a:latin typeface="Inter" pitchFamily="34" charset="0"/>
                <a:ea typeface="Inter" pitchFamily="34" charset="-122"/>
                <a:cs typeface="Inter" pitchFamily="34" charset="-120"/>
              </a:rPr>
              <a:t>Week 4</a:t>
            </a:r>
            <a:endParaRPr lang="en-US" sz="1900" dirty="0"/>
          </a:p>
        </p:txBody>
      </p:sp>
      <p:sp>
        <p:nvSpPr>
          <p:cNvPr id="21" name="Text 18"/>
          <p:cNvSpPr/>
          <p:nvPr/>
        </p:nvSpPr>
        <p:spPr>
          <a:xfrm>
            <a:off x="2926080" y="4434840"/>
            <a:ext cx="8595360" cy="731520"/>
          </a:xfrm>
          <a:prstGeom prst="rect">
            <a:avLst/>
          </a:prstGeom>
          <a:noFill/>
          <a:ln/>
        </p:spPr>
        <p:txBody>
          <a:bodyPr wrap="square" lIns="0" tIns="0" rIns="0" bIns="0" rtlCol="0" anchor="ctr"/>
          <a:lstStyle/>
          <a:p>
            <a:pPr indent="0" marL="0">
              <a:buNone/>
            </a:pPr>
            <a:r>
              <a:rPr lang="en-US" sz="1800" dirty="0">
                <a:solidFill>
                  <a:srgbClr val="1B1F24"/>
                </a:solidFill>
                <a:latin typeface="Inter" pitchFamily="34" charset="0"/>
                <a:ea typeface="Inter" pitchFamily="34" charset="-122"/>
                <a:cs typeface="Inter" pitchFamily="34" charset="-120"/>
              </a:rPr>
              <a:t>PLC · Template Harvest: best messages into the staff doc's Communication section</a:t>
            </a:r>
            <a:endParaRPr lang="en-US" sz="1800" dirty="0"/>
          </a:p>
        </p:txBody>
      </p:sp>
      <p:sp>
        <p:nvSpPr>
          <p:cNvPr id="22" name="Text 19"/>
          <p:cNvSpPr/>
          <p:nvPr/>
        </p:nvSpPr>
        <p:spPr>
          <a:xfrm>
            <a:off x="640080" y="5577840"/>
            <a:ext cx="10972800" cy="457200"/>
          </a:xfrm>
          <a:prstGeom prst="rect">
            <a:avLst/>
          </a:prstGeom>
          <a:noFill/>
          <a:ln/>
        </p:spPr>
        <p:txBody>
          <a:bodyPr wrap="square" lIns="0" tIns="0" rIns="0" bIns="0" rtlCol="0" anchor="ctr"/>
          <a:lstStyle/>
          <a:p>
            <a:pPr algn="ctr" indent="0" marL="0">
              <a:buNone/>
            </a:pPr>
            <a:r>
              <a:rPr lang="en-US" sz="2000" b="1" dirty="0">
                <a:solidFill>
                  <a:srgbClr val="13293D"/>
                </a:solidFill>
                <a:latin typeface="Inter" pitchFamily="34" charset="0"/>
                <a:ea typeface="Inter" pitchFamily="34" charset="-122"/>
                <a:cs typeface="Inter" pitchFamily="34" charset="-120"/>
              </a:rPr>
              <a:t>Nobody at this school writes the field-trip reminder from scratch again.</a:t>
            </a:r>
            <a:endParaRPr lang="en-US" sz="2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33</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48 hours: the newsletter sends Friday; the batch runs Monday; the hard reply finally goes.</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BEFORE FRIDAY</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First 48 hours: three sends</a:t>
            </a:r>
            <a:endParaRPr lang="en-US" sz="3200" dirty="0"/>
          </a:p>
        </p:txBody>
      </p:sp>
      <p:sp>
        <p:nvSpPr>
          <p:cNvPr id="14" name="Shape 11"/>
          <p:cNvSpPr/>
          <p:nvPr/>
        </p:nvSpPr>
        <p:spPr>
          <a:xfrm>
            <a:off x="640080" y="1554480"/>
            <a:ext cx="10972800" cy="1097280"/>
          </a:xfrm>
          <a:prstGeom prst="roundRect">
            <a:avLst>
              <a:gd name="adj" fmla="val 7500"/>
            </a:avLst>
          </a:prstGeom>
          <a:solidFill>
            <a:srgbClr val="F7F5F0"/>
          </a:solidFill>
          <a:ln w="12700">
            <a:solidFill>
              <a:srgbClr val="F7F5F0"/>
            </a:solidFill>
            <a:prstDash val="solid"/>
          </a:ln>
        </p:spPr>
      </p:sp>
      <p:sp>
        <p:nvSpPr>
          <p:cNvPr id="15" name="Text 12"/>
          <p:cNvSpPr/>
          <p:nvPr/>
        </p:nvSpPr>
        <p:spPr>
          <a:xfrm>
            <a:off x="914400" y="1737360"/>
            <a:ext cx="640080" cy="73152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1</a:t>
            </a:r>
            <a:endParaRPr lang="en-US" sz="2600" dirty="0"/>
          </a:p>
        </p:txBody>
      </p:sp>
      <p:sp>
        <p:nvSpPr>
          <p:cNvPr id="16" name="Text 13"/>
          <p:cNvSpPr/>
          <p:nvPr/>
        </p:nvSpPr>
        <p:spPr>
          <a:xfrm>
            <a:off x="1737360" y="1691640"/>
            <a:ext cx="6675120" cy="457200"/>
          </a:xfrm>
          <a:prstGeom prst="rect">
            <a:avLst/>
          </a:prstGeom>
          <a:noFill/>
          <a:ln/>
        </p:spPr>
        <p:txBody>
          <a:bodyPr wrap="square" lIns="0" tIns="0" rIns="0" bIns="0" rtlCol="0" anchor="ctr"/>
          <a:lstStyle/>
          <a:p>
            <a:pPr indent="0" marL="0">
              <a:buNone/>
            </a:pPr>
            <a:r>
              <a:rPr lang="en-US" sz="1800" b="1" dirty="0">
                <a:solidFill>
                  <a:srgbClr val="13293D"/>
                </a:solidFill>
                <a:latin typeface="Inter" pitchFamily="34" charset="0"/>
                <a:ea typeface="Inter" pitchFamily="34" charset="-122"/>
                <a:cs typeface="Inter" pitchFamily="34" charset="-120"/>
              </a:rPr>
              <a:t>Let the message you scheduled send</a:t>
            </a:r>
            <a:endParaRPr lang="en-US" sz="1800" dirty="0"/>
          </a:p>
        </p:txBody>
      </p:sp>
      <p:sp>
        <p:nvSpPr>
          <p:cNvPr id="17" name="Text 14"/>
          <p:cNvSpPr/>
          <p:nvPr/>
        </p:nvSpPr>
        <p:spPr>
          <a:xfrm>
            <a:off x="1737360" y="2121408"/>
            <a:ext cx="6675120" cy="41148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It's drafted, voiced, and repaired; it's done. Let it go out on time</a:t>
            </a:r>
            <a:endParaRPr lang="en-US" sz="1450" dirty="0"/>
          </a:p>
        </p:txBody>
      </p:sp>
      <p:sp>
        <p:nvSpPr>
          <p:cNvPr id="18" name="Text 15"/>
          <p:cNvSpPr/>
          <p:nvPr/>
        </p:nvSpPr>
        <p:spPr>
          <a:xfrm>
            <a:off x="9509760" y="1874520"/>
            <a:ext cx="1737360" cy="457200"/>
          </a:xfrm>
          <a:prstGeom prst="rect">
            <a:avLst/>
          </a:prstGeom>
          <a:noFill/>
          <a:ln/>
        </p:spPr>
        <p:txBody>
          <a:bodyPr wrap="square" lIns="0" tIns="0" rIns="0" bIns="0" rtlCol="0" anchor="ctr"/>
          <a:lstStyle/>
          <a:p>
            <a:pPr algn="r" indent="0" marL="0">
              <a:buNone/>
            </a:pPr>
            <a:r>
              <a:rPr lang="en-US" sz="1600" b="1" dirty="0">
                <a:solidFill>
                  <a:srgbClr val="2A9D8F"/>
                </a:solidFill>
                <a:latin typeface="Inter" pitchFamily="34" charset="0"/>
                <a:ea typeface="Inter" pitchFamily="34" charset="-122"/>
                <a:cs typeface="Inter" pitchFamily="34" charset="-120"/>
              </a:rPr>
              <a:t>~5 min</a:t>
            </a:r>
            <a:endParaRPr lang="en-US" sz="1600" dirty="0"/>
          </a:p>
        </p:txBody>
      </p:sp>
      <p:sp>
        <p:nvSpPr>
          <p:cNvPr id="19" name="Shape 16"/>
          <p:cNvSpPr/>
          <p:nvPr/>
        </p:nvSpPr>
        <p:spPr>
          <a:xfrm>
            <a:off x="640080" y="2834640"/>
            <a:ext cx="10972800" cy="1097280"/>
          </a:xfrm>
          <a:prstGeom prst="roundRect">
            <a:avLst>
              <a:gd name="adj" fmla="val 7500"/>
            </a:avLst>
          </a:prstGeom>
          <a:solidFill>
            <a:srgbClr val="F7F5F0"/>
          </a:solidFill>
          <a:ln w="12700">
            <a:solidFill>
              <a:srgbClr val="F7F5F0"/>
            </a:solidFill>
            <a:prstDash val="solid"/>
          </a:ln>
        </p:spPr>
      </p:sp>
      <p:sp>
        <p:nvSpPr>
          <p:cNvPr id="20" name="Text 17"/>
          <p:cNvSpPr/>
          <p:nvPr/>
        </p:nvSpPr>
        <p:spPr>
          <a:xfrm>
            <a:off x="914400" y="3017520"/>
            <a:ext cx="640080" cy="73152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2</a:t>
            </a:r>
            <a:endParaRPr lang="en-US" sz="2600" dirty="0"/>
          </a:p>
        </p:txBody>
      </p:sp>
      <p:sp>
        <p:nvSpPr>
          <p:cNvPr id="21" name="Text 18"/>
          <p:cNvSpPr/>
          <p:nvPr/>
        </p:nvSpPr>
        <p:spPr>
          <a:xfrm>
            <a:off x="1737360" y="2971800"/>
            <a:ext cx="6675120" cy="457200"/>
          </a:xfrm>
          <a:prstGeom prst="rect">
            <a:avLst/>
          </a:prstGeom>
          <a:noFill/>
          <a:ln/>
        </p:spPr>
        <p:txBody>
          <a:bodyPr wrap="square" lIns="0" tIns="0" rIns="0" bIns="0" rtlCol="0" anchor="ctr"/>
          <a:lstStyle/>
          <a:p>
            <a:pPr indent="0" marL="0">
              <a:buNone/>
            </a:pPr>
            <a:r>
              <a:rPr lang="en-US" sz="1800" b="1" dirty="0">
                <a:solidFill>
                  <a:srgbClr val="13293D"/>
                </a:solidFill>
                <a:latin typeface="Inter" pitchFamily="34" charset="0"/>
                <a:ea typeface="Inter" pitchFamily="34" charset="-122"/>
                <a:cs typeface="Inter" pitchFamily="34" charset="-120"/>
              </a:rPr>
              <a:t>Run the batch, send three notes</a:t>
            </a:r>
            <a:endParaRPr lang="en-US" sz="1800" dirty="0"/>
          </a:p>
        </p:txBody>
      </p:sp>
      <p:sp>
        <p:nvSpPr>
          <p:cNvPr id="22" name="Text 19"/>
          <p:cNvSpPr/>
          <p:nvPr/>
        </p:nvSpPr>
        <p:spPr>
          <a:xfrm>
            <a:off x="1737360" y="3401568"/>
            <a:ext cx="6675120" cy="41148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The handout prompt, three starters, personalized in your own email</a:t>
            </a:r>
            <a:endParaRPr lang="en-US" sz="1450" dirty="0"/>
          </a:p>
        </p:txBody>
      </p:sp>
      <p:sp>
        <p:nvSpPr>
          <p:cNvPr id="23" name="Text 20"/>
          <p:cNvSpPr/>
          <p:nvPr/>
        </p:nvSpPr>
        <p:spPr>
          <a:xfrm>
            <a:off x="9509760" y="3154680"/>
            <a:ext cx="1737360" cy="457200"/>
          </a:xfrm>
          <a:prstGeom prst="rect">
            <a:avLst/>
          </a:prstGeom>
          <a:noFill/>
          <a:ln/>
        </p:spPr>
        <p:txBody>
          <a:bodyPr wrap="square" lIns="0" tIns="0" rIns="0" bIns="0" rtlCol="0" anchor="ctr"/>
          <a:lstStyle/>
          <a:p>
            <a:pPr algn="r" indent="0" marL="0">
              <a:buNone/>
            </a:pPr>
            <a:r>
              <a:rPr lang="en-US" sz="1600" b="1" dirty="0">
                <a:solidFill>
                  <a:srgbClr val="2A9D8F"/>
                </a:solidFill>
                <a:latin typeface="Inter" pitchFamily="34" charset="0"/>
                <a:ea typeface="Inter" pitchFamily="34" charset="-122"/>
                <a:cs typeface="Inter" pitchFamily="34" charset="-120"/>
              </a:rPr>
              <a:t>~10 min</a:t>
            </a:r>
            <a:endParaRPr lang="en-US" sz="1600" dirty="0"/>
          </a:p>
        </p:txBody>
      </p:sp>
      <p:sp>
        <p:nvSpPr>
          <p:cNvPr id="24" name="Shape 21"/>
          <p:cNvSpPr/>
          <p:nvPr/>
        </p:nvSpPr>
        <p:spPr>
          <a:xfrm>
            <a:off x="640080" y="4114800"/>
            <a:ext cx="10972800" cy="1097280"/>
          </a:xfrm>
          <a:prstGeom prst="roundRect">
            <a:avLst>
              <a:gd name="adj" fmla="val 7500"/>
            </a:avLst>
          </a:prstGeom>
          <a:solidFill>
            <a:srgbClr val="F7F5F0"/>
          </a:solidFill>
          <a:ln w="12700">
            <a:solidFill>
              <a:srgbClr val="F7F5F0"/>
            </a:solidFill>
            <a:prstDash val="solid"/>
          </a:ln>
        </p:spPr>
      </p:sp>
      <p:sp>
        <p:nvSpPr>
          <p:cNvPr id="25" name="Text 22"/>
          <p:cNvSpPr/>
          <p:nvPr/>
        </p:nvSpPr>
        <p:spPr>
          <a:xfrm>
            <a:off x="914400" y="4297680"/>
            <a:ext cx="640080" cy="731520"/>
          </a:xfrm>
          <a:prstGeom prst="rect">
            <a:avLst/>
          </a:prstGeom>
          <a:noFill/>
          <a:ln/>
        </p:spPr>
        <p:txBody>
          <a:bodyPr wrap="square" lIns="0" tIns="0" rIns="0" bIns="0" rtlCol="0" anchor="ctr"/>
          <a:lstStyle/>
          <a:p>
            <a:pPr indent="0" marL="0">
              <a:buNone/>
            </a:pPr>
            <a:r>
              <a:rPr lang="en-US" sz="2600" b="1" dirty="0">
                <a:solidFill>
                  <a:srgbClr val="2A9D8F"/>
                </a:solidFill>
                <a:latin typeface="Inter" pitchFamily="34" charset="0"/>
                <a:ea typeface="Inter" pitchFamily="34" charset="-122"/>
                <a:cs typeface="Inter" pitchFamily="34" charset="-120"/>
              </a:rPr>
              <a:t>3</a:t>
            </a:r>
            <a:endParaRPr lang="en-US" sz="2600" dirty="0"/>
          </a:p>
        </p:txBody>
      </p:sp>
      <p:sp>
        <p:nvSpPr>
          <p:cNvPr id="26" name="Text 23"/>
          <p:cNvSpPr/>
          <p:nvPr/>
        </p:nvSpPr>
        <p:spPr>
          <a:xfrm>
            <a:off x="1737360" y="4251960"/>
            <a:ext cx="6675120" cy="457200"/>
          </a:xfrm>
          <a:prstGeom prst="rect">
            <a:avLst/>
          </a:prstGeom>
          <a:noFill/>
          <a:ln/>
        </p:spPr>
        <p:txBody>
          <a:bodyPr wrap="square" lIns="0" tIns="0" rIns="0" bIns="0" rtlCol="0" anchor="ctr"/>
          <a:lstStyle/>
          <a:p>
            <a:pPr indent="0" marL="0">
              <a:buNone/>
            </a:pPr>
            <a:r>
              <a:rPr lang="en-US" sz="1800" b="1" dirty="0">
                <a:solidFill>
                  <a:srgbClr val="13293D"/>
                </a:solidFill>
                <a:latin typeface="Inter" pitchFamily="34" charset="0"/>
                <a:ea typeface="Inter" pitchFamily="34" charset="-122"/>
                <a:cs typeface="Inter" pitchFamily="34" charset="-120"/>
              </a:rPr>
              <a:t>Send the reply you've been sitting on</a:t>
            </a:r>
            <a:endParaRPr lang="en-US" sz="1800" dirty="0"/>
          </a:p>
        </p:txBody>
      </p:sp>
      <p:sp>
        <p:nvSpPr>
          <p:cNvPr id="27" name="Text 24"/>
          <p:cNvSpPr/>
          <p:nvPr/>
        </p:nvSpPr>
        <p:spPr>
          <a:xfrm>
            <a:off x="1737360" y="4681728"/>
            <a:ext cx="6675120" cy="411480"/>
          </a:xfrm>
          <a:prstGeom prst="rect">
            <a:avLst/>
          </a:prstGeom>
          <a:noFill/>
          <a:ln/>
        </p:spPr>
        <p:txBody>
          <a:bodyPr wrap="square" lIns="0" tIns="0" rIns="0" bIns="0" rtlCol="0" anchor="ctr"/>
          <a:lstStyle/>
          <a:p>
            <a:pPr indent="0" marL="0">
              <a:buNone/>
            </a:pPr>
            <a:r>
              <a:rPr lang="en-US" sz="1450" dirty="0">
                <a:solidFill>
                  <a:srgbClr val="5B6B7A"/>
                </a:solidFill>
                <a:latin typeface="Inter" pitchFamily="34" charset="0"/>
                <a:ea typeface="Inter" pitchFamily="34" charset="-122"/>
                <a:cs typeface="Inter" pitchFamily="34" charset="-120"/>
              </a:rPr>
              <a:t>The tool absorbs the heat (no names); the 24-hour rule sets the clock</a:t>
            </a:r>
            <a:endParaRPr lang="en-US" sz="1450" dirty="0"/>
          </a:p>
        </p:txBody>
      </p:sp>
      <p:sp>
        <p:nvSpPr>
          <p:cNvPr id="28" name="Text 25"/>
          <p:cNvSpPr/>
          <p:nvPr/>
        </p:nvSpPr>
        <p:spPr>
          <a:xfrm>
            <a:off x="9509760" y="4434840"/>
            <a:ext cx="1737360" cy="457200"/>
          </a:xfrm>
          <a:prstGeom prst="rect">
            <a:avLst/>
          </a:prstGeom>
          <a:noFill/>
          <a:ln/>
        </p:spPr>
        <p:txBody>
          <a:bodyPr wrap="square" lIns="0" tIns="0" rIns="0" bIns="0" rtlCol="0" anchor="ctr"/>
          <a:lstStyle/>
          <a:p>
            <a:pPr algn="r" indent="0" marL="0">
              <a:buNone/>
            </a:pPr>
            <a:r>
              <a:rPr lang="en-US" sz="1600" b="1" dirty="0">
                <a:solidFill>
                  <a:srgbClr val="2A9D8F"/>
                </a:solidFill>
                <a:latin typeface="Inter" pitchFamily="34" charset="0"/>
                <a:ea typeface="Inter" pitchFamily="34" charset="-122"/>
                <a:cs typeface="Inter" pitchFamily="34" charset="-120"/>
              </a:rPr>
              <a:t>~10 min</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13293D"/>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5B6B7A"/>
                </a:solidFill>
                <a:latin typeface="Inter" pitchFamily="34" charset="0"/>
                <a:ea typeface="Inter" pitchFamily="34" charset="-122"/>
                <a:cs typeface="Inter" pitchFamily="34" charset="-120"/>
              </a:rPr>
              <a:t>Kit 6 · AI for Communication   |   34</a:t>
            </a:r>
            <a:endParaRPr lang="en-US" sz="900" dirty="0"/>
          </a:p>
        </p:txBody>
      </p:sp>
      <p:sp>
        <p:nvSpPr>
          <p:cNvPr id="5" name="Shape 2"/>
          <p:cNvSpPr/>
          <p:nvPr/>
        </p:nvSpPr>
        <p:spPr>
          <a:xfrm>
            <a:off x="8732520" y="109728"/>
            <a:ext cx="2926080" cy="896112"/>
          </a:xfrm>
          <a:prstGeom prst="roundRect">
            <a:avLst>
              <a:gd name="adj" fmla="val 7143"/>
            </a:avLst>
          </a:prstGeom>
          <a:solidFill>
            <a:srgbClr val="F7F5F0"/>
          </a:solidFill>
          <a:ln w="12700">
            <a:solidFill>
              <a:srgbClr val="DCE3EA"/>
            </a:solidFill>
            <a:prstDash val="solid"/>
          </a:ln>
        </p:spPr>
      </p:sp>
      <p:sp>
        <p:nvSpPr>
          <p:cNvPr id="6" name="Shape 3"/>
          <p:cNvSpPr/>
          <p:nvPr/>
        </p:nvSpPr>
        <p:spPr>
          <a:xfrm>
            <a:off x="8732520" y="109728"/>
            <a:ext cx="2926080" cy="237744"/>
          </a:xfrm>
          <a:prstGeom prst="roundRect">
            <a:avLst>
              <a:gd name="adj" fmla="val 26923"/>
            </a:avLst>
          </a:prstGeom>
          <a:solidFill>
            <a:srgbClr val="0D1E2E"/>
          </a:solidFill>
          <a:ln w="12700">
            <a:solidFill>
              <a:srgbClr val="0D1E2E"/>
            </a:solidFill>
            <a:prstDash val="solid"/>
          </a:ln>
        </p:spPr>
      </p:sp>
      <p:sp>
        <p:nvSpPr>
          <p:cNvPr id="7" name="Shape 4"/>
          <p:cNvSpPr/>
          <p:nvPr/>
        </p:nvSpPr>
        <p:spPr>
          <a:xfrm>
            <a:off x="8823960" y="182880"/>
            <a:ext cx="91440" cy="91440"/>
          </a:xfrm>
          <a:prstGeom prst="ellipse">
            <a:avLst/>
          </a:prstGeom>
          <a:solidFill>
            <a:srgbClr val="E8837A"/>
          </a:solidFill>
          <a:ln w="12700">
            <a:solidFill>
              <a:srgbClr val="E8837A"/>
            </a:solidFill>
            <a:prstDash val="solid"/>
          </a:ln>
        </p:spPr>
      </p:sp>
      <p:sp>
        <p:nvSpPr>
          <p:cNvPr id="8" name="Shape 5"/>
          <p:cNvSpPr/>
          <p:nvPr/>
        </p:nvSpPr>
        <p:spPr>
          <a:xfrm>
            <a:off x="8970264" y="182880"/>
            <a:ext cx="91440" cy="91440"/>
          </a:xfrm>
          <a:prstGeom prst="ellipse">
            <a:avLst/>
          </a:prstGeom>
          <a:solidFill>
            <a:srgbClr val="F4A825"/>
          </a:solidFill>
          <a:ln w="12700">
            <a:solidFill>
              <a:srgbClr val="F4A825"/>
            </a:solidFill>
            <a:prstDash val="solid"/>
          </a:ln>
        </p:spPr>
      </p:sp>
      <p:sp>
        <p:nvSpPr>
          <p:cNvPr id="9" name="Shape 6"/>
          <p:cNvSpPr/>
          <p:nvPr/>
        </p:nvSpPr>
        <p:spPr>
          <a:xfrm>
            <a:off x="9116568" y="182880"/>
            <a:ext cx="91440" cy="91440"/>
          </a:xfrm>
          <a:prstGeom prst="ellipse">
            <a:avLst/>
          </a:prstGeom>
          <a:solidFill>
            <a:srgbClr val="2E7D5B"/>
          </a:solidFill>
          <a:ln w="12700">
            <a:solidFill>
              <a:srgbClr val="2E7D5B"/>
            </a:solidFill>
            <a:prstDash val="solid"/>
          </a:ln>
        </p:spPr>
      </p:sp>
      <p:sp>
        <p:nvSpPr>
          <p:cNvPr id="10" name="Text 7"/>
          <p:cNvSpPr/>
          <p:nvPr/>
        </p:nvSpPr>
        <p:spPr>
          <a:xfrm>
            <a:off x="9299448" y="109728"/>
            <a:ext cx="2286000" cy="237744"/>
          </a:xfrm>
          <a:prstGeom prst="rect">
            <a:avLst/>
          </a:prstGeom>
          <a:noFill/>
          <a:ln/>
        </p:spPr>
        <p:txBody>
          <a:bodyPr wrap="square" lIns="0" tIns="0" rIns="0" bIns="0" rtlCol="0" anchor="ctr"/>
          <a:lstStyle/>
          <a:p>
            <a:pPr indent="0" marL="0">
              <a:buNone/>
            </a:pPr>
            <a:r>
              <a:rPr lang="en-US" sz="800" b="1" spc="100" kern="0" dirty="0">
                <a:solidFill>
                  <a:srgbClr val="9FB2C2"/>
                </a:solidFill>
                <a:latin typeface="Inter" pitchFamily="34" charset="0"/>
                <a:ea typeface="Inter" pitchFamily="34" charset="-122"/>
                <a:cs typeface="Inter" pitchFamily="34" charset="-120"/>
              </a:rPr>
              <a:t>MS. RIVERA'S SCREEN · SO FAR</a:t>
            </a:r>
            <a:endParaRPr lang="en-US" sz="800" dirty="0"/>
          </a:p>
        </p:txBody>
      </p:sp>
      <p:sp>
        <p:nvSpPr>
          <p:cNvPr id="11" name="Text 8"/>
          <p:cNvSpPr/>
          <p:nvPr/>
        </p:nvSpPr>
        <p:spPr>
          <a:xfrm>
            <a:off x="8860536" y="365760"/>
            <a:ext cx="2670048" cy="566928"/>
          </a:xfrm>
          <a:prstGeom prst="rect">
            <a:avLst/>
          </a:prstGeom>
          <a:noFill/>
          <a:ln/>
        </p:spPr>
        <p:txBody>
          <a:bodyPr wrap="square" lIns="0" tIns="0" rIns="0" bIns="0" rtlCol="0" anchor="ctr"/>
          <a:lstStyle/>
          <a:p>
            <a:pPr indent="0" marL="0">
              <a:buNone/>
            </a:pPr>
            <a:r>
              <a:rPr lang="en-US" sz="1000" dirty="0">
                <a:solidFill>
                  <a:srgbClr val="1B1F24"/>
                </a:solidFill>
                <a:latin typeface="Inter" pitchFamily="34" charset="0"/>
                <a:ea typeface="Inter" pitchFamily="34" charset="-122"/>
                <a:cs typeface="Inter" pitchFamily="34" charset="-120"/>
              </a:rPr>
              <a:t>Her exit ticket: what she drafted, her note-batch plan, one worry.</a:t>
            </a:r>
            <a:endParaRPr lang="en-US" sz="1000" dirty="0"/>
          </a:p>
        </p:txBody>
      </p:sp>
      <p:sp>
        <p:nvSpPr>
          <p:cNvPr id="12" name="Text 9"/>
          <p:cNvSpPr/>
          <p:nvPr/>
        </p:nvSpPr>
        <p:spPr>
          <a:xfrm>
            <a:off x="566928" y="128016"/>
            <a:ext cx="7955280" cy="274320"/>
          </a:xfrm>
          <a:prstGeom prst="rect">
            <a:avLst/>
          </a:prstGeom>
          <a:noFill/>
          <a:ln/>
        </p:spPr>
        <p:txBody>
          <a:bodyPr wrap="square" lIns="0" tIns="0" rIns="0" bIns="0" rtlCol="0" anchor="ctr"/>
          <a:lstStyle/>
          <a:p>
            <a:pPr indent="0" marL="0">
              <a:buNone/>
            </a:pPr>
            <a:r>
              <a:rPr lang="en-US" sz="1200" b="1" spc="200" kern="0" dirty="0">
                <a:solidFill>
                  <a:srgbClr val="2A9D8F"/>
                </a:solidFill>
                <a:latin typeface="Inter" pitchFamily="34" charset="0"/>
                <a:ea typeface="Inter" pitchFamily="34" charset="-122"/>
                <a:cs typeface="Inter" pitchFamily="34" charset="-120"/>
              </a:rPr>
              <a:t>TWO MINUTES, AT THE DOOR</a:t>
            </a:r>
            <a:endParaRPr lang="en-US" sz="1200" dirty="0"/>
          </a:p>
        </p:txBody>
      </p:sp>
      <p:sp>
        <p:nvSpPr>
          <p:cNvPr id="13" name="Text 10"/>
          <p:cNvSpPr/>
          <p:nvPr/>
        </p:nvSpPr>
        <p:spPr>
          <a:xfrm>
            <a:off x="548640" y="384048"/>
            <a:ext cx="7955280" cy="777240"/>
          </a:xfrm>
          <a:prstGeom prst="rect">
            <a:avLst/>
          </a:prstGeom>
          <a:noFill/>
          <a:ln/>
        </p:spPr>
        <p:txBody>
          <a:bodyPr wrap="square" lIns="0" tIns="0" rIns="0" bIns="0" rtlCol="0" anchor="ctr"/>
          <a:lstStyle/>
          <a:p>
            <a:pPr indent="0" marL="0">
              <a:buNone/>
            </a:pPr>
            <a:r>
              <a:rPr lang="en-US" sz="3200" b="1" dirty="0">
                <a:solidFill>
                  <a:srgbClr val="13293D"/>
                </a:solidFill>
                <a:latin typeface="Inter" pitchFamily="34" charset="0"/>
                <a:ea typeface="Inter" pitchFamily="34" charset="-122"/>
                <a:cs typeface="Inter" pitchFamily="34" charset="-120"/>
              </a:rPr>
              <a:t>Exit ticket</a:t>
            </a:r>
            <a:endParaRPr lang="en-US" sz="3200" dirty="0"/>
          </a:p>
        </p:txBody>
      </p:sp>
      <p:sp>
        <p:nvSpPr>
          <p:cNvPr id="14" name="Text 11"/>
          <p:cNvSpPr/>
          <p:nvPr/>
        </p:nvSpPr>
        <p:spPr>
          <a:xfrm>
            <a:off x="640080" y="1371600"/>
            <a:ext cx="10908792" cy="4297680"/>
          </a:xfrm>
          <a:prstGeom prst="rect">
            <a:avLst/>
          </a:prstGeom>
          <a:noFill/>
          <a:ln/>
        </p:spPr>
        <p:txBody>
          <a:bodyPr wrap="square" rtlCol="0" anchor="t"/>
          <a:lstStyle/>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The message you drafted, and when it goes out</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Your positive-note plan: batch day and how you'll personalize</a:t>
            </a:r>
            <a:endParaRPr lang="en-US" sz="2100" dirty="0"/>
          </a:p>
          <a:p>
            <a:pPr marL="342900" indent="-342900">
              <a:spcAft>
                <a:spcPts val="1000"/>
              </a:spcAft>
              <a:buSzPct val="100000"/>
              <a:buChar char="•"/>
            </a:pPr>
            <a:r>
              <a:rPr lang="en-US" sz="2100" b="1" dirty="0">
                <a:solidFill>
                  <a:srgbClr val="1B1F24"/>
                </a:solidFill>
                <a:latin typeface="Inter" pitchFamily="34" charset="0"/>
                <a:ea typeface="Inter" pitchFamily="34" charset="-122"/>
                <a:cs typeface="Inter" pitchFamily="34" charset="-120"/>
              </a:rPr>
              <a:t>The communication situation you still want help with</a:t>
            </a:r>
            <a:endParaRPr lang="en-US" sz="2100" dirty="0"/>
          </a:p>
          <a:p>
            <a:pPr marL="342900" indent="-342900">
              <a:spcAft>
                <a:spcPts val="1000"/>
              </a:spcAft>
              <a:buSzPct val="100000"/>
              <a:buChar char="•"/>
            </a:pPr>
            <a:r>
              <a:rPr lang="en-US" sz="2100" dirty="0">
                <a:solidFill>
                  <a:srgbClr val="1B1F24"/>
                </a:solidFill>
                <a:latin typeface="Inter" pitchFamily="34" charset="0"/>
                <a:ea typeface="Inter" pitchFamily="34" charset="-122"/>
                <a:cs typeface="Inter" pitchFamily="34" charset="-120"/>
              </a:rPr>
              <a:t>It doubles as the school's PD documentation</a:t>
            </a:r>
            <a:endParaRPr lang="en-US" sz="2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3293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11480" y="6473952"/>
            <a:ext cx="237744" cy="219456"/>
          </a:xfrm>
          <a:prstGeom prst="rect">
            <a:avLst/>
          </a:prstGeom>
        </p:spPr>
      </p:pic>
      <p:sp>
        <p:nvSpPr>
          <p:cNvPr id="3" name="Text 0"/>
          <p:cNvSpPr/>
          <p:nvPr/>
        </p:nvSpPr>
        <p:spPr>
          <a:xfrm>
            <a:off x="685800" y="6428232"/>
            <a:ext cx="2011680" cy="292608"/>
          </a:xfrm>
          <a:prstGeom prst="rect">
            <a:avLst/>
          </a:prstGeom>
          <a:noFill/>
          <a:ln/>
        </p:spPr>
        <p:txBody>
          <a:bodyPr wrap="square" lIns="0" tIns="0" rIns="0" bIns="0" rtlCol="0" anchor="ctr"/>
          <a:lstStyle/>
          <a:p>
            <a:pPr indent="0" marL="0">
              <a:buNone/>
            </a:pPr>
            <a:r>
              <a:rPr lang="en-US" sz="1000" b="1" dirty="0">
                <a:solidFill>
                  <a:srgbClr val="2A9D8F"/>
                </a:solidFill>
                <a:latin typeface="Inter" pitchFamily="34" charset="0"/>
                <a:ea typeface="Inter" pitchFamily="34" charset="-122"/>
                <a:cs typeface="Inter" pitchFamily="34" charset="-120"/>
              </a:rPr>
              <a:t>AI-Ready</a:t>
            </a:r>
            <a:pPr indent="0" marL="0">
              <a:buNone/>
            </a:pPr>
            <a:r>
              <a:rPr lang="en-US" sz="1000" b="1" dirty="0">
                <a:solidFill>
                  <a:srgbClr val="FFFFFF"/>
                </a:solidFill>
                <a:latin typeface="Inter" pitchFamily="34" charset="0"/>
                <a:ea typeface="Inter" pitchFamily="34" charset="-122"/>
                <a:cs typeface="Inter" pitchFamily="34" charset="-120"/>
              </a:rPr>
              <a:t> School</a:t>
            </a:r>
            <a:endParaRPr lang="en-US" sz="1000" dirty="0"/>
          </a:p>
        </p:txBody>
      </p:sp>
      <p:sp>
        <p:nvSpPr>
          <p:cNvPr id="4" name="Text 1"/>
          <p:cNvSpPr/>
          <p:nvPr/>
        </p:nvSpPr>
        <p:spPr>
          <a:xfrm>
            <a:off x="8622792" y="6428232"/>
            <a:ext cx="3154680" cy="292608"/>
          </a:xfrm>
          <a:prstGeom prst="rect">
            <a:avLst/>
          </a:prstGeom>
          <a:noFill/>
          <a:ln/>
        </p:spPr>
        <p:txBody>
          <a:bodyPr wrap="square" lIns="0" tIns="0" rIns="0" bIns="0" rtlCol="0" anchor="ctr"/>
          <a:lstStyle/>
          <a:p>
            <a:pPr algn="r" indent="0" marL="0">
              <a:buNone/>
            </a:pPr>
            <a:r>
              <a:rPr lang="en-US" sz="900" dirty="0">
                <a:solidFill>
                  <a:srgbClr val="9FB2C2"/>
                </a:solidFill>
                <a:latin typeface="Inter" pitchFamily="34" charset="0"/>
                <a:ea typeface="Inter" pitchFamily="34" charset="-122"/>
                <a:cs typeface="Inter" pitchFamily="34" charset="-120"/>
              </a:rPr>
              <a:t>Kit 6 · AI for Communication   |   35</a:t>
            </a:r>
            <a:endParaRPr lang="en-US" sz="900" dirty="0"/>
          </a:p>
        </p:txBody>
      </p:sp>
      <p:sp>
        <p:nvSpPr>
          <p:cNvPr id="5" name="Text 2"/>
          <p:cNvSpPr/>
          <p:nvPr/>
        </p:nvSpPr>
        <p:spPr>
          <a:xfrm>
            <a:off x="822960" y="1645920"/>
            <a:ext cx="10515600" cy="2103120"/>
          </a:xfrm>
          <a:prstGeom prst="rect">
            <a:avLst/>
          </a:prstGeom>
          <a:noFill/>
          <a:ln/>
        </p:spPr>
        <p:txBody>
          <a:bodyPr wrap="square" lIns="0" tIns="0" rIns="0" bIns="0" rtlCol="0" anchor="ctr"/>
          <a:lstStyle/>
          <a:p>
            <a:pPr indent="0" marL="0">
              <a:lnSpc>
                <a:spcPct val="120000"/>
              </a:lnSpc>
              <a:buNone/>
            </a:pPr>
            <a:r>
              <a:rPr lang="en-US" sz="3200" b="1" dirty="0">
                <a:solidFill>
                  <a:srgbClr val="FFFFFF"/>
                </a:solidFill>
                <a:latin typeface="Inter" pitchFamily="34" charset="0"/>
                <a:ea typeface="Inter" pitchFamily="34" charset="-122"/>
                <a:cs typeface="Inter" pitchFamily="34" charset="-120"/>
              </a:rPr>
              <a:t>Nobody remembers a beige newsletter.</a:t>
            </a:r>
            <a:endParaRPr lang="en-US" sz="3200" dirty="0"/>
          </a:p>
          <a:p>
            <a:pPr indent="0" marL="0">
              <a:lnSpc>
                <a:spcPct val="120000"/>
              </a:lnSpc>
              <a:buNone/>
            </a:pPr>
            <a:r>
              <a:rPr lang="en-US" sz="3200" b="1" dirty="0">
                <a:solidFill>
                  <a:srgbClr val="FFFFFF"/>
                </a:solidFill>
                <a:latin typeface="Inter" pitchFamily="34" charset="0"/>
                <a:ea typeface="Inter" pitchFamily="34" charset="-122"/>
                <a:cs typeface="Inter" pitchFamily="34" charset="-120"/>
              </a:rPr>
              <a:t>Nobody forgets the teacher who sent home</a:t>
            </a:r>
            <a:endParaRPr lang="en-US" sz="3200" dirty="0"/>
          </a:p>
          <a:p>
            <a:pPr indent="0" marL="0">
              <a:lnSpc>
                <a:spcPct val="120000"/>
              </a:lnSpc>
              <a:buNone/>
            </a:pPr>
            <a:r>
              <a:rPr lang="en-US" sz="3200" b="1" dirty="0">
                <a:solidFill>
                  <a:srgbClr val="FFFFFF"/>
                </a:solidFill>
                <a:latin typeface="Inter" pitchFamily="34" charset="0"/>
                <a:ea typeface="Inter" pitchFamily="34" charset="-122"/>
                <a:cs typeface="Inter" pitchFamily="34" charset="-120"/>
              </a:rPr>
              <a:t>one true sentence about their kid.</a:t>
            </a:r>
            <a:endParaRPr lang="en-US" sz="3200" dirty="0"/>
          </a:p>
        </p:txBody>
      </p:sp>
      <p:sp>
        <p:nvSpPr>
          <p:cNvPr id="6" name="Text 3"/>
          <p:cNvSpPr/>
          <p:nvPr/>
        </p:nvSpPr>
        <p:spPr>
          <a:xfrm>
            <a:off x="822960" y="4023360"/>
            <a:ext cx="10332720" cy="640080"/>
          </a:xfrm>
          <a:prstGeom prst="rect">
            <a:avLst/>
          </a:prstGeom>
          <a:noFill/>
          <a:ln/>
        </p:spPr>
        <p:txBody>
          <a:bodyPr wrap="square" lIns="0" tIns="0" rIns="0" bIns="0" rtlCol="0" anchor="ctr"/>
          <a:lstStyle/>
          <a:p>
            <a:pPr indent="0" marL="0">
              <a:buNone/>
            </a:pPr>
            <a:r>
              <a:rPr lang="en-US" sz="2200" b="1" dirty="0">
                <a:solidFill>
                  <a:srgbClr val="2A9D8F"/>
                </a:solidFill>
                <a:latin typeface="Inter" pitchFamily="34" charset="0"/>
                <a:ea typeface="Inter" pitchFamily="34" charset="-122"/>
                <a:cs typeface="Inter" pitchFamily="34" charset="-120"/>
              </a:rPr>
              <a:t>The tool writes drafts now. The sentences families keep are still yours.</a:t>
            </a:r>
            <a:endParaRPr lang="en-US" sz="2200" dirty="0"/>
          </a:p>
        </p:txBody>
      </p:sp>
      <p:sp>
        <p:nvSpPr>
          <p:cNvPr id="7" name="Text 4"/>
          <p:cNvSpPr/>
          <p:nvPr/>
        </p:nvSpPr>
        <p:spPr>
          <a:xfrm>
            <a:off x="822960" y="5120640"/>
            <a:ext cx="10332720" cy="457200"/>
          </a:xfrm>
          <a:prstGeom prst="rect">
            <a:avLst/>
          </a:prstGeom>
          <a:noFill/>
          <a:ln/>
        </p:spPr>
        <p:txBody>
          <a:bodyPr wrap="square" lIns="0" tIns="0" rIns="0" bIns="0" rtlCol="0" anchor="ctr"/>
          <a:lstStyle/>
          <a:p>
            <a:pPr indent="0" marL="0">
              <a:buNone/>
            </a:pPr>
            <a:r>
              <a:rPr lang="en-US" sz="1600" b="1" dirty="0">
                <a:solidFill>
                  <a:srgbClr val="F4A825"/>
                </a:solidFill>
                <a:latin typeface="Inter" pitchFamily="34" charset="0"/>
                <a:ea typeface="Inter" pitchFamily="34" charset="-122"/>
                <a:cs typeface="Inter" pitchFamily="34" charset="-120"/>
              </a:rPr>
              <a:t>Next: Kit 7 · AI for Workload: Winning Back an Hour a Week</a:t>
            </a:r>
            <a:endParaRPr lang="en-US" sz="1600" dirty="0"/>
          </a:p>
        </p:txBody>
      </p:sp>
      <p:sp>
        <p:nvSpPr>
          <p:cNvPr id="8" name="Text 5"/>
          <p:cNvSpPr/>
          <p:nvPr/>
        </p:nvSpPr>
        <p:spPr>
          <a:xfrm>
            <a:off x="822960" y="5623560"/>
            <a:ext cx="10332720" cy="457200"/>
          </a:xfrm>
          <a:prstGeom prst="rect">
            <a:avLst/>
          </a:prstGeom>
          <a:noFill/>
          <a:ln/>
        </p:spPr>
        <p:txBody>
          <a:bodyPr wrap="square" lIns="0" tIns="0" rIns="0" bIns="0" rtlCol="0" anchor="ctr"/>
          <a:lstStyle/>
          <a:p>
            <a:pPr indent="0" marL="0">
              <a:buNone/>
            </a:pPr>
            <a:r>
              <a:rPr lang="en-US" sz="1800" dirty="0">
                <a:solidFill>
                  <a:srgbClr val="FFFFFF"/>
                </a:solidFill>
                <a:latin typeface="Inter" pitchFamily="34" charset="0"/>
                <a:ea typeface="Inter" pitchFamily="34" charset="-122"/>
                <a:cs typeface="Inter" pitchFamily="34" charset="-120"/>
              </a:rPr>
              <a:t>Thanks for the hour. Go send something worth keeping.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AI-Ready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Kit 6: AI for Communication: Parent Messages and Tone</dc:title>
  <dc:subject>PptxGenJS Presentation</dc:subject>
  <dc:creator>Adam &amp; Katelyn Spinozzi</dc:creator>
  <cp:lastModifiedBy>Adam &amp; Katelyn Spinozzi</cp:lastModifiedBy>
  <cp:revision>1</cp:revision>
  <dcterms:created xsi:type="dcterms:W3CDTF">2026-08-15T13:58:23Z</dcterms:created>
  <dcterms:modified xsi:type="dcterms:W3CDTF">2026-08-15T13:58:23Z</dcterms:modified>
</cp:coreProperties>
</file>