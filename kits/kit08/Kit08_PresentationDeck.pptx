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arrive; this one deserves a little ceremony. Say: today we make eight weeks permanent, and there's a certificate involved.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personalize this with the building's real wins from the exit-ticket stack; the slide is the generic version, your stories are the true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claims verified in earlier logs and reconfirmed. The closing line is the session's pitch; land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quick. Today's lab drafts the school, not a classroom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today aims at the watching version. This test returns in the lab and the triage practice.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norm is earned by a kit already run; that's why drafting takes seven minutes, not a semester. The constitution framing lands well: say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fail beat is the important one: a culture that laughs about hallucinated citations is a culture that catches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This is the capstone's one-liner; staff will quote it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YOUR building's real numbers here (count them before the session); Ms. Rivera's are the pattern, yours are the point. The fix for a stall is one sharing round, not a memo.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Interim stance beats no stance, and it beats an unread binder. The signing is a small ceremony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Dates are cheaper than willpower. The lab's step 4 writes this calendar for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right column. 45-min cut: scenarios 1 and 3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lab's step 3 names the onboarding owner. Never trim this idea; turnover is every culture's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Leadership hears this one directly. Never trim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this is the trimmable slide. The idea survives in the close.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proud on the room's behalf; some faculties applaud here. The exact certificate name and the local-credit line are deliberate and legally careful: keep both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Groups of 3-4 (not pairs), mixed departments. Devices optional; this lab drafts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protected minutes. Circulate; push for the building's own words, not policy-speak.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minutes. A routine without a date and an owner is a wish; insist on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minutes. 45-min cut: fold into step 4's block. Recruiting skeptics respectfully is the culture's best quality-control hire.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minutes. The 30-day plans are the refresher material; nothing new to write, just dates to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voices. 45-min cut: two. Collect every draft; the merge is this week's 30-minute job with a named owner.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land. This inventory is the school's, not any one classroom's.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series has never oversold; don't start at the finish line. The leadership line is said to leadership, warmly and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The last nod of the series; let it be a little ceremonial.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culture drafted today is what makes each future kit land in a week instead of a semester.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Eight weeks of work deserves its moment; take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worries steer what leadership protects first. Collect at the door; this ticket completes the certificate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real warmth; this is the series' last slide. Collect exit tickets and the norm drafts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8 OF 20 · THE CAPSTONE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Your School's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Culture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session of the core eight. You leave with your school's norms drafted, the routine calendared, and the certificate earned.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eight weeks: rules, formula, artifacts, boxes, batches, templates. All real.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ACTUALLY EXISTS NOW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 of eight weeks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173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087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1–2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2514600" y="150876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Hard Rule, known cold; a prompt formula and a growing library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640080" y="246888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5603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3–4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2514600" y="256032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Differentiated materials and vetted assessments, built for real lessons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640080" y="35204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118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5–6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2514600" y="361188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Lane labels on assignments; positive notes landing in family inboxes weekly</a:t>
            </a:r>
            <a:endParaRPr lang="en-US" sz="1650" dirty="0"/>
          </a:p>
        </p:txBody>
      </p:sp>
      <p:sp>
        <p:nvSpPr>
          <p:cNvPr id="23" name="Shape 20"/>
          <p:cNvSpPr/>
          <p:nvPr/>
        </p:nvSpPr>
        <p:spPr>
          <a:xfrm>
            <a:off x="640080" y="45720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663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2514600" y="4663440"/>
            <a:ext cx="8869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deleted repeaters per person, and a protected list in ink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not a training record. That's a changed building. Today we make sure it stays changed.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risk, named: PD fades unless it becomes routine. Culture is the fix.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HONEST THREAT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fade risk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PD RESEARCH SAYS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fades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sustained routines and collaboration, professional learning evaporates. Not from apathy: from October. (Darling-Hammond et al., 2017)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MOST SCHOOLS HAVE WRITTEN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much</a:t>
            </a:r>
            <a:endParaRPr lang="en-US" sz="44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Adoption everywhere, guidance lagging; about 28 states have published guidance while most buildings still run on vibes. (RAND, 2025; AI for Education tracker)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You're one faculty meeting away from being the exception. This is that meeting.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norms drafted, a sharing routine calendared, every future hire covered.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0:06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culture means, in testable terms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artifacts: norms, the routine, the calendar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0:21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Sustaining it: hires, measurement, tool churn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this faculty drafts its culture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0:52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certificate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the culture drafted, not described: norms, routine, onboarding, calendar. And the certificate is real.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culture test: would a new hire learn the rules by watching, not by asking?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TESTABLE DEFINITION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culture test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is what a new hire learns by watching, before anyone tells them anything.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They'd see: prompts shared openly · drafts reviewed before shipping · lanes labeled · no student names near a chatbot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they'd have to be told, you have a policy. Policies inform; cultures train.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five norms, drafted: privacy, review, honesty, sharing, the protected list.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SHORT ENOUGH TO LIVE ON ONE PAGE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norms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37160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4264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3657600" y="142646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in public AI tools, ever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10241280" y="142646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224028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29514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657600" y="229514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AI-drafted reaches a student or family unread</a:t>
            </a:r>
            <a:endParaRPr lang="en-US" sz="1550" dirty="0"/>
          </a:p>
        </p:txBody>
      </p:sp>
      <p:sp>
        <p:nvSpPr>
          <p:cNvPr id="21" name="Text 18"/>
          <p:cNvSpPr/>
          <p:nvPr/>
        </p:nvSpPr>
        <p:spPr>
          <a:xfrm>
            <a:off x="10241280" y="229514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Kits 1–6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" y="310896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16382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Honesty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3657600" y="316382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say what we use; assignments carry lane labels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10241280" y="316382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5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397764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14400" y="40325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Sharing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3657600" y="403250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prompts go in the library; nobody solves twice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10241280" y="40325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Kits 2, 7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40080" y="4846320"/>
            <a:ext cx="10972800" cy="749808"/>
          </a:xfrm>
          <a:prstGeom prst="roundRect">
            <a:avLst>
              <a:gd name="adj" fmla="val 1097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490118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protected list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3657600" y="49011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relational work stays human, by decision</a:t>
            </a:r>
            <a:endParaRPr lang="en-US" sz="1550" dirty="0"/>
          </a:p>
        </p:txBody>
      </p:sp>
      <p:sp>
        <p:nvSpPr>
          <p:cNvPr id="33" name="Text 30"/>
          <p:cNvSpPr/>
          <p:nvPr/>
        </p:nvSpPr>
        <p:spPr>
          <a:xfrm>
            <a:off x="10241280" y="490118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jobs are fixed. The wording, in the lab, becomes yours. One page, posted, signed.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sharing routine: five minutes, every PLC: one win, one fail, one steal.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WITHOUT RHYTHM ARE POSTERS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· Fail · Steal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6112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96112" y="24231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Something AI-drafted that worked, shown or told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407408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63440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4663440" y="24231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got wrong, shared without embarrassment: failure shared is quality control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74736" y="1554480"/>
            <a:ext cx="3520440" cy="3017520"/>
          </a:xfrm>
          <a:prstGeom prst="roundRect">
            <a:avLst>
              <a:gd name="adj" fmla="val 272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18288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STEAL</a:t>
            </a:r>
            <a:endParaRPr lang="en-US" sz="2400" dirty="0"/>
          </a:p>
        </p:txBody>
      </p:sp>
      <p:sp>
        <p:nvSpPr>
          <p:cNvPr id="22" name="Text 19"/>
          <p:cNvSpPr/>
          <p:nvPr/>
        </p:nvSpPr>
        <p:spPr>
          <a:xfrm>
            <a:off x="8430768" y="24231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template someone takes from the library this week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640080" y="4937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minutes, inside a meeting that already exists. Eight kits, kept alive by five minutes.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banner: a tool becomes culture when nobody has to remember to use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BANNER OVER TODAY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tool becomes culture when nobody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has to remember to use it.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Calendars remember. Routines remember. Posted norms remember. People, in October, do not. The lab moves the remembering out of heads and into systems.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CULTURE ARTIFACT THAT MATTERS MOST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doc, eight weeks 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10972800" cy="3977640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37160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149047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15568" y="149047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62456" y="149047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83080" y="13716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· Ms. Rivera's school (a composite example)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188720" y="192024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(Kit 2)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486400" y="19202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templates · newsletter shell, quiz frame, leveling…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188720" y="2670048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(Kit 4)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486400" y="267004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templates · rubric builder, question banks, starters…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188720" y="3419856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COMMUNICATION (Kit 6)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486400" y="341985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templates · note batch, difficult email, event reminder…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88720" y="416966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(Kit 7)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486400" y="4169664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templates · sub plan, stations, documentation shells…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1188720" y="4892040"/>
            <a:ext cx="10149840" cy="384048"/>
          </a:xfrm>
          <a:prstGeom prst="roundRect">
            <a:avLst>
              <a:gd name="adj" fmla="val 21429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417320" y="489204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 templates · 22 contributors · every entry has a name on it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Twenty-two people teaching each other. Growing weekly = alive. Stalled a month = your early-warning light.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norms, posted: five lines on one page, signed by the faculty.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FORMAT MATTERS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on one page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page. Five lines. Plain words that sound like this building.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Signed by the faculty, the way you sign something you mean; posted in the workroom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Revisited every semester so paper and practice match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binder. Binders are where norms go to be forgotten.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4805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61772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leadership later builds formal policy (Kit 15 is that working session), this page is its seed. Until then, this IS the school's stance, and it's a real 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calendar: monthly refreshers, Kit 1 for every new hire, norms revisited each semester.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NEEDS DATES, OR IT NEEDS WILLPOWER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calendar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5544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PLC (or every other)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4343400" y="155448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five-minute sharing round: win · fail · steal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640080" y="251460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6060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Monthly, next semester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4343400" y="260604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10-minute kit refresher, from the 30-day plans you already own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new hire, month one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4343400" y="365760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1, run by any confident colleague, plus norms page and library tour</a:t>
            </a:r>
            <a:endParaRPr lang="en-US" sz="1550" dirty="0"/>
          </a:p>
        </p:txBody>
      </p:sp>
      <p:sp>
        <p:nvSpPr>
          <p:cNvPr id="23" name="Shape 20"/>
          <p:cNvSpPr/>
          <p:nvPr/>
        </p:nvSpPr>
        <p:spPr>
          <a:xfrm>
            <a:off x="640080" y="461772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14400" y="4709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Once a semester</a:t>
            </a:r>
            <a:endParaRPr lang="en-US" sz="1550" dirty="0"/>
          </a:p>
        </p:txBody>
      </p:sp>
      <p:sp>
        <p:nvSpPr>
          <p:cNvPr id="25" name="Text 22"/>
          <p:cNvSpPr/>
          <p:nvPr/>
        </p:nvSpPr>
        <p:spPr>
          <a:xfrm>
            <a:off x="4343400" y="47091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norms page revisited; a stance that can't be revised becomes a relic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640080" y="576072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it is new meeting time. It's minutes inside meetings that already exist.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triage eye: healthy culture shares failures; drifting culture hides use.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triage: healthy or drifting?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08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4630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teacher tells the PLC about the quiz question the AI got confidently wrong; everyone laughs and checks their own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7498080" y="14630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Healthy: failure shared is quality control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731520" y="2606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560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teacher quietly stops mentioning AI use after a colleague's eye-roll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7498080" y="256032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Drifting: use going underground is warning light #1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31520" y="3703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65760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new hire asks about the rules and gets three identical confident answers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7498080" y="3657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Healthy: the watching test, passed</a:t>
            </a:r>
            <a:endParaRPr lang="en-US" sz="1350" dirty="0"/>
          </a:p>
        </p:txBody>
      </p:sp>
      <p:sp>
        <p:nvSpPr>
          <p:cNvPr id="23" name="Text 20"/>
          <p:cNvSpPr/>
          <p:nvPr/>
        </p:nvSpPr>
        <p:spPr>
          <a:xfrm>
            <a:off x="731520" y="4800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7548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doc hasn't gained an entry since September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498080" y="475488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Drifting: the fix is a sharing round, not a lecture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onboarding plan: every new hire runs Kit 1 in their first month.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CULTURE'S BIGGEST LEAK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new hire, covered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January hire never saw week one; without a plan, the culture dilutes one hire at a time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is self-contained: any confident colleague can run it for one person or five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norm: Kit 1 in the first month + the norms page in the welcome folder + a library tour from a colleague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Thirty minutes of onboarding, and the culture stops depending on who was here in the fall.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measures: artifacts, not surveillance. Library growth, stories, exit tickets.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YOU KNOW, WITHOUT BECOMING THE AI POLICE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 the garden, not the gardeners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COUNT: ARTIFACTS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Library growth. Exit tickets you already collect. Sharing-round stories. Lane labels visible on assignments. Signals the whole building can see.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NEVER: PEOPLE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auditing individual teachers' AI use. Surveillance kills the openness that keeps the culture safe; Kit 5 taught the building what policing does to honesty, and it applies to the adults too.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tool-churn insurance: habits that survive any vendor: rules, formula, review.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REASSURANCE SOMEBODY NEEDS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the tools change (they will)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tool in every headline will change: interfaces, vendors, capabilities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what this series never depended on: a specific product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rules, the formula, the review habit, the lanes, the protected list: all of it transfers to whatever arrives next. That's the design.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Cultures outlive tools. That's the whole reason to build one.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policy lag, no mocked skeptics, no finish line.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 · CAPSTONE EDITION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let the written stance lag what staff actually do: revisit it each semester</a:t>
            </a:r>
            <a:endParaRPr lang="en-US" sz="1950" dirty="0"/>
          </a:p>
        </p:txBody>
      </p:sp>
      <p:sp>
        <p:nvSpPr>
          <p:cNvPr id="15" name="Text 12"/>
          <p:cNvSpPr/>
          <p:nvPr/>
        </p:nvSpPr>
        <p:spPr>
          <a:xfrm>
            <a:off x="914400" y="2971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mock the skeptics: they're your drift detectors; recruit them, name their value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914400" y="40233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40233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treat today as a finish line: the certificate marks eight kits lived, not a subject completed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schools that get this right stay students of it.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certificate: all eight kits, lived. The AI-Ready Educator Certificate of Completion.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MILESTONE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certificate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3108960"/>
          </a:xfrm>
          <a:prstGeom prst="roundRect">
            <a:avLst>
              <a:gd name="adj" fmla="val 264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AI-READY EDUCATOR CERTIFICATE OF COMPLETION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960120" y="237744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Earned by completing all eight Track A sessions. It documents something real: eight hours of hands-on professional learning, artifacts built for real classrooms every week, and commitments made out loud and kept. Your exit tickets are the documentation.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640080" y="4892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with your district or state whether this PD qualifies for local credit.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3949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buildings talked about AI this year. Yours trained.</a:t>
            </a:r>
            <a:endParaRPr lang="en-US" sz="2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lab: norms, routine, onboarding, calendar. The culture, drafted.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LAB · ~22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draft the culture.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286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you build the school, not a classroom artifact. What you draft goes to the whole faculty this week: write like it's real, because it is.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of 3–4, mixed departments; chart paper or a shared doc</a:t>
            </a:r>
            <a:endParaRPr lang="en-US" sz="195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deliverables: norms · routine with a date · onboarding + skeptic partners · semester rhythm</a:t>
            </a:r>
            <a:endParaRPr lang="en-US" sz="195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building's own words beat policy-speak, every time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her screen: the five norms, drafted with her partner.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7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the five norms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five jobs are fixed: privacy · review · honesty · sharing · the protected list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wording is yours: "we never put a student into a chatbot" beats any compliance sentence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per norm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Finished early? Argue about the wording. That argument is the culture forming.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routine, picked and calendared: five minutes, every other PLC.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4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the routine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rhythm this building will actually keep: every PLC, every other, or monthly at staff meetings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· fail · steal, five minutes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counts when it has a date and an owner: who runs round one, and when. Write both.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onboarding + skeptic plan: Kit 1 for hires; skeptics recruited as reviewers.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4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 + skeptic partners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runs Kit 1 for new hires? What's in the welcome folder? (The norms page and a library tour, minimum.) Name the owner.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SKEPTIC PARTNERS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 the colleagues whose doubts keep us honest, and give them a real role: reviewers, drift-spotters, the first people we ask "what's wrong with this?" With respect, out loud.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semester calendar: one refresher a month, norms revisited in January.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4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semester, one line per month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10-minute kit refresher a month, from the 30-day plans you already own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Norms revisited in the first month back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New-hire Kit 1 as needed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months and the kit numbers. That strip of calendar is what makes today permanent.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one norm, read aloud.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4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norm, read aloud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group: one norm in your own wording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Listen for the lines that sound like this building; those survive the merge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drafts to the facilitator at the door. The merged page goes to the faculty this week for signing.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inventory: norms, routine, onboarding plan, calendar. Culture, started.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DIFFERENT KIND OF INVENTORY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you just built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norms in this faculty's own words. A sharing routine with a date and an owner. An onboarding plan covering every future colleague. A semester calendar that costs minutes.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weeks ago you built your first prompt. Today you built the thing that keeps all of it alive.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 limits: a document isn't a culture; consistency is. Leadership carries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TIME, HONESTLY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signed page is not a culture; consistency is, and leadership carries a disproportionate share of it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Culture is slow; it wobbles in October and needs the routine most exactly when the routine is easiest to skip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here is finished: tools change, students surprise, the stance gets revised. That's not failure; that's what a living culture does.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run the routine, onboard every hire, revisit the norms.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FINAL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sharing routine runs, starting this month: five minutes, protected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new hire gets Kit 1, the norms page, and a library tour in month one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revisit the norms every semester, so the paper always matches the practice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last nod?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next: Tracks B-D as they release; the culture makes them land.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COMPLETE · THE LIBRARY KEEPS GROWING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6420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B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2697480" y="166420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Subject by subject: ELA, math, science, early elementary, diverse needs, student AI literacy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640080" y="274320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285292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C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697480" y="285292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Leadership &amp; governance: the policy working session, rollout, family communication</a:t>
            </a:r>
            <a:endParaRPr lang="en-US" sz="1650" dirty="0"/>
          </a:p>
        </p:txBody>
      </p:sp>
      <p:sp>
        <p:nvSpPr>
          <p:cNvPr id="20" name="Shape 17"/>
          <p:cNvSpPr/>
          <p:nvPr/>
        </p:nvSpPr>
        <p:spPr>
          <a:xfrm>
            <a:off x="640080" y="3931920"/>
            <a:ext cx="1097280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14400" y="4041648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D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2697480" y="4041648"/>
            <a:ext cx="8686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Going deeper: advanced prompting, data without student data, the year-long roadmap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Kits release into your membership as they're finished. The engine is built; everything after this is fuel.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norms to the faculty, routine on the calendar, certificate celebrated.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make it official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norms page goes out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Merged, sent for signing, posted where you post real things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326880" y="18745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Facilitator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Round one gets its date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real calendar, with the owner the lab named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326880" y="31546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Leadership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Celebrate the certificate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complete: staff meeting, newsletter, board report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326880" y="443484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her favorite norm, her routine date, one worry.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ONE OF TRACK A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favorite norm from today's drafts, in its exact wording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sharing round's date and owner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you're still honestly worried about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the ticket in the box, Track A is documented, complete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8 · AI Culture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37160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Eight weeks ago, AI was a headline</a:t>
            </a:r>
            <a:endParaRPr lang="en-US" sz="3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a hallway worry.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22960" y="292608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it's a set of rules everyone knows, a library everyone feeds, hours coming back every week, and a culture with your faculty's own words on the wall.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22960" y="420624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 In that order, permanently.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Congratulations: you're AI-ready, and it's on paper.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all eight hours. Go sign your norms page.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8: Building Your School's AI Culture</dc:title>
  <dc:subject>PptxGenJS Presentation</dc:subject>
  <dc:creator>Adam &amp; Katelyn Spinozzi</dc:creator>
  <cp:lastModifiedBy>Adam &amp; Katelyn Spinozzi</cp:lastModifiedBy>
  <cp:revision>1</cp:revision>
  <dcterms:created xsi:type="dcterms:W3CDTF">2026-08-10T15:02:32Z</dcterms:created>
  <dcterms:modified xsi:type="dcterms:W3CDTF">2026-08-10T15:02:32Z</dcterms:modified>
</cp:coreProperties>
</file>