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up as people arrive; this one deserves a little ceremony. Say: today we make eight weeks permanent, and there's a certificate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personalize this with the building's real wins from the exit-ticket stack; the slide is the generic version, your stories are the true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claims verified in earlier logs and reconfirmed. The closing line is the session's pitch; land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quick. Today's lab drafts the school, not a classroom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today aims at the watching version. This test returns in the lab and the triage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norm is earned by a kit already run; that's why drafting takes seven minutes, not a semester. The constitution framing lands well: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 beat is the important one: a culture that laughs about hallucinated citations is a culture that catches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said slowly. This is the capstone's one-liner; staff will quote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YOUR building's real numbers here (count them before the session); Ms. Rivera's are the pattern, yours are the point. The fix for a stall is one sharing round, not a memo.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Interim stance beats no stance, and it beats an unread binder. The signing is a small ceremony worth having.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cheaper than willpower. The lab's step 4 writes this calendar for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call each one before you confirm with the right column. 45-min cut: scenarios 1 and 3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step 3 names the onboarding owner. Never trim this idea; turnover is every culture's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hears this one directly. Never trim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45-min cut: this is the trimmable slide. The idea survives in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read slowly. Never trim.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proud on the room's behalf; some faculties applaud here. The exact certificate name and the local-credit line are deliberate and legally careful: keep both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Groups of 3-4 (not pairs), mixed departments. Devices optional; this lab drafts text. Ms. Rivera drafts ONE culture page across all four steps: norms, routine, onboarding, semester strip, one page. Her page appears large on every step slide, so anyone lost can copy her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protected minutes. Circulate; push for the building's own words, not policy-speak. Rivera's culture page is the running exemplar for the whole lab; this card is its top half, five norms in her building's voice. Anyone stuck can copy her structure and swap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A routine without a date and an owner is a wish; insist on both. Rivera's card is the same culture page gaining its routine line: rhythm picked, five minutes, round one dated and owned.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45-min cut: fold into step 4's block. Rivera's page now carries its onboarding owner and its skeptic partners; recruiting skeptics respectfully is the culture's best quality-control hire.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The 30-day plans are the refresher material; nothing new to write, just dates to claim. Rivera's page finishes with its semester strip: months and kit numbers, one line each. That completes her one-page culture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voices. 45-min cut: two. Collect every draft; the merge is this week's 30-minute job with a named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it land. This inventory is the school's, not any one classroom's.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series has never oversold; don't start at the finish line. The leadership line is said to leadership, warmly and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The last nod of the series; let it be a little ceremonial.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culture drafted today is what makes each future kit land in a week instead of a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sheet out as you talk. Eight weeks of work deserves its moment; take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worries steer what leadership protects first. Collect at the door; this ticket completes the certificate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real warmth; this is the series' last slide. Collect exit tickets and the norm drafts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9692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· AI FOUNDATIONS · KIT 8 OF 20 · THE CAPSTONE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School's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Culture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session of the core eight. You leave with your school's norms drafted, the routine calendared, and the certificate earned.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Adam &amp; Katelyn Spinozzi · certified educators · 20+ combined years in the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eight weeks: rules, formula, artifacts, boxes, batches, templates. All real.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ACTUALLY EXISTS NOW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inventory of eight weeks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417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1–2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514600" y="150876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Hard Rule, known cold; a prompt formula and a growing library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3–4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514600" y="256032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Differentiated materials and vetted assessments, built for real lessons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40080" y="35204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5–6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2514600" y="36118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Lane labels on assignments; positive notes landing in family inboxes weekly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4008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514600" y="466344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deleted repeaters per person, and a protected list in ink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not a training record. That's a changed building. Today we make sure it stays changed.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risk, named: PD fades unless it becomes routine. Culture is the fix.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THREAT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fade risk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PD RESEARCH SAYS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fades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sustained routines and collaboration, professional learning evaporates. Not from apathy: from October. (Darling-Hammond et al., 2017)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MOST SCHOOLS HAVE WRITTEN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much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everywhere, guidance lagging; about 28 states have published guidance while most buildings still run on vibes. (RAND, 2025; AI for Education tracker)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You're one faculty meeting away from being the exception. This is that meeting.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goal: norms drafted, a sharing routine calendared, every future hire covered.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AHEAD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Agenda, and one promise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9202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culture means, in testable terms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artifacts: norms, the routine, the calendar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9202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Sustaining it: hires, measurement, tool churn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9202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this faculty drafts its culture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22960" y="4389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0:52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920240" y="4389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certificate + first 48 hours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25603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the culture drafted, not described: norms, routine, onboarding, calendar. And the certificate is real.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culture test: would a new hire learn the rules by watching, not by asking?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TESTABLE DEFINITION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culture test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is what a new hire learns by watching, before anyone tells them anything.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109087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They'd see: prompts shared openly · drafts reviewed before shipping · lanes labeled · no student names near a chatbot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they'd have to be told, you have a policy. Policies inform; cultures train.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five norms, drafted: privacy, review, honesty, sharing, the protected list.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ENOUGH TO LIVE ON ONE PAGE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 norms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3716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4264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657600" y="14264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information in public AI tools, ever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0241280" y="142646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2402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2951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657600" y="22951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AI-drafted reaches a student or family unread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0241280" y="229514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Kits 1–6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1089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163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657600" y="316382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say what we use; assignments carry lane labels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0241280" y="316382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39776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0325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657600" y="403250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prompts go in the library; nobody solves twice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10241280" y="40325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Kits 2, 7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8463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90118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protected list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3657600" y="490118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relational work stays human, by decision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10241280" y="490118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jobs are fixed. The wording, in the lab, becomes yours. One page, posted, signed.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sharing routine: five minutes, every PLC: one win, one fail, one steal.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 WITHOUT RHYTHM ARE POSTERS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· Fail · Steal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6112" y="2423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 AI-drafted that worked, shown or told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07408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663440" y="2423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got wrong, shared without embarrassment: failure shared is quality control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74736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0768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430768" y="2423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template someone takes from the library this week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minutes, inside a meeting that already exists. Eight kits, kept alive by five minutes.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banner: a tool becomes culture when nobody has to remember to use it.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BANNER OVER TODAY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becomes culture when nobody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to remember to use it.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2960" y="4114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Calendars remember. Routines remember. Posted norms remember. People, in October, do not. The lab moves the remembering out of heads and into systems.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CULTURE ARTIFACT THAT MATTERS MOST · ON MS. RIVERA'S SCREEN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staff doc, eight weeks in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10972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9050">
            <a:solidFill>
              <a:srgbClr val="DC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71600"/>
            <a:ext cx="10972800" cy="384048"/>
          </a:xfrm>
          <a:prstGeom prst="roundRect">
            <a:avLst>
              <a:gd name="adj" fmla="val 2381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90472"/>
            <a:ext cx="146304" cy="146304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5568" y="1490472"/>
            <a:ext cx="146304" cy="146304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62456" y="1490472"/>
            <a:ext cx="146304" cy="14630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3080" y="13716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staff prompt doc · Ms. Rivera's school (a composite example)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(Kit 2)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0" y="1920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templates · newsletter shell, quiz frame, leveling…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88720" y="2670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(Kit 4)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0" y="26700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templates · rubric builder, question banks, starters…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8872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(Kit 6)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0" y="341985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templates · note batch, difficult email, event reminder…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88720" y="41696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(Kit 7)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0" y="41696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templates · sub plan, stations, documentation shells…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1188720" y="4892040"/>
            <a:ext cx="10149840" cy="384048"/>
          </a:xfrm>
          <a:prstGeom prst="roundRect">
            <a:avLst>
              <a:gd name="adj" fmla="val 21429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17320" y="4892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templates · 22 contributors · every entry has a name on it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Twenty-two people teaching each other. Growing weekly = alive. Stalled a month = your early-warning light.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norms, posted: five lines on one page, signed by the faculty.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FORMAT MATTERS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 on one page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417320"/>
            <a:ext cx="109087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page. Five lines. Plain words that sound like this building.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by the faculty, the way you sign something you mean; posted in the workroom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Revisited every semester so paper and practice match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binder. Binders are where norms go to be forgotten.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6177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leadership later builds formal policy (Kit 15 is that working session), this page is its seed. Until then, this IS the school's stance, and it's a real one.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calendar: monthly refreshers, Kit 1 for every new hire, norms revisited each semester.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NEEDS DATES, OR IT NEEDS WILLPOWER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calendar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463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PLC (or every other)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343400" y="1554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five-minute sharing round: win · fail · steal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40080" y="25146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Monthly, next semester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343400" y="2606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10-minute kit refresher, from the 30-day plans you already own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40080" y="3566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new hire, month one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4343400" y="36576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1, run by any confident colleague, plus norms page and library tour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40080" y="46177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 semester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343400" y="47091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norms page revisited; a stance that can't be revised becomes a relic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it is new meeting time. It's minutes inside meetings that already exist.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triage eye: healthy culture shares failures; drifting culture hides use.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· CALL IT OUT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triage: healthy or drifting?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" y="1508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teacher tells the PLC about the quiz question the AI got confidently wrong; everyone laughs and checks their own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0" y="1463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Healthy: failure shared is quality control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1520" y="2606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2560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teacher quietly stops mentioning AI use after a colleague's eye-roll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Drifting: use going underground is warning light #1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152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3657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hire asks about the rules and gets three identical confident answers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49808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Healthy: the watching test, passed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31520" y="4800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47548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staff doc hasn't gained an entry since September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98080" y="4754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Drifting: the fix is a sharing round, not a lecture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onboarding plan: every new hire runs Kit 1 in their first month.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CULTURE'S BIGGEST LEAK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new hire, covered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417320"/>
            <a:ext cx="1090879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January hire never saw week one; without a plan, the culture dilutes one hire at a time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 is self-contained: any confident colleague can run it for one person or five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norm: Kit 1 in the first month + the norms page in the welcome folder + a library tour from a colleague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4805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Thirty minutes of onboarding, and the culture stops depending on who was here in the fall.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measures: artifacts, not surveillance. Library growth, stories, exit tickets.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YOU KNOW, WITHOUT BECOMING THE AI POLICE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the garden, not the gardeners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COUNT: ARTIFACTS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growth. Exit tickets you already collect. Sharing-round stories. Lane labels visible on assignments. Signals the whole building can see.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PEOPLE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auditing individual teachers' AI use. Surveillance kills the openness that keeps the culture safe; Kit 5 taught the building what policing does to honesty, and it applies to the adults too.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tool-churn insurance: habits that survive any vendor: rules, formula, review.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REASSURANCE SOMEBODY NEEDS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tools change (they will)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" y="1417320"/>
            <a:ext cx="1090879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tool in every headline will change: interfaces, vendors, capabilities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what this series never depended on: a specific product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rules, the formula, the review habit, the lanes, the protected list: all of it transfers to whatever arrives next. That's the design.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4805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Cultures outlive tools. That's the whole reason to build one.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never list: no policy lag, no mocked skeptics, no finish line.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NEVER LIST · CAPSTONE EDITION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54480" y="1920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let the written stance lag what staff actually do: revisit it each semester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14400" y="2971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554480" y="2971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mock the skeptics: they're your drift detectors; recruit them, name their value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14400" y="4023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554480" y="4023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treat today as a finish line: the certificate marks eight kits lived, not a subject completed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schools that get this right stay students of it.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certificate: all eight kits, lived. The AI-Ready Educator Certificate of Completion.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MILESTONE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certificate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3108960"/>
          </a:xfrm>
          <a:prstGeom prst="roundRect">
            <a:avLst>
              <a:gd name="adj" fmla="val 264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828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AI-READY EDUCATOR CERTIFICATE OF COMPLETION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237744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by completing all eight Track A sessions. It documents something real: eight hours of hands-on professional learning, artifacts built for real classrooms every week, and commitments made out loud and kept. Your exit tickets are the documentation.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with your district or state whether this PD qualifies for local credit.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5394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buildings talked about AI this year. Yours trained.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lab pick, one page all the way through: her school's culture page.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LAB · ~22 MINUTES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draft the culture.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58368" y="2286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you build the school, not a classroom artifact. What you draft goes to the whole faculty this week: write like it's real, because it is.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348386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of 3–4, mixed departments; chart paper or a shared doc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868680" y="430682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51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deliverables: norms · routine with a date · onboarding + skeptic partners · semester rhythm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868680" y="512978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0020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building's own words beat policy-speak, every time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19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culture page, step 1: the five norms, in her building's words.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1 OF 4 · 7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five norms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 jobs are fixed: privacy · review · honesty · sharing · the protected 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wording is yours: "we never put a student into a chatbot" beats any compliance sentence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per norm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Finished early? Argue about the wording. That argument is the culture forming.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CULTURE PAGE · STEP 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 a chatbot. Ever.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ships unread.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Honesty: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say what we use.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the doc, same week.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work stays people.
</a:t>
            </a:r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"Sounds like us, not like a policy."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culture page, step 2: win-fail-steal calendared, round one owned.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2 OF 4 · 4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the routine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rhythm this building will actually keep: every PLC, every other, or monthly at staff meetings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· fail · steal, five minutes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counts when it has a date and an owner: who runs round one, and when. Write both.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CULTURE PAGE · STEP 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other PLC.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minutes: win · fail · steal.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one: Tuesday, hers.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culture page, step 3: a Kit 1 owner named; skeptics recruited as reviewers.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3 OF 4 · 4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+ skeptic partners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190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2084832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runs Kit 1 for new hires? What's in the welcome folder? (The norms page and a library tour, minimum.) Name the owner.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36118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3776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SKEPTIC PARTNERS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4142232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colleagues whose doubts keep us honest, and give them a real role: reviewers, drift-spotters, the first people we ask "what's wrong with this?"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CULTURE PAGE · STEP 3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37960" y="21488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1 owner: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PLC lead, month one.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folder: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 page + library tour.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Skeptic partners: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two best doubters, recruited as reviewers of first resort.
</a:t>
            </a:r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"What's wrong with this?" goes to them first.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culture page, step 4: the semester strip, months and kit numbers written in.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4 OF 4 · 4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semester, one line per month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10-minute kit refresher a month, from the 30-day plans you already own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 revisited in the first month back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New-hire Kit 1 as needed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months and the kit numbers. That strip of calendar is what makes today permanent.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CULTURE PAGE · STEP 4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· norms revisited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 · Kit 2 refresher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· Kit 5 refresher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· Kit 7 refresher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· Kit 4 refresher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37960" y="4983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New-hire Kit 1, whenever the hire arrives.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share-out: her culture page's privacy norm, read aloud.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SHARE-OUT · 4 VOICES, 1 MINUTE 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norm, read aloud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group: one norm in your own wording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for the lines that sound like this building; those survive the merge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drafts to the facilitator at the door. The merged page goes to the faculty this week for signing.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inventory, one culture page: norms, routine, onboarding, semester strip.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DIFFERENT KIND OF INVENTORY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just built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norms in this faculty's own words. A sharing routine with a date and an owner. An onboarding plan covering every future colleague. A semester calendar that costs minutes.
</a:t>
            </a:r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weeks ago you built your first prompt. Today you built the thing that keeps all of it alive.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honest limits: a document isn't a culture; consistency is. Leadership carries it.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LAST TIME, HONESTLY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signed page is not a culture; consistency is, and leadership carries a disproportionate share of it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is slow; it wobbles in October and needs the routine most exactly when the routine is easiest to skip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here is finished: tools change, students surprise, the stance gets revised. That's not failure; that's what a living culture does.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commitments: run the routine, onboard every hire, revisit the norms.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THREE COMMITMENTS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189280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78308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sharing routine runs, starting this month: five minutes, protected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68680" y="308152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2971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new hire gets Kit 1, the norms page, and a library tour in month one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" y="427024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0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783080" y="4160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revisit the norms every semester, so the paper always matches the practice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last nod?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next: Tracks B-D as they release; the culture makes them land.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COMPLETE · THE LIBRARY KEEPS GROWING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6642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697480" y="166420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 by subject: ELA, math, science, early elementary, diverse needs, student AI literacy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40080" y="27432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529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97480" y="28529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&amp; governance: the policy working session, rollout, family communication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40080" y="39319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0416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2697480" y="404164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Going deeper: advanced prompting, data without student data, the year-long roadmap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Kits release into your membership as they're finished. The engine is built; everything after this is fuel.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48 hours: norms to the faculty, routine on the calendar, certificate celebrated.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FRIDAY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48 hours: make it official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737360" y="1691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norms page goes out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37360" y="21214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Merged, sent for signing, posted where you post real things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3268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Facilitator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28346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737360" y="2971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one gets its date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37360" y="34015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real calendar, with the owner the lab named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3268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97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737360" y="4251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Celebrate the certificate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737360" y="46817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complete: staff meeting, newsletter, board report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32688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29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exit ticket: her favorite norm, her routine date, one worry.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ONE OF TRACK 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favorite norm from today's drafts, in its exact wording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sharing round's date and owner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thing you're still honestly worried about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ticket in the box, Track A is documented, complete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897112" y="6428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8 · AI Culture   |   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weeks ago, AI was a headline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 hallway worry.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it's a set of rules everyone knows, a library everyone feeds, hours coming back every week, and a culture with your faculty's own words on the wall.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teaching. Life-changing tools. In that order, permanently.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Congratulations: you're AI-ready, and it's on paper.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for all eight hours. Go sign your norms page.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AI-Ready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8: Building Your School's AI Culture</dc:title>
  <dc:subject>PptxGenJS Presentation</dc:subject>
  <dc:creator>Adam &amp; Katelyn Spinozzi</dc:creator>
  <cp:lastModifiedBy>Adam &amp; Katelyn Spinozzi</cp:lastModifiedBy>
  <cp:revision>1</cp:revision>
  <dcterms:created xsi:type="dcterms:W3CDTF">2026-08-15T13:39:33Z</dcterms:created>
  <dcterms:modified xsi:type="dcterms:W3CDTF">2026-08-15T13:39:33Z</dcterms:modified>
</cp:coreProperties>
</file>