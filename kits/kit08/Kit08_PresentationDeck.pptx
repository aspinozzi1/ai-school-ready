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this one deserves a little ceremony. Say: today we make eight weeks permanent, and there's a certificate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personalize this with the building's real wins from the exit-ticket stack; the slide is the generic version, your stories are the true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claims verified in earlier logs and reconfirmed. The closing line is the session's pitch; land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Today's lab drafts the school, not a classroom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today aims at the watching version. This test returns in the lab and the triage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norm is earned by a kit already run; that's why drafting takes seven minutes, not a semester. The constitution framing lands well: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 beat is the important one: a culture that laughs about hallucinated citations is a culture that catches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said slowly. This is the capstone's one-liner; staff will quote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YOUR building's real numbers here (count them before the session); Ms. Rivera's are the pattern, yours are the point. The fix for a stall is one sharing round, not a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Interim stance beats no stance, and it beats an unread binder. The signing is a small ceremony worth having.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are cheaper than willpower. The lab's step 4 writes this calendar for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right column. 45-min cut: scenarios 1 and 3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lab's step 3 names the onboarding owner. Never trim this idea; turnover is every culture's tax.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Leadership hears this one directly. Never trim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45-min cut: this is the trimmable slide. The idea survives in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read slowly. Never trim.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proud on the room's behalf; some faculties applaud here. The exact certificate name and the local-credit line are deliberate and legally careful: keep both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Groups of 3-4 (not pairs), mixed departments. Devices optional; this lab drafts text. Ms. Rivera drafts ONE culture page across all four steps: norms, routine, onboarding, semester strip, one page. Her page appears large on every step slide, so anyone lost can copy her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page, blank, and it is the same template in every school that runs this kit: five norms, one routine with a date and an owner, onboarding plus skeptic partners, and a five-line semester strip. The four lab steps fill the four blocks in order, so at the end of twenty minutes your group is holding a finished page, not notes. The handout carries every one of these blanks, so you can draft straight onto it. Ms. Rivera fills this exact template through the lab, and you will see her finished page before the share-out.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protected minutes. Circulate; push for the building's own words, not policy-speak. Rivera's culture page is the running exemplar for the whole lab; this card is its top half, five norms in her building's voice. Anyone stuck can copy her structure and swap in their own words. Her actual merge prompt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merge is a real job somebody has to do this week, and here is Ms. Rivera doing it, with the same four parts from Kit 2: role in teal, task in navy, context in amber, format in green. Compare it to the before line at the top; "write our school some AI norms" gets you a stranger's policy. The part worth pointing at is the context: forty-two people sign this page, we say kids not learners, and do not soften the privacy line. That sentence is what keeps the page in the building's own voice instead of a vendor's. Whoever owns the merge in your building can copy this shape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iteration is not failure, it is the work, and each follow-up fills one block of the page: norms, routine, onboarding, semester. Nothing was re-pasted; it is one chat. Read the right-hand column aloud, because that column is what each follow-up bought her. The honest timing: this whole thread ran in about six minutes, which is roughly what your group is spending on step one right now. The page she ends up with is two slides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A routine without a date and an owner is a wish; insist on both. Rivera's card is the same culture page gaining its routine line: rhythm picked, five minutes, round one dated and owned.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45-min cut: fold into step 4's block. Rivera's page now carries its onboarding owner and its skeptic partners; recruiting skeptics respectfully is the culture's best quality-control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The 30-day plans are the refresher material; nothing new to write, just dates to claim. Rivera's page finishes with its semester strip: months and kit numbers, one line each. That completes her one-page culture draft, and the next two slides show that page word for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thing itself, not a description of it. Read norm one aloud, then norm five. Notice that every sentence is one a teacher could say in a hallway, and that the privacy norm did not get softened in the merge. This is what your merged page looks like next week, and it is the reason we drafted rather than described today. If anyone is wondering what they signed up for, it is these five sentences plus the half of the page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rest of her page, also word for word. Point at the two things that make it real rather than nice: a date, Tuesday the first, and an owner, her. Everything else on the page is written to survive her leaving the building. The semester strip costs fifty minutes across five months and it is all drawn from 30-day plans you already own. Your group has this exact page in front of it right now; the only difference is whose words are in the blanks.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voices. 45-min cut: two. Collect every draft; the merge is this week's 30-minute job with a named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it land. This inventory is the school's, not any one classroom's.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series has never oversold; don't start at the finish line. The leadership line is said to leadership, warmly and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The last nod of the series; let it be a little ceremonial.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culture drafted today is what makes each future kit land in a week instead of a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the sheet out as you talk. Eight weeks of work deserves its moment; take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worries steer what leadership protects first. Collect at the door; this ticket completes the certificate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real warmth; this is the series' last slide. Collect exit tickets and the norm drafts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91440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8 OF 20 · THE CAPSTONE</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Building Your School's</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AI Culture</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The last session of the core eight. You leave with your school's norms drafted, the routine calendared, and the certificate earned.</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eight weeks: rules, formula, artifacts, boxes, batches, templates. All real.</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WHAT ACTUALLY EXISTS NOW</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inventory of eight weeks</a:t>
            </a:r>
            <a:endParaRPr lang="en-US" sz="3200" dirty="0"/>
          </a:p>
        </p:txBody>
      </p:sp>
      <p:sp>
        <p:nvSpPr>
          <p:cNvPr id="14" name="Shape 11"/>
          <p:cNvSpPr/>
          <p:nvPr/>
        </p:nvSpPr>
        <p:spPr>
          <a:xfrm>
            <a:off x="640080" y="1417320"/>
            <a:ext cx="10972800" cy="914400"/>
          </a:xfrm>
          <a:prstGeom prst="roundRect">
            <a:avLst>
              <a:gd name="adj" fmla="val 9000"/>
            </a:avLst>
          </a:prstGeom>
          <a:solidFill>
            <a:srgbClr val="F7F5F0"/>
          </a:solidFill>
          <a:ln w="12700">
            <a:solidFill>
              <a:srgbClr val="F7F5F0"/>
            </a:solidFill>
            <a:prstDash val="solid"/>
          </a:ln>
        </p:spPr>
      </p:sp>
      <p:sp>
        <p:nvSpPr>
          <p:cNvPr id="15" name="Text 12"/>
          <p:cNvSpPr/>
          <p:nvPr/>
        </p:nvSpPr>
        <p:spPr>
          <a:xfrm>
            <a:off x="914400" y="1508760"/>
            <a:ext cx="1463040" cy="73152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Kit 1–2</a:t>
            </a:r>
            <a:endParaRPr lang="en-US" sz="1700" dirty="0"/>
          </a:p>
        </p:txBody>
      </p:sp>
      <p:sp>
        <p:nvSpPr>
          <p:cNvPr id="16" name="Text 13"/>
          <p:cNvSpPr/>
          <p:nvPr/>
        </p:nvSpPr>
        <p:spPr>
          <a:xfrm>
            <a:off x="2514600" y="1508760"/>
            <a:ext cx="8869680" cy="73152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The One Hard Rule, known cold; a prompt formula and a growing library</a:t>
            </a:r>
            <a:endParaRPr lang="en-US" sz="1650" dirty="0"/>
          </a:p>
        </p:txBody>
      </p:sp>
      <p:sp>
        <p:nvSpPr>
          <p:cNvPr id="17" name="Shape 14"/>
          <p:cNvSpPr/>
          <p:nvPr/>
        </p:nvSpPr>
        <p:spPr>
          <a:xfrm>
            <a:off x="640080" y="2468880"/>
            <a:ext cx="10972800" cy="914400"/>
          </a:xfrm>
          <a:prstGeom prst="roundRect">
            <a:avLst>
              <a:gd name="adj" fmla="val 9000"/>
            </a:avLst>
          </a:prstGeom>
          <a:solidFill>
            <a:srgbClr val="F7F5F0"/>
          </a:solidFill>
          <a:ln w="12700">
            <a:solidFill>
              <a:srgbClr val="F7F5F0"/>
            </a:solidFill>
            <a:prstDash val="solid"/>
          </a:ln>
        </p:spPr>
      </p:sp>
      <p:sp>
        <p:nvSpPr>
          <p:cNvPr id="18" name="Text 15"/>
          <p:cNvSpPr/>
          <p:nvPr/>
        </p:nvSpPr>
        <p:spPr>
          <a:xfrm>
            <a:off x="914400" y="2560320"/>
            <a:ext cx="1463040" cy="73152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Kit 3–4</a:t>
            </a:r>
            <a:endParaRPr lang="en-US" sz="1700" dirty="0"/>
          </a:p>
        </p:txBody>
      </p:sp>
      <p:sp>
        <p:nvSpPr>
          <p:cNvPr id="19" name="Text 16"/>
          <p:cNvSpPr/>
          <p:nvPr/>
        </p:nvSpPr>
        <p:spPr>
          <a:xfrm>
            <a:off x="2514600" y="2560320"/>
            <a:ext cx="8869680" cy="73152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Differentiated materials and vetted assessments, built for real lessons</a:t>
            </a:r>
            <a:endParaRPr lang="en-US" sz="1650" dirty="0"/>
          </a:p>
        </p:txBody>
      </p:sp>
      <p:sp>
        <p:nvSpPr>
          <p:cNvPr id="20" name="Shape 17"/>
          <p:cNvSpPr/>
          <p:nvPr/>
        </p:nvSpPr>
        <p:spPr>
          <a:xfrm>
            <a:off x="640080" y="3520440"/>
            <a:ext cx="1097280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914400" y="3611880"/>
            <a:ext cx="1463040" cy="73152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Kit 5–6</a:t>
            </a:r>
            <a:endParaRPr lang="en-US" sz="1700" dirty="0"/>
          </a:p>
        </p:txBody>
      </p:sp>
      <p:sp>
        <p:nvSpPr>
          <p:cNvPr id="22" name="Text 19"/>
          <p:cNvSpPr/>
          <p:nvPr/>
        </p:nvSpPr>
        <p:spPr>
          <a:xfrm>
            <a:off x="2514600" y="3611880"/>
            <a:ext cx="8869680" cy="73152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Lane labels on assignments; positive notes landing in family inboxes weekly</a:t>
            </a:r>
            <a:endParaRPr lang="en-US" sz="1650" dirty="0"/>
          </a:p>
        </p:txBody>
      </p:sp>
      <p:sp>
        <p:nvSpPr>
          <p:cNvPr id="23" name="Shape 20"/>
          <p:cNvSpPr/>
          <p:nvPr/>
        </p:nvSpPr>
        <p:spPr>
          <a:xfrm>
            <a:off x="640080" y="4572000"/>
            <a:ext cx="10972800" cy="914400"/>
          </a:xfrm>
          <a:prstGeom prst="roundRect">
            <a:avLst>
              <a:gd name="adj" fmla="val 9000"/>
            </a:avLst>
          </a:prstGeom>
          <a:solidFill>
            <a:srgbClr val="F7F5F0"/>
          </a:solidFill>
          <a:ln w="12700">
            <a:solidFill>
              <a:srgbClr val="F7F5F0"/>
            </a:solidFill>
            <a:prstDash val="solid"/>
          </a:ln>
        </p:spPr>
      </p:sp>
      <p:sp>
        <p:nvSpPr>
          <p:cNvPr id="24" name="Text 21"/>
          <p:cNvSpPr/>
          <p:nvPr/>
        </p:nvSpPr>
        <p:spPr>
          <a:xfrm>
            <a:off x="914400" y="4663440"/>
            <a:ext cx="1463040" cy="73152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Kit 7</a:t>
            </a:r>
            <a:endParaRPr lang="en-US" sz="1700" dirty="0"/>
          </a:p>
        </p:txBody>
      </p:sp>
      <p:sp>
        <p:nvSpPr>
          <p:cNvPr id="25" name="Text 22"/>
          <p:cNvSpPr/>
          <p:nvPr/>
        </p:nvSpPr>
        <p:spPr>
          <a:xfrm>
            <a:off x="2514600" y="4663440"/>
            <a:ext cx="8869680" cy="73152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Two deleted repeaters per person, and a protected list in ink</a:t>
            </a:r>
            <a:endParaRPr lang="en-US" sz="1650" dirty="0"/>
          </a:p>
        </p:txBody>
      </p:sp>
      <p:sp>
        <p:nvSpPr>
          <p:cNvPr id="26" name="Text 23"/>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That's not a training record. That's a changed building. Today we make sure it stays changed.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risk, named: PD fades unless it becomes routine. Culture is the fix.</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HONEST THREAT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fade risk</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WHAT MAKES PD STICK</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4400" b="1" dirty="0">
                <a:solidFill>
                  <a:srgbClr val="B4453A"/>
                </a:solidFill>
                <a:latin typeface="Inter" pitchFamily="34" charset="0"/>
                <a:ea typeface="Inter" pitchFamily="34" charset="-122"/>
                <a:cs typeface="Inter" pitchFamily="34" charset="-120"/>
              </a:rPr>
              <a:t>It fades</a:t>
            </a:r>
            <a:endParaRPr lang="en-US" sz="4400" dirty="0"/>
          </a:p>
        </p:txBody>
      </p:sp>
      <p:sp>
        <p:nvSpPr>
          <p:cNvPr id="17" name="Text 14"/>
          <p:cNvSpPr/>
          <p:nvPr/>
        </p:nvSpPr>
        <p:spPr>
          <a:xfrm>
            <a:off x="914400" y="3063240"/>
            <a:ext cx="4709160" cy="1828800"/>
          </a:xfrm>
          <a:prstGeom prst="rect">
            <a:avLst/>
          </a:prstGeom>
          <a:noFill/>
          <a:ln/>
        </p:spPr>
        <p:txBody>
          <a:bodyPr wrap="square" lIns="0" tIns="0" rIns="0" bIns="0" rtlCol="0" anchor="ctr"/>
          <a:lstStyle/>
          <a:p>
            <a:pPr algn="ctr" indent="0" marL="0">
              <a:buNone/>
            </a:pPr>
            <a:r>
              <a:rPr lang="en-US" sz="1450" dirty="0">
                <a:solidFill>
                  <a:srgbClr val="1B1F24"/>
                </a:solidFill>
                <a:latin typeface="Inter" pitchFamily="34" charset="0"/>
                <a:ea typeface="Inter" pitchFamily="34" charset="-122"/>
                <a:cs typeface="Inter" pitchFamily="34" charset="-120"/>
              </a:rPr>
              <a:t>Across 35 rigorous studies, effective PD shares sustained duration, collaboration, active learning, and time to reflect. Our read: strip those out and it fades, not from apathy, from October. (Darling-Hammond et al., 2017)</a:t>
            </a:r>
            <a:endParaRPr lang="en-US" sz="1450" dirty="0"/>
          </a:p>
        </p:txBody>
      </p:sp>
      <p:sp>
        <p:nvSpPr>
          <p:cNvPr id="18" name="Shape 15"/>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WHAT MOST SCHOOLS HAVE WRITTEN</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4400" b="1" dirty="0">
                <a:solidFill>
                  <a:srgbClr val="5B6B7A"/>
                </a:solidFill>
                <a:latin typeface="Inter" pitchFamily="34" charset="0"/>
                <a:ea typeface="Inter" pitchFamily="34" charset="-122"/>
                <a:cs typeface="Inter" pitchFamily="34" charset="-120"/>
              </a:rPr>
              <a:t>Not much</a:t>
            </a:r>
            <a:endParaRPr lang="en-US" sz="4400" dirty="0"/>
          </a:p>
        </p:txBody>
      </p:sp>
      <p:sp>
        <p:nvSpPr>
          <p:cNvPr id="21" name="Text 18"/>
          <p:cNvSpPr/>
          <p:nvPr/>
        </p:nvSpPr>
        <p:spPr>
          <a:xfrm>
            <a:off x="6537960" y="3063240"/>
            <a:ext cx="4709160" cy="1828800"/>
          </a:xfrm>
          <a:prstGeom prst="rect">
            <a:avLst/>
          </a:prstGeom>
          <a:noFill/>
          <a:ln/>
        </p:spPr>
        <p:txBody>
          <a:bodyPr wrap="square" lIns="0" tIns="0" rIns="0" bIns="0" rtlCol="0" anchor="ctr"/>
          <a:lstStyle/>
          <a:p>
            <a:pPr algn="ctr" indent="0" marL="0">
              <a:buNone/>
            </a:pPr>
            <a:r>
              <a:rPr lang="en-US" sz="1400" dirty="0">
                <a:solidFill>
                  <a:srgbClr val="1B1F24"/>
                </a:solidFill>
                <a:latin typeface="Inter" pitchFamily="34" charset="0"/>
                <a:ea typeface="Inter" pitchFamily="34" charset="-122"/>
                <a:cs typeface="Inter" pitchFamily="34" charset="-120"/>
              </a:rPr>
              <a:t>45% of principals reported any school or district AI policy or guidance in 2025, against 53% teacher and 54% student use. 34 states and Puerto Rico have state-level guidance. (RAND, 2025; AI for Education tracker, checked Aug 2026)</a:t>
            </a:r>
            <a:endParaRPr lang="en-US" sz="140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You're one faculty meeting away from being the exception. This is that meeting.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norms drafted, a sharing routine calendared, every future hire covered.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0:06</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culture means, in testable terms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artifacts: norms, the routine, the calendar</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0:21</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Sustaining it: hires, measurement, tool churn</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this faculty drafts its culture</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0:52</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certificate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350" dirty="0">
                <a:solidFill>
                  <a:srgbClr val="FFFFFF"/>
                </a:solidFill>
                <a:latin typeface="Inter" pitchFamily="34" charset="0"/>
                <a:ea typeface="Inter" pitchFamily="34" charset="-122"/>
                <a:cs typeface="Inter" pitchFamily="34" charset="-120"/>
              </a:rPr>
              <a:t>You leave with the culture drafted, not described: norms, routine, onboarding, calendar. And the certificate is real.</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culture test: would a new hire learn the rules by watching, not by asking?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 TESTABLE DEFINITION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culture test</a:t>
            </a:r>
            <a:endParaRPr lang="en-US" sz="32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500" b="1" dirty="0">
                <a:solidFill>
                  <a:srgbClr val="FFFFFF"/>
                </a:solidFill>
                <a:latin typeface="Inter" pitchFamily="34" charset="0"/>
                <a:ea typeface="Inter" pitchFamily="34" charset="-122"/>
                <a:cs typeface="Inter" pitchFamily="34" charset="-120"/>
              </a:rPr>
              <a:t>Culture is what a new hire learns by watching, before anyone tells them anything.</a:t>
            </a:r>
            <a:endParaRPr lang="en-US" sz="2500" dirty="0"/>
          </a:p>
        </p:txBody>
      </p:sp>
      <p:sp>
        <p:nvSpPr>
          <p:cNvPr id="16" name="Text 13"/>
          <p:cNvSpPr/>
          <p:nvPr/>
        </p:nvSpPr>
        <p:spPr>
          <a:xfrm>
            <a:off x="640080" y="3840480"/>
            <a:ext cx="10908792" cy="17373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They'd see: prompts shared openly · drafts reviewed before shipping · lanes labeled · no student names near a chatbot</a:t>
            </a:r>
            <a:endParaRPr lang="en-US" sz="2000" dirty="0"/>
          </a:p>
          <a:p>
            <a:pPr marL="342900" indent="-342900">
              <a:spcAft>
                <a:spcPts val="1000"/>
              </a:spcAft>
              <a:buSzPct val="100000"/>
              <a:buChar char="•"/>
            </a:pPr>
            <a:r>
              <a:rPr lang="en-US" sz="2000" b="1" dirty="0">
                <a:solidFill>
                  <a:srgbClr val="1B1F24"/>
                </a:solidFill>
                <a:latin typeface="Inter" pitchFamily="34" charset="0"/>
                <a:ea typeface="Inter" pitchFamily="34" charset="-122"/>
                <a:cs typeface="Inter" pitchFamily="34" charset="-120"/>
              </a:rPr>
              <a:t>If they'd have to be told, you have a policy. Policies inform; cultures train.</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five norms, drafted: privacy, review, honesty, sharing, the protected list.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SHORT ENOUGH TO LIVE ON ONE PAGE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five norms</a:t>
            </a:r>
            <a:endParaRPr lang="en-US" sz="3200" dirty="0"/>
          </a:p>
        </p:txBody>
      </p:sp>
      <p:sp>
        <p:nvSpPr>
          <p:cNvPr id="14" name="Shape 11"/>
          <p:cNvSpPr/>
          <p:nvPr/>
        </p:nvSpPr>
        <p:spPr>
          <a:xfrm>
            <a:off x="640080" y="1371600"/>
            <a:ext cx="10972800" cy="749808"/>
          </a:xfrm>
          <a:prstGeom prst="roundRect">
            <a:avLst>
              <a:gd name="adj" fmla="val 10976"/>
            </a:avLst>
          </a:prstGeom>
          <a:solidFill>
            <a:srgbClr val="F7F5F0"/>
          </a:solidFill>
          <a:ln w="12700">
            <a:solidFill>
              <a:srgbClr val="F7F5F0"/>
            </a:solidFill>
            <a:prstDash val="solid"/>
          </a:ln>
        </p:spPr>
      </p:sp>
      <p:sp>
        <p:nvSpPr>
          <p:cNvPr id="15" name="Text 12"/>
          <p:cNvSpPr/>
          <p:nvPr/>
        </p:nvSpPr>
        <p:spPr>
          <a:xfrm>
            <a:off x="914400" y="1426464"/>
            <a:ext cx="2651760" cy="64008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Privacy</a:t>
            </a:r>
            <a:endParaRPr lang="en-US" sz="1700" dirty="0"/>
          </a:p>
        </p:txBody>
      </p:sp>
      <p:sp>
        <p:nvSpPr>
          <p:cNvPr id="16" name="Text 13"/>
          <p:cNvSpPr/>
          <p:nvPr/>
        </p:nvSpPr>
        <p:spPr>
          <a:xfrm>
            <a:off x="3657600" y="1426464"/>
            <a:ext cx="6492240" cy="64008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No student information in public AI tools, ever</a:t>
            </a:r>
            <a:endParaRPr lang="en-US" sz="1550" dirty="0"/>
          </a:p>
        </p:txBody>
      </p:sp>
      <p:sp>
        <p:nvSpPr>
          <p:cNvPr id="17" name="Text 14"/>
          <p:cNvSpPr/>
          <p:nvPr/>
        </p:nvSpPr>
        <p:spPr>
          <a:xfrm>
            <a:off x="10241280" y="1426464"/>
            <a:ext cx="1188720" cy="640080"/>
          </a:xfrm>
          <a:prstGeom prst="rect">
            <a:avLst/>
          </a:prstGeom>
          <a:noFill/>
          <a:ln/>
        </p:spPr>
        <p:txBody>
          <a:bodyPr wrap="square" lIns="0" tIns="0" rIns="0" bIns="0" rtlCol="0" anchor="ctr"/>
          <a:lstStyle/>
          <a:p>
            <a:pPr algn="r" indent="0" marL="0">
              <a:buNone/>
            </a:pPr>
            <a:r>
              <a:rPr lang="en-US" sz="1200" dirty="0">
                <a:solidFill>
                  <a:srgbClr val="5B6B7A"/>
                </a:solidFill>
                <a:latin typeface="Inter" pitchFamily="34" charset="0"/>
                <a:ea typeface="Inter" pitchFamily="34" charset="-122"/>
                <a:cs typeface="Inter" pitchFamily="34" charset="-120"/>
              </a:rPr>
              <a:t>Kit 1</a:t>
            </a:r>
            <a:endParaRPr lang="en-US" sz="1200" dirty="0"/>
          </a:p>
        </p:txBody>
      </p:sp>
      <p:sp>
        <p:nvSpPr>
          <p:cNvPr id="18" name="Shape 15"/>
          <p:cNvSpPr/>
          <p:nvPr/>
        </p:nvSpPr>
        <p:spPr>
          <a:xfrm>
            <a:off x="640080" y="2240280"/>
            <a:ext cx="10972800" cy="749808"/>
          </a:xfrm>
          <a:prstGeom prst="roundRect">
            <a:avLst>
              <a:gd name="adj" fmla="val 10976"/>
            </a:avLst>
          </a:prstGeom>
          <a:solidFill>
            <a:srgbClr val="F7F5F0"/>
          </a:solidFill>
          <a:ln w="12700">
            <a:solidFill>
              <a:srgbClr val="F7F5F0"/>
            </a:solidFill>
            <a:prstDash val="solid"/>
          </a:ln>
        </p:spPr>
      </p:sp>
      <p:sp>
        <p:nvSpPr>
          <p:cNvPr id="19" name="Text 16"/>
          <p:cNvSpPr/>
          <p:nvPr/>
        </p:nvSpPr>
        <p:spPr>
          <a:xfrm>
            <a:off x="914400" y="2295144"/>
            <a:ext cx="2651760" cy="64008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Review</a:t>
            </a:r>
            <a:endParaRPr lang="en-US" sz="1700" dirty="0"/>
          </a:p>
        </p:txBody>
      </p:sp>
      <p:sp>
        <p:nvSpPr>
          <p:cNvPr id="20" name="Text 17"/>
          <p:cNvSpPr/>
          <p:nvPr/>
        </p:nvSpPr>
        <p:spPr>
          <a:xfrm>
            <a:off x="3657600" y="2295144"/>
            <a:ext cx="6492240" cy="64008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Nothing AI-drafted reaches a student or family unread</a:t>
            </a:r>
            <a:endParaRPr lang="en-US" sz="1550" dirty="0"/>
          </a:p>
        </p:txBody>
      </p:sp>
      <p:sp>
        <p:nvSpPr>
          <p:cNvPr id="21" name="Text 18"/>
          <p:cNvSpPr/>
          <p:nvPr/>
        </p:nvSpPr>
        <p:spPr>
          <a:xfrm>
            <a:off x="10241280" y="2295144"/>
            <a:ext cx="1188720" cy="640080"/>
          </a:xfrm>
          <a:prstGeom prst="rect">
            <a:avLst/>
          </a:prstGeom>
          <a:noFill/>
          <a:ln/>
        </p:spPr>
        <p:txBody>
          <a:bodyPr wrap="square" lIns="0" tIns="0" rIns="0" bIns="0" rtlCol="0" anchor="ctr"/>
          <a:lstStyle/>
          <a:p>
            <a:pPr algn="r" indent="0" marL="0">
              <a:buNone/>
            </a:pPr>
            <a:r>
              <a:rPr lang="en-US" sz="1200" dirty="0">
                <a:solidFill>
                  <a:srgbClr val="5B6B7A"/>
                </a:solidFill>
                <a:latin typeface="Inter" pitchFamily="34" charset="0"/>
                <a:ea typeface="Inter" pitchFamily="34" charset="-122"/>
                <a:cs typeface="Inter" pitchFamily="34" charset="-120"/>
              </a:rPr>
              <a:t>Kits 1–6</a:t>
            </a:r>
            <a:endParaRPr lang="en-US" sz="1200" dirty="0"/>
          </a:p>
        </p:txBody>
      </p:sp>
      <p:sp>
        <p:nvSpPr>
          <p:cNvPr id="22" name="Shape 19"/>
          <p:cNvSpPr/>
          <p:nvPr/>
        </p:nvSpPr>
        <p:spPr>
          <a:xfrm>
            <a:off x="640080" y="3108960"/>
            <a:ext cx="10972800" cy="749808"/>
          </a:xfrm>
          <a:prstGeom prst="roundRect">
            <a:avLst>
              <a:gd name="adj" fmla="val 10976"/>
            </a:avLst>
          </a:prstGeom>
          <a:solidFill>
            <a:srgbClr val="F7F5F0"/>
          </a:solidFill>
          <a:ln w="12700">
            <a:solidFill>
              <a:srgbClr val="F7F5F0"/>
            </a:solidFill>
            <a:prstDash val="solid"/>
          </a:ln>
        </p:spPr>
      </p:sp>
      <p:sp>
        <p:nvSpPr>
          <p:cNvPr id="23" name="Text 20"/>
          <p:cNvSpPr/>
          <p:nvPr/>
        </p:nvSpPr>
        <p:spPr>
          <a:xfrm>
            <a:off x="914400" y="3163824"/>
            <a:ext cx="2651760" cy="64008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Honesty</a:t>
            </a:r>
            <a:endParaRPr lang="en-US" sz="1700" dirty="0"/>
          </a:p>
        </p:txBody>
      </p:sp>
      <p:sp>
        <p:nvSpPr>
          <p:cNvPr id="24" name="Text 21"/>
          <p:cNvSpPr/>
          <p:nvPr/>
        </p:nvSpPr>
        <p:spPr>
          <a:xfrm>
            <a:off x="3657600" y="3163824"/>
            <a:ext cx="6492240" cy="64008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We say what we use; assignments carry lane labels</a:t>
            </a:r>
            <a:endParaRPr lang="en-US" sz="1550" dirty="0"/>
          </a:p>
        </p:txBody>
      </p:sp>
      <p:sp>
        <p:nvSpPr>
          <p:cNvPr id="25" name="Text 22"/>
          <p:cNvSpPr/>
          <p:nvPr/>
        </p:nvSpPr>
        <p:spPr>
          <a:xfrm>
            <a:off x="10241280" y="3163824"/>
            <a:ext cx="1188720" cy="640080"/>
          </a:xfrm>
          <a:prstGeom prst="rect">
            <a:avLst/>
          </a:prstGeom>
          <a:noFill/>
          <a:ln/>
        </p:spPr>
        <p:txBody>
          <a:bodyPr wrap="square" lIns="0" tIns="0" rIns="0" bIns="0" rtlCol="0" anchor="ctr"/>
          <a:lstStyle/>
          <a:p>
            <a:pPr algn="r" indent="0" marL="0">
              <a:buNone/>
            </a:pPr>
            <a:r>
              <a:rPr lang="en-US" sz="1200" dirty="0">
                <a:solidFill>
                  <a:srgbClr val="5B6B7A"/>
                </a:solidFill>
                <a:latin typeface="Inter" pitchFamily="34" charset="0"/>
                <a:ea typeface="Inter" pitchFamily="34" charset="-122"/>
                <a:cs typeface="Inter" pitchFamily="34" charset="-120"/>
              </a:rPr>
              <a:t>Kit 5</a:t>
            </a:r>
            <a:endParaRPr lang="en-US" sz="1200" dirty="0"/>
          </a:p>
        </p:txBody>
      </p:sp>
      <p:sp>
        <p:nvSpPr>
          <p:cNvPr id="26" name="Shape 23"/>
          <p:cNvSpPr/>
          <p:nvPr/>
        </p:nvSpPr>
        <p:spPr>
          <a:xfrm>
            <a:off x="640080" y="3977640"/>
            <a:ext cx="10972800" cy="749808"/>
          </a:xfrm>
          <a:prstGeom prst="roundRect">
            <a:avLst>
              <a:gd name="adj" fmla="val 10976"/>
            </a:avLst>
          </a:prstGeom>
          <a:solidFill>
            <a:srgbClr val="F7F5F0"/>
          </a:solidFill>
          <a:ln w="12700">
            <a:solidFill>
              <a:srgbClr val="F7F5F0"/>
            </a:solidFill>
            <a:prstDash val="solid"/>
          </a:ln>
        </p:spPr>
      </p:sp>
      <p:sp>
        <p:nvSpPr>
          <p:cNvPr id="27" name="Text 24"/>
          <p:cNvSpPr/>
          <p:nvPr/>
        </p:nvSpPr>
        <p:spPr>
          <a:xfrm>
            <a:off x="914400" y="4032504"/>
            <a:ext cx="2651760" cy="64008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Sharing</a:t>
            </a:r>
            <a:endParaRPr lang="en-US" sz="1700" dirty="0"/>
          </a:p>
        </p:txBody>
      </p:sp>
      <p:sp>
        <p:nvSpPr>
          <p:cNvPr id="28" name="Text 25"/>
          <p:cNvSpPr/>
          <p:nvPr/>
        </p:nvSpPr>
        <p:spPr>
          <a:xfrm>
            <a:off x="3657600" y="4032504"/>
            <a:ext cx="6492240" cy="64008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Working prompts go in the library; nobody solves twice</a:t>
            </a:r>
            <a:endParaRPr lang="en-US" sz="1550" dirty="0"/>
          </a:p>
        </p:txBody>
      </p:sp>
      <p:sp>
        <p:nvSpPr>
          <p:cNvPr id="29" name="Text 26"/>
          <p:cNvSpPr/>
          <p:nvPr/>
        </p:nvSpPr>
        <p:spPr>
          <a:xfrm>
            <a:off x="10241280" y="4032504"/>
            <a:ext cx="1188720" cy="640080"/>
          </a:xfrm>
          <a:prstGeom prst="rect">
            <a:avLst/>
          </a:prstGeom>
          <a:noFill/>
          <a:ln/>
        </p:spPr>
        <p:txBody>
          <a:bodyPr wrap="square" lIns="0" tIns="0" rIns="0" bIns="0" rtlCol="0" anchor="ctr"/>
          <a:lstStyle/>
          <a:p>
            <a:pPr algn="r" indent="0" marL="0">
              <a:buNone/>
            </a:pPr>
            <a:r>
              <a:rPr lang="en-US" sz="1200" dirty="0">
                <a:solidFill>
                  <a:srgbClr val="5B6B7A"/>
                </a:solidFill>
                <a:latin typeface="Inter" pitchFamily="34" charset="0"/>
                <a:ea typeface="Inter" pitchFamily="34" charset="-122"/>
                <a:cs typeface="Inter" pitchFamily="34" charset="-120"/>
              </a:rPr>
              <a:t>Kits 2, 7</a:t>
            </a:r>
            <a:endParaRPr lang="en-US" sz="1200" dirty="0"/>
          </a:p>
        </p:txBody>
      </p:sp>
      <p:sp>
        <p:nvSpPr>
          <p:cNvPr id="30" name="Shape 27"/>
          <p:cNvSpPr/>
          <p:nvPr/>
        </p:nvSpPr>
        <p:spPr>
          <a:xfrm>
            <a:off x="640080" y="4846320"/>
            <a:ext cx="10972800" cy="749808"/>
          </a:xfrm>
          <a:prstGeom prst="roundRect">
            <a:avLst>
              <a:gd name="adj" fmla="val 10976"/>
            </a:avLst>
          </a:prstGeom>
          <a:solidFill>
            <a:srgbClr val="EAF5F3"/>
          </a:solidFill>
          <a:ln w="12700">
            <a:solidFill>
              <a:srgbClr val="EAF5F3"/>
            </a:solidFill>
            <a:prstDash val="solid"/>
          </a:ln>
        </p:spPr>
      </p:sp>
      <p:sp>
        <p:nvSpPr>
          <p:cNvPr id="31" name="Text 28"/>
          <p:cNvSpPr/>
          <p:nvPr/>
        </p:nvSpPr>
        <p:spPr>
          <a:xfrm>
            <a:off x="914400" y="4901184"/>
            <a:ext cx="2651760" cy="64008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The protected list</a:t>
            </a:r>
            <a:endParaRPr lang="en-US" sz="1700" dirty="0"/>
          </a:p>
        </p:txBody>
      </p:sp>
      <p:sp>
        <p:nvSpPr>
          <p:cNvPr id="32" name="Text 29"/>
          <p:cNvSpPr/>
          <p:nvPr/>
        </p:nvSpPr>
        <p:spPr>
          <a:xfrm>
            <a:off x="3657600" y="4901184"/>
            <a:ext cx="6492240" cy="64008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The relational work stays human, by decision</a:t>
            </a:r>
            <a:endParaRPr lang="en-US" sz="1550" dirty="0"/>
          </a:p>
        </p:txBody>
      </p:sp>
      <p:sp>
        <p:nvSpPr>
          <p:cNvPr id="33" name="Text 30"/>
          <p:cNvSpPr/>
          <p:nvPr/>
        </p:nvSpPr>
        <p:spPr>
          <a:xfrm>
            <a:off x="10241280" y="4901184"/>
            <a:ext cx="1188720" cy="640080"/>
          </a:xfrm>
          <a:prstGeom prst="rect">
            <a:avLst/>
          </a:prstGeom>
          <a:noFill/>
          <a:ln/>
        </p:spPr>
        <p:txBody>
          <a:bodyPr wrap="square" lIns="0" tIns="0" rIns="0" bIns="0" rtlCol="0" anchor="ctr"/>
          <a:lstStyle/>
          <a:p>
            <a:pPr algn="r" indent="0" marL="0">
              <a:buNone/>
            </a:pPr>
            <a:r>
              <a:rPr lang="en-US" sz="1200" dirty="0">
                <a:solidFill>
                  <a:srgbClr val="5B6B7A"/>
                </a:solidFill>
                <a:latin typeface="Inter" pitchFamily="34" charset="0"/>
                <a:ea typeface="Inter" pitchFamily="34" charset="-122"/>
                <a:cs typeface="Inter" pitchFamily="34" charset="-120"/>
              </a:rPr>
              <a:t>Kit 7</a:t>
            </a:r>
            <a:endParaRPr lang="en-US" sz="1200" dirty="0"/>
          </a:p>
        </p:txBody>
      </p:sp>
      <p:sp>
        <p:nvSpPr>
          <p:cNvPr id="34" name="Text 31"/>
          <p:cNvSpPr/>
          <p:nvPr/>
        </p:nvSpPr>
        <p:spPr>
          <a:xfrm>
            <a:off x="640080" y="5806440"/>
            <a:ext cx="10972800" cy="41148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The jobs are fixed. The wording, in the lab, becomes yours. One page, posted, signed.</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sharing routine: five minutes, every PLC: one win, one fail, one steal.</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NORMS WITHOUT RHYTHM ARE POSTERS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Win · Fail · Steal</a:t>
            </a:r>
            <a:endParaRPr lang="en-US" sz="3200" dirty="0"/>
          </a:p>
        </p:txBody>
      </p:sp>
      <p:sp>
        <p:nvSpPr>
          <p:cNvPr id="14" name="Shape 11"/>
          <p:cNvSpPr/>
          <p:nvPr/>
        </p:nvSpPr>
        <p:spPr>
          <a:xfrm>
            <a:off x="640080" y="1554480"/>
            <a:ext cx="3520440" cy="3017520"/>
          </a:xfrm>
          <a:prstGeom prst="roundRect">
            <a:avLst>
              <a:gd name="adj" fmla="val 2727"/>
            </a:avLst>
          </a:prstGeom>
          <a:solidFill>
            <a:srgbClr val="F7F5F0"/>
          </a:solidFill>
          <a:ln w="12700">
            <a:solidFill>
              <a:srgbClr val="F7F5F0"/>
            </a:solidFill>
            <a:prstDash val="solid"/>
          </a:ln>
        </p:spPr>
      </p:sp>
      <p:sp>
        <p:nvSpPr>
          <p:cNvPr id="15" name="Text 12"/>
          <p:cNvSpPr/>
          <p:nvPr/>
        </p:nvSpPr>
        <p:spPr>
          <a:xfrm>
            <a:off x="896112" y="1828800"/>
            <a:ext cx="301752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WIN</a:t>
            </a:r>
            <a:endParaRPr lang="en-US" sz="2400" dirty="0"/>
          </a:p>
        </p:txBody>
      </p:sp>
      <p:sp>
        <p:nvSpPr>
          <p:cNvPr id="16" name="Text 13"/>
          <p:cNvSpPr/>
          <p:nvPr/>
        </p:nvSpPr>
        <p:spPr>
          <a:xfrm>
            <a:off x="896112" y="2423160"/>
            <a:ext cx="3017520" cy="20116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Something AI-drafted that worked, shown or told</a:t>
            </a:r>
            <a:endParaRPr lang="en-US" sz="1600" dirty="0"/>
          </a:p>
        </p:txBody>
      </p:sp>
      <p:sp>
        <p:nvSpPr>
          <p:cNvPr id="17" name="Shape 14"/>
          <p:cNvSpPr/>
          <p:nvPr/>
        </p:nvSpPr>
        <p:spPr>
          <a:xfrm>
            <a:off x="4407408" y="1554480"/>
            <a:ext cx="3520440" cy="3017520"/>
          </a:xfrm>
          <a:prstGeom prst="roundRect">
            <a:avLst>
              <a:gd name="adj" fmla="val 2727"/>
            </a:avLst>
          </a:prstGeom>
          <a:solidFill>
            <a:srgbClr val="F7F5F0"/>
          </a:solidFill>
          <a:ln w="12700">
            <a:solidFill>
              <a:srgbClr val="F7F5F0"/>
            </a:solidFill>
            <a:prstDash val="solid"/>
          </a:ln>
        </p:spPr>
      </p:sp>
      <p:sp>
        <p:nvSpPr>
          <p:cNvPr id="18" name="Text 15"/>
          <p:cNvSpPr/>
          <p:nvPr/>
        </p:nvSpPr>
        <p:spPr>
          <a:xfrm>
            <a:off x="4663440" y="1828800"/>
            <a:ext cx="3017520" cy="502920"/>
          </a:xfrm>
          <a:prstGeom prst="rect">
            <a:avLst/>
          </a:prstGeom>
          <a:noFill/>
          <a:ln/>
        </p:spPr>
        <p:txBody>
          <a:bodyPr wrap="square" lIns="0" tIns="0" rIns="0" bIns="0" rtlCol="0" anchor="ctr"/>
          <a:lstStyle/>
          <a:p>
            <a:pPr indent="0" marL="0">
              <a:buNone/>
            </a:pPr>
            <a:r>
              <a:rPr lang="en-US" sz="2400" b="1" dirty="0">
                <a:solidFill>
                  <a:srgbClr val="B4453A"/>
                </a:solidFill>
                <a:latin typeface="Inter" pitchFamily="34" charset="0"/>
                <a:ea typeface="Inter" pitchFamily="34" charset="-122"/>
                <a:cs typeface="Inter" pitchFamily="34" charset="-120"/>
              </a:rPr>
              <a:t>FAIL</a:t>
            </a:r>
            <a:endParaRPr lang="en-US" sz="2400" dirty="0"/>
          </a:p>
        </p:txBody>
      </p:sp>
      <p:sp>
        <p:nvSpPr>
          <p:cNvPr id="19" name="Text 16"/>
          <p:cNvSpPr/>
          <p:nvPr/>
        </p:nvSpPr>
        <p:spPr>
          <a:xfrm>
            <a:off x="4663440" y="2423160"/>
            <a:ext cx="3017520" cy="20116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What it got wrong, shared without embarrassment: failure shared is quality control</a:t>
            </a:r>
            <a:endParaRPr lang="en-US" sz="1600" dirty="0"/>
          </a:p>
        </p:txBody>
      </p:sp>
      <p:sp>
        <p:nvSpPr>
          <p:cNvPr id="20" name="Shape 17"/>
          <p:cNvSpPr/>
          <p:nvPr/>
        </p:nvSpPr>
        <p:spPr>
          <a:xfrm>
            <a:off x="8174736" y="1554480"/>
            <a:ext cx="3520440" cy="3017520"/>
          </a:xfrm>
          <a:prstGeom prst="roundRect">
            <a:avLst>
              <a:gd name="adj" fmla="val 2727"/>
            </a:avLst>
          </a:prstGeom>
          <a:solidFill>
            <a:srgbClr val="F7F5F0"/>
          </a:solidFill>
          <a:ln w="12700">
            <a:solidFill>
              <a:srgbClr val="F7F5F0"/>
            </a:solidFill>
            <a:prstDash val="solid"/>
          </a:ln>
        </p:spPr>
      </p:sp>
      <p:sp>
        <p:nvSpPr>
          <p:cNvPr id="21" name="Text 18"/>
          <p:cNvSpPr/>
          <p:nvPr/>
        </p:nvSpPr>
        <p:spPr>
          <a:xfrm>
            <a:off x="8430768" y="1828800"/>
            <a:ext cx="3017520" cy="502920"/>
          </a:xfrm>
          <a:prstGeom prst="rect">
            <a:avLst/>
          </a:prstGeom>
          <a:noFill/>
          <a:ln/>
        </p:spPr>
        <p:txBody>
          <a:bodyPr wrap="square" lIns="0" tIns="0" rIns="0" bIns="0" rtlCol="0" anchor="ctr"/>
          <a:lstStyle/>
          <a:p>
            <a:pPr indent="0" marL="0">
              <a:buNone/>
            </a:pPr>
            <a:r>
              <a:rPr lang="en-US" sz="2400" b="1" dirty="0">
                <a:solidFill>
                  <a:srgbClr val="F4A825"/>
                </a:solidFill>
                <a:latin typeface="Inter" pitchFamily="34" charset="0"/>
                <a:ea typeface="Inter" pitchFamily="34" charset="-122"/>
                <a:cs typeface="Inter" pitchFamily="34" charset="-120"/>
              </a:rPr>
              <a:t>STEAL</a:t>
            </a:r>
            <a:endParaRPr lang="en-US" sz="2400" dirty="0"/>
          </a:p>
        </p:txBody>
      </p:sp>
      <p:sp>
        <p:nvSpPr>
          <p:cNvPr id="22" name="Text 19"/>
          <p:cNvSpPr/>
          <p:nvPr/>
        </p:nvSpPr>
        <p:spPr>
          <a:xfrm>
            <a:off x="8430768" y="2423160"/>
            <a:ext cx="3017520" cy="20116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One template someone takes from the library this week</a:t>
            </a:r>
            <a:endParaRPr lang="en-US" sz="1600" dirty="0"/>
          </a:p>
        </p:txBody>
      </p:sp>
      <p:sp>
        <p:nvSpPr>
          <p:cNvPr id="23" name="Text 20"/>
          <p:cNvSpPr/>
          <p:nvPr/>
        </p:nvSpPr>
        <p:spPr>
          <a:xfrm>
            <a:off x="640080" y="4937760"/>
            <a:ext cx="10972800" cy="50292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Five minutes, inside a meeting that already exists. Eight kits, kept alive by five minutes.</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8 · AI Culture   |   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banner: a tool becomes culture when nobody has to remember to use it.</a:t>
            </a:r>
            <a:endParaRPr lang="en-US" sz="1000" dirty="0"/>
          </a:p>
        </p:txBody>
      </p:sp>
      <p:sp>
        <p:nvSpPr>
          <p:cNvPr id="12" name="Text 9"/>
          <p:cNvSpPr/>
          <p:nvPr/>
        </p:nvSpPr>
        <p:spPr>
          <a:xfrm>
            <a:off x="822960" y="155448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BANNER OVER TODAY</a:t>
            </a:r>
            <a:endParaRPr lang="en-US" sz="1500" dirty="0"/>
          </a:p>
        </p:txBody>
      </p:sp>
      <p:sp>
        <p:nvSpPr>
          <p:cNvPr id="13" name="Text 10"/>
          <p:cNvSpPr/>
          <p:nvPr/>
        </p:nvSpPr>
        <p:spPr>
          <a:xfrm>
            <a:off x="822960" y="2103120"/>
            <a:ext cx="10515600" cy="1737360"/>
          </a:xfrm>
          <a:prstGeom prst="rect">
            <a:avLst/>
          </a:prstGeom>
          <a:noFill/>
          <a:ln/>
        </p:spPr>
        <p:txBody>
          <a:bodyPr wrap="square" lIns="0" tIns="0" rIns="0" bIns="0" rtlCol="0" anchor="ctr"/>
          <a:lstStyle/>
          <a:p>
            <a:pPr indent="0" marL="0">
              <a:lnSpc>
                <a:spcPct val="110000"/>
              </a:lnSpc>
              <a:buNone/>
            </a:pPr>
            <a:r>
              <a:rPr lang="en-US" sz="4000" b="1" dirty="0">
                <a:solidFill>
                  <a:srgbClr val="FFFFFF"/>
                </a:solidFill>
                <a:latin typeface="Inter" pitchFamily="34" charset="0"/>
                <a:ea typeface="Inter" pitchFamily="34" charset="-122"/>
                <a:cs typeface="Inter" pitchFamily="34" charset="-120"/>
              </a:rPr>
              <a:t>A tool becomes culture when nobody</a:t>
            </a:r>
            <a:endParaRPr lang="en-US" sz="4000" dirty="0"/>
          </a:p>
          <a:p>
            <a:pPr indent="0" marL="0">
              <a:lnSpc>
                <a:spcPct val="110000"/>
              </a:lnSpc>
              <a:buNone/>
            </a:pPr>
            <a:r>
              <a:rPr lang="en-US" sz="4000" b="1" dirty="0">
                <a:solidFill>
                  <a:srgbClr val="FFFFFF"/>
                </a:solidFill>
                <a:latin typeface="Inter" pitchFamily="34" charset="0"/>
                <a:ea typeface="Inter" pitchFamily="34" charset="-122"/>
                <a:cs typeface="Inter" pitchFamily="34" charset="-120"/>
              </a:rPr>
              <a:t>has to remember to use it.</a:t>
            </a:r>
            <a:endParaRPr lang="en-US" sz="4000" dirty="0"/>
          </a:p>
        </p:txBody>
      </p:sp>
      <p:sp>
        <p:nvSpPr>
          <p:cNvPr id="14" name="Text 11"/>
          <p:cNvSpPr/>
          <p:nvPr/>
        </p:nvSpPr>
        <p:spPr>
          <a:xfrm>
            <a:off x="822960" y="4114800"/>
            <a:ext cx="10332720" cy="109728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Calendars remember. Routines remember. Posted norms remember. People, in October, do not. The lab moves the remembering out of heads and into systems.</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CULTURE ARTIFACT THAT MATTERS MOST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staff doc, eight weeks in</a:t>
            </a:r>
            <a:endParaRPr lang="en-US" sz="3200" dirty="0"/>
          </a:p>
        </p:txBody>
      </p:sp>
      <p:sp>
        <p:nvSpPr>
          <p:cNvPr id="7" name="Shape 4"/>
          <p:cNvSpPr/>
          <p:nvPr/>
        </p:nvSpPr>
        <p:spPr>
          <a:xfrm>
            <a:off x="640080" y="1371600"/>
            <a:ext cx="10972800" cy="3977640"/>
          </a:xfrm>
          <a:prstGeom prst="roundRect">
            <a:avLst>
              <a:gd name="adj" fmla="val 2299"/>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The staff prompt doc · Ms. Rivera's school (a composite example)</a:t>
            </a:r>
            <a:endParaRPr lang="en-US" sz="1100" dirty="0"/>
          </a:p>
        </p:txBody>
      </p:sp>
      <p:sp>
        <p:nvSpPr>
          <p:cNvPr id="13" name="Text 10"/>
          <p:cNvSpPr/>
          <p:nvPr/>
        </p:nvSpPr>
        <p:spPr>
          <a:xfrm>
            <a:off x="1188720" y="1920240"/>
            <a:ext cx="4206240" cy="64008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PROMPTING (Kit 2)</a:t>
            </a:r>
            <a:endParaRPr lang="en-US" sz="1500" dirty="0"/>
          </a:p>
        </p:txBody>
      </p:sp>
      <p:sp>
        <p:nvSpPr>
          <p:cNvPr id="14" name="Text 11"/>
          <p:cNvSpPr/>
          <p:nvPr/>
        </p:nvSpPr>
        <p:spPr>
          <a:xfrm>
            <a:off x="5486400" y="1920240"/>
            <a:ext cx="5852160" cy="64008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8 templates · newsletter shell, quiz frame, leveling…</a:t>
            </a:r>
            <a:endParaRPr lang="en-US" sz="1450" dirty="0"/>
          </a:p>
        </p:txBody>
      </p:sp>
      <p:sp>
        <p:nvSpPr>
          <p:cNvPr id="15" name="Text 12"/>
          <p:cNvSpPr/>
          <p:nvPr/>
        </p:nvSpPr>
        <p:spPr>
          <a:xfrm>
            <a:off x="1188720" y="2670048"/>
            <a:ext cx="4206240" cy="64008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ASSESSMENT (Kit 4)</a:t>
            </a:r>
            <a:endParaRPr lang="en-US" sz="1500" dirty="0"/>
          </a:p>
        </p:txBody>
      </p:sp>
      <p:sp>
        <p:nvSpPr>
          <p:cNvPr id="16" name="Text 13"/>
          <p:cNvSpPr/>
          <p:nvPr/>
        </p:nvSpPr>
        <p:spPr>
          <a:xfrm>
            <a:off x="5486400" y="2670048"/>
            <a:ext cx="5852160" cy="64008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9 templates · rubric builder, question banks, starters…</a:t>
            </a:r>
            <a:endParaRPr lang="en-US" sz="1450" dirty="0"/>
          </a:p>
        </p:txBody>
      </p:sp>
      <p:sp>
        <p:nvSpPr>
          <p:cNvPr id="17" name="Text 14"/>
          <p:cNvSpPr/>
          <p:nvPr/>
        </p:nvSpPr>
        <p:spPr>
          <a:xfrm>
            <a:off x="1188720" y="3419856"/>
            <a:ext cx="4206240" cy="64008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COMMUNICATION (Kit 6)</a:t>
            </a:r>
            <a:endParaRPr lang="en-US" sz="1500" dirty="0"/>
          </a:p>
        </p:txBody>
      </p:sp>
      <p:sp>
        <p:nvSpPr>
          <p:cNvPr id="18" name="Text 15"/>
          <p:cNvSpPr/>
          <p:nvPr/>
        </p:nvSpPr>
        <p:spPr>
          <a:xfrm>
            <a:off x="5486400" y="3419856"/>
            <a:ext cx="5852160" cy="64008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7 templates · note batch, difficult email, event reminder…</a:t>
            </a:r>
            <a:endParaRPr lang="en-US" sz="1450" dirty="0"/>
          </a:p>
        </p:txBody>
      </p:sp>
      <p:sp>
        <p:nvSpPr>
          <p:cNvPr id="19" name="Text 16"/>
          <p:cNvSpPr/>
          <p:nvPr/>
        </p:nvSpPr>
        <p:spPr>
          <a:xfrm>
            <a:off x="1188720" y="4169664"/>
            <a:ext cx="4206240" cy="64008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WORKLOAD (Kit 7)</a:t>
            </a:r>
            <a:endParaRPr lang="en-US" sz="1500" dirty="0"/>
          </a:p>
        </p:txBody>
      </p:sp>
      <p:sp>
        <p:nvSpPr>
          <p:cNvPr id="20" name="Text 17"/>
          <p:cNvSpPr/>
          <p:nvPr/>
        </p:nvSpPr>
        <p:spPr>
          <a:xfrm>
            <a:off x="5486400" y="4169664"/>
            <a:ext cx="5852160" cy="64008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12 templates · sub plan, stations, documentation shells…</a:t>
            </a:r>
            <a:endParaRPr lang="en-US" sz="1450" dirty="0"/>
          </a:p>
        </p:txBody>
      </p:sp>
      <p:sp>
        <p:nvSpPr>
          <p:cNvPr id="21" name="Shape 18"/>
          <p:cNvSpPr/>
          <p:nvPr/>
        </p:nvSpPr>
        <p:spPr>
          <a:xfrm>
            <a:off x="1188720" y="4892040"/>
            <a:ext cx="10149840" cy="384048"/>
          </a:xfrm>
          <a:prstGeom prst="roundRect">
            <a:avLst>
              <a:gd name="adj" fmla="val 21429"/>
            </a:avLst>
          </a:prstGeom>
          <a:solidFill>
            <a:srgbClr val="EAF5F3"/>
          </a:solidFill>
          <a:ln w="12700">
            <a:solidFill>
              <a:srgbClr val="EAF5F3"/>
            </a:solidFill>
            <a:prstDash val="solid"/>
          </a:ln>
        </p:spPr>
      </p:sp>
      <p:sp>
        <p:nvSpPr>
          <p:cNvPr id="22" name="Text 19"/>
          <p:cNvSpPr/>
          <p:nvPr/>
        </p:nvSpPr>
        <p:spPr>
          <a:xfrm>
            <a:off x="1417320" y="4892040"/>
            <a:ext cx="9692640" cy="384048"/>
          </a:xfrm>
          <a:prstGeom prst="rect">
            <a:avLst/>
          </a:prstGeom>
          <a:noFill/>
          <a:ln/>
        </p:spPr>
        <p:txBody>
          <a:bodyPr wrap="square" lIns="0" tIns="0" rIns="0" bIns="0" rtlCol="0" anchor="ctr"/>
          <a:lstStyle/>
          <a:p>
            <a:pPr indent="0" marL="0">
              <a:buNone/>
            </a:pPr>
            <a:r>
              <a:rPr lang="en-US" sz="1500" b="1" dirty="0">
                <a:solidFill>
                  <a:srgbClr val="13293D"/>
                </a:solidFill>
                <a:latin typeface="Inter" pitchFamily="34" charset="0"/>
                <a:ea typeface="Inter" pitchFamily="34" charset="-122"/>
                <a:cs typeface="Inter" pitchFamily="34" charset="-120"/>
              </a:rPr>
              <a:t>31 templates · 22 contributors · every entry has a name on it</a:t>
            </a:r>
            <a:endParaRPr lang="en-US" sz="1500" dirty="0"/>
          </a:p>
        </p:txBody>
      </p:sp>
      <p:sp>
        <p:nvSpPr>
          <p:cNvPr id="23" name="Text 20"/>
          <p:cNvSpPr/>
          <p:nvPr/>
        </p:nvSpPr>
        <p:spPr>
          <a:xfrm>
            <a:off x="640080" y="5577840"/>
            <a:ext cx="10972800" cy="45720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Twenty-two people teaching each other. Growing weekly = alive. Stalled a month = your early-warning light.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norms, posted: five lines on one page, signed by the faculty.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FORMAT MATTERS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Norms on one page</a:t>
            </a:r>
            <a:endParaRPr lang="en-US" sz="3200" dirty="0"/>
          </a:p>
        </p:txBody>
      </p:sp>
      <p:sp>
        <p:nvSpPr>
          <p:cNvPr id="14" name="Text 11"/>
          <p:cNvSpPr/>
          <p:nvPr/>
        </p:nvSpPr>
        <p:spPr>
          <a:xfrm>
            <a:off x="640080" y="1417320"/>
            <a:ext cx="10908792" cy="29260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One page. Five lines. Plain words that sound like this building.</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Signed by the faculty, the way you sign something you mean; posted in the workroom</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Revisited every semester so paper and practice match</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Not a binder. Binders are where norms go to be forgotten.</a:t>
            </a:r>
            <a:endParaRPr lang="en-US" sz="2100" dirty="0"/>
          </a:p>
        </p:txBody>
      </p:sp>
      <p:sp>
        <p:nvSpPr>
          <p:cNvPr id="15" name="Shape 12"/>
          <p:cNvSpPr/>
          <p:nvPr/>
        </p:nvSpPr>
        <p:spPr>
          <a:xfrm>
            <a:off x="640080" y="4480560"/>
            <a:ext cx="10972800" cy="1234440"/>
          </a:xfrm>
          <a:prstGeom prst="roundRect">
            <a:avLst>
              <a:gd name="adj" fmla="val 6667"/>
            </a:avLst>
          </a:prstGeom>
          <a:solidFill>
            <a:srgbClr val="EAF5F3"/>
          </a:solidFill>
          <a:ln w="12700">
            <a:solidFill>
              <a:srgbClr val="EAF5F3"/>
            </a:solidFill>
            <a:prstDash val="solid"/>
          </a:ln>
        </p:spPr>
      </p:sp>
      <p:sp>
        <p:nvSpPr>
          <p:cNvPr id="16" name="Text 13"/>
          <p:cNvSpPr/>
          <p:nvPr/>
        </p:nvSpPr>
        <p:spPr>
          <a:xfrm>
            <a:off x="960120" y="4617720"/>
            <a:ext cx="10332720" cy="96012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When leadership later builds formal policy (Kit 15 is that working session), this page is its seed. Until then, this IS the school's stance, and it's a real one.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calendar: monthly refreshers, Kit 1 for every new hire, norms revisited each semester.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CULTURE NEEDS DATES, OR IT NEEDS WILLPOWER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calendar</a:t>
            </a:r>
            <a:endParaRPr lang="en-US" sz="3200" dirty="0"/>
          </a:p>
        </p:txBody>
      </p:sp>
      <p:sp>
        <p:nvSpPr>
          <p:cNvPr id="14" name="Shape 11"/>
          <p:cNvSpPr/>
          <p:nvPr/>
        </p:nvSpPr>
        <p:spPr>
          <a:xfrm>
            <a:off x="640080" y="1463040"/>
            <a:ext cx="10972800" cy="914400"/>
          </a:xfrm>
          <a:prstGeom prst="roundRect">
            <a:avLst>
              <a:gd name="adj" fmla="val 9000"/>
            </a:avLst>
          </a:prstGeom>
          <a:solidFill>
            <a:srgbClr val="F7F5F0"/>
          </a:solidFill>
          <a:ln w="12700">
            <a:solidFill>
              <a:srgbClr val="F7F5F0"/>
            </a:solidFill>
            <a:prstDash val="solid"/>
          </a:ln>
        </p:spPr>
      </p:sp>
      <p:sp>
        <p:nvSpPr>
          <p:cNvPr id="15" name="Text 12"/>
          <p:cNvSpPr/>
          <p:nvPr/>
        </p:nvSpPr>
        <p:spPr>
          <a:xfrm>
            <a:off x="914400" y="1554480"/>
            <a:ext cx="3291840" cy="731520"/>
          </a:xfrm>
          <a:prstGeom prst="rect">
            <a:avLst/>
          </a:prstGeom>
          <a:noFill/>
          <a:ln/>
        </p:spPr>
        <p:txBody>
          <a:bodyPr wrap="square" lIns="0" tIns="0" rIns="0" bIns="0" rtlCol="0" anchor="ctr"/>
          <a:lstStyle/>
          <a:p>
            <a:pPr indent="0" marL="0">
              <a:buNone/>
            </a:pPr>
            <a:r>
              <a:rPr lang="en-US" sz="1550" b="1" dirty="0">
                <a:solidFill>
                  <a:srgbClr val="2A9D8F"/>
                </a:solidFill>
                <a:latin typeface="Inter" pitchFamily="34" charset="0"/>
                <a:ea typeface="Inter" pitchFamily="34" charset="-122"/>
                <a:cs typeface="Inter" pitchFamily="34" charset="-120"/>
              </a:rPr>
              <a:t>Every PLC (or every other)</a:t>
            </a:r>
            <a:endParaRPr lang="en-US" sz="1550" dirty="0"/>
          </a:p>
        </p:txBody>
      </p:sp>
      <p:sp>
        <p:nvSpPr>
          <p:cNvPr id="16" name="Text 13"/>
          <p:cNvSpPr/>
          <p:nvPr/>
        </p:nvSpPr>
        <p:spPr>
          <a:xfrm>
            <a:off x="4343400" y="1554480"/>
            <a:ext cx="7040880" cy="73152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The five-minute sharing round: win · fail · steal</a:t>
            </a:r>
            <a:endParaRPr lang="en-US" sz="1550" dirty="0"/>
          </a:p>
        </p:txBody>
      </p:sp>
      <p:sp>
        <p:nvSpPr>
          <p:cNvPr id="17" name="Shape 14"/>
          <p:cNvSpPr/>
          <p:nvPr/>
        </p:nvSpPr>
        <p:spPr>
          <a:xfrm>
            <a:off x="640080" y="2514600"/>
            <a:ext cx="10972800" cy="914400"/>
          </a:xfrm>
          <a:prstGeom prst="roundRect">
            <a:avLst>
              <a:gd name="adj" fmla="val 9000"/>
            </a:avLst>
          </a:prstGeom>
          <a:solidFill>
            <a:srgbClr val="F7F5F0"/>
          </a:solidFill>
          <a:ln w="12700">
            <a:solidFill>
              <a:srgbClr val="F7F5F0"/>
            </a:solidFill>
            <a:prstDash val="solid"/>
          </a:ln>
        </p:spPr>
      </p:sp>
      <p:sp>
        <p:nvSpPr>
          <p:cNvPr id="18" name="Text 15"/>
          <p:cNvSpPr/>
          <p:nvPr/>
        </p:nvSpPr>
        <p:spPr>
          <a:xfrm>
            <a:off x="914400" y="2606040"/>
            <a:ext cx="3291840" cy="731520"/>
          </a:xfrm>
          <a:prstGeom prst="rect">
            <a:avLst/>
          </a:prstGeom>
          <a:noFill/>
          <a:ln/>
        </p:spPr>
        <p:txBody>
          <a:bodyPr wrap="square" lIns="0" tIns="0" rIns="0" bIns="0" rtlCol="0" anchor="ctr"/>
          <a:lstStyle/>
          <a:p>
            <a:pPr indent="0" marL="0">
              <a:buNone/>
            </a:pPr>
            <a:r>
              <a:rPr lang="en-US" sz="1550" b="1" dirty="0">
                <a:solidFill>
                  <a:srgbClr val="2A9D8F"/>
                </a:solidFill>
                <a:latin typeface="Inter" pitchFamily="34" charset="0"/>
                <a:ea typeface="Inter" pitchFamily="34" charset="-122"/>
                <a:cs typeface="Inter" pitchFamily="34" charset="-120"/>
              </a:rPr>
              <a:t>Monthly, next semester</a:t>
            </a:r>
            <a:endParaRPr lang="en-US" sz="1550" dirty="0"/>
          </a:p>
        </p:txBody>
      </p:sp>
      <p:sp>
        <p:nvSpPr>
          <p:cNvPr id="19" name="Text 16"/>
          <p:cNvSpPr/>
          <p:nvPr/>
        </p:nvSpPr>
        <p:spPr>
          <a:xfrm>
            <a:off x="4343400" y="2606040"/>
            <a:ext cx="7040880" cy="73152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One 10-minute kit refresher, from the 30-day plans you already own</a:t>
            </a:r>
            <a:endParaRPr lang="en-US" sz="1550" dirty="0"/>
          </a:p>
        </p:txBody>
      </p:sp>
      <p:sp>
        <p:nvSpPr>
          <p:cNvPr id="20" name="Shape 17"/>
          <p:cNvSpPr/>
          <p:nvPr/>
        </p:nvSpPr>
        <p:spPr>
          <a:xfrm>
            <a:off x="640080" y="3566160"/>
            <a:ext cx="1097280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914400" y="3657600"/>
            <a:ext cx="3291840" cy="731520"/>
          </a:xfrm>
          <a:prstGeom prst="rect">
            <a:avLst/>
          </a:prstGeom>
          <a:noFill/>
          <a:ln/>
        </p:spPr>
        <p:txBody>
          <a:bodyPr wrap="square" lIns="0" tIns="0" rIns="0" bIns="0" rtlCol="0" anchor="ctr"/>
          <a:lstStyle/>
          <a:p>
            <a:pPr indent="0" marL="0">
              <a:buNone/>
            </a:pPr>
            <a:r>
              <a:rPr lang="en-US" sz="1550" b="1" dirty="0">
                <a:solidFill>
                  <a:srgbClr val="2A9D8F"/>
                </a:solidFill>
                <a:latin typeface="Inter" pitchFamily="34" charset="0"/>
                <a:ea typeface="Inter" pitchFamily="34" charset="-122"/>
                <a:cs typeface="Inter" pitchFamily="34" charset="-120"/>
              </a:rPr>
              <a:t>Every new hire, month one</a:t>
            </a:r>
            <a:endParaRPr lang="en-US" sz="1550" dirty="0"/>
          </a:p>
        </p:txBody>
      </p:sp>
      <p:sp>
        <p:nvSpPr>
          <p:cNvPr id="22" name="Text 19"/>
          <p:cNvSpPr/>
          <p:nvPr/>
        </p:nvSpPr>
        <p:spPr>
          <a:xfrm>
            <a:off x="4343400" y="3657600"/>
            <a:ext cx="7040880" cy="73152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Kit 1, run by any confident colleague, plus norms page and library tour</a:t>
            </a:r>
            <a:endParaRPr lang="en-US" sz="1550" dirty="0"/>
          </a:p>
        </p:txBody>
      </p:sp>
      <p:sp>
        <p:nvSpPr>
          <p:cNvPr id="23" name="Shape 20"/>
          <p:cNvSpPr/>
          <p:nvPr/>
        </p:nvSpPr>
        <p:spPr>
          <a:xfrm>
            <a:off x="640080" y="4617720"/>
            <a:ext cx="10972800" cy="914400"/>
          </a:xfrm>
          <a:prstGeom prst="roundRect">
            <a:avLst>
              <a:gd name="adj" fmla="val 9000"/>
            </a:avLst>
          </a:prstGeom>
          <a:solidFill>
            <a:srgbClr val="F7F5F0"/>
          </a:solidFill>
          <a:ln w="12700">
            <a:solidFill>
              <a:srgbClr val="F7F5F0"/>
            </a:solidFill>
            <a:prstDash val="solid"/>
          </a:ln>
        </p:spPr>
      </p:sp>
      <p:sp>
        <p:nvSpPr>
          <p:cNvPr id="24" name="Text 21"/>
          <p:cNvSpPr/>
          <p:nvPr/>
        </p:nvSpPr>
        <p:spPr>
          <a:xfrm>
            <a:off x="914400" y="4709160"/>
            <a:ext cx="3291840" cy="731520"/>
          </a:xfrm>
          <a:prstGeom prst="rect">
            <a:avLst/>
          </a:prstGeom>
          <a:noFill/>
          <a:ln/>
        </p:spPr>
        <p:txBody>
          <a:bodyPr wrap="square" lIns="0" tIns="0" rIns="0" bIns="0" rtlCol="0" anchor="ctr"/>
          <a:lstStyle/>
          <a:p>
            <a:pPr indent="0" marL="0">
              <a:buNone/>
            </a:pPr>
            <a:r>
              <a:rPr lang="en-US" sz="1550" b="1" dirty="0">
                <a:solidFill>
                  <a:srgbClr val="2A9D8F"/>
                </a:solidFill>
                <a:latin typeface="Inter" pitchFamily="34" charset="0"/>
                <a:ea typeface="Inter" pitchFamily="34" charset="-122"/>
                <a:cs typeface="Inter" pitchFamily="34" charset="-120"/>
              </a:rPr>
              <a:t>Once a semester</a:t>
            </a:r>
            <a:endParaRPr lang="en-US" sz="1550" dirty="0"/>
          </a:p>
        </p:txBody>
      </p:sp>
      <p:sp>
        <p:nvSpPr>
          <p:cNvPr id="25" name="Text 22"/>
          <p:cNvSpPr/>
          <p:nvPr/>
        </p:nvSpPr>
        <p:spPr>
          <a:xfrm>
            <a:off x="4343400" y="4709160"/>
            <a:ext cx="7040880" cy="73152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The norms page revisited; a stance that can't be revised becomes a relic</a:t>
            </a:r>
            <a:endParaRPr lang="en-US" sz="1550" dirty="0"/>
          </a:p>
        </p:txBody>
      </p:sp>
      <p:sp>
        <p:nvSpPr>
          <p:cNvPr id="26" name="Text 23"/>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None of it is new meeting time. It's minutes inside meetings that already exist.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triage eye: healthy culture shares failures; drifting culture hides use.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PRACTICE · CALL IT OUT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Culture triage: healthy or drifting?</a:t>
            </a:r>
            <a:endParaRPr lang="en-US" sz="2800" dirty="0"/>
          </a:p>
        </p:txBody>
      </p:sp>
      <p:sp>
        <p:nvSpPr>
          <p:cNvPr id="14" name="Text 11"/>
          <p:cNvSpPr/>
          <p:nvPr/>
        </p:nvSpPr>
        <p:spPr>
          <a:xfrm>
            <a:off x="731520" y="150876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1</a:t>
            </a:r>
            <a:endParaRPr lang="en-US" sz="2200" dirty="0"/>
          </a:p>
        </p:txBody>
      </p:sp>
      <p:sp>
        <p:nvSpPr>
          <p:cNvPr id="15" name="Text 12"/>
          <p:cNvSpPr/>
          <p:nvPr/>
        </p:nvSpPr>
        <p:spPr>
          <a:xfrm>
            <a:off x="1371600" y="1463040"/>
            <a:ext cx="5943600" cy="91440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A teacher tells the PLC about the quiz question the AI got confidently wrong; everyone laughs and checks their own</a:t>
            </a:r>
            <a:endParaRPr lang="en-US" sz="1500" dirty="0"/>
          </a:p>
        </p:txBody>
      </p:sp>
      <p:sp>
        <p:nvSpPr>
          <p:cNvPr id="16" name="Text 13"/>
          <p:cNvSpPr/>
          <p:nvPr/>
        </p:nvSpPr>
        <p:spPr>
          <a:xfrm>
            <a:off x="7498080" y="1463040"/>
            <a:ext cx="4114800" cy="914400"/>
          </a:xfrm>
          <a:prstGeom prst="rect">
            <a:avLst/>
          </a:prstGeom>
          <a:noFill/>
          <a:ln/>
        </p:spPr>
        <p:txBody>
          <a:bodyPr wrap="square" lIns="0" tIns="0" rIns="0" bIns="0" rtlCol="0" anchor="ctr"/>
          <a:lstStyle/>
          <a:p>
            <a:pPr indent="0" marL="0">
              <a:buNone/>
            </a:pPr>
            <a:r>
              <a:rPr lang="en-US" sz="1350" dirty="0">
                <a:solidFill>
                  <a:srgbClr val="5B6B7A"/>
                </a:solidFill>
                <a:latin typeface="Inter" pitchFamily="34" charset="0"/>
                <a:ea typeface="Inter" pitchFamily="34" charset="-122"/>
                <a:cs typeface="Inter" pitchFamily="34" charset="-120"/>
              </a:rPr>
              <a:t>Healthy: failure shared is quality control</a:t>
            </a:r>
            <a:endParaRPr lang="en-US" sz="1350" dirty="0"/>
          </a:p>
        </p:txBody>
      </p:sp>
      <p:sp>
        <p:nvSpPr>
          <p:cNvPr id="17" name="Text 14"/>
          <p:cNvSpPr/>
          <p:nvPr/>
        </p:nvSpPr>
        <p:spPr>
          <a:xfrm>
            <a:off x="731520" y="260604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2</a:t>
            </a:r>
            <a:endParaRPr lang="en-US" sz="2200" dirty="0"/>
          </a:p>
        </p:txBody>
      </p:sp>
      <p:sp>
        <p:nvSpPr>
          <p:cNvPr id="18" name="Text 15"/>
          <p:cNvSpPr/>
          <p:nvPr/>
        </p:nvSpPr>
        <p:spPr>
          <a:xfrm>
            <a:off x="1371600" y="2560320"/>
            <a:ext cx="5943600" cy="91440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A teacher quietly stops mentioning AI use after a colleague's eye-roll</a:t>
            </a:r>
            <a:endParaRPr lang="en-US" sz="1500" dirty="0"/>
          </a:p>
        </p:txBody>
      </p:sp>
      <p:sp>
        <p:nvSpPr>
          <p:cNvPr id="19" name="Text 16"/>
          <p:cNvSpPr/>
          <p:nvPr/>
        </p:nvSpPr>
        <p:spPr>
          <a:xfrm>
            <a:off x="7498080" y="2560320"/>
            <a:ext cx="4114800" cy="914400"/>
          </a:xfrm>
          <a:prstGeom prst="rect">
            <a:avLst/>
          </a:prstGeom>
          <a:noFill/>
          <a:ln/>
        </p:spPr>
        <p:txBody>
          <a:bodyPr wrap="square" lIns="0" tIns="0" rIns="0" bIns="0" rtlCol="0" anchor="ctr"/>
          <a:lstStyle/>
          <a:p>
            <a:pPr indent="0" marL="0">
              <a:buNone/>
            </a:pPr>
            <a:r>
              <a:rPr lang="en-US" sz="1350" dirty="0">
                <a:solidFill>
                  <a:srgbClr val="5B6B7A"/>
                </a:solidFill>
                <a:latin typeface="Inter" pitchFamily="34" charset="0"/>
                <a:ea typeface="Inter" pitchFamily="34" charset="-122"/>
                <a:cs typeface="Inter" pitchFamily="34" charset="-120"/>
              </a:rPr>
              <a:t>Drifting: use going underground is warning light #1</a:t>
            </a:r>
            <a:endParaRPr lang="en-US" sz="1350" dirty="0"/>
          </a:p>
        </p:txBody>
      </p:sp>
      <p:sp>
        <p:nvSpPr>
          <p:cNvPr id="20" name="Text 17"/>
          <p:cNvSpPr/>
          <p:nvPr/>
        </p:nvSpPr>
        <p:spPr>
          <a:xfrm>
            <a:off x="731520" y="370332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3</a:t>
            </a:r>
            <a:endParaRPr lang="en-US" sz="2200" dirty="0"/>
          </a:p>
        </p:txBody>
      </p:sp>
      <p:sp>
        <p:nvSpPr>
          <p:cNvPr id="21" name="Text 18"/>
          <p:cNvSpPr/>
          <p:nvPr/>
        </p:nvSpPr>
        <p:spPr>
          <a:xfrm>
            <a:off x="1371600" y="3657600"/>
            <a:ext cx="5943600" cy="91440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A new hire asks about the rules and gets three identical confident answers</a:t>
            </a:r>
            <a:endParaRPr lang="en-US" sz="1500" dirty="0"/>
          </a:p>
        </p:txBody>
      </p:sp>
      <p:sp>
        <p:nvSpPr>
          <p:cNvPr id="22" name="Text 19"/>
          <p:cNvSpPr/>
          <p:nvPr/>
        </p:nvSpPr>
        <p:spPr>
          <a:xfrm>
            <a:off x="7498080" y="3657600"/>
            <a:ext cx="4114800" cy="914400"/>
          </a:xfrm>
          <a:prstGeom prst="rect">
            <a:avLst/>
          </a:prstGeom>
          <a:noFill/>
          <a:ln/>
        </p:spPr>
        <p:txBody>
          <a:bodyPr wrap="square" lIns="0" tIns="0" rIns="0" bIns="0" rtlCol="0" anchor="ctr"/>
          <a:lstStyle/>
          <a:p>
            <a:pPr indent="0" marL="0">
              <a:buNone/>
            </a:pPr>
            <a:r>
              <a:rPr lang="en-US" sz="1350" dirty="0">
                <a:solidFill>
                  <a:srgbClr val="5B6B7A"/>
                </a:solidFill>
                <a:latin typeface="Inter" pitchFamily="34" charset="0"/>
                <a:ea typeface="Inter" pitchFamily="34" charset="-122"/>
                <a:cs typeface="Inter" pitchFamily="34" charset="-120"/>
              </a:rPr>
              <a:t>Healthy: the watching test, passed</a:t>
            </a:r>
            <a:endParaRPr lang="en-US" sz="1350" dirty="0"/>
          </a:p>
        </p:txBody>
      </p:sp>
      <p:sp>
        <p:nvSpPr>
          <p:cNvPr id="23" name="Text 20"/>
          <p:cNvSpPr/>
          <p:nvPr/>
        </p:nvSpPr>
        <p:spPr>
          <a:xfrm>
            <a:off x="731520" y="480060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4</a:t>
            </a:r>
            <a:endParaRPr lang="en-US" sz="2200" dirty="0"/>
          </a:p>
        </p:txBody>
      </p:sp>
      <p:sp>
        <p:nvSpPr>
          <p:cNvPr id="24" name="Text 21"/>
          <p:cNvSpPr/>
          <p:nvPr/>
        </p:nvSpPr>
        <p:spPr>
          <a:xfrm>
            <a:off x="1371600" y="4754880"/>
            <a:ext cx="5943600" cy="91440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The staff doc hasn't gained an entry since September</a:t>
            </a:r>
            <a:endParaRPr lang="en-US" sz="1500" dirty="0"/>
          </a:p>
        </p:txBody>
      </p:sp>
      <p:sp>
        <p:nvSpPr>
          <p:cNvPr id="25" name="Text 22"/>
          <p:cNvSpPr/>
          <p:nvPr/>
        </p:nvSpPr>
        <p:spPr>
          <a:xfrm>
            <a:off x="7498080" y="4754880"/>
            <a:ext cx="4114800" cy="914400"/>
          </a:xfrm>
          <a:prstGeom prst="rect">
            <a:avLst/>
          </a:prstGeom>
          <a:noFill/>
          <a:ln/>
        </p:spPr>
        <p:txBody>
          <a:bodyPr wrap="square" lIns="0" tIns="0" rIns="0" bIns="0" rtlCol="0" anchor="ctr"/>
          <a:lstStyle/>
          <a:p>
            <a:pPr indent="0" marL="0">
              <a:buNone/>
            </a:pPr>
            <a:r>
              <a:rPr lang="en-US" sz="1350" dirty="0">
                <a:solidFill>
                  <a:srgbClr val="5B6B7A"/>
                </a:solidFill>
                <a:latin typeface="Inter" pitchFamily="34" charset="0"/>
                <a:ea typeface="Inter" pitchFamily="34" charset="-122"/>
                <a:cs typeface="Inter" pitchFamily="34" charset="-120"/>
              </a:rPr>
              <a:t>Drifting: the fix is a sharing round, not a lecture</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onboarding plan: every new hire runs Kit 1 in their first month.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CULTURE'S BIGGEST LEAK</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Every new hire, covered</a:t>
            </a:r>
            <a:endParaRPr lang="en-US" sz="3200" dirty="0"/>
          </a:p>
        </p:txBody>
      </p:sp>
      <p:sp>
        <p:nvSpPr>
          <p:cNvPr id="14" name="Text 11"/>
          <p:cNvSpPr/>
          <p:nvPr/>
        </p:nvSpPr>
        <p:spPr>
          <a:xfrm>
            <a:off x="640080" y="141732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January hire never saw week one; without a plan, the culture dilutes one hire at a time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Kit 1 is self-contained: any confident colleague can run it for one person or five</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The norm: Kit 1 in the first month + the norms page in the welcome folder + a library tour from a colleague</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Thirty minutes of onboarding, and the culture stops depending on who was here in the fall.</a:t>
            </a:r>
            <a:endParaRPr lang="en-US" sz="2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measures: artifacts, not surveillance. Library growth, stories, exit tickets.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HOW YOU KNOW, WITHOUT BECOMING THE AI POLICE</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Measure the garden, not the gardeners</a:t>
            </a:r>
            <a:endParaRPr lang="en-US" sz="2800" dirty="0"/>
          </a:p>
        </p:txBody>
      </p:sp>
      <p:sp>
        <p:nvSpPr>
          <p:cNvPr id="14" name="Shape 11"/>
          <p:cNvSpPr/>
          <p:nvPr/>
        </p:nvSpPr>
        <p:spPr>
          <a:xfrm>
            <a:off x="640080" y="1554480"/>
            <a:ext cx="5394960" cy="3931920"/>
          </a:xfrm>
          <a:prstGeom prst="roundRect">
            <a:avLst>
              <a:gd name="adj" fmla="val 2093"/>
            </a:avLst>
          </a:prstGeom>
          <a:solidFill>
            <a:srgbClr val="EAF5F3"/>
          </a:solidFill>
          <a:ln w="12700">
            <a:solidFill>
              <a:srgbClr val="EAF5F3"/>
            </a:solidFill>
            <a:prstDash val="solid"/>
          </a:ln>
        </p:spPr>
      </p:sp>
      <p:sp>
        <p:nvSpPr>
          <p:cNvPr id="15" name="Text 12"/>
          <p:cNvSpPr/>
          <p:nvPr/>
        </p:nvSpPr>
        <p:spPr>
          <a:xfrm>
            <a:off x="960120" y="1783080"/>
            <a:ext cx="4800600" cy="365760"/>
          </a:xfrm>
          <a:prstGeom prst="rect">
            <a:avLst/>
          </a:prstGeom>
          <a:noFill/>
          <a:ln/>
        </p:spPr>
        <p:txBody>
          <a:bodyPr wrap="square" lIns="0" tIns="0" rIns="0" bIns="0" rtlCol="0" anchor="ctr"/>
          <a:lstStyle/>
          <a:p>
            <a:pPr indent="0" marL="0">
              <a:buNone/>
            </a:pPr>
            <a:r>
              <a:rPr lang="en-US" sz="1500" b="1" dirty="0">
                <a:solidFill>
                  <a:srgbClr val="2E7D5B"/>
                </a:solidFill>
                <a:latin typeface="Inter" pitchFamily="34" charset="0"/>
                <a:ea typeface="Inter" pitchFamily="34" charset="-122"/>
                <a:cs typeface="Inter" pitchFamily="34" charset="-120"/>
              </a:rPr>
              <a:t>COUNT: ARTIFACTS</a:t>
            </a:r>
            <a:endParaRPr lang="en-US" sz="1500" dirty="0"/>
          </a:p>
        </p:txBody>
      </p:sp>
      <p:sp>
        <p:nvSpPr>
          <p:cNvPr id="16" name="Text 13"/>
          <p:cNvSpPr/>
          <p:nvPr/>
        </p:nvSpPr>
        <p:spPr>
          <a:xfrm>
            <a:off x="96012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Library growth. Exit tickets you already collect. Sharing-round stories. Lane labels visible on assignments. Signals the whole building can see.</a:t>
            </a:r>
            <a:endParaRPr lang="en-US" sz="1700" dirty="0"/>
          </a:p>
        </p:txBody>
      </p:sp>
      <p:sp>
        <p:nvSpPr>
          <p:cNvPr id="17" name="Shape 14"/>
          <p:cNvSpPr/>
          <p:nvPr/>
        </p:nvSpPr>
        <p:spPr>
          <a:xfrm>
            <a:off x="6263640" y="1554480"/>
            <a:ext cx="5394960" cy="3931920"/>
          </a:xfrm>
          <a:prstGeom prst="roundRect">
            <a:avLst>
              <a:gd name="adj" fmla="val 2093"/>
            </a:avLst>
          </a:prstGeom>
          <a:solidFill>
            <a:srgbClr val="FBEFED"/>
          </a:solidFill>
          <a:ln w="12700">
            <a:solidFill>
              <a:srgbClr val="FBEFED"/>
            </a:solidFill>
            <a:prstDash val="solid"/>
          </a:ln>
        </p:spPr>
      </p:sp>
      <p:sp>
        <p:nvSpPr>
          <p:cNvPr id="18" name="Text 15"/>
          <p:cNvSpPr/>
          <p:nvPr/>
        </p:nvSpPr>
        <p:spPr>
          <a:xfrm>
            <a:off x="6583680" y="1783080"/>
            <a:ext cx="4800600" cy="365760"/>
          </a:xfrm>
          <a:prstGeom prst="rect">
            <a:avLst/>
          </a:prstGeom>
          <a:noFill/>
          <a:ln/>
        </p:spPr>
        <p:txBody>
          <a:bodyPr wrap="square" lIns="0" tIns="0" rIns="0" bIns="0" rtlCol="0" anchor="ctr"/>
          <a:lstStyle/>
          <a:p>
            <a:pPr indent="0" marL="0">
              <a:buNone/>
            </a:pPr>
            <a:r>
              <a:rPr lang="en-US" sz="1500" b="1" dirty="0">
                <a:solidFill>
                  <a:srgbClr val="B4453A"/>
                </a:solidFill>
                <a:latin typeface="Inter" pitchFamily="34" charset="0"/>
                <a:ea typeface="Inter" pitchFamily="34" charset="-122"/>
                <a:cs typeface="Inter" pitchFamily="34" charset="-120"/>
              </a:rPr>
              <a:t>NEVER: PEOPLE</a:t>
            </a:r>
            <a:endParaRPr lang="en-US" sz="1500" dirty="0"/>
          </a:p>
        </p:txBody>
      </p:sp>
      <p:sp>
        <p:nvSpPr>
          <p:cNvPr id="19" name="Text 16"/>
          <p:cNvSpPr/>
          <p:nvPr/>
        </p:nvSpPr>
        <p:spPr>
          <a:xfrm>
            <a:off x="658368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No auditing individual teachers' AI use. Surveillance kills the openness that keeps the culture safe; Kit 5 taught the building what policing does to honesty, and it applies to the adults too.</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tool-churn insurance: habits that survive any vendor: rules, formula, review.</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REASSURANCE SOMEBODY NEEDS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When the tools change (they will)</a:t>
            </a:r>
            <a:endParaRPr lang="en-US" sz="2800" dirty="0"/>
          </a:p>
        </p:txBody>
      </p:sp>
      <p:sp>
        <p:nvSpPr>
          <p:cNvPr id="14" name="Text 11"/>
          <p:cNvSpPr/>
          <p:nvPr/>
        </p:nvSpPr>
        <p:spPr>
          <a:xfrm>
            <a:off x="640080" y="141732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Every tool in every headline will change: interfaces, vendors, capabilities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Notice what this series never depended on: a specific product</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The rules, the formula, the review habit, the lanes, the protected list: all of it transfers to whatever arrives next. That's the design.</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Cultures outlive tools. That's the whole reason to build one.</a:t>
            </a:r>
            <a:endParaRPr lang="en-US" sz="2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8 · AI Culture   |   16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never list: no policy lag, no mocked skeptics, no finish line.</a:t>
            </a:r>
            <a:endParaRPr lang="en-US" sz="1000" dirty="0"/>
          </a:p>
        </p:txBody>
      </p:sp>
      <p:sp>
        <p:nvSpPr>
          <p:cNvPr id="12" name="Text 9"/>
          <p:cNvSpPr/>
          <p:nvPr/>
        </p:nvSpPr>
        <p:spPr>
          <a:xfrm>
            <a:off x="822960" y="118872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NEVER LIST · CAPSTONE EDITION</a:t>
            </a:r>
            <a:endParaRPr lang="en-US" sz="1500" dirty="0"/>
          </a:p>
        </p:txBody>
      </p:sp>
      <p:sp>
        <p:nvSpPr>
          <p:cNvPr id="13" name="Text 10"/>
          <p:cNvSpPr/>
          <p:nvPr/>
        </p:nvSpPr>
        <p:spPr>
          <a:xfrm>
            <a:off x="914400" y="1920240"/>
            <a:ext cx="457200" cy="77724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4" name="Text 11"/>
          <p:cNvSpPr/>
          <p:nvPr/>
        </p:nvSpPr>
        <p:spPr>
          <a:xfrm>
            <a:off x="1554480" y="1920240"/>
            <a:ext cx="9875520" cy="777240"/>
          </a:xfrm>
          <a:prstGeom prst="rect">
            <a:avLst/>
          </a:prstGeom>
          <a:noFill/>
          <a:ln/>
        </p:spPr>
        <p:txBody>
          <a:bodyPr wrap="square" lIns="0" tIns="0" rIns="0" bIns="0" rtlCol="0" anchor="ctr"/>
          <a:lstStyle/>
          <a:p>
            <a:pPr indent="0" marL="0">
              <a:buNone/>
            </a:pPr>
            <a:r>
              <a:rPr lang="en-US" sz="1950" dirty="0">
                <a:solidFill>
                  <a:srgbClr val="FFFFFF"/>
                </a:solidFill>
                <a:latin typeface="Inter" pitchFamily="34" charset="0"/>
                <a:ea typeface="Inter" pitchFamily="34" charset="-122"/>
                <a:cs typeface="Inter" pitchFamily="34" charset="-120"/>
              </a:rPr>
              <a:t>Never let the written stance lag what staff actually do: revisit it each semester</a:t>
            </a:r>
            <a:endParaRPr lang="en-US" sz="1950" dirty="0"/>
          </a:p>
        </p:txBody>
      </p:sp>
      <p:sp>
        <p:nvSpPr>
          <p:cNvPr id="15" name="Text 12"/>
          <p:cNvSpPr/>
          <p:nvPr/>
        </p:nvSpPr>
        <p:spPr>
          <a:xfrm>
            <a:off x="914400" y="2971800"/>
            <a:ext cx="457200" cy="77724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6" name="Text 13"/>
          <p:cNvSpPr/>
          <p:nvPr/>
        </p:nvSpPr>
        <p:spPr>
          <a:xfrm>
            <a:off x="1554480" y="2971800"/>
            <a:ext cx="9875520" cy="777240"/>
          </a:xfrm>
          <a:prstGeom prst="rect">
            <a:avLst/>
          </a:prstGeom>
          <a:noFill/>
          <a:ln/>
        </p:spPr>
        <p:txBody>
          <a:bodyPr wrap="square" lIns="0" tIns="0" rIns="0" bIns="0" rtlCol="0" anchor="ctr"/>
          <a:lstStyle/>
          <a:p>
            <a:pPr indent="0" marL="0">
              <a:buNone/>
            </a:pPr>
            <a:r>
              <a:rPr lang="en-US" sz="1950" dirty="0">
                <a:solidFill>
                  <a:srgbClr val="FFFFFF"/>
                </a:solidFill>
                <a:latin typeface="Inter" pitchFamily="34" charset="0"/>
                <a:ea typeface="Inter" pitchFamily="34" charset="-122"/>
                <a:cs typeface="Inter" pitchFamily="34" charset="-120"/>
              </a:rPr>
              <a:t>Never mock the skeptics: they're your drift detectors; recruit them, name their value</a:t>
            </a:r>
            <a:endParaRPr lang="en-US" sz="1950" dirty="0"/>
          </a:p>
        </p:txBody>
      </p:sp>
      <p:sp>
        <p:nvSpPr>
          <p:cNvPr id="17" name="Text 14"/>
          <p:cNvSpPr/>
          <p:nvPr/>
        </p:nvSpPr>
        <p:spPr>
          <a:xfrm>
            <a:off x="914400" y="4023360"/>
            <a:ext cx="457200" cy="77724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8" name="Text 15"/>
          <p:cNvSpPr/>
          <p:nvPr/>
        </p:nvSpPr>
        <p:spPr>
          <a:xfrm>
            <a:off x="1554480" y="4023360"/>
            <a:ext cx="9875520" cy="777240"/>
          </a:xfrm>
          <a:prstGeom prst="rect">
            <a:avLst/>
          </a:prstGeom>
          <a:noFill/>
          <a:ln/>
        </p:spPr>
        <p:txBody>
          <a:bodyPr wrap="square" lIns="0" tIns="0" rIns="0" bIns="0" rtlCol="0" anchor="ctr"/>
          <a:lstStyle/>
          <a:p>
            <a:pPr indent="0" marL="0">
              <a:buNone/>
            </a:pPr>
            <a:r>
              <a:rPr lang="en-US" sz="1950" dirty="0">
                <a:solidFill>
                  <a:srgbClr val="FFFFFF"/>
                </a:solidFill>
                <a:latin typeface="Inter" pitchFamily="34" charset="0"/>
                <a:ea typeface="Inter" pitchFamily="34" charset="-122"/>
                <a:cs typeface="Inter" pitchFamily="34" charset="-120"/>
              </a:rPr>
              <a:t>Never treat today as a finish line: the certificate marks eight kits lived, not a subject completed</a:t>
            </a:r>
            <a:endParaRPr lang="en-US" sz="1950" dirty="0"/>
          </a:p>
        </p:txBody>
      </p:sp>
      <p:sp>
        <p:nvSpPr>
          <p:cNvPr id="19" name="Text 16"/>
          <p:cNvSpPr/>
          <p:nvPr/>
        </p:nvSpPr>
        <p:spPr>
          <a:xfrm>
            <a:off x="822960" y="5394960"/>
            <a:ext cx="10515600" cy="457200"/>
          </a:xfrm>
          <a:prstGeom prst="rect">
            <a:avLst/>
          </a:prstGeom>
          <a:noFill/>
          <a:ln/>
        </p:spPr>
        <p:txBody>
          <a:bodyPr wrap="square" lIns="0" tIns="0" rIns="0" bIns="0" rtlCol="0" anchor="ctr"/>
          <a:lstStyle/>
          <a:p>
            <a:pPr indent="0" marL="0">
              <a:buNone/>
            </a:pPr>
            <a:r>
              <a:rPr lang="en-US" sz="1700" dirty="0">
                <a:solidFill>
                  <a:srgbClr val="C9D4DE"/>
                </a:solidFill>
                <a:latin typeface="Inter" pitchFamily="34" charset="0"/>
                <a:ea typeface="Inter" pitchFamily="34" charset="-122"/>
                <a:cs typeface="Inter" pitchFamily="34" charset="-120"/>
              </a:rPr>
              <a:t>The schools that get this right stay students of it.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certificate: all eight kits, lived. The AI-Ready Educator Certificate of Completion.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MILESTONE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certificate</a:t>
            </a:r>
            <a:endParaRPr lang="en-US" sz="3200" dirty="0"/>
          </a:p>
        </p:txBody>
      </p:sp>
      <p:sp>
        <p:nvSpPr>
          <p:cNvPr id="14" name="Shape 11"/>
          <p:cNvSpPr/>
          <p:nvPr/>
        </p:nvSpPr>
        <p:spPr>
          <a:xfrm>
            <a:off x="640080" y="1554480"/>
            <a:ext cx="10972800" cy="3108960"/>
          </a:xfrm>
          <a:prstGeom prst="roundRect">
            <a:avLst>
              <a:gd name="adj" fmla="val 2647"/>
            </a:avLst>
          </a:prstGeom>
          <a:solidFill>
            <a:srgbClr val="EAF5F3"/>
          </a:solidFill>
          <a:ln w="12700">
            <a:solidFill>
              <a:srgbClr val="EAF5F3"/>
            </a:solidFill>
            <a:prstDash val="solid"/>
          </a:ln>
        </p:spPr>
      </p:sp>
      <p:sp>
        <p:nvSpPr>
          <p:cNvPr id="15" name="Text 12"/>
          <p:cNvSpPr/>
          <p:nvPr/>
        </p:nvSpPr>
        <p:spPr>
          <a:xfrm>
            <a:off x="960120" y="1828800"/>
            <a:ext cx="10332720" cy="411480"/>
          </a:xfrm>
          <a:prstGeom prst="rect">
            <a:avLst/>
          </a:prstGeom>
          <a:noFill/>
          <a:ln/>
        </p:spPr>
        <p:txBody>
          <a:bodyPr wrap="square" lIns="0" tIns="0" rIns="0" bIns="0" rtlCol="0" anchor="ctr"/>
          <a:lstStyle/>
          <a:p>
            <a:pPr indent="0" marL="0">
              <a:buNone/>
            </a:pPr>
            <a:r>
              <a:rPr lang="en-US" sz="1700" b="1" spc="150" kern="0" dirty="0">
                <a:solidFill>
                  <a:srgbClr val="2A9D8F"/>
                </a:solidFill>
                <a:latin typeface="Inter" pitchFamily="34" charset="0"/>
                <a:ea typeface="Inter" pitchFamily="34" charset="-122"/>
                <a:cs typeface="Inter" pitchFamily="34" charset="-120"/>
              </a:rPr>
              <a:t>THE AI-READY EDUCATOR CERTIFICATE OF COMPLETION</a:t>
            </a:r>
            <a:endParaRPr lang="en-US" sz="1700" dirty="0"/>
          </a:p>
        </p:txBody>
      </p:sp>
      <p:sp>
        <p:nvSpPr>
          <p:cNvPr id="16" name="Text 13"/>
          <p:cNvSpPr/>
          <p:nvPr/>
        </p:nvSpPr>
        <p:spPr>
          <a:xfrm>
            <a:off x="960120" y="2377440"/>
            <a:ext cx="10332720" cy="2103120"/>
          </a:xfrm>
          <a:prstGeom prst="rect">
            <a:avLst/>
          </a:prstGeom>
          <a:noFill/>
          <a:ln/>
        </p:spPr>
        <p:txBody>
          <a:bodyPr wrap="square" lIns="0" tIns="0" rIns="0" bIns="0" rtlCol="0" anchor="t"/>
          <a:lstStyle/>
          <a:p>
            <a:pPr indent="0" marL="0">
              <a:buNone/>
            </a:pPr>
            <a:r>
              <a:rPr lang="en-US" sz="1900" dirty="0">
                <a:solidFill>
                  <a:srgbClr val="1B1F24"/>
                </a:solidFill>
                <a:latin typeface="Inter" pitchFamily="34" charset="0"/>
                <a:ea typeface="Inter" pitchFamily="34" charset="-122"/>
                <a:cs typeface="Inter" pitchFamily="34" charset="-120"/>
              </a:rPr>
              <a:t>Earned by completing all eight Track A sessions. It documents something real: eight hours of hands-on professional learning, artifacts built for real classrooms every week, and commitments made out loud and kept. Your exit tickets are the documentation.</a:t>
            </a:r>
            <a:endParaRPr lang="en-US" sz="1900" dirty="0"/>
          </a:p>
        </p:txBody>
      </p:sp>
      <p:sp>
        <p:nvSpPr>
          <p:cNvPr id="17" name="Text 14"/>
          <p:cNvSpPr/>
          <p:nvPr/>
        </p:nvSpPr>
        <p:spPr>
          <a:xfrm>
            <a:off x="640080" y="4892040"/>
            <a:ext cx="10972800" cy="365760"/>
          </a:xfrm>
          <a:prstGeom prst="rect">
            <a:avLst/>
          </a:prstGeom>
          <a:noFill/>
          <a:ln/>
        </p:spPr>
        <p:txBody>
          <a:bodyPr wrap="square" lIns="0" tIns="0" rIns="0" bIns="0" rtlCol="0" anchor="ctr"/>
          <a:lstStyle/>
          <a:p>
            <a:pPr algn="ctr" indent="0" marL="0">
              <a:buNone/>
            </a:pPr>
            <a:r>
              <a:rPr lang="en-US" sz="1400" i="1" dirty="0">
                <a:solidFill>
                  <a:srgbClr val="5B6B7A"/>
                </a:solidFill>
                <a:latin typeface="Inter" pitchFamily="34" charset="0"/>
                <a:ea typeface="Inter" pitchFamily="34" charset="-122"/>
                <a:cs typeface="Inter" pitchFamily="34" charset="-120"/>
              </a:rPr>
              <a:t>Check with your district or state whether this PD qualifies for local credit.</a:t>
            </a:r>
            <a:endParaRPr lang="en-US" sz="1400" dirty="0"/>
          </a:p>
        </p:txBody>
      </p:sp>
      <p:sp>
        <p:nvSpPr>
          <p:cNvPr id="18" name="Text 15"/>
          <p:cNvSpPr/>
          <p:nvPr/>
        </p:nvSpPr>
        <p:spPr>
          <a:xfrm>
            <a:off x="640080" y="539496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Most buildings talked about AI this year. Yours trained.</a:t>
            </a:r>
            <a:endParaRPr lang="en-US" sz="2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8 · AI Culture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page all the way through: her school's culture page.</a:t>
            </a:r>
            <a:endParaRPr lang="en-US" sz="1000" dirty="0"/>
          </a:p>
        </p:txBody>
      </p:sp>
      <p:sp>
        <p:nvSpPr>
          <p:cNvPr id="12" name="Text 9"/>
          <p:cNvSpPr/>
          <p:nvPr/>
        </p:nvSpPr>
        <p:spPr>
          <a:xfrm>
            <a:off x="566928" y="182880"/>
            <a:ext cx="7315200" cy="320040"/>
          </a:xfrm>
          <a:prstGeom prst="rect">
            <a:avLst/>
          </a:prstGeom>
          <a:noFill/>
          <a:ln/>
        </p:spPr>
        <p:txBody>
          <a:bodyPr wrap="square" lIns="0" tIns="0" rIns="0" bIns="0" rtlCol="0" anchor="ctr"/>
          <a:lstStyle/>
          <a:p>
            <a:pPr indent="0" marL="0">
              <a:buNone/>
            </a:pPr>
            <a:r>
              <a:rPr lang="en-US" sz="1300" b="1" spc="200" kern="0" dirty="0">
                <a:solidFill>
                  <a:srgbClr val="F4A825"/>
                </a:solidFill>
                <a:latin typeface="Inter" pitchFamily="34" charset="0"/>
                <a:ea typeface="Inter" pitchFamily="34" charset="-122"/>
                <a:cs typeface="Inter" pitchFamily="34" charset="-120"/>
              </a:rPr>
              <a:t>THE LAST LAB · ~22 MINUTES</a:t>
            </a:r>
            <a:endParaRPr lang="en-US" sz="1300" dirty="0"/>
          </a:p>
        </p:txBody>
      </p:sp>
      <p:sp>
        <p:nvSpPr>
          <p:cNvPr id="13" name="Text 10"/>
          <p:cNvSpPr/>
          <p:nvPr/>
        </p:nvSpPr>
        <p:spPr>
          <a:xfrm>
            <a:off x="640080" y="118872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draft the culture.</a:t>
            </a:r>
            <a:endParaRPr lang="en-US" sz="4400" dirty="0"/>
          </a:p>
        </p:txBody>
      </p:sp>
      <p:sp>
        <p:nvSpPr>
          <p:cNvPr id="14" name="Text 11"/>
          <p:cNvSpPr/>
          <p:nvPr/>
        </p:nvSpPr>
        <p:spPr>
          <a:xfrm>
            <a:off x="658368" y="2286000"/>
            <a:ext cx="1078992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Today you build the school, not a classroom artifact. What you draft goes to the whole faculty this week: write like it's real, because it is.</a:t>
            </a:r>
            <a:endParaRPr lang="en-US" sz="2000" dirty="0"/>
          </a:p>
        </p:txBody>
      </p:sp>
      <p:sp>
        <p:nvSpPr>
          <p:cNvPr id="15" name="Shape 12"/>
          <p:cNvSpPr/>
          <p:nvPr/>
        </p:nvSpPr>
        <p:spPr>
          <a:xfrm>
            <a:off x="868680" y="3483864"/>
            <a:ext cx="502920" cy="502920"/>
          </a:xfrm>
          <a:prstGeom prst="ellipse">
            <a:avLst/>
          </a:prstGeom>
          <a:solidFill>
            <a:srgbClr val="2A9D8F"/>
          </a:solidFill>
          <a:ln w="12700">
            <a:solidFill>
              <a:srgbClr val="2A9D8F"/>
            </a:solidFill>
            <a:prstDash val="solid"/>
          </a:ln>
        </p:spPr>
      </p:sp>
      <p:sp>
        <p:nvSpPr>
          <p:cNvPr id="16" name="Text 13"/>
          <p:cNvSpPr/>
          <p:nvPr/>
        </p:nvSpPr>
        <p:spPr>
          <a:xfrm>
            <a:off x="868680" y="348386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40080"/>
          </a:xfrm>
          <a:prstGeom prst="rect">
            <a:avLst/>
          </a:prstGeom>
          <a:noFill/>
          <a:ln/>
        </p:spPr>
        <p:txBody>
          <a:bodyPr wrap="square" lIns="0" tIns="0" rIns="0" bIns="0" rtlCol="0" anchor="ctr"/>
          <a:lstStyle/>
          <a:p>
            <a:pPr indent="0" marL="0">
              <a:buNone/>
            </a:pPr>
            <a:r>
              <a:rPr lang="en-US" sz="1950" dirty="0">
                <a:solidFill>
                  <a:srgbClr val="FFFFFF"/>
                </a:solidFill>
                <a:latin typeface="Inter" pitchFamily="34" charset="0"/>
                <a:ea typeface="Inter" pitchFamily="34" charset="-122"/>
                <a:cs typeface="Inter" pitchFamily="34" charset="-120"/>
              </a:rPr>
              <a:t>Groups of 3–4, mixed departments; chart paper or a shared doc</a:t>
            </a:r>
            <a:endParaRPr lang="en-US" sz="1950" dirty="0"/>
          </a:p>
        </p:txBody>
      </p:sp>
      <p:sp>
        <p:nvSpPr>
          <p:cNvPr id="18" name="Shape 15"/>
          <p:cNvSpPr/>
          <p:nvPr/>
        </p:nvSpPr>
        <p:spPr>
          <a:xfrm>
            <a:off x="868680" y="4306824"/>
            <a:ext cx="502920" cy="502920"/>
          </a:xfrm>
          <a:prstGeom prst="ellipse">
            <a:avLst/>
          </a:prstGeom>
          <a:solidFill>
            <a:srgbClr val="2A9D8F"/>
          </a:solidFill>
          <a:ln w="12700">
            <a:solidFill>
              <a:srgbClr val="2A9D8F"/>
            </a:solidFill>
            <a:prstDash val="solid"/>
          </a:ln>
        </p:spPr>
      </p:sp>
      <p:sp>
        <p:nvSpPr>
          <p:cNvPr id="19" name="Text 16"/>
          <p:cNvSpPr/>
          <p:nvPr/>
        </p:nvSpPr>
        <p:spPr>
          <a:xfrm>
            <a:off x="868680" y="430682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40080"/>
          </a:xfrm>
          <a:prstGeom prst="rect">
            <a:avLst/>
          </a:prstGeom>
          <a:noFill/>
          <a:ln/>
        </p:spPr>
        <p:txBody>
          <a:bodyPr wrap="square" lIns="0" tIns="0" rIns="0" bIns="0" rtlCol="0" anchor="ctr"/>
          <a:lstStyle/>
          <a:p>
            <a:pPr indent="0" marL="0">
              <a:buNone/>
            </a:pPr>
            <a:r>
              <a:rPr lang="en-US" sz="1950" dirty="0">
                <a:solidFill>
                  <a:srgbClr val="FFFFFF"/>
                </a:solidFill>
                <a:latin typeface="Inter" pitchFamily="34" charset="0"/>
                <a:ea typeface="Inter" pitchFamily="34" charset="-122"/>
                <a:cs typeface="Inter" pitchFamily="34" charset="-120"/>
              </a:rPr>
              <a:t>Four deliverables: norms · routine with a date · onboarding + skeptic partners · semester rhythm</a:t>
            </a:r>
            <a:endParaRPr lang="en-US" sz="1950" dirty="0"/>
          </a:p>
        </p:txBody>
      </p:sp>
      <p:sp>
        <p:nvSpPr>
          <p:cNvPr id="21" name="Shape 18"/>
          <p:cNvSpPr/>
          <p:nvPr/>
        </p:nvSpPr>
        <p:spPr>
          <a:xfrm>
            <a:off x="868680" y="5129784"/>
            <a:ext cx="502920" cy="502920"/>
          </a:xfrm>
          <a:prstGeom prst="ellipse">
            <a:avLst/>
          </a:prstGeom>
          <a:solidFill>
            <a:srgbClr val="2A9D8F"/>
          </a:solidFill>
          <a:ln w="12700">
            <a:solidFill>
              <a:srgbClr val="2A9D8F"/>
            </a:solidFill>
            <a:prstDash val="solid"/>
          </a:ln>
        </p:spPr>
      </p:sp>
      <p:sp>
        <p:nvSpPr>
          <p:cNvPr id="22" name="Text 19"/>
          <p:cNvSpPr/>
          <p:nvPr/>
        </p:nvSpPr>
        <p:spPr>
          <a:xfrm>
            <a:off x="868680" y="512978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40080"/>
          </a:xfrm>
          <a:prstGeom prst="rect">
            <a:avLst/>
          </a:prstGeom>
          <a:noFill/>
          <a:ln/>
        </p:spPr>
        <p:txBody>
          <a:bodyPr wrap="square" lIns="0" tIns="0" rIns="0" bIns="0" rtlCol="0" anchor="ctr"/>
          <a:lstStyle/>
          <a:p>
            <a:pPr indent="0" marL="0">
              <a:buNone/>
            </a:pPr>
            <a:r>
              <a:rPr lang="en-US" sz="1950" dirty="0">
                <a:solidFill>
                  <a:srgbClr val="FFFFFF"/>
                </a:solidFill>
                <a:latin typeface="Inter" pitchFamily="34" charset="0"/>
                <a:ea typeface="Inter" pitchFamily="34" charset="-122"/>
                <a:cs typeface="Inter" pitchFamily="34" charset="-120"/>
              </a:rPr>
              <a:t>The building's own words beat policy-speak, every time</a:t>
            </a:r>
            <a:endParaRPr lang="en-US" sz="1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page, still blank: the same four blocks every school fills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ARTIFACT · THE PAGE YOUR SCHOOL FILLS IN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One page, four blocks</a:t>
            </a:r>
            <a:endParaRPr lang="en-US" sz="3200" dirty="0"/>
          </a:p>
        </p:txBody>
      </p:sp>
      <p:sp>
        <p:nvSpPr>
          <p:cNvPr id="14" name="Shape 11"/>
          <p:cNvSpPr/>
          <p:nvPr/>
        </p:nvSpPr>
        <p:spPr>
          <a:xfrm>
            <a:off x="640080" y="1225296"/>
            <a:ext cx="10972800" cy="4114800"/>
          </a:xfrm>
          <a:prstGeom prst="roundRect">
            <a:avLst>
              <a:gd name="adj" fmla="val 2000"/>
            </a:avLst>
          </a:prstGeom>
          <a:solidFill>
            <a:srgbClr val="F7F5F0"/>
          </a:solidFill>
          <a:ln w="12700">
            <a:solidFill>
              <a:srgbClr val="F7F5F0"/>
            </a:solidFill>
            <a:prstDash val="solid"/>
          </a:ln>
        </p:spPr>
      </p:sp>
      <p:sp>
        <p:nvSpPr>
          <p:cNvPr id="15" name="Shape 12"/>
          <p:cNvSpPr/>
          <p:nvPr/>
        </p:nvSpPr>
        <p:spPr>
          <a:xfrm>
            <a:off x="640080" y="1225296"/>
            <a:ext cx="109728" cy="4114800"/>
          </a:xfrm>
          <a:prstGeom prst="roundRect">
            <a:avLst>
              <a:gd name="adj" fmla="val 41667"/>
            </a:avLst>
          </a:prstGeom>
          <a:solidFill>
            <a:srgbClr val="2A9D8F"/>
          </a:solidFill>
          <a:ln w="12700">
            <a:solidFill>
              <a:srgbClr val="2A9D8F"/>
            </a:solidFill>
            <a:prstDash val="solid"/>
          </a:ln>
        </p:spPr>
      </p:sp>
      <p:sp>
        <p:nvSpPr>
          <p:cNvPr id="16" name="Text 13"/>
          <p:cNvSpPr/>
          <p:nvPr/>
        </p:nvSpPr>
        <p:spPr>
          <a:xfrm>
            <a:off x="960120" y="1335024"/>
            <a:ext cx="10332720" cy="256032"/>
          </a:xfrm>
          <a:prstGeom prst="rect">
            <a:avLst/>
          </a:prstGeom>
          <a:noFill/>
          <a:ln/>
        </p:spPr>
        <p:txBody>
          <a:bodyPr wrap="square" lIns="0" tIns="0" rIns="0" bIns="0" rtlCol="0" anchor="ctr"/>
          <a:lstStyle/>
          <a:p>
            <a:pPr indent="0" marL="0">
              <a:buNone/>
            </a:pPr>
            <a:r>
              <a:rPr lang="en-US" sz="1150" b="1" spc="140" kern="0" dirty="0">
                <a:solidFill>
                  <a:srgbClr val="2A9D8F"/>
                </a:solidFill>
                <a:latin typeface="Inter" pitchFamily="34" charset="0"/>
                <a:ea typeface="Inter" pitchFamily="34" charset="-122"/>
                <a:cs typeface="Inter" pitchFamily="34" charset="-120"/>
              </a:rPr>
              <a:t>THE CULTURE PAGE · THE SAME TEMPLATE IN EVERY SCHOOL · BLANK</a:t>
            </a:r>
            <a:endParaRPr lang="en-US" sz="1150" dirty="0"/>
          </a:p>
        </p:txBody>
      </p:sp>
      <p:sp>
        <p:nvSpPr>
          <p:cNvPr id="17" name="Text 14"/>
          <p:cNvSpPr/>
          <p:nvPr/>
        </p:nvSpPr>
        <p:spPr>
          <a:xfrm>
            <a:off x="960120" y="1609344"/>
            <a:ext cx="5486400" cy="384048"/>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How we use AI here</a:t>
            </a:r>
            <a:endParaRPr lang="en-US" sz="2200" dirty="0"/>
          </a:p>
        </p:txBody>
      </p:sp>
      <p:sp>
        <p:nvSpPr>
          <p:cNvPr id="18" name="Text 15"/>
          <p:cNvSpPr/>
          <p:nvPr/>
        </p:nvSpPr>
        <p:spPr>
          <a:xfrm>
            <a:off x="6537960" y="1664208"/>
            <a:ext cx="640080" cy="274320"/>
          </a:xfrm>
          <a:prstGeom prst="rect">
            <a:avLst/>
          </a:prstGeom>
          <a:noFill/>
          <a:ln/>
        </p:spPr>
        <p:txBody>
          <a:bodyPr wrap="square" lIns="0" tIns="0" rIns="0" bIns="0" rtlCol="0" anchor="ctr"/>
          <a:lstStyle/>
          <a:p>
            <a:pPr indent="0" marL="0">
              <a:buNone/>
            </a:pPr>
            <a:r>
              <a:rPr lang="en-US" sz="1200" dirty="0">
                <a:solidFill>
                  <a:srgbClr val="5B6B7A"/>
                </a:solidFill>
                <a:latin typeface="Inter" pitchFamily="34" charset="0"/>
                <a:ea typeface="Inter" pitchFamily="34" charset="-122"/>
                <a:cs typeface="Inter" pitchFamily="34" charset="-120"/>
              </a:rPr>
              <a:t>School</a:t>
            </a:r>
            <a:endParaRPr lang="en-US" sz="1200" dirty="0"/>
          </a:p>
        </p:txBody>
      </p:sp>
      <p:sp>
        <p:nvSpPr>
          <p:cNvPr id="19" name="Shape 16"/>
          <p:cNvSpPr/>
          <p:nvPr/>
        </p:nvSpPr>
        <p:spPr>
          <a:xfrm>
            <a:off x="7178040" y="1883664"/>
            <a:ext cx="1737360" cy="12802"/>
          </a:xfrm>
          <a:prstGeom prst="rect">
            <a:avLst/>
          </a:prstGeom>
          <a:solidFill>
            <a:srgbClr val="C4CFD9"/>
          </a:solidFill>
          <a:ln w="12700">
            <a:solidFill>
              <a:srgbClr val="C4CFD9"/>
            </a:solidFill>
            <a:prstDash val="solid"/>
          </a:ln>
        </p:spPr>
      </p:sp>
      <p:sp>
        <p:nvSpPr>
          <p:cNvPr id="20" name="Text 17"/>
          <p:cNvSpPr/>
          <p:nvPr/>
        </p:nvSpPr>
        <p:spPr>
          <a:xfrm>
            <a:off x="9052560" y="1664208"/>
            <a:ext cx="822960" cy="274320"/>
          </a:xfrm>
          <a:prstGeom prst="rect">
            <a:avLst/>
          </a:prstGeom>
          <a:noFill/>
          <a:ln/>
        </p:spPr>
        <p:txBody>
          <a:bodyPr wrap="square" lIns="0" tIns="0" rIns="0" bIns="0" rtlCol="0" anchor="ctr"/>
          <a:lstStyle/>
          <a:p>
            <a:pPr indent="0" marL="0">
              <a:buNone/>
            </a:pPr>
            <a:r>
              <a:rPr lang="en-US" sz="1200" dirty="0">
                <a:solidFill>
                  <a:srgbClr val="5B6B7A"/>
                </a:solidFill>
                <a:latin typeface="Inter" pitchFamily="34" charset="0"/>
                <a:ea typeface="Inter" pitchFamily="34" charset="-122"/>
                <a:cs typeface="Inter" pitchFamily="34" charset="-120"/>
              </a:rPr>
              <a:t>Adopted</a:t>
            </a:r>
            <a:endParaRPr lang="en-US" sz="1200" dirty="0"/>
          </a:p>
        </p:txBody>
      </p:sp>
      <p:sp>
        <p:nvSpPr>
          <p:cNvPr id="21" name="Shape 18"/>
          <p:cNvSpPr/>
          <p:nvPr/>
        </p:nvSpPr>
        <p:spPr>
          <a:xfrm>
            <a:off x="9875520" y="1883664"/>
            <a:ext cx="1371600" cy="12802"/>
          </a:xfrm>
          <a:prstGeom prst="rect">
            <a:avLst/>
          </a:prstGeom>
          <a:solidFill>
            <a:srgbClr val="C4CFD9"/>
          </a:solidFill>
          <a:ln w="12700">
            <a:solidFill>
              <a:srgbClr val="C4CFD9"/>
            </a:solidFill>
            <a:prstDash val="solid"/>
          </a:ln>
        </p:spPr>
      </p:sp>
      <p:sp>
        <p:nvSpPr>
          <p:cNvPr id="22" name="Text 19"/>
          <p:cNvSpPr/>
          <p:nvPr/>
        </p:nvSpPr>
        <p:spPr>
          <a:xfrm>
            <a:off x="960120" y="2084832"/>
            <a:ext cx="5029200" cy="237744"/>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1 · OUR FIVE NORMS, ONE SENTENCE EACH</a:t>
            </a:r>
            <a:endParaRPr lang="en-US" sz="1100" dirty="0"/>
          </a:p>
        </p:txBody>
      </p:sp>
      <p:sp>
        <p:nvSpPr>
          <p:cNvPr id="23" name="Text 20"/>
          <p:cNvSpPr/>
          <p:nvPr/>
        </p:nvSpPr>
        <p:spPr>
          <a:xfrm>
            <a:off x="960120" y="2395728"/>
            <a:ext cx="1417320" cy="274320"/>
          </a:xfrm>
          <a:prstGeom prst="rect">
            <a:avLst/>
          </a:prstGeom>
          <a:noFill/>
          <a:ln/>
        </p:spPr>
        <p:txBody>
          <a:bodyPr wrap="square" lIns="0" tIns="0" rIns="0" bIns="0" rtlCol="0" anchor="ctr"/>
          <a:lstStyle/>
          <a:p>
            <a:pPr indent="0" marL="0">
              <a:buNone/>
            </a:pPr>
            <a:r>
              <a:rPr lang="en-US" sz="1250" b="1" dirty="0">
                <a:solidFill>
                  <a:srgbClr val="1B1F24"/>
                </a:solidFill>
                <a:latin typeface="Inter" pitchFamily="34" charset="0"/>
                <a:ea typeface="Inter" pitchFamily="34" charset="-122"/>
                <a:cs typeface="Inter" pitchFamily="34" charset="-120"/>
              </a:rPr>
              <a:t>Privacy</a:t>
            </a:r>
            <a:endParaRPr lang="en-US" sz="1250" dirty="0"/>
          </a:p>
        </p:txBody>
      </p:sp>
      <p:sp>
        <p:nvSpPr>
          <p:cNvPr id="24" name="Shape 21"/>
          <p:cNvSpPr/>
          <p:nvPr/>
        </p:nvSpPr>
        <p:spPr>
          <a:xfrm>
            <a:off x="2468880" y="2633472"/>
            <a:ext cx="3337560" cy="12802"/>
          </a:xfrm>
          <a:prstGeom prst="rect">
            <a:avLst/>
          </a:prstGeom>
          <a:solidFill>
            <a:srgbClr val="C4CFD9"/>
          </a:solidFill>
          <a:ln w="12700">
            <a:solidFill>
              <a:srgbClr val="C4CFD9"/>
            </a:solidFill>
            <a:prstDash val="solid"/>
          </a:ln>
        </p:spPr>
      </p:sp>
      <p:sp>
        <p:nvSpPr>
          <p:cNvPr id="25" name="Text 22"/>
          <p:cNvSpPr/>
          <p:nvPr/>
        </p:nvSpPr>
        <p:spPr>
          <a:xfrm>
            <a:off x="960120" y="2779776"/>
            <a:ext cx="1417320" cy="274320"/>
          </a:xfrm>
          <a:prstGeom prst="rect">
            <a:avLst/>
          </a:prstGeom>
          <a:noFill/>
          <a:ln/>
        </p:spPr>
        <p:txBody>
          <a:bodyPr wrap="square" lIns="0" tIns="0" rIns="0" bIns="0" rtlCol="0" anchor="ctr"/>
          <a:lstStyle/>
          <a:p>
            <a:pPr indent="0" marL="0">
              <a:buNone/>
            </a:pPr>
            <a:r>
              <a:rPr lang="en-US" sz="1250" b="1" dirty="0">
                <a:solidFill>
                  <a:srgbClr val="1B1F24"/>
                </a:solidFill>
                <a:latin typeface="Inter" pitchFamily="34" charset="0"/>
                <a:ea typeface="Inter" pitchFamily="34" charset="-122"/>
                <a:cs typeface="Inter" pitchFamily="34" charset="-120"/>
              </a:rPr>
              <a:t>Review</a:t>
            </a:r>
            <a:endParaRPr lang="en-US" sz="1250" dirty="0"/>
          </a:p>
        </p:txBody>
      </p:sp>
      <p:sp>
        <p:nvSpPr>
          <p:cNvPr id="26" name="Shape 23"/>
          <p:cNvSpPr/>
          <p:nvPr/>
        </p:nvSpPr>
        <p:spPr>
          <a:xfrm>
            <a:off x="2468880" y="3017520"/>
            <a:ext cx="3337560" cy="12802"/>
          </a:xfrm>
          <a:prstGeom prst="rect">
            <a:avLst/>
          </a:prstGeom>
          <a:solidFill>
            <a:srgbClr val="C4CFD9"/>
          </a:solidFill>
          <a:ln w="12700">
            <a:solidFill>
              <a:srgbClr val="C4CFD9"/>
            </a:solidFill>
            <a:prstDash val="solid"/>
          </a:ln>
        </p:spPr>
      </p:sp>
      <p:sp>
        <p:nvSpPr>
          <p:cNvPr id="27" name="Text 24"/>
          <p:cNvSpPr/>
          <p:nvPr/>
        </p:nvSpPr>
        <p:spPr>
          <a:xfrm>
            <a:off x="960120" y="3163824"/>
            <a:ext cx="1417320" cy="274320"/>
          </a:xfrm>
          <a:prstGeom prst="rect">
            <a:avLst/>
          </a:prstGeom>
          <a:noFill/>
          <a:ln/>
        </p:spPr>
        <p:txBody>
          <a:bodyPr wrap="square" lIns="0" tIns="0" rIns="0" bIns="0" rtlCol="0" anchor="ctr"/>
          <a:lstStyle/>
          <a:p>
            <a:pPr indent="0" marL="0">
              <a:buNone/>
            </a:pPr>
            <a:r>
              <a:rPr lang="en-US" sz="1250" b="1" dirty="0">
                <a:solidFill>
                  <a:srgbClr val="1B1F24"/>
                </a:solidFill>
                <a:latin typeface="Inter" pitchFamily="34" charset="0"/>
                <a:ea typeface="Inter" pitchFamily="34" charset="-122"/>
                <a:cs typeface="Inter" pitchFamily="34" charset="-120"/>
              </a:rPr>
              <a:t>Honesty</a:t>
            </a:r>
            <a:endParaRPr lang="en-US" sz="1250" dirty="0"/>
          </a:p>
        </p:txBody>
      </p:sp>
      <p:sp>
        <p:nvSpPr>
          <p:cNvPr id="28" name="Shape 25"/>
          <p:cNvSpPr/>
          <p:nvPr/>
        </p:nvSpPr>
        <p:spPr>
          <a:xfrm>
            <a:off x="2468880" y="3401568"/>
            <a:ext cx="3337560" cy="12802"/>
          </a:xfrm>
          <a:prstGeom prst="rect">
            <a:avLst/>
          </a:prstGeom>
          <a:solidFill>
            <a:srgbClr val="C4CFD9"/>
          </a:solidFill>
          <a:ln w="12700">
            <a:solidFill>
              <a:srgbClr val="C4CFD9"/>
            </a:solidFill>
            <a:prstDash val="solid"/>
          </a:ln>
        </p:spPr>
      </p:sp>
      <p:sp>
        <p:nvSpPr>
          <p:cNvPr id="29" name="Text 26"/>
          <p:cNvSpPr/>
          <p:nvPr/>
        </p:nvSpPr>
        <p:spPr>
          <a:xfrm>
            <a:off x="960120" y="3547872"/>
            <a:ext cx="1417320" cy="274320"/>
          </a:xfrm>
          <a:prstGeom prst="rect">
            <a:avLst/>
          </a:prstGeom>
          <a:noFill/>
          <a:ln/>
        </p:spPr>
        <p:txBody>
          <a:bodyPr wrap="square" lIns="0" tIns="0" rIns="0" bIns="0" rtlCol="0" anchor="ctr"/>
          <a:lstStyle/>
          <a:p>
            <a:pPr indent="0" marL="0">
              <a:buNone/>
            </a:pPr>
            <a:r>
              <a:rPr lang="en-US" sz="1250" b="1" dirty="0">
                <a:solidFill>
                  <a:srgbClr val="1B1F24"/>
                </a:solidFill>
                <a:latin typeface="Inter" pitchFamily="34" charset="0"/>
                <a:ea typeface="Inter" pitchFamily="34" charset="-122"/>
                <a:cs typeface="Inter" pitchFamily="34" charset="-120"/>
              </a:rPr>
              <a:t>Sharing</a:t>
            </a:r>
            <a:endParaRPr lang="en-US" sz="1250" dirty="0"/>
          </a:p>
        </p:txBody>
      </p:sp>
      <p:sp>
        <p:nvSpPr>
          <p:cNvPr id="30" name="Shape 27"/>
          <p:cNvSpPr/>
          <p:nvPr/>
        </p:nvSpPr>
        <p:spPr>
          <a:xfrm>
            <a:off x="2468880" y="3785616"/>
            <a:ext cx="3337560" cy="12802"/>
          </a:xfrm>
          <a:prstGeom prst="rect">
            <a:avLst/>
          </a:prstGeom>
          <a:solidFill>
            <a:srgbClr val="C4CFD9"/>
          </a:solidFill>
          <a:ln w="12700">
            <a:solidFill>
              <a:srgbClr val="C4CFD9"/>
            </a:solidFill>
            <a:prstDash val="solid"/>
          </a:ln>
        </p:spPr>
      </p:sp>
      <p:sp>
        <p:nvSpPr>
          <p:cNvPr id="31" name="Text 28"/>
          <p:cNvSpPr/>
          <p:nvPr/>
        </p:nvSpPr>
        <p:spPr>
          <a:xfrm>
            <a:off x="960120" y="3931920"/>
            <a:ext cx="1417320" cy="274320"/>
          </a:xfrm>
          <a:prstGeom prst="rect">
            <a:avLst/>
          </a:prstGeom>
          <a:noFill/>
          <a:ln/>
        </p:spPr>
        <p:txBody>
          <a:bodyPr wrap="square" lIns="0" tIns="0" rIns="0" bIns="0" rtlCol="0" anchor="ctr"/>
          <a:lstStyle/>
          <a:p>
            <a:pPr indent="0" marL="0">
              <a:buNone/>
            </a:pPr>
            <a:r>
              <a:rPr lang="en-US" sz="1250" b="1" dirty="0">
                <a:solidFill>
                  <a:srgbClr val="1B1F24"/>
                </a:solidFill>
                <a:latin typeface="Inter" pitchFamily="34" charset="0"/>
                <a:ea typeface="Inter" pitchFamily="34" charset="-122"/>
                <a:cs typeface="Inter" pitchFamily="34" charset="-120"/>
              </a:rPr>
              <a:t>Protected list</a:t>
            </a:r>
            <a:endParaRPr lang="en-US" sz="1250" dirty="0"/>
          </a:p>
        </p:txBody>
      </p:sp>
      <p:sp>
        <p:nvSpPr>
          <p:cNvPr id="32" name="Shape 29"/>
          <p:cNvSpPr/>
          <p:nvPr/>
        </p:nvSpPr>
        <p:spPr>
          <a:xfrm>
            <a:off x="2468880" y="4169664"/>
            <a:ext cx="3337560" cy="12802"/>
          </a:xfrm>
          <a:prstGeom prst="rect">
            <a:avLst/>
          </a:prstGeom>
          <a:solidFill>
            <a:srgbClr val="C4CFD9"/>
          </a:solidFill>
          <a:ln w="12700">
            <a:solidFill>
              <a:srgbClr val="C4CFD9"/>
            </a:solidFill>
            <a:prstDash val="solid"/>
          </a:ln>
        </p:spPr>
      </p:sp>
      <p:sp>
        <p:nvSpPr>
          <p:cNvPr id="33" name="Text 30"/>
          <p:cNvSpPr/>
          <p:nvPr/>
        </p:nvSpPr>
        <p:spPr>
          <a:xfrm>
            <a:off x="960120" y="4370832"/>
            <a:ext cx="5029200" cy="237744"/>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2 · OUR SHARING ROUTINE</a:t>
            </a:r>
            <a:endParaRPr lang="en-US" sz="1100" dirty="0"/>
          </a:p>
        </p:txBody>
      </p:sp>
      <p:sp>
        <p:nvSpPr>
          <p:cNvPr id="34" name="Text 31"/>
          <p:cNvSpPr/>
          <p:nvPr/>
        </p:nvSpPr>
        <p:spPr>
          <a:xfrm>
            <a:off x="3886200" y="4370832"/>
            <a:ext cx="2377440" cy="237744"/>
          </a:xfrm>
          <a:prstGeom prst="rect">
            <a:avLst/>
          </a:prstGeom>
          <a:noFill/>
          <a:ln/>
        </p:spPr>
        <p:txBody>
          <a:bodyPr wrap="square" lIns="0" tIns="0" rIns="0" bIns="0" rtlCol="0" anchor="ctr"/>
          <a:lstStyle/>
          <a:p>
            <a:pPr indent="0" marL="0">
              <a:buNone/>
            </a:pPr>
            <a:r>
              <a:rPr lang="en-US" sz="1050" dirty="0">
                <a:solidFill>
                  <a:srgbClr val="5B6B7A"/>
                </a:solidFill>
                <a:latin typeface="Inter" pitchFamily="34" charset="0"/>
                <a:ea typeface="Inter" pitchFamily="34" charset="-122"/>
                <a:cs typeface="Inter" pitchFamily="34" charset="-120"/>
              </a:rPr>
              <a:t>five minutes: win · fail · steal</a:t>
            </a:r>
            <a:endParaRPr lang="en-US" sz="1050" dirty="0"/>
          </a:p>
        </p:txBody>
      </p:sp>
      <p:sp>
        <p:nvSpPr>
          <p:cNvPr id="35" name="Text 32"/>
          <p:cNvSpPr/>
          <p:nvPr/>
        </p:nvSpPr>
        <p:spPr>
          <a:xfrm>
            <a:off x="960120" y="4663440"/>
            <a:ext cx="91440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Rhythm</a:t>
            </a:r>
            <a:endParaRPr lang="en-US" sz="1250" dirty="0"/>
          </a:p>
        </p:txBody>
      </p:sp>
      <p:sp>
        <p:nvSpPr>
          <p:cNvPr id="36" name="Shape 33"/>
          <p:cNvSpPr/>
          <p:nvPr/>
        </p:nvSpPr>
        <p:spPr>
          <a:xfrm>
            <a:off x="1920240" y="4901184"/>
            <a:ext cx="3886200" cy="12802"/>
          </a:xfrm>
          <a:prstGeom prst="rect">
            <a:avLst/>
          </a:prstGeom>
          <a:solidFill>
            <a:srgbClr val="C4CFD9"/>
          </a:solidFill>
          <a:ln w="12700">
            <a:solidFill>
              <a:srgbClr val="C4CFD9"/>
            </a:solidFill>
            <a:prstDash val="solid"/>
          </a:ln>
        </p:spPr>
      </p:sp>
      <p:sp>
        <p:nvSpPr>
          <p:cNvPr id="37" name="Text 34"/>
          <p:cNvSpPr/>
          <p:nvPr/>
        </p:nvSpPr>
        <p:spPr>
          <a:xfrm>
            <a:off x="960120" y="5029200"/>
            <a:ext cx="146304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Round one, date</a:t>
            </a:r>
            <a:endParaRPr lang="en-US" sz="1250" dirty="0"/>
          </a:p>
        </p:txBody>
      </p:sp>
      <p:sp>
        <p:nvSpPr>
          <p:cNvPr id="38" name="Shape 35"/>
          <p:cNvSpPr/>
          <p:nvPr/>
        </p:nvSpPr>
        <p:spPr>
          <a:xfrm>
            <a:off x="2468880" y="5266944"/>
            <a:ext cx="1234440" cy="12802"/>
          </a:xfrm>
          <a:prstGeom prst="rect">
            <a:avLst/>
          </a:prstGeom>
          <a:solidFill>
            <a:srgbClr val="C4CFD9"/>
          </a:solidFill>
          <a:ln w="12700">
            <a:solidFill>
              <a:srgbClr val="C4CFD9"/>
            </a:solidFill>
            <a:prstDash val="solid"/>
          </a:ln>
        </p:spPr>
      </p:sp>
      <p:sp>
        <p:nvSpPr>
          <p:cNvPr id="39" name="Text 36"/>
          <p:cNvSpPr/>
          <p:nvPr/>
        </p:nvSpPr>
        <p:spPr>
          <a:xfrm>
            <a:off x="3840480" y="5029200"/>
            <a:ext cx="73152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Owner</a:t>
            </a:r>
            <a:endParaRPr lang="en-US" sz="1250" dirty="0"/>
          </a:p>
        </p:txBody>
      </p:sp>
      <p:sp>
        <p:nvSpPr>
          <p:cNvPr id="40" name="Shape 37"/>
          <p:cNvSpPr/>
          <p:nvPr/>
        </p:nvSpPr>
        <p:spPr>
          <a:xfrm>
            <a:off x="4617720" y="5266944"/>
            <a:ext cx="1188720" cy="12802"/>
          </a:xfrm>
          <a:prstGeom prst="rect">
            <a:avLst/>
          </a:prstGeom>
          <a:solidFill>
            <a:srgbClr val="C4CFD9"/>
          </a:solidFill>
          <a:ln w="12700">
            <a:solidFill>
              <a:srgbClr val="C4CFD9"/>
            </a:solidFill>
            <a:prstDash val="solid"/>
          </a:ln>
        </p:spPr>
      </p:sp>
      <p:sp>
        <p:nvSpPr>
          <p:cNvPr id="41" name="Text 38"/>
          <p:cNvSpPr/>
          <p:nvPr/>
        </p:nvSpPr>
        <p:spPr>
          <a:xfrm>
            <a:off x="6172200" y="2084832"/>
            <a:ext cx="5120640" cy="237744"/>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3 · NEW COLLEAGUES · SKEPTIC PARTNERS</a:t>
            </a:r>
            <a:endParaRPr lang="en-US" sz="1100" dirty="0"/>
          </a:p>
        </p:txBody>
      </p:sp>
      <p:sp>
        <p:nvSpPr>
          <p:cNvPr id="42" name="Text 39"/>
          <p:cNvSpPr/>
          <p:nvPr/>
        </p:nvSpPr>
        <p:spPr>
          <a:xfrm>
            <a:off x="6172200" y="2395728"/>
            <a:ext cx="233172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Kit 1 in month one, run by</a:t>
            </a:r>
            <a:endParaRPr lang="en-US" sz="1250" dirty="0"/>
          </a:p>
        </p:txBody>
      </p:sp>
      <p:sp>
        <p:nvSpPr>
          <p:cNvPr id="43" name="Shape 40"/>
          <p:cNvSpPr/>
          <p:nvPr/>
        </p:nvSpPr>
        <p:spPr>
          <a:xfrm>
            <a:off x="8549640" y="2633472"/>
            <a:ext cx="2697480" cy="12802"/>
          </a:xfrm>
          <a:prstGeom prst="rect">
            <a:avLst/>
          </a:prstGeom>
          <a:solidFill>
            <a:srgbClr val="C4CFD9"/>
          </a:solidFill>
          <a:ln w="12700">
            <a:solidFill>
              <a:srgbClr val="C4CFD9"/>
            </a:solidFill>
            <a:prstDash val="solid"/>
          </a:ln>
        </p:spPr>
      </p:sp>
      <p:sp>
        <p:nvSpPr>
          <p:cNvPr id="44" name="Text 41"/>
          <p:cNvSpPr/>
          <p:nvPr/>
        </p:nvSpPr>
        <p:spPr>
          <a:xfrm>
            <a:off x="6172200" y="2779776"/>
            <a:ext cx="192024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Welcome folder holds</a:t>
            </a:r>
            <a:endParaRPr lang="en-US" sz="1250" dirty="0"/>
          </a:p>
        </p:txBody>
      </p:sp>
      <p:sp>
        <p:nvSpPr>
          <p:cNvPr id="45" name="Shape 42"/>
          <p:cNvSpPr/>
          <p:nvPr/>
        </p:nvSpPr>
        <p:spPr>
          <a:xfrm>
            <a:off x="8183880" y="2843784"/>
            <a:ext cx="155448" cy="155448"/>
          </a:xfrm>
          <a:prstGeom prst="roundRect">
            <a:avLst>
              <a:gd name="adj" fmla="val 17647"/>
            </a:avLst>
          </a:prstGeom>
          <a:solidFill>
            <a:srgbClr val="FFFFFF"/>
          </a:solidFill>
          <a:ln w="12700">
            <a:solidFill>
              <a:srgbClr val="9FB2C2"/>
            </a:solidFill>
            <a:prstDash val="solid"/>
          </a:ln>
        </p:spPr>
      </p:sp>
      <p:sp>
        <p:nvSpPr>
          <p:cNvPr id="46" name="Text 43"/>
          <p:cNvSpPr/>
          <p:nvPr/>
        </p:nvSpPr>
        <p:spPr>
          <a:xfrm>
            <a:off x="8412480" y="2779776"/>
            <a:ext cx="91440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this page</a:t>
            </a:r>
            <a:endParaRPr lang="en-US" sz="1250" dirty="0"/>
          </a:p>
        </p:txBody>
      </p:sp>
      <p:sp>
        <p:nvSpPr>
          <p:cNvPr id="47" name="Shape 44"/>
          <p:cNvSpPr/>
          <p:nvPr/>
        </p:nvSpPr>
        <p:spPr>
          <a:xfrm>
            <a:off x="9372600" y="2843784"/>
            <a:ext cx="155448" cy="155448"/>
          </a:xfrm>
          <a:prstGeom prst="roundRect">
            <a:avLst>
              <a:gd name="adj" fmla="val 17647"/>
            </a:avLst>
          </a:prstGeom>
          <a:solidFill>
            <a:srgbClr val="FFFFFF"/>
          </a:solidFill>
          <a:ln w="12700">
            <a:solidFill>
              <a:srgbClr val="9FB2C2"/>
            </a:solidFill>
            <a:prstDash val="solid"/>
          </a:ln>
        </p:spPr>
      </p:sp>
      <p:sp>
        <p:nvSpPr>
          <p:cNvPr id="48" name="Text 45"/>
          <p:cNvSpPr/>
          <p:nvPr/>
        </p:nvSpPr>
        <p:spPr>
          <a:xfrm>
            <a:off x="9601200" y="2779776"/>
            <a:ext cx="137160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a library tour</a:t>
            </a:r>
            <a:endParaRPr lang="en-US" sz="1250" dirty="0"/>
          </a:p>
        </p:txBody>
      </p:sp>
      <p:sp>
        <p:nvSpPr>
          <p:cNvPr id="49" name="Text 46"/>
          <p:cNvSpPr/>
          <p:nvPr/>
        </p:nvSpPr>
        <p:spPr>
          <a:xfrm>
            <a:off x="6172200" y="3163824"/>
            <a:ext cx="150876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Skeptic partners</a:t>
            </a:r>
            <a:endParaRPr lang="en-US" sz="1250" dirty="0"/>
          </a:p>
        </p:txBody>
      </p:sp>
      <p:sp>
        <p:nvSpPr>
          <p:cNvPr id="50" name="Shape 47"/>
          <p:cNvSpPr/>
          <p:nvPr/>
        </p:nvSpPr>
        <p:spPr>
          <a:xfrm>
            <a:off x="7726680" y="3401568"/>
            <a:ext cx="3520440" cy="12802"/>
          </a:xfrm>
          <a:prstGeom prst="rect">
            <a:avLst/>
          </a:prstGeom>
          <a:solidFill>
            <a:srgbClr val="C4CFD9"/>
          </a:solidFill>
          <a:ln w="12700">
            <a:solidFill>
              <a:srgbClr val="C4CFD9"/>
            </a:solidFill>
            <a:prstDash val="solid"/>
          </a:ln>
        </p:spPr>
      </p:sp>
      <p:sp>
        <p:nvSpPr>
          <p:cNvPr id="51" name="Text 48"/>
          <p:cNvSpPr/>
          <p:nvPr/>
        </p:nvSpPr>
        <p:spPr>
          <a:xfrm>
            <a:off x="6172200" y="3602736"/>
            <a:ext cx="5120640" cy="237744"/>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4 · NEXT SEMESTER, ONE LINE PER MONTH</a:t>
            </a:r>
            <a:endParaRPr lang="en-US" sz="1100" dirty="0"/>
          </a:p>
        </p:txBody>
      </p:sp>
      <p:sp>
        <p:nvSpPr>
          <p:cNvPr id="52" name="Text 49"/>
          <p:cNvSpPr/>
          <p:nvPr/>
        </p:nvSpPr>
        <p:spPr>
          <a:xfrm>
            <a:off x="6172200" y="3913632"/>
            <a:ext cx="548640" cy="237744"/>
          </a:xfrm>
          <a:prstGeom prst="rect">
            <a:avLst/>
          </a:prstGeom>
          <a:noFill/>
          <a:ln/>
        </p:spPr>
        <p:txBody>
          <a:bodyPr wrap="square" lIns="0" tIns="0" rIns="0" bIns="0" rtlCol="0" anchor="ctr"/>
          <a:lstStyle/>
          <a:p>
            <a:pPr indent="0" marL="0">
              <a:buNone/>
            </a:pPr>
            <a:r>
              <a:rPr lang="en-US" sz="1250" b="1" dirty="0">
                <a:solidFill>
                  <a:srgbClr val="2A9D8F"/>
                </a:solidFill>
                <a:latin typeface="Inter" pitchFamily="34" charset="0"/>
                <a:ea typeface="Inter" pitchFamily="34" charset="-122"/>
                <a:cs typeface="Inter" pitchFamily="34" charset="-120"/>
              </a:rPr>
              <a:t>Jan</a:t>
            </a:r>
            <a:endParaRPr lang="en-US" sz="1250" dirty="0"/>
          </a:p>
        </p:txBody>
      </p:sp>
      <p:sp>
        <p:nvSpPr>
          <p:cNvPr id="53" name="Shape 50"/>
          <p:cNvSpPr/>
          <p:nvPr/>
        </p:nvSpPr>
        <p:spPr>
          <a:xfrm>
            <a:off x="6766560" y="4114800"/>
            <a:ext cx="4480560" cy="12802"/>
          </a:xfrm>
          <a:prstGeom prst="rect">
            <a:avLst/>
          </a:prstGeom>
          <a:solidFill>
            <a:srgbClr val="C4CFD9"/>
          </a:solidFill>
          <a:ln w="12700">
            <a:solidFill>
              <a:srgbClr val="C4CFD9"/>
            </a:solidFill>
            <a:prstDash val="solid"/>
          </a:ln>
        </p:spPr>
      </p:sp>
      <p:sp>
        <p:nvSpPr>
          <p:cNvPr id="54" name="Text 51"/>
          <p:cNvSpPr/>
          <p:nvPr/>
        </p:nvSpPr>
        <p:spPr>
          <a:xfrm>
            <a:off x="6172200" y="4206240"/>
            <a:ext cx="548640" cy="237744"/>
          </a:xfrm>
          <a:prstGeom prst="rect">
            <a:avLst/>
          </a:prstGeom>
          <a:noFill/>
          <a:ln/>
        </p:spPr>
        <p:txBody>
          <a:bodyPr wrap="square" lIns="0" tIns="0" rIns="0" bIns="0" rtlCol="0" anchor="ctr"/>
          <a:lstStyle/>
          <a:p>
            <a:pPr indent="0" marL="0">
              <a:buNone/>
            </a:pPr>
            <a:r>
              <a:rPr lang="en-US" sz="1250" b="1" dirty="0">
                <a:solidFill>
                  <a:srgbClr val="2A9D8F"/>
                </a:solidFill>
                <a:latin typeface="Inter" pitchFamily="34" charset="0"/>
                <a:ea typeface="Inter" pitchFamily="34" charset="-122"/>
                <a:cs typeface="Inter" pitchFamily="34" charset="-120"/>
              </a:rPr>
              <a:t>Feb</a:t>
            </a:r>
            <a:endParaRPr lang="en-US" sz="1250" dirty="0"/>
          </a:p>
        </p:txBody>
      </p:sp>
      <p:sp>
        <p:nvSpPr>
          <p:cNvPr id="55" name="Shape 52"/>
          <p:cNvSpPr/>
          <p:nvPr/>
        </p:nvSpPr>
        <p:spPr>
          <a:xfrm>
            <a:off x="6766560" y="4407408"/>
            <a:ext cx="4480560" cy="12802"/>
          </a:xfrm>
          <a:prstGeom prst="rect">
            <a:avLst/>
          </a:prstGeom>
          <a:solidFill>
            <a:srgbClr val="C4CFD9"/>
          </a:solidFill>
          <a:ln w="12700">
            <a:solidFill>
              <a:srgbClr val="C4CFD9"/>
            </a:solidFill>
            <a:prstDash val="solid"/>
          </a:ln>
        </p:spPr>
      </p:sp>
      <p:sp>
        <p:nvSpPr>
          <p:cNvPr id="56" name="Text 53"/>
          <p:cNvSpPr/>
          <p:nvPr/>
        </p:nvSpPr>
        <p:spPr>
          <a:xfrm>
            <a:off x="6172200" y="4498848"/>
            <a:ext cx="548640" cy="237744"/>
          </a:xfrm>
          <a:prstGeom prst="rect">
            <a:avLst/>
          </a:prstGeom>
          <a:noFill/>
          <a:ln/>
        </p:spPr>
        <p:txBody>
          <a:bodyPr wrap="square" lIns="0" tIns="0" rIns="0" bIns="0" rtlCol="0" anchor="ctr"/>
          <a:lstStyle/>
          <a:p>
            <a:pPr indent="0" marL="0">
              <a:buNone/>
            </a:pPr>
            <a:r>
              <a:rPr lang="en-US" sz="1250" b="1" dirty="0">
                <a:solidFill>
                  <a:srgbClr val="2A9D8F"/>
                </a:solidFill>
                <a:latin typeface="Inter" pitchFamily="34" charset="0"/>
                <a:ea typeface="Inter" pitchFamily="34" charset="-122"/>
                <a:cs typeface="Inter" pitchFamily="34" charset="-120"/>
              </a:rPr>
              <a:t>Mar</a:t>
            </a:r>
            <a:endParaRPr lang="en-US" sz="1250" dirty="0"/>
          </a:p>
        </p:txBody>
      </p:sp>
      <p:sp>
        <p:nvSpPr>
          <p:cNvPr id="57" name="Shape 54"/>
          <p:cNvSpPr/>
          <p:nvPr/>
        </p:nvSpPr>
        <p:spPr>
          <a:xfrm>
            <a:off x="6766560" y="4700016"/>
            <a:ext cx="4480560" cy="12802"/>
          </a:xfrm>
          <a:prstGeom prst="rect">
            <a:avLst/>
          </a:prstGeom>
          <a:solidFill>
            <a:srgbClr val="C4CFD9"/>
          </a:solidFill>
          <a:ln w="12700">
            <a:solidFill>
              <a:srgbClr val="C4CFD9"/>
            </a:solidFill>
            <a:prstDash val="solid"/>
          </a:ln>
        </p:spPr>
      </p:sp>
      <p:sp>
        <p:nvSpPr>
          <p:cNvPr id="58" name="Text 55"/>
          <p:cNvSpPr/>
          <p:nvPr/>
        </p:nvSpPr>
        <p:spPr>
          <a:xfrm>
            <a:off x="6172200" y="4791456"/>
            <a:ext cx="548640" cy="237744"/>
          </a:xfrm>
          <a:prstGeom prst="rect">
            <a:avLst/>
          </a:prstGeom>
          <a:noFill/>
          <a:ln/>
        </p:spPr>
        <p:txBody>
          <a:bodyPr wrap="square" lIns="0" tIns="0" rIns="0" bIns="0" rtlCol="0" anchor="ctr"/>
          <a:lstStyle/>
          <a:p>
            <a:pPr indent="0" marL="0">
              <a:buNone/>
            </a:pPr>
            <a:r>
              <a:rPr lang="en-US" sz="1250" b="1" dirty="0">
                <a:solidFill>
                  <a:srgbClr val="2A9D8F"/>
                </a:solidFill>
                <a:latin typeface="Inter" pitchFamily="34" charset="0"/>
                <a:ea typeface="Inter" pitchFamily="34" charset="-122"/>
                <a:cs typeface="Inter" pitchFamily="34" charset="-120"/>
              </a:rPr>
              <a:t>Apr</a:t>
            </a:r>
            <a:endParaRPr lang="en-US" sz="1250" dirty="0"/>
          </a:p>
        </p:txBody>
      </p:sp>
      <p:sp>
        <p:nvSpPr>
          <p:cNvPr id="59" name="Shape 56"/>
          <p:cNvSpPr/>
          <p:nvPr/>
        </p:nvSpPr>
        <p:spPr>
          <a:xfrm>
            <a:off x="6766560" y="4992624"/>
            <a:ext cx="4480560" cy="12802"/>
          </a:xfrm>
          <a:prstGeom prst="rect">
            <a:avLst/>
          </a:prstGeom>
          <a:solidFill>
            <a:srgbClr val="C4CFD9"/>
          </a:solidFill>
          <a:ln w="12700">
            <a:solidFill>
              <a:srgbClr val="C4CFD9"/>
            </a:solidFill>
            <a:prstDash val="solid"/>
          </a:ln>
        </p:spPr>
      </p:sp>
      <p:sp>
        <p:nvSpPr>
          <p:cNvPr id="60" name="Text 57"/>
          <p:cNvSpPr/>
          <p:nvPr/>
        </p:nvSpPr>
        <p:spPr>
          <a:xfrm>
            <a:off x="6172200" y="5084064"/>
            <a:ext cx="548640" cy="237744"/>
          </a:xfrm>
          <a:prstGeom prst="rect">
            <a:avLst/>
          </a:prstGeom>
          <a:noFill/>
          <a:ln/>
        </p:spPr>
        <p:txBody>
          <a:bodyPr wrap="square" lIns="0" tIns="0" rIns="0" bIns="0" rtlCol="0" anchor="ctr"/>
          <a:lstStyle/>
          <a:p>
            <a:pPr indent="0" marL="0">
              <a:buNone/>
            </a:pPr>
            <a:r>
              <a:rPr lang="en-US" sz="1250" b="1" dirty="0">
                <a:solidFill>
                  <a:srgbClr val="2A9D8F"/>
                </a:solidFill>
                <a:latin typeface="Inter" pitchFamily="34" charset="0"/>
                <a:ea typeface="Inter" pitchFamily="34" charset="-122"/>
                <a:cs typeface="Inter" pitchFamily="34" charset="-120"/>
              </a:rPr>
              <a:t>May</a:t>
            </a:r>
            <a:endParaRPr lang="en-US" sz="1250" dirty="0"/>
          </a:p>
        </p:txBody>
      </p:sp>
      <p:sp>
        <p:nvSpPr>
          <p:cNvPr id="61" name="Shape 58"/>
          <p:cNvSpPr/>
          <p:nvPr/>
        </p:nvSpPr>
        <p:spPr>
          <a:xfrm>
            <a:off x="6766560" y="5285232"/>
            <a:ext cx="4480560" cy="12802"/>
          </a:xfrm>
          <a:prstGeom prst="rect">
            <a:avLst/>
          </a:prstGeom>
          <a:solidFill>
            <a:srgbClr val="C4CFD9"/>
          </a:solidFill>
          <a:ln w="12700">
            <a:solidFill>
              <a:srgbClr val="C4CFD9"/>
            </a:solidFill>
            <a:prstDash val="solid"/>
          </a:ln>
        </p:spPr>
      </p:sp>
      <p:sp>
        <p:nvSpPr>
          <p:cNvPr id="62" name="Text 59"/>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Same four blocks in every building. The words inside them are yours.</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culture page, step 1: the five norms, in her building's words.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4 · 7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the five norms</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The five jobs are fixed: privacy · review · honesty · sharing · the protected list</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The wording is yours: "we never put a student into a chatbot" beats any compliance sentence</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One line per norm</a:t>
            </a:r>
            <a:endParaRPr lang="en-US" sz="1600" dirty="0"/>
          </a:p>
          <a:p>
            <a:pPr marL="342900" indent="-342900">
              <a:spcAft>
                <a:spcPts val="1000"/>
              </a:spcAft>
              <a:buSzPct val="100000"/>
              <a:buChar char="•"/>
            </a:pPr>
            <a:r>
              <a:rPr lang="en-US" sz="1600" b="1" dirty="0">
                <a:solidFill>
                  <a:srgbClr val="1B1F24"/>
                </a:solidFill>
                <a:latin typeface="Inter" pitchFamily="34" charset="0"/>
                <a:ea typeface="Inter" pitchFamily="34" charset="-122"/>
                <a:cs typeface="Inter" pitchFamily="34" charset="-120"/>
              </a:rPr>
              <a:t>Finished early? Argue about the wording. That argument is the culture forming.</a:t>
            </a:r>
            <a:endParaRPr lang="en-US" sz="160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CULTURE PAGE · STEP 1</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30000"/>
              </a:lnSpc>
              <a:buNone/>
            </a:pPr>
            <a:r>
              <a:rPr lang="en-US" sz="1800" b="1" dirty="0">
                <a:solidFill>
                  <a:srgbClr val="13293D"/>
                </a:solidFill>
                <a:latin typeface="Inter" pitchFamily="34" charset="0"/>
                <a:ea typeface="Inter" pitchFamily="34" charset="-122"/>
                <a:cs typeface="Inter" pitchFamily="34" charset="-120"/>
              </a:rPr>
              <a:t>Privacy: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no student in a chatbot. Ever.
</a:t>
            </a:r>
            <a:pPr indent="0" marL="0">
              <a:lnSpc>
                <a:spcPct val="130000"/>
              </a:lnSpc>
              <a:buNone/>
            </a:pPr>
            <a:r>
              <a:rPr lang="en-US" sz="1800" b="1" dirty="0">
                <a:solidFill>
                  <a:srgbClr val="13293D"/>
                </a:solidFill>
                <a:latin typeface="Inter" pitchFamily="34" charset="0"/>
                <a:ea typeface="Inter" pitchFamily="34" charset="-122"/>
                <a:cs typeface="Inter" pitchFamily="34" charset="-120"/>
              </a:rPr>
              <a:t>Review: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nothing ships unread.
</a:t>
            </a:r>
            <a:pPr indent="0" marL="0">
              <a:lnSpc>
                <a:spcPct val="130000"/>
              </a:lnSpc>
              <a:buNone/>
            </a:pPr>
            <a:r>
              <a:rPr lang="en-US" sz="1800" b="1" dirty="0">
                <a:solidFill>
                  <a:srgbClr val="13293D"/>
                </a:solidFill>
                <a:latin typeface="Inter" pitchFamily="34" charset="0"/>
                <a:ea typeface="Inter" pitchFamily="34" charset="-122"/>
                <a:cs typeface="Inter" pitchFamily="34" charset="-120"/>
              </a:rPr>
              <a:t>Honesty: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we say what we use.
</a:t>
            </a:r>
            <a:pPr indent="0" marL="0">
              <a:lnSpc>
                <a:spcPct val="130000"/>
              </a:lnSpc>
              <a:buNone/>
            </a:pPr>
            <a:r>
              <a:rPr lang="en-US" sz="1800" b="1" dirty="0">
                <a:solidFill>
                  <a:srgbClr val="13293D"/>
                </a:solidFill>
                <a:latin typeface="Inter" pitchFamily="34" charset="0"/>
                <a:ea typeface="Inter" pitchFamily="34" charset="-122"/>
                <a:cs typeface="Inter" pitchFamily="34" charset="-120"/>
              </a:rPr>
              <a:t>Sharing: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into the doc, same week.
</a:t>
            </a:r>
            <a:pPr indent="0" marL="0">
              <a:lnSpc>
                <a:spcPct val="130000"/>
              </a:lnSpc>
              <a:buNone/>
            </a:pPr>
            <a:r>
              <a:rPr lang="en-US" sz="1800" b="1" dirty="0">
                <a:solidFill>
                  <a:srgbClr val="13293D"/>
                </a:solidFill>
                <a:latin typeface="Inter" pitchFamily="34" charset="0"/>
                <a:ea typeface="Inter" pitchFamily="34" charset="-122"/>
                <a:cs typeface="Inter" pitchFamily="34" charset="-120"/>
              </a:rPr>
              <a:t>Protected: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people work stays people.
</a:t>
            </a:r>
            <a:pPr indent="0" marL="0">
              <a:lnSpc>
                <a:spcPct val="130000"/>
              </a:lnSpc>
              <a:buNone/>
            </a:pPr>
            <a:r>
              <a:rPr lang="en-US" sz="1800" i="1" dirty="0">
                <a:solidFill>
                  <a:srgbClr val="5B6B7A"/>
                </a:solidFill>
                <a:latin typeface="Inter" pitchFamily="34" charset="0"/>
                <a:ea typeface="Inter" pitchFamily="34" charset="-122"/>
                <a:cs typeface="Inter" pitchFamily="34" charset="-120"/>
              </a:rPr>
              <a:t>"Sounds like us, not like a policy."</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THE PROMPT SHE TYPES TO MERGE THE DRAFTS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actually typed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our school some AI norms.”</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four drafts</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550" b="1" dirty="0">
                <a:solidFill>
                  <a:srgbClr val="2A9D8F"/>
                </a:solidFill>
                <a:latin typeface="Inter" pitchFamily="34" charset="0"/>
                <a:ea typeface="Inter" pitchFamily="34" charset="-122"/>
                <a:cs typeface="Inter" pitchFamily="34" charset="-120"/>
              </a:rPr>
              <a:t>“You are a school leader writing for teachers, in plain words, not policy language. </a:t>
            </a:r>
            <a:pPr indent="0" marL="0">
              <a:lnSpc>
                <a:spcPct val="110000"/>
              </a:lnSpc>
              <a:buNone/>
            </a:pPr>
            <a:r>
              <a:rPr lang="en-US" sz="1550" b="1" dirty="0">
                <a:solidFill>
                  <a:srgbClr val="13293D"/>
                </a:solidFill>
                <a:latin typeface="Inter" pitchFamily="34" charset="0"/>
                <a:ea typeface="Inter" pitchFamily="34" charset="-122"/>
                <a:cs typeface="Inter" pitchFamily="34" charset="-120"/>
              </a:rPr>
              <a:t>Merge the four groups’ norm drafts below into one page: five norms, one sentence each, no repeats, nothing dropped. </a:t>
            </a:r>
            <a:pPr indent="0" marL="0">
              <a:lnSpc>
                <a:spcPct val="110000"/>
              </a:lnSpc>
              <a:buNone/>
            </a:pPr>
            <a:r>
              <a:rPr lang="en-US" sz="1550" b="1" dirty="0">
                <a:solidFill>
                  <a:srgbClr val="B07914"/>
                </a:solidFill>
                <a:latin typeface="Inter" pitchFamily="34" charset="0"/>
                <a:ea typeface="Inter" pitchFamily="34" charset="-122"/>
                <a:cs typeface="Inter" pitchFamily="34" charset="-120"/>
              </a:rPr>
              <a:t>Forty-two teachers will sign this page and it gets posted in the workroom, so it has to sound like us: we say kids, not learners. Keep all five jobs and do not soften the privacy line. </a:t>
            </a:r>
            <a:pPr indent="0" marL="0">
              <a:lnSpc>
                <a:spcPct val="110000"/>
              </a:lnSpc>
              <a:buNone/>
            </a:pPr>
            <a:r>
              <a:rPr lang="en-US" sz="1550" b="1" dirty="0">
                <a:solidFill>
                  <a:srgbClr val="2E7D5B"/>
                </a:solidFill>
                <a:latin typeface="Inter" pitchFamily="34" charset="0"/>
                <a:ea typeface="Inter" pitchFamily="34" charset="-122"/>
                <a:cs typeface="Inter" pitchFamily="34" charset="-120"/>
              </a:rPr>
              <a:t>A one-word label, then one sentence under 30 words, for each norm. Under them, a signature line and the date we revisit it.”  [paste the four drafts]</a:t>
            </a:r>
            <a:endParaRPr lang="en-US" sz="155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HER FOLLOW-UPS, ONE CHAT, ONE PAGE</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next, and what changed</a:t>
            </a:r>
            <a:endParaRPr lang="en-US" sz="3200" dirty="0"/>
          </a:p>
        </p:txBody>
      </p:sp>
      <p:sp>
        <p:nvSpPr>
          <p:cNvPr id="7" name="Shape 4"/>
          <p:cNvSpPr/>
          <p:nvPr/>
        </p:nvSpPr>
        <p:spPr>
          <a:xfrm>
            <a:off x="640080" y="1280160"/>
            <a:ext cx="10972800" cy="4160520"/>
          </a:xfrm>
          <a:prstGeom prst="roundRect">
            <a:avLst>
              <a:gd name="adj" fmla="val 2198"/>
            </a:avLst>
          </a:prstGeom>
          <a:solidFill>
            <a:srgbClr val="FFFFFF"/>
          </a:solidFill>
          <a:ln w="19050">
            <a:solidFill>
              <a:srgbClr val="DCE3EA"/>
            </a:solidFill>
            <a:prstDash val="solid"/>
          </a:ln>
        </p:spPr>
      </p:sp>
      <p:sp>
        <p:nvSpPr>
          <p:cNvPr id="8" name="Shape 5"/>
          <p:cNvSpPr/>
          <p:nvPr/>
        </p:nvSpPr>
        <p:spPr>
          <a:xfrm>
            <a:off x="640080" y="128016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39903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39903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39903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28016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follow-ups, nothing re-pasted</a:t>
            </a:r>
            <a:endParaRPr lang="en-US" sz="1100" dirty="0"/>
          </a:p>
        </p:txBody>
      </p:sp>
      <p:sp>
        <p:nvSpPr>
          <p:cNvPr id="13" name="Shape 10"/>
          <p:cNvSpPr/>
          <p:nvPr/>
        </p:nvSpPr>
        <p:spPr>
          <a:xfrm>
            <a:off x="914400" y="1874520"/>
            <a:ext cx="10287000" cy="3337560"/>
          </a:xfrm>
          <a:prstGeom prst="roundRect">
            <a:avLst>
              <a:gd name="adj" fmla="val 3288"/>
            </a:avLst>
          </a:prstGeom>
          <a:solidFill>
            <a:srgbClr val="F7F5F0"/>
          </a:solidFill>
          <a:ln w="12700">
            <a:solidFill>
              <a:srgbClr val="F7F5F0"/>
            </a:solidFill>
            <a:prstDash val="solid"/>
          </a:ln>
        </p:spPr>
      </p:sp>
      <p:sp>
        <p:nvSpPr>
          <p:cNvPr id="14" name="Text 11"/>
          <p:cNvSpPr/>
          <p:nvPr/>
        </p:nvSpPr>
        <p:spPr>
          <a:xfrm>
            <a:off x="3429000" y="1938528"/>
            <a:ext cx="434340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SHE TYPED NEXT</a:t>
            </a:r>
            <a:endParaRPr lang="en-US" sz="1100" dirty="0"/>
          </a:p>
        </p:txBody>
      </p:sp>
      <p:sp>
        <p:nvSpPr>
          <p:cNvPr id="15" name="Text 12"/>
          <p:cNvSpPr/>
          <p:nvPr/>
        </p:nvSpPr>
        <p:spPr>
          <a:xfrm>
            <a:off x="8001000" y="1938528"/>
            <a:ext cx="306324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WHAT CHANGED</a:t>
            </a:r>
            <a:endParaRPr lang="en-US" sz="1100" dirty="0"/>
          </a:p>
        </p:txBody>
      </p:sp>
      <p:sp>
        <p:nvSpPr>
          <p:cNvPr id="16" name="Shape 13"/>
          <p:cNvSpPr/>
          <p:nvPr/>
        </p:nvSpPr>
        <p:spPr>
          <a:xfrm>
            <a:off x="1234440" y="2231136"/>
            <a:ext cx="1572768" cy="310896"/>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1234440" y="2231136"/>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NORMS</a:t>
            </a:r>
            <a:endParaRPr lang="en-US" sz="1100" dirty="0"/>
          </a:p>
        </p:txBody>
      </p:sp>
      <p:sp>
        <p:nvSpPr>
          <p:cNvPr id="18" name="Text 15"/>
          <p:cNvSpPr/>
          <p:nvPr/>
        </p:nvSpPr>
        <p:spPr>
          <a:xfrm>
            <a:off x="3063240" y="2194560"/>
            <a:ext cx="457200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“Rewrite norm 1 the way a teacher would say it out loud. No ‘shall,’ no ‘personally identifiable.’”</a:t>
            </a:r>
            <a:endParaRPr lang="en-US" sz="1400" dirty="0"/>
          </a:p>
        </p:txBody>
      </p:sp>
      <p:sp>
        <p:nvSpPr>
          <p:cNvPr id="19" name="Shape 16"/>
          <p:cNvSpPr/>
          <p:nvPr/>
        </p:nvSpPr>
        <p:spPr>
          <a:xfrm>
            <a:off x="7845552" y="2249424"/>
            <a:ext cx="12802" cy="585216"/>
          </a:xfrm>
          <a:prstGeom prst="rect">
            <a:avLst/>
          </a:prstGeom>
          <a:solidFill>
            <a:srgbClr val="DCE3EA"/>
          </a:solidFill>
          <a:ln w="12700">
            <a:solidFill>
              <a:srgbClr val="DCE3EA"/>
            </a:solidFill>
            <a:prstDash val="solid"/>
          </a:ln>
        </p:spPr>
      </p:sp>
      <p:sp>
        <p:nvSpPr>
          <p:cNvPr id="20" name="Text 17"/>
          <p:cNvSpPr/>
          <p:nvPr/>
        </p:nvSpPr>
        <p:spPr>
          <a:xfrm>
            <a:off x="8001000" y="2194560"/>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It became: we never put a student into a chatbot. Two groups wrote it that way already.</a:t>
            </a:r>
            <a:endParaRPr lang="en-US" sz="1400" dirty="0"/>
          </a:p>
        </p:txBody>
      </p:sp>
      <p:sp>
        <p:nvSpPr>
          <p:cNvPr id="21" name="Shape 18"/>
          <p:cNvSpPr/>
          <p:nvPr/>
        </p:nvSpPr>
        <p:spPr>
          <a:xfrm>
            <a:off x="1234440" y="2980944"/>
            <a:ext cx="1572768" cy="310896"/>
          </a:xfrm>
          <a:prstGeom prst="roundRect">
            <a:avLst>
              <a:gd name="adj" fmla="val 50000"/>
            </a:avLst>
          </a:prstGeom>
          <a:solidFill>
            <a:srgbClr val="13293D"/>
          </a:solidFill>
          <a:ln w="12700">
            <a:solidFill>
              <a:srgbClr val="13293D"/>
            </a:solidFill>
            <a:prstDash val="solid"/>
          </a:ln>
        </p:spPr>
      </p:sp>
      <p:sp>
        <p:nvSpPr>
          <p:cNvPr id="22" name="Text 19"/>
          <p:cNvSpPr/>
          <p:nvPr/>
        </p:nvSpPr>
        <p:spPr>
          <a:xfrm>
            <a:off x="1234440" y="2980944"/>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ROUTINE</a:t>
            </a:r>
            <a:endParaRPr lang="en-US" sz="1100" dirty="0"/>
          </a:p>
        </p:txBody>
      </p:sp>
      <p:sp>
        <p:nvSpPr>
          <p:cNvPr id="23" name="Text 20"/>
          <p:cNvSpPr/>
          <p:nvPr/>
        </p:nvSpPr>
        <p:spPr>
          <a:xfrm>
            <a:off x="3063240" y="2944368"/>
            <a:ext cx="457200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“Add the sharing routine as one line: every other PLC, five minutes, win, fail, steal, with blanks for date and owner.”</a:t>
            </a:r>
            <a:endParaRPr lang="en-US" sz="1400" dirty="0"/>
          </a:p>
        </p:txBody>
      </p:sp>
      <p:sp>
        <p:nvSpPr>
          <p:cNvPr id="24" name="Shape 21"/>
          <p:cNvSpPr/>
          <p:nvPr/>
        </p:nvSpPr>
        <p:spPr>
          <a:xfrm>
            <a:off x="7845552" y="2999232"/>
            <a:ext cx="12802" cy="585216"/>
          </a:xfrm>
          <a:prstGeom prst="rect">
            <a:avLst/>
          </a:prstGeom>
          <a:solidFill>
            <a:srgbClr val="DCE3EA"/>
          </a:solidFill>
          <a:ln w="12700">
            <a:solidFill>
              <a:srgbClr val="DCE3EA"/>
            </a:solidFill>
            <a:prstDash val="solid"/>
          </a:ln>
        </p:spPr>
      </p:sp>
      <p:sp>
        <p:nvSpPr>
          <p:cNvPr id="25" name="Text 22"/>
          <p:cNvSpPr/>
          <p:nvPr/>
        </p:nvSpPr>
        <p:spPr>
          <a:xfrm>
            <a:off x="8001000" y="2944368"/>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A good idea became a line with a date and a name on it.</a:t>
            </a:r>
            <a:endParaRPr lang="en-US" sz="1400" dirty="0"/>
          </a:p>
        </p:txBody>
      </p:sp>
      <p:sp>
        <p:nvSpPr>
          <p:cNvPr id="26" name="Shape 23"/>
          <p:cNvSpPr/>
          <p:nvPr/>
        </p:nvSpPr>
        <p:spPr>
          <a:xfrm>
            <a:off x="1234440" y="3730752"/>
            <a:ext cx="1572768" cy="310896"/>
          </a:xfrm>
          <a:prstGeom prst="roundRect">
            <a:avLst>
              <a:gd name="adj" fmla="val 50000"/>
            </a:avLst>
          </a:prstGeom>
          <a:solidFill>
            <a:srgbClr val="B07914"/>
          </a:solidFill>
          <a:ln w="12700">
            <a:solidFill>
              <a:srgbClr val="B07914"/>
            </a:solidFill>
            <a:prstDash val="solid"/>
          </a:ln>
        </p:spPr>
      </p:sp>
      <p:sp>
        <p:nvSpPr>
          <p:cNvPr id="27" name="Text 24"/>
          <p:cNvSpPr/>
          <p:nvPr/>
        </p:nvSpPr>
        <p:spPr>
          <a:xfrm>
            <a:off x="1234440" y="3730752"/>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ONBOARDING</a:t>
            </a:r>
            <a:endParaRPr lang="en-US" sz="1100" dirty="0"/>
          </a:p>
        </p:txBody>
      </p:sp>
      <p:sp>
        <p:nvSpPr>
          <p:cNvPr id="28" name="Text 25"/>
          <p:cNvSpPr/>
          <p:nvPr/>
        </p:nvSpPr>
        <p:spPr>
          <a:xfrm>
            <a:off x="3063240" y="3694176"/>
            <a:ext cx="457200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“Add two lines: who runs Kit 1 for a new hire in month one, and who our skeptic partners are.”</a:t>
            </a:r>
            <a:endParaRPr lang="en-US" sz="1400" dirty="0"/>
          </a:p>
        </p:txBody>
      </p:sp>
      <p:sp>
        <p:nvSpPr>
          <p:cNvPr id="29" name="Shape 26"/>
          <p:cNvSpPr/>
          <p:nvPr/>
        </p:nvSpPr>
        <p:spPr>
          <a:xfrm>
            <a:off x="7845552" y="3749040"/>
            <a:ext cx="12802" cy="585216"/>
          </a:xfrm>
          <a:prstGeom prst="rect">
            <a:avLst/>
          </a:prstGeom>
          <a:solidFill>
            <a:srgbClr val="DCE3EA"/>
          </a:solidFill>
          <a:ln w="12700">
            <a:solidFill>
              <a:srgbClr val="DCE3EA"/>
            </a:solidFill>
            <a:prstDash val="solid"/>
          </a:ln>
        </p:spPr>
      </p:sp>
      <p:sp>
        <p:nvSpPr>
          <p:cNvPr id="30" name="Text 27"/>
          <p:cNvSpPr/>
          <p:nvPr/>
        </p:nvSpPr>
        <p:spPr>
          <a:xfrm>
            <a:off x="8001000" y="3694176"/>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The January hire is covered on paper; the doubters have a named job.</a:t>
            </a:r>
            <a:endParaRPr lang="en-US" sz="1400" dirty="0"/>
          </a:p>
        </p:txBody>
      </p:sp>
      <p:sp>
        <p:nvSpPr>
          <p:cNvPr id="31" name="Shape 28"/>
          <p:cNvSpPr/>
          <p:nvPr/>
        </p:nvSpPr>
        <p:spPr>
          <a:xfrm>
            <a:off x="1234440" y="4480560"/>
            <a:ext cx="1572768" cy="310896"/>
          </a:xfrm>
          <a:prstGeom prst="roundRect">
            <a:avLst>
              <a:gd name="adj" fmla="val 50000"/>
            </a:avLst>
          </a:prstGeom>
          <a:solidFill>
            <a:srgbClr val="2E7D5B"/>
          </a:solidFill>
          <a:ln w="12700">
            <a:solidFill>
              <a:srgbClr val="2E7D5B"/>
            </a:solidFill>
            <a:prstDash val="solid"/>
          </a:ln>
        </p:spPr>
      </p:sp>
      <p:sp>
        <p:nvSpPr>
          <p:cNvPr id="32" name="Text 29"/>
          <p:cNvSpPr/>
          <p:nvPr/>
        </p:nvSpPr>
        <p:spPr>
          <a:xfrm>
            <a:off x="1234440" y="4480560"/>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SEMESTER</a:t>
            </a:r>
            <a:endParaRPr lang="en-US" sz="1100" dirty="0"/>
          </a:p>
        </p:txBody>
      </p:sp>
      <p:sp>
        <p:nvSpPr>
          <p:cNvPr id="33" name="Text 30"/>
          <p:cNvSpPr/>
          <p:nvPr/>
        </p:nvSpPr>
        <p:spPr>
          <a:xfrm>
            <a:off x="3063240" y="4443984"/>
            <a:ext cx="457200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“Add a five-line strip: one month, one refresher kit, January through May.”</a:t>
            </a:r>
            <a:endParaRPr lang="en-US" sz="1400" dirty="0"/>
          </a:p>
        </p:txBody>
      </p:sp>
      <p:sp>
        <p:nvSpPr>
          <p:cNvPr id="34" name="Shape 31"/>
          <p:cNvSpPr/>
          <p:nvPr/>
        </p:nvSpPr>
        <p:spPr>
          <a:xfrm>
            <a:off x="7845552" y="4498848"/>
            <a:ext cx="12802" cy="585216"/>
          </a:xfrm>
          <a:prstGeom prst="rect">
            <a:avLst/>
          </a:prstGeom>
          <a:solidFill>
            <a:srgbClr val="DCE3EA"/>
          </a:solidFill>
          <a:ln w="12700">
            <a:solidFill>
              <a:srgbClr val="DCE3EA"/>
            </a:solidFill>
            <a:prstDash val="solid"/>
          </a:ln>
        </p:spPr>
      </p:sp>
      <p:sp>
        <p:nvSpPr>
          <p:cNvPr id="35" name="Text 32"/>
          <p:cNvSpPr/>
          <p:nvPr/>
        </p:nvSpPr>
        <p:spPr>
          <a:xfrm>
            <a:off x="8001000" y="4443984"/>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Next semester fits on five lines, all from 30-day plans she already owns.</a:t>
            </a:r>
            <a:endParaRPr lang="en-US" sz="1400" dirty="0"/>
          </a:p>
        </p:txBody>
      </p:sp>
      <p:sp>
        <p:nvSpPr>
          <p:cNvPr id="36" name="Shape 33"/>
          <p:cNvSpPr/>
          <p:nvPr/>
        </p:nvSpPr>
        <p:spPr>
          <a:xfrm>
            <a:off x="640080" y="5623560"/>
            <a:ext cx="2606040" cy="457200"/>
          </a:xfrm>
          <a:prstGeom prst="roundRect">
            <a:avLst>
              <a:gd name="adj" fmla="val 50000"/>
            </a:avLst>
          </a:prstGeom>
          <a:solidFill>
            <a:srgbClr val="2A9D8F"/>
          </a:solidFill>
          <a:ln w="12700">
            <a:solidFill>
              <a:srgbClr val="2A9D8F"/>
            </a:solidFill>
            <a:prstDash val="solid"/>
          </a:ln>
        </p:spPr>
      </p:sp>
      <p:sp>
        <p:nvSpPr>
          <p:cNvPr id="37" name="Text 34"/>
          <p:cNvSpPr/>
          <p:nvPr/>
        </p:nvSpPr>
        <p:spPr>
          <a:xfrm>
            <a:off x="640080"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NORMS</a:t>
            </a:r>
            <a:endParaRPr lang="en-US" sz="1400" dirty="0"/>
          </a:p>
        </p:txBody>
      </p:sp>
      <p:sp>
        <p:nvSpPr>
          <p:cNvPr id="38" name="Shape 35"/>
          <p:cNvSpPr/>
          <p:nvPr/>
        </p:nvSpPr>
        <p:spPr>
          <a:xfrm>
            <a:off x="3456432" y="5623560"/>
            <a:ext cx="2606040" cy="457200"/>
          </a:xfrm>
          <a:prstGeom prst="roundRect">
            <a:avLst>
              <a:gd name="adj" fmla="val 50000"/>
            </a:avLst>
          </a:prstGeom>
          <a:solidFill>
            <a:srgbClr val="13293D"/>
          </a:solidFill>
          <a:ln w="12700">
            <a:solidFill>
              <a:srgbClr val="13293D"/>
            </a:solidFill>
            <a:prstDash val="solid"/>
          </a:ln>
        </p:spPr>
      </p:sp>
      <p:sp>
        <p:nvSpPr>
          <p:cNvPr id="39" name="Text 36"/>
          <p:cNvSpPr/>
          <p:nvPr/>
        </p:nvSpPr>
        <p:spPr>
          <a:xfrm>
            <a:off x="3456432"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ROUTINE</a:t>
            </a:r>
            <a:endParaRPr lang="en-US" sz="1400" dirty="0"/>
          </a:p>
        </p:txBody>
      </p:sp>
      <p:sp>
        <p:nvSpPr>
          <p:cNvPr id="40" name="Shape 37"/>
          <p:cNvSpPr/>
          <p:nvPr/>
        </p:nvSpPr>
        <p:spPr>
          <a:xfrm>
            <a:off x="6272784" y="5623560"/>
            <a:ext cx="2606040" cy="457200"/>
          </a:xfrm>
          <a:prstGeom prst="roundRect">
            <a:avLst>
              <a:gd name="adj" fmla="val 50000"/>
            </a:avLst>
          </a:prstGeom>
          <a:solidFill>
            <a:srgbClr val="B07914"/>
          </a:solidFill>
          <a:ln w="12700">
            <a:solidFill>
              <a:srgbClr val="B07914"/>
            </a:solidFill>
            <a:prstDash val="solid"/>
          </a:ln>
        </p:spPr>
      </p:sp>
      <p:sp>
        <p:nvSpPr>
          <p:cNvPr id="41" name="Text 38"/>
          <p:cNvSpPr/>
          <p:nvPr/>
        </p:nvSpPr>
        <p:spPr>
          <a:xfrm>
            <a:off x="6272784"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ONBOARDING</a:t>
            </a:r>
            <a:endParaRPr lang="en-US" sz="1400" dirty="0"/>
          </a:p>
        </p:txBody>
      </p:sp>
      <p:sp>
        <p:nvSpPr>
          <p:cNvPr id="42" name="Shape 39"/>
          <p:cNvSpPr/>
          <p:nvPr/>
        </p:nvSpPr>
        <p:spPr>
          <a:xfrm>
            <a:off x="9089136" y="5623560"/>
            <a:ext cx="2606040" cy="457200"/>
          </a:xfrm>
          <a:prstGeom prst="roundRect">
            <a:avLst>
              <a:gd name="adj" fmla="val 50000"/>
            </a:avLst>
          </a:prstGeom>
          <a:solidFill>
            <a:srgbClr val="2E7D5B"/>
          </a:solidFill>
          <a:ln w="12700">
            <a:solidFill>
              <a:srgbClr val="2E7D5B"/>
            </a:solidFill>
            <a:prstDash val="solid"/>
          </a:ln>
        </p:spPr>
      </p:sp>
      <p:sp>
        <p:nvSpPr>
          <p:cNvPr id="43" name="Text 40"/>
          <p:cNvSpPr/>
          <p:nvPr/>
        </p:nvSpPr>
        <p:spPr>
          <a:xfrm>
            <a:off x="9089136"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SEMESTER</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culture page, step 2: win-fail-steal calendared, round one owned.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4 · 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Calendar the routine</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Pick the rhythm this building will actually keep: every PLC, every other, or monthly at staff meetings</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Win · fail · steal, five minutes</a:t>
            </a:r>
            <a:endParaRPr lang="en-US" sz="1700" dirty="0"/>
          </a:p>
          <a:p>
            <a:pPr marL="342900" indent="-342900">
              <a:spcAft>
                <a:spcPts val="1000"/>
              </a:spcAft>
              <a:buSzPct val="100000"/>
              <a:buChar char="•"/>
            </a:pPr>
            <a:r>
              <a:rPr lang="en-US" sz="1700" b="1" dirty="0">
                <a:solidFill>
                  <a:srgbClr val="1B1F24"/>
                </a:solidFill>
                <a:latin typeface="Inter" pitchFamily="34" charset="0"/>
                <a:ea typeface="Inter" pitchFamily="34" charset="-122"/>
                <a:cs typeface="Inter" pitchFamily="34" charset="-120"/>
              </a:rPr>
              <a:t>It counts when it has a date and an owner: who runs round one, and when. Write both.</a:t>
            </a:r>
            <a:endParaRPr lang="en-US" sz="1700" dirty="0"/>
          </a:p>
        </p:txBody>
      </p:sp>
      <p:sp>
        <p:nvSpPr>
          <p:cNvPr id="15" name="Shape 12"/>
          <p:cNvSpPr/>
          <p:nvPr/>
        </p:nvSpPr>
        <p:spPr>
          <a:xfrm>
            <a:off x="6263640" y="1554480"/>
            <a:ext cx="5394960" cy="3108960"/>
          </a:xfrm>
          <a:prstGeom prst="roundRect">
            <a:avLst>
              <a:gd name="adj" fmla="val 2647"/>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CULTURE PAGE · STEP 2</a:t>
            </a:r>
            <a:endParaRPr lang="en-US" sz="1250" dirty="0"/>
          </a:p>
        </p:txBody>
      </p:sp>
      <p:sp>
        <p:nvSpPr>
          <p:cNvPr id="17" name="Text 14"/>
          <p:cNvSpPr/>
          <p:nvPr/>
        </p:nvSpPr>
        <p:spPr>
          <a:xfrm>
            <a:off x="6537960" y="2148840"/>
            <a:ext cx="4892040" cy="2331720"/>
          </a:xfrm>
          <a:prstGeom prst="rect">
            <a:avLst/>
          </a:prstGeom>
          <a:noFill/>
          <a:ln/>
        </p:spPr>
        <p:txBody>
          <a:bodyPr wrap="square" lIns="0" tIns="0" rIns="0" bIns="0" rtlCol="0" anchor="t"/>
          <a:lstStyle/>
          <a:p>
            <a:pPr indent="0" marL="0">
              <a:lnSpc>
                <a:spcPct val="125000"/>
              </a:lnSpc>
              <a:buNone/>
            </a:pPr>
            <a:r>
              <a:rPr lang="en-US" sz="2200" b="1" dirty="0">
                <a:solidFill>
                  <a:srgbClr val="13293D"/>
                </a:solidFill>
                <a:latin typeface="Inter" pitchFamily="34" charset="0"/>
                <a:ea typeface="Inter" pitchFamily="34" charset="-122"/>
                <a:cs typeface="Inter" pitchFamily="34" charset="-120"/>
              </a:rPr>
              <a:t>Every other PLC.</a:t>
            </a:r>
            <a:endParaRPr lang="en-US" sz="2200" dirty="0"/>
          </a:p>
          <a:p>
            <a:pPr indent="0" marL="0">
              <a:lnSpc>
                <a:spcPct val="125000"/>
              </a:lnSpc>
              <a:buNone/>
            </a:pPr>
            <a:r>
              <a:rPr lang="en-US" sz="2200" b="1" dirty="0">
                <a:solidFill>
                  <a:srgbClr val="13293D"/>
                </a:solidFill>
                <a:latin typeface="Inter" pitchFamily="34" charset="0"/>
                <a:ea typeface="Inter" pitchFamily="34" charset="-122"/>
                <a:cs typeface="Inter" pitchFamily="34" charset="-120"/>
              </a:rPr>
              <a:t>Five minutes: win · fail · steal.</a:t>
            </a:r>
            <a:endParaRPr lang="en-US" sz="2200" dirty="0"/>
          </a:p>
          <a:p>
            <a:pPr indent="0" marL="0">
              <a:lnSpc>
                <a:spcPct val="125000"/>
              </a:lnSpc>
              <a:buNone/>
            </a:pPr>
            <a:r>
              <a:rPr lang="en-US" sz="2200" b="1" dirty="0">
                <a:solidFill>
                  <a:srgbClr val="13293D"/>
                </a:solidFill>
                <a:latin typeface="Inter" pitchFamily="34" charset="0"/>
                <a:ea typeface="Inter" pitchFamily="34" charset="-122"/>
                <a:cs typeface="Inter" pitchFamily="34" charset="-120"/>
              </a:rPr>
              <a:t>Round one: Tuesday, Dec 1.</a:t>
            </a:r>
            <a:endParaRPr lang="en-US" sz="2200" dirty="0"/>
          </a:p>
          <a:p>
            <a:pPr indent="0" marL="0">
              <a:lnSpc>
                <a:spcPct val="125000"/>
              </a:lnSpc>
              <a:buNone/>
            </a:pPr>
            <a:r>
              <a:rPr lang="en-US" sz="2200" b="1" dirty="0">
                <a:solidFill>
                  <a:srgbClr val="13293D"/>
                </a:solidFill>
                <a:latin typeface="Inter" pitchFamily="34" charset="0"/>
                <a:ea typeface="Inter" pitchFamily="34" charset="-122"/>
                <a:cs typeface="Inter" pitchFamily="34" charset="-120"/>
              </a:rPr>
              <a:t>Owner: Ms. Rivera.</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culture page, step 3: a Kit 1 owner named; skeptics recruited as reviewers.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4 · 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Onboarding + skeptic partners</a:t>
            </a:r>
            <a:endParaRPr lang="en-US" sz="3200" dirty="0"/>
          </a:p>
        </p:txBody>
      </p:sp>
      <p:sp>
        <p:nvSpPr>
          <p:cNvPr id="14" name="Shape 11"/>
          <p:cNvSpPr/>
          <p:nvPr/>
        </p:nvSpPr>
        <p:spPr>
          <a:xfrm>
            <a:off x="640080" y="1554480"/>
            <a:ext cx="5394960" cy="1874520"/>
          </a:xfrm>
          <a:prstGeom prst="roundRect">
            <a:avLst>
              <a:gd name="adj" fmla="val 4390"/>
            </a:avLst>
          </a:prstGeom>
          <a:solidFill>
            <a:srgbClr val="F7F5F0"/>
          </a:solidFill>
          <a:ln w="12700">
            <a:solidFill>
              <a:srgbClr val="F7F5F0"/>
            </a:solidFill>
            <a:prstDash val="solid"/>
          </a:ln>
        </p:spPr>
      </p:sp>
      <p:sp>
        <p:nvSpPr>
          <p:cNvPr id="15" name="Text 12"/>
          <p:cNvSpPr/>
          <p:nvPr/>
        </p:nvSpPr>
        <p:spPr>
          <a:xfrm>
            <a:off x="960120" y="1719072"/>
            <a:ext cx="4800600" cy="320040"/>
          </a:xfrm>
          <a:prstGeom prst="rect">
            <a:avLst/>
          </a:prstGeom>
          <a:noFill/>
          <a:ln/>
        </p:spPr>
        <p:txBody>
          <a:bodyPr wrap="square" lIns="0" tIns="0" rIns="0" bIns="0" rtlCol="0" anchor="ctr"/>
          <a:lstStyle/>
          <a:p>
            <a:pPr indent="0" marL="0">
              <a:buNone/>
            </a:pPr>
            <a:r>
              <a:rPr lang="en-US" sz="1400" b="1" dirty="0">
                <a:solidFill>
                  <a:srgbClr val="2A9D8F"/>
                </a:solidFill>
                <a:latin typeface="Inter" pitchFamily="34" charset="0"/>
                <a:ea typeface="Inter" pitchFamily="34" charset="-122"/>
                <a:cs typeface="Inter" pitchFamily="34" charset="-120"/>
              </a:rPr>
              <a:t>ONBOARDING</a:t>
            </a:r>
            <a:endParaRPr lang="en-US" sz="1400" dirty="0"/>
          </a:p>
        </p:txBody>
      </p:sp>
      <p:sp>
        <p:nvSpPr>
          <p:cNvPr id="16" name="Text 13"/>
          <p:cNvSpPr/>
          <p:nvPr/>
        </p:nvSpPr>
        <p:spPr>
          <a:xfrm>
            <a:off x="960120" y="2084832"/>
            <a:ext cx="4800600" cy="12344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Who runs Kit 1 for new hires? What's in the welcome folder? (The norms page and a library tour, minimum.) Name the owner.</a:t>
            </a:r>
            <a:endParaRPr lang="en-US" sz="1600" dirty="0"/>
          </a:p>
        </p:txBody>
      </p:sp>
      <p:sp>
        <p:nvSpPr>
          <p:cNvPr id="17" name="Shape 14"/>
          <p:cNvSpPr/>
          <p:nvPr/>
        </p:nvSpPr>
        <p:spPr>
          <a:xfrm>
            <a:off x="640080" y="3611880"/>
            <a:ext cx="5394960" cy="1965960"/>
          </a:xfrm>
          <a:prstGeom prst="roundRect">
            <a:avLst>
              <a:gd name="adj" fmla="val 4186"/>
            </a:avLst>
          </a:prstGeom>
          <a:solidFill>
            <a:srgbClr val="F7F5F0"/>
          </a:solidFill>
          <a:ln w="12700">
            <a:solidFill>
              <a:srgbClr val="F7F5F0"/>
            </a:solidFill>
            <a:prstDash val="solid"/>
          </a:ln>
        </p:spPr>
      </p:sp>
      <p:sp>
        <p:nvSpPr>
          <p:cNvPr id="18" name="Text 15"/>
          <p:cNvSpPr/>
          <p:nvPr/>
        </p:nvSpPr>
        <p:spPr>
          <a:xfrm>
            <a:off x="960120" y="3776472"/>
            <a:ext cx="4800600" cy="320040"/>
          </a:xfrm>
          <a:prstGeom prst="rect">
            <a:avLst/>
          </a:prstGeom>
          <a:noFill/>
          <a:ln/>
        </p:spPr>
        <p:txBody>
          <a:bodyPr wrap="square" lIns="0" tIns="0" rIns="0" bIns="0" rtlCol="0" anchor="ctr"/>
          <a:lstStyle/>
          <a:p>
            <a:pPr indent="0" marL="0">
              <a:buNone/>
            </a:pPr>
            <a:r>
              <a:rPr lang="en-US" sz="1400" b="1" dirty="0">
                <a:solidFill>
                  <a:srgbClr val="2A9D8F"/>
                </a:solidFill>
                <a:latin typeface="Inter" pitchFamily="34" charset="0"/>
                <a:ea typeface="Inter" pitchFamily="34" charset="-122"/>
                <a:cs typeface="Inter" pitchFamily="34" charset="-120"/>
              </a:rPr>
              <a:t>SKEPTIC PARTNERS</a:t>
            </a:r>
            <a:endParaRPr lang="en-US" sz="1400" dirty="0"/>
          </a:p>
        </p:txBody>
      </p:sp>
      <p:sp>
        <p:nvSpPr>
          <p:cNvPr id="19" name="Text 16"/>
          <p:cNvSpPr/>
          <p:nvPr/>
        </p:nvSpPr>
        <p:spPr>
          <a:xfrm>
            <a:off x="960120" y="4142232"/>
            <a:ext cx="4800600" cy="13258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Name the colleagues whose doubts keep us honest, and give them a real role: reviewers, drift-spotters, the first people we ask "what's wrong with this?"</a:t>
            </a:r>
            <a:endParaRPr lang="en-US" sz="1600" dirty="0"/>
          </a:p>
        </p:txBody>
      </p:sp>
      <p:sp>
        <p:nvSpPr>
          <p:cNvPr id="20" name="Shape 17"/>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21" name="Text 18"/>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CULTURE PAGE · STEP 3</a:t>
            </a:r>
            <a:endParaRPr lang="en-US" sz="1250" dirty="0"/>
          </a:p>
        </p:txBody>
      </p:sp>
      <p:sp>
        <p:nvSpPr>
          <p:cNvPr id="22" name="Text 19"/>
          <p:cNvSpPr/>
          <p:nvPr/>
        </p:nvSpPr>
        <p:spPr>
          <a:xfrm>
            <a:off x="6537960" y="2148840"/>
            <a:ext cx="4892040" cy="3291840"/>
          </a:xfrm>
          <a:prstGeom prst="rect">
            <a:avLst/>
          </a:prstGeom>
          <a:noFill/>
          <a:ln/>
        </p:spPr>
        <p:txBody>
          <a:bodyPr wrap="square" lIns="0" tIns="0" rIns="0" bIns="0" rtlCol="0" anchor="t"/>
          <a:lstStyle/>
          <a:p>
            <a:pPr indent="0" marL="0">
              <a:lnSpc>
                <a:spcPct val="130000"/>
              </a:lnSpc>
              <a:buNone/>
            </a:pPr>
            <a:r>
              <a:rPr lang="en-US" sz="1800" b="1" dirty="0">
                <a:solidFill>
                  <a:srgbClr val="13293D"/>
                </a:solidFill>
                <a:latin typeface="Inter" pitchFamily="34" charset="0"/>
                <a:ea typeface="Inter" pitchFamily="34" charset="-122"/>
                <a:cs typeface="Inter" pitchFamily="34" charset="-120"/>
              </a:rPr>
              <a:t>Kit 1 owner: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her PLC lead, month one.
</a:t>
            </a:r>
            <a:pPr indent="0" marL="0">
              <a:lnSpc>
                <a:spcPct val="130000"/>
              </a:lnSpc>
              <a:buNone/>
            </a:pPr>
            <a:r>
              <a:rPr lang="en-US" sz="1800" b="1" dirty="0">
                <a:solidFill>
                  <a:srgbClr val="13293D"/>
                </a:solidFill>
                <a:latin typeface="Inter" pitchFamily="34" charset="0"/>
                <a:ea typeface="Inter" pitchFamily="34" charset="-122"/>
                <a:cs typeface="Inter" pitchFamily="34" charset="-120"/>
              </a:rPr>
              <a:t>Welcome folder: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norms page + library tour.
</a:t>
            </a:r>
            <a:pPr indent="0" marL="0">
              <a:lnSpc>
                <a:spcPct val="130000"/>
              </a:lnSpc>
              <a:buNone/>
            </a:pPr>
            <a:r>
              <a:rPr lang="en-US" sz="1800" b="1" dirty="0">
                <a:solidFill>
                  <a:srgbClr val="13293D"/>
                </a:solidFill>
                <a:latin typeface="Inter" pitchFamily="34" charset="0"/>
                <a:ea typeface="Inter" pitchFamily="34" charset="-122"/>
                <a:cs typeface="Inter" pitchFamily="34" charset="-120"/>
              </a:rPr>
              <a:t>Skeptic partners: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her two best doubters, recruited as reviewers of first resort.
</a:t>
            </a:r>
            <a:pPr indent="0" marL="0">
              <a:lnSpc>
                <a:spcPct val="130000"/>
              </a:lnSpc>
              <a:buNone/>
            </a:pPr>
            <a:r>
              <a:rPr lang="en-US" sz="1800" i="1" dirty="0">
                <a:solidFill>
                  <a:srgbClr val="5B6B7A"/>
                </a:solidFill>
                <a:latin typeface="Inter" pitchFamily="34" charset="0"/>
                <a:ea typeface="Inter" pitchFamily="34" charset="-122"/>
                <a:cs typeface="Inter" pitchFamily="34" charset="-120"/>
              </a:rPr>
              <a:t>"What's wrong with this?" goes to them first.</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culture page, step 4: the semester strip, months and kit numbers written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4 OF 4 · 4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Next semester, one line per month</a:t>
            </a:r>
            <a:endParaRPr lang="en-US" sz="28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One 10-minute kit refresher a month, from the 30-day plans you already own</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Norms revisited in the first month back</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New-hire Kit 1 as needed</a:t>
            </a:r>
            <a:endParaRPr lang="en-US" sz="1600" dirty="0"/>
          </a:p>
          <a:p>
            <a:pPr marL="342900" indent="-342900">
              <a:spcAft>
                <a:spcPts val="1000"/>
              </a:spcAft>
              <a:buSzPct val="100000"/>
              <a:buChar char="•"/>
            </a:pPr>
            <a:r>
              <a:rPr lang="en-US" sz="1600" b="1" dirty="0">
                <a:solidFill>
                  <a:srgbClr val="1B1F24"/>
                </a:solidFill>
                <a:latin typeface="Inter" pitchFamily="34" charset="0"/>
                <a:ea typeface="Inter" pitchFamily="34" charset="-122"/>
                <a:cs typeface="Inter" pitchFamily="34" charset="-120"/>
              </a:rPr>
              <a:t>Write the months and the kit numbers. That strip of calendar is what makes today permanent.</a:t>
            </a:r>
            <a:endParaRPr lang="en-US" sz="160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CULTURE PAGE · STEP 4</a:t>
            </a:r>
            <a:endParaRPr lang="en-US" sz="1250" dirty="0"/>
          </a:p>
        </p:txBody>
      </p:sp>
      <p:sp>
        <p:nvSpPr>
          <p:cNvPr id="17" name="Text 14"/>
          <p:cNvSpPr/>
          <p:nvPr/>
        </p:nvSpPr>
        <p:spPr>
          <a:xfrm>
            <a:off x="6537960" y="2148840"/>
            <a:ext cx="4892040" cy="2651760"/>
          </a:xfrm>
          <a:prstGeom prst="rect">
            <a:avLst/>
          </a:prstGeom>
          <a:noFill/>
          <a:ln/>
        </p:spPr>
        <p:txBody>
          <a:bodyPr wrap="square" lIns="0" tIns="0" rIns="0" bIns="0" rtlCol="0" anchor="t"/>
          <a:lstStyle/>
          <a:p>
            <a:pPr indent="0" marL="0">
              <a:lnSpc>
                <a:spcPct val="125000"/>
              </a:lnSpc>
              <a:buNone/>
            </a:pPr>
            <a:r>
              <a:rPr lang="en-US" sz="2000" b="1" dirty="0">
                <a:solidFill>
                  <a:srgbClr val="13293D"/>
                </a:solidFill>
                <a:latin typeface="Inter" pitchFamily="34" charset="0"/>
                <a:ea typeface="Inter" pitchFamily="34" charset="-122"/>
                <a:cs typeface="Inter" pitchFamily="34" charset="-120"/>
              </a:rPr>
              <a:t>Jan · norms revisited</a:t>
            </a:r>
            <a:endParaRPr lang="en-US" sz="2000" dirty="0"/>
          </a:p>
          <a:p>
            <a:pPr indent="0" marL="0">
              <a:lnSpc>
                <a:spcPct val="125000"/>
              </a:lnSpc>
              <a:buNone/>
            </a:pPr>
            <a:r>
              <a:rPr lang="en-US" sz="2000" b="1" dirty="0">
                <a:solidFill>
                  <a:srgbClr val="13293D"/>
                </a:solidFill>
                <a:latin typeface="Inter" pitchFamily="34" charset="0"/>
                <a:ea typeface="Inter" pitchFamily="34" charset="-122"/>
                <a:cs typeface="Inter" pitchFamily="34" charset="-120"/>
              </a:rPr>
              <a:t>Feb · Kit 2 refresher</a:t>
            </a:r>
            <a:endParaRPr lang="en-US" sz="2000" dirty="0"/>
          </a:p>
          <a:p>
            <a:pPr indent="0" marL="0">
              <a:lnSpc>
                <a:spcPct val="125000"/>
              </a:lnSpc>
              <a:buNone/>
            </a:pPr>
            <a:r>
              <a:rPr lang="en-US" sz="2000" b="1" dirty="0">
                <a:solidFill>
                  <a:srgbClr val="13293D"/>
                </a:solidFill>
                <a:latin typeface="Inter" pitchFamily="34" charset="0"/>
                <a:ea typeface="Inter" pitchFamily="34" charset="-122"/>
                <a:cs typeface="Inter" pitchFamily="34" charset="-120"/>
              </a:rPr>
              <a:t>Mar · Kit 5 refresher</a:t>
            </a:r>
            <a:endParaRPr lang="en-US" sz="2000" dirty="0"/>
          </a:p>
          <a:p>
            <a:pPr indent="0" marL="0">
              <a:lnSpc>
                <a:spcPct val="125000"/>
              </a:lnSpc>
              <a:buNone/>
            </a:pPr>
            <a:r>
              <a:rPr lang="en-US" sz="2000" b="1" dirty="0">
                <a:solidFill>
                  <a:srgbClr val="13293D"/>
                </a:solidFill>
                <a:latin typeface="Inter" pitchFamily="34" charset="0"/>
                <a:ea typeface="Inter" pitchFamily="34" charset="-122"/>
                <a:cs typeface="Inter" pitchFamily="34" charset="-120"/>
              </a:rPr>
              <a:t>Apr · Kit 7 refresher</a:t>
            </a:r>
            <a:endParaRPr lang="en-US" sz="2000" dirty="0"/>
          </a:p>
          <a:p>
            <a:pPr indent="0" marL="0">
              <a:lnSpc>
                <a:spcPct val="125000"/>
              </a:lnSpc>
              <a:buNone/>
            </a:pPr>
            <a:r>
              <a:rPr lang="en-US" sz="2000" b="1" dirty="0">
                <a:solidFill>
                  <a:srgbClr val="13293D"/>
                </a:solidFill>
                <a:latin typeface="Inter" pitchFamily="34" charset="0"/>
                <a:ea typeface="Inter" pitchFamily="34" charset="-122"/>
                <a:cs typeface="Inter" pitchFamily="34" charset="-120"/>
              </a:rPr>
              <a:t>May · Kit 4 refresher</a:t>
            </a:r>
            <a:endParaRPr lang="en-US" sz="2000" dirty="0"/>
          </a:p>
        </p:txBody>
      </p:sp>
      <p:sp>
        <p:nvSpPr>
          <p:cNvPr id="18" name="Text 15"/>
          <p:cNvSpPr/>
          <p:nvPr/>
        </p:nvSpPr>
        <p:spPr>
          <a:xfrm>
            <a:off x="6537960" y="4983480"/>
            <a:ext cx="4892040" cy="457200"/>
          </a:xfrm>
          <a:prstGeom prst="rect">
            <a:avLst/>
          </a:prstGeom>
          <a:noFill/>
          <a:ln/>
        </p:spPr>
        <p:txBody>
          <a:bodyPr wrap="square" lIns="0" tIns="0" rIns="0" bIns="0" rtlCol="0" anchor="t"/>
          <a:lstStyle/>
          <a:p>
            <a:pPr indent="0" marL="0">
              <a:buNone/>
            </a:pPr>
            <a:r>
              <a:rPr lang="en-US" sz="1600" i="1" dirty="0">
                <a:solidFill>
                  <a:srgbClr val="5B6B7A"/>
                </a:solidFill>
                <a:latin typeface="Inter" pitchFamily="34" charset="0"/>
                <a:ea typeface="Inter" pitchFamily="34" charset="-122"/>
                <a:cs typeface="Inter" pitchFamily="34" charset="-120"/>
              </a:rPr>
              <a:t>New-hire Kit 1, whenever the hire arrives.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culture page, finished: five norms in her faculty's words, signed.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THE PAGE HER FACULTY SIGNED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actually came out</a:t>
            </a:r>
            <a:endParaRPr lang="en-US" sz="3200" dirty="0"/>
          </a:p>
        </p:txBody>
      </p:sp>
      <p:sp>
        <p:nvSpPr>
          <p:cNvPr id="14" name="Shape 11"/>
          <p:cNvSpPr/>
          <p:nvPr/>
        </p:nvSpPr>
        <p:spPr>
          <a:xfrm>
            <a:off x="640080" y="1188720"/>
            <a:ext cx="10972800" cy="4279392"/>
          </a:xfrm>
          <a:prstGeom prst="roundRect">
            <a:avLst>
              <a:gd name="adj" fmla="val 1923"/>
            </a:avLst>
          </a:prstGeom>
          <a:solidFill>
            <a:srgbClr val="F7F5F0"/>
          </a:solidFill>
          <a:ln w="12700">
            <a:solidFill>
              <a:srgbClr val="F7F5F0"/>
            </a:solidFill>
            <a:prstDash val="solid"/>
          </a:ln>
        </p:spPr>
      </p:sp>
      <p:sp>
        <p:nvSpPr>
          <p:cNvPr id="15" name="Shape 12"/>
          <p:cNvSpPr/>
          <p:nvPr/>
        </p:nvSpPr>
        <p:spPr>
          <a:xfrm>
            <a:off x="640080" y="1188720"/>
            <a:ext cx="109728" cy="4279392"/>
          </a:xfrm>
          <a:prstGeom prst="roundRect">
            <a:avLst>
              <a:gd name="adj" fmla="val 41667"/>
            </a:avLst>
          </a:prstGeom>
          <a:solidFill>
            <a:srgbClr val="2A9D8F"/>
          </a:solidFill>
          <a:ln w="12700">
            <a:solidFill>
              <a:srgbClr val="2A9D8F"/>
            </a:solidFill>
            <a:prstDash val="solid"/>
          </a:ln>
        </p:spPr>
      </p:sp>
      <p:sp>
        <p:nvSpPr>
          <p:cNvPr id="16" name="Text 13"/>
          <p:cNvSpPr/>
          <p:nvPr/>
        </p:nvSpPr>
        <p:spPr>
          <a:xfrm>
            <a:off x="960120" y="1298448"/>
            <a:ext cx="10332720" cy="256032"/>
          </a:xfrm>
          <a:prstGeom prst="rect">
            <a:avLst/>
          </a:prstGeom>
          <a:noFill/>
          <a:ln/>
        </p:spPr>
        <p:txBody>
          <a:bodyPr wrap="square" lIns="0" tIns="0" rIns="0" bIns="0" rtlCol="0" anchor="ctr"/>
          <a:lstStyle/>
          <a:p>
            <a:pPr indent="0" marL="0">
              <a:buNone/>
            </a:pPr>
            <a:r>
              <a:rPr lang="en-US" sz="1100" b="1" spc="120" kern="0" dirty="0">
                <a:solidFill>
                  <a:srgbClr val="2A9D8F"/>
                </a:solidFill>
                <a:latin typeface="Inter" pitchFamily="34" charset="0"/>
                <a:ea typeface="Inter" pitchFamily="34" charset="-122"/>
                <a:cs typeface="Inter" pitchFamily="34" charset="-120"/>
              </a:rPr>
              <a:t>THE CULTURE PAGE · MS. RIVERA’S SCHOOL, A COMPOSITE EXAMPLE · BLOCK 1 OF 4</a:t>
            </a:r>
            <a:endParaRPr lang="en-US" sz="1100" dirty="0"/>
          </a:p>
        </p:txBody>
      </p:sp>
      <p:sp>
        <p:nvSpPr>
          <p:cNvPr id="17" name="Text 14"/>
          <p:cNvSpPr/>
          <p:nvPr/>
        </p:nvSpPr>
        <p:spPr>
          <a:xfrm>
            <a:off x="960120" y="1572768"/>
            <a:ext cx="6400800" cy="402336"/>
          </a:xfrm>
          <a:prstGeom prst="rect">
            <a:avLst/>
          </a:prstGeom>
          <a:noFill/>
          <a:ln/>
        </p:spPr>
        <p:txBody>
          <a:bodyPr wrap="square" lIns="0" tIns="0" rIns="0" bIns="0" rtlCol="0" anchor="ctr"/>
          <a:lstStyle/>
          <a:p>
            <a:pPr indent="0" marL="0">
              <a:buNone/>
            </a:pPr>
            <a:r>
              <a:rPr lang="en-US" sz="2400" b="1" dirty="0">
                <a:solidFill>
                  <a:srgbClr val="13293D"/>
                </a:solidFill>
                <a:latin typeface="Inter" pitchFamily="34" charset="0"/>
                <a:ea typeface="Inter" pitchFamily="34" charset="-122"/>
                <a:cs typeface="Inter" pitchFamily="34" charset="-120"/>
              </a:rPr>
              <a:t>How we use AI here</a:t>
            </a:r>
            <a:endParaRPr lang="en-US" sz="2400" dirty="0"/>
          </a:p>
        </p:txBody>
      </p:sp>
      <p:sp>
        <p:nvSpPr>
          <p:cNvPr id="18" name="Text 15"/>
          <p:cNvSpPr/>
          <p:nvPr/>
        </p:nvSpPr>
        <p:spPr>
          <a:xfrm>
            <a:off x="7498080" y="1609344"/>
            <a:ext cx="3794760" cy="329184"/>
          </a:xfrm>
          <a:prstGeom prst="rect">
            <a:avLst/>
          </a:prstGeom>
          <a:noFill/>
          <a:ln/>
        </p:spPr>
        <p:txBody>
          <a:bodyPr wrap="square" lIns="0" tIns="0" rIns="0" bIns="0" rtlCol="0" anchor="ctr"/>
          <a:lstStyle/>
          <a:p>
            <a:pPr algn="r" indent="0" marL="0">
              <a:buNone/>
            </a:pPr>
            <a:r>
              <a:rPr lang="en-US" sz="1200" dirty="0">
                <a:solidFill>
                  <a:srgbClr val="5B6B7A"/>
                </a:solidFill>
                <a:latin typeface="Inter" pitchFamily="34" charset="0"/>
                <a:ea typeface="Inter" pitchFamily="34" charset="-122"/>
                <a:cs typeface="Inter" pitchFamily="34" charset="-120"/>
              </a:rPr>
              <a:t>Signed by 42 teachers · posted in the workroom</a:t>
            </a:r>
            <a:endParaRPr lang="en-US" sz="1200" dirty="0"/>
          </a:p>
        </p:txBody>
      </p:sp>
      <p:sp>
        <p:nvSpPr>
          <p:cNvPr id="19" name="Text 16"/>
          <p:cNvSpPr/>
          <p:nvPr/>
        </p:nvSpPr>
        <p:spPr>
          <a:xfrm>
            <a:off x="960120" y="2029968"/>
            <a:ext cx="10332720" cy="2606040"/>
          </a:xfrm>
          <a:prstGeom prst="rect">
            <a:avLst/>
          </a:prstGeom>
          <a:noFill/>
          <a:ln/>
        </p:spPr>
        <p:txBody>
          <a:bodyPr wrap="square" lIns="0" tIns="0" rIns="0" bIns="0" rtlCol="0" anchor="t"/>
          <a:lstStyle/>
          <a:p>
            <a:pPr indent="0" marL="0">
              <a:lnSpc>
                <a:spcPct val="114000"/>
              </a:lnSpc>
              <a:buNone/>
            </a:pPr>
            <a:r>
              <a:rPr lang="en-US" sz="1450" b="1" dirty="0">
                <a:solidFill>
                  <a:srgbClr val="13293D"/>
                </a:solidFill>
                <a:latin typeface="Inter" pitchFamily="34" charset="0"/>
                <a:ea typeface="Inter" pitchFamily="34" charset="-122"/>
                <a:cs typeface="Inter" pitchFamily="34" charset="-120"/>
              </a:rPr>
              <a:t>Privacy.  </a:t>
            </a:r>
            <a:pPr indent="0" marL="0">
              <a:lnSpc>
                <a:spcPct val="114000"/>
              </a:lnSpc>
              <a:spcAft>
                <a:spcPts val="600"/>
              </a:spcAft>
              <a:buNone/>
            </a:pPr>
            <a:r>
              <a:rPr lang="en-US" sz="1450" dirty="0">
                <a:solidFill>
                  <a:srgbClr val="1B1F24"/>
                </a:solidFill>
                <a:latin typeface="Inter" pitchFamily="34" charset="0"/>
                <a:ea typeface="Inter" pitchFamily="34" charset="-122"/>
                <a:cs typeface="Inter" pitchFamily="34" charset="-120"/>
              </a:rPr>
              <a:t>We never put a student’s name, work, or personal information into a public AI tool. When we need help with student work, we describe the situation instead.</a:t>
            </a:r>
            <a:endParaRPr lang="en-US" sz="1450" dirty="0"/>
          </a:p>
          <a:p>
            <a:pPr indent="0" marL="0">
              <a:lnSpc>
                <a:spcPct val="114000"/>
              </a:lnSpc>
              <a:buNone/>
            </a:pPr>
            <a:r>
              <a:rPr lang="en-US" sz="1450" b="1" dirty="0">
                <a:solidFill>
                  <a:srgbClr val="13293D"/>
                </a:solidFill>
                <a:latin typeface="Inter" pitchFamily="34" charset="0"/>
                <a:ea typeface="Inter" pitchFamily="34" charset="-122"/>
                <a:cs typeface="Inter" pitchFamily="34" charset="-120"/>
              </a:rPr>
              <a:t>Review.  </a:t>
            </a:r>
            <a:pPr indent="0" marL="0">
              <a:lnSpc>
                <a:spcPct val="114000"/>
              </a:lnSpc>
              <a:spcAft>
                <a:spcPts val="600"/>
              </a:spcAft>
              <a:buNone/>
            </a:pPr>
            <a:r>
              <a:rPr lang="en-US" sz="1450" dirty="0">
                <a:solidFill>
                  <a:srgbClr val="1B1F24"/>
                </a:solidFill>
                <a:latin typeface="Inter" pitchFamily="34" charset="0"/>
                <a:ea typeface="Inter" pitchFamily="34" charset="-122"/>
                <a:cs typeface="Inter" pitchFamily="34" charset="-120"/>
              </a:rPr>
              <a:t>Nothing an AI drafted reaches a student or a family until a teacher has read every word of it and fixed what is wrong. AI drafts, the teacher decides.</a:t>
            </a:r>
            <a:endParaRPr lang="en-US" sz="1450" dirty="0"/>
          </a:p>
          <a:p>
            <a:pPr indent="0" marL="0">
              <a:lnSpc>
                <a:spcPct val="114000"/>
              </a:lnSpc>
              <a:buNone/>
            </a:pPr>
            <a:r>
              <a:rPr lang="en-US" sz="1450" b="1" dirty="0">
                <a:solidFill>
                  <a:srgbClr val="13293D"/>
                </a:solidFill>
                <a:latin typeface="Inter" pitchFamily="34" charset="0"/>
                <a:ea typeface="Inter" pitchFamily="34" charset="-122"/>
                <a:cs typeface="Inter" pitchFamily="34" charset="-120"/>
              </a:rPr>
              <a:t>Honesty.  </a:t>
            </a:r>
            <a:pPr indent="0" marL="0">
              <a:lnSpc>
                <a:spcPct val="114000"/>
              </a:lnSpc>
              <a:spcAft>
                <a:spcPts val="600"/>
              </a:spcAft>
              <a:buNone/>
            </a:pPr>
            <a:r>
              <a:rPr lang="en-US" sz="1450" dirty="0">
                <a:solidFill>
                  <a:srgbClr val="1B1F24"/>
                </a:solidFill>
                <a:latin typeface="Inter" pitchFamily="34" charset="0"/>
                <a:ea typeface="Inter" pitchFamily="34" charset="-122"/>
                <a:cs typeface="Inter" pitchFamily="34" charset="-120"/>
              </a:rPr>
              <a:t>We say what we use. Every assignment carries its lane label, and a note home that started as a draft is still signed by the person who sends it.</a:t>
            </a:r>
            <a:endParaRPr lang="en-US" sz="1450" dirty="0"/>
          </a:p>
          <a:p>
            <a:pPr indent="0" marL="0">
              <a:lnSpc>
                <a:spcPct val="114000"/>
              </a:lnSpc>
              <a:buNone/>
            </a:pPr>
            <a:r>
              <a:rPr lang="en-US" sz="1450" b="1" dirty="0">
                <a:solidFill>
                  <a:srgbClr val="13293D"/>
                </a:solidFill>
                <a:latin typeface="Inter" pitchFamily="34" charset="0"/>
                <a:ea typeface="Inter" pitchFamily="34" charset="-122"/>
                <a:cs typeface="Inter" pitchFamily="34" charset="-120"/>
              </a:rPr>
              <a:t>Sharing.  </a:t>
            </a:r>
            <a:pPr indent="0" marL="0">
              <a:lnSpc>
                <a:spcPct val="114000"/>
              </a:lnSpc>
              <a:spcAft>
                <a:spcPts val="600"/>
              </a:spcAft>
              <a:buNone/>
            </a:pPr>
            <a:r>
              <a:rPr lang="en-US" sz="1450" dirty="0">
                <a:solidFill>
                  <a:srgbClr val="1B1F24"/>
                </a:solidFill>
                <a:latin typeface="Inter" pitchFamily="34" charset="0"/>
                <a:ea typeface="Inter" pitchFamily="34" charset="-122"/>
                <a:cs typeface="Inter" pitchFamily="34" charset="-120"/>
              </a:rPr>
              <a:t>A prompt that works belongs to the building. It goes in the staff library the same week, with a name on it, so nobody solves the same problem twice.</a:t>
            </a:r>
            <a:endParaRPr lang="en-US" sz="1450" dirty="0"/>
          </a:p>
          <a:p>
            <a:pPr indent="0" marL="0">
              <a:lnSpc>
                <a:spcPct val="114000"/>
              </a:lnSpc>
              <a:buNone/>
            </a:pPr>
            <a:r>
              <a:rPr lang="en-US" sz="1450" b="1" dirty="0">
                <a:solidFill>
                  <a:srgbClr val="13293D"/>
                </a:solidFill>
                <a:latin typeface="Inter" pitchFamily="34" charset="0"/>
                <a:ea typeface="Inter" pitchFamily="34" charset="-122"/>
                <a:cs typeface="Inter" pitchFamily="34" charset="-120"/>
              </a:rPr>
              <a:t>The protected list.  </a:t>
            </a:r>
            <a:pPr indent="0" marL="0">
              <a:lnSpc>
                <a:spcPct val="114000"/>
              </a:lnSpc>
              <a:buNone/>
            </a:pPr>
            <a:r>
              <a:rPr lang="en-US" sz="1450" dirty="0">
                <a:solidFill>
                  <a:srgbClr val="1B1F24"/>
                </a:solidFill>
                <a:latin typeface="Inter" pitchFamily="34" charset="0"/>
                <a:ea typeface="Inter" pitchFamily="34" charset="-122"/>
                <a:cs typeface="Inter" pitchFamily="34" charset="-120"/>
              </a:rPr>
              <a:t>Some work stays human by decision: the hard conversation, the note after a loss, the recommendation letter. We keep that list, and we keep it short.</a:t>
            </a:r>
            <a:endParaRPr lang="en-US" sz="1450" dirty="0"/>
          </a:p>
        </p:txBody>
      </p:sp>
      <p:sp>
        <p:nvSpPr>
          <p:cNvPr id="20" name="Shape 17"/>
          <p:cNvSpPr/>
          <p:nvPr/>
        </p:nvSpPr>
        <p:spPr>
          <a:xfrm>
            <a:off x="960120" y="4956048"/>
            <a:ext cx="10332720" cy="12802"/>
          </a:xfrm>
          <a:prstGeom prst="rect">
            <a:avLst/>
          </a:prstGeom>
          <a:solidFill>
            <a:srgbClr val="DCE3EA"/>
          </a:solidFill>
          <a:ln w="12700">
            <a:solidFill>
              <a:srgbClr val="DCE3EA"/>
            </a:solidFill>
            <a:prstDash val="solid"/>
          </a:ln>
        </p:spPr>
      </p:sp>
      <p:sp>
        <p:nvSpPr>
          <p:cNvPr id="21" name="Text 18"/>
          <p:cNvSpPr/>
          <p:nvPr/>
        </p:nvSpPr>
        <p:spPr>
          <a:xfrm>
            <a:off x="960120" y="5029200"/>
            <a:ext cx="10332720" cy="365760"/>
          </a:xfrm>
          <a:prstGeom prst="rect">
            <a:avLst/>
          </a:prstGeom>
          <a:noFill/>
          <a:ln/>
        </p:spPr>
        <p:txBody>
          <a:bodyPr wrap="square" lIns="0" tIns="0" rIns="0" bIns="0" rtlCol="0" anchor="ctr"/>
          <a:lstStyle/>
          <a:p>
            <a:pPr indent="0" marL="0">
              <a:buNone/>
            </a:pPr>
            <a:r>
              <a:rPr lang="en-US" sz="1400" b="1" dirty="0">
                <a:solidFill>
                  <a:srgbClr val="13293D"/>
                </a:solidFill>
                <a:latin typeface="Inter" pitchFamily="34" charset="0"/>
                <a:ea typeface="Inter" pitchFamily="34" charset="-122"/>
                <a:cs typeface="Inter" pitchFamily="34" charset="-120"/>
              </a:rPr>
              <a:t>Signed:  </a:t>
            </a:r>
            <a:pPr indent="0" marL="0">
              <a:buNone/>
            </a:pPr>
            <a:r>
              <a:rPr lang="en-US" sz="1400" dirty="0">
                <a:solidFill>
                  <a:srgbClr val="1B1F24"/>
                </a:solidFill>
                <a:latin typeface="Inter" pitchFamily="34" charset="0"/>
                <a:ea typeface="Inter" pitchFamily="34" charset="-122"/>
                <a:cs typeface="Inter" pitchFamily="34" charset="-120"/>
              </a:rPr>
              <a:t>every teacher, on the day we drafted it.   </a:t>
            </a:r>
            <a:pPr indent="0" marL="0">
              <a:buNone/>
            </a:pPr>
            <a:r>
              <a:rPr lang="en-US" sz="1400" b="1" dirty="0">
                <a:solidFill>
                  <a:srgbClr val="13293D"/>
                </a:solidFill>
                <a:latin typeface="Inter" pitchFamily="34" charset="0"/>
                <a:ea typeface="Inter" pitchFamily="34" charset="-122"/>
                <a:cs typeface="Inter" pitchFamily="34" charset="-120"/>
              </a:rPr>
              <a:t>Revisited:  </a:t>
            </a:r>
            <a:pPr indent="0" marL="0">
              <a:buNone/>
            </a:pPr>
            <a:r>
              <a:rPr lang="en-US" sz="1400" dirty="0">
                <a:solidFill>
                  <a:srgbClr val="1B1F24"/>
                </a:solidFill>
                <a:latin typeface="Inter" pitchFamily="34" charset="0"/>
                <a:ea typeface="Inter" pitchFamily="34" charset="-122"/>
                <a:cs typeface="Inter" pitchFamily="34" charset="-120"/>
              </a:rPr>
              <a:t>first faculty meeting of each semester.</a:t>
            </a:r>
            <a:endParaRPr lang="en-US" sz="1400" dirty="0"/>
          </a:p>
        </p:txBody>
      </p:sp>
      <p:sp>
        <p:nvSpPr>
          <p:cNvPr id="22" name="Text 19"/>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No “shall.” No “stakeholders.” Five sentences a teacher would actually say out loud.</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page's other half: the routine dated, the owners named, the semester set.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BLOCKS 2, 3, AND 4</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other half, word for word</a:t>
            </a:r>
            <a:endParaRPr lang="en-US" sz="3200" dirty="0"/>
          </a:p>
        </p:txBody>
      </p:sp>
      <p:sp>
        <p:nvSpPr>
          <p:cNvPr id="14" name="Shape 11"/>
          <p:cNvSpPr/>
          <p:nvPr/>
        </p:nvSpPr>
        <p:spPr>
          <a:xfrm>
            <a:off x="640080" y="1188720"/>
            <a:ext cx="5349240" cy="1737360"/>
          </a:xfrm>
          <a:prstGeom prst="roundRect">
            <a:avLst>
              <a:gd name="adj" fmla="val 4737"/>
            </a:avLst>
          </a:prstGeom>
          <a:solidFill>
            <a:srgbClr val="F7F5F0"/>
          </a:solidFill>
          <a:ln w="12700">
            <a:solidFill>
              <a:srgbClr val="F7F5F0"/>
            </a:solidFill>
            <a:prstDash val="solid"/>
          </a:ln>
        </p:spPr>
      </p:sp>
      <p:sp>
        <p:nvSpPr>
          <p:cNvPr id="15" name="Text 12"/>
          <p:cNvSpPr/>
          <p:nvPr/>
        </p:nvSpPr>
        <p:spPr>
          <a:xfrm>
            <a:off x="914400" y="1316736"/>
            <a:ext cx="4800600" cy="274320"/>
          </a:xfrm>
          <a:prstGeom prst="rect">
            <a:avLst/>
          </a:prstGeom>
          <a:noFill/>
          <a:ln/>
        </p:spPr>
        <p:txBody>
          <a:bodyPr wrap="square" lIns="0" tIns="0" rIns="0" bIns="0" rtlCol="0" anchor="ctr"/>
          <a:lstStyle/>
          <a:p>
            <a:pPr indent="0" marL="0">
              <a:buNone/>
            </a:pPr>
            <a:r>
              <a:rPr lang="en-US" sz="1100" b="1" spc="120" kern="0" dirty="0">
                <a:solidFill>
                  <a:srgbClr val="B07914"/>
                </a:solidFill>
                <a:latin typeface="Inter" pitchFamily="34" charset="0"/>
                <a:ea typeface="Inter" pitchFamily="34" charset="-122"/>
                <a:cs typeface="Inter" pitchFamily="34" charset="-120"/>
              </a:rPr>
              <a:t>2 · OUR SHARING ROUTINE</a:t>
            </a:r>
            <a:endParaRPr lang="en-US" sz="1100" dirty="0"/>
          </a:p>
        </p:txBody>
      </p:sp>
      <p:sp>
        <p:nvSpPr>
          <p:cNvPr id="16" name="Text 13"/>
          <p:cNvSpPr/>
          <p:nvPr/>
        </p:nvSpPr>
        <p:spPr>
          <a:xfrm>
            <a:off x="914400" y="1627632"/>
            <a:ext cx="4800600" cy="1417320"/>
          </a:xfrm>
          <a:prstGeom prst="rect">
            <a:avLst/>
          </a:prstGeom>
          <a:noFill/>
          <a:ln/>
        </p:spPr>
        <p:txBody>
          <a:bodyPr wrap="square" lIns="0" tIns="0" rIns="0" bIns="0" rtlCol="0" anchor="t"/>
          <a:lstStyle/>
          <a:p>
            <a:pPr indent="0" marL="0">
              <a:lnSpc>
                <a:spcPct val="114000"/>
              </a:lnSpc>
              <a:buNone/>
            </a:pPr>
            <a:r>
              <a:rPr lang="en-US" sz="1400" dirty="0">
                <a:solidFill>
                  <a:srgbClr val="1B1F24"/>
                </a:solidFill>
                <a:latin typeface="Inter" pitchFamily="34" charset="0"/>
                <a:ea typeface="Inter" pitchFamily="34" charset="-122"/>
                <a:cs typeface="Inter" pitchFamily="34" charset="-120"/>
              </a:rPr>
              <a:t>Five minutes at every other PLC: one win, one fail, one steal.
</a:t>
            </a:r>
            <a:pPr indent="0" marL="0">
              <a:lnSpc>
                <a:spcPct val="114000"/>
              </a:lnSpc>
              <a:buNone/>
            </a:pPr>
            <a:r>
              <a:rPr lang="en-US" sz="1400" b="1" dirty="0">
                <a:solidFill>
                  <a:srgbClr val="13293D"/>
                </a:solidFill>
                <a:latin typeface="Inter" pitchFamily="34" charset="0"/>
                <a:ea typeface="Inter" pitchFamily="34" charset="-122"/>
                <a:cs typeface="Inter" pitchFamily="34" charset="-120"/>
              </a:rPr>
              <a:t>Round one: </a:t>
            </a:r>
            <a:pPr indent="0" marL="0">
              <a:lnSpc>
                <a:spcPct val="114000"/>
              </a:lnSpc>
              <a:buNone/>
            </a:pPr>
            <a:r>
              <a:rPr lang="en-US" sz="1400" dirty="0">
                <a:solidFill>
                  <a:srgbClr val="1B1F24"/>
                </a:solidFill>
                <a:latin typeface="Inter" pitchFamily="34" charset="0"/>
                <a:ea typeface="Inter" pitchFamily="34" charset="-122"/>
                <a:cs typeface="Inter" pitchFamily="34" charset="-120"/>
              </a:rPr>
              <a:t>Tuesday, December 1, 7:35 a.m.
</a:t>
            </a:r>
            <a:pPr indent="0" marL="0">
              <a:lnSpc>
                <a:spcPct val="114000"/>
              </a:lnSpc>
              <a:buNone/>
            </a:pPr>
            <a:r>
              <a:rPr lang="en-US" sz="1400" b="1" dirty="0">
                <a:solidFill>
                  <a:srgbClr val="13293D"/>
                </a:solidFill>
                <a:latin typeface="Inter" pitchFamily="34" charset="0"/>
                <a:ea typeface="Inter" pitchFamily="34" charset="-122"/>
                <a:cs typeface="Inter" pitchFamily="34" charset="-120"/>
              </a:rPr>
              <a:t>Owner: </a:t>
            </a:r>
            <a:pPr indent="0" marL="0">
              <a:lnSpc>
                <a:spcPct val="114000"/>
              </a:lnSpc>
              <a:buNone/>
            </a:pPr>
            <a:r>
              <a:rPr lang="en-US" sz="1400" dirty="0">
                <a:solidFill>
                  <a:srgbClr val="1B1F24"/>
                </a:solidFill>
                <a:latin typeface="Inter" pitchFamily="34" charset="0"/>
                <a:ea typeface="Inter" pitchFamily="34" charset="-122"/>
                <a:cs typeface="Inter" pitchFamily="34" charset="-120"/>
              </a:rPr>
              <a:t>Ms. Rivera. Each round names who runs the next one.</a:t>
            </a:r>
            <a:endParaRPr lang="en-US" sz="1400" dirty="0"/>
          </a:p>
        </p:txBody>
      </p:sp>
      <p:sp>
        <p:nvSpPr>
          <p:cNvPr id="17" name="Shape 14"/>
          <p:cNvSpPr/>
          <p:nvPr/>
        </p:nvSpPr>
        <p:spPr>
          <a:xfrm>
            <a:off x="640080" y="3063240"/>
            <a:ext cx="5349240" cy="1920240"/>
          </a:xfrm>
          <a:prstGeom prst="roundRect">
            <a:avLst>
              <a:gd name="adj" fmla="val 4286"/>
            </a:avLst>
          </a:prstGeom>
          <a:solidFill>
            <a:srgbClr val="F7F5F0"/>
          </a:solidFill>
          <a:ln w="12700">
            <a:solidFill>
              <a:srgbClr val="F7F5F0"/>
            </a:solidFill>
            <a:prstDash val="solid"/>
          </a:ln>
        </p:spPr>
      </p:sp>
      <p:sp>
        <p:nvSpPr>
          <p:cNvPr id="18" name="Text 15"/>
          <p:cNvSpPr/>
          <p:nvPr/>
        </p:nvSpPr>
        <p:spPr>
          <a:xfrm>
            <a:off x="914400" y="3191256"/>
            <a:ext cx="4800600" cy="274320"/>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3 · NEW COLLEAGUES · SKEPTIC PARTNERS</a:t>
            </a:r>
            <a:endParaRPr lang="en-US" sz="1100" dirty="0"/>
          </a:p>
        </p:txBody>
      </p:sp>
      <p:sp>
        <p:nvSpPr>
          <p:cNvPr id="19" name="Text 16"/>
          <p:cNvSpPr/>
          <p:nvPr/>
        </p:nvSpPr>
        <p:spPr>
          <a:xfrm>
            <a:off x="914400" y="3502152"/>
            <a:ext cx="4800600" cy="1371600"/>
          </a:xfrm>
          <a:prstGeom prst="rect">
            <a:avLst/>
          </a:prstGeom>
          <a:noFill/>
          <a:ln/>
        </p:spPr>
        <p:txBody>
          <a:bodyPr wrap="square" lIns="0" tIns="0" rIns="0" bIns="0" rtlCol="0" anchor="t"/>
          <a:lstStyle/>
          <a:p>
            <a:pPr indent="0" marL="0">
              <a:lnSpc>
                <a:spcPct val="114000"/>
              </a:lnSpc>
              <a:buNone/>
            </a:pPr>
            <a:r>
              <a:rPr lang="en-US" sz="1400" dirty="0">
                <a:solidFill>
                  <a:srgbClr val="1B1F24"/>
                </a:solidFill>
                <a:latin typeface="Inter" pitchFamily="34" charset="0"/>
                <a:ea typeface="Inter" pitchFamily="34" charset="-122"/>
                <a:cs typeface="Inter" pitchFamily="34" charset="-120"/>
              </a:rPr>
              <a:t>Every new colleague runs Kit 1 in month one with our PLC lead. Welcome folder: this page and a library tour.
</a:t>
            </a:r>
            <a:pPr indent="0" marL="0">
              <a:lnSpc>
                <a:spcPct val="114000"/>
              </a:lnSpc>
              <a:buNone/>
            </a:pPr>
            <a:r>
              <a:rPr lang="en-US" sz="1400" b="1" dirty="0">
                <a:solidFill>
                  <a:srgbClr val="13293D"/>
                </a:solidFill>
                <a:latin typeface="Inter" pitchFamily="34" charset="0"/>
                <a:ea typeface="Inter" pitchFamily="34" charset="-122"/>
                <a:cs typeface="Inter" pitchFamily="34" charset="-120"/>
              </a:rPr>
              <a:t>Skeptic partners: </a:t>
            </a:r>
            <a:pPr indent="0" marL="0">
              <a:lnSpc>
                <a:spcPct val="114000"/>
              </a:lnSpc>
              <a:buNone/>
            </a:pPr>
            <a:r>
              <a:rPr lang="en-US" sz="1400" dirty="0">
                <a:solidFill>
                  <a:srgbClr val="1B1F24"/>
                </a:solidFill>
                <a:latin typeface="Inter" pitchFamily="34" charset="0"/>
                <a:ea typeface="Inter" pitchFamily="34" charset="-122"/>
                <a:cs typeface="Inter" pitchFamily="34" charset="-120"/>
              </a:rPr>
              <a:t>our 8th grade math lead and our media specialist. They read first.</a:t>
            </a:r>
            <a:endParaRPr lang="en-US" sz="1400" dirty="0"/>
          </a:p>
        </p:txBody>
      </p:sp>
      <p:sp>
        <p:nvSpPr>
          <p:cNvPr id="20" name="Shape 17"/>
          <p:cNvSpPr/>
          <p:nvPr/>
        </p:nvSpPr>
        <p:spPr>
          <a:xfrm>
            <a:off x="6263640" y="1188720"/>
            <a:ext cx="5349240" cy="3794760"/>
          </a:xfrm>
          <a:prstGeom prst="roundRect">
            <a:avLst>
              <a:gd name="adj" fmla="val 2169"/>
            </a:avLst>
          </a:prstGeom>
          <a:solidFill>
            <a:srgbClr val="F7F5F0"/>
          </a:solidFill>
          <a:ln w="12700">
            <a:solidFill>
              <a:srgbClr val="F7F5F0"/>
            </a:solidFill>
            <a:prstDash val="solid"/>
          </a:ln>
        </p:spPr>
      </p:sp>
      <p:sp>
        <p:nvSpPr>
          <p:cNvPr id="21" name="Text 18"/>
          <p:cNvSpPr/>
          <p:nvPr/>
        </p:nvSpPr>
        <p:spPr>
          <a:xfrm>
            <a:off x="6537960" y="1316736"/>
            <a:ext cx="4800600" cy="274320"/>
          </a:xfrm>
          <a:prstGeom prst="rect">
            <a:avLst/>
          </a:prstGeom>
          <a:noFill/>
          <a:ln/>
        </p:spPr>
        <p:txBody>
          <a:bodyPr wrap="square" lIns="0" tIns="0" rIns="0" bIns="0" rtlCol="0" anchor="ctr"/>
          <a:lstStyle/>
          <a:p>
            <a:pPr indent="0" marL="0">
              <a:buNone/>
            </a:pPr>
            <a:r>
              <a:rPr lang="en-US" sz="1100" b="1" spc="120" kern="0" dirty="0">
                <a:solidFill>
                  <a:srgbClr val="2E7D5B"/>
                </a:solidFill>
                <a:latin typeface="Inter" pitchFamily="34" charset="0"/>
                <a:ea typeface="Inter" pitchFamily="34" charset="-122"/>
                <a:cs typeface="Inter" pitchFamily="34" charset="-120"/>
              </a:rPr>
              <a:t>4 · NEXT SEMESTER, ONE LINE PER MONTH</a:t>
            </a:r>
            <a:endParaRPr lang="en-US" sz="1100" dirty="0"/>
          </a:p>
        </p:txBody>
      </p:sp>
      <p:sp>
        <p:nvSpPr>
          <p:cNvPr id="22" name="Text 19"/>
          <p:cNvSpPr/>
          <p:nvPr/>
        </p:nvSpPr>
        <p:spPr>
          <a:xfrm>
            <a:off x="6537960" y="1691640"/>
            <a:ext cx="640080" cy="50292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Jan</a:t>
            </a:r>
            <a:endParaRPr lang="en-US" sz="1600" dirty="0"/>
          </a:p>
        </p:txBody>
      </p:sp>
      <p:sp>
        <p:nvSpPr>
          <p:cNvPr id="23" name="Text 20"/>
          <p:cNvSpPr/>
          <p:nvPr/>
        </p:nvSpPr>
        <p:spPr>
          <a:xfrm>
            <a:off x="7269480" y="1691640"/>
            <a:ext cx="41148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the norms page revisited, first faculty meeting</a:t>
            </a:r>
            <a:endParaRPr lang="en-US" sz="1350" dirty="0"/>
          </a:p>
        </p:txBody>
      </p:sp>
      <p:sp>
        <p:nvSpPr>
          <p:cNvPr id="24" name="Text 21"/>
          <p:cNvSpPr/>
          <p:nvPr/>
        </p:nvSpPr>
        <p:spPr>
          <a:xfrm>
            <a:off x="6537960" y="2258568"/>
            <a:ext cx="640080" cy="50292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Feb</a:t>
            </a:r>
            <a:endParaRPr lang="en-US" sz="1600" dirty="0"/>
          </a:p>
        </p:txBody>
      </p:sp>
      <p:sp>
        <p:nvSpPr>
          <p:cNvPr id="25" name="Text 22"/>
          <p:cNvSpPr/>
          <p:nvPr/>
        </p:nvSpPr>
        <p:spPr>
          <a:xfrm>
            <a:off x="7269480" y="2258568"/>
            <a:ext cx="41148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Kit 2 refresher, 10 minutes: the four-part formula</a:t>
            </a:r>
            <a:endParaRPr lang="en-US" sz="1350" dirty="0"/>
          </a:p>
        </p:txBody>
      </p:sp>
      <p:sp>
        <p:nvSpPr>
          <p:cNvPr id="26" name="Text 23"/>
          <p:cNvSpPr/>
          <p:nvPr/>
        </p:nvSpPr>
        <p:spPr>
          <a:xfrm>
            <a:off x="6537960" y="2825496"/>
            <a:ext cx="640080" cy="50292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Mar</a:t>
            </a:r>
            <a:endParaRPr lang="en-US" sz="1600" dirty="0"/>
          </a:p>
        </p:txBody>
      </p:sp>
      <p:sp>
        <p:nvSpPr>
          <p:cNvPr id="27" name="Text 24"/>
          <p:cNvSpPr/>
          <p:nvPr/>
        </p:nvSpPr>
        <p:spPr>
          <a:xfrm>
            <a:off x="7269480" y="2825496"/>
            <a:ext cx="41148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Kit 5 refresher, 10 minutes: lane labels</a:t>
            </a:r>
            <a:endParaRPr lang="en-US" sz="1350" dirty="0"/>
          </a:p>
        </p:txBody>
      </p:sp>
      <p:sp>
        <p:nvSpPr>
          <p:cNvPr id="28" name="Text 25"/>
          <p:cNvSpPr/>
          <p:nvPr/>
        </p:nvSpPr>
        <p:spPr>
          <a:xfrm>
            <a:off x="6537960" y="3392424"/>
            <a:ext cx="640080" cy="50292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Apr</a:t>
            </a:r>
            <a:endParaRPr lang="en-US" sz="1600" dirty="0"/>
          </a:p>
        </p:txBody>
      </p:sp>
      <p:sp>
        <p:nvSpPr>
          <p:cNvPr id="29" name="Text 26"/>
          <p:cNvSpPr/>
          <p:nvPr/>
        </p:nvSpPr>
        <p:spPr>
          <a:xfrm>
            <a:off x="7269480" y="3392424"/>
            <a:ext cx="41148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Kit 7 refresher, 10 minutes: the protected list</a:t>
            </a:r>
            <a:endParaRPr lang="en-US" sz="1350" dirty="0"/>
          </a:p>
        </p:txBody>
      </p:sp>
      <p:sp>
        <p:nvSpPr>
          <p:cNvPr id="30" name="Text 27"/>
          <p:cNvSpPr/>
          <p:nvPr/>
        </p:nvSpPr>
        <p:spPr>
          <a:xfrm>
            <a:off x="6537960" y="3959352"/>
            <a:ext cx="640080" cy="50292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May</a:t>
            </a:r>
            <a:endParaRPr lang="en-US" sz="1600" dirty="0"/>
          </a:p>
        </p:txBody>
      </p:sp>
      <p:sp>
        <p:nvSpPr>
          <p:cNvPr id="31" name="Text 28"/>
          <p:cNvSpPr/>
          <p:nvPr/>
        </p:nvSpPr>
        <p:spPr>
          <a:xfrm>
            <a:off x="7269480" y="3959352"/>
            <a:ext cx="41148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Kit 4 refresher, 10 minutes: rubrics and question banks</a:t>
            </a:r>
            <a:endParaRPr lang="en-US" sz="1350" dirty="0"/>
          </a:p>
        </p:txBody>
      </p:sp>
      <p:sp>
        <p:nvSpPr>
          <p:cNvPr id="32" name="Text 29"/>
          <p:cNvSpPr/>
          <p:nvPr/>
        </p:nvSpPr>
        <p:spPr>
          <a:xfrm>
            <a:off x="6537960" y="4526280"/>
            <a:ext cx="4846320" cy="329184"/>
          </a:xfrm>
          <a:prstGeom prst="rect">
            <a:avLst/>
          </a:prstGeom>
          <a:noFill/>
          <a:ln/>
        </p:spPr>
        <p:txBody>
          <a:bodyPr wrap="square" lIns="0" tIns="0" rIns="0" bIns="0" rtlCol="0" anchor="ctr"/>
          <a:lstStyle/>
          <a:p>
            <a:pPr indent="0" marL="0">
              <a:buNone/>
            </a:pPr>
            <a:r>
              <a:rPr lang="en-US" sz="1250" i="1" dirty="0">
                <a:solidFill>
                  <a:srgbClr val="5B6B7A"/>
                </a:solidFill>
                <a:latin typeface="Inter" pitchFamily="34" charset="0"/>
                <a:ea typeface="Inter" pitchFamily="34" charset="-122"/>
                <a:cs typeface="Inter" pitchFamily="34" charset="-120"/>
              </a:rPr>
              <a:t>New-hire Kit 1 whenever a hire arrives, in or out of this strip.</a:t>
            </a:r>
            <a:endParaRPr lang="en-US" sz="1250" dirty="0"/>
          </a:p>
        </p:txBody>
      </p:sp>
      <p:sp>
        <p:nvSpPr>
          <p:cNvPr id="33" name="Shape 30"/>
          <p:cNvSpPr/>
          <p:nvPr/>
        </p:nvSpPr>
        <p:spPr>
          <a:xfrm>
            <a:off x="640080" y="5193792"/>
            <a:ext cx="10972800" cy="658368"/>
          </a:xfrm>
          <a:prstGeom prst="roundRect">
            <a:avLst>
              <a:gd name="adj" fmla="val 12500"/>
            </a:avLst>
          </a:prstGeom>
          <a:solidFill>
            <a:srgbClr val="13293D"/>
          </a:solidFill>
          <a:ln w="12700">
            <a:solidFill>
              <a:srgbClr val="13293D"/>
            </a:solidFill>
            <a:prstDash val="solid"/>
          </a:ln>
        </p:spPr>
      </p:sp>
      <p:sp>
        <p:nvSpPr>
          <p:cNvPr id="34" name="Text 31"/>
          <p:cNvSpPr/>
          <p:nvPr/>
        </p:nvSpPr>
        <p:spPr>
          <a:xfrm>
            <a:off x="960120" y="5193792"/>
            <a:ext cx="10332720" cy="658368"/>
          </a:xfrm>
          <a:prstGeom prst="rect">
            <a:avLst/>
          </a:prstGeom>
          <a:noFill/>
          <a:ln/>
        </p:spPr>
        <p:txBody>
          <a:bodyPr wrap="square" lIns="0" tIns="0" rIns="0" bIns="0" rtlCol="0" anchor="ctr"/>
          <a:lstStyle/>
          <a:p>
            <a:pPr algn="ctr" indent="0" marL="0">
              <a:buNone/>
            </a:pPr>
            <a:r>
              <a:rPr lang="en-US" sz="1500" b="1" dirty="0">
                <a:solidFill>
                  <a:srgbClr val="2A9D8F"/>
                </a:solidFill>
                <a:latin typeface="Inter" pitchFamily="34" charset="0"/>
                <a:ea typeface="Inter" pitchFamily="34" charset="-122"/>
                <a:cs typeface="Inter" pitchFamily="34" charset="-120"/>
              </a:rPr>
              <a:t>One page, four blocks.  </a:t>
            </a:r>
            <a:pPr algn="ctr" indent="0" marL="0">
              <a:buNone/>
            </a:pPr>
            <a:r>
              <a:rPr lang="en-US" sz="1500" dirty="0">
                <a:solidFill>
                  <a:srgbClr val="FFFFFF"/>
                </a:solidFill>
                <a:latin typeface="Inter" pitchFamily="34" charset="0"/>
                <a:ea typeface="Inter" pitchFamily="34" charset="-122"/>
                <a:cs typeface="Inter" pitchFamily="34" charset="-120"/>
              </a:rPr>
              <a:t>A date, an owner, a name in every blank: that is what a school adopts.</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her culture page's privacy norm, read aloud.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SHARE-OUT · 4 VOICES, 1 MINUTE EACH</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One norm, read aloud</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Each group: one norm in your own wording</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Listen for the lines that sound like this building; those survive the merge</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All drafts to the facilitator at the door. The merged page goes to the faculty this week for signing.</a:t>
            </a:r>
            <a:endParaRPr lang="en-US" sz="2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inventory, one culture page: norms, routine, onboarding, semester strip.</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 DIFFERENT KIND OF INVENTORY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you just built</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Five norms in this faculty's own words. A sharing routine with a date and an owner. An onboarding plan covering every future colleague. A semester calendar that costs minutes.
</a:t>
            </a:r>
            <a:pPr indent="0" marL="0">
              <a:buNone/>
            </a:pPr>
            <a:r>
              <a:rPr lang="en-US" sz="2000" b="1" dirty="0">
                <a:solidFill>
                  <a:srgbClr val="13293D"/>
                </a:solidFill>
                <a:latin typeface="Inter" pitchFamily="34" charset="0"/>
                <a:ea typeface="Inter" pitchFamily="34" charset="-122"/>
                <a:cs typeface="Inter" pitchFamily="34" charset="-120"/>
              </a:rPr>
              <a:t>Eight weeks ago you built your first prompt. Today you built the thing that keeps all of it alive.</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 limits: a document isn't a culture; consistency is. Leadership carries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LAST TIME, HONESTLY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Honest limits</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signed page is not a culture; consistency is, and leadership carries a disproportionate share of it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Culture is slow; it wobbles in October and needs the routine most exactly when the routine is easiest to skip</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Nothing here is finished: tools change, students surprise, the stance gets revised. That's not failure; that's what a living culture does.</a:t>
            </a:r>
            <a:endParaRPr lang="en-US" sz="2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8 · AI Culture   |   31</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commitments: run the routine, onboard every hire, revisit the norms.</a:t>
            </a:r>
            <a:endParaRPr lang="en-US" sz="1000" dirty="0"/>
          </a:p>
        </p:txBody>
      </p:sp>
      <p:sp>
        <p:nvSpPr>
          <p:cNvPr id="12" name="Text 9"/>
          <p:cNvSpPr/>
          <p:nvPr/>
        </p:nvSpPr>
        <p:spPr>
          <a:xfrm>
            <a:off x="822960" y="100584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FINAL THREE COMMITMENTS</a:t>
            </a:r>
            <a:endParaRPr lang="en-US" sz="1500" dirty="0"/>
          </a:p>
        </p:txBody>
      </p:sp>
      <p:sp>
        <p:nvSpPr>
          <p:cNvPr id="13" name="Shape 10"/>
          <p:cNvSpPr/>
          <p:nvPr/>
        </p:nvSpPr>
        <p:spPr>
          <a:xfrm>
            <a:off x="868680" y="1892808"/>
            <a:ext cx="640080" cy="640080"/>
          </a:xfrm>
          <a:prstGeom prst="ellipse">
            <a:avLst/>
          </a:prstGeom>
          <a:solidFill>
            <a:srgbClr val="2A9D8F"/>
          </a:solidFill>
          <a:ln w="12700">
            <a:solidFill>
              <a:srgbClr val="2A9D8F"/>
            </a:solidFill>
            <a:prstDash val="solid"/>
          </a:ln>
        </p:spPr>
      </p:sp>
      <p:sp>
        <p:nvSpPr>
          <p:cNvPr id="14" name="Text 11"/>
          <p:cNvSpPr/>
          <p:nvPr/>
        </p:nvSpPr>
        <p:spPr>
          <a:xfrm>
            <a:off x="868680" y="189280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1</a:t>
            </a:r>
            <a:endParaRPr lang="en-US" sz="2400" dirty="0"/>
          </a:p>
        </p:txBody>
      </p:sp>
      <p:sp>
        <p:nvSpPr>
          <p:cNvPr id="15" name="Text 12"/>
          <p:cNvSpPr/>
          <p:nvPr/>
        </p:nvSpPr>
        <p:spPr>
          <a:xfrm>
            <a:off x="1783080" y="1783080"/>
            <a:ext cx="9692640" cy="9144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The sharing routine runs, starting this month: five minutes, protected</a:t>
            </a:r>
            <a:endParaRPr lang="en-US" sz="2000" dirty="0"/>
          </a:p>
        </p:txBody>
      </p:sp>
      <p:sp>
        <p:nvSpPr>
          <p:cNvPr id="16" name="Shape 13"/>
          <p:cNvSpPr/>
          <p:nvPr/>
        </p:nvSpPr>
        <p:spPr>
          <a:xfrm>
            <a:off x="868680" y="3081528"/>
            <a:ext cx="640080" cy="640080"/>
          </a:xfrm>
          <a:prstGeom prst="ellipse">
            <a:avLst/>
          </a:prstGeom>
          <a:solidFill>
            <a:srgbClr val="2A9D8F"/>
          </a:solidFill>
          <a:ln w="12700">
            <a:solidFill>
              <a:srgbClr val="2A9D8F"/>
            </a:solidFill>
            <a:prstDash val="solid"/>
          </a:ln>
        </p:spPr>
      </p:sp>
      <p:sp>
        <p:nvSpPr>
          <p:cNvPr id="17" name="Text 14"/>
          <p:cNvSpPr/>
          <p:nvPr/>
        </p:nvSpPr>
        <p:spPr>
          <a:xfrm>
            <a:off x="868680" y="308152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2</a:t>
            </a:r>
            <a:endParaRPr lang="en-US" sz="2400" dirty="0"/>
          </a:p>
        </p:txBody>
      </p:sp>
      <p:sp>
        <p:nvSpPr>
          <p:cNvPr id="18" name="Text 15"/>
          <p:cNvSpPr/>
          <p:nvPr/>
        </p:nvSpPr>
        <p:spPr>
          <a:xfrm>
            <a:off x="1783080" y="2971800"/>
            <a:ext cx="9692640" cy="9144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Every new hire gets Kit 1, the norms page, and a library tour in month one</a:t>
            </a:r>
            <a:endParaRPr lang="en-US" sz="2000" dirty="0"/>
          </a:p>
        </p:txBody>
      </p:sp>
      <p:sp>
        <p:nvSpPr>
          <p:cNvPr id="19" name="Shape 16"/>
          <p:cNvSpPr/>
          <p:nvPr/>
        </p:nvSpPr>
        <p:spPr>
          <a:xfrm>
            <a:off x="868680" y="4270248"/>
            <a:ext cx="640080" cy="640080"/>
          </a:xfrm>
          <a:prstGeom prst="ellipse">
            <a:avLst/>
          </a:prstGeom>
          <a:solidFill>
            <a:srgbClr val="2A9D8F"/>
          </a:solidFill>
          <a:ln w="12700">
            <a:solidFill>
              <a:srgbClr val="2A9D8F"/>
            </a:solidFill>
            <a:prstDash val="solid"/>
          </a:ln>
        </p:spPr>
      </p:sp>
      <p:sp>
        <p:nvSpPr>
          <p:cNvPr id="20" name="Text 17"/>
          <p:cNvSpPr/>
          <p:nvPr/>
        </p:nvSpPr>
        <p:spPr>
          <a:xfrm>
            <a:off x="868680" y="427024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3</a:t>
            </a:r>
            <a:endParaRPr lang="en-US" sz="2400" dirty="0"/>
          </a:p>
        </p:txBody>
      </p:sp>
      <p:sp>
        <p:nvSpPr>
          <p:cNvPr id="21" name="Text 18"/>
          <p:cNvSpPr/>
          <p:nvPr/>
        </p:nvSpPr>
        <p:spPr>
          <a:xfrm>
            <a:off x="1783080" y="4160520"/>
            <a:ext cx="9692640" cy="9144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We revisit the norms every semester, so the paper always matches the practice</a:t>
            </a:r>
            <a:endParaRPr lang="en-US" sz="2000" dirty="0"/>
          </a:p>
        </p:txBody>
      </p:sp>
      <p:sp>
        <p:nvSpPr>
          <p:cNvPr id="22" name="Text 19"/>
          <p:cNvSpPr/>
          <p:nvPr/>
        </p:nvSpPr>
        <p:spPr>
          <a:xfrm>
            <a:off x="822960" y="5577840"/>
            <a:ext cx="10515600" cy="502920"/>
          </a:xfrm>
          <a:prstGeom prst="rect">
            <a:avLst/>
          </a:prstGeom>
          <a:noFill/>
          <a:ln/>
        </p:spPr>
        <p:txBody>
          <a:bodyPr wrap="square" lIns="0" tIns="0" rIns="0" bIns="0" rtlCol="0" anchor="ctr"/>
          <a:lstStyle/>
          <a:p>
            <a:pPr indent="0" marL="0">
              <a:buNone/>
            </a:pPr>
            <a:r>
              <a:rPr lang="en-US" sz="1800" i="1" dirty="0">
                <a:solidFill>
                  <a:srgbClr val="2A9D8F"/>
                </a:solidFill>
                <a:latin typeface="Inter" pitchFamily="34" charset="0"/>
                <a:ea typeface="Inter" pitchFamily="34" charset="-122"/>
                <a:cs typeface="Inter" pitchFamily="34" charset="-120"/>
              </a:rPr>
              <a:t>One last nod?</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Tracks B-D as they release; the culture makes them land.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TRACK A COMPLETE · THE LIBRARY KEEPS GROWING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goes next</a:t>
            </a:r>
            <a:endParaRPr lang="en-US" sz="3200" dirty="0"/>
          </a:p>
        </p:txBody>
      </p:sp>
      <p:sp>
        <p:nvSpPr>
          <p:cNvPr id="14" name="Shape 11"/>
          <p:cNvSpPr/>
          <p:nvPr/>
        </p:nvSpPr>
        <p:spPr>
          <a:xfrm>
            <a:off x="640080" y="1554480"/>
            <a:ext cx="10972800" cy="1005840"/>
          </a:xfrm>
          <a:prstGeom prst="roundRect">
            <a:avLst>
              <a:gd name="adj" fmla="val 8182"/>
            </a:avLst>
          </a:prstGeom>
          <a:solidFill>
            <a:srgbClr val="F7F5F0"/>
          </a:solidFill>
          <a:ln w="12700">
            <a:solidFill>
              <a:srgbClr val="F7F5F0"/>
            </a:solidFill>
            <a:prstDash val="solid"/>
          </a:ln>
        </p:spPr>
      </p:sp>
      <p:sp>
        <p:nvSpPr>
          <p:cNvPr id="15" name="Text 12"/>
          <p:cNvSpPr/>
          <p:nvPr/>
        </p:nvSpPr>
        <p:spPr>
          <a:xfrm>
            <a:off x="914400" y="1664208"/>
            <a:ext cx="1645920" cy="7772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Track B</a:t>
            </a:r>
            <a:endParaRPr lang="en-US" sz="1900" dirty="0"/>
          </a:p>
        </p:txBody>
      </p:sp>
      <p:sp>
        <p:nvSpPr>
          <p:cNvPr id="16" name="Text 13"/>
          <p:cNvSpPr/>
          <p:nvPr/>
        </p:nvSpPr>
        <p:spPr>
          <a:xfrm>
            <a:off x="2697480" y="1664208"/>
            <a:ext cx="8686800" cy="77724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Subject by subject: ELA, math, science, early elementary, diverse needs, student AI literacy</a:t>
            </a:r>
            <a:endParaRPr lang="en-US" sz="1650" dirty="0"/>
          </a:p>
        </p:txBody>
      </p:sp>
      <p:sp>
        <p:nvSpPr>
          <p:cNvPr id="17" name="Shape 14"/>
          <p:cNvSpPr/>
          <p:nvPr/>
        </p:nvSpPr>
        <p:spPr>
          <a:xfrm>
            <a:off x="640080" y="2743200"/>
            <a:ext cx="10972800" cy="1005840"/>
          </a:xfrm>
          <a:prstGeom prst="roundRect">
            <a:avLst>
              <a:gd name="adj" fmla="val 8182"/>
            </a:avLst>
          </a:prstGeom>
          <a:solidFill>
            <a:srgbClr val="F7F5F0"/>
          </a:solidFill>
          <a:ln w="12700">
            <a:solidFill>
              <a:srgbClr val="F7F5F0"/>
            </a:solidFill>
            <a:prstDash val="solid"/>
          </a:ln>
        </p:spPr>
      </p:sp>
      <p:sp>
        <p:nvSpPr>
          <p:cNvPr id="18" name="Text 15"/>
          <p:cNvSpPr/>
          <p:nvPr/>
        </p:nvSpPr>
        <p:spPr>
          <a:xfrm>
            <a:off x="914400" y="2852928"/>
            <a:ext cx="1645920" cy="7772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Track C</a:t>
            </a:r>
            <a:endParaRPr lang="en-US" sz="1900" dirty="0"/>
          </a:p>
        </p:txBody>
      </p:sp>
      <p:sp>
        <p:nvSpPr>
          <p:cNvPr id="19" name="Text 16"/>
          <p:cNvSpPr/>
          <p:nvPr/>
        </p:nvSpPr>
        <p:spPr>
          <a:xfrm>
            <a:off x="2697480" y="2852928"/>
            <a:ext cx="8686800" cy="77724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Leadership &amp; governance: the policy working session, rollout, family communication</a:t>
            </a:r>
            <a:endParaRPr lang="en-US" sz="1650" dirty="0"/>
          </a:p>
        </p:txBody>
      </p:sp>
      <p:sp>
        <p:nvSpPr>
          <p:cNvPr id="20" name="Shape 17"/>
          <p:cNvSpPr/>
          <p:nvPr/>
        </p:nvSpPr>
        <p:spPr>
          <a:xfrm>
            <a:off x="640080" y="3931920"/>
            <a:ext cx="1097280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14400" y="4041648"/>
            <a:ext cx="1645920" cy="7772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Track D</a:t>
            </a:r>
            <a:endParaRPr lang="en-US" sz="1900" dirty="0"/>
          </a:p>
        </p:txBody>
      </p:sp>
      <p:sp>
        <p:nvSpPr>
          <p:cNvPr id="22" name="Text 19"/>
          <p:cNvSpPr/>
          <p:nvPr/>
        </p:nvSpPr>
        <p:spPr>
          <a:xfrm>
            <a:off x="2697480" y="4041648"/>
            <a:ext cx="8686800" cy="77724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Going deeper: advanced prompting, data without student data, the year-long roadmap</a:t>
            </a:r>
            <a:endParaRPr lang="en-US" sz="1650" dirty="0"/>
          </a:p>
        </p:txBody>
      </p:sp>
      <p:sp>
        <p:nvSpPr>
          <p:cNvPr id="23" name="Text 20"/>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Kits release into your membership as they're finished. The engine is built; everything after this is fuel.</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norms to the faculty, routine on the calendar, certificate celebrated.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First 48 hours: make it official</a:t>
            </a:r>
            <a:endParaRPr lang="en-US" sz="2800" dirty="0"/>
          </a:p>
        </p:txBody>
      </p:sp>
      <p:sp>
        <p:nvSpPr>
          <p:cNvPr id="14" name="Shape 11"/>
          <p:cNvSpPr/>
          <p:nvPr/>
        </p:nvSpPr>
        <p:spPr>
          <a:xfrm>
            <a:off x="640080" y="1554480"/>
            <a:ext cx="10972800" cy="1097280"/>
          </a:xfrm>
          <a:prstGeom prst="roundRect">
            <a:avLst>
              <a:gd name="adj" fmla="val 7500"/>
            </a:avLst>
          </a:prstGeom>
          <a:solidFill>
            <a:srgbClr val="F7F5F0"/>
          </a:solidFill>
          <a:ln w="12700">
            <a:solidFill>
              <a:srgbClr val="F7F5F0"/>
            </a:solidFill>
            <a:prstDash val="solid"/>
          </a:ln>
        </p:spPr>
      </p:sp>
      <p:sp>
        <p:nvSpPr>
          <p:cNvPr id="15" name="Text 12"/>
          <p:cNvSpPr/>
          <p:nvPr/>
        </p:nvSpPr>
        <p:spPr>
          <a:xfrm>
            <a:off x="914400" y="173736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1</a:t>
            </a:r>
            <a:endParaRPr lang="en-US" sz="2600" dirty="0"/>
          </a:p>
        </p:txBody>
      </p:sp>
      <p:sp>
        <p:nvSpPr>
          <p:cNvPr id="16" name="Text 13"/>
          <p:cNvSpPr/>
          <p:nvPr/>
        </p:nvSpPr>
        <p:spPr>
          <a:xfrm>
            <a:off x="1737360" y="169164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The norms page goes out</a:t>
            </a:r>
            <a:endParaRPr lang="en-US" sz="1800" dirty="0"/>
          </a:p>
        </p:txBody>
      </p:sp>
      <p:sp>
        <p:nvSpPr>
          <p:cNvPr id="17" name="Text 14"/>
          <p:cNvSpPr/>
          <p:nvPr/>
        </p:nvSpPr>
        <p:spPr>
          <a:xfrm>
            <a:off x="1737360" y="212140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Merged, sent for signing, posted where you post real things</a:t>
            </a:r>
            <a:endParaRPr lang="en-US" sz="1450" dirty="0"/>
          </a:p>
        </p:txBody>
      </p:sp>
      <p:sp>
        <p:nvSpPr>
          <p:cNvPr id="18" name="Text 15"/>
          <p:cNvSpPr/>
          <p:nvPr/>
        </p:nvSpPr>
        <p:spPr>
          <a:xfrm>
            <a:off x="9326880" y="1874520"/>
            <a:ext cx="1920240" cy="457200"/>
          </a:xfrm>
          <a:prstGeom prst="rect">
            <a:avLst/>
          </a:prstGeom>
          <a:noFill/>
          <a:ln/>
        </p:spPr>
        <p:txBody>
          <a:bodyPr wrap="square" lIns="0" tIns="0" rIns="0" bIns="0" rtlCol="0" anchor="ctr"/>
          <a:lstStyle/>
          <a:p>
            <a:pPr algn="r" indent="0" marL="0">
              <a:buNone/>
            </a:pPr>
            <a:r>
              <a:rPr lang="en-US" sz="1500" b="1" dirty="0">
                <a:solidFill>
                  <a:srgbClr val="2A9D8F"/>
                </a:solidFill>
                <a:latin typeface="Inter" pitchFamily="34" charset="0"/>
                <a:ea typeface="Inter" pitchFamily="34" charset="-122"/>
                <a:cs typeface="Inter" pitchFamily="34" charset="-120"/>
              </a:rPr>
              <a:t>Facilitator</a:t>
            </a:r>
            <a:endParaRPr lang="en-US" sz="1500" dirty="0"/>
          </a:p>
        </p:txBody>
      </p:sp>
      <p:sp>
        <p:nvSpPr>
          <p:cNvPr id="19" name="Shape 16"/>
          <p:cNvSpPr/>
          <p:nvPr/>
        </p:nvSpPr>
        <p:spPr>
          <a:xfrm>
            <a:off x="640080" y="2834640"/>
            <a:ext cx="10972800" cy="1097280"/>
          </a:xfrm>
          <a:prstGeom prst="roundRect">
            <a:avLst>
              <a:gd name="adj" fmla="val 7500"/>
            </a:avLst>
          </a:prstGeom>
          <a:solidFill>
            <a:srgbClr val="F7F5F0"/>
          </a:solidFill>
          <a:ln w="12700">
            <a:solidFill>
              <a:srgbClr val="F7F5F0"/>
            </a:solidFill>
            <a:prstDash val="solid"/>
          </a:ln>
        </p:spPr>
      </p:sp>
      <p:sp>
        <p:nvSpPr>
          <p:cNvPr id="20" name="Text 17"/>
          <p:cNvSpPr/>
          <p:nvPr/>
        </p:nvSpPr>
        <p:spPr>
          <a:xfrm>
            <a:off x="914400" y="301752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2</a:t>
            </a:r>
            <a:endParaRPr lang="en-US" sz="2600" dirty="0"/>
          </a:p>
        </p:txBody>
      </p:sp>
      <p:sp>
        <p:nvSpPr>
          <p:cNvPr id="21" name="Text 18"/>
          <p:cNvSpPr/>
          <p:nvPr/>
        </p:nvSpPr>
        <p:spPr>
          <a:xfrm>
            <a:off x="1737360" y="297180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Round one gets its date</a:t>
            </a:r>
            <a:endParaRPr lang="en-US" sz="1800" dirty="0"/>
          </a:p>
        </p:txBody>
      </p:sp>
      <p:sp>
        <p:nvSpPr>
          <p:cNvPr id="22" name="Text 19"/>
          <p:cNvSpPr/>
          <p:nvPr/>
        </p:nvSpPr>
        <p:spPr>
          <a:xfrm>
            <a:off x="1737360" y="340156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On the real calendar, with the owner the lab named</a:t>
            </a:r>
            <a:endParaRPr lang="en-US" sz="1450" dirty="0"/>
          </a:p>
        </p:txBody>
      </p:sp>
      <p:sp>
        <p:nvSpPr>
          <p:cNvPr id="23" name="Text 20"/>
          <p:cNvSpPr/>
          <p:nvPr/>
        </p:nvSpPr>
        <p:spPr>
          <a:xfrm>
            <a:off x="9326880" y="3154680"/>
            <a:ext cx="1920240" cy="457200"/>
          </a:xfrm>
          <a:prstGeom prst="rect">
            <a:avLst/>
          </a:prstGeom>
          <a:noFill/>
          <a:ln/>
        </p:spPr>
        <p:txBody>
          <a:bodyPr wrap="square" lIns="0" tIns="0" rIns="0" bIns="0" rtlCol="0" anchor="ctr"/>
          <a:lstStyle/>
          <a:p>
            <a:pPr algn="r" indent="0" marL="0">
              <a:buNone/>
            </a:pPr>
            <a:r>
              <a:rPr lang="en-US" sz="1500" b="1" dirty="0">
                <a:solidFill>
                  <a:srgbClr val="2A9D8F"/>
                </a:solidFill>
                <a:latin typeface="Inter" pitchFamily="34" charset="0"/>
                <a:ea typeface="Inter" pitchFamily="34" charset="-122"/>
                <a:cs typeface="Inter" pitchFamily="34" charset="-120"/>
              </a:rPr>
              <a:t>Leadership</a:t>
            </a:r>
            <a:endParaRPr lang="en-US" sz="1500" dirty="0"/>
          </a:p>
        </p:txBody>
      </p:sp>
      <p:sp>
        <p:nvSpPr>
          <p:cNvPr id="24" name="Shape 21"/>
          <p:cNvSpPr/>
          <p:nvPr/>
        </p:nvSpPr>
        <p:spPr>
          <a:xfrm>
            <a:off x="640080" y="4114800"/>
            <a:ext cx="10972800" cy="1097280"/>
          </a:xfrm>
          <a:prstGeom prst="roundRect">
            <a:avLst>
              <a:gd name="adj" fmla="val 7500"/>
            </a:avLst>
          </a:prstGeom>
          <a:solidFill>
            <a:srgbClr val="F7F5F0"/>
          </a:solidFill>
          <a:ln w="12700">
            <a:solidFill>
              <a:srgbClr val="F7F5F0"/>
            </a:solidFill>
            <a:prstDash val="solid"/>
          </a:ln>
        </p:spPr>
      </p:sp>
      <p:sp>
        <p:nvSpPr>
          <p:cNvPr id="25" name="Text 22"/>
          <p:cNvSpPr/>
          <p:nvPr/>
        </p:nvSpPr>
        <p:spPr>
          <a:xfrm>
            <a:off x="914400" y="429768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3</a:t>
            </a:r>
            <a:endParaRPr lang="en-US" sz="2600" dirty="0"/>
          </a:p>
        </p:txBody>
      </p:sp>
      <p:sp>
        <p:nvSpPr>
          <p:cNvPr id="26" name="Text 23"/>
          <p:cNvSpPr/>
          <p:nvPr/>
        </p:nvSpPr>
        <p:spPr>
          <a:xfrm>
            <a:off x="1737360" y="425196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Celebrate the certificate</a:t>
            </a:r>
            <a:endParaRPr lang="en-US" sz="1800" dirty="0"/>
          </a:p>
        </p:txBody>
      </p:sp>
      <p:sp>
        <p:nvSpPr>
          <p:cNvPr id="27" name="Text 24"/>
          <p:cNvSpPr/>
          <p:nvPr/>
        </p:nvSpPr>
        <p:spPr>
          <a:xfrm>
            <a:off x="1737360" y="468172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Track A complete: staff meeting, newsletter, board report</a:t>
            </a:r>
            <a:endParaRPr lang="en-US" sz="1450" dirty="0"/>
          </a:p>
        </p:txBody>
      </p:sp>
      <p:sp>
        <p:nvSpPr>
          <p:cNvPr id="28" name="Text 25"/>
          <p:cNvSpPr/>
          <p:nvPr/>
        </p:nvSpPr>
        <p:spPr>
          <a:xfrm>
            <a:off x="9326880" y="4434840"/>
            <a:ext cx="1920240" cy="457200"/>
          </a:xfrm>
          <a:prstGeom prst="rect">
            <a:avLst/>
          </a:prstGeom>
          <a:noFill/>
          <a:ln/>
        </p:spPr>
        <p:txBody>
          <a:bodyPr wrap="square" lIns="0" tIns="0" rIns="0" bIns="0" rtlCol="0" anchor="ctr"/>
          <a:lstStyle/>
          <a:p>
            <a:pPr algn="r" indent="0" marL="0">
              <a:buNone/>
            </a:pPr>
            <a:r>
              <a:rPr lang="en-US" sz="1500" b="1" dirty="0">
                <a:solidFill>
                  <a:srgbClr val="2A9D8F"/>
                </a:solidFill>
                <a:latin typeface="Inter" pitchFamily="34" charset="0"/>
                <a:ea typeface="Inter" pitchFamily="34" charset="-122"/>
                <a:cs typeface="Inter" pitchFamily="34" charset="-120"/>
              </a:rPr>
              <a:t>Everyone</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34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her favorite norm, her routine date, one worry.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LAST ONE OF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Your favorite norm from today's drafts, in its exact wording</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first sharing round's date and owner</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The one thing you're still honestly worried about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With the ticket in the box, Track A is documented, complete</a:t>
            </a:r>
            <a:endParaRPr lang="en-US" sz="2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8 · AI Culture   |   35</a:t>
            </a:r>
            <a:endParaRPr lang="en-US" sz="900" dirty="0"/>
          </a:p>
        </p:txBody>
      </p:sp>
      <p:sp>
        <p:nvSpPr>
          <p:cNvPr id="5" name="Text 2"/>
          <p:cNvSpPr/>
          <p:nvPr/>
        </p:nvSpPr>
        <p:spPr>
          <a:xfrm>
            <a:off x="822960" y="1371600"/>
            <a:ext cx="10515600" cy="1371600"/>
          </a:xfrm>
          <a:prstGeom prst="rect">
            <a:avLst/>
          </a:prstGeom>
          <a:noFill/>
          <a:ln/>
        </p:spPr>
        <p:txBody>
          <a:bodyPr wrap="square" lIns="0" tIns="0" rIns="0" bIns="0" rtlCol="0" anchor="ctr"/>
          <a:lstStyle/>
          <a:p>
            <a:pPr indent="0" marL="0">
              <a:lnSpc>
                <a:spcPct val="115000"/>
              </a:lnSpc>
              <a:buNone/>
            </a:pPr>
            <a:r>
              <a:rPr lang="en-US" sz="3200" b="1" dirty="0">
                <a:solidFill>
                  <a:srgbClr val="FFFFFF"/>
                </a:solidFill>
                <a:latin typeface="Inter" pitchFamily="34" charset="0"/>
                <a:ea typeface="Inter" pitchFamily="34" charset="-122"/>
                <a:cs typeface="Inter" pitchFamily="34" charset="-120"/>
              </a:rPr>
              <a:t>Eight weeks ago, AI was a headline</a:t>
            </a:r>
            <a:endParaRPr lang="en-US" sz="3200" dirty="0"/>
          </a:p>
          <a:p>
            <a:pPr indent="0" marL="0">
              <a:lnSpc>
                <a:spcPct val="115000"/>
              </a:lnSpc>
              <a:buNone/>
            </a:pPr>
            <a:r>
              <a:rPr lang="en-US" sz="3200" b="1" dirty="0">
                <a:solidFill>
                  <a:srgbClr val="FFFFFF"/>
                </a:solidFill>
                <a:latin typeface="Inter" pitchFamily="34" charset="0"/>
                <a:ea typeface="Inter" pitchFamily="34" charset="-122"/>
                <a:cs typeface="Inter" pitchFamily="34" charset="-120"/>
              </a:rPr>
              <a:t>and a hallway worry.</a:t>
            </a:r>
            <a:endParaRPr lang="en-US" sz="3200" dirty="0"/>
          </a:p>
        </p:txBody>
      </p:sp>
      <p:sp>
        <p:nvSpPr>
          <p:cNvPr id="6" name="Text 3"/>
          <p:cNvSpPr/>
          <p:nvPr/>
        </p:nvSpPr>
        <p:spPr>
          <a:xfrm>
            <a:off x="822960" y="2926080"/>
            <a:ext cx="10332720" cy="100584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Today it's a set of rules everyone knows, a library everyone feeds, hours coming back every week, and a culture with your faculty's own words on the wall.</a:t>
            </a:r>
            <a:endParaRPr lang="en-US" sz="2000" dirty="0"/>
          </a:p>
        </p:txBody>
      </p:sp>
      <p:sp>
        <p:nvSpPr>
          <p:cNvPr id="7" name="Text 4"/>
          <p:cNvSpPr/>
          <p:nvPr/>
        </p:nvSpPr>
        <p:spPr>
          <a:xfrm>
            <a:off x="822960" y="4206240"/>
            <a:ext cx="10332720" cy="64008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Human teaching. Life-changing tools. In that order, permanently.</a:t>
            </a:r>
            <a:endParaRPr lang="en-US" sz="2400" dirty="0"/>
          </a:p>
        </p:txBody>
      </p:sp>
      <p:sp>
        <p:nvSpPr>
          <p:cNvPr id="8" name="Text 5"/>
          <p:cNvSpPr/>
          <p:nvPr/>
        </p:nvSpPr>
        <p:spPr>
          <a:xfrm>
            <a:off x="822960" y="5120640"/>
            <a:ext cx="10332720" cy="457200"/>
          </a:xfrm>
          <a:prstGeom prst="rect">
            <a:avLst/>
          </a:prstGeom>
          <a:noFill/>
          <a:ln/>
        </p:spPr>
        <p:txBody>
          <a:bodyPr wrap="square" lIns="0" tIns="0" rIns="0" bIns="0" rtlCol="0" anchor="ctr"/>
          <a:lstStyle/>
          <a:p>
            <a:pPr indent="0" marL="0">
              <a:buNone/>
            </a:pPr>
            <a:r>
              <a:rPr lang="en-US" sz="1800" b="1" dirty="0">
                <a:solidFill>
                  <a:srgbClr val="F4A825"/>
                </a:solidFill>
                <a:latin typeface="Inter" pitchFamily="34" charset="0"/>
                <a:ea typeface="Inter" pitchFamily="34" charset="-122"/>
                <a:cs typeface="Inter" pitchFamily="34" charset="-120"/>
              </a:rPr>
              <a:t>Congratulations: you're AI-ready, and it's on paper.</a:t>
            </a:r>
            <a:endParaRPr lang="en-US" sz="1800" dirty="0"/>
          </a:p>
        </p:txBody>
      </p:sp>
      <p:sp>
        <p:nvSpPr>
          <p:cNvPr id="9" name="Text 6"/>
          <p:cNvSpPr/>
          <p:nvPr/>
        </p:nvSpPr>
        <p:spPr>
          <a:xfrm>
            <a:off x="822960" y="5623560"/>
            <a:ext cx="10332720" cy="457200"/>
          </a:xfrm>
          <a:prstGeom prst="rect">
            <a:avLst/>
          </a:prstGeom>
          <a:noFill/>
          <a:ln/>
        </p:spPr>
        <p:txBody>
          <a:bodyPr wrap="square" lIns="0" tIns="0" rIns="0" bIns="0" rtlCol="0" anchor="ctr"/>
          <a:lstStyle/>
          <a:p>
            <a:pPr indent="0" marL="0">
              <a:buNone/>
            </a:pPr>
            <a:r>
              <a:rPr lang="en-US" sz="1800" dirty="0">
                <a:solidFill>
                  <a:srgbClr val="FFFFFF"/>
                </a:solidFill>
                <a:latin typeface="Inter" pitchFamily="34" charset="0"/>
                <a:ea typeface="Inter" pitchFamily="34" charset="-122"/>
                <a:cs typeface="Inter" pitchFamily="34" charset="-120"/>
              </a:rPr>
              <a:t>Thanks for all eight hours. Go sign your norms page.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8: Building Your School's AI Culture</dc:title>
  <dc:subject>PptxGenJS Presentation</dc:subject>
  <dc:creator>Adam &amp; Katelyn Spinozzi</dc:creator>
  <cp:lastModifiedBy>Adam &amp; Katelyn Spinozzi</cp:lastModifiedBy>
  <cp:revision>1</cp:revision>
  <dcterms:created xsi:type="dcterms:W3CDTF">2026-08-15T14:13:01Z</dcterms:created>
  <dcterms:modified xsi:type="dcterms:W3CDTF">2026-08-15T14:13:01Z</dcterms:modified>
</cp:coreProperties>
</file>