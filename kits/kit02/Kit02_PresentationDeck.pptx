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This session assumes Kit 1: the One Hard Rule and the review-everything rule are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Gallup-Walton 2025, 2,232 teachers. The gap between weekly users and non-users is the skill this session teaches.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"is prompting a fad until AI gets smarter?": tools get better at guessing intent, but no tool can guess what only you know: your grade, your students, your constraints, your taste.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four stops this hour: the anatomy of a prompt that works, live makeovers of real prompts, learning to iterate instead of settling, and a lab where you build a reusable prompt for a task you do every week. The promise line matters: staff leave with a tool, not notes. Keep this quick.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Straight from Anthropic’s own documentation ("golden rule of clear prompting"). This is the pre-flight check for every prompt staff ever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OpenAI, Google, Anthropic, and state DOE frameworks (NC’s CRAFT, AI for Education’s Five-S) converge on these same elements. If asked "all four every time?": no; but when output disappoints, the missing part is almost always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study: 26 prompt-design principles improved GPT-4 response quality by 57.7% on average (accuracy by 36.4%). Labeled a preprint in the References. Keep it one beat; don’t oversell.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honestly: even a well-iterated, careful prompt can produce a confident factual error that only subject expertise catches. Expertise is the safety net; never lend yours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watch the same request go from beige to usable on our example teacher's screen. Ms. Rivera appears in every kit; she's a composite, not a real teacher, and her screen is the thing to mimic in the lab. Count the four color-coded parts out loud: role in teal, task in navy, context in amber, format in green. Same request, completely different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Kit 1 rule working alongside the formula: zero student names, and none needed. The situation, not the child.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saves the most weekly time. Kit 3 goes deep on differentiation; today it’s a formula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escape hatch is the crowd favorite: one line turns a guessing machine into an interviewer. Nothing communicates taste like a pasted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room call each one before you confirm with the answer line at the bottom. Brisk; 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Researchers call these "prompt patterns" (White et al., 2023): documented, reusable solutions. We call it the staff prompt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formalizes Kit 1’s "push back twice" into a system. Content, then voice, then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Knowing when to quit a thread is itself a skill: one round of deciding, not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authors’ shared take from the script: voice matters most in personal communication with parents and students; academic language has its place, but empathetic personal messages should be in the teacher’s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The script’s worked example under slide 19 is a real reusable prompt from a working carpentry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prompts usually lack context; nudge with "what would a substitute need to know to do this right?" Then read the real carpentry CNC table-leg prompt from the script as the worked example (three stacked roles, one task, SVG-for-CNC format).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one round instead of three, then straight to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the staff prompt doc link. Watching entries appear live is the session’s proudest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person reading their before AND after lets the room hear the delta. Keep each voice to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plainly. The asset is the library plus the habit, not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handout’s spine too. Read it as a rhythm, not a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Steady, honest close to the teaching. The next two slides are commitments and what’s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the visible nod, same as Kit 1. Agreement out loud is what makes it a norm.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Completing all eight kits earns the AI-Ready Educator Certificate of Completion; check with your district or state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2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Basics: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Getting Useful Results Every Time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a reusable prompt you built yourself.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gap: same tools as the weekly savers. The skill is what differs.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THIS HOUR EXISTS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tools. Very different results.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in 10</a:t>
            </a:r>
            <a:endParaRPr lang="en-US" sz="5800" dirty="0"/>
          </a:p>
        </p:txBody>
      </p:sp>
      <p:sp>
        <p:nvSpPr>
          <p:cNvPr id="16" name="Text 13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use AI weekly,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saving ~5.9 hours a week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Fdn., 2025)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in 10</a:t>
            </a:r>
            <a:endParaRPr lang="en-US" sz="5800" dirty="0"/>
          </a:p>
        </p:txBody>
      </p:sp>
      <p:sp>
        <p:nvSpPr>
          <p:cNvPr id="19" name="Text 16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use AI at all,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tools, same access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survey)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isn’t the technology. It’s a skill: knowing how to ask.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lesson learned: vague in, beige out. The model only has what she gives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FLASHBACK: PREDICTION MACHINES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“just ask” gets beige answers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predicts the most likely continuation of your words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vague prompt → the most average answer on the internet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fractions” gets you the world’s most generic fractions lesson. Not wrong. Beige.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023360"/>
            <a:ext cx="10972800" cy="1645920"/>
          </a:xfrm>
          <a:prstGeom prst="roundRect">
            <a:avLst>
              <a:gd name="adj" fmla="val 5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25196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fix isn’t magic words. The fix is information: the model can only use what you give it.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goal: leave owning one reusable prompt for a weekly task.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Anatomy of a prompt that works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makeovers: real prompts, fixed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don’t settle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your reusable prompt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owning a reusable prompt for a task you do every week. Not theory. Inventory.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pre-flight: would a colleague with zero context get it?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TEST PREDICTS EVERYTHING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colleague test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your prompt to a colleague with zero context.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they’d be confused, the model will be too.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 the AI like a brilliant new hire on day one: enormously capable, knows nothing about your classroom. Write for that new hire.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formula, from now on: Role, Task, Context, Format.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EVERY OFFICIAL GUIDE CONVERGES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parts, every time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91440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should the AI be?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1440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teacher.”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3796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53796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exactly do you want? One clear verb.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3796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“Draft a 45-minute intro lesson…”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1440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would a substitute need to know?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91440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“They confuse numerator and denominator…”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3796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653796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should the output look like?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653796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table with timings + 3-question exit check.”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Format. Everything else today is practice.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expectation, calibrated: structure buys measurably better output.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MEASURED, NOT FOLKLORE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in, specific out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+50%</a:t>
            </a:r>
            <a:endParaRPr lang="en-US" sz="7200" dirty="0"/>
          </a:p>
        </p:txBody>
      </p:sp>
      <p:sp>
        <p:nvSpPr>
          <p:cNvPr id="16" name="Text 13"/>
          <p:cNvSpPr/>
          <p:nvPr/>
        </p:nvSpPr>
        <p:spPr>
          <a:xfrm>
            <a:off x="1280160" y="33832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Researchers testing structured, principled prompts against casual ones measured response-quality improvements of more than half on the strongest models. (Bsharat et al., 2024, preprint)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is just a reliable way to be specific.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caveat, permanent: no prompt turns off hallucination. She still verifies.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LIMITS, BEFORE THE MAKEOVERS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thing prompts can’t fix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prompt turns off hallucination. A beautifully structured prompt can still invent a fact, with total confidence.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improves quality and fit; it does not replace verification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Kit 1 rule rides along forever: anything factual gets checked before you rely on it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#1 · PLANNING · ON MS. RIVERA'S SCREEN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lesson plan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298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  </a:t>
            </a:r>
            <a:pPr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fractions.”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1783080"/>
            <a:ext cx="109728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9050">
            <a:solidFill>
              <a:srgbClr val="DCE3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783080"/>
            <a:ext cx="10972800" cy="384048"/>
          </a:xfrm>
          <a:prstGeom prst="roundRect">
            <a:avLst>
              <a:gd name="adj" fmla="val 2381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8680" y="1901952"/>
            <a:ext cx="146304" cy="146304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15568" y="1901952"/>
            <a:ext cx="146304" cy="146304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62456" y="1901952"/>
            <a:ext cx="146304" cy="14630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783080" y="178308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chat tool (any of them) · Ms. Rivera, our running example teacher (a composite, not a real person)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554480" y="2377440"/>
            <a:ext cx="9646920" cy="2148840"/>
          </a:xfrm>
          <a:prstGeom prst="roundRect">
            <a:avLst>
              <a:gd name="adj" fmla="val 510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783080" y="2514600"/>
            <a:ext cx="9189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a 45-minute introductory lesson on equivalent fractions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B079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class that has mastered basic fraction notation but confuses numerator and denominator when simplifying. Include a 5-minute warm-up, a hands-on activity using paper folding, and a 3-question exit check.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 as a table with timings.”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55448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AI: drafting the table…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456432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56432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72784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B07914"/>
          </a:solidFill>
          <a:ln w="12700">
            <a:solidFill>
              <a:srgbClr val="B0791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2784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089136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089136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note-home prompt: the situation, never the child. Kit 1 rides along.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#2 · COMMUNICATION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family note (no names needed)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note to parents about the field trip.”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0080" y="301752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14400" y="34747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warm, organized elementary teacher. Write a note to families about an upcoming museum field trip. Context: departure 8:30 a.m., return by 2 p.m., students need a bagged lunch and a signed permission slip by Friday. Reading level: busy families skimming on a phone. Format: under 150 words, three action items as a bulleted list.”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leveling spec: grade level, keep key ideas, sentence limits, vocab box.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#3 · DIFFERENTIATION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leveled text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this easier.”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0080" y="301752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14400" y="347472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at a 3rd grade reading level. Keep every key idea and the section headings. Sentence length under 12 words where possible. Then add a 5-word vocabulary box with student-friendly definitions.”  [paste your passage]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between “easier” and a specification is the difference between hoping and knowing.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spice rack: constraints, audience, an example, 'ask me questions first.'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INGREDIENTS, BIG UPGRADES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spice rack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Constraints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91440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 150 words” · “exactly five questions” · “nothing that needs a copier”</a:t>
            </a:r>
            <a:endParaRPr lang="en-US" sz="1550" dirty="0"/>
          </a:p>
        </p:txBody>
      </p:sp>
      <p:sp>
        <p:nvSpPr>
          <p:cNvPr id="17" name="Shape 14"/>
          <p:cNvSpPr/>
          <p:nvPr/>
        </p:nvSpPr>
        <p:spPr>
          <a:xfrm>
            <a:off x="626364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3796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53796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“For students who’ve never seen this word” · “for families skimming on a phone”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64008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example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440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one sample in the style you want: “match this style”</a:t>
            </a:r>
            <a:endParaRPr lang="en-US" sz="1550" dirty="0"/>
          </a:p>
        </p:txBody>
      </p:sp>
      <p:sp>
        <p:nvSpPr>
          <p:cNvPr id="23" name="Shape 20"/>
          <p:cNvSpPr/>
          <p:nvPr/>
        </p:nvSpPr>
        <p:spPr>
          <a:xfrm>
            <a:off x="626364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3796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Escape hatch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“Ask me up to three clarifying questions before you start.”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diagnosis eye: when output disappoints, context is usually missing.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IT OUT: WHAT’S MISSING?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Diagnose the prompt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371600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3716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1463040" y="1371600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37360" y="1417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quiz about the Revolution.”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640080" y="2487168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487168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600" dirty="0"/>
          </a:p>
        </p:txBody>
      </p:sp>
      <p:sp>
        <p:nvSpPr>
          <p:cNvPr id="20" name="Shape 17"/>
          <p:cNvSpPr/>
          <p:nvPr/>
        </p:nvSpPr>
        <p:spPr>
          <a:xfrm>
            <a:off x="1463040" y="2487168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737360" y="2532888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“Help me with my struggling readers.”</a:t>
            </a:r>
            <a:endParaRPr lang="en-US" sz="1550" dirty="0"/>
          </a:p>
        </p:txBody>
      </p:sp>
      <p:sp>
        <p:nvSpPr>
          <p:cNvPr id="22" name="Shape 19"/>
          <p:cNvSpPr/>
          <p:nvPr/>
        </p:nvSpPr>
        <p:spPr>
          <a:xfrm>
            <a:off x="640080" y="3602736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3602736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1463040" y="3602736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737360" y="3648456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“Photosynthesis.”</a:t>
            </a:r>
            <a:endParaRPr lang="en-US" sz="1550" dirty="0"/>
          </a:p>
        </p:txBody>
      </p:sp>
      <p:sp>
        <p:nvSpPr>
          <p:cNvPr id="26" name="Shape 23"/>
          <p:cNvSpPr/>
          <p:nvPr/>
        </p:nvSpPr>
        <p:spPr>
          <a:xfrm>
            <a:off x="640080" y="4718304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4718304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600" dirty="0"/>
          </a:p>
        </p:txBody>
      </p:sp>
      <p:sp>
        <p:nvSpPr>
          <p:cNvPr id="28" name="Shape 25"/>
          <p:cNvSpPr/>
          <p:nvPr/>
        </p:nvSpPr>
        <p:spPr>
          <a:xfrm>
            <a:off x="1463040" y="4718304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37360" y="476402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middle school science teacher. Create a 10-question review on photosynthesis for 7th graders who confuse it with respiration. Mix multiple choice and short answer. Include an answer key.”</a:t>
            </a:r>
            <a:endParaRPr lang="en-US" sz="1550" dirty="0"/>
          </a:p>
        </p:txBody>
      </p:sp>
      <p:sp>
        <p:nvSpPr>
          <p:cNvPr id="30" name="Text 27"/>
          <p:cNvSpPr/>
          <p:nvPr/>
        </p:nvSpPr>
        <p:spPr>
          <a:xfrm>
            <a:off x="640080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Answers: A missing context (grade? focus?) · B missing format (what should "help" look like?) · C missing the task itself · D has all four parts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template: blanks for topic, grade, count, format. Twenty seconds to reuse.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WRITES FROM SCRATCH AT 7 A.M.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beat memory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2286000"/>
          </a:xfrm>
          <a:prstGeom prst="roundRect">
            <a:avLst>
              <a:gd name="adj" fmla="val 36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82880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[grade/subject] teacher. Create a [number]-question review on [topic] for students who [what they struggle with]. Format: [format]. Include an answer key.”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40080" y="4114800"/>
            <a:ext cx="109087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blanks, twenty seconds, done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lab builds your first 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prompt doc is where they live: nobody solves the same problem twice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iteration rounds, in order: content, then voice, then details.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MINDSET SHIFT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164592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response is not the answer.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a proposal.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rounds, in order: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22960" y="3977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Content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017520" y="397764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“Question 4 is too hard for the start of the unit.”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469087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Voice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017520" y="4690872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“Warmer. I’d never say ‘furthermore.’”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22960" y="54041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Details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3017520" y="5404104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“Shorten by a third; number the directions.”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judgment call: 80% right, iterate. Wrong thing entirely, fresh prompt.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JUDGMENT CALL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or start over?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 when…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draft is ~80% right. Fix content, then voice, then details. Two or three rounds, done.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over when…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fundamentally the wrong thing. Don’t argue with it for ten minutes; open a fresh prompt and fold what you learned into the context.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time matters more than the tool’s feelings. It doesn’t have any.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voice check: read it aloud; if it isn't her, she says 'warmer' or 'blunter.'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ROUND IS ALWAYS THE VOICE ROUND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your voice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house style: smooth, agreeable, a little beige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everything you send home sounds like everything everyone else sends home, families notice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aloud. If it doesn’t sound like you, say so: “Blunter.” “Warmer.”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voice is a feature. Keep it.</a:t>
            </a:r>
            <a:endParaRPr lang="en-US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 pick: the Friday newsletter. Weekly task, real payoff.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a tool, not a toy.</a:t>
            </a:r>
            <a:endParaRPr lang="en-US" sz="4200" dirty="0"/>
          </a:p>
        </p:txBody>
      </p:sp>
      <p:sp>
        <p:nvSpPr>
          <p:cNvPr id="14" name="Text 11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task you do every week: the Friday newsletter, the weekly quiz, leveling a reading, station directions.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information; we practice like we play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all four parts; be generous with context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You’ll iterate three rounds, then save the template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her screen: the four-part draft, run once, read like an editor.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the formula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Role: who should it be?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Task: one clear verb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Context: what would a substitute need to know?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Format: exactly what the output looks like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it. Then read the draft like an editor, not a fan.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three rounds, live: fixed content, warmed the voice, tightened details.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 of iteration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868680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68680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What’s wrong or missing? Fix it first.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4636008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4636008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it sound like you? Read it aloud.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7" name="Text 24"/>
          <p:cNvSpPr/>
          <p:nvPr/>
        </p:nvSpPr>
        <p:spPr>
          <a:xfrm>
            <a:off x="8403336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403336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Length, level, layout: make them exact.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back like you would with a capable student teacher: specific, kind, unafraid.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template, saved: her name, one line on what it's for, in the staff doc.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5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it. Save it. Share it.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63040"/>
            <a:ext cx="109087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Replace the specifics with blanks: [topic], [grade], [number of questions]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final template into the staff prompt doc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your name and one line: what it’s for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393192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just wrote the first entry in your professional prompt library. Kit 18 grows it into a whole collection.</a:t>
            </a:r>
            <a:endParaRPr lang="en-US" sz="2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before and after, read aloud: the delta is the lesson.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and after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us your before and your after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one change made the biggest difference?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catch the AI being wrong mid-lab? That story goes first.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library: one entry today. It compounds from here.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MINUTES AGO THIS DIDN’T EXIST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went from asking to owning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teachers saving six hours a week were never typing faster.
</a:t>
            </a:r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own a small library of prompts that fit their classroom, plus the reflex to push back until the output earns their name on it. As of today, so do you.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one-slide system: formula, colleague test, three rounds, template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SESSION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on one slide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822960" y="1783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type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3840480" y="17830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Format, then the colleague test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2296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it answers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3840480" y="28346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rounds: content, voice, details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822960" y="3886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works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3840480" y="3886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it, save it, share it in the staff doc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822960" y="4937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3840480" y="49377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PII in. Nothing unreviewed out. Verify anything factual.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limits list: can't check facts, know her kids, or pick what matters.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NOBODY OVERSELLS IT IN THE HALLWAY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prompting cannot do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check facts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96112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still verify. Every time.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know your students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4663440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Personalizing happens after the draft comes back.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decide what’s worth teaching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430768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was never a formatting problem.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prompts buy you time and quality. Judgment stays yours.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new norm: working prompts go in the staff doc. Nobody solves twice.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GAVE US THREE; TODAY ADDS ONE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14630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 #4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prompt works, it goes in the staff doc.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at this school solves the same problem twice.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that?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next kit: the formula starts differentiating for her whole roster.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OF 8 · TRACK 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8" name="Shape 25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3, Planning &amp; Differentiation. </a:t>
            </a:r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reusable prompt comes with you; the formula starts doing heavy lifting: leveled texts, scaffolds, materials for the range of learners actually in your room.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48 hours: run the template for real, one colleague test, one post.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your reusable prompt for real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actual task it was built for; iterate once; use the result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min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colleague test once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the missing context before you hit enter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to the staff doc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template, your name, one line about what it’s for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exit ticket: one technique taken, one task still wanted.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prompting technique you’re taking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task you still want prompt help with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thing you’ll try in the next 48 hours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answers steer the PLC follow-ups. Be honest.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 prompt is just clear thinking,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down.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already do the hard part every day.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thinking. Delegate the typing.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2: Prompting Basics: Getting Useful Results Every Time</dc:title>
  <dc:subject>PptxGenJS Presentation</dc:subject>
  <dc:creator>Adam &amp; Katelyn Spinozzi</dc:creator>
  <cp:lastModifiedBy>Adam &amp; Katelyn Spinozzi</cp:lastModifiedBy>
  <cp:revision>1</cp:revision>
  <dcterms:created xsi:type="dcterms:W3CDTF">2026-08-10T11:52:27Z</dcterms:created>
  <dcterms:modified xsi:type="dcterms:W3CDTF">2026-08-10T11:52:27Z</dcterms:modified>
</cp:coreProperties>
</file>