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 1: the One Hard Rule and the review-everything rule are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Gallup-Walton 2025, 2,232 teachers. The gap between weekly users and non-users is the skill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prompting a fad until AI gets smarter?": tools get better at guessing intent, but no tool can guess what only you know: your grade, your students, your constraints, your taste.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stops this hour: the anatomy of a prompt that works, live makeovers of real prompts, learning to iterate instead of settling, and a lab where you build a reusable prompt for a task you do every week. The promise line matters: staff leave with a tool, not notes.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Anthropic’s own documentation ("golden rule of clear prompting"). This is the pre-flight check for every prompt staff ever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Google, Anthropic, and state DOE frameworks (NC’s CRAFT, AI for Education’s Five-S) converge on these same elements. If asked "all four every time?": no; but when output disappoints, the missing part is almost always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study: 26 prompt-design principles improved GPT-4 response quality by 57.7% on average (accuracy by 36.4%) on the authors' own ATLAS benchmark. Say the scope out loud: this is a benchmark result on one model family, not a measured effect for ordinary classroom prompting. Labeled a preprint in the References. Keep it one beat; don't oversell.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honestly: even a well-iterated, careful prompt can produce a confident factual error that only subject expertise catches. Expertise is the safety net; never lend yours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the same request go from beige to usable on our example teacher's screen. Ms. Rivera appears in every kit; she's a composite, not a real teacher, and her screen is the thing to mimic in the lab. Count the four color-coded parts out loud: role in teal, task in navy, context in amber, format in green. Same request, completely different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screen, same four colors, a completely different job. Point out the Kit 1 rule working alongside the formula: zero student names, and none needed. The situation, not the child. Note the context block is the longest part again; that is the pattern all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leveling spec, part by part: grade level named, key ideas and headings kept, sentence length capped, vocabulary box specified. That is the whole difference between "easier" and a specification. This one saves the most weekly time. Kit 3 goes deep on differentiation; today it’s a formula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escape hatch is the crowd favorite: one line turns a guessing machine into an interviewer. Nothing communicates taste like a pasted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Brisk;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call these "prompt patterns" (White et al., 2023): documented, reusable solutions. We call it the school prompt library, on the member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formalizes Kit 1’s "push back twice" into a system. Content, then voice, then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when to quit a thread is itself a skill: one round of deciding, not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authors’ shared take from the script: voice matters most in personal communication with parents and students; academic language has its place, but empathetic personal messages should be in the teacher’s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ONE artifact across all three steps: her weekly review-questions prompt, first draft to saved template. Every step is two slides: the how-to, then her actual screen. Leave her screen up while the room works; anyone lost can copy her structure and still finish. The script’s worked example under slide 20 is a real reusable prompt from a working carpentry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write your prompt with all four parts, and be generous with context. Circulate. Weak prompts usually lack context; nudge with "what would a substitute need to know to do this right?" The next slide is Ms. Rivera's actual screen at this step; leave it up while the room drafts.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one artifact Ms. Rivera carries through all three lab steps, her weekly review questions, on her actual screen. Her first instinct is at the top; what she actually typed is below it, all four parts color-coded. Anyone stuck copies this shape with their own task. Then read the real carpentry CNC table-leg prompt from the script as the worked example (three stacked roles, one task, SVG-for-CNC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three rounds in order. Content, then voice, then details. The order matters: fixing wording before content wastes a round. The next slide shows what Ms. Rivera typed in each round; leave it up while the room iterates.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three pushback lines, in order, exactly as she typed them into the same thread. Nothing clever; specific, kind, unafraid. 45-min cut: one round instead of three, then straight to step 3. Lost participants copy her rhythm with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turn what worked into a template. Replace the specifics with blanks, then save it to the school prompt library with a title, subject, and grades; your name rides along. It asks you to confirm there are no student names in it, which is Kit 1's rule still with us. The next slide is her saved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same prompt you watched her draft and iterate, with the weekly specifics swapped for blanks and saved under her name. The four colors survive the swap, which is the point: the structure is the reusable part. Project the school prompt library on the member site; watching entries appear live is the session’s proudest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reading their before AND after lets the room hear the delta. Keep each voice to a minute. If the room is shy, read Ms. Rivera's delta yourself: her step 1 draft against her step 3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the library plus the habit,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handout’s spine too. Read it as a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Steady, honest close to the teaching. The next two slides are commitments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same as Kit 1.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2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Prompting Basics: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Getting Useful Results Every Time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reusable prompt you built yourself.</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same tools as the weekly savers. The skill is what differs.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HOUR EXISTS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Same tools. Very different results.</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~3 in 10</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teachers use AI weekly,</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saving ~5.9 hours a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4 in 10</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don’t use AI at all,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tools, same access</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difference isn’t the technology. It’s a skill: knowing how to ask.</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lesson learned: vague in, beige out. The model only has what she gives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FLASHBACK: PREDICTION MACHINES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Why “just ask” gets beige answers</a:t>
            </a:r>
            <a:endParaRPr lang="en-US" sz="28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model predicts the most likely continuation of your words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vague prompt → the most average answer on the internet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a lesson on fractions” gets you the world’s most generic fractions lesson. Not wrong. Beige.</a:t>
            </a:r>
            <a:endParaRPr lang="en-US" sz="2100" dirty="0"/>
          </a:p>
        </p:txBody>
      </p:sp>
      <p:sp>
        <p:nvSpPr>
          <p:cNvPr id="15" name="Shape 12"/>
          <p:cNvSpPr/>
          <p:nvPr/>
        </p:nvSpPr>
        <p:spPr>
          <a:xfrm>
            <a:off x="640080" y="4023360"/>
            <a:ext cx="10972800" cy="1645920"/>
          </a:xfrm>
          <a:prstGeom prst="roundRect">
            <a:avLst>
              <a:gd name="adj" fmla="val 5000"/>
            </a:avLst>
          </a:prstGeom>
          <a:solidFill>
            <a:srgbClr val="EAF5F3"/>
          </a:solidFill>
          <a:ln w="12700">
            <a:solidFill>
              <a:srgbClr val="EAF5F3"/>
            </a:solidFill>
            <a:prstDash val="solid"/>
          </a:ln>
        </p:spPr>
      </p:sp>
      <p:sp>
        <p:nvSpPr>
          <p:cNvPr id="16" name="Text 13"/>
          <p:cNvSpPr/>
          <p:nvPr/>
        </p:nvSpPr>
        <p:spPr>
          <a:xfrm>
            <a:off x="960120" y="4251960"/>
            <a:ext cx="10332720" cy="11887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The fix isn’t magic words. The fix is information: the model can only use what you give it.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leave owning one reusable prompt for a weekly task.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Anatomy of a prompt that works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Live makeovers: real prompts, fixed</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Iterate, don’t settle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your reusable prompt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owning a reusable prompt for a task you do every week. Not theory.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pre-flight: would a colleague with zero context get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TEST PREDICTS EVERYTHING</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colleague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Show your prompt to a colleague with zero context.</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If they’d be confused, the model will be too.</a:t>
            </a:r>
            <a:endParaRPr lang="en-US" sz="26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Treat the AI like a brilliant new hire on day one: enormously capable, knows nothing about your classroom. Write for that new hire.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formula, from now on: Role, Task, Context, Format.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EVERY OFFICIAL GUIDE CONVERGES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parts, every time</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Role</a:t>
            </a:r>
            <a:endParaRPr lang="en-US" sz="2200" dirty="0"/>
          </a:p>
        </p:txBody>
      </p:sp>
      <p:sp>
        <p:nvSpPr>
          <p:cNvPr id="16" name="Text 13"/>
          <p:cNvSpPr/>
          <p:nvPr/>
        </p:nvSpPr>
        <p:spPr>
          <a:xfrm>
            <a:off x="91440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Who should the AI be?</a:t>
            </a:r>
            <a:endParaRPr lang="en-US" sz="1600" dirty="0"/>
          </a:p>
        </p:txBody>
      </p:sp>
      <p:sp>
        <p:nvSpPr>
          <p:cNvPr id="17" name="Text 14"/>
          <p:cNvSpPr/>
          <p:nvPr/>
        </p:nvSpPr>
        <p:spPr>
          <a:xfrm>
            <a:off x="91440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“You are an experienced 4th grade teacher.”</a:t>
            </a:r>
            <a:endParaRPr lang="en-US" sz="1450" dirty="0"/>
          </a:p>
        </p:txBody>
      </p:sp>
      <p:sp>
        <p:nvSpPr>
          <p:cNvPr id="18" name="Shape 15"/>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Task</a:t>
            </a:r>
            <a:endParaRPr lang="en-US" sz="2200" dirty="0"/>
          </a:p>
        </p:txBody>
      </p:sp>
      <p:sp>
        <p:nvSpPr>
          <p:cNvPr id="20" name="Text 17"/>
          <p:cNvSpPr/>
          <p:nvPr/>
        </p:nvSpPr>
        <p:spPr>
          <a:xfrm>
            <a:off x="653796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exactly do you want? One clear verb.</a:t>
            </a:r>
            <a:endParaRPr lang="en-US" sz="1600" dirty="0"/>
          </a:p>
        </p:txBody>
      </p:sp>
      <p:sp>
        <p:nvSpPr>
          <p:cNvPr id="21" name="Text 18"/>
          <p:cNvSpPr/>
          <p:nvPr/>
        </p:nvSpPr>
        <p:spPr>
          <a:xfrm>
            <a:off x="653796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“Draft a 45-minute intro lesson…”</a:t>
            </a:r>
            <a:endParaRPr lang="en-US" sz="1450" dirty="0"/>
          </a:p>
        </p:txBody>
      </p:sp>
      <p:sp>
        <p:nvSpPr>
          <p:cNvPr id="22" name="Shape 19"/>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Context</a:t>
            </a:r>
            <a:endParaRPr lang="en-US" sz="2200" dirty="0"/>
          </a:p>
        </p:txBody>
      </p:sp>
      <p:sp>
        <p:nvSpPr>
          <p:cNvPr id="24" name="Text 21"/>
          <p:cNvSpPr/>
          <p:nvPr/>
        </p:nvSpPr>
        <p:spPr>
          <a:xfrm>
            <a:off x="91440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would a substitute need to know?</a:t>
            </a:r>
            <a:endParaRPr lang="en-US" sz="1600" dirty="0"/>
          </a:p>
        </p:txBody>
      </p:sp>
      <p:sp>
        <p:nvSpPr>
          <p:cNvPr id="25" name="Text 22"/>
          <p:cNvSpPr/>
          <p:nvPr/>
        </p:nvSpPr>
        <p:spPr>
          <a:xfrm>
            <a:off x="91440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“They confuse numerator and denominator…”</a:t>
            </a:r>
            <a:endParaRPr lang="en-US" sz="1450" dirty="0"/>
          </a:p>
        </p:txBody>
      </p:sp>
      <p:sp>
        <p:nvSpPr>
          <p:cNvPr id="26" name="Shape 2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Format</a:t>
            </a:r>
            <a:endParaRPr lang="en-US" sz="2200" dirty="0"/>
          </a:p>
        </p:txBody>
      </p:sp>
      <p:sp>
        <p:nvSpPr>
          <p:cNvPr id="28" name="Text 25"/>
          <p:cNvSpPr/>
          <p:nvPr/>
        </p:nvSpPr>
        <p:spPr>
          <a:xfrm>
            <a:off x="653796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should the output look like?</a:t>
            </a:r>
            <a:endParaRPr lang="en-US" sz="1600" dirty="0"/>
          </a:p>
        </p:txBody>
      </p:sp>
      <p:sp>
        <p:nvSpPr>
          <p:cNvPr id="29" name="Text 26"/>
          <p:cNvSpPr/>
          <p:nvPr/>
        </p:nvSpPr>
        <p:spPr>
          <a:xfrm>
            <a:off x="653796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“A table with timings + 3-question exit check.”</a:t>
            </a:r>
            <a:endParaRPr lang="en-US" sz="1450" dirty="0"/>
          </a:p>
        </p:txBody>
      </p:sp>
      <p:sp>
        <p:nvSpPr>
          <p:cNvPr id="30" name="Text 2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Role · Task · Context · Format. Everything else today is practice.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calibrated: structure buys measurably better output.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MEASURED,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Specific in, specific out</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+50%</a:t>
            </a:r>
            <a:endParaRPr lang="en-US" sz="7200" dirty="0"/>
          </a:p>
        </p:txBody>
      </p:sp>
      <p:sp>
        <p:nvSpPr>
          <p:cNvPr id="16" name="Text 13"/>
          <p:cNvSpPr/>
          <p:nvPr/>
        </p:nvSpPr>
        <p:spPr>
          <a:xfrm>
            <a:off x="1280160" y="3337560"/>
            <a:ext cx="9601200" cy="11430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On the benchmark its authors built, a set of 26 prompt-design principles raised GPT-4 response-quality scores by about 58%. One benchmark, not a universal rule, but the direction is clear. (Bsharat et al., 2024, preprint)</a:t>
            </a:r>
            <a:endParaRPr lang="en-US" sz="1500" dirty="0"/>
          </a:p>
        </p:txBody>
      </p:sp>
      <p:sp>
        <p:nvSpPr>
          <p:cNvPr id="17" name="Text 14"/>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The formula is just a reliable way to be specific.</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caveat, permanent: no prompt turns off hallucination. She still verifies.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HONEST LIMITS, BEFORE THE MAKEOVERS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one thing prompts can’t fix</a:t>
            </a:r>
            <a:endParaRPr lang="en-US" sz="28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No prompt turns off hallucination. A beautifully structured prompt can still invent a fact, with total confidence.</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Prompting improves quality and fit; it does not replace verification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Kit 1 rule rides along forever: anything factual gets checked before you rely on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PLANNING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lesson plan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lesson on fractions.”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Draft a 45-minute introductory lesson on equivalent fractions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class that has mastered basic fraction notation but confuses numerator and denominator when simplifying. Include a 5-minute warm-up, a hands-on activity using paper folding, and a 3-question exit check.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as a table with timings.”</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AI: drafting the table…</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COMMUNICATION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family note (no names needed)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note to parents about the field trip.”</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 warm, organized elementary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Write a note to families about an upcoming museum field trip.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Context: departure 8:30 a.m., return by 2 p.m., students need a bagged lunch and a signed permission slip by Friday. Reading level: busy families skimming on a phone.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under 150 words, three action items as a bulleted list.”</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Zero student names, and none needed. Her note-home prompt is about the situation, never the child.</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DIFFERENTIATION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leveled text</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Rewrite this passage at a 3rd grade reading level.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Keep every key idea and the section headings; this goes to the readers in my room who are a year below grade level.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Sentence length under 12 words where possible. Then add a 5-word vocabulary box with student-friendly definitions.”  [paste your passage]</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The difference between “easier” and a specification is the difference between hoping and knowing.</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spice rack: constraints, audience, an example, 'ask me questions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INGREDIENTS, BIG UPGRADES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spice rack</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Constraints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“Under 150 words” · “exactly five questions” · “nothing that needs a copier”</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Audience</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 students who’ve never seen this word” · “for families skimming on a phone”</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An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Paste one sample in the style you want: “match this style”</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Escape hatch</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“Ask me up to three clarifying questions before you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when output disappoints, context is usually missing.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WHAT’S MISSING?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prompt</a:t>
            </a:r>
            <a:endParaRPr lang="en-US" sz="3200" dirty="0"/>
          </a:p>
        </p:txBody>
      </p:sp>
      <p:sp>
        <p:nvSpPr>
          <p:cNvPr id="14" name="Shape 11"/>
          <p:cNvSpPr/>
          <p:nvPr/>
        </p:nvSpPr>
        <p:spPr>
          <a:xfrm>
            <a:off x="640080" y="1371600"/>
            <a:ext cx="685800" cy="91440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371600"/>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371600"/>
            <a:ext cx="10149840" cy="914400"/>
          </a:xfrm>
          <a:prstGeom prst="roundRect">
            <a:avLst>
              <a:gd name="adj" fmla="val 9000"/>
            </a:avLst>
          </a:prstGeom>
          <a:solidFill>
            <a:srgbClr val="F7F5F0"/>
          </a:solidFill>
          <a:ln w="12700">
            <a:solidFill>
              <a:srgbClr val="F7F5F0"/>
            </a:solidFill>
            <a:prstDash val="solid"/>
          </a:ln>
        </p:spPr>
      </p:sp>
      <p:sp>
        <p:nvSpPr>
          <p:cNvPr id="17" name="Text 14"/>
          <p:cNvSpPr/>
          <p:nvPr/>
        </p:nvSpPr>
        <p:spPr>
          <a:xfrm>
            <a:off x="1737360" y="1417320"/>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“Write a quiz about the Revolution.”</a:t>
            </a:r>
            <a:endParaRPr lang="en-US" sz="1550" dirty="0"/>
          </a:p>
        </p:txBody>
      </p:sp>
      <p:sp>
        <p:nvSpPr>
          <p:cNvPr id="18" name="Shape 15"/>
          <p:cNvSpPr/>
          <p:nvPr/>
        </p:nvSpPr>
        <p:spPr>
          <a:xfrm>
            <a:off x="640080" y="2487168"/>
            <a:ext cx="685800" cy="91440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87168"/>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87168"/>
            <a:ext cx="1014984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1737360" y="2532888"/>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“Help me with my struggling readers.”</a:t>
            </a:r>
            <a:endParaRPr lang="en-US" sz="1550" dirty="0"/>
          </a:p>
        </p:txBody>
      </p:sp>
      <p:sp>
        <p:nvSpPr>
          <p:cNvPr id="22" name="Shape 19"/>
          <p:cNvSpPr/>
          <p:nvPr/>
        </p:nvSpPr>
        <p:spPr>
          <a:xfrm>
            <a:off x="640080" y="3602736"/>
            <a:ext cx="685800" cy="91440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602736"/>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602736"/>
            <a:ext cx="10149840" cy="914400"/>
          </a:xfrm>
          <a:prstGeom prst="roundRect">
            <a:avLst>
              <a:gd name="adj" fmla="val 9000"/>
            </a:avLst>
          </a:prstGeom>
          <a:solidFill>
            <a:srgbClr val="F7F5F0"/>
          </a:solidFill>
          <a:ln w="12700">
            <a:solidFill>
              <a:srgbClr val="F7F5F0"/>
            </a:solidFill>
            <a:prstDash val="solid"/>
          </a:ln>
        </p:spPr>
      </p:sp>
      <p:sp>
        <p:nvSpPr>
          <p:cNvPr id="25" name="Text 22"/>
          <p:cNvSpPr/>
          <p:nvPr/>
        </p:nvSpPr>
        <p:spPr>
          <a:xfrm>
            <a:off x="1737360" y="3648456"/>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“Photosynthesis.”</a:t>
            </a:r>
            <a:endParaRPr lang="en-US" sz="1550" dirty="0"/>
          </a:p>
        </p:txBody>
      </p:sp>
      <p:sp>
        <p:nvSpPr>
          <p:cNvPr id="26" name="Shape 23"/>
          <p:cNvSpPr/>
          <p:nvPr/>
        </p:nvSpPr>
        <p:spPr>
          <a:xfrm>
            <a:off x="640080" y="4718304"/>
            <a:ext cx="685800" cy="91440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718304"/>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718304"/>
            <a:ext cx="10149840" cy="914400"/>
          </a:xfrm>
          <a:prstGeom prst="roundRect">
            <a:avLst>
              <a:gd name="adj" fmla="val 9000"/>
            </a:avLst>
          </a:prstGeom>
          <a:solidFill>
            <a:srgbClr val="F7F5F0"/>
          </a:solidFill>
          <a:ln w="12700">
            <a:solidFill>
              <a:srgbClr val="F7F5F0"/>
            </a:solidFill>
            <a:prstDash val="solid"/>
          </a:ln>
        </p:spPr>
      </p:sp>
      <p:sp>
        <p:nvSpPr>
          <p:cNvPr id="29" name="Text 26"/>
          <p:cNvSpPr/>
          <p:nvPr/>
        </p:nvSpPr>
        <p:spPr>
          <a:xfrm>
            <a:off x="1737360" y="4764024"/>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Create a 10-question review on photosynthesis for 7th graders who confuse it with respiration. Mix multiple choice and short answer. Include an answer key.”</a:t>
            </a:r>
            <a:endParaRPr lang="en-US" sz="1550" dirty="0"/>
          </a:p>
        </p:txBody>
      </p:sp>
      <p:sp>
        <p:nvSpPr>
          <p:cNvPr id="30" name="Text 27"/>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missing context (grade? focus?) · B missing format (what should "help" look like?) · C missing the task itself · D has all four parts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 blanks for topic, grade, count, format. Twenty seconds to reuse.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NOBODY WRITES FROM SCRATCH AT 7 A.M.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Templates beat memory</a:t>
            </a:r>
            <a:endParaRPr lang="en-US" sz="3200" dirty="0"/>
          </a:p>
        </p:txBody>
      </p:sp>
      <p:sp>
        <p:nvSpPr>
          <p:cNvPr id="14" name="Shape 11"/>
          <p:cNvSpPr/>
          <p:nvPr/>
        </p:nvSpPr>
        <p:spPr>
          <a:xfrm>
            <a:off x="640080" y="155448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1005840" y="1828800"/>
            <a:ext cx="10241280" cy="1737360"/>
          </a:xfrm>
          <a:prstGeom prst="rect">
            <a:avLst/>
          </a:prstGeom>
          <a:noFill/>
          <a:ln/>
        </p:spPr>
        <p:txBody>
          <a:bodyPr wrap="square" lIns="0" tIns="0" rIns="0" bIns="0" rtlCol="0" anchor="ctr"/>
          <a:lstStyle/>
          <a:p>
            <a:pPr indent="0" marL="0">
              <a:buNone/>
            </a:pPr>
            <a:r>
              <a:rPr lang="en-US" sz="2100" i="1" dirty="0">
                <a:solidFill>
                  <a:srgbClr val="13293D"/>
                </a:solidFill>
                <a:latin typeface="Inter" pitchFamily="34" charset="0"/>
                <a:ea typeface="Inter" pitchFamily="34" charset="-122"/>
                <a:cs typeface="Inter" pitchFamily="34" charset="-120"/>
              </a:rPr>
              <a:t>“You are a [grade/subject] teacher. Create a [number]-question review on [topic] for students who [what they struggle with]. Format: [format]. Include an answer key.”</a:t>
            </a:r>
            <a:endParaRPr lang="en-US" sz="2100" dirty="0"/>
          </a:p>
        </p:txBody>
      </p:sp>
      <p:sp>
        <p:nvSpPr>
          <p:cNvPr id="16" name="Text 13"/>
          <p:cNvSpPr/>
          <p:nvPr/>
        </p:nvSpPr>
        <p:spPr>
          <a:xfrm>
            <a:off x="640080" y="411480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Four blanks, twenty seconds, done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Today’s lab builds your first one</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school prompt library is where they live: nobody solves the same problem twice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iteration rounds, in order: content, then voice, then details.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MINDSET SHIFT</a:t>
            </a:r>
            <a:endParaRPr lang="en-US" sz="1200" dirty="0"/>
          </a:p>
        </p:txBody>
      </p:sp>
      <p:sp>
        <p:nvSpPr>
          <p:cNvPr id="13" name="Text 10"/>
          <p:cNvSpPr/>
          <p:nvPr/>
        </p:nvSpPr>
        <p:spPr>
          <a:xfrm>
            <a:off x="640080" y="1645920"/>
            <a:ext cx="109728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The first response is not the answer.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It’s a proposal.</a:t>
            </a:r>
            <a:endParaRPr lang="en-US" sz="3800" dirty="0"/>
          </a:p>
        </p:txBody>
      </p:sp>
      <p:sp>
        <p:nvSpPr>
          <p:cNvPr id="14" name="Text 11"/>
          <p:cNvSpPr/>
          <p:nvPr/>
        </p:nvSpPr>
        <p:spPr>
          <a:xfrm>
            <a:off x="640080" y="3474720"/>
            <a:ext cx="10972800" cy="365760"/>
          </a:xfrm>
          <a:prstGeom prst="rect">
            <a:avLst/>
          </a:prstGeom>
          <a:noFill/>
          <a:ln/>
        </p:spPr>
        <p:txBody>
          <a:bodyPr wrap="square" lIns="0" tIns="0" rIns="0" bIns="0" rtlCol="0" anchor="ctr"/>
          <a:lstStyle/>
          <a:p>
            <a:pPr indent="0" marL="0">
              <a:buNone/>
            </a:pPr>
            <a:r>
              <a:rPr lang="en-US" sz="1800" dirty="0">
                <a:solidFill>
                  <a:srgbClr val="9FB2C2"/>
                </a:solidFill>
                <a:latin typeface="Inter" pitchFamily="34" charset="0"/>
                <a:ea typeface="Inter" pitchFamily="34" charset="-122"/>
                <a:cs typeface="Inter" pitchFamily="34" charset="-120"/>
              </a:rPr>
              <a:t>Three rounds, in order:</a:t>
            </a:r>
            <a:endParaRPr lang="en-US" sz="1800" dirty="0"/>
          </a:p>
        </p:txBody>
      </p:sp>
      <p:sp>
        <p:nvSpPr>
          <p:cNvPr id="15" name="Text 12"/>
          <p:cNvSpPr/>
          <p:nvPr/>
        </p:nvSpPr>
        <p:spPr>
          <a:xfrm>
            <a:off x="822960" y="3977640"/>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1 · Content</a:t>
            </a:r>
            <a:endParaRPr lang="en-US" sz="2000" dirty="0"/>
          </a:p>
        </p:txBody>
      </p:sp>
      <p:sp>
        <p:nvSpPr>
          <p:cNvPr id="16" name="Text 13"/>
          <p:cNvSpPr/>
          <p:nvPr/>
        </p:nvSpPr>
        <p:spPr>
          <a:xfrm>
            <a:off x="3017520" y="3977640"/>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“Question 4 is too hard for the start of the unit.”</a:t>
            </a:r>
            <a:endParaRPr lang="en-US" sz="1800" dirty="0"/>
          </a:p>
        </p:txBody>
      </p:sp>
      <p:sp>
        <p:nvSpPr>
          <p:cNvPr id="17" name="Text 14"/>
          <p:cNvSpPr/>
          <p:nvPr/>
        </p:nvSpPr>
        <p:spPr>
          <a:xfrm>
            <a:off x="822960" y="4690872"/>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2 · Voice</a:t>
            </a:r>
            <a:endParaRPr lang="en-US" sz="2000" dirty="0"/>
          </a:p>
        </p:txBody>
      </p:sp>
      <p:sp>
        <p:nvSpPr>
          <p:cNvPr id="18" name="Text 15"/>
          <p:cNvSpPr/>
          <p:nvPr/>
        </p:nvSpPr>
        <p:spPr>
          <a:xfrm>
            <a:off x="3017520" y="4690872"/>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“Warmer. I’d never say ‘furthermore.’”</a:t>
            </a:r>
            <a:endParaRPr lang="en-US" sz="1800" dirty="0"/>
          </a:p>
        </p:txBody>
      </p:sp>
      <p:sp>
        <p:nvSpPr>
          <p:cNvPr id="19" name="Text 16"/>
          <p:cNvSpPr/>
          <p:nvPr/>
        </p:nvSpPr>
        <p:spPr>
          <a:xfrm>
            <a:off x="822960" y="5404104"/>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3 · Details</a:t>
            </a:r>
            <a:endParaRPr lang="en-US" sz="2000" dirty="0"/>
          </a:p>
        </p:txBody>
      </p:sp>
      <p:sp>
        <p:nvSpPr>
          <p:cNvPr id="20" name="Text 17"/>
          <p:cNvSpPr/>
          <p:nvPr/>
        </p:nvSpPr>
        <p:spPr>
          <a:xfrm>
            <a:off x="3017520" y="5404104"/>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“Shorten by a third; number the directions.”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judgment call: 80% right, iterate. Wrong thing entirely, fresh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JUDGMENT CALL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Iterate, or start over?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Iterate when…</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the draft is ~80% right. Fix content, then voice, then details. Two or three rounds, done.</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Start over when…</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it’s fundamentally the wrong thing. Don’t argue with it for ten minutes; open a fresh prompt and fold what you learned into the context.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 time matters more than the tool’s feelings. It doesn’t have any.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voice check: read it aloud; if it isn't her, she says 'warmer' or 'blunter.'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ROUND IS ALWAYS THE VOICE ROUND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Keep your voice</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agreeable, a little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If everything you send home sounds like everything everyone else sends home, families notice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Read it aloud. If it doesn’t sound like you, say so: “Blunter.” “Warmer.”</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Your voice is a feature. Keep it.</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prompt through every step: her weekly review questions.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build a tool, not a toy.</a:t>
            </a:r>
            <a:endParaRPr lang="en-US" sz="4200" dirty="0"/>
          </a:p>
        </p:txBody>
      </p:sp>
      <p:sp>
        <p:nvSpPr>
          <p:cNvPr id="14" name="Text 11"/>
          <p:cNvSpPr/>
          <p:nvPr/>
        </p:nvSpPr>
        <p:spPr>
          <a:xfrm>
            <a:off x="640080" y="2377440"/>
            <a:ext cx="10972800" cy="9144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one task you do every week: the Friday newsletter, the weekly quiz, leveling a reading, station directions. Ms. Rivera builds hers on screen the whole way: one prompt for her weekly review questions.</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we practice like we play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with all four parts; be generous with context</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You’ll iterate three rounds, then save the template</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1: about to draft it with all four parts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with the formula</a:t>
            </a:r>
            <a:endParaRPr lang="en-US" sz="3200" dirty="0"/>
          </a:p>
        </p:txBody>
      </p:sp>
      <p:sp>
        <p:nvSpPr>
          <p:cNvPr id="14" name="Shape 11"/>
          <p:cNvSpPr/>
          <p:nvPr/>
        </p:nvSpPr>
        <p:spPr>
          <a:xfrm>
            <a:off x="640080" y="1508760"/>
            <a:ext cx="10972800" cy="822960"/>
          </a:xfrm>
          <a:prstGeom prst="roundRect">
            <a:avLst>
              <a:gd name="adj" fmla="val 10000"/>
            </a:avLst>
          </a:prstGeom>
          <a:solidFill>
            <a:srgbClr val="F7F5F0"/>
          </a:solidFill>
          <a:ln w="12700">
            <a:solidFill>
              <a:srgbClr val="F7F5F0"/>
            </a:solidFill>
            <a:prstDash val="solid"/>
          </a:ln>
        </p:spPr>
      </p:sp>
      <p:sp>
        <p:nvSpPr>
          <p:cNvPr id="15" name="Text 12"/>
          <p:cNvSpPr/>
          <p:nvPr/>
        </p:nvSpPr>
        <p:spPr>
          <a:xfrm>
            <a:off x="960120" y="150876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Role</a:t>
            </a:r>
            <a:endParaRPr lang="en-US" sz="2000" dirty="0"/>
          </a:p>
        </p:txBody>
      </p:sp>
      <p:sp>
        <p:nvSpPr>
          <p:cNvPr id="16" name="Text 13"/>
          <p:cNvSpPr/>
          <p:nvPr/>
        </p:nvSpPr>
        <p:spPr>
          <a:xfrm>
            <a:off x="2560320" y="150876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Who should the AI be? Name the expertise you want in the room.</a:t>
            </a:r>
            <a:endParaRPr lang="en-US" sz="1700" dirty="0"/>
          </a:p>
        </p:txBody>
      </p:sp>
      <p:sp>
        <p:nvSpPr>
          <p:cNvPr id="17" name="Shape 14"/>
          <p:cNvSpPr/>
          <p:nvPr/>
        </p:nvSpPr>
        <p:spPr>
          <a:xfrm>
            <a:off x="640080" y="2468880"/>
            <a:ext cx="10972800" cy="822960"/>
          </a:xfrm>
          <a:prstGeom prst="roundRect">
            <a:avLst>
              <a:gd name="adj" fmla="val 10000"/>
            </a:avLst>
          </a:prstGeom>
          <a:solidFill>
            <a:srgbClr val="F7F5F0"/>
          </a:solidFill>
          <a:ln w="12700">
            <a:solidFill>
              <a:srgbClr val="F7F5F0"/>
            </a:solidFill>
            <a:prstDash val="solid"/>
          </a:ln>
        </p:spPr>
      </p:sp>
      <p:sp>
        <p:nvSpPr>
          <p:cNvPr id="18" name="Text 15"/>
          <p:cNvSpPr/>
          <p:nvPr/>
        </p:nvSpPr>
        <p:spPr>
          <a:xfrm>
            <a:off x="960120" y="246888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Task</a:t>
            </a:r>
            <a:endParaRPr lang="en-US" sz="2000" dirty="0"/>
          </a:p>
        </p:txBody>
      </p:sp>
      <p:sp>
        <p:nvSpPr>
          <p:cNvPr id="19" name="Text 16"/>
          <p:cNvSpPr/>
          <p:nvPr/>
        </p:nvSpPr>
        <p:spPr>
          <a:xfrm>
            <a:off x="2560320" y="246888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clear verb. What exactly do you want made?</a:t>
            </a:r>
            <a:endParaRPr lang="en-US" sz="1700" dirty="0"/>
          </a:p>
        </p:txBody>
      </p:sp>
      <p:sp>
        <p:nvSpPr>
          <p:cNvPr id="20" name="Shape 17"/>
          <p:cNvSpPr/>
          <p:nvPr/>
        </p:nvSpPr>
        <p:spPr>
          <a:xfrm>
            <a:off x="640080" y="3429000"/>
            <a:ext cx="10972800" cy="822960"/>
          </a:xfrm>
          <a:prstGeom prst="roundRect">
            <a:avLst>
              <a:gd name="adj" fmla="val 10000"/>
            </a:avLst>
          </a:prstGeom>
          <a:solidFill>
            <a:srgbClr val="F7F5F0"/>
          </a:solidFill>
          <a:ln w="12700">
            <a:solidFill>
              <a:srgbClr val="F7F5F0"/>
            </a:solidFill>
            <a:prstDash val="solid"/>
          </a:ln>
        </p:spPr>
      </p:sp>
      <p:sp>
        <p:nvSpPr>
          <p:cNvPr id="21" name="Text 18"/>
          <p:cNvSpPr/>
          <p:nvPr/>
        </p:nvSpPr>
        <p:spPr>
          <a:xfrm>
            <a:off x="960120" y="342900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Context</a:t>
            </a:r>
            <a:endParaRPr lang="en-US" sz="2000" dirty="0"/>
          </a:p>
        </p:txBody>
      </p:sp>
      <p:sp>
        <p:nvSpPr>
          <p:cNvPr id="22" name="Text 19"/>
          <p:cNvSpPr/>
          <p:nvPr/>
        </p:nvSpPr>
        <p:spPr>
          <a:xfrm>
            <a:off x="2560320" y="342900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What would a substitute need to know to do this right? Be generous here.</a:t>
            </a:r>
            <a:endParaRPr lang="en-US" sz="1700" dirty="0"/>
          </a:p>
        </p:txBody>
      </p:sp>
      <p:sp>
        <p:nvSpPr>
          <p:cNvPr id="23" name="Shape 20"/>
          <p:cNvSpPr/>
          <p:nvPr/>
        </p:nvSpPr>
        <p:spPr>
          <a:xfrm>
            <a:off x="640080" y="4389120"/>
            <a:ext cx="10972800" cy="822960"/>
          </a:xfrm>
          <a:prstGeom prst="roundRect">
            <a:avLst>
              <a:gd name="adj" fmla="val 10000"/>
            </a:avLst>
          </a:prstGeom>
          <a:solidFill>
            <a:srgbClr val="F7F5F0"/>
          </a:solidFill>
          <a:ln w="12700">
            <a:solidFill>
              <a:srgbClr val="F7F5F0"/>
            </a:solidFill>
            <a:prstDash val="solid"/>
          </a:ln>
        </p:spPr>
      </p:sp>
      <p:sp>
        <p:nvSpPr>
          <p:cNvPr id="24" name="Text 21"/>
          <p:cNvSpPr/>
          <p:nvPr/>
        </p:nvSpPr>
        <p:spPr>
          <a:xfrm>
            <a:off x="960120" y="438912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Format</a:t>
            </a:r>
            <a:endParaRPr lang="en-US" sz="2000" dirty="0"/>
          </a:p>
        </p:txBody>
      </p:sp>
      <p:sp>
        <p:nvSpPr>
          <p:cNvPr id="25" name="Text 22"/>
          <p:cNvSpPr/>
          <p:nvPr/>
        </p:nvSpPr>
        <p:spPr>
          <a:xfrm>
            <a:off x="2560320" y="438912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Exactly what the output should look like: length, layout, answer key.</a:t>
            </a:r>
            <a:endParaRPr lang="en-US" sz="1700" dirty="0"/>
          </a:p>
        </p:txBody>
      </p:sp>
      <p:sp>
        <p:nvSpPr>
          <p:cNvPr id="26" name="Shape 23"/>
          <p:cNvSpPr/>
          <p:nvPr/>
        </p:nvSpPr>
        <p:spPr>
          <a:xfrm>
            <a:off x="640080" y="5349240"/>
            <a:ext cx="10972800" cy="777240"/>
          </a:xfrm>
          <a:prstGeom prst="roundRect">
            <a:avLst>
              <a:gd name="adj" fmla="val 10588"/>
            </a:avLst>
          </a:prstGeom>
          <a:solidFill>
            <a:srgbClr val="EAF5F3"/>
          </a:solidFill>
          <a:ln w="12700">
            <a:solidFill>
              <a:srgbClr val="EAF5F3"/>
            </a:solidFill>
            <a:prstDash val="solid"/>
          </a:ln>
        </p:spPr>
      </p:sp>
      <p:sp>
        <p:nvSpPr>
          <p:cNvPr id="27" name="Text 24"/>
          <p:cNvSpPr/>
          <p:nvPr/>
        </p:nvSpPr>
        <p:spPr>
          <a:xfrm>
            <a:off x="960120" y="534924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Ground rule: no student information. Run it once, then read the draft like an editor, not a fan.</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ON MS. RIVERA'S SCREEN · DRAFT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first draft, all four parts in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HER FIRST INSTINCT   </a:t>
            </a:r>
            <a:pPr indent="0" marL="0">
              <a:buNone/>
            </a:pPr>
            <a:r>
              <a:rPr lang="en-US" sz="1600" i="1" dirty="0">
                <a:solidFill>
                  <a:srgbClr val="5B6B7A"/>
                </a:solidFill>
                <a:latin typeface="Inter" pitchFamily="34" charset="0"/>
                <a:ea typeface="Inter" pitchFamily="34" charset="-122"/>
                <a:cs typeface="Inter" pitchFamily="34" charset="-120"/>
              </a:rPr>
              <a:t>“Make me some review questions for Friday.”</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4th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10-question Friday review on equivalent fractions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numerator and denominator when simplifying.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Same four colors as makeover #1. Copy this shape with your own weekly task, then run it.</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2: three rounds of pushback, in order.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rounds of iteration</a:t>
            </a:r>
            <a:endParaRPr lang="en-US" sz="3200" dirty="0"/>
          </a:p>
        </p:txBody>
      </p:sp>
      <p:sp>
        <p:nvSpPr>
          <p:cNvPr id="14" name="Shape 11"/>
          <p:cNvSpPr/>
          <p:nvPr/>
        </p:nvSpPr>
        <p:spPr>
          <a:xfrm>
            <a:off x="640080" y="1508760"/>
            <a:ext cx="10972800" cy="1005840"/>
          </a:xfrm>
          <a:prstGeom prst="roundRect">
            <a:avLst>
              <a:gd name="adj" fmla="val 8182"/>
            </a:avLst>
          </a:prstGeom>
          <a:solidFill>
            <a:srgbClr val="F7F5F0"/>
          </a:solidFill>
          <a:ln w="12700">
            <a:solidFill>
              <a:srgbClr val="F7F5F0"/>
            </a:solidFill>
            <a:prstDash val="solid"/>
          </a:ln>
        </p:spPr>
      </p:sp>
      <p:sp>
        <p:nvSpPr>
          <p:cNvPr id="15" name="Text 12"/>
          <p:cNvSpPr/>
          <p:nvPr/>
        </p:nvSpPr>
        <p:spPr>
          <a:xfrm>
            <a:off x="960120" y="1618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1 · Content</a:t>
            </a:r>
            <a:endParaRPr lang="en-US" sz="1900" dirty="0"/>
          </a:p>
        </p:txBody>
      </p:sp>
      <p:sp>
        <p:nvSpPr>
          <p:cNvPr id="16" name="Text 13"/>
          <p:cNvSpPr/>
          <p:nvPr/>
        </p:nvSpPr>
        <p:spPr>
          <a:xfrm>
            <a:off x="960120" y="2039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What’s wrong or missing? Fix that first, before anything else.</a:t>
            </a:r>
            <a:endParaRPr lang="en-US" sz="1650" dirty="0"/>
          </a:p>
        </p:txBody>
      </p:sp>
      <p:sp>
        <p:nvSpPr>
          <p:cNvPr id="17" name="Shape 14"/>
          <p:cNvSpPr/>
          <p:nvPr/>
        </p:nvSpPr>
        <p:spPr>
          <a:xfrm>
            <a:off x="640080" y="2651760"/>
            <a:ext cx="1097280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960120" y="2761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2 · Voice</a:t>
            </a:r>
            <a:endParaRPr lang="en-US" sz="1900" dirty="0"/>
          </a:p>
        </p:txBody>
      </p:sp>
      <p:sp>
        <p:nvSpPr>
          <p:cNvPr id="19" name="Text 16"/>
          <p:cNvSpPr/>
          <p:nvPr/>
        </p:nvSpPr>
        <p:spPr>
          <a:xfrm>
            <a:off x="960120" y="3182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Does it sound like you? Read it aloud, then say “warmer” or “blunter.”</a:t>
            </a:r>
            <a:endParaRPr lang="en-US" sz="1650" dirty="0"/>
          </a:p>
        </p:txBody>
      </p:sp>
      <p:sp>
        <p:nvSpPr>
          <p:cNvPr id="20" name="Shape 17"/>
          <p:cNvSpPr/>
          <p:nvPr/>
        </p:nvSpPr>
        <p:spPr>
          <a:xfrm>
            <a:off x="640080" y="3794760"/>
            <a:ext cx="1097280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60120" y="3904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3 · Details</a:t>
            </a:r>
            <a:endParaRPr lang="en-US" sz="1900" dirty="0"/>
          </a:p>
        </p:txBody>
      </p:sp>
      <p:sp>
        <p:nvSpPr>
          <p:cNvPr id="22" name="Text 19"/>
          <p:cNvSpPr/>
          <p:nvPr/>
        </p:nvSpPr>
        <p:spPr>
          <a:xfrm>
            <a:off x="960120" y="4325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Length, level, layout, numbering: make every one of them exact.</a:t>
            </a:r>
            <a:endParaRPr lang="en-US" sz="1650" dirty="0"/>
          </a:p>
        </p:txBody>
      </p:sp>
      <p:sp>
        <p:nvSpPr>
          <p:cNvPr id="23" name="Shape 20"/>
          <p:cNvSpPr/>
          <p:nvPr/>
        </p:nvSpPr>
        <p:spPr>
          <a:xfrm>
            <a:off x="640080" y="4937760"/>
            <a:ext cx="10972800" cy="777240"/>
          </a:xfrm>
          <a:prstGeom prst="roundRect">
            <a:avLst>
              <a:gd name="adj" fmla="val 10588"/>
            </a:avLst>
          </a:prstGeom>
          <a:solidFill>
            <a:srgbClr val="EAF5F3"/>
          </a:solidFill>
          <a:ln w="12700">
            <a:solidFill>
              <a:srgbClr val="EAF5F3"/>
            </a:solidFill>
            <a:prstDash val="solid"/>
          </a:ln>
        </p:spPr>
      </p:sp>
      <p:sp>
        <p:nvSpPr>
          <p:cNvPr id="24" name="Text 21"/>
          <p:cNvSpPr/>
          <p:nvPr/>
        </p:nvSpPr>
        <p:spPr>
          <a:xfrm>
            <a:off x="960120" y="493776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Push back like you would with a capable student teacher: specific, kind, unafraid.</a:t>
            </a:r>
            <a:endParaRPr lang="en-US" sz="1800" dirty="0"/>
          </a:p>
        </p:txBody>
      </p:sp>
      <p:sp>
        <p:nvSpPr>
          <p:cNvPr id="25" name="Text 22"/>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45-min cut: one round instead of three, then straight to step 3.</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ON MS. RIVERA'S SCREEN · ITERATE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in each round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WHAT CAME BACK   </a:t>
            </a:r>
            <a:pPr indent="0" marL="0">
              <a:buNone/>
            </a:pPr>
            <a:r>
              <a:rPr lang="en-US" sz="1600" i="1" dirty="0">
                <a:solidFill>
                  <a:srgbClr val="5B6B7A"/>
                </a:solidFill>
                <a:latin typeface="Inter" pitchFamily="34" charset="0"/>
                <a:ea typeface="Inter" pitchFamily="34" charset="-122"/>
                <a:cs typeface="Inter" pitchFamily="34" charset="-120"/>
              </a:rPr>
              <a:t>ten questions and an answer key, close but not hers yet.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37744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1783080" y="2514600"/>
            <a:ext cx="9189720" cy="2103120"/>
          </a:xfrm>
          <a:prstGeom prst="rect">
            <a:avLst/>
          </a:prstGeom>
          <a:noFill/>
          <a:ln/>
        </p:spPr>
        <p:txBody>
          <a:bodyPr wrap="square" lIns="0" tIns="0" rIns="0" bIns="0" rtlCol="0" anchor="t"/>
          <a:lstStyle/>
          <a:p>
            <a:pPr indent="0" marL="0">
              <a:lnSpc>
                <a:spcPct val="120000"/>
              </a:lnSpc>
              <a:buNone/>
            </a:pPr>
            <a:r>
              <a:rPr lang="en-US" sz="1300" b="1" spc="150" kern="0" dirty="0">
                <a:solidFill>
                  <a:srgbClr val="2A9D8F"/>
                </a:solidFill>
                <a:latin typeface="Inter" pitchFamily="34" charset="0"/>
                <a:ea typeface="Inter" pitchFamily="34" charset="-122"/>
                <a:cs typeface="Inter" pitchFamily="34" charset="-120"/>
              </a:rPr>
              <a:t>1 · CONTENT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“Question 3 is mixed numbers; we haven’t gotten there. Swap in a comparing-fractions item.”
</a:t>
            </a:r>
            <a:pPr indent="0" marL="0">
              <a:lnSpc>
                <a:spcPct val="120000"/>
              </a:lnSpc>
              <a:buNone/>
            </a:pPr>
            <a:r>
              <a:rPr lang="en-US" sz="1300" b="1" spc="150" kern="0" dirty="0">
                <a:solidFill>
                  <a:srgbClr val="13293D"/>
                </a:solidFill>
                <a:latin typeface="Inter" pitchFamily="34" charset="0"/>
                <a:ea typeface="Inter" pitchFamily="34" charset="-122"/>
                <a:cs typeface="Inter" pitchFamily="34" charset="-120"/>
              </a:rPr>
              <a:t>2 · VOICE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“The directions don’t sound like me. Warmer, and lose ‘utilize.’”
</a:t>
            </a:r>
            <a:pPr indent="0" marL="0">
              <a:lnSpc>
                <a:spcPct val="120000"/>
              </a:lnSpc>
              <a:buNone/>
            </a:pPr>
            <a:r>
              <a:rPr lang="en-US" sz="1300" b="1" spc="150" kern="0" dirty="0">
                <a:solidFill>
                  <a:srgbClr val="B07914"/>
                </a:solidFill>
                <a:latin typeface="Inter" pitchFamily="34" charset="0"/>
                <a:ea typeface="Inter" pitchFamily="34" charset="-122"/>
                <a:cs typeface="Inter" pitchFamily="34" charset="-120"/>
              </a:rPr>
              <a:t>3 · DETAILS
</a:t>
            </a:r>
            <a:pPr indent="0" marL="0">
              <a:lnSpc>
                <a:spcPct val="120000"/>
              </a:lnSpc>
              <a:buNone/>
            </a:pPr>
            <a:r>
              <a:rPr lang="en-US" sz="1700" dirty="0">
                <a:solidFill>
                  <a:srgbClr val="1B1F24"/>
                </a:solidFill>
                <a:latin typeface="Inter" pitchFamily="34" charset="0"/>
                <a:ea typeface="Inter" pitchFamily="34" charset="-122"/>
                <a:cs typeface="Inter" pitchFamily="34" charset="-120"/>
              </a:rPr>
              <a:t>“Exactly ten questions, numbered, answer key on its own page.”</a:t>
            </a:r>
            <a:endParaRPr lang="en-US" sz="1700" dirty="0"/>
          </a:p>
        </p:txBody>
      </p:sp>
      <p:sp>
        <p:nvSpPr>
          <p:cNvPr id="16" name="Text 13"/>
          <p:cNvSpPr/>
          <p:nvPr/>
        </p:nvSpPr>
        <p:spPr>
          <a:xfrm>
            <a:off x="1554480" y="48463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Three messages, one prompt: the same review questions from step 1, three rounds better.</a:t>
            </a:r>
            <a:endParaRPr lang="en-US" sz="1300" dirty="0"/>
          </a:p>
        </p:txBody>
      </p:sp>
      <p:sp>
        <p:nvSpPr>
          <p:cNvPr id="17" name="Shape 14"/>
          <p:cNvSpPr/>
          <p:nvPr/>
        </p:nvSpPr>
        <p:spPr>
          <a:xfrm>
            <a:off x="640080" y="5532120"/>
            <a:ext cx="3544824"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1 · CONTENT</a:t>
            </a:r>
            <a:endParaRPr lang="en-US" sz="1400" dirty="0"/>
          </a:p>
        </p:txBody>
      </p:sp>
      <p:sp>
        <p:nvSpPr>
          <p:cNvPr id="19" name="Shape 16"/>
          <p:cNvSpPr/>
          <p:nvPr/>
        </p:nvSpPr>
        <p:spPr>
          <a:xfrm>
            <a:off x="4395216" y="5532120"/>
            <a:ext cx="3544824"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4395216"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2 · VOICE</a:t>
            </a:r>
            <a:endParaRPr lang="en-US" sz="1400" dirty="0"/>
          </a:p>
        </p:txBody>
      </p:sp>
      <p:sp>
        <p:nvSpPr>
          <p:cNvPr id="21" name="Shape 18"/>
          <p:cNvSpPr/>
          <p:nvPr/>
        </p:nvSpPr>
        <p:spPr>
          <a:xfrm>
            <a:off x="8150352" y="5532120"/>
            <a:ext cx="3544824"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8150352"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3 · DETAILS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3: the specifics come out, the blanks go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5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Template it. Save it. Share it.</a:t>
            </a:r>
            <a:endParaRPr lang="en-US" sz="28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Replace the specifics with blanks: [topic], [grade], [number of questions]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Save the final template to the school prompt library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Give it a title and pick subject and grades; your name rides along</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Confirm there are no student names in it: Kit 1’s rule, still with us</a:t>
            </a:r>
            <a:endParaRPr lang="en-US" sz="2100" dirty="0"/>
          </a:p>
        </p:txBody>
      </p:sp>
      <p:sp>
        <p:nvSpPr>
          <p:cNvPr id="15" name="Shape 12"/>
          <p:cNvSpPr/>
          <p:nvPr/>
        </p:nvSpPr>
        <p:spPr>
          <a:xfrm>
            <a:off x="640080" y="3931920"/>
            <a:ext cx="10972800" cy="1280160"/>
          </a:xfrm>
          <a:prstGeom prst="roundRect">
            <a:avLst>
              <a:gd name="adj" fmla="val 6429"/>
            </a:avLst>
          </a:prstGeom>
          <a:solidFill>
            <a:srgbClr val="EAF5F3"/>
          </a:solidFill>
          <a:ln w="12700">
            <a:solidFill>
              <a:srgbClr val="EAF5F3"/>
            </a:solidFill>
            <a:prstDash val="solid"/>
          </a:ln>
        </p:spPr>
      </p:sp>
      <p:sp>
        <p:nvSpPr>
          <p:cNvPr id="16" name="Text 13"/>
          <p:cNvSpPr/>
          <p:nvPr/>
        </p:nvSpPr>
        <p:spPr>
          <a:xfrm>
            <a:off x="960120" y="3931920"/>
            <a:ext cx="10332720" cy="128016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You just wrote the first entry in your professional prompt library. Kit 18 grows it into a whole collection.</a:t>
            </a:r>
            <a:endParaRPr lang="en-US" sz="2000" dirty="0"/>
          </a:p>
        </p:txBody>
      </p:sp>
      <p:sp>
        <p:nvSpPr>
          <p:cNvPr id="17" name="Text 14"/>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Four blanks, twenty seconds, and next Friday is already half done.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ON MS. RIVERA'S SCREEN · SAVE YOURS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template, as saved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THE SWAP   </a:t>
            </a:r>
            <a:pPr indent="0" marL="0">
              <a:buNone/>
            </a:pPr>
            <a:r>
              <a:rPr lang="en-US" sz="1600" i="1" dirty="0">
                <a:solidFill>
                  <a:srgbClr val="5B6B7A"/>
                </a:solidFill>
                <a:latin typeface="Inter" pitchFamily="34" charset="0"/>
                <a:ea typeface="Inter" pitchFamily="34" charset="-122"/>
                <a:cs typeface="Inter" pitchFamily="34" charset="-120"/>
              </a:rPr>
              <a:t>out come “equivalent fractions,” “4th grade,” “10”: the three things that change every week.</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[number]-question review on [topic]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[what they mix up].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Saved to the school prompt library: “Weekly review questions” · Math · Grades 3–5 · Ms. Rivera</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before and after: the delta is the lesson.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Before and after</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us your before and your after</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one change made the biggest difference?</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catch the AI being wrong mid-lab? That story goes first.</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library: one entry today, the review-questions template. It compounds.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MINUTES AGO THIS DIDN’T EXIST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 went from asking to owning</a:t>
            </a:r>
            <a:endParaRPr lang="en-US" sz="28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teachers saving six hours a week were never typing faster.
</a:t>
            </a:r>
            <a:pPr indent="0" marL="0">
              <a:buNone/>
            </a:pPr>
            <a:r>
              <a:rPr lang="en-US" sz="2100" dirty="0">
                <a:solidFill>
                  <a:srgbClr val="1B1F24"/>
                </a:solidFill>
                <a:latin typeface="Inter" pitchFamily="34" charset="0"/>
                <a:ea typeface="Inter" pitchFamily="34" charset="-122"/>
                <a:cs typeface="Inter" pitchFamily="34" charset="-120"/>
              </a:rPr>
              <a:t>They own a small library of prompts that fit their classroom, plus the reflex to push back until the output earns their name on it. As of today, so do you.</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one-slide system: formula, colleague test, three rounds, template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WHOLE SESSION</a:t>
            </a:r>
            <a:endParaRPr lang="en-US" sz="1200" dirty="0"/>
          </a:p>
        </p:txBody>
      </p:sp>
      <p:sp>
        <p:nvSpPr>
          <p:cNvPr id="13" name="Text 10"/>
          <p:cNvSpPr/>
          <p:nvPr/>
        </p:nvSpPr>
        <p:spPr>
          <a:xfrm>
            <a:off x="640080" y="86868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The formula on one slide</a:t>
            </a:r>
            <a:endParaRPr lang="en-US" sz="3400" dirty="0"/>
          </a:p>
        </p:txBody>
      </p:sp>
      <p:sp>
        <p:nvSpPr>
          <p:cNvPr id="14" name="Text 11"/>
          <p:cNvSpPr/>
          <p:nvPr/>
        </p:nvSpPr>
        <p:spPr>
          <a:xfrm>
            <a:off x="822960" y="178308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Before you type</a:t>
            </a:r>
            <a:endParaRPr lang="en-US" sz="1900" dirty="0"/>
          </a:p>
        </p:txBody>
      </p:sp>
      <p:sp>
        <p:nvSpPr>
          <p:cNvPr id="15" name="Text 12"/>
          <p:cNvSpPr/>
          <p:nvPr/>
        </p:nvSpPr>
        <p:spPr>
          <a:xfrm>
            <a:off x="3840480" y="178308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Role · Task · Context · Format, then the colleague test</a:t>
            </a:r>
            <a:endParaRPr lang="en-US" sz="1900" dirty="0"/>
          </a:p>
        </p:txBody>
      </p:sp>
      <p:sp>
        <p:nvSpPr>
          <p:cNvPr id="16" name="Text 13"/>
          <p:cNvSpPr/>
          <p:nvPr/>
        </p:nvSpPr>
        <p:spPr>
          <a:xfrm>
            <a:off x="822960" y="283464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After it answers</a:t>
            </a:r>
            <a:endParaRPr lang="en-US" sz="1900" dirty="0"/>
          </a:p>
        </p:txBody>
      </p:sp>
      <p:sp>
        <p:nvSpPr>
          <p:cNvPr id="17" name="Text 14"/>
          <p:cNvSpPr/>
          <p:nvPr/>
        </p:nvSpPr>
        <p:spPr>
          <a:xfrm>
            <a:off x="3840480" y="283464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Three rounds: content, voice, details</a:t>
            </a:r>
            <a:endParaRPr lang="en-US" sz="1900" dirty="0"/>
          </a:p>
        </p:txBody>
      </p:sp>
      <p:sp>
        <p:nvSpPr>
          <p:cNvPr id="18" name="Text 15"/>
          <p:cNvSpPr/>
          <p:nvPr/>
        </p:nvSpPr>
        <p:spPr>
          <a:xfrm>
            <a:off x="822960" y="388620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When it works</a:t>
            </a:r>
            <a:endParaRPr lang="en-US" sz="1900" dirty="0"/>
          </a:p>
        </p:txBody>
      </p:sp>
      <p:sp>
        <p:nvSpPr>
          <p:cNvPr id="19" name="Text 16"/>
          <p:cNvSpPr/>
          <p:nvPr/>
        </p:nvSpPr>
        <p:spPr>
          <a:xfrm>
            <a:off x="3840480" y="388620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Template it, save it, share it in the prompt library</a:t>
            </a:r>
            <a:endParaRPr lang="en-US" sz="1900" dirty="0"/>
          </a:p>
        </p:txBody>
      </p:sp>
      <p:sp>
        <p:nvSpPr>
          <p:cNvPr id="20" name="Text 17"/>
          <p:cNvSpPr/>
          <p:nvPr/>
        </p:nvSpPr>
        <p:spPr>
          <a:xfrm>
            <a:off x="822960" y="493776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Always</a:t>
            </a:r>
            <a:endParaRPr lang="en-US" sz="1900" dirty="0"/>
          </a:p>
        </p:txBody>
      </p:sp>
      <p:sp>
        <p:nvSpPr>
          <p:cNvPr id="21" name="Text 18"/>
          <p:cNvSpPr/>
          <p:nvPr/>
        </p:nvSpPr>
        <p:spPr>
          <a:xfrm>
            <a:off x="3840480" y="493776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PII in. Nothing unreviewed out. Verify anything factual.</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limits list: can't check facts, know her kids, or pick what matters.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prompting cannot do</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check facts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still verify. Every time.</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your students</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Personalizing happens after the draft comes back.</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decide what’s worth teaching</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That was never a formatting problem.</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Better prompts buy you time and quality. Judgment stays yours.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norm: working prompts go in the school library. Nobody solves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 1 GAVE US THREE; TODAY ADDS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When a prompt works, it goes in the prompt library.</a:t>
            </a:r>
            <a:endParaRPr lang="en-US" sz="2800" dirty="0"/>
          </a:p>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Nobody at this school solves the same problem twice.</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formula starts differentiating for her whole roster.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2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3, Planning &amp; Differentiation. </a:t>
            </a:r>
            <a:pPr indent="0" marL="0">
              <a:buNone/>
            </a:pPr>
            <a:r>
              <a:rPr lang="en-US" sz="1700" dirty="0">
                <a:solidFill>
                  <a:srgbClr val="C9D4DE"/>
                </a:solidFill>
                <a:latin typeface="Inter" pitchFamily="34" charset="0"/>
                <a:ea typeface="Inter" pitchFamily="34" charset="-122"/>
                <a:cs typeface="Inter" pitchFamily="34" charset="-120"/>
              </a:rPr>
              <a:t>Your reusable prompt comes with you; the formula starts doing heavy lifting: leveled texts, scaffolds, materials for the range of learners actually in your room.</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the template for real, one colleague test, one post.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your reusable prompt for real</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the actual task it was built for; iterate once; use the result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~3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colleague test once</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Catch the missing context before you hit enter</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Save to the prompt library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template, a title, one line about what it’s for</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one technique taken, one task still wanted.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prompting technique you’re taking</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task you still want prompt help with</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thing you’ll try in the next 48 hours</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33</a:t>
            </a:r>
            <a:endParaRPr lang="en-US" sz="900" dirty="0"/>
          </a:p>
        </p:txBody>
      </p:sp>
      <p:sp>
        <p:nvSpPr>
          <p:cNvPr id="5" name="Text 2"/>
          <p:cNvSpPr/>
          <p:nvPr/>
        </p:nvSpPr>
        <p:spPr>
          <a:xfrm>
            <a:off x="640080" y="201168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A good prompt is just clear thinking,</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written down.</a:t>
            </a:r>
            <a:endParaRPr lang="en-US" sz="3600" dirty="0"/>
          </a:p>
        </p:txBody>
      </p:sp>
      <p:sp>
        <p:nvSpPr>
          <p:cNvPr id="6" name="Text 3"/>
          <p:cNvSpPr/>
          <p:nvPr/>
        </p:nvSpPr>
        <p:spPr>
          <a:xfrm>
            <a:off x="640080" y="393192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You already do the hard part every day.</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Keep the thinking. Delegate the typing.</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2: Prompting Basics: Getting Useful Results Every Time</dc:title>
  <dc:subject>PptxGenJS Presentation</dc:subject>
  <dc:creator>Adam &amp; Katelyn Spinozzi</dc:creator>
  <cp:lastModifiedBy>Adam &amp; Katelyn Spinozzi</cp:lastModifiedBy>
  <cp:revision>1</cp:revision>
  <dcterms:created xsi:type="dcterms:W3CDTF">2026-08-15T14:07:22Z</dcterms:created>
  <dcterms:modified xsi:type="dcterms:W3CDTF">2026-08-15T14:07:22Z</dcterms:modified>
</cp:coreProperties>
</file>