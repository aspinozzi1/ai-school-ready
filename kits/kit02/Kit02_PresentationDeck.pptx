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Kit 1 rule working alongside the formula: zero student names, and none needed. The situation, not the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school prompt library, on the member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Her exemplar appears large on every step slide; anyone lost can copy her structure and still finish. The script’s worked example under slide 19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prompts usually lack context; nudge with "what would a substitute need to know to do this right?" The big card is Ms. Rivera's first draft for her weekly review questions, the one artifact she carries through all three steps, color-coded like slide 9; anyone stuck can copy its shape.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one round instead of three, then straight to step 3. The big card is Ms. Rivera's three typed pushback lines, all on the same review prompt from step 1: content, then voice, then details.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school prompt library on the member site. Watching entries appear live is the session’s proudest moment. The big card is Ms. Rivera's finished template: the same review prompt from steps 1 and 2 with the specifics swapped for blanks, saved under 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Same tools. Very different results.</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“just ask” gets beige answers</a:t>
            </a:r>
            <a:endParaRPr lang="en-US" sz="32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Researchers testing structured, principled prompts against casual ones measured response-quality improvements of more than half on the strongest models. (Bsharat et al., 2024, preprint)</a:t>
            </a:r>
            <a:endParaRPr lang="en-US" sz="16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prompts can’t fix</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92024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548640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note-home prompt: the situation, never the child. Kit 1 rides along.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to parents about the field trip.”</a:t>
            </a:r>
            <a:endParaRPr lang="en-US" sz="1800" dirty="0"/>
          </a:p>
        </p:txBody>
      </p:sp>
      <p:sp>
        <p:nvSpPr>
          <p:cNvPr id="17" name="Shape 14"/>
          <p:cNvSpPr/>
          <p:nvPr/>
        </p:nvSpPr>
        <p:spPr>
          <a:xfrm>
            <a:off x="640080" y="3017520"/>
            <a:ext cx="10972800" cy="2651760"/>
          </a:xfrm>
          <a:prstGeom prst="roundRect">
            <a:avLst>
              <a:gd name="adj" fmla="val 3103"/>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210312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“You are a warm, organized elementary teacher. Write a note to families about an upcoming museum field trip. Context: departure 8:30 a.m., return by 2 p.m., students need a bagged lunch and a signed permission slip by Friday. Reading level: busy families skimming on a phone. Format: under 150 words, three action items as a bulleted list.”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leveling spec: grade level, keep key ideas, sentence limits, vocab box.</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“Make this easier.”</a:t>
            </a:r>
            <a:endParaRPr lang="en-US" sz="1800" dirty="0"/>
          </a:p>
        </p:txBody>
      </p:sp>
      <p:sp>
        <p:nvSpPr>
          <p:cNvPr id="17" name="Shape 14"/>
          <p:cNvSpPr/>
          <p:nvPr/>
        </p:nvSpPr>
        <p:spPr>
          <a:xfrm>
            <a:off x="640080" y="3017520"/>
            <a:ext cx="10972800" cy="2194560"/>
          </a:xfrm>
          <a:prstGeom prst="roundRect">
            <a:avLst>
              <a:gd name="adj" fmla="val 3750"/>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164592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“Rewrite this passage at a 3rd grade reading level. Keep every key idea and the section headings. Sentence length under 12 words where possible. Then add a 5-word vocabulary box with student-friendly definitions.”  [paste your passage]</a:t>
            </a:r>
            <a:endParaRPr lang="en-US" sz="1550" dirty="0"/>
          </a:p>
        </p:txBody>
      </p:sp>
      <p:sp>
        <p:nvSpPr>
          <p:cNvPr id="20" name="Text 17"/>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school prompt library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draft one: all four parts in, run once, read like an editor.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4892040" cy="731520"/>
          </a:xfrm>
          <a:prstGeom prst="roundRect">
            <a:avLst>
              <a:gd name="adj" fmla="val 11250"/>
            </a:avLst>
          </a:prstGeom>
          <a:solidFill>
            <a:srgbClr val="F7F5F0"/>
          </a:solidFill>
          <a:ln w="12700">
            <a:solidFill>
              <a:srgbClr val="F7F5F0"/>
            </a:solidFill>
            <a:prstDash val="solid"/>
          </a:ln>
        </p:spPr>
      </p:sp>
      <p:sp>
        <p:nvSpPr>
          <p:cNvPr id="15" name="Text 12"/>
          <p:cNvSpPr/>
          <p:nvPr/>
        </p:nvSpPr>
        <p:spPr>
          <a:xfrm>
            <a:off x="914400" y="156362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Role: who should it be?</a:t>
            </a:r>
            <a:endParaRPr lang="en-US" sz="1550" dirty="0"/>
          </a:p>
        </p:txBody>
      </p:sp>
      <p:sp>
        <p:nvSpPr>
          <p:cNvPr id="16" name="Shape 13"/>
          <p:cNvSpPr/>
          <p:nvPr/>
        </p:nvSpPr>
        <p:spPr>
          <a:xfrm>
            <a:off x="640080" y="2377440"/>
            <a:ext cx="4892040" cy="731520"/>
          </a:xfrm>
          <a:prstGeom prst="roundRect">
            <a:avLst>
              <a:gd name="adj" fmla="val 11250"/>
            </a:avLst>
          </a:prstGeom>
          <a:solidFill>
            <a:srgbClr val="F7F5F0"/>
          </a:solidFill>
          <a:ln w="12700">
            <a:solidFill>
              <a:srgbClr val="F7F5F0"/>
            </a:solidFill>
            <a:prstDash val="solid"/>
          </a:ln>
        </p:spPr>
      </p:sp>
      <p:sp>
        <p:nvSpPr>
          <p:cNvPr id="17" name="Text 14"/>
          <p:cNvSpPr/>
          <p:nvPr/>
        </p:nvSpPr>
        <p:spPr>
          <a:xfrm>
            <a:off x="914400" y="243230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Task: one clear verb</a:t>
            </a:r>
            <a:endParaRPr lang="en-US" sz="1550" dirty="0"/>
          </a:p>
        </p:txBody>
      </p:sp>
      <p:sp>
        <p:nvSpPr>
          <p:cNvPr id="18" name="Shape 15"/>
          <p:cNvSpPr/>
          <p:nvPr/>
        </p:nvSpPr>
        <p:spPr>
          <a:xfrm>
            <a:off x="640080" y="3246120"/>
            <a:ext cx="4892040" cy="731520"/>
          </a:xfrm>
          <a:prstGeom prst="roundRect">
            <a:avLst>
              <a:gd name="adj" fmla="val 11250"/>
            </a:avLst>
          </a:prstGeom>
          <a:solidFill>
            <a:srgbClr val="F7F5F0"/>
          </a:solidFill>
          <a:ln w="12700">
            <a:solidFill>
              <a:srgbClr val="F7F5F0"/>
            </a:solidFill>
            <a:prstDash val="solid"/>
          </a:ln>
        </p:spPr>
      </p:sp>
      <p:sp>
        <p:nvSpPr>
          <p:cNvPr id="19" name="Text 16"/>
          <p:cNvSpPr/>
          <p:nvPr/>
        </p:nvSpPr>
        <p:spPr>
          <a:xfrm>
            <a:off x="914400" y="330098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Context: what would a substitute need to know?</a:t>
            </a:r>
            <a:endParaRPr lang="en-US" sz="1550" dirty="0"/>
          </a:p>
        </p:txBody>
      </p:sp>
      <p:sp>
        <p:nvSpPr>
          <p:cNvPr id="20" name="Shape 17"/>
          <p:cNvSpPr/>
          <p:nvPr/>
        </p:nvSpPr>
        <p:spPr>
          <a:xfrm>
            <a:off x="640080" y="4114800"/>
            <a:ext cx="4892040" cy="731520"/>
          </a:xfrm>
          <a:prstGeom prst="roundRect">
            <a:avLst>
              <a:gd name="adj" fmla="val 11250"/>
            </a:avLst>
          </a:prstGeom>
          <a:solidFill>
            <a:srgbClr val="F7F5F0"/>
          </a:solidFill>
          <a:ln w="12700">
            <a:solidFill>
              <a:srgbClr val="F7F5F0"/>
            </a:solidFill>
            <a:prstDash val="solid"/>
          </a:ln>
        </p:spPr>
      </p:sp>
      <p:sp>
        <p:nvSpPr>
          <p:cNvPr id="21" name="Text 18"/>
          <p:cNvSpPr/>
          <p:nvPr/>
        </p:nvSpPr>
        <p:spPr>
          <a:xfrm>
            <a:off x="914400" y="416966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Format: exactly what the output looks like</a:t>
            </a:r>
            <a:endParaRPr lang="en-US" sz="1550" dirty="0"/>
          </a:p>
        </p:txBody>
      </p:sp>
      <p:sp>
        <p:nvSpPr>
          <p:cNvPr id="22" name="Shape 19"/>
          <p:cNvSpPr/>
          <p:nvPr/>
        </p:nvSpPr>
        <p:spPr>
          <a:xfrm>
            <a:off x="5806440" y="1508760"/>
            <a:ext cx="5806440" cy="3429000"/>
          </a:xfrm>
          <a:prstGeom prst="roundRect">
            <a:avLst>
              <a:gd name="adj" fmla="val 2400"/>
            </a:avLst>
          </a:prstGeom>
          <a:solidFill>
            <a:srgbClr val="EAF5F3"/>
          </a:solidFill>
          <a:ln w="12700">
            <a:solidFill>
              <a:srgbClr val="EAF5F3"/>
            </a:solidFill>
            <a:prstDash val="solid"/>
          </a:ln>
        </p:spPr>
      </p:sp>
      <p:sp>
        <p:nvSpPr>
          <p:cNvPr id="23" name="Text 20"/>
          <p:cNvSpPr/>
          <p:nvPr/>
        </p:nvSpPr>
        <p:spPr>
          <a:xfrm>
            <a:off x="6080760" y="1691640"/>
            <a:ext cx="534924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REVIEW PROMPT · STEP 1 · HER FIRST DRAFT</a:t>
            </a:r>
            <a:endParaRPr lang="en-US" sz="1250" dirty="0"/>
          </a:p>
        </p:txBody>
      </p:sp>
      <p:sp>
        <p:nvSpPr>
          <p:cNvPr id="24" name="Text 21"/>
          <p:cNvSpPr/>
          <p:nvPr/>
        </p:nvSpPr>
        <p:spPr>
          <a:xfrm>
            <a:off x="6080760" y="2103120"/>
            <a:ext cx="5257800" cy="23317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25" name="Text 22"/>
          <p:cNvSpPr/>
          <p:nvPr/>
        </p:nvSpPr>
        <p:spPr>
          <a:xfrm>
            <a:off x="6080760" y="4480560"/>
            <a:ext cx="525780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colors as the makeover: role, task, context, format.</a:t>
            </a:r>
            <a:endParaRPr lang="en-US" sz="1300" dirty="0"/>
          </a:p>
        </p:txBody>
      </p:sp>
      <p:sp>
        <p:nvSpPr>
          <p:cNvPr id="26" name="Text 23"/>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Run it. Then read the draft like an editor, not a fan.</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three rounds in: content fixed, voice warmed, details tight.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416052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61848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1 · Content</a:t>
            </a:r>
            <a:endParaRPr lang="en-US" sz="1700" dirty="0"/>
          </a:p>
        </p:txBody>
      </p:sp>
      <p:sp>
        <p:nvSpPr>
          <p:cNvPr id="16" name="Text 13"/>
          <p:cNvSpPr/>
          <p:nvPr/>
        </p:nvSpPr>
        <p:spPr>
          <a:xfrm>
            <a:off x="914400" y="198424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What’s wrong or missing? Fix it first.</a:t>
            </a:r>
            <a:endParaRPr lang="en-US" sz="1350" dirty="0"/>
          </a:p>
        </p:txBody>
      </p:sp>
      <p:sp>
        <p:nvSpPr>
          <p:cNvPr id="17" name="Shape 14"/>
          <p:cNvSpPr/>
          <p:nvPr/>
        </p:nvSpPr>
        <p:spPr>
          <a:xfrm>
            <a:off x="640080" y="2697480"/>
            <a:ext cx="416052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80720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2 · Voice</a:t>
            </a:r>
            <a:endParaRPr lang="en-US" sz="1700" dirty="0"/>
          </a:p>
        </p:txBody>
      </p:sp>
      <p:sp>
        <p:nvSpPr>
          <p:cNvPr id="19" name="Text 16"/>
          <p:cNvSpPr/>
          <p:nvPr/>
        </p:nvSpPr>
        <p:spPr>
          <a:xfrm>
            <a:off x="914400" y="317296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Does it sound like you? Read it aloud.</a:t>
            </a:r>
            <a:endParaRPr lang="en-US" sz="1350" dirty="0"/>
          </a:p>
        </p:txBody>
      </p:sp>
      <p:sp>
        <p:nvSpPr>
          <p:cNvPr id="20" name="Shape 17"/>
          <p:cNvSpPr/>
          <p:nvPr/>
        </p:nvSpPr>
        <p:spPr>
          <a:xfrm>
            <a:off x="640080" y="3886200"/>
            <a:ext cx="416052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3 · Details</a:t>
            </a:r>
            <a:endParaRPr lang="en-US" sz="1700" dirty="0"/>
          </a:p>
        </p:txBody>
      </p:sp>
      <p:sp>
        <p:nvSpPr>
          <p:cNvPr id="22" name="Text 19"/>
          <p:cNvSpPr/>
          <p:nvPr/>
        </p:nvSpPr>
        <p:spPr>
          <a:xfrm>
            <a:off x="914400" y="436168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Length, level, layout: make them exact.</a:t>
            </a:r>
            <a:endParaRPr lang="en-US" sz="1350" dirty="0"/>
          </a:p>
        </p:txBody>
      </p:sp>
      <p:sp>
        <p:nvSpPr>
          <p:cNvPr id="23" name="Shape 20"/>
          <p:cNvSpPr/>
          <p:nvPr/>
        </p:nvSpPr>
        <p:spPr>
          <a:xfrm>
            <a:off x="5029200" y="1508760"/>
            <a:ext cx="6629400" cy="3566160"/>
          </a:xfrm>
          <a:prstGeom prst="roundRect">
            <a:avLst>
              <a:gd name="adj" fmla="val 2308"/>
            </a:avLst>
          </a:prstGeom>
          <a:solidFill>
            <a:srgbClr val="EAF5F3"/>
          </a:solidFill>
          <a:ln w="12700">
            <a:solidFill>
              <a:srgbClr val="EAF5F3"/>
            </a:solidFill>
            <a:prstDash val="solid"/>
          </a:ln>
        </p:spPr>
      </p:sp>
      <p:sp>
        <p:nvSpPr>
          <p:cNvPr id="24" name="Text 21"/>
          <p:cNvSpPr/>
          <p:nvPr/>
        </p:nvSpPr>
        <p:spPr>
          <a:xfrm>
            <a:off x="5303520" y="1691640"/>
            <a:ext cx="612648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REVIEW PROMPT · STEP 2 · HER THREE ROUNDS</a:t>
            </a:r>
            <a:endParaRPr lang="en-US" sz="1250" dirty="0"/>
          </a:p>
        </p:txBody>
      </p:sp>
      <p:sp>
        <p:nvSpPr>
          <p:cNvPr id="25" name="Text 22"/>
          <p:cNvSpPr/>
          <p:nvPr/>
        </p:nvSpPr>
        <p:spPr>
          <a:xfrm>
            <a:off x="5303520" y="2103120"/>
            <a:ext cx="6080760" cy="2834640"/>
          </a:xfrm>
          <a:prstGeom prst="rect">
            <a:avLst/>
          </a:prstGeom>
          <a:noFill/>
          <a:ln/>
        </p:spPr>
        <p:txBody>
          <a:bodyPr wrap="square" lIns="0" tIns="0" rIns="0" bIns="0" rtlCol="0" anchor="t"/>
          <a:lstStyle/>
          <a:p>
            <a:pPr indent="0" marL="0">
              <a:lnSpc>
                <a:spcPct val="125000"/>
              </a:lnSpc>
              <a:buNone/>
            </a:pPr>
            <a:r>
              <a:rPr lang="en-US" sz="1650" b="1" dirty="0">
                <a:solidFill>
                  <a:srgbClr val="13293D"/>
                </a:solidFill>
                <a:latin typeface="Inter" pitchFamily="34" charset="0"/>
                <a:ea typeface="Inter" pitchFamily="34" charset="-122"/>
                <a:cs typeface="Inter" pitchFamily="34" charset="-120"/>
              </a:rPr>
              <a:t>Content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5000"/>
              </a:lnSpc>
              <a:buNone/>
            </a:pPr>
            <a:r>
              <a:rPr lang="en-US" sz="1650" b="1" dirty="0">
                <a:solidFill>
                  <a:srgbClr val="13293D"/>
                </a:solidFill>
                <a:latin typeface="Inter" pitchFamily="34" charset="0"/>
                <a:ea typeface="Inter" pitchFamily="34" charset="-122"/>
                <a:cs typeface="Inter" pitchFamily="34" charset="-120"/>
              </a:rPr>
              <a:t>Voice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5000"/>
              </a:lnSpc>
              <a:buNone/>
            </a:pPr>
            <a:r>
              <a:rPr lang="en-US" sz="1650" b="1" dirty="0">
                <a:solidFill>
                  <a:srgbClr val="13293D"/>
                </a:solidFill>
                <a:latin typeface="Inter" pitchFamily="34" charset="0"/>
                <a:ea typeface="Inter" pitchFamily="34" charset="-122"/>
                <a:cs typeface="Inter" pitchFamily="34" charset="-120"/>
              </a:rPr>
              <a:t>Details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“Exactly ten questions, numbered, answer key on its own page.”</a:t>
            </a:r>
            <a:endParaRPr lang="en-US" sz="1650" dirty="0"/>
          </a:p>
        </p:txBody>
      </p:sp>
      <p:sp>
        <p:nvSpPr>
          <p:cNvPr id="26" name="Text 23"/>
          <p:cNvSpPr/>
          <p:nvPr/>
        </p:nvSpPr>
        <p:spPr>
          <a:xfrm>
            <a:off x="640080" y="530352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bracketed into a template and saved to the school prompt library.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it. Save it. Share it.</a:t>
            </a:r>
            <a:endParaRPr lang="en-US" sz="3200" dirty="0"/>
          </a:p>
        </p:txBody>
      </p:sp>
      <p:sp>
        <p:nvSpPr>
          <p:cNvPr id="14" name="Text 11"/>
          <p:cNvSpPr/>
          <p:nvPr/>
        </p:nvSpPr>
        <p:spPr>
          <a:xfrm>
            <a:off x="640080" y="1508760"/>
            <a:ext cx="4846320" cy="31089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Save the final template to the school prompt library</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Give it a title and pick subject and grades; your name rides along</a:t>
            </a:r>
            <a:endParaRPr lang="en-US" sz="1700" dirty="0"/>
          </a:p>
        </p:txBody>
      </p:sp>
      <p:sp>
        <p:nvSpPr>
          <p:cNvPr id="15" name="Shape 12"/>
          <p:cNvSpPr/>
          <p:nvPr/>
        </p:nvSpPr>
        <p:spPr>
          <a:xfrm>
            <a:off x="5806440" y="1508760"/>
            <a:ext cx="5806440" cy="3429000"/>
          </a:xfrm>
          <a:prstGeom prst="roundRect">
            <a:avLst>
              <a:gd name="adj" fmla="val 2400"/>
            </a:avLst>
          </a:prstGeom>
          <a:solidFill>
            <a:srgbClr val="EAF5F3"/>
          </a:solidFill>
          <a:ln w="12700">
            <a:solidFill>
              <a:srgbClr val="EAF5F3"/>
            </a:solidFill>
            <a:prstDash val="solid"/>
          </a:ln>
        </p:spPr>
      </p:sp>
      <p:sp>
        <p:nvSpPr>
          <p:cNvPr id="16" name="Text 13"/>
          <p:cNvSpPr/>
          <p:nvPr/>
        </p:nvSpPr>
        <p:spPr>
          <a:xfrm>
            <a:off x="6080760" y="1691640"/>
            <a:ext cx="5349240" cy="292608"/>
          </a:xfrm>
          <a:prstGeom prst="rect">
            <a:avLst/>
          </a:prstGeom>
          <a:noFill/>
          <a:ln/>
        </p:spPr>
        <p:txBody>
          <a:bodyPr wrap="square" lIns="0" tIns="0" rIns="0" bIns="0" rtlCol="0" anchor="ctr"/>
          <a:lstStyle/>
          <a:p>
            <a:pPr indent="0" marL="0">
              <a:buNone/>
            </a:pPr>
            <a:r>
              <a:rPr lang="en-US" sz="1200" b="1" spc="120" kern="0" dirty="0">
                <a:solidFill>
                  <a:srgbClr val="2A9D8F"/>
                </a:solidFill>
                <a:latin typeface="Inter" pitchFamily="34" charset="0"/>
                <a:ea typeface="Inter" pitchFamily="34" charset="-122"/>
                <a:cs typeface="Inter" pitchFamily="34" charset="-120"/>
              </a:rPr>
              <a:t>MS. RIVERA'S REVIEW PROMPT · STEP 3 · HER TEMPLATE, SAVED</a:t>
            </a:r>
            <a:endParaRPr lang="en-US" sz="1200" dirty="0"/>
          </a:p>
        </p:txBody>
      </p:sp>
      <p:sp>
        <p:nvSpPr>
          <p:cNvPr id="17" name="Text 14"/>
          <p:cNvSpPr/>
          <p:nvPr/>
        </p:nvSpPr>
        <p:spPr>
          <a:xfrm>
            <a:off x="6080760" y="2103120"/>
            <a:ext cx="5257800" cy="2103120"/>
          </a:xfrm>
          <a:prstGeom prst="rect">
            <a:avLst/>
          </a:prstGeom>
          <a:noFill/>
          <a:ln/>
        </p:spPr>
        <p:txBody>
          <a:bodyPr wrap="square" lIns="0" tIns="0" rIns="0" bIns="0" rtlCol="0" anchor="t"/>
          <a:lstStyle/>
          <a:p>
            <a:pPr indent="0" marL="0">
              <a:lnSpc>
                <a:spcPct val="120000"/>
              </a:lnSpc>
              <a:buNone/>
            </a:pPr>
            <a:r>
              <a:rPr lang="en-US" sz="1650" b="1" i="1" dirty="0">
                <a:solidFill>
                  <a:srgbClr val="13293D"/>
                </a:solidFill>
                <a:latin typeface="Inter" pitchFamily="34" charset="0"/>
                <a:ea typeface="Inter" pitchFamily="34" charset="-122"/>
                <a:cs typeface="Inter" pitchFamily="34" charset="-120"/>
              </a:rPr>
              <a:t>“You are an experienced [grade] teacher. Write a [number]-question review on [topic] for a class that still confuses [what they mix up]. Mix multiple choice and short answer. Include an answer key.”</a:t>
            </a:r>
            <a:endParaRPr lang="en-US" sz="1650" dirty="0"/>
          </a:p>
        </p:txBody>
      </p:sp>
      <p:sp>
        <p:nvSpPr>
          <p:cNvPr id="18" name="Text 15"/>
          <p:cNvSpPr/>
          <p:nvPr/>
        </p:nvSpPr>
        <p:spPr>
          <a:xfrm>
            <a:off x="6080760" y="4343400"/>
            <a:ext cx="5257800" cy="45720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Saved: “Weekly review questions” · Math · Grades 3–5 · Ms. Rivera</a:t>
            </a:r>
            <a:endParaRPr lang="en-US" sz="1200" dirty="0"/>
          </a:p>
        </p:txBody>
      </p:sp>
      <p:sp>
        <p:nvSpPr>
          <p:cNvPr id="19" name="Shape 16"/>
          <p:cNvSpPr/>
          <p:nvPr/>
        </p:nvSpPr>
        <p:spPr>
          <a:xfrm>
            <a:off x="640080" y="5120640"/>
            <a:ext cx="10972800" cy="914400"/>
          </a:xfrm>
          <a:prstGeom prst="roundRect">
            <a:avLst>
              <a:gd name="adj" fmla="val 9000"/>
            </a:avLst>
          </a:prstGeom>
          <a:solidFill>
            <a:srgbClr val="EAF5F3"/>
          </a:solidFill>
          <a:ln w="12700">
            <a:solidFill>
              <a:srgbClr val="EAF5F3"/>
            </a:solidFill>
            <a:prstDash val="solid"/>
          </a:ln>
        </p:spPr>
      </p:sp>
      <p:sp>
        <p:nvSpPr>
          <p:cNvPr id="20" name="Text 17"/>
          <p:cNvSpPr/>
          <p:nvPr/>
        </p:nvSpPr>
        <p:spPr>
          <a:xfrm>
            <a:off x="960120" y="5212080"/>
            <a:ext cx="1033272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went from asking to owning</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24</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prompt library</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school library. Nobody solves twice.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prompt library.</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Save to the prompt library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a title, one line about what it’s for</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30</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2026-08-12T22:19:41Z</dcterms:created>
  <dcterms:modified xsi:type="dcterms:W3CDTF">2026-08-12T22:19:41Z</dcterms:modified>
</cp:coreProperties>
</file>