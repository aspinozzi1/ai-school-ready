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 1: the One Hard Rule and the review-everything rule are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Gallup-Walton 2025, 2,232 teachers. The gap between weekly users and non-users is the skill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prompting a fad until AI gets smarter?": tools get better at guessing intent, but no tool can guess what only you know: your grade, your students, your constraints, your taste.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stops this hour: the anatomy of a prompt that works, live makeovers of real prompts, learning to iterate instead of settling, and a lab where you build a reusable prompt for a task you do every week. The promise line matters: staff leave with a tool, not notes.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Anthropic’s own documentation ("golden rule of clear prompting"). This is the pre-flight check for every prompt staff ever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Google, Anthropic, and state DOE frameworks (NC’s CRAFT, AI for Education’s Five-S) converge on these same elements. If asked "all four every time?": no; but when output disappoints, the missing part is almost always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study: 26 prompt-design principles improved GPT-4 response quality by 57.7% on average (accuracy by 36.4%). Labeled a preprint in the References. Keep it one beat; don’t oversell.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honestly: even a well-iterated, careful prompt can produce a confident factual error that only subject expertise catches. Expertise is the safety net; never lend yours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the same request go from beige to usable on our example teacher's screen. Ms. Rivera appears in every kit; she's a composite, not a real teacher, and her screen is the thing to mimic in the lab. Count the four color-coded parts out loud: role in teal, task in navy, context in amber, format in green. Same request, completely different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Kit 1 rule working alongside the formula: zero student names, and none needed. The situation, not the 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saves the most weekly time. Kit 3 goes deep on differentiation; today it’s a formula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escape hatch is the crowd favorite: one line turns a guessing machine into an interviewer. Nothing communicates taste like a pasted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Brisk;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call these "prompt patterns" (White et al., 2023): documented, reusable solutions. We call it the school prompt library, on the member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formalizes Kit 1’s "push back twice" into a system. Content, then voice, then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when to quit a thread is itself a skill: one round of deciding, not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authors’ shared take from the script: voice matters most in personal communication with parents and students; academic language has its place, but empathetic personal messages should be in the teacher’s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ONE artifact across all three steps: her weekly review-questions prompt, first draft to saved template. Her exemplar appears large on every step slide; anyone lost can copy her structure and still finish. The script’s worked example under slide 19 is a real reusable prompt from a working carpentry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Weak prompts usually lack context; nudge with "what would a substitute need to know to do this right?" The big card is Ms. Rivera's first draft for her weekly review questions, the one artifact she carries through all three steps, color-coded like slide 9; anyone stuck can copy its shape. Then read the real carpentry CNC table-leg prompt from the script as the worked example (three stacked roles, one task, SVG-for-CNC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one round instead of three, then straight to step 3. The big card is Ms. Rivera's three typed pushback lines, all on the same review prompt from step 1: content, then voice, then details. Lost participants copy her rhythm with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the school prompt library on the member site. Watching entries appear live is the session’s proudest moment. The big card is Ms. Rivera's finished template: the same review prompt from steps 1 and 2 with the specifics swapped for blanks, saved under her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reading their before AND after lets the room hear the delta. Keep each voice to a minute. If the room is shy, read Ms. Rivera's delta yourself: her step 1 draft against her step 3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the library plus the habit,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handout’s spine too. Read it as a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Steady, honest close to the teaching. The next two slides are commitments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same as Kit 1.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2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Prompting Basics: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Getting Useful Results Every Time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reusable prompt you built yourself.</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same tools as the weekly savers. The skill is what differs.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HOUR EXISTS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Same tools. Very different results.</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~3 in 10</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teachers use AI weekly,</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saving ~5.9 hours a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4 in 10</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don’t use AI at all,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tools, same access</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difference isn’t the technology. It’s a skill: knowing how to ask.</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lesson learned: vague in, beige out. The model only has what she gives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FLASHBACK: PREDICTION MACHINES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“just ask” gets beige answers</a:t>
            </a:r>
            <a:endParaRPr lang="en-US" sz="32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model predicts the most likely continuation of your words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vague prompt → the most average answer on the internet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a lesson on fractions” gets you the world’s most generic fractions lesson. Not wrong. Beige.</a:t>
            </a:r>
            <a:endParaRPr lang="en-US" sz="2100" dirty="0"/>
          </a:p>
        </p:txBody>
      </p:sp>
      <p:sp>
        <p:nvSpPr>
          <p:cNvPr id="15" name="Shape 12"/>
          <p:cNvSpPr/>
          <p:nvPr/>
        </p:nvSpPr>
        <p:spPr>
          <a:xfrm>
            <a:off x="640080" y="4023360"/>
            <a:ext cx="10972800" cy="1645920"/>
          </a:xfrm>
          <a:prstGeom prst="roundRect">
            <a:avLst>
              <a:gd name="adj" fmla="val 5000"/>
            </a:avLst>
          </a:prstGeom>
          <a:solidFill>
            <a:srgbClr val="EAF5F3"/>
          </a:solidFill>
          <a:ln w="12700">
            <a:solidFill>
              <a:srgbClr val="EAF5F3"/>
            </a:solidFill>
            <a:prstDash val="solid"/>
          </a:ln>
        </p:spPr>
      </p:sp>
      <p:sp>
        <p:nvSpPr>
          <p:cNvPr id="16" name="Text 13"/>
          <p:cNvSpPr/>
          <p:nvPr/>
        </p:nvSpPr>
        <p:spPr>
          <a:xfrm>
            <a:off x="960120" y="4251960"/>
            <a:ext cx="10332720" cy="11887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The fix isn’t magic words. The fix is information: the model can only use what you give it.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leave owning one reusable prompt for a weekly task.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Anatomy of a prompt that works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Live makeovers: real prompts, fixed</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Iterate, don’t settle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your reusable prompt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owning a reusable prompt for a task you do every week. Not theory.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pre-flight: would a colleague with zero context get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TEST PREDICTS EVERYTHING</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colleague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Show your prompt to a colleague with zero context.</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If they’d be confused, the model will be too.</a:t>
            </a:r>
            <a:endParaRPr lang="en-US" sz="26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Treat the AI like a brilliant new hire on day one: enormously capable, knows nothing about your classroom. Write for that new hire.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formula, from now on: Role, Task, Context, Format.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EVERY OFFICIAL GUIDE CONVERGES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parts, every time</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Role</a:t>
            </a:r>
            <a:endParaRPr lang="en-US" sz="2200" dirty="0"/>
          </a:p>
        </p:txBody>
      </p:sp>
      <p:sp>
        <p:nvSpPr>
          <p:cNvPr id="16" name="Text 13"/>
          <p:cNvSpPr/>
          <p:nvPr/>
        </p:nvSpPr>
        <p:spPr>
          <a:xfrm>
            <a:off x="91440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Who should the AI be?</a:t>
            </a:r>
            <a:endParaRPr lang="en-US" sz="1600" dirty="0"/>
          </a:p>
        </p:txBody>
      </p:sp>
      <p:sp>
        <p:nvSpPr>
          <p:cNvPr id="17" name="Text 14"/>
          <p:cNvSpPr/>
          <p:nvPr/>
        </p:nvSpPr>
        <p:spPr>
          <a:xfrm>
            <a:off x="91440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“You are an experienced 4th grade teacher.”</a:t>
            </a:r>
            <a:endParaRPr lang="en-US" sz="1450" dirty="0"/>
          </a:p>
        </p:txBody>
      </p:sp>
      <p:sp>
        <p:nvSpPr>
          <p:cNvPr id="18" name="Shape 15"/>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Task</a:t>
            </a:r>
            <a:endParaRPr lang="en-US" sz="2200" dirty="0"/>
          </a:p>
        </p:txBody>
      </p:sp>
      <p:sp>
        <p:nvSpPr>
          <p:cNvPr id="20" name="Text 17"/>
          <p:cNvSpPr/>
          <p:nvPr/>
        </p:nvSpPr>
        <p:spPr>
          <a:xfrm>
            <a:off x="653796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exactly do you want? One clear verb.</a:t>
            </a:r>
            <a:endParaRPr lang="en-US" sz="1600" dirty="0"/>
          </a:p>
        </p:txBody>
      </p:sp>
      <p:sp>
        <p:nvSpPr>
          <p:cNvPr id="21" name="Text 18"/>
          <p:cNvSpPr/>
          <p:nvPr/>
        </p:nvSpPr>
        <p:spPr>
          <a:xfrm>
            <a:off x="653796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“Draft a 45-minute intro lesson…”</a:t>
            </a:r>
            <a:endParaRPr lang="en-US" sz="1450" dirty="0"/>
          </a:p>
        </p:txBody>
      </p:sp>
      <p:sp>
        <p:nvSpPr>
          <p:cNvPr id="22" name="Shape 19"/>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Context</a:t>
            </a:r>
            <a:endParaRPr lang="en-US" sz="2200" dirty="0"/>
          </a:p>
        </p:txBody>
      </p:sp>
      <p:sp>
        <p:nvSpPr>
          <p:cNvPr id="24" name="Text 21"/>
          <p:cNvSpPr/>
          <p:nvPr/>
        </p:nvSpPr>
        <p:spPr>
          <a:xfrm>
            <a:off x="91440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would a substitute need to know?</a:t>
            </a:r>
            <a:endParaRPr lang="en-US" sz="1600" dirty="0"/>
          </a:p>
        </p:txBody>
      </p:sp>
      <p:sp>
        <p:nvSpPr>
          <p:cNvPr id="25" name="Text 22"/>
          <p:cNvSpPr/>
          <p:nvPr/>
        </p:nvSpPr>
        <p:spPr>
          <a:xfrm>
            <a:off x="91440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“They confuse numerator and denominator…”</a:t>
            </a:r>
            <a:endParaRPr lang="en-US" sz="1450" dirty="0"/>
          </a:p>
        </p:txBody>
      </p:sp>
      <p:sp>
        <p:nvSpPr>
          <p:cNvPr id="26" name="Shape 2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Format</a:t>
            </a:r>
            <a:endParaRPr lang="en-US" sz="2200" dirty="0"/>
          </a:p>
        </p:txBody>
      </p:sp>
      <p:sp>
        <p:nvSpPr>
          <p:cNvPr id="28" name="Text 25"/>
          <p:cNvSpPr/>
          <p:nvPr/>
        </p:nvSpPr>
        <p:spPr>
          <a:xfrm>
            <a:off x="653796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should the output look like?</a:t>
            </a:r>
            <a:endParaRPr lang="en-US" sz="1600" dirty="0"/>
          </a:p>
        </p:txBody>
      </p:sp>
      <p:sp>
        <p:nvSpPr>
          <p:cNvPr id="29" name="Text 26"/>
          <p:cNvSpPr/>
          <p:nvPr/>
        </p:nvSpPr>
        <p:spPr>
          <a:xfrm>
            <a:off x="653796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“A table with timings + 3-question exit check.”</a:t>
            </a:r>
            <a:endParaRPr lang="en-US" sz="1450" dirty="0"/>
          </a:p>
        </p:txBody>
      </p:sp>
      <p:sp>
        <p:nvSpPr>
          <p:cNvPr id="30" name="Text 2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Role · Task · Context · Format. Everything else today is practice.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calibrated: structure buys measurably better output.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MEASURED,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Specific in, specific out</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+50%</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Researchers testing structured, principled prompts against casual ones measured response-quality improvements of more than half on the strongest models. (Bsharat et al., 2024, preprint)</a:t>
            </a:r>
            <a:endParaRPr lang="en-US" sz="1600" dirty="0"/>
          </a:p>
        </p:txBody>
      </p:sp>
      <p:sp>
        <p:nvSpPr>
          <p:cNvPr id="17" name="Text 14"/>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The formula is just a reliable way to be specific.</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caveat, permanent: no prompt turns off hallucination. She still verifies.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HONEST LIMITS, BEFORE THE MAKEOVERS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 thing prompts can’t fix</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No prompt turns off hallucination. A beautifully structured prompt can still invent a fact, with total confidence.</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Prompting improves quality and fit; it does not replace verification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Kit 1 rule rides along forever: anything factual gets checked before you rely on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PLANNING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lesson plan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lesson on fractions.”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92024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Draft a 45-minute introductory lesson on equivalent fractions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class that has mastered basic fraction notation but confuses numerator and denominator when simplifying. Include a 5-minute warm-up, a hands-on activity using paper folding, and a 3-question exit check.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as a table with timings.”</a:t>
            </a:r>
            <a:endParaRPr lang="en-US" sz="1600" dirty="0"/>
          </a:p>
        </p:txBody>
      </p:sp>
      <p:sp>
        <p:nvSpPr>
          <p:cNvPr id="16" name="Text 13"/>
          <p:cNvSpPr/>
          <p:nvPr/>
        </p:nvSpPr>
        <p:spPr>
          <a:xfrm>
            <a:off x="1554480" y="4617720"/>
            <a:ext cx="548640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AI: drafting the table…</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note-home prompt: the situation, never the child. Kit 1 rides along.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COMMUNICATION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family note (no names needed)</a:t>
            </a:r>
            <a:endParaRPr lang="en-US" sz="3200" dirty="0"/>
          </a:p>
        </p:txBody>
      </p:sp>
      <p:sp>
        <p:nvSpPr>
          <p:cNvPr id="14" name="Shape 11"/>
          <p:cNvSpPr/>
          <p:nvPr/>
        </p:nvSpPr>
        <p:spPr>
          <a:xfrm>
            <a:off x="640080" y="1417320"/>
            <a:ext cx="10972800" cy="1371600"/>
          </a:xfrm>
          <a:prstGeom prst="roundRect">
            <a:avLst>
              <a:gd name="adj" fmla="val 6000"/>
            </a:avLst>
          </a:prstGeom>
          <a:solidFill>
            <a:srgbClr val="FBEFED"/>
          </a:solidFill>
          <a:ln w="12700">
            <a:solidFill>
              <a:srgbClr val="FBEFED"/>
            </a:solidFill>
            <a:prstDash val="solid"/>
          </a:ln>
        </p:spPr>
      </p:sp>
      <p:sp>
        <p:nvSpPr>
          <p:cNvPr id="15" name="Text 12"/>
          <p:cNvSpPr/>
          <p:nvPr/>
        </p:nvSpPr>
        <p:spPr>
          <a:xfrm>
            <a:off x="914400" y="1554480"/>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BEFORE</a:t>
            </a:r>
            <a:endParaRPr lang="en-US" sz="1400" dirty="0"/>
          </a:p>
        </p:txBody>
      </p:sp>
      <p:sp>
        <p:nvSpPr>
          <p:cNvPr id="16" name="Text 13"/>
          <p:cNvSpPr/>
          <p:nvPr/>
        </p:nvSpPr>
        <p:spPr>
          <a:xfrm>
            <a:off x="914400" y="1874520"/>
            <a:ext cx="10424160" cy="82296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a note to parents about the field trip.”</a:t>
            </a:r>
            <a:endParaRPr lang="en-US" sz="1800" dirty="0"/>
          </a:p>
        </p:txBody>
      </p:sp>
      <p:sp>
        <p:nvSpPr>
          <p:cNvPr id="17" name="Shape 14"/>
          <p:cNvSpPr/>
          <p:nvPr/>
        </p:nvSpPr>
        <p:spPr>
          <a:xfrm>
            <a:off x="640080" y="3017520"/>
            <a:ext cx="10972800" cy="2651760"/>
          </a:xfrm>
          <a:prstGeom prst="roundRect">
            <a:avLst>
              <a:gd name="adj" fmla="val 3103"/>
            </a:avLst>
          </a:prstGeom>
          <a:solidFill>
            <a:srgbClr val="EAF5F3"/>
          </a:solidFill>
          <a:ln w="12700">
            <a:solidFill>
              <a:srgbClr val="EAF5F3"/>
            </a:solidFill>
            <a:prstDash val="solid"/>
          </a:ln>
        </p:spPr>
      </p:sp>
      <p:sp>
        <p:nvSpPr>
          <p:cNvPr id="18" name="Text 15"/>
          <p:cNvSpPr/>
          <p:nvPr/>
        </p:nvSpPr>
        <p:spPr>
          <a:xfrm>
            <a:off x="914400" y="3154680"/>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AFTER</a:t>
            </a:r>
            <a:endParaRPr lang="en-US" sz="1400" dirty="0"/>
          </a:p>
        </p:txBody>
      </p:sp>
      <p:sp>
        <p:nvSpPr>
          <p:cNvPr id="19" name="Text 16"/>
          <p:cNvSpPr/>
          <p:nvPr/>
        </p:nvSpPr>
        <p:spPr>
          <a:xfrm>
            <a:off x="914400" y="3474720"/>
            <a:ext cx="10424160" cy="2103120"/>
          </a:xfrm>
          <a:prstGeom prst="rect">
            <a:avLst/>
          </a:prstGeom>
          <a:noFill/>
          <a:ln/>
        </p:spPr>
        <p:txBody>
          <a:bodyPr wrap="square" lIns="0" tIns="0" rIns="0" bIns="0" rtlCol="0" anchor="t"/>
          <a:lstStyle/>
          <a:p>
            <a:pPr indent="0" marL="0">
              <a:buNone/>
            </a:pPr>
            <a:r>
              <a:rPr lang="en-US" sz="1550" i="1" dirty="0">
                <a:solidFill>
                  <a:srgbClr val="1B1F24"/>
                </a:solidFill>
                <a:latin typeface="Inter" pitchFamily="34" charset="0"/>
                <a:ea typeface="Inter" pitchFamily="34" charset="-122"/>
                <a:cs typeface="Inter" pitchFamily="34" charset="-120"/>
              </a:rPr>
              <a:t>“You are a warm, organized elementary teacher. Write a note to families about an upcoming museum field trip. Context: departure 8:30 a.m., return by 2 p.m., students need a bagged lunch and a signed permission slip by Friday. Reading level: busy families skimming on a phone. Format: under 150 words, three action items as a bulleted list.”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leveling spec: grade level, keep key ideas, sentence limits, vocab box.</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DIFFERENTIATION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leveled text</a:t>
            </a:r>
            <a:endParaRPr lang="en-US" sz="3200" dirty="0"/>
          </a:p>
        </p:txBody>
      </p:sp>
      <p:sp>
        <p:nvSpPr>
          <p:cNvPr id="14" name="Shape 11"/>
          <p:cNvSpPr/>
          <p:nvPr/>
        </p:nvSpPr>
        <p:spPr>
          <a:xfrm>
            <a:off x="640080" y="1417320"/>
            <a:ext cx="10972800" cy="1371600"/>
          </a:xfrm>
          <a:prstGeom prst="roundRect">
            <a:avLst>
              <a:gd name="adj" fmla="val 6000"/>
            </a:avLst>
          </a:prstGeom>
          <a:solidFill>
            <a:srgbClr val="FBEFED"/>
          </a:solidFill>
          <a:ln w="12700">
            <a:solidFill>
              <a:srgbClr val="FBEFED"/>
            </a:solidFill>
            <a:prstDash val="solid"/>
          </a:ln>
        </p:spPr>
      </p:sp>
      <p:sp>
        <p:nvSpPr>
          <p:cNvPr id="15" name="Text 12"/>
          <p:cNvSpPr/>
          <p:nvPr/>
        </p:nvSpPr>
        <p:spPr>
          <a:xfrm>
            <a:off x="914400" y="1554480"/>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BEFORE</a:t>
            </a:r>
            <a:endParaRPr lang="en-US" sz="1400" dirty="0"/>
          </a:p>
        </p:txBody>
      </p:sp>
      <p:sp>
        <p:nvSpPr>
          <p:cNvPr id="16" name="Text 13"/>
          <p:cNvSpPr/>
          <p:nvPr/>
        </p:nvSpPr>
        <p:spPr>
          <a:xfrm>
            <a:off x="914400" y="1874520"/>
            <a:ext cx="10424160" cy="82296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“Make this easier.”</a:t>
            </a:r>
            <a:endParaRPr lang="en-US" sz="1800" dirty="0"/>
          </a:p>
        </p:txBody>
      </p:sp>
      <p:sp>
        <p:nvSpPr>
          <p:cNvPr id="17" name="Shape 14"/>
          <p:cNvSpPr/>
          <p:nvPr/>
        </p:nvSpPr>
        <p:spPr>
          <a:xfrm>
            <a:off x="640080" y="3017520"/>
            <a:ext cx="10972800" cy="2194560"/>
          </a:xfrm>
          <a:prstGeom prst="roundRect">
            <a:avLst>
              <a:gd name="adj" fmla="val 3750"/>
            </a:avLst>
          </a:prstGeom>
          <a:solidFill>
            <a:srgbClr val="EAF5F3"/>
          </a:solidFill>
          <a:ln w="12700">
            <a:solidFill>
              <a:srgbClr val="EAF5F3"/>
            </a:solidFill>
            <a:prstDash val="solid"/>
          </a:ln>
        </p:spPr>
      </p:sp>
      <p:sp>
        <p:nvSpPr>
          <p:cNvPr id="18" name="Text 15"/>
          <p:cNvSpPr/>
          <p:nvPr/>
        </p:nvSpPr>
        <p:spPr>
          <a:xfrm>
            <a:off x="914400" y="3154680"/>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AFTER</a:t>
            </a:r>
            <a:endParaRPr lang="en-US" sz="1400" dirty="0"/>
          </a:p>
        </p:txBody>
      </p:sp>
      <p:sp>
        <p:nvSpPr>
          <p:cNvPr id="19" name="Text 16"/>
          <p:cNvSpPr/>
          <p:nvPr/>
        </p:nvSpPr>
        <p:spPr>
          <a:xfrm>
            <a:off x="914400" y="3474720"/>
            <a:ext cx="10424160" cy="1645920"/>
          </a:xfrm>
          <a:prstGeom prst="rect">
            <a:avLst/>
          </a:prstGeom>
          <a:noFill/>
          <a:ln/>
        </p:spPr>
        <p:txBody>
          <a:bodyPr wrap="square" lIns="0" tIns="0" rIns="0" bIns="0" rtlCol="0" anchor="t"/>
          <a:lstStyle/>
          <a:p>
            <a:pPr indent="0" marL="0">
              <a:buNone/>
            </a:pPr>
            <a:r>
              <a:rPr lang="en-US" sz="1550" i="1" dirty="0">
                <a:solidFill>
                  <a:srgbClr val="1B1F24"/>
                </a:solidFill>
                <a:latin typeface="Inter" pitchFamily="34" charset="0"/>
                <a:ea typeface="Inter" pitchFamily="34" charset="-122"/>
                <a:cs typeface="Inter" pitchFamily="34" charset="-120"/>
              </a:rPr>
              <a:t>“Rewrite this passage at a 3rd grade reading level. Keep every key idea and the section headings. Sentence length under 12 words where possible. Then add a 5-word vocabulary box with student-friendly definitions.”  [paste your passage]</a:t>
            </a:r>
            <a:endParaRPr lang="en-US" sz="1550" dirty="0"/>
          </a:p>
        </p:txBody>
      </p:sp>
      <p:sp>
        <p:nvSpPr>
          <p:cNvPr id="20" name="Text 17"/>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The difference between “easier” and a specification is the difference between hoping and knowing.</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spice rack: constraints, audience, an example, 'ask me questions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INGREDIENTS, BIG UPGRADES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spice rack</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Constraints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“Under 150 words” · “exactly five questions” · “nothing that needs a copier”</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Audience</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 students who’ve never seen this word” · “for families skimming on a phone”</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An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Paste one sample in the style you want: “match this style”</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Escape hatch</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“Ask me up to three clarifying questions before you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when output disappoints, context is usually missing.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WHAT’S MISSING?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prompt</a:t>
            </a:r>
            <a:endParaRPr lang="en-US" sz="3200" dirty="0"/>
          </a:p>
        </p:txBody>
      </p:sp>
      <p:sp>
        <p:nvSpPr>
          <p:cNvPr id="14" name="Shape 11"/>
          <p:cNvSpPr/>
          <p:nvPr/>
        </p:nvSpPr>
        <p:spPr>
          <a:xfrm>
            <a:off x="640080" y="1371600"/>
            <a:ext cx="685800" cy="91440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371600"/>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371600"/>
            <a:ext cx="10149840" cy="914400"/>
          </a:xfrm>
          <a:prstGeom prst="roundRect">
            <a:avLst>
              <a:gd name="adj" fmla="val 9000"/>
            </a:avLst>
          </a:prstGeom>
          <a:solidFill>
            <a:srgbClr val="F7F5F0"/>
          </a:solidFill>
          <a:ln w="12700">
            <a:solidFill>
              <a:srgbClr val="F7F5F0"/>
            </a:solidFill>
            <a:prstDash val="solid"/>
          </a:ln>
        </p:spPr>
      </p:sp>
      <p:sp>
        <p:nvSpPr>
          <p:cNvPr id="17" name="Text 14"/>
          <p:cNvSpPr/>
          <p:nvPr/>
        </p:nvSpPr>
        <p:spPr>
          <a:xfrm>
            <a:off x="1737360" y="1417320"/>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“Write a quiz about the Revolution.”</a:t>
            </a:r>
            <a:endParaRPr lang="en-US" sz="1550" dirty="0"/>
          </a:p>
        </p:txBody>
      </p:sp>
      <p:sp>
        <p:nvSpPr>
          <p:cNvPr id="18" name="Shape 15"/>
          <p:cNvSpPr/>
          <p:nvPr/>
        </p:nvSpPr>
        <p:spPr>
          <a:xfrm>
            <a:off x="640080" y="2487168"/>
            <a:ext cx="685800" cy="91440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87168"/>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87168"/>
            <a:ext cx="1014984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1737360" y="2532888"/>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“Help me with my struggling readers.”</a:t>
            </a:r>
            <a:endParaRPr lang="en-US" sz="1550" dirty="0"/>
          </a:p>
        </p:txBody>
      </p:sp>
      <p:sp>
        <p:nvSpPr>
          <p:cNvPr id="22" name="Shape 19"/>
          <p:cNvSpPr/>
          <p:nvPr/>
        </p:nvSpPr>
        <p:spPr>
          <a:xfrm>
            <a:off x="640080" y="3602736"/>
            <a:ext cx="685800" cy="91440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602736"/>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602736"/>
            <a:ext cx="10149840" cy="914400"/>
          </a:xfrm>
          <a:prstGeom prst="roundRect">
            <a:avLst>
              <a:gd name="adj" fmla="val 9000"/>
            </a:avLst>
          </a:prstGeom>
          <a:solidFill>
            <a:srgbClr val="F7F5F0"/>
          </a:solidFill>
          <a:ln w="12700">
            <a:solidFill>
              <a:srgbClr val="F7F5F0"/>
            </a:solidFill>
            <a:prstDash val="solid"/>
          </a:ln>
        </p:spPr>
      </p:sp>
      <p:sp>
        <p:nvSpPr>
          <p:cNvPr id="25" name="Text 22"/>
          <p:cNvSpPr/>
          <p:nvPr/>
        </p:nvSpPr>
        <p:spPr>
          <a:xfrm>
            <a:off x="1737360" y="3648456"/>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“Photosynthesis.”</a:t>
            </a:r>
            <a:endParaRPr lang="en-US" sz="1550" dirty="0"/>
          </a:p>
        </p:txBody>
      </p:sp>
      <p:sp>
        <p:nvSpPr>
          <p:cNvPr id="26" name="Shape 23"/>
          <p:cNvSpPr/>
          <p:nvPr/>
        </p:nvSpPr>
        <p:spPr>
          <a:xfrm>
            <a:off x="640080" y="4718304"/>
            <a:ext cx="685800" cy="91440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718304"/>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718304"/>
            <a:ext cx="10149840" cy="914400"/>
          </a:xfrm>
          <a:prstGeom prst="roundRect">
            <a:avLst>
              <a:gd name="adj" fmla="val 9000"/>
            </a:avLst>
          </a:prstGeom>
          <a:solidFill>
            <a:srgbClr val="F7F5F0"/>
          </a:solidFill>
          <a:ln w="12700">
            <a:solidFill>
              <a:srgbClr val="F7F5F0"/>
            </a:solidFill>
            <a:prstDash val="solid"/>
          </a:ln>
        </p:spPr>
      </p:sp>
      <p:sp>
        <p:nvSpPr>
          <p:cNvPr id="29" name="Text 26"/>
          <p:cNvSpPr/>
          <p:nvPr/>
        </p:nvSpPr>
        <p:spPr>
          <a:xfrm>
            <a:off x="1737360" y="4764024"/>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Create a 10-question review on photosynthesis for 7th graders who confuse it with respiration. Mix multiple choice and short answer. Include an answer key.”</a:t>
            </a:r>
            <a:endParaRPr lang="en-US" sz="1550" dirty="0"/>
          </a:p>
        </p:txBody>
      </p:sp>
      <p:sp>
        <p:nvSpPr>
          <p:cNvPr id="30" name="Text 27"/>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missing context (grade? focus?) · B missing format (what should "help" look like?) · C missing the task itself · D has all four parts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 blanks for topic, grade, count, format. Twenty seconds to reuse.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NOBODY WRITES FROM SCRATCH AT 7 A.M.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Templates beat memory</a:t>
            </a:r>
            <a:endParaRPr lang="en-US" sz="3200" dirty="0"/>
          </a:p>
        </p:txBody>
      </p:sp>
      <p:sp>
        <p:nvSpPr>
          <p:cNvPr id="14" name="Shape 11"/>
          <p:cNvSpPr/>
          <p:nvPr/>
        </p:nvSpPr>
        <p:spPr>
          <a:xfrm>
            <a:off x="640080" y="155448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1005840" y="1828800"/>
            <a:ext cx="10241280" cy="1737360"/>
          </a:xfrm>
          <a:prstGeom prst="rect">
            <a:avLst/>
          </a:prstGeom>
          <a:noFill/>
          <a:ln/>
        </p:spPr>
        <p:txBody>
          <a:bodyPr wrap="square" lIns="0" tIns="0" rIns="0" bIns="0" rtlCol="0" anchor="ctr"/>
          <a:lstStyle/>
          <a:p>
            <a:pPr indent="0" marL="0">
              <a:buNone/>
            </a:pPr>
            <a:r>
              <a:rPr lang="en-US" sz="2100" i="1" dirty="0">
                <a:solidFill>
                  <a:srgbClr val="13293D"/>
                </a:solidFill>
                <a:latin typeface="Inter" pitchFamily="34" charset="0"/>
                <a:ea typeface="Inter" pitchFamily="34" charset="-122"/>
                <a:cs typeface="Inter" pitchFamily="34" charset="-120"/>
              </a:rPr>
              <a:t>“You are a [grade/subject] teacher. Create a [number]-question review on [topic] for students who [what they struggle with]. Format: [format]. Include an answer key.”</a:t>
            </a:r>
            <a:endParaRPr lang="en-US" sz="2100" dirty="0"/>
          </a:p>
        </p:txBody>
      </p:sp>
      <p:sp>
        <p:nvSpPr>
          <p:cNvPr id="16" name="Text 13"/>
          <p:cNvSpPr/>
          <p:nvPr/>
        </p:nvSpPr>
        <p:spPr>
          <a:xfrm>
            <a:off x="640080" y="411480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Four blanks, twenty seconds, done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Today’s lab builds your first one</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school prompt library is where they live: nobody solves the same problem twice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iteration rounds, in order: content, then voice, then details.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MINDSET SHIFT</a:t>
            </a:r>
            <a:endParaRPr lang="en-US" sz="1200" dirty="0"/>
          </a:p>
        </p:txBody>
      </p:sp>
      <p:sp>
        <p:nvSpPr>
          <p:cNvPr id="13" name="Text 10"/>
          <p:cNvSpPr/>
          <p:nvPr/>
        </p:nvSpPr>
        <p:spPr>
          <a:xfrm>
            <a:off x="640080" y="1645920"/>
            <a:ext cx="109728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The first response is not the answer.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It’s a proposal.</a:t>
            </a:r>
            <a:endParaRPr lang="en-US" sz="3800" dirty="0"/>
          </a:p>
        </p:txBody>
      </p:sp>
      <p:sp>
        <p:nvSpPr>
          <p:cNvPr id="14" name="Text 11"/>
          <p:cNvSpPr/>
          <p:nvPr/>
        </p:nvSpPr>
        <p:spPr>
          <a:xfrm>
            <a:off x="640080" y="3474720"/>
            <a:ext cx="10972800" cy="365760"/>
          </a:xfrm>
          <a:prstGeom prst="rect">
            <a:avLst/>
          </a:prstGeom>
          <a:noFill/>
          <a:ln/>
        </p:spPr>
        <p:txBody>
          <a:bodyPr wrap="square" lIns="0" tIns="0" rIns="0" bIns="0" rtlCol="0" anchor="ctr"/>
          <a:lstStyle/>
          <a:p>
            <a:pPr indent="0" marL="0">
              <a:buNone/>
            </a:pPr>
            <a:r>
              <a:rPr lang="en-US" sz="1800" dirty="0">
                <a:solidFill>
                  <a:srgbClr val="9FB2C2"/>
                </a:solidFill>
                <a:latin typeface="Inter" pitchFamily="34" charset="0"/>
                <a:ea typeface="Inter" pitchFamily="34" charset="-122"/>
                <a:cs typeface="Inter" pitchFamily="34" charset="-120"/>
              </a:rPr>
              <a:t>Three rounds, in order:</a:t>
            </a:r>
            <a:endParaRPr lang="en-US" sz="1800" dirty="0"/>
          </a:p>
        </p:txBody>
      </p:sp>
      <p:sp>
        <p:nvSpPr>
          <p:cNvPr id="15" name="Text 12"/>
          <p:cNvSpPr/>
          <p:nvPr/>
        </p:nvSpPr>
        <p:spPr>
          <a:xfrm>
            <a:off x="822960" y="3977640"/>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1 · Content</a:t>
            </a:r>
            <a:endParaRPr lang="en-US" sz="2000" dirty="0"/>
          </a:p>
        </p:txBody>
      </p:sp>
      <p:sp>
        <p:nvSpPr>
          <p:cNvPr id="16" name="Text 13"/>
          <p:cNvSpPr/>
          <p:nvPr/>
        </p:nvSpPr>
        <p:spPr>
          <a:xfrm>
            <a:off x="3017520" y="3977640"/>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“Question 4 is too hard for the start of the unit.”</a:t>
            </a:r>
            <a:endParaRPr lang="en-US" sz="1800" dirty="0"/>
          </a:p>
        </p:txBody>
      </p:sp>
      <p:sp>
        <p:nvSpPr>
          <p:cNvPr id="17" name="Text 14"/>
          <p:cNvSpPr/>
          <p:nvPr/>
        </p:nvSpPr>
        <p:spPr>
          <a:xfrm>
            <a:off x="822960" y="4690872"/>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2 · Voice</a:t>
            </a:r>
            <a:endParaRPr lang="en-US" sz="2000" dirty="0"/>
          </a:p>
        </p:txBody>
      </p:sp>
      <p:sp>
        <p:nvSpPr>
          <p:cNvPr id="18" name="Text 15"/>
          <p:cNvSpPr/>
          <p:nvPr/>
        </p:nvSpPr>
        <p:spPr>
          <a:xfrm>
            <a:off x="3017520" y="4690872"/>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“Warmer. I’d never say ‘furthermore.’”</a:t>
            </a:r>
            <a:endParaRPr lang="en-US" sz="1800" dirty="0"/>
          </a:p>
        </p:txBody>
      </p:sp>
      <p:sp>
        <p:nvSpPr>
          <p:cNvPr id="19" name="Text 16"/>
          <p:cNvSpPr/>
          <p:nvPr/>
        </p:nvSpPr>
        <p:spPr>
          <a:xfrm>
            <a:off x="822960" y="5404104"/>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3 · Details</a:t>
            </a:r>
            <a:endParaRPr lang="en-US" sz="2000" dirty="0"/>
          </a:p>
        </p:txBody>
      </p:sp>
      <p:sp>
        <p:nvSpPr>
          <p:cNvPr id="20" name="Text 17"/>
          <p:cNvSpPr/>
          <p:nvPr/>
        </p:nvSpPr>
        <p:spPr>
          <a:xfrm>
            <a:off x="3017520" y="5404104"/>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“Shorten by a third; number the directions.”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judgment call: 80% right, iterate. Wrong thing entirely, fresh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JUDGMENT CALL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Iterate, or start over?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Iterate when…</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the draft is ~80% right. Fix content, then voice, then details. Two or three rounds, done.</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Start over when…</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it’s fundamentally the wrong thing. Don’t argue with it for ten minutes; open a fresh prompt and fold what you learned into the context.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 time matters more than the tool’s feelings. It doesn’t have any.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voice check: read it aloud; if it isn't her, she says 'warmer' or 'blunter.'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ROUND IS ALWAYS THE VOICE ROUND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Keep your voice</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agreeable, a little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If everything you send home sounds like everything everyone else sends home, families notice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Read it aloud. If it doesn’t sound like you, say so: “Blunter.” “Warmer.”</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Your voice is a feature. Keep it.</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prompt through every step: her weekly review questions.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build a tool, not a toy.</a:t>
            </a:r>
            <a:endParaRPr lang="en-US" sz="4200" dirty="0"/>
          </a:p>
        </p:txBody>
      </p:sp>
      <p:sp>
        <p:nvSpPr>
          <p:cNvPr id="14" name="Text 11"/>
          <p:cNvSpPr/>
          <p:nvPr/>
        </p:nvSpPr>
        <p:spPr>
          <a:xfrm>
            <a:off x="640080" y="2377440"/>
            <a:ext cx="10972800" cy="9144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one task you do every week: the Friday newsletter, the weekly quiz, leveling a reading, station directions. Ms. Rivera builds hers on screen the whole way: one prompt for her weekly review questions.</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we practice like we play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with all four parts; be generous with context</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You’ll iterate three rounds, then save the template</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draft one: all four parts in, run once, read like an editor.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with the formula</a:t>
            </a:r>
            <a:endParaRPr lang="en-US" sz="3200" dirty="0"/>
          </a:p>
        </p:txBody>
      </p:sp>
      <p:sp>
        <p:nvSpPr>
          <p:cNvPr id="14" name="Shape 11"/>
          <p:cNvSpPr/>
          <p:nvPr/>
        </p:nvSpPr>
        <p:spPr>
          <a:xfrm>
            <a:off x="640080" y="1508760"/>
            <a:ext cx="4892040" cy="731520"/>
          </a:xfrm>
          <a:prstGeom prst="roundRect">
            <a:avLst>
              <a:gd name="adj" fmla="val 11250"/>
            </a:avLst>
          </a:prstGeom>
          <a:solidFill>
            <a:srgbClr val="F7F5F0"/>
          </a:solidFill>
          <a:ln w="12700">
            <a:solidFill>
              <a:srgbClr val="F7F5F0"/>
            </a:solidFill>
            <a:prstDash val="solid"/>
          </a:ln>
        </p:spPr>
      </p:sp>
      <p:sp>
        <p:nvSpPr>
          <p:cNvPr id="15" name="Text 12"/>
          <p:cNvSpPr/>
          <p:nvPr/>
        </p:nvSpPr>
        <p:spPr>
          <a:xfrm>
            <a:off x="914400" y="156362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Role: who should it be?</a:t>
            </a:r>
            <a:endParaRPr lang="en-US" sz="1550" dirty="0"/>
          </a:p>
        </p:txBody>
      </p:sp>
      <p:sp>
        <p:nvSpPr>
          <p:cNvPr id="16" name="Shape 13"/>
          <p:cNvSpPr/>
          <p:nvPr/>
        </p:nvSpPr>
        <p:spPr>
          <a:xfrm>
            <a:off x="640080" y="2377440"/>
            <a:ext cx="4892040" cy="731520"/>
          </a:xfrm>
          <a:prstGeom prst="roundRect">
            <a:avLst>
              <a:gd name="adj" fmla="val 11250"/>
            </a:avLst>
          </a:prstGeom>
          <a:solidFill>
            <a:srgbClr val="F7F5F0"/>
          </a:solidFill>
          <a:ln w="12700">
            <a:solidFill>
              <a:srgbClr val="F7F5F0"/>
            </a:solidFill>
            <a:prstDash val="solid"/>
          </a:ln>
        </p:spPr>
      </p:sp>
      <p:sp>
        <p:nvSpPr>
          <p:cNvPr id="17" name="Text 14"/>
          <p:cNvSpPr/>
          <p:nvPr/>
        </p:nvSpPr>
        <p:spPr>
          <a:xfrm>
            <a:off x="914400" y="243230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Task: one clear verb</a:t>
            </a:r>
            <a:endParaRPr lang="en-US" sz="1550" dirty="0"/>
          </a:p>
        </p:txBody>
      </p:sp>
      <p:sp>
        <p:nvSpPr>
          <p:cNvPr id="18" name="Shape 15"/>
          <p:cNvSpPr/>
          <p:nvPr/>
        </p:nvSpPr>
        <p:spPr>
          <a:xfrm>
            <a:off x="640080" y="3246120"/>
            <a:ext cx="4892040" cy="731520"/>
          </a:xfrm>
          <a:prstGeom prst="roundRect">
            <a:avLst>
              <a:gd name="adj" fmla="val 11250"/>
            </a:avLst>
          </a:prstGeom>
          <a:solidFill>
            <a:srgbClr val="F7F5F0"/>
          </a:solidFill>
          <a:ln w="12700">
            <a:solidFill>
              <a:srgbClr val="F7F5F0"/>
            </a:solidFill>
            <a:prstDash val="solid"/>
          </a:ln>
        </p:spPr>
      </p:sp>
      <p:sp>
        <p:nvSpPr>
          <p:cNvPr id="19" name="Text 16"/>
          <p:cNvSpPr/>
          <p:nvPr/>
        </p:nvSpPr>
        <p:spPr>
          <a:xfrm>
            <a:off x="914400" y="330098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Context: what would a substitute need to know?</a:t>
            </a:r>
            <a:endParaRPr lang="en-US" sz="1550" dirty="0"/>
          </a:p>
        </p:txBody>
      </p:sp>
      <p:sp>
        <p:nvSpPr>
          <p:cNvPr id="20" name="Shape 17"/>
          <p:cNvSpPr/>
          <p:nvPr/>
        </p:nvSpPr>
        <p:spPr>
          <a:xfrm>
            <a:off x="640080" y="4114800"/>
            <a:ext cx="4892040" cy="731520"/>
          </a:xfrm>
          <a:prstGeom prst="roundRect">
            <a:avLst>
              <a:gd name="adj" fmla="val 11250"/>
            </a:avLst>
          </a:prstGeom>
          <a:solidFill>
            <a:srgbClr val="F7F5F0"/>
          </a:solidFill>
          <a:ln w="12700">
            <a:solidFill>
              <a:srgbClr val="F7F5F0"/>
            </a:solidFill>
            <a:prstDash val="solid"/>
          </a:ln>
        </p:spPr>
      </p:sp>
      <p:sp>
        <p:nvSpPr>
          <p:cNvPr id="21" name="Text 18"/>
          <p:cNvSpPr/>
          <p:nvPr/>
        </p:nvSpPr>
        <p:spPr>
          <a:xfrm>
            <a:off x="914400" y="4169664"/>
            <a:ext cx="4389120" cy="621792"/>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Format: exactly what the output looks like</a:t>
            </a:r>
            <a:endParaRPr lang="en-US" sz="1550" dirty="0"/>
          </a:p>
        </p:txBody>
      </p:sp>
      <p:sp>
        <p:nvSpPr>
          <p:cNvPr id="22" name="Shape 19"/>
          <p:cNvSpPr/>
          <p:nvPr/>
        </p:nvSpPr>
        <p:spPr>
          <a:xfrm>
            <a:off x="5806440" y="1508760"/>
            <a:ext cx="5806440" cy="3429000"/>
          </a:xfrm>
          <a:prstGeom prst="roundRect">
            <a:avLst>
              <a:gd name="adj" fmla="val 2400"/>
            </a:avLst>
          </a:prstGeom>
          <a:solidFill>
            <a:srgbClr val="EAF5F3"/>
          </a:solidFill>
          <a:ln w="12700">
            <a:solidFill>
              <a:srgbClr val="EAF5F3"/>
            </a:solidFill>
            <a:prstDash val="solid"/>
          </a:ln>
        </p:spPr>
      </p:sp>
      <p:sp>
        <p:nvSpPr>
          <p:cNvPr id="23" name="Text 20"/>
          <p:cNvSpPr/>
          <p:nvPr/>
        </p:nvSpPr>
        <p:spPr>
          <a:xfrm>
            <a:off x="6080760" y="1691640"/>
            <a:ext cx="534924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REVIEW PROMPT · STEP 1 · HER FIRST DRAFT</a:t>
            </a:r>
            <a:endParaRPr lang="en-US" sz="1250" dirty="0"/>
          </a:p>
        </p:txBody>
      </p:sp>
      <p:sp>
        <p:nvSpPr>
          <p:cNvPr id="24" name="Text 21"/>
          <p:cNvSpPr/>
          <p:nvPr/>
        </p:nvSpPr>
        <p:spPr>
          <a:xfrm>
            <a:off x="6080760" y="2103120"/>
            <a:ext cx="5257800" cy="23317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4th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10-question Friday review on equivalent fractions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numerator and denominator when simplifying.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25" name="Text 22"/>
          <p:cNvSpPr/>
          <p:nvPr/>
        </p:nvSpPr>
        <p:spPr>
          <a:xfrm>
            <a:off x="6080760" y="4480560"/>
            <a:ext cx="525780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Same colors as the makeover: role, task, context, format.</a:t>
            </a:r>
            <a:endParaRPr lang="en-US" sz="1300" dirty="0"/>
          </a:p>
        </p:txBody>
      </p:sp>
      <p:sp>
        <p:nvSpPr>
          <p:cNvPr id="26" name="Text 23"/>
          <p:cNvSpPr/>
          <p:nvPr/>
        </p:nvSpPr>
        <p:spPr>
          <a:xfrm>
            <a:off x="640080" y="521208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Run it. Then read the draft like an editor, not a fan.</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three rounds in: content fixed, voice warmed, details tight.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rounds of iteration</a:t>
            </a:r>
            <a:endParaRPr lang="en-US" sz="3200" dirty="0"/>
          </a:p>
        </p:txBody>
      </p:sp>
      <p:sp>
        <p:nvSpPr>
          <p:cNvPr id="14" name="Shape 11"/>
          <p:cNvSpPr/>
          <p:nvPr/>
        </p:nvSpPr>
        <p:spPr>
          <a:xfrm>
            <a:off x="640080" y="1508760"/>
            <a:ext cx="416052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618488"/>
            <a:ext cx="365760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1 · Content</a:t>
            </a:r>
            <a:endParaRPr lang="en-US" sz="1700" dirty="0"/>
          </a:p>
        </p:txBody>
      </p:sp>
      <p:sp>
        <p:nvSpPr>
          <p:cNvPr id="16" name="Text 13"/>
          <p:cNvSpPr/>
          <p:nvPr/>
        </p:nvSpPr>
        <p:spPr>
          <a:xfrm>
            <a:off x="914400" y="1984248"/>
            <a:ext cx="36576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What’s wrong or missing? Fix it first.</a:t>
            </a:r>
            <a:endParaRPr lang="en-US" sz="1350" dirty="0"/>
          </a:p>
        </p:txBody>
      </p:sp>
      <p:sp>
        <p:nvSpPr>
          <p:cNvPr id="17" name="Shape 14"/>
          <p:cNvSpPr/>
          <p:nvPr/>
        </p:nvSpPr>
        <p:spPr>
          <a:xfrm>
            <a:off x="640080" y="2697480"/>
            <a:ext cx="416052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807208"/>
            <a:ext cx="365760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2 · Voice</a:t>
            </a:r>
            <a:endParaRPr lang="en-US" sz="1700" dirty="0"/>
          </a:p>
        </p:txBody>
      </p:sp>
      <p:sp>
        <p:nvSpPr>
          <p:cNvPr id="19" name="Text 16"/>
          <p:cNvSpPr/>
          <p:nvPr/>
        </p:nvSpPr>
        <p:spPr>
          <a:xfrm>
            <a:off x="914400" y="3172968"/>
            <a:ext cx="36576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Does it sound like you? Read it aloud.</a:t>
            </a:r>
            <a:endParaRPr lang="en-US" sz="1350" dirty="0"/>
          </a:p>
        </p:txBody>
      </p:sp>
      <p:sp>
        <p:nvSpPr>
          <p:cNvPr id="20" name="Shape 17"/>
          <p:cNvSpPr/>
          <p:nvPr/>
        </p:nvSpPr>
        <p:spPr>
          <a:xfrm>
            <a:off x="640080" y="3886200"/>
            <a:ext cx="416052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3995928"/>
            <a:ext cx="365760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3 · Details</a:t>
            </a:r>
            <a:endParaRPr lang="en-US" sz="1700" dirty="0"/>
          </a:p>
        </p:txBody>
      </p:sp>
      <p:sp>
        <p:nvSpPr>
          <p:cNvPr id="22" name="Text 19"/>
          <p:cNvSpPr/>
          <p:nvPr/>
        </p:nvSpPr>
        <p:spPr>
          <a:xfrm>
            <a:off x="914400" y="4361688"/>
            <a:ext cx="3657600" cy="502920"/>
          </a:xfrm>
          <a:prstGeom prst="rect">
            <a:avLst/>
          </a:prstGeom>
          <a:noFill/>
          <a:ln/>
        </p:spPr>
        <p:txBody>
          <a:bodyPr wrap="square" lIns="0" tIns="0" rIns="0" bIns="0" rtlCol="0" anchor="ctr"/>
          <a:lstStyle/>
          <a:p>
            <a:pPr indent="0" marL="0">
              <a:buNone/>
            </a:pPr>
            <a:r>
              <a:rPr lang="en-US" sz="1350" dirty="0">
                <a:solidFill>
                  <a:srgbClr val="1B1F24"/>
                </a:solidFill>
                <a:latin typeface="Inter" pitchFamily="34" charset="0"/>
                <a:ea typeface="Inter" pitchFamily="34" charset="-122"/>
                <a:cs typeface="Inter" pitchFamily="34" charset="-120"/>
              </a:rPr>
              <a:t>Length, level, layout: make them exact.</a:t>
            </a:r>
            <a:endParaRPr lang="en-US" sz="1350" dirty="0"/>
          </a:p>
        </p:txBody>
      </p:sp>
      <p:sp>
        <p:nvSpPr>
          <p:cNvPr id="23" name="Shape 20"/>
          <p:cNvSpPr/>
          <p:nvPr/>
        </p:nvSpPr>
        <p:spPr>
          <a:xfrm>
            <a:off x="5029200" y="1508760"/>
            <a:ext cx="6629400" cy="3566160"/>
          </a:xfrm>
          <a:prstGeom prst="roundRect">
            <a:avLst>
              <a:gd name="adj" fmla="val 2308"/>
            </a:avLst>
          </a:prstGeom>
          <a:solidFill>
            <a:srgbClr val="EAF5F3"/>
          </a:solidFill>
          <a:ln w="12700">
            <a:solidFill>
              <a:srgbClr val="EAF5F3"/>
            </a:solidFill>
            <a:prstDash val="solid"/>
          </a:ln>
        </p:spPr>
      </p:sp>
      <p:sp>
        <p:nvSpPr>
          <p:cNvPr id="24" name="Text 21"/>
          <p:cNvSpPr/>
          <p:nvPr/>
        </p:nvSpPr>
        <p:spPr>
          <a:xfrm>
            <a:off x="5303520" y="1691640"/>
            <a:ext cx="612648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REVIEW PROMPT · STEP 2 · HER THREE ROUNDS</a:t>
            </a:r>
            <a:endParaRPr lang="en-US" sz="1250" dirty="0"/>
          </a:p>
        </p:txBody>
      </p:sp>
      <p:sp>
        <p:nvSpPr>
          <p:cNvPr id="25" name="Text 22"/>
          <p:cNvSpPr/>
          <p:nvPr/>
        </p:nvSpPr>
        <p:spPr>
          <a:xfrm>
            <a:off x="5303520" y="2103120"/>
            <a:ext cx="6080760" cy="2834640"/>
          </a:xfrm>
          <a:prstGeom prst="rect">
            <a:avLst/>
          </a:prstGeom>
          <a:noFill/>
          <a:ln/>
        </p:spPr>
        <p:txBody>
          <a:bodyPr wrap="square" lIns="0" tIns="0" rIns="0" bIns="0" rtlCol="0" anchor="t"/>
          <a:lstStyle/>
          <a:p>
            <a:pPr indent="0" marL="0">
              <a:lnSpc>
                <a:spcPct val="125000"/>
              </a:lnSpc>
              <a:buNone/>
            </a:pPr>
            <a:r>
              <a:rPr lang="en-US" sz="1650" b="1" dirty="0">
                <a:solidFill>
                  <a:srgbClr val="13293D"/>
                </a:solidFill>
                <a:latin typeface="Inter" pitchFamily="34" charset="0"/>
                <a:ea typeface="Inter" pitchFamily="34" charset="-122"/>
                <a:cs typeface="Inter" pitchFamily="34" charset="-120"/>
              </a:rPr>
              <a:t>Content  </a:t>
            </a:r>
            <a:pPr indent="0" marL="0">
              <a:lnSpc>
                <a:spcPct val="125000"/>
              </a:lnSpc>
              <a:buNone/>
            </a:pPr>
            <a:r>
              <a:rPr lang="en-US" sz="1650" i="1" dirty="0">
                <a:solidFill>
                  <a:srgbClr val="1B1F24"/>
                </a:solidFill>
                <a:latin typeface="Inter" pitchFamily="34" charset="0"/>
                <a:ea typeface="Inter" pitchFamily="34" charset="-122"/>
                <a:cs typeface="Inter" pitchFamily="34" charset="-120"/>
              </a:rPr>
              <a:t>“Question 3 is mixed numbers; we haven’t gotten there. Swap in a comparing-fractions item.”
</a:t>
            </a:r>
            <a:pPr indent="0" marL="0">
              <a:lnSpc>
                <a:spcPct val="125000"/>
              </a:lnSpc>
              <a:buNone/>
            </a:pPr>
            <a:r>
              <a:rPr lang="en-US" sz="1650" b="1" dirty="0">
                <a:solidFill>
                  <a:srgbClr val="13293D"/>
                </a:solidFill>
                <a:latin typeface="Inter" pitchFamily="34" charset="0"/>
                <a:ea typeface="Inter" pitchFamily="34" charset="-122"/>
                <a:cs typeface="Inter" pitchFamily="34" charset="-120"/>
              </a:rPr>
              <a:t>Voice  </a:t>
            </a:r>
            <a:pPr indent="0" marL="0">
              <a:lnSpc>
                <a:spcPct val="125000"/>
              </a:lnSpc>
              <a:buNone/>
            </a:pPr>
            <a:r>
              <a:rPr lang="en-US" sz="1650" i="1" dirty="0">
                <a:solidFill>
                  <a:srgbClr val="1B1F24"/>
                </a:solidFill>
                <a:latin typeface="Inter" pitchFamily="34" charset="0"/>
                <a:ea typeface="Inter" pitchFamily="34" charset="-122"/>
                <a:cs typeface="Inter" pitchFamily="34" charset="-120"/>
              </a:rPr>
              <a:t>“The directions don’t sound like me. Warmer, and lose ‘utilize.’”
</a:t>
            </a:r>
            <a:pPr indent="0" marL="0">
              <a:lnSpc>
                <a:spcPct val="125000"/>
              </a:lnSpc>
              <a:buNone/>
            </a:pPr>
            <a:r>
              <a:rPr lang="en-US" sz="1650" b="1" dirty="0">
                <a:solidFill>
                  <a:srgbClr val="13293D"/>
                </a:solidFill>
                <a:latin typeface="Inter" pitchFamily="34" charset="0"/>
                <a:ea typeface="Inter" pitchFamily="34" charset="-122"/>
                <a:cs typeface="Inter" pitchFamily="34" charset="-120"/>
              </a:rPr>
              <a:t>Details  </a:t>
            </a:r>
            <a:pPr indent="0" marL="0">
              <a:lnSpc>
                <a:spcPct val="125000"/>
              </a:lnSpc>
              <a:buNone/>
            </a:pPr>
            <a:r>
              <a:rPr lang="en-US" sz="1650" i="1" dirty="0">
                <a:solidFill>
                  <a:srgbClr val="1B1F24"/>
                </a:solidFill>
                <a:latin typeface="Inter" pitchFamily="34" charset="0"/>
                <a:ea typeface="Inter" pitchFamily="34" charset="-122"/>
                <a:cs typeface="Inter" pitchFamily="34" charset="-120"/>
              </a:rPr>
              <a:t>“Exactly ten questions, numbered, answer key on its own page.”</a:t>
            </a:r>
            <a:endParaRPr lang="en-US" sz="1650" dirty="0"/>
          </a:p>
        </p:txBody>
      </p:sp>
      <p:sp>
        <p:nvSpPr>
          <p:cNvPr id="26" name="Text 23"/>
          <p:cNvSpPr/>
          <p:nvPr/>
        </p:nvSpPr>
        <p:spPr>
          <a:xfrm>
            <a:off x="640080" y="530352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Push back like you would with a capable student teacher: specific, kind, unafraid.</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bracketed into a template and saved to the school prompt library.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 it. Save it. Share it.</a:t>
            </a:r>
            <a:endParaRPr lang="en-US" sz="3200" dirty="0"/>
          </a:p>
        </p:txBody>
      </p:sp>
      <p:sp>
        <p:nvSpPr>
          <p:cNvPr id="14" name="Text 11"/>
          <p:cNvSpPr/>
          <p:nvPr/>
        </p:nvSpPr>
        <p:spPr>
          <a:xfrm>
            <a:off x="640080" y="1508760"/>
            <a:ext cx="4846320" cy="310896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Replace the specifics with blanks: [topic], [grade], [number of questions]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Save the final template to the school prompt library</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Give it a title and pick subject and grades; your name rides along</a:t>
            </a:r>
            <a:endParaRPr lang="en-US" sz="1700" dirty="0"/>
          </a:p>
        </p:txBody>
      </p:sp>
      <p:sp>
        <p:nvSpPr>
          <p:cNvPr id="15" name="Shape 12"/>
          <p:cNvSpPr/>
          <p:nvPr/>
        </p:nvSpPr>
        <p:spPr>
          <a:xfrm>
            <a:off x="5806440" y="1508760"/>
            <a:ext cx="5806440" cy="3429000"/>
          </a:xfrm>
          <a:prstGeom prst="roundRect">
            <a:avLst>
              <a:gd name="adj" fmla="val 2400"/>
            </a:avLst>
          </a:prstGeom>
          <a:solidFill>
            <a:srgbClr val="EAF5F3"/>
          </a:solidFill>
          <a:ln w="12700">
            <a:solidFill>
              <a:srgbClr val="EAF5F3"/>
            </a:solidFill>
            <a:prstDash val="solid"/>
          </a:ln>
        </p:spPr>
      </p:sp>
      <p:sp>
        <p:nvSpPr>
          <p:cNvPr id="16" name="Text 13"/>
          <p:cNvSpPr/>
          <p:nvPr/>
        </p:nvSpPr>
        <p:spPr>
          <a:xfrm>
            <a:off x="6080760" y="1691640"/>
            <a:ext cx="5349240" cy="292608"/>
          </a:xfrm>
          <a:prstGeom prst="rect">
            <a:avLst/>
          </a:prstGeom>
          <a:noFill/>
          <a:ln/>
        </p:spPr>
        <p:txBody>
          <a:bodyPr wrap="square" lIns="0" tIns="0" rIns="0" bIns="0" rtlCol="0" anchor="ctr"/>
          <a:lstStyle/>
          <a:p>
            <a:pPr indent="0" marL="0">
              <a:buNone/>
            </a:pPr>
            <a:r>
              <a:rPr lang="en-US" sz="1200" b="1" spc="120" kern="0" dirty="0">
                <a:solidFill>
                  <a:srgbClr val="2A9D8F"/>
                </a:solidFill>
                <a:latin typeface="Inter" pitchFamily="34" charset="0"/>
                <a:ea typeface="Inter" pitchFamily="34" charset="-122"/>
                <a:cs typeface="Inter" pitchFamily="34" charset="-120"/>
              </a:rPr>
              <a:t>MS. RIVERA'S REVIEW PROMPT · STEP 3 · HER TEMPLATE, SAVED</a:t>
            </a:r>
            <a:endParaRPr lang="en-US" sz="1200" dirty="0"/>
          </a:p>
        </p:txBody>
      </p:sp>
      <p:sp>
        <p:nvSpPr>
          <p:cNvPr id="17" name="Text 14"/>
          <p:cNvSpPr/>
          <p:nvPr/>
        </p:nvSpPr>
        <p:spPr>
          <a:xfrm>
            <a:off x="6080760" y="2103120"/>
            <a:ext cx="5257800" cy="2103120"/>
          </a:xfrm>
          <a:prstGeom prst="rect">
            <a:avLst/>
          </a:prstGeom>
          <a:noFill/>
          <a:ln/>
        </p:spPr>
        <p:txBody>
          <a:bodyPr wrap="square" lIns="0" tIns="0" rIns="0" bIns="0" rtlCol="0" anchor="t"/>
          <a:lstStyle/>
          <a:p>
            <a:pPr indent="0" marL="0">
              <a:lnSpc>
                <a:spcPct val="120000"/>
              </a:lnSpc>
              <a:buNone/>
            </a:pPr>
            <a:r>
              <a:rPr lang="en-US" sz="1650" b="1" i="1" dirty="0">
                <a:solidFill>
                  <a:srgbClr val="13293D"/>
                </a:solidFill>
                <a:latin typeface="Inter" pitchFamily="34" charset="0"/>
                <a:ea typeface="Inter" pitchFamily="34" charset="-122"/>
                <a:cs typeface="Inter" pitchFamily="34" charset="-120"/>
              </a:rPr>
              <a:t>“You are an experienced [grade] teacher. Write a [number]-question review on [topic] for a class that still confuses [what they mix up]. Mix multiple choice and short answer. Include an answer key.”</a:t>
            </a:r>
            <a:endParaRPr lang="en-US" sz="1650" dirty="0"/>
          </a:p>
        </p:txBody>
      </p:sp>
      <p:sp>
        <p:nvSpPr>
          <p:cNvPr id="18" name="Text 15"/>
          <p:cNvSpPr/>
          <p:nvPr/>
        </p:nvSpPr>
        <p:spPr>
          <a:xfrm>
            <a:off x="6080760" y="4343400"/>
            <a:ext cx="5257800" cy="457200"/>
          </a:xfrm>
          <a:prstGeom prst="rect">
            <a:avLst/>
          </a:prstGeom>
          <a:noFill/>
          <a:ln/>
        </p:spPr>
        <p:txBody>
          <a:bodyPr wrap="square" lIns="0" tIns="0" rIns="0" bIns="0" rtlCol="0" anchor="ctr"/>
          <a:lstStyle/>
          <a:p>
            <a:pPr indent="0" marL="0">
              <a:buNone/>
            </a:pPr>
            <a:r>
              <a:rPr lang="en-US" sz="1200" dirty="0">
                <a:solidFill>
                  <a:srgbClr val="5B6B7A"/>
                </a:solidFill>
                <a:latin typeface="Inter" pitchFamily="34" charset="0"/>
                <a:ea typeface="Inter" pitchFamily="34" charset="-122"/>
                <a:cs typeface="Inter" pitchFamily="34" charset="-120"/>
              </a:rPr>
              <a:t>Saved: “Weekly review questions” · Math · Grades 3–5 · Ms. Rivera</a:t>
            </a:r>
            <a:endParaRPr lang="en-US" sz="1200" dirty="0"/>
          </a:p>
        </p:txBody>
      </p:sp>
      <p:sp>
        <p:nvSpPr>
          <p:cNvPr id="19" name="Shape 16"/>
          <p:cNvSpPr/>
          <p:nvPr/>
        </p:nvSpPr>
        <p:spPr>
          <a:xfrm>
            <a:off x="640080" y="5120640"/>
            <a:ext cx="10972800" cy="914400"/>
          </a:xfrm>
          <a:prstGeom prst="roundRect">
            <a:avLst>
              <a:gd name="adj" fmla="val 9000"/>
            </a:avLst>
          </a:prstGeom>
          <a:solidFill>
            <a:srgbClr val="EAF5F3"/>
          </a:solidFill>
          <a:ln w="12700">
            <a:solidFill>
              <a:srgbClr val="EAF5F3"/>
            </a:solidFill>
            <a:prstDash val="solid"/>
          </a:ln>
        </p:spPr>
      </p:sp>
      <p:sp>
        <p:nvSpPr>
          <p:cNvPr id="20" name="Text 17"/>
          <p:cNvSpPr/>
          <p:nvPr/>
        </p:nvSpPr>
        <p:spPr>
          <a:xfrm>
            <a:off x="960120" y="5212080"/>
            <a:ext cx="1033272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You just wrote the first entry in your professional prompt library. Kit 18 grows it into a whole collection.</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before and after: the delta is the lesson.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Before and after</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us your before and your after</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one change made the biggest difference?</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catch the AI being wrong mid-lab? That story goes first.</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library: one entry today, the review-questions template. It compounds.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MINUTES AGO THIS DIDN’T EXIST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 went from asking to owning</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teachers saving six hours a week were never typing faster.
</a:t>
            </a:r>
            <a:pPr indent="0" marL="0">
              <a:buNone/>
            </a:pPr>
            <a:r>
              <a:rPr lang="en-US" sz="2100" dirty="0">
                <a:solidFill>
                  <a:srgbClr val="1B1F24"/>
                </a:solidFill>
                <a:latin typeface="Inter" pitchFamily="34" charset="0"/>
                <a:ea typeface="Inter" pitchFamily="34" charset="-122"/>
                <a:cs typeface="Inter" pitchFamily="34" charset="-120"/>
              </a:rPr>
              <a:t>They own a small library of prompts that fit their classroom, plus the reflex to push back until the output earns their name on it. As of today, so do you.</a:t>
            </a:r>
            <a:endParaRPr lang="en-US" sz="2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24</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one-slide system: formula, colleague test, three rounds, template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WHOLE SESSION</a:t>
            </a:r>
            <a:endParaRPr lang="en-US" sz="1200" dirty="0"/>
          </a:p>
        </p:txBody>
      </p:sp>
      <p:sp>
        <p:nvSpPr>
          <p:cNvPr id="13" name="Text 10"/>
          <p:cNvSpPr/>
          <p:nvPr/>
        </p:nvSpPr>
        <p:spPr>
          <a:xfrm>
            <a:off x="640080" y="86868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The formula on one slide</a:t>
            </a:r>
            <a:endParaRPr lang="en-US" sz="3400" dirty="0"/>
          </a:p>
        </p:txBody>
      </p:sp>
      <p:sp>
        <p:nvSpPr>
          <p:cNvPr id="14" name="Text 11"/>
          <p:cNvSpPr/>
          <p:nvPr/>
        </p:nvSpPr>
        <p:spPr>
          <a:xfrm>
            <a:off x="822960" y="178308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Before you type</a:t>
            </a:r>
            <a:endParaRPr lang="en-US" sz="1900" dirty="0"/>
          </a:p>
        </p:txBody>
      </p:sp>
      <p:sp>
        <p:nvSpPr>
          <p:cNvPr id="15" name="Text 12"/>
          <p:cNvSpPr/>
          <p:nvPr/>
        </p:nvSpPr>
        <p:spPr>
          <a:xfrm>
            <a:off x="3840480" y="178308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Role · Task · Context · Format, then the colleague test</a:t>
            </a:r>
            <a:endParaRPr lang="en-US" sz="1900" dirty="0"/>
          </a:p>
        </p:txBody>
      </p:sp>
      <p:sp>
        <p:nvSpPr>
          <p:cNvPr id="16" name="Text 13"/>
          <p:cNvSpPr/>
          <p:nvPr/>
        </p:nvSpPr>
        <p:spPr>
          <a:xfrm>
            <a:off x="822960" y="283464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After it answers</a:t>
            </a:r>
            <a:endParaRPr lang="en-US" sz="1900" dirty="0"/>
          </a:p>
        </p:txBody>
      </p:sp>
      <p:sp>
        <p:nvSpPr>
          <p:cNvPr id="17" name="Text 14"/>
          <p:cNvSpPr/>
          <p:nvPr/>
        </p:nvSpPr>
        <p:spPr>
          <a:xfrm>
            <a:off x="3840480" y="283464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Three rounds: content, voice, details</a:t>
            </a:r>
            <a:endParaRPr lang="en-US" sz="1900" dirty="0"/>
          </a:p>
        </p:txBody>
      </p:sp>
      <p:sp>
        <p:nvSpPr>
          <p:cNvPr id="18" name="Text 15"/>
          <p:cNvSpPr/>
          <p:nvPr/>
        </p:nvSpPr>
        <p:spPr>
          <a:xfrm>
            <a:off x="822960" y="388620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When it works</a:t>
            </a:r>
            <a:endParaRPr lang="en-US" sz="1900" dirty="0"/>
          </a:p>
        </p:txBody>
      </p:sp>
      <p:sp>
        <p:nvSpPr>
          <p:cNvPr id="19" name="Text 16"/>
          <p:cNvSpPr/>
          <p:nvPr/>
        </p:nvSpPr>
        <p:spPr>
          <a:xfrm>
            <a:off x="3840480" y="388620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Template it, save it, share it in the prompt library</a:t>
            </a:r>
            <a:endParaRPr lang="en-US" sz="1900" dirty="0"/>
          </a:p>
        </p:txBody>
      </p:sp>
      <p:sp>
        <p:nvSpPr>
          <p:cNvPr id="20" name="Text 17"/>
          <p:cNvSpPr/>
          <p:nvPr/>
        </p:nvSpPr>
        <p:spPr>
          <a:xfrm>
            <a:off x="822960" y="493776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Always</a:t>
            </a:r>
            <a:endParaRPr lang="en-US" sz="1900" dirty="0"/>
          </a:p>
        </p:txBody>
      </p:sp>
      <p:sp>
        <p:nvSpPr>
          <p:cNvPr id="21" name="Text 18"/>
          <p:cNvSpPr/>
          <p:nvPr/>
        </p:nvSpPr>
        <p:spPr>
          <a:xfrm>
            <a:off x="3840480" y="493776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PII in. Nothing unreviewed out. Verify anything factual.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limits list: can't check facts, know her kids, or pick what matters.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prompting cannot do</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check facts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still verify. Every time.</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your students</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Personalizing happens after the draft comes back.</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decide what’s worth teaching</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That was never a formatting problem.</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Better prompts buy you time and quality. Judgment stays yours.</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norm: working prompts go in the school library. Nobody solves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 1 GAVE US THREE; TODAY ADDS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When a prompt works, it goes in the prompt library.</a:t>
            </a:r>
            <a:endParaRPr lang="en-US" sz="2800" dirty="0"/>
          </a:p>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Nobody at this school solves the same problem twice.</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formula starts differentiating for her whole roster.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2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3, Planning &amp; Differentiation. </a:t>
            </a:r>
            <a:pPr indent="0" marL="0">
              <a:buNone/>
            </a:pPr>
            <a:r>
              <a:rPr lang="en-US" sz="1700" dirty="0">
                <a:solidFill>
                  <a:srgbClr val="C9D4DE"/>
                </a:solidFill>
                <a:latin typeface="Inter" pitchFamily="34" charset="0"/>
                <a:ea typeface="Inter" pitchFamily="34" charset="-122"/>
                <a:cs typeface="Inter" pitchFamily="34" charset="-120"/>
              </a:rPr>
              <a:t>Your reusable prompt comes with you; the formula starts doing heavy lifting: leveled texts, scaffolds, materials for the range of learners actually in your room.</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the template for real, one colleague test, one post.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your reusable prompt for real</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the actual task it was built for; iterate once; use the result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~3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colleague test once</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Catch the missing context before you hit enter</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Save to the prompt library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template, a title, one line about what it’s for</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one technique taken, one task still wanted.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prompting technique you’re taking</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task you still want prompt help with</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thing you’ll try in the next 48 hours</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30</a:t>
            </a:r>
            <a:endParaRPr lang="en-US" sz="900" dirty="0"/>
          </a:p>
        </p:txBody>
      </p:sp>
      <p:sp>
        <p:nvSpPr>
          <p:cNvPr id="5" name="Text 2"/>
          <p:cNvSpPr/>
          <p:nvPr/>
        </p:nvSpPr>
        <p:spPr>
          <a:xfrm>
            <a:off x="640080" y="201168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A good prompt is just clear thinking,</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written down.</a:t>
            </a:r>
            <a:endParaRPr lang="en-US" sz="3600" dirty="0"/>
          </a:p>
        </p:txBody>
      </p:sp>
      <p:sp>
        <p:nvSpPr>
          <p:cNvPr id="6" name="Text 3"/>
          <p:cNvSpPr/>
          <p:nvPr/>
        </p:nvSpPr>
        <p:spPr>
          <a:xfrm>
            <a:off x="640080" y="393192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You already do the hard part every day.</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Keep the thinking. Delegate the typing.</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2: Prompting Basics: Getting Useful Results Every Time</dc:title>
  <dc:subject>PptxGenJS Presentation</dc:subject>
  <dc:creator>Adam &amp; Katelyn Spinozzi</dc:creator>
  <cp:lastModifiedBy>Adam &amp; Katelyn Spinozzi</cp:lastModifiedBy>
  <cp:revision>1</cp:revision>
  <dcterms:created xsi:type="dcterms:W3CDTF">2026-08-14T16:56:08Z</dcterms:created>
  <dcterms:modified xsi:type="dcterms:W3CDTF">2026-08-14T16:56:08Z</dcterms:modified>
</cp:coreProperties>
</file>