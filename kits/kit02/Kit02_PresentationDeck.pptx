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up as people arrive. Start on time. This session assumes Kit 1: the One Hard Rule and the review-everything rule are in force.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Gallup-Walton 2025, 2,232 teachers. The gap between weekly users and non-users is the skill this session teaches.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asked "is prompting a fad until AI gets smarter?": tools get better at guessing intent, but no tool can guess what only you know: your grade, your students, your constraints, your taste.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quick. The promise line matters: staff leave with a tool, not notes.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Straight from Anthropic’s own documentation ("golden rule of clear prompting"). This is the pre-flight check for every prompt staff ever write.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OpenAI, Google, Anthropic, and state DOE frameworks (NC’s CRAFT, AI for Education’s Five-S) converge on these same elements. If asked "all four every time?": no; but when output disappoints, the missing part is almost always context.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Benchmark study: 26 prompt-design principles improved GPT-4 response quality by 57.7% on average (accuracy by 36.4%). Labeled a preprint in the References. Keep it one beat; don’t oversell.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FOUNDER STORY slot lands here; read it from the script: a time a genuinely good prompt still produced something confidently wrong, and the review caught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Count the four parts out loud with the room: role (teacher), task (45-min intro lesson), context (mastered notation, confuse numerator/denominator), format (table with timings, named components). Same request, completely different result.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out the Kit 1 rule working alongside the formula: zero student names, and none needed. The situation, not the child.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one saves the most weekly time. Kit 3 goes deep on differentiation; today it’s a formula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escape hatch is the crowd favorite: one line turns a guessing machine into an interviewer. Nothing communicates taste like a pasted example.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A missing context (grade? focus?). B missing format (what should "help" look like?). C missing task entirely (a topic, not a request). D has all four. Brisk; 3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Researchers call these "prompt patterns" (White et al., 2023): documented, reusable solutions. We call it the staff prompt doc.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formalizes Kit 1’s "push back twice" into a system. Content, then voice, then details.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Knowing when to quit a thread is itself a skill: one round of deciding, not five.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YOUR TAKE slot lands here; read the authors’ stated boundary from the script: what they refuse to let AI write, and why.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Pairs, devices out inside two minutes, announce the tool. LOCAL EXAMPLE slot: share one of the authors’ real reusable prompts from the script.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Circulate. Weak prompts usually lack context; nudge with "what would a substitute need to know to do this right?"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45-min cut: one round instead of three, then straight to step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Project the staff prompt doc link. Watching entries appear live is the session’s proudest moment.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person reading their before AND after lets the room hear the delta. Keep each voice to a minute.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this plainly. The asset is the library plus the habit, not speed.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handout’s spine too. Read it as a rhythm, not a lecture.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Steady, honest close to the teaching. The next two slides are commitments and what’s next.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for the visible nod, same as Kit 1. Agreement out loud is what makes it a norm.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Completing all eight kits earns the AI-Ready Educator Certificate of Completion; check with your district or state whether it qualifies for local credit.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Hold up the First 48 Hours sheet. Tomorrow morning, coffee in hand, pick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Distribute tickets; collect at the door. They double as the school’s PD documentation.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Thanks, everyone. Collect the exit tickets at the door.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731520"/>
            <a:ext cx="1051560" cy="96926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965960" y="96012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822960" y="2743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TRACK A · AI FOUNDATIONS · KIT 2 OF 20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777240" y="3063240"/>
            <a:ext cx="107899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Prompting Basics:</a:t>
            </a:r>
            <a:endParaRPr lang="en-US" sz="4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Getting Useful Results Every Time</a:t>
            </a:r>
            <a:endParaRPr lang="en-US" sz="4400" dirty="0"/>
          </a:p>
        </p:txBody>
      </p:sp>
      <p:sp>
        <p:nvSpPr>
          <p:cNvPr id="6" name="Text 3"/>
          <p:cNvSpPr/>
          <p:nvPr/>
        </p:nvSpPr>
        <p:spPr>
          <a:xfrm>
            <a:off x="822960" y="498348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45–60 minute working session. You leave with a reusable prompt you built yourself.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822960" y="60350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Built by Adam &amp; Katelyn Spinozzi · certified educators · 20+ combined years in the classroom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2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THIS HOUR EXISTS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tools. Very different results.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600200"/>
            <a:ext cx="5257800" cy="3383280"/>
          </a:xfrm>
          <a:prstGeom prst="roundRect">
            <a:avLst>
              <a:gd name="adj" fmla="val 243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1920240"/>
            <a:ext cx="5257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~3 in 10</a:t>
            </a:r>
            <a:endParaRPr lang="en-US" sz="5800" dirty="0"/>
          </a:p>
        </p:txBody>
      </p:sp>
      <p:sp>
        <p:nvSpPr>
          <p:cNvPr id="9" name="Text 6"/>
          <p:cNvSpPr/>
          <p:nvPr/>
        </p:nvSpPr>
        <p:spPr>
          <a:xfrm>
            <a:off x="914400" y="3108960"/>
            <a:ext cx="4709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teachers use AI weekly,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saving ~5.9 hours a week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(Gallup &amp; Walton Family Fdn., 2025)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6263640" y="1600200"/>
            <a:ext cx="5257800" cy="3383280"/>
          </a:xfrm>
          <a:prstGeom prst="roundRect">
            <a:avLst>
              <a:gd name="adj" fmla="val 243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263640" y="1920240"/>
            <a:ext cx="5257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in 10</a:t>
            </a:r>
            <a:endParaRPr lang="en-US" sz="5800" dirty="0"/>
          </a:p>
        </p:txBody>
      </p:sp>
      <p:sp>
        <p:nvSpPr>
          <p:cNvPr id="12" name="Text 9"/>
          <p:cNvSpPr/>
          <p:nvPr/>
        </p:nvSpPr>
        <p:spPr>
          <a:xfrm>
            <a:off x="6537960" y="3108960"/>
            <a:ext cx="4709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don’t use AI at all,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tools, same access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(same survey)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640080" y="534924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difference isn’t the technology. It’s a skill: knowing how to ask.</a:t>
            </a:r>
            <a:endParaRPr lang="en-US" sz="2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3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FLASHBACK: PREDICTION MACHINES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“just ask” gets beige answers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40080" y="1463040"/>
            <a:ext cx="10908792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model predicts the most likely continuation of your words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vague prompt → the most average answer on the internet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“Write a lesson on fractions” gets you the world’s most generic fractions lesson. Not wrong. Beige.</a:t>
            </a:r>
            <a:endParaRPr lang="en-US" sz="2100" dirty="0"/>
          </a:p>
        </p:txBody>
      </p:sp>
      <p:sp>
        <p:nvSpPr>
          <p:cNvPr id="8" name="Shape 5"/>
          <p:cNvSpPr/>
          <p:nvPr/>
        </p:nvSpPr>
        <p:spPr>
          <a:xfrm>
            <a:off x="640080" y="4023360"/>
            <a:ext cx="10972800" cy="1645920"/>
          </a:xfrm>
          <a:prstGeom prst="roundRect">
            <a:avLst>
              <a:gd name="adj" fmla="val 5000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60120" y="4251960"/>
            <a:ext cx="10332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fix isn’t magic words. The fix is information: the model can only use what you give it.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4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HOUR AHEAD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Agenda, and one promise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822960" y="146304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0:05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1920240" y="146304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Anatomy of a prompt that works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822960" y="219456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0:12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1920240" y="219456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 makeovers: real prompts, fixed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822960" y="292608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0:24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1920240" y="292608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Iterate, don’t settle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822960" y="365760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0:30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1920240" y="365760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Lab: build your reusable prompt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822960" y="438912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0:49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1920240" y="438912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Making it stick + first 48 hours</a:t>
            </a:r>
            <a:endParaRPr lang="en-US" sz="2000" dirty="0"/>
          </a:p>
        </p:txBody>
      </p:sp>
      <p:sp>
        <p:nvSpPr>
          <p:cNvPr id="17" name="Shape 14"/>
          <p:cNvSpPr/>
          <p:nvPr/>
        </p:nvSpPr>
        <p:spPr>
          <a:xfrm>
            <a:off x="9052560" y="1920240"/>
            <a:ext cx="2606040" cy="2926080"/>
          </a:xfrm>
          <a:prstGeom prst="roundRect">
            <a:avLst>
              <a:gd name="adj" fmla="val 3158"/>
            </a:avLst>
          </a:prstGeom>
          <a:solidFill>
            <a:srgbClr val="13293D"/>
          </a:solidFill>
          <a:ln w="12700">
            <a:solidFill>
              <a:srgbClr val="13293D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281160" y="21488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promise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9281160" y="2560320"/>
            <a:ext cx="21488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leave owning a reusable prompt for a task you do every week. Not theory. Inventory.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5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TEST PREDICTS EVERYTHING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640080" y="128016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colleague test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640080" y="2377440"/>
            <a:ext cx="10972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6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Show your prompt to a colleague with zero context.</a:t>
            </a:r>
            <a:endParaRPr lang="en-US" sz="2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6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they’d be confused, the model will be too.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640080" y="411480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Treat the AI like a brilliant new hire on day one: enormously capable, knows nothing about your classroom. Write for that new hire.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6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EVERY OFFICIAL GUIDE CONVERGES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Four parts, every time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417320"/>
            <a:ext cx="5349240" cy="1920240"/>
          </a:xfrm>
          <a:prstGeom prst="roundRect">
            <a:avLst>
              <a:gd name="adj" fmla="val 4286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1581912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Role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914400" y="2075688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 should the AI be?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2606040"/>
            <a:ext cx="4800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“You are an experienced 4th grade teacher.”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6263640" y="1417320"/>
            <a:ext cx="5349240" cy="1920240"/>
          </a:xfrm>
          <a:prstGeom prst="roundRect">
            <a:avLst>
              <a:gd name="adj" fmla="val 4286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537960" y="1581912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537960" y="2075688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exactly do you want? One clear verb.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6537960" y="2606040"/>
            <a:ext cx="4800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“Draft a 45-minute intro lesson…”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640080" y="3520440"/>
            <a:ext cx="5349240" cy="1920240"/>
          </a:xfrm>
          <a:prstGeom prst="roundRect">
            <a:avLst>
              <a:gd name="adj" fmla="val 4286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14400" y="3685032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Context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914400" y="4178808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would a substitute need to know?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914400" y="4709160"/>
            <a:ext cx="4800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“They confuse numerator and denominator…”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6263640" y="3520440"/>
            <a:ext cx="5349240" cy="1920240"/>
          </a:xfrm>
          <a:prstGeom prst="roundRect">
            <a:avLst>
              <a:gd name="adj" fmla="val 4286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537960" y="3685032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Format</a:t>
            </a:r>
            <a:endParaRPr lang="en-US" sz="2200" dirty="0"/>
          </a:p>
        </p:txBody>
      </p:sp>
      <p:sp>
        <p:nvSpPr>
          <p:cNvPr id="21" name="Text 18"/>
          <p:cNvSpPr/>
          <p:nvPr/>
        </p:nvSpPr>
        <p:spPr>
          <a:xfrm>
            <a:off x="6537960" y="4178808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should the output look like?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6537960" y="4709160"/>
            <a:ext cx="4800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“A table with timings + 3-question exit check.”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640080" y="56235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Role · Task · Context · Format. Everything else today is practice.</a:t>
            </a:r>
            <a:endParaRPr lang="en-US" sz="1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7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MEASURED, NOT FOLKLORE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Specific in, specific out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645920"/>
            <a:ext cx="10972800" cy="2926080"/>
          </a:xfrm>
          <a:prstGeom prst="roundRect">
            <a:avLst>
              <a:gd name="adj" fmla="val 281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2011680"/>
            <a:ext cx="10972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+50%</a:t>
            </a:r>
            <a:endParaRPr lang="en-US" sz="7200" dirty="0"/>
          </a:p>
        </p:txBody>
      </p:sp>
      <p:sp>
        <p:nvSpPr>
          <p:cNvPr id="9" name="Text 6"/>
          <p:cNvSpPr/>
          <p:nvPr/>
        </p:nvSpPr>
        <p:spPr>
          <a:xfrm>
            <a:off x="1280160" y="3383280"/>
            <a:ext cx="9601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Researchers testing structured, principled prompts against casual ones measured response-quality improvements of more than half on the strongest models. (Bsharat et al., 2024, preprint)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640080" y="50292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formula is just a reliable way to be specific.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8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HONEST LIMITS, BEFORE THE MAKEOVERS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one thing prompts can’t fix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54480"/>
            <a:ext cx="10972800" cy="2011680"/>
          </a:xfrm>
          <a:prstGeom prst="roundRect">
            <a:avLst>
              <a:gd name="adj" fmla="val 4091"/>
            </a:avLst>
          </a:prstGeom>
          <a:solidFill>
            <a:srgbClr val="13293D"/>
          </a:solidFill>
          <a:ln w="12700">
            <a:solidFill>
              <a:srgbClr val="13293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005840" y="1783080"/>
            <a:ext cx="10241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prompt turns off hallucination. A beautifully structured prompt can still invent a fact, with total confidence.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40080" y="3840480"/>
            <a:ext cx="10908792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Prompting improves quality and fit; it does not replace verification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Kit 1 rule rides along forever: anything factual gets checked before you rely on it</a:t>
            </a: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9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MAKEOVER #1 · PLANNING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lesson plan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417320"/>
            <a:ext cx="10972800" cy="1371600"/>
          </a:xfrm>
          <a:prstGeom prst="roundRect">
            <a:avLst>
              <a:gd name="adj" fmla="val 6000"/>
            </a:avLst>
          </a:prstGeom>
          <a:solidFill>
            <a:srgbClr val="FBEFED"/>
          </a:solidFill>
          <a:ln w="12700">
            <a:solidFill>
              <a:srgbClr val="FBEFE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15544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914400" y="187452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“Write a lesson on fractions.”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" y="3017520"/>
            <a:ext cx="10972800" cy="2651760"/>
          </a:xfrm>
          <a:prstGeom prst="roundRect">
            <a:avLst>
              <a:gd name="adj" fmla="val 3103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14400" y="31546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AFTER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914400" y="3474720"/>
            <a:ext cx="104241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“You are an experienced 4th grade teacher. Draft a 45-minute introductory lesson on equivalent fractions for a class that has mastered basic fraction notation but confuses numerator and denominator when simplifying. Include a 5-minute warm-up, a hands-on activity using paper folding, and a 3-question exit check. Format as a table with timings.”</a:t>
            </a:r>
            <a:endParaRPr lang="en-US" sz="15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10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MAKEOVER #2 · COMMUNICATION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family note (no names needed)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417320"/>
            <a:ext cx="10972800" cy="1371600"/>
          </a:xfrm>
          <a:prstGeom prst="roundRect">
            <a:avLst>
              <a:gd name="adj" fmla="val 6000"/>
            </a:avLst>
          </a:prstGeom>
          <a:solidFill>
            <a:srgbClr val="FBEFED"/>
          </a:solidFill>
          <a:ln w="12700">
            <a:solidFill>
              <a:srgbClr val="FBEFE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15544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914400" y="187452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“Write a note to parents about the field trip.”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" y="3017520"/>
            <a:ext cx="10972800" cy="2651760"/>
          </a:xfrm>
          <a:prstGeom prst="roundRect">
            <a:avLst>
              <a:gd name="adj" fmla="val 3103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14400" y="31546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AFTER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914400" y="3474720"/>
            <a:ext cx="104241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“You are a warm, organized elementary teacher. Write a note to families about an upcoming museum field trip. Context: departure 8:30 a.m., return by 2 p.m., students need a bagged lunch and a signed permission slip by Friday. Reading level: busy families skimming on a phone. Format: under 150 words, three action items as a bulleted list.”</a:t>
            </a:r>
            <a:endParaRPr lang="en-US" sz="15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11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MAKEOVER #3 · DIFFERENTIATION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leveled text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417320"/>
            <a:ext cx="10972800" cy="1371600"/>
          </a:xfrm>
          <a:prstGeom prst="roundRect">
            <a:avLst>
              <a:gd name="adj" fmla="val 6000"/>
            </a:avLst>
          </a:prstGeom>
          <a:solidFill>
            <a:srgbClr val="FBEFED"/>
          </a:solidFill>
          <a:ln w="12700">
            <a:solidFill>
              <a:srgbClr val="FBEFE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15544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914400" y="187452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“Make this easier.”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" y="3017520"/>
            <a:ext cx="10972800" cy="2194560"/>
          </a:xfrm>
          <a:prstGeom prst="roundRect">
            <a:avLst>
              <a:gd name="adj" fmla="val 3750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14400" y="31546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AFTER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914400" y="3474720"/>
            <a:ext cx="10424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“Rewrite this passage at a 3rd grade reading level. Keep every key idea and the section headings. Sentence length under 12 words where possible. Then add a 5-word vocabulary box with student-friendly definitions.”  [paste your passage]</a:t>
            </a:r>
            <a:endParaRPr lang="en-US" sz="1550" dirty="0"/>
          </a:p>
        </p:txBody>
      </p:sp>
      <p:sp>
        <p:nvSpPr>
          <p:cNvPr id="13" name="Text 10"/>
          <p:cNvSpPr/>
          <p:nvPr/>
        </p:nvSpPr>
        <p:spPr>
          <a:xfrm>
            <a:off x="640080" y="55778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difference between “easier” and a specification is the difference between hoping and knowing.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12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SMALL INGREDIENTS, BIG UPGRADES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spice rack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463040"/>
            <a:ext cx="5349240" cy="1783080"/>
          </a:xfrm>
          <a:prstGeom prst="roundRect">
            <a:avLst>
              <a:gd name="adj" fmla="val 4615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164592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Constraints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914400" y="214884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“Under 150 words” · “exactly five questions” · “nothing that needs a copier”</a:t>
            </a:r>
            <a:endParaRPr lang="en-US" sz="1550" dirty="0"/>
          </a:p>
        </p:txBody>
      </p:sp>
      <p:sp>
        <p:nvSpPr>
          <p:cNvPr id="10" name="Shape 7"/>
          <p:cNvSpPr/>
          <p:nvPr/>
        </p:nvSpPr>
        <p:spPr>
          <a:xfrm>
            <a:off x="6263640" y="1463040"/>
            <a:ext cx="5349240" cy="1783080"/>
          </a:xfrm>
          <a:prstGeom prst="roundRect">
            <a:avLst>
              <a:gd name="adj" fmla="val 4615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37960" y="164592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Audience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6537960" y="214884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“For students who’ve never seen this word” · “for families skimming on a phone”</a:t>
            </a:r>
            <a:endParaRPr lang="en-US" sz="1550" dirty="0"/>
          </a:p>
        </p:txBody>
      </p:sp>
      <p:sp>
        <p:nvSpPr>
          <p:cNvPr id="13" name="Shape 10"/>
          <p:cNvSpPr/>
          <p:nvPr/>
        </p:nvSpPr>
        <p:spPr>
          <a:xfrm>
            <a:off x="640080" y="3429000"/>
            <a:ext cx="5349240" cy="1783080"/>
          </a:xfrm>
          <a:prstGeom prst="roundRect">
            <a:avLst>
              <a:gd name="adj" fmla="val 4615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14400" y="361188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 example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914400" y="411480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Paste one sample in the style you want: “match this style”</a:t>
            </a:r>
            <a:endParaRPr lang="en-US" sz="1550" dirty="0"/>
          </a:p>
        </p:txBody>
      </p:sp>
      <p:sp>
        <p:nvSpPr>
          <p:cNvPr id="16" name="Shape 13"/>
          <p:cNvSpPr/>
          <p:nvPr/>
        </p:nvSpPr>
        <p:spPr>
          <a:xfrm>
            <a:off x="6263640" y="3429000"/>
            <a:ext cx="5349240" cy="1783080"/>
          </a:xfrm>
          <a:prstGeom prst="roundRect">
            <a:avLst>
              <a:gd name="adj" fmla="val 4615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537960" y="361188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Escape hatch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6537960" y="411480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“Ask me up to three clarifying questions before you start.”</a:t>
            </a:r>
            <a:endParaRPr lang="en-US" sz="15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13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CALL IT OUT: WHAT’S MISSING?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Diagnose the prompt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371600"/>
            <a:ext cx="685800" cy="914400"/>
          </a:xfrm>
          <a:prstGeom prst="roundRect">
            <a:avLst>
              <a:gd name="adj" fmla="val 10667"/>
            </a:avLst>
          </a:prstGeom>
          <a:solidFill>
            <a:srgbClr val="13293D"/>
          </a:solidFill>
          <a:ln w="12700">
            <a:solidFill>
              <a:srgbClr val="13293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1371600"/>
            <a:ext cx="685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1463040" y="1371600"/>
            <a:ext cx="10149840" cy="914400"/>
          </a:xfrm>
          <a:prstGeom prst="roundRect">
            <a:avLst>
              <a:gd name="adj" fmla="val 90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737360" y="141732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“Write a quiz about the Revolution.”</a:t>
            </a:r>
            <a:endParaRPr lang="en-US" sz="1550" dirty="0"/>
          </a:p>
        </p:txBody>
      </p:sp>
      <p:sp>
        <p:nvSpPr>
          <p:cNvPr id="11" name="Shape 8"/>
          <p:cNvSpPr/>
          <p:nvPr/>
        </p:nvSpPr>
        <p:spPr>
          <a:xfrm>
            <a:off x="640080" y="2487168"/>
            <a:ext cx="685800" cy="914400"/>
          </a:xfrm>
          <a:prstGeom prst="roundRect">
            <a:avLst>
              <a:gd name="adj" fmla="val 10667"/>
            </a:avLst>
          </a:prstGeom>
          <a:solidFill>
            <a:srgbClr val="13293D"/>
          </a:solidFill>
          <a:ln w="12700">
            <a:solidFill>
              <a:srgbClr val="13293D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40080" y="2487168"/>
            <a:ext cx="685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</a:t>
            </a:r>
            <a:endParaRPr lang="en-US" sz="2600" dirty="0"/>
          </a:p>
        </p:txBody>
      </p:sp>
      <p:sp>
        <p:nvSpPr>
          <p:cNvPr id="13" name="Shape 10"/>
          <p:cNvSpPr/>
          <p:nvPr/>
        </p:nvSpPr>
        <p:spPr>
          <a:xfrm>
            <a:off x="1463040" y="2487168"/>
            <a:ext cx="10149840" cy="914400"/>
          </a:xfrm>
          <a:prstGeom prst="roundRect">
            <a:avLst>
              <a:gd name="adj" fmla="val 90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737360" y="2532888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“Help me with my struggling readers.”</a:t>
            </a:r>
            <a:endParaRPr lang="en-US" sz="1550" dirty="0"/>
          </a:p>
        </p:txBody>
      </p:sp>
      <p:sp>
        <p:nvSpPr>
          <p:cNvPr id="15" name="Shape 12"/>
          <p:cNvSpPr/>
          <p:nvPr/>
        </p:nvSpPr>
        <p:spPr>
          <a:xfrm>
            <a:off x="640080" y="3602736"/>
            <a:ext cx="685800" cy="914400"/>
          </a:xfrm>
          <a:prstGeom prst="roundRect">
            <a:avLst>
              <a:gd name="adj" fmla="val 10667"/>
            </a:avLst>
          </a:prstGeom>
          <a:solidFill>
            <a:srgbClr val="13293D"/>
          </a:solidFill>
          <a:ln w="12700">
            <a:solidFill>
              <a:srgbClr val="13293D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40080" y="3602736"/>
            <a:ext cx="685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</a:t>
            </a:r>
            <a:endParaRPr lang="en-US" sz="2600" dirty="0"/>
          </a:p>
        </p:txBody>
      </p:sp>
      <p:sp>
        <p:nvSpPr>
          <p:cNvPr id="17" name="Shape 14"/>
          <p:cNvSpPr/>
          <p:nvPr/>
        </p:nvSpPr>
        <p:spPr>
          <a:xfrm>
            <a:off x="1463040" y="3602736"/>
            <a:ext cx="10149840" cy="914400"/>
          </a:xfrm>
          <a:prstGeom prst="roundRect">
            <a:avLst>
              <a:gd name="adj" fmla="val 90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1737360" y="3648456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“Photosynthesis.”</a:t>
            </a:r>
            <a:endParaRPr lang="en-US" sz="1550" dirty="0"/>
          </a:p>
        </p:txBody>
      </p:sp>
      <p:sp>
        <p:nvSpPr>
          <p:cNvPr id="19" name="Shape 16"/>
          <p:cNvSpPr/>
          <p:nvPr/>
        </p:nvSpPr>
        <p:spPr>
          <a:xfrm>
            <a:off x="640080" y="4718304"/>
            <a:ext cx="685800" cy="914400"/>
          </a:xfrm>
          <a:prstGeom prst="roundRect">
            <a:avLst>
              <a:gd name="adj" fmla="val 10667"/>
            </a:avLst>
          </a:prstGeom>
          <a:solidFill>
            <a:srgbClr val="13293D"/>
          </a:solidFill>
          <a:ln w="12700">
            <a:solidFill>
              <a:srgbClr val="13293D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40080" y="4718304"/>
            <a:ext cx="685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</a:t>
            </a:r>
            <a:endParaRPr lang="en-US" sz="2600" dirty="0"/>
          </a:p>
        </p:txBody>
      </p:sp>
      <p:sp>
        <p:nvSpPr>
          <p:cNvPr id="21" name="Shape 18"/>
          <p:cNvSpPr/>
          <p:nvPr/>
        </p:nvSpPr>
        <p:spPr>
          <a:xfrm>
            <a:off x="1463040" y="4718304"/>
            <a:ext cx="10149840" cy="914400"/>
          </a:xfrm>
          <a:prstGeom prst="roundRect">
            <a:avLst>
              <a:gd name="adj" fmla="val 90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737360" y="4764024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“You are a middle school science teacher. Create a 10-question review on photosynthesis for 7th graders who confuse it with respiration. Mix multiple choice and short answer. Include an answer key.”</a:t>
            </a:r>
            <a:endParaRPr lang="en-US" sz="15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14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NOBODY WRITES FROM SCRATCH AT 7 A.M.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Templates beat memory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54480"/>
            <a:ext cx="10972800" cy="2286000"/>
          </a:xfrm>
          <a:prstGeom prst="roundRect">
            <a:avLst>
              <a:gd name="adj" fmla="val 3600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005840" y="1828800"/>
            <a:ext cx="10241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i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“You are a [grade/subject] teacher. Create a [number]-question review on [topic] for students who [what they struggle with]. Format: [format]. Include an answer key.”</a:t>
            </a:r>
            <a:endParaRPr lang="en-US" sz="2100" dirty="0"/>
          </a:p>
        </p:txBody>
      </p:sp>
      <p:sp>
        <p:nvSpPr>
          <p:cNvPr id="9" name="Text 6"/>
          <p:cNvSpPr/>
          <p:nvPr/>
        </p:nvSpPr>
        <p:spPr>
          <a:xfrm>
            <a:off x="640080" y="4114800"/>
            <a:ext cx="10908792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Four blanks, twenty seconds, done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Today’s lab builds your first one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staff prompt doc is where they live: nobody solves the same problem twice</a:t>
            </a:r>
            <a:endParaRPr lang="en-US" sz="2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15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MINDSET SHIFT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640080" y="1645920"/>
            <a:ext cx="10972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first response is not the answer.</a:t>
            </a:r>
            <a:endParaRPr lang="en-US" sz="3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It’s a proposal.</a:t>
            </a:r>
            <a:endParaRPr lang="en-US" sz="3800" dirty="0"/>
          </a:p>
        </p:txBody>
      </p:sp>
      <p:sp>
        <p:nvSpPr>
          <p:cNvPr id="7" name="Text 4"/>
          <p:cNvSpPr/>
          <p:nvPr/>
        </p:nvSpPr>
        <p:spPr>
          <a:xfrm>
            <a:off x="640080" y="34747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rounds, in order: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22960" y="397764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· Content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3017520" y="3977640"/>
            <a:ext cx="8503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“Question 4 is too hard for the start of the unit.”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822960" y="4690872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· Voice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3017520" y="4690872"/>
            <a:ext cx="8503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“Warmer. I’d never say ‘furthermore.’”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822960" y="5404104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· Details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3017520" y="5404104"/>
            <a:ext cx="8503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“Shorten by a third; number the directions.”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16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JUDGMENT CALL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Iterate, or start over?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54480"/>
            <a:ext cx="5394960" cy="3840480"/>
          </a:xfrm>
          <a:prstGeom prst="roundRect">
            <a:avLst>
              <a:gd name="adj" fmla="val 2143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60120" y="18288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E7D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Iterate when…</a:t>
            </a:r>
            <a:endParaRPr lang="en-US" sz="2100" dirty="0"/>
          </a:p>
        </p:txBody>
      </p:sp>
      <p:sp>
        <p:nvSpPr>
          <p:cNvPr id="9" name="Text 6"/>
          <p:cNvSpPr/>
          <p:nvPr/>
        </p:nvSpPr>
        <p:spPr>
          <a:xfrm>
            <a:off x="960120" y="2377440"/>
            <a:ext cx="47548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draft is ~80% right. Fix content, then voice, then details. Two or three rounds, done.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263640" y="1554480"/>
            <a:ext cx="5394960" cy="3840480"/>
          </a:xfrm>
          <a:prstGeom prst="roundRect">
            <a:avLst>
              <a:gd name="adj" fmla="val 214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83680" y="18288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Start over when…</a:t>
            </a:r>
            <a:endParaRPr lang="en-US" sz="2100" dirty="0"/>
          </a:p>
        </p:txBody>
      </p:sp>
      <p:sp>
        <p:nvSpPr>
          <p:cNvPr id="12" name="Text 9"/>
          <p:cNvSpPr/>
          <p:nvPr/>
        </p:nvSpPr>
        <p:spPr>
          <a:xfrm>
            <a:off x="6583680" y="2377440"/>
            <a:ext cx="47548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it’s fundamentally the wrong thing. Don’t argue with it for ten minutes; open a fresh prompt and fold what you learned into the context.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640080" y="56235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time matters more than the tool’s feelings. It doesn’t have any.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17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LAST ROUND IS ALWAYS THE VOICE ROUND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Keep your voice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40080" y="1463040"/>
            <a:ext cx="10908792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output has a house style: smooth, agreeable, a little beige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everything you send home sounds like everything everyone else sends home, families notice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it aloud. If it doesn’t sound like you, say so: “Blunter.” “Warmer.”</a:t>
            </a:r>
            <a:endParaRPr lang="en-US" sz="2100" dirty="0"/>
          </a:p>
        </p:txBody>
      </p:sp>
      <p:sp>
        <p:nvSpPr>
          <p:cNvPr id="8" name="Shape 5"/>
          <p:cNvSpPr/>
          <p:nvPr/>
        </p:nvSpPr>
        <p:spPr>
          <a:xfrm>
            <a:off x="640080" y="4114800"/>
            <a:ext cx="10972800" cy="1463040"/>
          </a:xfrm>
          <a:prstGeom prst="roundRect">
            <a:avLst>
              <a:gd name="adj" fmla="val 5625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60120" y="4297680"/>
            <a:ext cx="10332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voice is a feature. Keep it.</a:t>
            </a:r>
            <a:endParaRPr lang="en-US" sz="2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18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HANDS-ON · ~19 MINUTES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640080" y="13716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Lab: build a tool, not a toy.</a:t>
            </a:r>
            <a:endParaRPr lang="en-US" sz="4200" dirty="0"/>
          </a:p>
        </p:txBody>
      </p:sp>
      <p:sp>
        <p:nvSpPr>
          <p:cNvPr id="7" name="Text 4"/>
          <p:cNvSpPr/>
          <p:nvPr/>
        </p:nvSpPr>
        <p:spPr>
          <a:xfrm>
            <a:off x="640080" y="237744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Pick one task you do every week: the Friday newsletter, the weekly quiz, leveling a reading, station directions.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822960" y="3474720"/>
            <a:ext cx="566928" cy="56692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2960" y="34747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1600200" y="3429000"/>
            <a:ext cx="9875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student information; we practice like we play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822960" y="4297680"/>
            <a:ext cx="566928" cy="56692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42976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1600200" y="4251960"/>
            <a:ext cx="9875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Draft with all four parts; be generous with context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822960" y="5120640"/>
            <a:ext cx="566928" cy="56692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5120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1600200" y="5074920"/>
            <a:ext cx="9875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You’ll iterate three rounds, then save the template</a:t>
            </a:r>
            <a:endParaRPr lang="en-US" sz="2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19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· STEP 1 OF 3 · 6 MINUTES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Draft with the formula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08760"/>
            <a:ext cx="10972800" cy="731520"/>
          </a:xfrm>
          <a:prstGeom prst="roundRect">
            <a:avLst>
              <a:gd name="adj" fmla="val 1125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60120" y="1563624"/>
            <a:ext cx="1033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Role: who should it be?</a:t>
            </a:r>
            <a:endParaRPr lang="en-US" sz="1900" dirty="0"/>
          </a:p>
        </p:txBody>
      </p:sp>
      <p:sp>
        <p:nvSpPr>
          <p:cNvPr id="9" name="Shape 6"/>
          <p:cNvSpPr/>
          <p:nvPr/>
        </p:nvSpPr>
        <p:spPr>
          <a:xfrm>
            <a:off x="640080" y="2377440"/>
            <a:ext cx="10972800" cy="731520"/>
          </a:xfrm>
          <a:prstGeom prst="roundRect">
            <a:avLst>
              <a:gd name="adj" fmla="val 1125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60120" y="2432304"/>
            <a:ext cx="1033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Task: one clear verb</a:t>
            </a:r>
            <a:endParaRPr lang="en-US" sz="1900" dirty="0"/>
          </a:p>
        </p:txBody>
      </p:sp>
      <p:sp>
        <p:nvSpPr>
          <p:cNvPr id="11" name="Shape 8"/>
          <p:cNvSpPr/>
          <p:nvPr/>
        </p:nvSpPr>
        <p:spPr>
          <a:xfrm>
            <a:off x="640080" y="3246120"/>
            <a:ext cx="10972800" cy="731520"/>
          </a:xfrm>
          <a:prstGeom prst="roundRect">
            <a:avLst>
              <a:gd name="adj" fmla="val 1125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60120" y="3300984"/>
            <a:ext cx="1033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Context: what would a substitute need to know?</a:t>
            </a:r>
            <a:endParaRPr lang="en-US" sz="1900" dirty="0"/>
          </a:p>
        </p:txBody>
      </p:sp>
      <p:sp>
        <p:nvSpPr>
          <p:cNvPr id="13" name="Shape 10"/>
          <p:cNvSpPr/>
          <p:nvPr/>
        </p:nvSpPr>
        <p:spPr>
          <a:xfrm>
            <a:off x="640080" y="4114800"/>
            <a:ext cx="10972800" cy="731520"/>
          </a:xfrm>
          <a:prstGeom prst="roundRect">
            <a:avLst>
              <a:gd name="adj" fmla="val 1125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60120" y="4169664"/>
            <a:ext cx="1033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Format: exactly what the output looks like</a:t>
            </a:r>
            <a:endParaRPr lang="en-US" sz="1900" dirty="0"/>
          </a:p>
        </p:txBody>
      </p:sp>
      <p:sp>
        <p:nvSpPr>
          <p:cNvPr id="15" name="Text 12"/>
          <p:cNvSpPr/>
          <p:nvPr/>
        </p:nvSpPr>
        <p:spPr>
          <a:xfrm>
            <a:off x="640080" y="52120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Run it. Then read the draft like an editor, not a fan.</a:t>
            </a:r>
            <a:endParaRPr lang="en-US" sz="2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20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· STEP 2 OF 3 · 6 MINUTES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rounds of iteration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54480"/>
            <a:ext cx="3520440" cy="2926080"/>
          </a:xfrm>
          <a:prstGeom prst="roundRect">
            <a:avLst>
              <a:gd name="adj" fmla="val 281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938528" y="1828800"/>
            <a:ext cx="914400" cy="91440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938528" y="18288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868680" y="292608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Content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868680" y="3429000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What’s wrong or missing? Fix it first.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4407408" y="1554480"/>
            <a:ext cx="3520440" cy="2926080"/>
          </a:xfrm>
          <a:prstGeom prst="roundRect">
            <a:avLst>
              <a:gd name="adj" fmla="val 281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705856" y="1828800"/>
            <a:ext cx="914400" cy="91440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705856" y="18288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3000" dirty="0"/>
          </a:p>
        </p:txBody>
      </p:sp>
      <p:sp>
        <p:nvSpPr>
          <p:cNvPr id="15" name="Text 12"/>
          <p:cNvSpPr/>
          <p:nvPr/>
        </p:nvSpPr>
        <p:spPr>
          <a:xfrm>
            <a:off x="4636008" y="292608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Voice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4636008" y="3429000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Does it sound like you? Read it aloud.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8174736" y="1554480"/>
            <a:ext cx="3520440" cy="2926080"/>
          </a:xfrm>
          <a:prstGeom prst="roundRect">
            <a:avLst>
              <a:gd name="adj" fmla="val 281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9473184" y="1828800"/>
            <a:ext cx="914400" cy="91440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473184" y="18288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3000" dirty="0"/>
          </a:p>
        </p:txBody>
      </p:sp>
      <p:sp>
        <p:nvSpPr>
          <p:cNvPr id="20" name="Text 17"/>
          <p:cNvSpPr/>
          <p:nvPr/>
        </p:nvSpPr>
        <p:spPr>
          <a:xfrm>
            <a:off x="8403336" y="292608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Details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8403336" y="3429000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Length, level, layout: make them exact.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640080" y="4937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Push back like you would with a capable student teacher: specific, kind, unafraid.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21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· STEP 3 OF 3 · 5 MINUTES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Template it. Save it. Share it.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40080" y="1463040"/>
            <a:ext cx="10908792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Replace the specifics with blanks: [topic], [grade], [number of questions]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Paste the final template into the staff prompt doc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 your name and one line: what it’s for</a:t>
            </a:r>
            <a:endParaRPr lang="en-US" sz="2100" dirty="0"/>
          </a:p>
        </p:txBody>
      </p:sp>
      <p:sp>
        <p:nvSpPr>
          <p:cNvPr id="8" name="Shape 5"/>
          <p:cNvSpPr/>
          <p:nvPr/>
        </p:nvSpPr>
        <p:spPr>
          <a:xfrm>
            <a:off x="640080" y="3931920"/>
            <a:ext cx="10972800" cy="1737360"/>
          </a:xfrm>
          <a:prstGeom prst="roundRect">
            <a:avLst>
              <a:gd name="adj" fmla="val 4737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60120" y="4160520"/>
            <a:ext cx="10332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just wrote the first entry in your professional prompt library. Kit 18 grows it into a whole collection.</a:t>
            </a:r>
            <a:endParaRPr lang="en-US" sz="2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22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SHARE-OUT · 3–4 VOICES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and after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40080" y="1554480"/>
            <a:ext cx="10908792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us your before and your after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one change made the biggest difference?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Anyone catch the AI being wrong mid-lab? That story goes first.</a:t>
            </a:r>
            <a:endParaRPr lang="en-US" sz="2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23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FIFTEEN MINUTES AGO THIS DIDN’T EXIST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went from asking to owning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645920"/>
            <a:ext cx="10972800" cy="3291840"/>
          </a:xfrm>
          <a:prstGeom prst="roundRect">
            <a:avLst>
              <a:gd name="adj" fmla="val 25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005840" y="1920240"/>
            <a:ext cx="102412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teachers saving six hours a week were never typing faster.
</a:t>
            </a:r>
            <a:pPr indent="0" marL="0">
              <a:buNone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They own a small library of prompts that fit their classroom, plus the reflex to push back until the output earns their name on it. As of today, so do you.</a:t>
            </a:r>
            <a:endParaRPr lang="en-US" sz="2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24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WHOLE SESSION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640080" y="8686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formula on one slide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822960" y="178308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you type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3840480" y="178308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Role · Task · Context · Format, then the colleague test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822960" y="283464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After it answers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3840480" y="283464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rounds: content, voice, details</a:t>
            </a:r>
            <a:endParaRPr lang="en-US" sz="1900" dirty="0"/>
          </a:p>
        </p:txBody>
      </p:sp>
      <p:sp>
        <p:nvSpPr>
          <p:cNvPr id="11" name="Text 8"/>
          <p:cNvSpPr/>
          <p:nvPr/>
        </p:nvSpPr>
        <p:spPr>
          <a:xfrm>
            <a:off x="822960" y="388620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it works</a:t>
            </a:r>
            <a:endParaRPr lang="en-US" sz="1900" dirty="0"/>
          </a:p>
        </p:txBody>
      </p:sp>
      <p:sp>
        <p:nvSpPr>
          <p:cNvPr id="12" name="Text 9"/>
          <p:cNvSpPr/>
          <p:nvPr/>
        </p:nvSpPr>
        <p:spPr>
          <a:xfrm>
            <a:off x="3840480" y="388620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Template it, save it, share it in the staff doc</a:t>
            </a:r>
            <a:endParaRPr lang="en-US" sz="1900" dirty="0"/>
          </a:p>
        </p:txBody>
      </p:sp>
      <p:sp>
        <p:nvSpPr>
          <p:cNvPr id="13" name="Text 10"/>
          <p:cNvSpPr/>
          <p:nvPr/>
        </p:nvSpPr>
        <p:spPr>
          <a:xfrm>
            <a:off x="822960" y="493776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Always</a:t>
            </a:r>
            <a:endParaRPr lang="en-US" sz="1900" dirty="0"/>
          </a:p>
        </p:txBody>
      </p:sp>
      <p:sp>
        <p:nvSpPr>
          <p:cNvPr id="14" name="Text 11"/>
          <p:cNvSpPr/>
          <p:nvPr/>
        </p:nvSpPr>
        <p:spPr>
          <a:xfrm>
            <a:off x="3840480" y="493776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student PII in. Nothing unreviewed out. Verify anything factual.</a:t>
            </a:r>
            <a:endParaRPr lang="en-US" sz="1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25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 NOBODY OVERSELLS IT IN THE HALLWAY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prompting cannot do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54480"/>
            <a:ext cx="3520440" cy="2926080"/>
          </a:xfrm>
          <a:prstGeom prst="roundRect">
            <a:avLst>
              <a:gd name="adj" fmla="val 281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96112" y="18288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Can’t check facts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896112" y="274320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still verify. Every time.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4407408" y="1554480"/>
            <a:ext cx="3520440" cy="2926080"/>
          </a:xfrm>
          <a:prstGeom prst="roundRect">
            <a:avLst>
              <a:gd name="adj" fmla="val 281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663440" y="18288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Can’t know your students</a:t>
            </a:r>
            <a:endParaRPr lang="en-US" sz="1900" dirty="0"/>
          </a:p>
        </p:txBody>
      </p:sp>
      <p:sp>
        <p:nvSpPr>
          <p:cNvPr id="12" name="Text 9"/>
          <p:cNvSpPr/>
          <p:nvPr/>
        </p:nvSpPr>
        <p:spPr>
          <a:xfrm>
            <a:off x="4663440" y="274320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Personalizing happens after the draft comes back.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8174736" y="1554480"/>
            <a:ext cx="3520440" cy="2926080"/>
          </a:xfrm>
          <a:prstGeom prst="roundRect">
            <a:avLst>
              <a:gd name="adj" fmla="val 281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430768" y="18288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Can’t decide what’s worth teaching</a:t>
            </a:r>
            <a:endParaRPr lang="en-US" sz="1900" dirty="0"/>
          </a:p>
        </p:txBody>
      </p:sp>
      <p:sp>
        <p:nvSpPr>
          <p:cNvPr id="15" name="Text 12"/>
          <p:cNvSpPr/>
          <p:nvPr/>
        </p:nvSpPr>
        <p:spPr>
          <a:xfrm>
            <a:off x="8430768" y="274320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That was never a formatting problem.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640080" y="4937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Better prompts buy you time and quality. Judgment stays yours.</a:t>
            </a:r>
            <a:endParaRPr lang="en-US" sz="1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26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GAVE US THREE; TODAY ADDS ONE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640080" y="146304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Commitment #4</a:t>
            </a:r>
            <a:endParaRPr lang="en-US" sz="3600" dirty="0"/>
          </a:p>
        </p:txBody>
      </p:sp>
      <p:sp>
        <p:nvSpPr>
          <p:cNvPr id="7" name="Text 4"/>
          <p:cNvSpPr/>
          <p:nvPr/>
        </p:nvSpPr>
        <p:spPr>
          <a:xfrm>
            <a:off x="640080" y="2468880"/>
            <a:ext cx="10972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a prompt works, it goes in the staff doc.</a:t>
            </a:r>
            <a:endParaRPr lang="en-US" sz="2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Nobody at this school solves the same problem twice.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640080" y="48463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 I get a nod on that?</a:t>
            </a:r>
            <a:endParaRPr lang="en-US" sz="2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27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OF 8 · TRACK A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this series goes next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5448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16459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· Foundations &amp; Safety  ✔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3474720" y="155448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657600" y="16459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· Prompting Basics  ✔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6309360" y="155448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492240" y="16459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· Planning &amp; Differentiation</a:t>
            </a:r>
            <a:endParaRPr lang="en-US" sz="1450" dirty="0"/>
          </a:p>
        </p:txBody>
      </p:sp>
      <p:sp>
        <p:nvSpPr>
          <p:cNvPr id="13" name="Shape 10"/>
          <p:cNvSpPr/>
          <p:nvPr/>
        </p:nvSpPr>
        <p:spPr>
          <a:xfrm>
            <a:off x="9144000" y="155448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326880" y="16459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· Assessment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640080" y="274320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2960" y="28346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· Academic Integrity</a:t>
            </a:r>
            <a:endParaRPr lang="en-US" sz="1450" dirty="0"/>
          </a:p>
        </p:txBody>
      </p:sp>
      <p:sp>
        <p:nvSpPr>
          <p:cNvPr id="17" name="Shape 14"/>
          <p:cNvSpPr/>
          <p:nvPr/>
        </p:nvSpPr>
        <p:spPr>
          <a:xfrm>
            <a:off x="3474720" y="274320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657600" y="28346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· Communication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6309360" y="274320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492240" y="28346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· Workload</a:t>
            </a:r>
            <a:endParaRPr lang="en-US" sz="1450" dirty="0"/>
          </a:p>
        </p:txBody>
      </p:sp>
      <p:sp>
        <p:nvSpPr>
          <p:cNvPr id="21" name="Shape 18"/>
          <p:cNvSpPr/>
          <p:nvPr/>
        </p:nvSpPr>
        <p:spPr>
          <a:xfrm>
            <a:off x="9144000" y="274320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326880" y="28346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· Your School’s AI Culture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640080" y="4206240"/>
            <a:ext cx="10972800" cy="1463040"/>
          </a:xfrm>
          <a:prstGeom prst="roundRect">
            <a:avLst>
              <a:gd name="adj" fmla="val 5625"/>
            </a:avLst>
          </a:prstGeom>
          <a:solidFill>
            <a:srgbClr val="13293D"/>
          </a:solidFill>
          <a:ln w="12700">
            <a:solidFill>
              <a:srgbClr val="13293D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60120" y="4389120"/>
            <a:ext cx="10332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Next: Kit 3, Planning &amp; Differentiation. </a:t>
            </a:r>
            <a:pPr indent="0" marL="0">
              <a:buNone/>
            </a:pPr>
            <a:r>
              <a:rPr lang="en-US" sz="17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reusable prompt comes with you; the formula starts doing heavy lifting: leveled texts, scaffolds, materials for the range of learners actually in your room.</a:t>
            </a:r>
            <a:endParaRPr lang="en-US" sz="17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28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FRIDAY BECOMES A MEMORY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first 48 hours: three small things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463040"/>
            <a:ext cx="10972800" cy="1234440"/>
          </a:xfrm>
          <a:prstGeom prst="roundRect">
            <a:avLst>
              <a:gd name="adj" fmla="val 6667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184708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~10 min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2377440" y="1609344"/>
            <a:ext cx="9052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Run your reusable prompt for real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2377440" y="2084832"/>
            <a:ext cx="9052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 the actual task it was built for; iterate once; use the result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40080" y="2880360"/>
            <a:ext cx="10972800" cy="1234440"/>
          </a:xfrm>
          <a:prstGeom prst="roundRect">
            <a:avLst>
              <a:gd name="adj" fmla="val 6667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14400" y="326440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~3 min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2377440" y="3026664"/>
            <a:ext cx="9052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Run the colleague test once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2377440" y="3502152"/>
            <a:ext cx="9052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Catch the missing context before you hit enter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640080" y="4297680"/>
            <a:ext cx="10972800" cy="1234440"/>
          </a:xfrm>
          <a:prstGeom prst="roundRect">
            <a:avLst>
              <a:gd name="adj" fmla="val 6667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14400" y="468172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~2 min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2377440" y="4443984"/>
            <a:ext cx="9052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 to the staff doc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2377440" y="4919472"/>
            <a:ext cx="9052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template, your name, one line about what it’s for</a:t>
            </a:r>
            <a:endParaRPr lang="en-US" sz="16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29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MINUTES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Exit ticket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40080" y="1554480"/>
            <a:ext cx="10908792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prompting technique you’re taking</a:t>
            </a:r>
            <a:endParaRPr lang="en-US" sz="2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task you still want prompt help with</a:t>
            </a:r>
            <a:endParaRPr lang="en-US" sz="2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thing you’ll try in the next 48 hours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42976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answers steer the PLC follow-ups. Be honest.</a:t>
            </a:r>
            <a:endParaRPr lang="en-US" sz="1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30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640080" y="2011680"/>
            <a:ext cx="10972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good prompt is just clear thinking,</a:t>
            </a:r>
            <a:endParaRPr lang="en-US" sz="36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written down.</a:t>
            </a:r>
            <a:endParaRPr lang="en-US" sz="3600" dirty="0"/>
          </a:p>
        </p:txBody>
      </p:sp>
      <p:sp>
        <p:nvSpPr>
          <p:cNvPr id="6" name="Text 3"/>
          <p:cNvSpPr/>
          <p:nvPr/>
        </p:nvSpPr>
        <p:spPr>
          <a:xfrm>
            <a:off x="640080" y="393192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already do the hard part every day.</a:t>
            </a:r>
            <a:endParaRPr lang="en-US" sz="24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Keep the thinking. Delegate the typing.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640080" y="58521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2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Human teaching. Life-changing tools.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AI-Ready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Kit 2: Prompting Basics: Getting Useful Results Every Time</dc:title>
  <dc:subject>PptxGenJS Presentation</dc:subject>
  <dc:creator>Adam &amp; Katelyn Spinozzi</dc:creator>
  <cp:lastModifiedBy>Adam &amp; Katelyn Spinozzi</cp:lastModifiedBy>
  <cp:revision>1</cp:revision>
  <dcterms:created xsi:type="dcterms:W3CDTF">2026-08-07T19:23:19Z</dcterms:created>
  <dcterms:modified xsi:type="dcterms:W3CDTF">2026-08-07T19:23:19Z</dcterms:modified>
</cp:coreProperties>
</file>