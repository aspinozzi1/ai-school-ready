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up as people arrive. Start on time. This session assumes Kit 1: the One Hard Rule and the review-everything rule are in force.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Gallup-Walton 2025, 2,232 teachers. The gap between weekly users and non-users is the skill this session teaches.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"is prompting a fad until AI gets smarter?": tools get better at guessing intent, but no tool can guess what only you know: your grade, your students, your constraints, your taste.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four stops this hour: the anatomy of a prompt that works, live makeovers of real prompts, learning to iterate instead of settling, and a lab where you build a reusable prompt for a task you do every week. The promise line matters: staff leave with a tool, not notes. Keep this quick.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Straight from Anthropic’s own documentation ("golden rule of clear prompting"). This is the pre-flight check for every prompt staff ever write.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OpenAI, Google, Anthropic, and state DOE frameworks (NC’s CRAFT, AI for Education’s Five-S) converge on these same elements. If asked "all four every time?": no; but when output disappoints, the missing part is almost always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Benchmark study: 26 prompt-design principles improved GPT-4 response quality by 57.7% on average (accuracy by 36.4%). Labeled a preprint in the References. Keep it one beat; don’t oversell.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this honestly: even a well-iterated, careful prompt can produce a confident factual error that only subject expertise catches. Expertise is the safety net; never lend yours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 the four parts out loud with the room: role (teacher), task (45-min intro lesson), context (mastered notation, confuse numerator/denominator), format (table with timings, named components). Same request, completely different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the Kit 1 rule working alongside the formula: zero student names, and none needed. The situation, not the child.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one saves the most weekly time. Kit 3 goes deep on differentiation; today it’s a formula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escape hatch is the crowd favorite: one line turns a guessing machine into an interviewer. Nothing communicates taste like a pasted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room call each one before you confirm with the answer line at the bottom. Brisk; 3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Researchers call these "prompt patterns" (White et al., 2023): documented, reusable solutions. We call it the staff prompt doc.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formalizes Kit 1’s "push back twice" into a system. Content, then voice, then details.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Knowing when to quit a thread is itself a skill: one round of deciding, not five.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authors’ shared take from the script: voice matters most in personal communication with parents and students; academic language has its place, but empathetic personal messages should be in the teacher’s own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Pairs, devices out inside two minutes, announce the tool. The script’s worked example under slide 19 is a real reusable prompt from a working carpentry program.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Circulate. Weak prompts usually lack context; nudge with "what would a substitute need to know to do this right?" Then read the real carpentry CNC table-leg prompt from the script as the worked example (three stacked roles, one task, SVG-for-CNC format).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 cut: one round instead of three, then straight to step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the staff prompt doc link. Watching entries appear live is the session’s proudest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person reading their before AND after lets the room hear the delta. Keep each voice to a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this plainly. The asset is the library plus the habit, not speed.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handout’s spine too. Read it as a rhythm, not a lecture.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Steady, honest close to the teaching. The next two slides are commitments and what’s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the visible nod, same as Kit 1. Agreement out loud is what makes it a norm.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Completing all eight kits earns the AI-Ready Educator Certificate of Completion; check with your district or state whether it qualifies for local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First 48 Hours sheet. Tomorrow morning, coffee in hand, pick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Distribute tickets; collect at the door. They double as the school’s PD documentation.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Thanks, everyone. Collect the exit tickets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2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Prompting Basics: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Getting Useful Results Every Time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session. You leave with a reusable prompt you built yourself.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THIS HOUR EXISTS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tools. Very different results.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 in 10</a:t>
            </a:r>
            <a:endParaRPr lang="en-US" sz="5800" dirty="0"/>
          </a:p>
        </p:txBody>
      </p:sp>
      <p:sp>
        <p:nvSpPr>
          <p:cNvPr id="9" name="Text 6"/>
          <p:cNvSpPr/>
          <p:nvPr/>
        </p:nvSpPr>
        <p:spPr>
          <a:xfrm>
            <a:off x="91440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use AI weekly,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saving ~5.9 hours a week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(Gallup &amp; Walton Family Fdn., 2025)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in 10</a:t>
            </a:r>
            <a:endParaRPr lang="en-US" sz="5800" dirty="0"/>
          </a:p>
        </p:txBody>
      </p:sp>
      <p:sp>
        <p:nvSpPr>
          <p:cNvPr id="12" name="Text 9"/>
          <p:cNvSpPr/>
          <p:nvPr/>
        </p:nvSpPr>
        <p:spPr>
          <a:xfrm>
            <a:off x="653796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don’t use AI at all,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tools, same access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(same survey)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difference isn’t the technology. It’s a skill: knowing how to ask.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FLASHBACK: PREDICTION MACHINES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“just ask” gets beige answers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predicts the most likely continuation of your words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vague prompt → the most average answer on the internet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lesson on fractions” gets you the world’s most generic fractions lesson. Not wrong. Beige.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023360"/>
            <a:ext cx="10972800" cy="1645920"/>
          </a:xfrm>
          <a:prstGeom prst="roundRect">
            <a:avLst>
              <a:gd name="adj" fmla="val 5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5196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fix isn’t magic words. The fix is information: the model can only use what you give it.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2296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0:05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92024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Anatomy of a prompt that works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229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9202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makeovers: real prompts, fixed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2296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0:24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920240" y="2926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Iterate, don’t settle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22960" y="3657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9202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build your reusable prompt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22960" y="4389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0:49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920240" y="4389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+ first 48 hours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052560" y="192024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281160" y="2148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9281160" y="256032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leave owning a reusable prompt for a task you do every week. Not theory. Inventory.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TEST PREDICTS EVERYTHING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2801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colleague test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your prompt to a colleague with zero context.</a:t>
            </a:r>
            <a:endParaRPr lang="en-US" sz="2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they’d be confused, the model will be too.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Treat the AI like a brilliant new hire on day one: enormously capable, knows nothing about your classroom. Write for that new hire.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EVERY OFFICIAL GUIDE CONVERGES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parts, every time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8191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14400" y="207568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should the AI be?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260604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an experienced 4th grade teacher.”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26364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37960" y="158191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537960" y="207568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exactly do you want? One clear verb.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537960" y="260604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“Draft a 45-minute intro lesson…”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36850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914400" y="417880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would a substitute need to know?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914400" y="470916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“They confuse numerator and denominator…”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26364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37960" y="36850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6537960" y="417880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should the output look like?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537960" y="470916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 table with timings + 3-question exit check.”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 · Task · Context · Format. Everything else today is practice.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MEASURED, NOT FOLKLORE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 in, specific out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01168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+50%</a:t>
            </a:r>
            <a:endParaRPr lang="en-US" sz="7200" dirty="0"/>
          </a:p>
        </p:txBody>
      </p:sp>
      <p:sp>
        <p:nvSpPr>
          <p:cNvPr id="9" name="Text 6"/>
          <p:cNvSpPr/>
          <p:nvPr/>
        </p:nvSpPr>
        <p:spPr>
          <a:xfrm>
            <a:off x="1280160" y="338328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Researchers testing structured, principled prompts against casual ones measured response-quality improvements of more than half on the strongest models. (Bsharat et al., 2024, preprint)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formula is just a reliable way to be specific.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LIMITS, BEFORE THE MAKEOVERS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thing prompts can’t fix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2011680"/>
          </a:xfrm>
          <a:prstGeom prst="roundRect">
            <a:avLst>
              <a:gd name="adj" fmla="val 4091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783080"/>
            <a:ext cx="10241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prompt turns off hallucination. A beautifully structured prompt can still invent a fact, with total confidence.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Prompting improves quality and fit; it does not replace verification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Kit 1 rule rides along forever: anything factual gets checked before you rely on it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MAKEOVER #1 · PLANNING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lesson plan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lesson on fractions.”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972800" cy="2651760"/>
          </a:xfrm>
          <a:prstGeom prst="roundRect">
            <a:avLst>
              <a:gd name="adj" fmla="val 31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74720"/>
            <a:ext cx="10424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an experienced 4th grade teacher. Draft a 45-minute introductory lesson on equivalent fractions for a class that has mastered basic fraction notation but confuses numerator and denominator when simplifying. Include a 5-minute warm-up, a hands-on activity using paper folding, and a 3-question exit check. Format as a table with timings.”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MAKEOVER #2 · COMMUNICATION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family note (no names needed)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note to parents about the field trip.”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972800" cy="2651760"/>
          </a:xfrm>
          <a:prstGeom prst="roundRect">
            <a:avLst>
              <a:gd name="adj" fmla="val 31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74720"/>
            <a:ext cx="10424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warm, organized elementary teacher. Write a note to families about an upcoming museum field trip. Context: departure 8:30 a.m., return by 2 p.m., students need a bagged lunch and a signed permission slip by Friday. Reading level: busy families skimming on a phone. Format: under 150 words, three action items as a bulleted list.”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MAKEOVER #3 · DIFFERENTIATION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leveled text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“Make this easier.”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972800" cy="2194560"/>
          </a:xfrm>
          <a:prstGeom prst="roundRect">
            <a:avLst>
              <a:gd name="adj" fmla="val 375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74720"/>
            <a:ext cx="10424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“Rewrite this passage at a 3rd grade reading level. Keep every key idea and the section headings. Sentence length under 12 words where possible. Then add a 5-word vocabulary box with student-friendly definitions.”  [paste your passage]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difference between “easier” and a specification is the difference between hoping and knowing.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 INGREDIENTS, BIG UPGRADES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spice rack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Constraints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21488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“Under 150 words” · “exactly five questions” · “nothing that needs a copier”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Audience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37960" y="21488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“For students who’ve never seen this word” · “for families skimming on a phone”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640080" y="3429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6118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example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914400" y="41148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one sample in the style you want: “match this style”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263640" y="3429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36118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Escape hatch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537960" y="41148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“Ask me up to three clarifying questions before you start.”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 IT OUT: WHAT’S MISSING?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Diagnose the prompt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371600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37160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463040" y="1371600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737360" y="14173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quiz about the Revolution.”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640080" y="2487168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2487168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2600" dirty="0"/>
          </a:p>
        </p:txBody>
      </p:sp>
      <p:sp>
        <p:nvSpPr>
          <p:cNvPr id="13" name="Shape 10"/>
          <p:cNvSpPr/>
          <p:nvPr/>
        </p:nvSpPr>
        <p:spPr>
          <a:xfrm>
            <a:off x="1463040" y="2487168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737360" y="2532888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“Help me with my struggling readers.”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640080" y="3602736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602736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2600" dirty="0"/>
          </a:p>
        </p:txBody>
      </p:sp>
      <p:sp>
        <p:nvSpPr>
          <p:cNvPr id="17" name="Shape 14"/>
          <p:cNvSpPr/>
          <p:nvPr/>
        </p:nvSpPr>
        <p:spPr>
          <a:xfrm>
            <a:off x="1463040" y="3602736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737360" y="3648456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“Photosynthesis.”</a:t>
            </a:r>
            <a:endParaRPr lang="en-US" sz="1550" dirty="0"/>
          </a:p>
        </p:txBody>
      </p:sp>
      <p:sp>
        <p:nvSpPr>
          <p:cNvPr id="19" name="Shape 16"/>
          <p:cNvSpPr/>
          <p:nvPr/>
        </p:nvSpPr>
        <p:spPr>
          <a:xfrm>
            <a:off x="640080" y="4718304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4718304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</a:t>
            </a:r>
            <a:endParaRPr lang="en-US" sz="2600" dirty="0"/>
          </a:p>
        </p:txBody>
      </p:sp>
      <p:sp>
        <p:nvSpPr>
          <p:cNvPr id="21" name="Shape 18"/>
          <p:cNvSpPr/>
          <p:nvPr/>
        </p:nvSpPr>
        <p:spPr>
          <a:xfrm>
            <a:off x="1463040" y="4718304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737360" y="4764024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middle school science teacher. Create a 10-question review on photosynthesis for 7th graders who confuse it with respiration. Mix multiple choice and short answer. Include an answer key.”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640080" y="5870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Answers: A missing context (grade? focus?) · B missing format (what should "help" look like?) · C missing the task itself · D has all four parts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WRITES FROM SCRATCH AT 7 A.M.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Templates beat memory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2286000"/>
          </a:xfrm>
          <a:prstGeom prst="roundRect">
            <a:avLst>
              <a:gd name="adj" fmla="val 36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828800"/>
            <a:ext cx="1024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[grade/subject] teacher. Create a [number]-question review on [topic] for students who [what they struggle with]. Format: [format]. Include an answer key.”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40080" y="4114800"/>
            <a:ext cx="1090879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blanks, twenty seconds, done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Today’s lab builds your first one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staff prompt doc is where they live: nobody solves the same problem twice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MINDSET SHIFT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64592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response is not the answer.</a:t>
            </a:r>
            <a:endParaRPr lang="en-US" sz="3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It’s a proposal.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rounds, in order: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22960" y="39776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Content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3017520" y="397764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“Question 4 is too hard for the start of the unit.”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22960" y="469087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Voice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3017520" y="4690872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“Warmer. I’d never say ‘furthermore.’”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22960" y="540410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Details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3017520" y="5404104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“Shorten by a third; number the directions.”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JUDGMENT CALL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Iterate, or start over?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 when…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96012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draft is ~80% right. Fix content, then voice, then details. Two or three rounds, done.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over when…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658368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it’s fundamentally the wrong thing. Don’t argue with it for ten minutes; open a fresh prompt and fold what you learned into the context.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time matters more than the tool’s feelings. It doesn’t have any.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LAST ROUND IS ALWAYS THE VOICE ROUND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your voice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output has a house style: smooth, agreeable, a little beige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everything you send home sounds like everything everyone else sends home, families notice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it aloud. If it doesn’t sound like you, say so: “Blunter.” “Warmer.”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11480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976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voice is a feature. Keep it.</a:t>
            </a:r>
            <a:endParaRPr lang="en-US" sz="2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~19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build a tool, not a toy.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 task you do every week: the Friday newsletter, the weekly quiz, leveling a reading, station directions.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347472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474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342900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information; we practice like we play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822960" y="429768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00200" y="42519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with all four parts; be generous with context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512064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5120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600200" y="50749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You’ll iterate three rounds, then save the template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1 OF 3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with the formula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56362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Role: who should it be?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640080" y="237744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43230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Task: one clear verb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640080" y="32461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0098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Context: what would a substitute need to know?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640080" y="41148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416966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Format: exactly what the output looks like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it. Then read the draft like an editor, not a fan.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2 OF 3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rounds of iteration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38528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938528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68680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What’s wrong or missing? Fix it first.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407408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705856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05856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4636008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636008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it sound like you? Read it aloud.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174736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473184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473184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8403336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Details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403336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Length, level, layout: make them exact.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back like you would with a capable student teacher: specific, kind, unafraid.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3 OF 3 · 5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it. Save it. Share it.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Replace the specifics with blanks: [topic], [grade], [number of questions]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the final template into the staff prompt doc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your name and one line: what it’s for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3931920"/>
            <a:ext cx="10972800" cy="1737360"/>
          </a:xfrm>
          <a:prstGeom prst="roundRect">
            <a:avLst>
              <a:gd name="adj" fmla="val 473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16052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just wrote the first entry in your professional prompt library. Kit 18 grows it into a whole collection.</a:t>
            </a:r>
            <a:endParaRPr lang="en-US" sz="2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SHARE-OUT · 3–4 VOICES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and after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90879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us your before and your after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one change made the biggest difference?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Anyone catch the AI being wrong mid-lab? That story goes first.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FIFTEEN MINUTES AGO THIS DIDN’T EXIST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went from asking to owning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teachers saving six hours a week were never typing faster.
</a:t>
            </a:r>
            <a:pPr indent="0" marL="0">
              <a:buNone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own a small library of prompts that fit their classroom, plus the reflex to push back until the output earns their name on it. As of today, so do you.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WHOLE SESSION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formula on one slide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22960" y="17830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type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3840480" y="17830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 · Task · Context · Format, then the colleague test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22960" y="28346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 it answers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3840480" y="28346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rounds: content, voice, details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822960" y="38862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works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3840480" y="38862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it, save it, share it in the staff doc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822960" y="4937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Always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3840480" y="49377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PII in. Nothing unreviewed out. Verify anything factual.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NOBODY OVERSELLS IT IN THE HALLWAY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prompting cannot do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check facts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96112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still verify. Every time.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407408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know your students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4663440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Personalizing happens after the draft comes back.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174736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30768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decide what’s worth teaching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8430768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was never a formatting problem.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prompts buy you time and quality. Judgment stays yours.</a:t>
            </a:r>
            <a:endParaRPr lang="en-US" sz="1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GAVE US THREE; TODAY ADDS 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4630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Commitment #4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640080" y="246888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 prompt works, it goes in the staff doc.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at this school solves the same problem twice.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4008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get a nod on that?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OF 8 · TRACK 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series goes next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Foundations &amp; Safety  ✔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47472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Prompting Basics  ✔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30936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Planning &amp; Differentiation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914400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Assessment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Academic Integrity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347472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760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Communication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30936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Workload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914400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2688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Your School’s AI Culture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0080" y="420624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0120" y="43891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Kit 3, Planning &amp; Differentiation. </a:t>
            </a:r>
            <a:pPr indent="0" marL="0">
              <a:buNone/>
            </a:pPr>
            <a:r>
              <a:rPr lang="en-US" sz="17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reusable prompt comes with you; the formula starts doing heavy lifting: leveled texts, scaffolds, materials for the range of learners actually in your room.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 BECOMES A MEMORY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48 hours: three small things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377440" y="160934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your reusable prompt for real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2377440" y="208483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the actual task it was built for; iterate once; use the result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28803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3264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 min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2377440" y="302666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colleague test once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377440" y="350215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 the missing context before you hit enter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40080" y="429768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81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 min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2377440" y="444398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 to the staff doc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2377440" y="491947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template, your name, one line about what it’s for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prompting technique you’re taking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task you still want prompt help with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thing you’ll try in the next 48 hours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4297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answers steer the PLC follow-ups. Be honest.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201168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good prompt is just clear thinking,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down.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9319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already do the hard part every day.</a:t>
            </a:r>
            <a:endParaRPr lang="en-US" sz="2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thinking. Delegate the typing.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teaching. Life-changing tools.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2: Prompting Basics: Getting Useful Results Every Time</dc:title>
  <dc:subject>PptxGenJS Presentation</dc:subject>
  <dc:creator>Adam &amp; Katelyn Spinozzi</dc:creator>
  <cp:lastModifiedBy>Adam &amp; Katelyn Spinozzi</cp:lastModifiedBy>
  <cp:revision>1</cp:revision>
  <dcterms:created xsi:type="dcterms:W3CDTF">2026-08-10T10:39:16Z</dcterms:created>
  <dcterms:modified xsi:type="dcterms:W3CDTF">2026-08-10T10:39:16Z</dcterms:modified>
</cp:coreProperties>
</file>